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6858000" cx="9144000"/>
  <p:notesSz cx="6858000" cy="9144000"/>
  <p:embeddedFontLst>
    <p:embeddedFont>
      <p:font typeface="Economica"/>
      <p:regular r:id="rId42"/>
      <p:bold r:id="rId43"/>
      <p:italic r:id="rId44"/>
      <p:boldItalic r:id="rId45"/>
    </p:embeddedFont>
    <p:embeddedFont>
      <p:font typeface="Open Sans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r:id="rId50" roundtripDataSignature="AMtx7mhyz9zrE4CBbBvfMMdFuL06NfF0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63B5111-6C2D-42A1-8BCE-3C7C404C4FE3}">
  <a:tblStyle styleId="{063B5111-6C2D-42A1-8BCE-3C7C404C4FE3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FF6"/>
          </a:solidFill>
        </a:fill>
      </a:tcStyle>
    </a:wholeTbl>
    <a:band1H>
      <a:tcTxStyle/>
      <a:tcStyle>
        <a:fill>
          <a:solidFill>
            <a:srgbClr val="CADDEC"/>
          </a:solidFill>
        </a:fill>
      </a:tcStyle>
    </a:band1H>
    <a:band2H>
      <a:tcTxStyle/>
    </a:band2H>
    <a:band1V>
      <a:tcTxStyle/>
      <a:tcStyle>
        <a:fill>
          <a:solidFill>
            <a:srgbClr val="CADDEC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font" Target="fonts/Economica-regular.fntdata"/><Relationship Id="rId41" Type="http://schemas.openxmlformats.org/officeDocument/2006/relationships/slide" Target="slides/slide35.xml"/><Relationship Id="rId44" Type="http://schemas.openxmlformats.org/officeDocument/2006/relationships/font" Target="fonts/Economica-italic.fntdata"/><Relationship Id="rId43" Type="http://schemas.openxmlformats.org/officeDocument/2006/relationships/font" Target="fonts/Economica-bold.fntdata"/><Relationship Id="rId46" Type="http://schemas.openxmlformats.org/officeDocument/2006/relationships/font" Target="fonts/OpenSans-regular.fntdata"/><Relationship Id="rId45" Type="http://schemas.openxmlformats.org/officeDocument/2006/relationships/font" Target="fonts/Economica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OpenSans-italic.fntdata"/><Relationship Id="rId47" Type="http://schemas.openxmlformats.org/officeDocument/2006/relationships/font" Target="fonts/OpenSans-bold.fntdata"/><Relationship Id="rId49" Type="http://schemas.openxmlformats.org/officeDocument/2006/relationships/font" Target="fonts/Open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39" name="Google Shape;43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48" name="Google Shape;44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57" name="Google Shape;45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66" name="Google Shape;46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02f4ae2af0_0_4"/>
          <p:cNvSpPr/>
          <p:nvPr/>
        </p:nvSpPr>
        <p:spPr>
          <a:xfrm>
            <a:off x="2744013" y="1008933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5" name="Google Shape;15;g302f4ae2af0_0_4"/>
          <p:cNvSpPr/>
          <p:nvPr/>
        </p:nvSpPr>
        <p:spPr>
          <a:xfrm rot="10800000">
            <a:off x="5318350" y="4355671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6" name="Google Shape;16;g302f4ae2af0_0_4"/>
          <p:cNvSpPr txBox="1"/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7" name="Google Shape;17;g302f4ae2af0_0_4"/>
          <p:cNvSpPr txBox="1"/>
          <p:nvPr>
            <p:ph idx="1" type="subTitle"/>
          </p:nvPr>
        </p:nvSpPr>
        <p:spPr>
          <a:xfrm>
            <a:off x="3044700" y="4155440"/>
            <a:ext cx="3054600" cy="9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8" name="Google Shape;18;g302f4ae2af0_0_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02f4ae2af0_0_10"/>
          <p:cNvSpPr/>
          <p:nvPr/>
        </p:nvSpPr>
        <p:spPr>
          <a:xfrm flipH="1">
            <a:off x="7595938" y="613633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1" name="Google Shape;21;g302f4ae2af0_0_10"/>
          <p:cNvSpPr/>
          <p:nvPr/>
        </p:nvSpPr>
        <p:spPr>
          <a:xfrm flipH="1" rot="10800000">
            <a:off x="466425" y="4744471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2" name="Google Shape;22;g302f4ae2af0_0_10"/>
          <p:cNvSpPr txBox="1"/>
          <p:nvPr>
            <p:ph type="title"/>
          </p:nvPr>
        </p:nvSpPr>
        <p:spPr>
          <a:xfrm>
            <a:off x="773700" y="2408600"/>
            <a:ext cx="7596600" cy="204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g302f4ae2af0_0_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02f4ae2af0_0_15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g302f4ae2af0_0_15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g302f4ae2af0_0_15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" name="Google Shape;28;g302f4ae2af0_0_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02f4ae2af0_0_20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1" name="Google Shape;31;g302f4ae2af0_0_20"/>
          <p:cNvSpPr txBox="1"/>
          <p:nvPr>
            <p:ph idx="1" type="body"/>
          </p:nvPr>
        </p:nvSpPr>
        <p:spPr>
          <a:xfrm>
            <a:off x="311700" y="1633633"/>
            <a:ext cx="39999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g302f4ae2af0_0_20"/>
          <p:cNvSpPr txBox="1"/>
          <p:nvPr>
            <p:ph idx="2" type="body"/>
          </p:nvPr>
        </p:nvSpPr>
        <p:spPr>
          <a:xfrm>
            <a:off x="4832400" y="1633633"/>
            <a:ext cx="39999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g302f4ae2af0_0_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02f4ae2af0_0_25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6" name="Google Shape;36;g302f4ae2af0_0_2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02f4ae2af0_0_28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" name="Google Shape;39;g302f4ae2af0_0_28"/>
          <p:cNvSpPr txBox="1"/>
          <p:nvPr>
            <p:ph idx="1" type="body"/>
          </p:nvPr>
        </p:nvSpPr>
        <p:spPr>
          <a:xfrm>
            <a:off x="311700" y="1865867"/>
            <a:ext cx="2808000" cy="371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g302f4ae2af0_0_2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02f4ae2af0_0_32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g302f4ae2af0_0_32"/>
          <p:cNvSpPr txBox="1"/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4" name="Google Shape;44;g302f4ae2af0_0_3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02f4ae2af0_0_36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g302f4ae2af0_0_36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g302f4ae2af0_0_36"/>
          <p:cNvSpPr txBox="1"/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9" name="Google Shape;49;g302f4ae2af0_0_36"/>
          <p:cNvSpPr txBox="1"/>
          <p:nvPr>
            <p:ph idx="1" type="subTitle"/>
          </p:nvPr>
        </p:nvSpPr>
        <p:spPr>
          <a:xfrm>
            <a:off x="265500" y="3692001"/>
            <a:ext cx="4045200" cy="20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0" name="Google Shape;50;g302f4ae2af0_0_36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g302f4ae2af0_0_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02f4ae2af0_0_43"/>
          <p:cNvSpPr txBox="1"/>
          <p:nvPr>
            <p:ph idx="1" type="body"/>
          </p:nvPr>
        </p:nvSpPr>
        <p:spPr>
          <a:xfrm>
            <a:off x="319500" y="5625233"/>
            <a:ext cx="5998800" cy="7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4" name="Google Shape;54;g302f4ae2af0_0_4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02f4ae2af0_0_46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302f4ae2af0_0_46"/>
          <p:cNvSpPr txBox="1"/>
          <p:nvPr>
            <p:ph hasCustomPrompt="1" type="title"/>
          </p:nvPr>
        </p:nvSpPr>
        <p:spPr>
          <a:xfrm>
            <a:off x="311700" y="1276167"/>
            <a:ext cx="8520600" cy="283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g302f4ae2af0_0_46"/>
          <p:cNvSpPr txBox="1"/>
          <p:nvPr>
            <p:ph idx="1" type="body"/>
          </p:nvPr>
        </p:nvSpPr>
        <p:spPr>
          <a:xfrm>
            <a:off x="311700" y="4216000"/>
            <a:ext cx="8520600" cy="14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g302f4ae2af0_0_4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02f4ae2af0_0_5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g302f4ae2af0_0_53"/>
          <p:cNvGrpSpPr/>
          <p:nvPr/>
        </p:nvGrpSpPr>
        <p:grpSpPr>
          <a:xfrm>
            <a:off x="0" y="0"/>
            <a:ext cx="9136063" cy="6850063"/>
            <a:chOff x="0" y="0"/>
            <a:chExt cx="5755" cy="4315"/>
          </a:xfrm>
        </p:grpSpPr>
        <p:grpSp>
          <p:nvGrpSpPr>
            <p:cNvPr id="64" name="Google Shape;64;g302f4ae2af0_0_53"/>
            <p:cNvGrpSpPr/>
            <p:nvPr/>
          </p:nvGrpSpPr>
          <p:grpSpPr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65" name="Google Shape;65;g302f4ae2af0_0_53"/>
              <p:cNvSpPr/>
              <p:nvPr/>
            </p:nvSpPr>
            <p:spPr>
              <a:xfrm>
                <a:off x="1728" y="2644"/>
                <a:ext cx="2882" cy="1671"/>
              </a:xfrm>
              <a:custGeom>
                <a:rect b="b" l="l" r="r" t="t"/>
                <a:pathLst>
                  <a:path extrusionOk="0" h="1671" w="2882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003092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g302f4ae2af0_0_53"/>
              <p:cNvSpPr/>
              <p:nvPr/>
            </p:nvSpPr>
            <p:spPr>
              <a:xfrm>
                <a:off x="4170" y="2671"/>
                <a:ext cx="1259" cy="811"/>
              </a:xfrm>
              <a:custGeom>
                <a:rect b="b" l="l" r="r" t="t"/>
                <a:pathLst>
                  <a:path extrusionOk="0" h="811" w="1259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003092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g302f4ae2af0_0_53"/>
              <p:cNvSpPr/>
              <p:nvPr/>
            </p:nvSpPr>
            <p:spPr>
              <a:xfrm>
                <a:off x="2900" y="3346"/>
                <a:ext cx="2849" cy="969"/>
              </a:xfrm>
              <a:custGeom>
                <a:rect b="b" l="l" r="r" t="t"/>
                <a:pathLst>
                  <a:path extrusionOk="0" h="969" w="284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>
                <a:gsLst>
                  <a:gs pos="0">
                    <a:srgbClr val="002E8B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g302f4ae2af0_0_53"/>
              <p:cNvSpPr/>
              <p:nvPr/>
            </p:nvSpPr>
            <p:spPr>
              <a:xfrm>
                <a:off x="2748" y="2230"/>
                <a:ext cx="3007" cy="2085"/>
              </a:xfrm>
              <a:custGeom>
                <a:rect b="b" l="l" r="r" t="t"/>
                <a:pathLst>
                  <a:path extrusionOk="0" h="2085" w="3007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g302f4ae2af0_0_53"/>
              <p:cNvSpPr/>
              <p:nvPr/>
            </p:nvSpPr>
            <p:spPr>
              <a:xfrm>
                <a:off x="4501" y="2317"/>
                <a:ext cx="1248" cy="539"/>
              </a:xfrm>
              <a:custGeom>
                <a:rect b="b" l="l" r="r" t="t"/>
                <a:pathLst>
                  <a:path extrusionOk="0" h="539" w="1248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>
                <a:gsLst>
                  <a:gs pos="0">
                    <a:srgbClr val="003090"/>
                  </a:gs>
                  <a:gs pos="100000">
                    <a:schemeClr val="dk2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0" name="Google Shape;70;g302f4ae2af0_0_53"/>
            <p:cNvSpPr/>
            <p:nvPr/>
          </p:nvSpPr>
          <p:spPr>
            <a:xfrm>
              <a:off x="3322" y="1341"/>
              <a:ext cx="1825" cy="1539"/>
            </a:xfrm>
            <a:custGeom>
              <a:rect b="b" l="l" r="r" t="t"/>
              <a:pathLst>
                <a:path extrusionOk="0" h="1469" w="2296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>
              <a:gsLst>
                <a:gs pos="0">
                  <a:srgbClr val="002F8D"/>
                </a:gs>
                <a:gs pos="100000">
                  <a:schemeClr val="dk2"/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g302f4ae2af0_0_53"/>
            <p:cNvSpPr/>
            <p:nvPr/>
          </p:nvSpPr>
          <p:spPr>
            <a:xfrm>
              <a:off x="0" y="0"/>
              <a:ext cx="5754" cy="1777"/>
            </a:xfrm>
            <a:custGeom>
              <a:rect b="b" l="l" r="r" t="t"/>
              <a:pathLst>
                <a:path extrusionOk="0" h="1906" w="5740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2" name="Google Shape;72;g302f4ae2af0_0_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42671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" name="Google Shape;73;g302f4ae2af0_0_53"/>
          <p:cNvCxnSpPr/>
          <p:nvPr/>
        </p:nvCxnSpPr>
        <p:spPr>
          <a:xfrm>
            <a:off x="0" y="6477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0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" name="Google Shape;74;g302f4ae2af0_0_53"/>
          <p:cNvSpPr/>
          <p:nvPr/>
        </p:nvSpPr>
        <p:spPr>
          <a:xfrm>
            <a:off x="76200" y="6553200"/>
            <a:ext cx="228600" cy="228600"/>
          </a:xfrm>
          <a:prstGeom prst="star16">
            <a:avLst>
              <a:gd fmla="val 37500" name="adj"/>
            </a:avLst>
          </a:prstGeom>
          <a:gradFill>
            <a:gsLst>
              <a:gs pos="0">
                <a:srgbClr val="8F6BB3"/>
              </a:gs>
              <a:gs pos="50000">
                <a:srgbClr val="CC99FF"/>
              </a:gs>
              <a:gs pos="100000">
                <a:srgbClr val="8F6BB3"/>
              </a:gs>
            </a:gsLst>
            <a:lin ang="2700006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302f4ae2af0_0_53"/>
          <p:cNvSpPr/>
          <p:nvPr/>
        </p:nvSpPr>
        <p:spPr>
          <a:xfrm>
            <a:off x="6096000" y="3733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Inst. Nguyễn Minh Huy</a:t>
            </a:r>
            <a:endParaRPr b="0" i="0" sz="20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g302f4ae2af0_0_53"/>
          <p:cNvSpPr txBox="1"/>
          <p:nvPr>
            <p:ph type="ctrTitle"/>
          </p:nvPr>
        </p:nvSpPr>
        <p:spPr>
          <a:xfrm>
            <a:off x="304800" y="1828800"/>
            <a:ext cx="85344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200"/>
              <a:buNone/>
              <a:defRPr b="1" sz="5000">
                <a:solidFill>
                  <a:srgbClr val="FF66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g302f4ae2af0_0_53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g302f4ae2af0_0_53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260"/>
              <a:buChar char="○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260"/>
              <a:buChar char="○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02f4ae2af0_0_70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81" name="Google Shape;81;g302f4ae2af0_0_70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335280" lvl="1" marL="914400" algn="l">
              <a:spcBef>
                <a:spcPts val="480"/>
              </a:spcBef>
              <a:spcAft>
                <a:spcPts val="0"/>
              </a:spcAft>
              <a:buSzPts val="1680"/>
              <a:buChar char="○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Font typeface="Noto Sans Symbols"/>
              <a:buChar char="⮚"/>
              <a:defRPr sz="2000"/>
            </a:lvl3pPr>
            <a:lvl4pPr indent="-299719" lvl="3" marL="1828800" algn="l">
              <a:spcBef>
                <a:spcPts val="320"/>
              </a:spcBef>
              <a:spcAft>
                <a:spcPts val="0"/>
              </a:spcAft>
              <a:buSzPts val="1120"/>
              <a:buChar char="●"/>
              <a:defRPr sz="1600"/>
            </a:lvl4pPr>
            <a:lvl5pPr indent="-290829" lvl="4" marL="2286000" algn="l">
              <a:spcBef>
                <a:spcPts val="280"/>
              </a:spcBef>
              <a:spcAft>
                <a:spcPts val="0"/>
              </a:spcAft>
              <a:buSzPts val="980"/>
              <a:buFont typeface="Noto Sans Symbols"/>
              <a:buChar char="❖"/>
              <a:defRPr sz="1400"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○"/>
              <a:defRPr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9pPr>
          </a:lstStyle>
          <a:p/>
        </p:txBody>
      </p:sp>
      <p:sp>
        <p:nvSpPr>
          <p:cNvPr id="82" name="Google Shape;82;g302f4ae2af0_0_70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g302f4ae2af0_0_70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260"/>
              <a:buChar char="○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260"/>
              <a:buChar char="○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>
  <p:cSld name="2_Title and Conten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02f4ae2af0_0_75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86" name="Google Shape;86;g302f4ae2af0_0_75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335280" lvl="1" marL="914400" algn="l">
              <a:spcBef>
                <a:spcPts val="480"/>
              </a:spcBef>
              <a:spcAft>
                <a:spcPts val="0"/>
              </a:spcAft>
              <a:buSzPts val="1680"/>
              <a:buChar char="○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Font typeface="Noto Sans Symbols"/>
              <a:buChar char="⮚"/>
              <a:defRPr sz="2000"/>
            </a:lvl3pPr>
            <a:lvl4pPr indent="-299719" lvl="3" marL="1828800" algn="l">
              <a:spcBef>
                <a:spcPts val="320"/>
              </a:spcBef>
              <a:spcAft>
                <a:spcPts val="0"/>
              </a:spcAft>
              <a:buSzPts val="1120"/>
              <a:buChar char="●"/>
              <a:defRPr sz="1600"/>
            </a:lvl4pPr>
            <a:lvl5pPr indent="-290829" lvl="4" marL="2286000" algn="l">
              <a:spcBef>
                <a:spcPts val="280"/>
              </a:spcBef>
              <a:spcAft>
                <a:spcPts val="0"/>
              </a:spcAft>
              <a:buSzPts val="980"/>
              <a:buFont typeface="Noto Sans Symbols"/>
              <a:buChar char="❖"/>
              <a:defRPr sz="1400"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○"/>
              <a:defRPr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9pPr>
          </a:lstStyle>
          <a:p/>
        </p:txBody>
      </p:sp>
      <p:sp>
        <p:nvSpPr>
          <p:cNvPr id="87" name="Google Shape;87;g302f4ae2af0_0_75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g302f4ae2af0_0_75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260"/>
              <a:buChar char="○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260"/>
              <a:buChar char="○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clipboard2" id="89" name="Google Shape;89;g302f4ae2af0_0_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89788" y="4419600"/>
            <a:ext cx="1725612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g302f4ae2af0_0_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54813" y="4176713"/>
            <a:ext cx="2160588" cy="21478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302f4ae2af0_0_81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93" name="Google Shape;93;g302f4ae2af0_0_81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spcBef>
                <a:spcPts val="640"/>
              </a:spcBef>
              <a:spcAft>
                <a:spcPts val="0"/>
              </a:spcAft>
              <a:buSzPts val="2240"/>
              <a:buChar char="●"/>
              <a:defRPr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2000"/>
            </a:lvl3pPr>
            <a:lvl4pPr indent="-299719" lvl="3" marL="1828800" algn="l">
              <a:spcBef>
                <a:spcPts val="320"/>
              </a:spcBef>
              <a:spcAft>
                <a:spcPts val="0"/>
              </a:spcAft>
              <a:buSzPts val="1120"/>
              <a:buChar char="●"/>
              <a:defRPr sz="1600"/>
            </a:lvl4pPr>
            <a:lvl5pPr indent="-290829" lvl="4" marL="2286000" algn="l">
              <a:spcBef>
                <a:spcPts val="280"/>
              </a:spcBef>
              <a:spcAft>
                <a:spcPts val="0"/>
              </a:spcAft>
              <a:buSzPts val="980"/>
              <a:buChar char="○"/>
              <a:defRPr sz="1400"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○"/>
              <a:defRPr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9pPr>
          </a:lstStyle>
          <a:p/>
        </p:txBody>
      </p:sp>
      <p:sp>
        <p:nvSpPr>
          <p:cNvPr id="94" name="Google Shape;94;g302f4ae2af0_0_81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g302f4ae2af0_0_81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260"/>
              <a:buChar char="○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260"/>
              <a:buChar char="○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02f4ae2af0_0_0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1" name="Google Shape;11;g302f4ae2af0_0_0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2" name="Google Shape;12;g302f4ae2af0_0_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Relationship Id="rId4" Type="http://schemas.openxmlformats.org/officeDocument/2006/relationships/image" Target="../media/image1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Relationship Id="rId4" Type="http://schemas.openxmlformats.org/officeDocument/2006/relationships/image" Target="../media/image11.jpg"/><Relationship Id="rId5" Type="http://schemas.openxmlformats.org/officeDocument/2006/relationships/image" Target="../media/image5.png"/><Relationship Id="rId6" Type="http://schemas.openxmlformats.org/officeDocument/2006/relationships/image" Target="../media/image17.jpg"/><Relationship Id="rId7" Type="http://schemas.openxmlformats.org/officeDocument/2006/relationships/image" Target="../media/image13.jpg"/><Relationship Id="rId8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jpg"/><Relationship Id="rId4" Type="http://schemas.openxmlformats.org/officeDocument/2006/relationships/image" Target="../media/image22.jpg"/><Relationship Id="rId5" Type="http://schemas.openxmlformats.org/officeDocument/2006/relationships/image" Target="../media/image1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inlibs.com/" TargetMode="External"/><Relationship Id="rId4" Type="http://schemas.openxmlformats.org/officeDocument/2006/relationships/hyperlink" Target="https://www.msys2.org/" TargetMode="External"/><Relationship Id="rId5" Type="http://schemas.openxmlformats.org/officeDocument/2006/relationships/hyperlink" Target="https://visualstudio.microsoft.com/" TargetMode="External"/><Relationship Id="rId6" Type="http://schemas.openxmlformats.org/officeDocument/2006/relationships/hyperlink" Target="https://www.codeblocks.org/" TargetMode="External"/><Relationship Id="rId7" Type="http://schemas.openxmlformats.org/officeDocument/2006/relationships/hyperlink" Target="https://codelite.org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/>
          <p:nvPr>
            <p:ph type="ctrTitle"/>
          </p:nvPr>
        </p:nvSpPr>
        <p:spPr>
          <a:xfrm>
            <a:off x="236900" y="620175"/>
            <a:ext cx="85344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 to Programming</a:t>
            </a:r>
            <a:endParaRPr/>
          </a:p>
        </p:txBody>
      </p:sp>
      <p:sp>
        <p:nvSpPr>
          <p:cNvPr id="101" name="Google Shape;101;p1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1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108" name="Google Shape;108;p2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Computer programming.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Computer algorithm.</a:t>
            </a:r>
            <a:endParaRPr/>
          </a:p>
        </p:txBody>
      </p:sp>
      <p:sp>
        <p:nvSpPr>
          <p:cNvPr id="109" name="Google Shape;109;p2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" name="Google Shape;110;p2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116" name="Google Shape;116;p3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b="1" lang="en-US">
                <a:solidFill>
                  <a:srgbClr val="FFC000"/>
                </a:solidFill>
              </a:rPr>
              <a:t>Computer programming.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Computer algorithm.</a:t>
            </a:r>
            <a:endParaRPr/>
          </a:p>
        </p:txBody>
      </p:sp>
      <p:sp>
        <p:nvSpPr>
          <p:cNvPr id="117" name="Google Shape;117;p3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3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Computer programming</a:t>
            </a:r>
            <a:endParaRPr/>
          </a:p>
        </p:txBody>
      </p:sp>
      <p:sp>
        <p:nvSpPr>
          <p:cNvPr id="124" name="Google Shape;124;p4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Programming concepts: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Problem: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Teach a kid to find sum of max and min among 7, 1, 9.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Rules:</a:t>
            </a:r>
            <a:endParaRPr/>
          </a:p>
          <a:p>
            <a:pPr indent="-228600" lvl="3" marL="1600200" rtl="0" algn="l">
              <a:spcBef>
                <a:spcPts val="320"/>
              </a:spcBef>
              <a:spcAft>
                <a:spcPts val="0"/>
              </a:spcAft>
              <a:buSzPts val="1120"/>
              <a:buChar char="●"/>
            </a:pPr>
            <a:r>
              <a:rPr lang="en-US"/>
              <a:t>The kid knows addition and comparison between two numbers.</a:t>
            </a:r>
            <a:endParaRPr/>
          </a:p>
          <a:p>
            <a:pPr indent="-228600" lvl="3" marL="1600200" rtl="0" algn="l">
              <a:spcBef>
                <a:spcPts val="320"/>
              </a:spcBef>
              <a:spcAft>
                <a:spcPts val="0"/>
              </a:spcAft>
              <a:buSzPts val="1120"/>
              <a:buChar char="●"/>
            </a:pPr>
            <a:r>
              <a:rPr lang="en-US"/>
              <a:t>Write solution in step-by-step.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Programming ~ teaching: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From what computer knows.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Step-by-step.</a:t>
            </a:r>
            <a:endParaRPr/>
          </a:p>
          <a:p>
            <a:pPr indent="-139700" lvl="2" marL="13716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179069" lvl="1" marL="9144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4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  <p:pic>
        <p:nvPicPr>
          <p:cNvPr descr="thinking" id="127" name="Google Shape;1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43604" y="4770437"/>
            <a:ext cx="951757" cy="1173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4724400"/>
            <a:ext cx="1295400" cy="122438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"/>
          <p:cNvSpPr/>
          <p:nvPr/>
        </p:nvSpPr>
        <p:spPr>
          <a:xfrm>
            <a:off x="7772400" y="4876800"/>
            <a:ext cx="762000" cy="971550"/>
          </a:xfrm>
          <a:custGeom>
            <a:rect b="b" l="l" r="r" t="t"/>
            <a:pathLst>
              <a:path extrusionOk="0" h="21600" w="21600">
                <a:moveTo>
                  <a:pt x="0" y="18014"/>
                </a:moveTo>
                <a:lnTo>
                  <a:pt x="0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68" y="1428"/>
                </a:lnTo>
                <a:lnTo>
                  <a:pt x="3468" y="0"/>
                </a:lnTo>
                <a:lnTo>
                  <a:pt x="21653" y="0"/>
                </a:lnTo>
                <a:lnTo>
                  <a:pt x="21653" y="18828"/>
                </a:lnTo>
                <a:lnTo>
                  <a:pt x="19954" y="188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16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  <a:path extrusionOk="0" h="21600" w="21600">
                <a:moveTo>
                  <a:pt x="3486" y="1428"/>
                </a:moveTo>
                <a:lnTo>
                  <a:pt x="19954" y="14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86" y="1428"/>
                </a:lnTo>
                <a:close/>
              </a:path>
              <a:path extrusionOk="0" h="21600" w="21600">
                <a:moveTo>
                  <a:pt x="0" y="18014"/>
                </a:moveTo>
                <a:lnTo>
                  <a:pt x="4434" y="180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</a:pathLst>
          </a:custGeom>
          <a:solidFill>
            <a:srgbClr val="D8EBB3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107763">
              <a:srgbClr val="808080"/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4515004" y="5955268"/>
            <a:ext cx="14285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Computer</a:t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5943600" y="5943600"/>
            <a:ext cx="16571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Programming</a:t>
            </a:r>
            <a:endParaRPr/>
          </a:p>
        </p:txBody>
      </p:sp>
      <p:sp>
        <p:nvSpPr>
          <p:cNvPr id="132" name="Google Shape;132;p4"/>
          <p:cNvSpPr txBox="1"/>
          <p:nvPr/>
        </p:nvSpPr>
        <p:spPr>
          <a:xfrm>
            <a:off x="7391400" y="5943600"/>
            <a:ext cx="1600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Program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Computer programming</a:t>
            </a:r>
            <a:endParaRPr/>
          </a:p>
        </p:txBody>
      </p:sp>
      <p:sp>
        <p:nvSpPr>
          <p:cNvPr id="138" name="Google Shape;138;p5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Programming concepts: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Computer has a set of hard-wired instructions.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Programming: write instructions for computer.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Computer program: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Written organized instructions.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Follow step-by-step.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To solve problem.</a:t>
            </a:r>
            <a:endParaRPr/>
          </a:p>
        </p:txBody>
      </p:sp>
      <p:sp>
        <p:nvSpPr>
          <p:cNvPr id="139" name="Google Shape;139;p5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5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  <p:pic>
        <p:nvPicPr>
          <p:cNvPr descr="https://encrypted-tbn1.gstatic.com/images?q=tbn:ANd9GcSfugAZPplADwnWz4qPp2wCd0IJ893aSxCyWVptx26jzwV-liHKfQ" id="141" name="Google Shape;14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7290" y="5044215"/>
            <a:ext cx="1839310" cy="11824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hat To Build With Legos Instructions" id="142" name="Google Shape;14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59948" y="4114800"/>
            <a:ext cx="1503052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Computer programming</a:t>
            </a:r>
            <a:endParaRPr/>
          </a:p>
        </p:txBody>
      </p:sp>
      <p:sp>
        <p:nvSpPr>
          <p:cNvPr id="148" name="Google Shape;148;p6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Programmer: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Person who writes the program.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Programmer, coder, developer.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To become a good programmer: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Logical thinking.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Analytical and careful.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Hands-on and explore.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The first programmer?</a:t>
            </a:r>
            <a:endParaRPr/>
          </a:p>
        </p:txBody>
      </p:sp>
      <p:sp>
        <p:nvSpPr>
          <p:cNvPr id="149" name="Google Shape;149;p6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p6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  <p:pic>
        <p:nvPicPr>
          <p:cNvPr descr="C:\Program Files\Microsoft Office\MEDIA\CAGCAT10\j0292020.wmf" id="151" name="Google Shape;1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1600" y="4765043"/>
            <a:ext cx="1676400" cy="15911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encrypted-tbn3.gstatic.com/images?q=tbn:ANd9GcQ_rVR-xYhCNCdPEUtgCzz0puREWU4n-Esv9bq3PD4mIQWoAMlCoQ" id="152" name="Google Shape;15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9000" y="4114800"/>
            <a:ext cx="1447800" cy="1898391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"/>
          <p:cNvSpPr txBox="1"/>
          <p:nvPr/>
        </p:nvSpPr>
        <p:spPr>
          <a:xfrm>
            <a:off x="7162800" y="6003666"/>
            <a:ext cx="1676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Ada Lovelace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Computer programming</a:t>
            </a:r>
            <a:endParaRPr/>
          </a:p>
        </p:txBody>
      </p:sp>
      <p:sp>
        <p:nvSpPr>
          <p:cNvPr id="159" name="Google Shape;159;p7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Instruction code: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Machine code: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Binary sequence of ‘0’ and ‘1’.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Computer can execute directly.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Pseudo-code: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Natural language.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Human can understand.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Source code: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Intermediate language.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Easy to read, not too vague.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Can be translated to machine code.</a:t>
            </a:r>
            <a:endParaRPr/>
          </a:p>
          <a:p>
            <a:pPr indent="-228600" lvl="3" marL="1600200" rtl="0" algn="l">
              <a:spcBef>
                <a:spcPts val="320"/>
              </a:spcBef>
              <a:spcAft>
                <a:spcPts val="0"/>
              </a:spcAft>
              <a:buSzPts val="1120"/>
              <a:buChar char="●"/>
            </a:pPr>
            <a:r>
              <a:rPr lang="en-US"/>
              <a:t>Compiler vs. Interpreter.</a:t>
            </a:r>
            <a:endParaRPr/>
          </a:p>
          <a:p>
            <a:pPr indent="-228600" lvl="3" marL="1600200" rtl="0" algn="l">
              <a:spcBef>
                <a:spcPts val="320"/>
              </a:spcBef>
              <a:spcAft>
                <a:spcPts val="0"/>
              </a:spcAft>
              <a:buSzPts val="1120"/>
              <a:buChar char="●"/>
            </a:pPr>
            <a:r>
              <a:rPr lang="en-US"/>
              <a:t>Who wrote the first compiler?</a:t>
            </a:r>
            <a:endParaRPr/>
          </a:p>
        </p:txBody>
      </p:sp>
      <p:sp>
        <p:nvSpPr>
          <p:cNvPr id="160" name="Google Shape;160;p7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" name="Google Shape;161;p7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  <p:pic>
        <p:nvPicPr>
          <p:cNvPr descr="https://encrypted-tbn2.gstatic.com/images?q=tbn:ANd9GcSXSV3RlBQURPsiqrQ6_wdamTueIrqpsGBlq7rrax_r6rMoCwcc" id="162" name="Google Shape;1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4602" y="1905000"/>
            <a:ext cx="236220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7"/>
          <p:cNvSpPr/>
          <p:nvPr/>
        </p:nvSpPr>
        <p:spPr>
          <a:xfrm>
            <a:off x="6324600" y="3352800"/>
            <a:ext cx="2362202" cy="12954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Noto Sans Symbols"/>
              <a:buNone/>
            </a:pPr>
            <a:r>
              <a:rPr lang="en-US" sz="1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Step 1: add a, b.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Noto Sans Symbols"/>
              <a:buNone/>
            </a:pPr>
            <a:r>
              <a:rPr lang="en-US" sz="1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Step 2: compare a, c.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Noto Sans Symbols"/>
              <a:buNone/>
            </a:pPr>
            <a:r>
              <a:rPr lang="en-US" sz="1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Step 3: output a.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Noto Sans Symbols"/>
              <a:buNone/>
            </a:pPr>
            <a:r>
              <a:rPr lang="en-US" sz="1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16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602" y="4800600"/>
            <a:ext cx="236220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Computer programming</a:t>
            </a:r>
            <a:endParaRPr/>
          </a:p>
        </p:txBody>
      </p:sp>
      <p:sp>
        <p:nvSpPr>
          <p:cNvPr id="170" name="Google Shape;170;p8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Programming cycle: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Edit: write source code.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Compile: source code 🡪 machine code.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Run: execute machine code to perform tasks.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Debug: review source code to fix errors.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lang="en-US"/>
              <a:t>🡺 Debug takes the most time!</a:t>
            </a:r>
            <a:endParaRPr/>
          </a:p>
        </p:txBody>
      </p:sp>
      <p:sp>
        <p:nvSpPr>
          <p:cNvPr id="171" name="Google Shape;171;p8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" name="Google Shape;172;p8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  <p:pic>
        <p:nvPicPr>
          <p:cNvPr descr="https://encrypted-tbn2.gstatic.com/images?q=tbn:ANd9GcSXSV3RlBQURPsiqrQ6_wdamTueIrqpsGBlq7rrax_r6rMoCwcc" id="173" name="Google Shape;1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5266" y="4724400"/>
            <a:ext cx="1305188" cy="8600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encrypted-tbn0.gstatic.com/images?q=tbn:ANd9GcSUQUhLvrFaZHYejQZqc37ju8yIJozYc0iQLrKqmRAeRLqIitmt" id="174" name="Google Shape;1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7600" y="4715134"/>
            <a:ext cx="1306962" cy="923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Program Files\Microsoft Office\MEDIA\CAGCAT10\j0292020.wmf" id="175" name="Google Shape;17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4800" y="4724400"/>
            <a:ext cx="994226" cy="9436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encrypted-tbn0.gstatic.com/images?q=tbn:ANd9GcQv9Q-O1F93UluP8Iu3ThtnDwQBp0A9PpN7QBbW__gzwbpxuYlo" id="176" name="Google Shape;176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05200" y="4728931"/>
            <a:ext cx="7620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encrypted-tbn2.gstatic.com/images?q=tbn:ANd9GcQqlJrleAO0CV8glmtZcjOslYfw85e8V0K_CAbnQS3QD7CcojBj" id="177" name="Google Shape;177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00800" y="4495800"/>
            <a:ext cx="1143000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77091" y="4800601"/>
            <a:ext cx="1293534" cy="82959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8"/>
          <p:cNvSpPr txBox="1"/>
          <p:nvPr/>
        </p:nvSpPr>
        <p:spPr>
          <a:xfrm>
            <a:off x="765625" y="5603507"/>
            <a:ext cx="1676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/ Debug</a:t>
            </a:r>
            <a:endParaRPr/>
          </a:p>
        </p:txBody>
      </p:sp>
      <p:sp>
        <p:nvSpPr>
          <p:cNvPr id="180" name="Google Shape;180;p8"/>
          <p:cNvSpPr txBox="1"/>
          <p:nvPr/>
        </p:nvSpPr>
        <p:spPr>
          <a:xfrm>
            <a:off x="3821654" y="5584430"/>
            <a:ext cx="1676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Compile</a:t>
            </a:r>
            <a:endParaRPr/>
          </a:p>
        </p:txBody>
      </p:sp>
      <p:sp>
        <p:nvSpPr>
          <p:cNvPr id="181" name="Google Shape;181;p8"/>
          <p:cNvSpPr txBox="1"/>
          <p:nvPr/>
        </p:nvSpPr>
        <p:spPr>
          <a:xfrm>
            <a:off x="6858000" y="5650468"/>
            <a:ext cx="1676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Run</a:t>
            </a:r>
            <a:endParaRPr/>
          </a:p>
        </p:txBody>
      </p:sp>
      <p:cxnSp>
        <p:nvCxnSpPr>
          <p:cNvPr id="182" name="Google Shape;182;p8"/>
          <p:cNvCxnSpPr/>
          <p:nvPr/>
        </p:nvCxnSpPr>
        <p:spPr>
          <a:xfrm>
            <a:off x="2819400" y="5180012"/>
            <a:ext cx="609600" cy="1588"/>
          </a:xfrm>
          <a:prstGeom prst="straightConnector1">
            <a:avLst/>
          </a:prstGeom>
          <a:noFill/>
          <a:ln cap="flat" cmpd="sng" w="38100">
            <a:solidFill>
              <a:srgbClr val="33CC33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83" name="Google Shape;183;p8"/>
          <p:cNvCxnSpPr/>
          <p:nvPr/>
        </p:nvCxnSpPr>
        <p:spPr>
          <a:xfrm>
            <a:off x="5791200" y="5181600"/>
            <a:ext cx="609600" cy="1588"/>
          </a:xfrm>
          <a:prstGeom prst="straightConnector1">
            <a:avLst/>
          </a:prstGeom>
          <a:noFill/>
          <a:ln cap="flat" cmpd="sng" w="38100">
            <a:solidFill>
              <a:srgbClr val="33CC33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84" name="Google Shape;184;p8"/>
          <p:cNvCxnSpPr/>
          <p:nvPr/>
        </p:nvCxnSpPr>
        <p:spPr>
          <a:xfrm rot="5400000">
            <a:off x="1485900" y="4457700"/>
            <a:ext cx="381794" cy="794"/>
          </a:xfrm>
          <a:prstGeom prst="straightConnector1">
            <a:avLst/>
          </a:prstGeom>
          <a:noFill/>
          <a:ln cap="flat" cmpd="sng" w="38100">
            <a:solidFill>
              <a:srgbClr val="33CC33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85" name="Google Shape;185;p8"/>
          <p:cNvCxnSpPr/>
          <p:nvPr/>
        </p:nvCxnSpPr>
        <p:spPr>
          <a:xfrm>
            <a:off x="1676400" y="4267200"/>
            <a:ext cx="6477000" cy="1588"/>
          </a:xfrm>
          <a:prstGeom prst="straightConnector1">
            <a:avLst/>
          </a:prstGeom>
          <a:noFill/>
          <a:ln cap="flat" cmpd="sng" w="38100">
            <a:solidFill>
              <a:srgbClr val="33CC3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" name="Google Shape;186;p8"/>
          <p:cNvCxnSpPr/>
          <p:nvPr/>
        </p:nvCxnSpPr>
        <p:spPr>
          <a:xfrm rot="5400000">
            <a:off x="7999412" y="4418011"/>
            <a:ext cx="306388" cy="1589"/>
          </a:xfrm>
          <a:prstGeom prst="straightConnector1">
            <a:avLst/>
          </a:prstGeom>
          <a:noFill/>
          <a:ln cap="flat" cmpd="sng" w="38100">
            <a:solidFill>
              <a:srgbClr val="33CC3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Computer programming</a:t>
            </a:r>
            <a:endParaRPr/>
          </a:p>
        </p:txBody>
      </p:sp>
      <p:sp>
        <p:nvSpPr>
          <p:cNvPr id="192" name="Google Shape;192;p9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Programming language: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Intermediate language between human and computer.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Concise and precise.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There are thousands of programming languages!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Learning programming thinking is more important than learning programming language.</a:t>
            </a:r>
            <a:endParaRPr/>
          </a:p>
          <a:p>
            <a:pPr indent="-179069" lvl="1" marL="9144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  <a:p>
            <a:pPr indent="-179069" lvl="1" marL="9144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  <a:p>
            <a:pPr indent="-179069" lvl="1" marL="9144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4" name="Google Shape;194;p9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  <p:pic>
        <p:nvPicPr>
          <p:cNvPr descr="Python Programming Language Illustrations, Royalty-Free Vector Graphics ..." id="195" name="Google Shape;19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9400" y="4313508"/>
            <a:ext cx="2133600" cy="1934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Computer programming</a:t>
            </a:r>
            <a:endParaRPr/>
          </a:p>
        </p:txBody>
      </p:sp>
      <p:sp>
        <p:nvSpPr>
          <p:cNvPr id="201" name="Google Shape;201;p10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Programming language: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Low-level language: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1</a:t>
            </a:r>
            <a:r>
              <a:rPr baseline="30000" lang="en-US"/>
              <a:t>st</a:t>
            </a:r>
            <a:r>
              <a:rPr lang="en-US"/>
              <a:t> generation: machine code.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2</a:t>
            </a:r>
            <a:r>
              <a:rPr baseline="30000" lang="en-US"/>
              <a:t>nd</a:t>
            </a:r>
            <a:r>
              <a:rPr lang="en-US"/>
              <a:t> generation: assembly language.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High-level language: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Procedural: Fortran, Pascal, C.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Functional: Lisp, Haskell, F#.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Object oriented: C++, Java, C#. 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Trends: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Scripting languages: JavaScript, Python.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AI prompts: ask AI to generate source code.</a:t>
            </a:r>
            <a:endParaRPr/>
          </a:p>
        </p:txBody>
      </p:sp>
      <p:sp>
        <p:nvSpPr>
          <p:cNvPr id="202" name="Google Shape;202;p10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3" name="Google Shape;203;p10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  <p:pic>
        <p:nvPicPr>
          <p:cNvPr descr="https://upload.wikimedia.org/wikipedia/commons/thumb/3/37/Grace_Hopper_and_UNIVAC.jpg/220px-Grace_Hopper_and_UNIVAC.jpg" id="204" name="Google Shape;20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0400" y="1371600"/>
            <a:ext cx="1790699" cy="16302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pple Old Mac Computer - DesignBust" id="205" name="Google Shape;205;p10"/>
          <p:cNvPicPr preferRelativeResize="0"/>
          <p:nvPr/>
        </p:nvPicPr>
        <p:blipFill rotWithShape="1">
          <a:blip r:embed="rId4">
            <a:alphaModFix/>
          </a:blip>
          <a:srcRect b="15612" l="10127" r="3797" t="13502"/>
          <a:stretch/>
        </p:blipFill>
        <p:spPr>
          <a:xfrm>
            <a:off x="7003556" y="3124200"/>
            <a:ext cx="1759443" cy="15036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obile App Png , Free Transparent Clipart - ClipartKey" id="206" name="Google Shape;206;p10"/>
          <p:cNvPicPr preferRelativeResize="0"/>
          <p:nvPr/>
        </p:nvPicPr>
        <p:blipFill rotWithShape="1">
          <a:blip r:embed="rId5">
            <a:alphaModFix/>
          </a:blip>
          <a:srcRect b="0" l="11054" r="11563" t="0"/>
          <a:stretch/>
        </p:blipFill>
        <p:spPr>
          <a:xfrm>
            <a:off x="7010400" y="4724400"/>
            <a:ext cx="1752600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Computer programming</a:t>
            </a:r>
            <a:endParaRPr/>
          </a:p>
        </p:txBody>
      </p:sp>
      <p:sp>
        <p:nvSpPr>
          <p:cNvPr id="212" name="Google Shape;212;p11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Programming environment: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A platform of tools supporting programming tasks.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Source code editor: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Edit text, syntax highlight, code completion.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Compiler: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Translate source code to machine code.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Terminal: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Command-line tool to run program and shell commands.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Debugger: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Run program step-by-step.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Monitor computer memory.</a:t>
            </a:r>
            <a:endParaRPr/>
          </a:p>
        </p:txBody>
      </p:sp>
      <p:sp>
        <p:nvSpPr>
          <p:cNvPr id="213" name="Google Shape;213;p11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4" name="Google Shape;214;p11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Computer programming</a:t>
            </a:r>
            <a:endParaRPr/>
          </a:p>
        </p:txBody>
      </p:sp>
      <p:sp>
        <p:nvSpPr>
          <p:cNvPr id="220" name="Google Shape;220;p12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Programming environment: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IDE – Integrated Development Environment: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A single application combining programming tools all-in-one.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User friendly, configuration-free, add-in features.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Cons: </a:t>
            </a:r>
            <a:endParaRPr/>
          </a:p>
          <a:p>
            <a:pPr indent="-228600" lvl="3" marL="1600200" rtl="0" algn="l">
              <a:spcBef>
                <a:spcPts val="320"/>
              </a:spcBef>
              <a:spcAft>
                <a:spcPts val="0"/>
              </a:spcAft>
              <a:buSzPts val="1120"/>
              <a:buChar char="●"/>
            </a:pPr>
            <a:r>
              <a:rPr lang="en-US"/>
              <a:t>Heavy memory and storage usage.</a:t>
            </a:r>
            <a:endParaRPr/>
          </a:p>
          <a:p>
            <a:pPr indent="-228600" lvl="3" marL="1600200" rtl="0" algn="l">
              <a:spcBef>
                <a:spcPts val="320"/>
              </a:spcBef>
              <a:spcAft>
                <a:spcPts val="0"/>
              </a:spcAft>
              <a:buSzPts val="1120"/>
              <a:buChar char="●"/>
            </a:pPr>
            <a:r>
              <a:rPr lang="en-US"/>
              <a:t>Limit configuration skill.</a:t>
            </a:r>
            <a:endParaRPr/>
          </a:p>
          <a:p>
            <a:pPr indent="-228600" lvl="3" marL="1600200" rtl="0" algn="l">
              <a:spcBef>
                <a:spcPts val="320"/>
              </a:spcBef>
              <a:spcAft>
                <a:spcPts val="0"/>
              </a:spcAft>
              <a:buSzPts val="1120"/>
              <a:buChar char="●"/>
            </a:pPr>
            <a:r>
              <a:rPr lang="en-US"/>
              <a:t>Require license.</a:t>
            </a:r>
            <a:endParaRPr/>
          </a:p>
          <a:p>
            <a:pPr indent="-228600" lvl="3" marL="1600200" rtl="0" algn="l">
              <a:spcBef>
                <a:spcPts val="320"/>
              </a:spcBef>
              <a:spcAft>
                <a:spcPts val="0"/>
              </a:spcAft>
              <a:buSzPts val="1120"/>
              <a:buChar char="●"/>
            </a:pPr>
            <a:r>
              <a:rPr lang="en-US"/>
              <a:t>Track user data.</a:t>
            </a:r>
            <a:endParaRPr/>
          </a:p>
        </p:txBody>
      </p:sp>
      <p:sp>
        <p:nvSpPr>
          <p:cNvPr id="221" name="Google Shape;221;p12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2" name="Google Shape;222;p12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  <p:pic>
        <p:nvPicPr>
          <p:cNvPr descr="Software Integration Services" id="223" name="Google Shape;22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9400" y="4038600"/>
            <a:ext cx="2152650" cy="2152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Computer programming</a:t>
            </a:r>
            <a:endParaRPr/>
          </a:p>
        </p:txBody>
      </p:sp>
      <p:sp>
        <p:nvSpPr>
          <p:cNvPr id="229" name="Google Shape;229;p13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C/C++ programming environment:</a:t>
            </a:r>
            <a:endParaRPr/>
          </a:p>
          <a:p>
            <a:pPr indent="-20066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  <a:p>
            <a:pPr indent="-20066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  <a:p>
            <a:pPr indent="-20066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  <a:p>
            <a:pPr indent="-20066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  <a:p>
            <a:pPr indent="-20066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  <a:p>
            <a:pPr indent="-20066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(*): Proprietary software and track user data.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(+): Run on Linux simulated environment like MinGW64, WSL.</a:t>
            </a:r>
            <a:endParaRPr sz="1600"/>
          </a:p>
        </p:txBody>
      </p:sp>
      <p:sp>
        <p:nvSpPr>
          <p:cNvPr id="230" name="Google Shape;230;p13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1" name="Google Shape;231;p13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  <p:graphicFrame>
        <p:nvGraphicFramePr>
          <p:cNvPr id="232" name="Google Shape;232;p13"/>
          <p:cNvGraphicFramePr/>
          <p:nvPr/>
        </p:nvGraphicFramePr>
        <p:xfrm>
          <a:off x="381000" y="18135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{063B5111-6C2D-42A1-8BCE-3C7C404C4FE3}</a:tableStyleId>
              </a:tblPr>
              <a:tblGrid>
                <a:gridCol w="1447800"/>
                <a:gridCol w="2286000"/>
                <a:gridCol w="2362200"/>
                <a:gridCol w="2362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Tools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Windows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MacOS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Linux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Editor</a:t>
                      </a:r>
                      <a:endParaRPr b="1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Notepad++</a:t>
                      </a:r>
                      <a:br>
                        <a:rPr lang="en-US" sz="1800"/>
                      </a:br>
                      <a:r>
                        <a:rPr lang="en-US" sz="1800"/>
                        <a:t>VS Code (*)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Sublime</a:t>
                      </a:r>
                      <a:r>
                        <a:rPr lang="en-US" sz="1800"/>
                        <a:t> Text (*)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TextMate</a:t>
                      </a:r>
                      <a:br>
                        <a:rPr lang="en-US" sz="1800"/>
                      </a:br>
                      <a:r>
                        <a:rPr lang="en-US" sz="1800"/>
                        <a:t>VS Code (*)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Sublime</a:t>
                      </a:r>
                      <a:r>
                        <a:rPr lang="en-US" sz="1800"/>
                        <a:t> Text (*)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Vim, Emacs</a:t>
                      </a:r>
                      <a:br>
                        <a:rPr lang="en-US" sz="1800"/>
                      </a:br>
                      <a:r>
                        <a:rPr lang="en-US" sz="1800"/>
                        <a:t>VS Code (*)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Sublime Text (*)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Compiler</a:t>
                      </a:r>
                      <a:endParaRPr b="1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MSVC (*)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GCC (+)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Clang (+)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Clang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GCC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GCC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Clang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Debugger</a:t>
                      </a:r>
                      <a:endParaRPr b="1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MSVC (*)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GDB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LLDB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GDB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GDB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LLDB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IDE</a:t>
                      </a:r>
                      <a:endParaRPr b="1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Visual Studio (*)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Code::Blocks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CodeLite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Xcode (*)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Code::Blocks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CodeLite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Code::Blocks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CodeLite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Computer programming</a:t>
            </a:r>
            <a:endParaRPr/>
          </a:p>
        </p:txBody>
      </p:sp>
      <p:sp>
        <p:nvSpPr>
          <p:cNvPr id="238" name="Google Shape;238;p14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C/C++ programming environment: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Set up loosely-coupled environment: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Windows: MinGW64, GCC, GDB.</a:t>
            </a:r>
            <a:endParaRPr/>
          </a:p>
          <a:p>
            <a:pPr indent="-228600" lvl="3" marL="1600200" rtl="0" algn="l">
              <a:spcBef>
                <a:spcPts val="320"/>
              </a:spcBef>
              <a:spcAft>
                <a:spcPts val="0"/>
              </a:spcAft>
              <a:buSzPts val="1120"/>
              <a:buChar char="●"/>
            </a:pPr>
            <a:r>
              <a:rPr lang="en-US"/>
              <a:t>Project WinLibs: light-weight, not extensible,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https://winlibs.com</a:t>
            </a:r>
            <a:endParaRPr/>
          </a:p>
          <a:p>
            <a:pPr indent="-228600" lvl="3" marL="1600200" rtl="0" algn="l">
              <a:spcBef>
                <a:spcPts val="320"/>
              </a:spcBef>
              <a:spcAft>
                <a:spcPts val="0"/>
              </a:spcAft>
              <a:buSzPts val="1120"/>
              <a:buChar char="●"/>
            </a:pPr>
            <a:r>
              <a:rPr lang="en-US"/>
              <a:t>Project MSYS2: get MSYS2 and toolchain,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https://www.msys2.org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Linux (Ubuntu/Debian): GCC, GDB.</a:t>
            </a:r>
            <a:endParaRPr/>
          </a:p>
          <a:p>
            <a:pPr indent="-228600" lvl="3" marL="1600200" rtl="0" algn="l">
              <a:spcBef>
                <a:spcPts val="320"/>
              </a:spcBef>
              <a:spcAft>
                <a:spcPts val="0"/>
              </a:spcAft>
              <a:buSzPts val="1120"/>
              <a:buChar char="●"/>
            </a:pPr>
            <a:r>
              <a:rPr lang="en-US"/>
              <a:t>Install package </a:t>
            </a:r>
            <a:r>
              <a:rPr b="1" lang="en-US">
                <a:solidFill>
                  <a:srgbClr val="FFC000"/>
                </a:solidFill>
              </a:rPr>
              <a:t>build-essential</a:t>
            </a:r>
            <a:r>
              <a:rPr lang="en-US"/>
              <a:t>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MacOS: Clang, LLDB.</a:t>
            </a:r>
            <a:endParaRPr/>
          </a:p>
          <a:p>
            <a:pPr indent="-228600" lvl="3" marL="1600200" rtl="0" algn="l">
              <a:spcBef>
                <a:spcPts val="320"/>
              </a:spcBef>
              <a:spcAft>
                <a:spcPts val="0"/>
              </a:spcAft>
              <a:buSzPts val="1120"/>
              <a:buChar char="●"/>
            </a:pPr>
            <a:r>
              <a:rPr lang="en-US"/>
              <a:t>Terminal command: </a:t>
            </a:r>
            <a:r>
              <a:rPr b="1" lang="en-US">
                <a:solidFill>
                  <a:srgbClr val="FFC000"/>
                </a:solidFill>
              </a:rPr>
              <a:t>xcode-select --install</a:t>
            </a:r>
            <a:r>
              <a:rPr lang="en-US"/>
              <a:t>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Set up IDE: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Visual Studio (Windows):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https://visualstudio.microsoft.com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Xcode (MacOS): </a:t>
            </a:r>
            <a:r>
              <a:rPr lang="en-US">
                <a:solidFill>
                  <a:srgbClr val="FFC000"/>
                </a:solidFill>
              </a:rPr>
              <a:t>xcode-select --install</a:t>
            </a:r>
            <a:r>
              <a:rPr lang="en-US"/>
              <a:t>, then </a:t>
            </a:r>
            <a:r>
              <a:rPr lang="en-US">
                <a:solidFill>
                  <a:srgbClr val="FFC000"/>
                </a:solidFill>
              </a:rPr>
              <a:t>Get Xcode</a:t>
            </a:r>
            <a:r>
              <a:rPr lang="en-US"/>
              <a:t>. 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Code::Blocks: </a:t>
            </a:r>
            <a:r>
              <a:rPr lang="en-US" u="sng">
                <a:solidFill>
                  <a:schemeClr val="hlink"/>
                </a:solidFill>
                <a:hlinkClick r:id="rId6"/>
              </a:rPr>
              <a:t>https://www.codeblocks.org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CodeLite: </a:t>
            </a:r>
            <a:r>
              <a:rPr lang="en-US" u="sng">
                <a:solidFill>
                  <a:schemeClr val="hlink"/>
                </a:solidFill>
                <a:hlinkClick r:id="rId7"/>
              </a:rPr>
              <a:t>https://codelite.org</a:t>
            </a:r>
            <a:endParaRPr/>
          </a:p>
        </p:txBody>
      </p:sp>
      <p:sp>
        <p:nvSpPr>
          <p:cNvPr id="239" name="Google Shape;239;p14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0" name="Google Shape;240;p14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5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246" name="Google Shape;246;p15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Computer programming.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●"/>
            </a:pPr>
            <a:r>
              <a:rPr b="1" lang="en-US">
                <a:solidFill>
                  <a:srgbClr val="FFC000"/>
                </a:solidFill>
              </a:rPr>
              <a:t>Computer algorithm.</a:t>
            </a:r>
            <a:endParaRPr b="1">
              <a:solidFill>
                <a:srgbClr val="FFC000"/>
              </a:solidFill>
            </a:endParaRPr>
          </a:p>
        </p:txBody>
      </p:sp>
      <p:sp>
        <p:nvSpPr>
          <p:cNvPr id="247" name="Google Shape;247;p15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8" name="Google Shape;248;p15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6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Computer algorithm</a:t>
            </a:r>
            <a:endParaRPr/>
          </a:p>
        </p:txBody>
      </p:sp>
      <p:sp>
        <p:nvSpPr>
          <p:cNvPr id="254" name="Google Shape;254;p16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Algorithm concepts: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Different machines have different instruction code.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Turing machine: abstract machine and instructions.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Algorithm ~ program on Turing machine: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Finite steps to solve problem on Turing machine.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Does not depend on specific machine.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Is more abstract than program.</a:t>
            </a:r>
            <a:endParaRPr/>
          </a:p>
          <a:p>
            <a:pPr indent="-139700" lvl="2" marL="13716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16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6" name="Google Shape;256;p16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  <p:pic>
        <p:nvPicPr>
          <p:cNvPr descr="Living in Alan Turing's Future | Alan turing, Computer science, Science" id="257" name="Google Shape;25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33616" y="3733800"/>
            <a:ext cx="1729384" cy="2302197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6"/>
          <p:cNvSpPr txBox="1"/>
          <p:nvPr/>
        </p:nvSpPr>
        <p:spPr>
          <a:xfrm>
            <a:off x="7086600" y="6045522"/>
            <a:ext cx="1676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Alan Turing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7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Computer algorithm</a:t>
            </a:r>
            <a:endParaRPr/>
          </a:p>
        </p:txBody>
      </p:sp>
      <p:sp>
        <p:nvSpPr>
          <p:cNvPr id="264" name="Google Shape;264;p17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Algorithm basic instructions: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Read input, write output.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Arithmetic operations: +, -, *, /, =.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Comparisons: &gt;, &lt;, &gt;=, &lt;=, ==, !=.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Condition: if-else.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Loop: while.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Can machines think?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The Imitation game - Turing test.</a:t>
            </a:r>
            <a:endParaRPr/>
          </a:p>
          <a:p>
            <a:pPr indent="-179069" lvl="1" marL="9144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</p:txBody>
      </p:sp>
      <p:sp>
        <p:nvSpPr>
          <p:cNvPr id="265" name="Google Shape;265;p17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6" name="Google Shape;266;p17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  <p:pic>
        <p:nvPicPr>
          <p:cNvPr descr="undefined" id="267" name="Google Shape;26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3785615"/>
            <a:ext cx="1924050" cy="2462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Computer algorithm</a:t>
            </a:r>
            <a:endParaRPr/>
          </a:p>
        </p:txBody>
      </p:sp>
      <p:sp>
        <p:nvSpPr>
          <p:cNvPr id="273" name="Google Shape;273;p18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Algorithm representations: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Pseudo-code: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Use natural language.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Notations:</a:t>
            </a:r>
            <a:endParaRPr/>
          </a:p>
        </p:txBody>
      </p:sp>
      <p:sp>
        <p:nvSpPr>
          <p:cNvPr id="274" name="Google Shape;274;p18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5" name="Google Shape;275;p18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  <p:graphicFrame>
        <p:nvGraphicFramePr>
          <p:cNvPr id="276" name="Google Shape;276;p18"/>
          <p:cNvGraphicFramePr/>
          <p:nvPr/>
        </p:nvGraphicFramePr>
        <p:xfrm>
          <a:off x="533400" y="29057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{063B5111-6C2D-42A1-8BCE-3C7C404C4FE3}</a:tableStyleId>
              </a:tblPr>
              <a:tblGrid>
                <a:gridCol w="2138075"/>
                <a:gridCol w="2510125"/>
                <a:gridCol w="3429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Instructions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Notations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Example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Read input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Write output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Input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Output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10160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Char char="-"/>
                      </a:pPr>
                      <a:r>
                        <a:rPr lang="en-US" sz="1600"/>
                        <a:t>Step 1: </a:t>
                      </a:r>
                      <a:r>
                        <a:rPr b="1" lang="en-US" sz="1600">
                          <a:solidFill>
                            <a:srgbClr val="FF0000"/>
                          </a:solidFill>
                        </a:rPr>
                        <a:t>Input</a:t>
                      </a:r>
                      <a:r>
                        <a:rPr lang="en-US" sz="1600"/>
                        <a:t> a, b, c.</a:t>
                      </a:r>
                      <a:endParaRPr/>
                    </a:p>
                    <a:p>
                      <a:pPr indent="-10160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Char char="-"/>
                      </a:pPr>
                      <a:r>
                        <a:rPr lang="en-US" sz="1600"/>
                        <a:t>Step 2: </a:t>
                      </a:r>
                      <a:r>
                        <a:rPr b="1" lang="en-US" sz="1600">
                          <a:solidFill>
                            <a:srgbClr val="FF0000"/>
                          </a:solidFill>
                        </a:rPr>
                        <a:t>Output</a:t>
                      </a:r>
                      <a:r>
                        <a:rPr lang="en-US" sz="1600"/>
                        <a:t> a + b + c.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Arithmetic operations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+, -, *,</a:t>
                      </a:r>
                      <a:r>
                        <a:rPr lang="en-US" sz="1600"/>
                        <a:t> /, %, =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-Step</a:t>
                      </a:r>
                      <a:r>
                        <a:rPr lang="en-US" sz="1600"/>
                        <a:t> </a:t>
                      </a:r>
                      <a:r>
                        <a:rPr lang="en-US" sz="1600"/>
                        <a:t>1: a</a:t>
                      </a:r>
                      <a:r>
                        <a:rPr lang="en-US" sz="1600"/>
                        <a:t> = 5.</a:t>
                      </a:r>
                      <a:br>
                        <a:rPr lang="en-US" sz="1600"/>
                      </a:br>
                      <a:r>
                        <a:rPr lang="en-US" sz="1600"/>
                        <a:t>-Step</a:t>
                      </a:r>
                      <a:r>
                        <a:rPr lang="en-US" sz="1600"/>
                        <a:t> 2</a:t>
                      </a:r>
                      <a:r>
                        <a:rPr lang="en-US" sz="1600"/>
                        <a:t>: b = (a + 5) / (a</a:t>
                      </a:r>
                      <a:r>
                        <a:rPr lang="en-US" sz="1600"/>
                        <a:t> – 3)</a:t>
                      </a:r>
                      <a:r>
                        <a:rPr lang="en-US" sz="1600"/>
                        <a:t>.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Condition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1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If &lt;condition&gt; …  Else …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-Step</a:t>
                      </a:r>
                      <a:r>
                        <a:rPr lang="en-US" sz="1600"/>
                        <a:t> 1: </a:t>
                      </a:r>
                      <a:r>
                        <a:rPr b="1" lang="en-US" sz="1600">
                          <a:solidFill>
                            <a:srgbClr val="FF0000"/>
                          </a:solidFill>
                        </a:rPr>
                        <a:t>Input</a:t>
                      </a:r>
                      <a:r>
                        <a:rPr lang="en-US" sz="1600"/>
                        <a:t> a</a:t>
                      </a:r>
                      <a:r>
                        <a:rPr lang="en-US" sz="1600"/>
                        <a:t>.</a:t>
                      </a:r>
                      <a:endParaRPr sz="16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-Step 2: </a:t>
                      </a:r>
                      <a:r>
                        <a:rPr b="1" lang="en-US" sz="1600">
                          <a:solidFill>
                            <a:srgbClr val="FF0000"/>
                          </a:solidFill>
                        </a:rPr>
                        <a:t>If</a:t>
                      </a:r>
                      <a:r>
                        <a:rPr lang="en-US" sz="1600"/>
                        <a:t> a &lt; 0 </a:t>
                      </a:r>
                      <a:r>
                        <a:rPr b="1" lang="en-US" sz="1600">
                          <a:solidFill>
                            <a:srgbClr val="FF0000"/>
                          </a:solidFill>
                        </a:rPr>
                        <a:t>Output</a:t>
                      </a:r>
                      <a:r>
                        <a:rPr lang="en-US" sz="1600"/>
                        <a:t> “Negative”</a:t>
                      </a:r>
                      <a:br>
                        <a:rPr lang="en-US" sz="1600"/>
                      </a:br>
                      <a:r>
                        <a:rPr lang="en-US" sz="1600"/>
                        <a:t>             </a:t>
                      </a:r>
                      <a:r>
                        <a:rPr b="1" lang="en-US" sz="1600">
                          <a:solidFill>
                            <a:srgbClr val="FF0000"/>
                          </a:solidFill>
                        </a:rPr>
                        <a:t>Else</a:t>
                      </a:r>
                      <a:r>
                        <a:rPr lang="en-US" sz="1600"/>
                        <a:t> </a:t>
                      </a:r>
                      <a:r>
                        <a:rPr b="1" lang="en-US" sz="1600">
                          <a:solidFill>
                            <a:srgbClr val="FF0000"/>
                          </a:solidFill>
                        </a:rPr>
                        <a:t>Output</a:t>
                      </a:r>
                      <a:r>
                        <a:rPr lang="en-US" sz="1600"/>
                        <a:t> “Positive”.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Loop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1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While &lt;condition&gt; ...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-Step</a:t>
                      </a:r>
                      <a:r>
                        <a:rPr lang="en-US" sz="1600"/>
                        <a:t> </a:t>
                      </a:r>
                      <a:r>
                        <a:rPr lang="en-US" sz="1600"/>
                        <a:t>1: a</a:t>
                      </a:r>
                      <a:r>
                        <a:rPr lang="en-US" sz="1600"/>
                        <a:t> = 0.</a:t>
                      </a:r>
                      <a:br>
                        <a:rPr lang="en-US" sz="1600"/>
                      </a:br>
                      <a:r>
                        <a:rPr lang="en-US" sz="1600"/>
                        <a:t>-Step 2: </a:t>
                      </a:r>
                      <a:r>
                        <a:rPr b="1" lang="en-US" sz="1600">
                          <a:solidFill>
                            <a:srgbClr val="FF0000"/>
                          </a:solidFill>
                        </a:rPr>
                        <a:t>While </a:t>
                      </a:r>
                      <a:r>
                        <a:rPr b="0" lang="en-US" sz="1600">
                          <a:solidFill>
                            <a:schemeClr val="dk1"/>
                          </a:solidFill>
                        </a:rPr>
                        <a:t>a &lt; 10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0000"/>
                          </a:solidFill>
                        </a:rPr>
                        <a:t>	Output </a:t>
                      </a:r>
                      <a:r>
                        <a:rPr b="0" lang="en-US" sz="1600">
                          <a:solidFill>
                            <a:schemeClr val="dk1"/>
                          </a:solidFill>
                        </a:rPr>
                        <a:t>a.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0000"/>
                          </a:solidFill>
                        </a:rPr>
                        <a:t>	</a:t>
                      </a:r>
                      <a:r>
                        <a:rPr b="0" lang="en-US" sz="1600">
                          <a:solidFill>
                            <a:schemeClr val="dk1"/>
                          </a:solidFill>
                        </a:rPr>
                        <a:t>a = a + 1.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9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Computer algorithm</a:t>
            </a:r>
            <a:endParaRPr/>
          </a:p>
        </p:txBody>
      </p:sp>
      <p:sp>
        <p:nvSpPr>
          <p:cNvPr id="282" name="Google Shape;282;p19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Algorithm representations: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Pseudo-code:</a:t>
            </a:r>
            <a:endParaRPr/>
          </a:p>
          <a:p>
            <a:pPr indent="-179069" lvl="1" marL="9144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* Find max among 3 numbers: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-Step 1: </a:t>
            </a:r>
            <a:r>
              <a:rPr b="1" lang="en-US" sz="2000">
                <a:solidFill>
                  <a:srgbClr val="FFC000"/>
                </a:solidFill>
              </a:rPr>
              <a:t>Input </a:t>
            </a:r>
            <a:r>
              <a:rPr lang="en-US" sz="2000"/>
              <a:t>a, b, c.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-Step 2: max = a.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-Step 3: </a:t>
            </a:r>
            <a:r>
              <a:rPr b="1" lang="en-US" sz="2000">
                <a:solidFill>
                  <a:srgbClr val="FFC000"/>
                </a:solidFill>
              </a:rPr>
              <a:t>If </a:t>
            </a:r>
            <a:r>
              <a:rPr lang="en-US" sz="2000"/>
              <a:t>b &gt; max</a:t>
            </a:r>
            <a:br>
              <a:rPr lang="en-US" sz="2000"/>
            </a:br>
            <a:r>
              <a:rPr lang="en-US" sz="2000"/>
              <a:t>	     max = b.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-Step 4: </a:t>
            </a:r>
            <a:r>
              <a:rPr b="1" lang="en-US" sz="2000">
                <a:solidFill>
                  <a:srgbClr val="FFC000"/>
                </a:solidFill>
              </a:rPr>
              <a:t>If </a:t>
            </a:r>
            <a:r>
              <a:rPr lang="en-US" sz="2000"/>
              <a:t>c &gt; max</a:t>
            </a:r>
            <a:br>
              <a:rPr lang="en-US" sz="2000"/>
            </a:br>
            <a:r>
              <a:rPr lang="en-US" sz="2000"/>
              <a:t>	     max = c.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-Step 5: </a:t>
            </a:r>
            <a:r>
              <a:rPr b="1" lang="en-US" sz="2000">
                <a:solidFill>
                  <a:srgbClr val="FFC000"/>
                </a:solidFill>
              </a:rPr>
              <a:t>Output </a:t>
            </a:r>
            <a:r>
              <a:rPr lang="en-US" sz="2000"/>
              <a:t>max.</a:t>
            </a:r>
            <a:endParaRPr/>
          </a:p>
          <a:p>
            <a:pPr indent="-179069" lvl="1" marL="9144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</p:txBody>
      </p:sp>
      <p:sp>
        <p:nvSpPr>
          <p:cNvPr id="283" name="Google Shape;283;p19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4" name="Google Shape;284;p19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  <p:sp>
        <p:nvSpPr>
          <p:cNvPr id="285" name="Google Shape;285;p19"/>
          <p:cNvSpPr/>
          <p:nvPr/>
        </p:nvSpPr>
        <p:spPr>
          <a:xfrm>
            <a:off x="5562600" y="2590800"/>
            <a:ext cx="3200400" cy="2492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None/>
            </a:pP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* Compute factorial of N: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None/>
            </a:pP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-Step 1: </a:t>
            </a:r>
            <a:r>
              <a:rPr b="1"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Input </a:t>
            </a: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None/>
            </a:pP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-Step 2: S = 1.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None/>
            </a:pP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-Step 3: </a:t>
            </a:r>
            <a:r>
              <a:rPr b="1"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While </a:t>
            </a: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 &gt; 1</a:t>
            </a:r>
            <a:b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     S = S * N.</a:t>
            </a:r>
            <a:b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     N = N – 1.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None/>
            </a:pP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-Step 4: </a:t>
            </a:r>
            <a:r>
              <a:rPr b="1"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Output </a:t>
            </a: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0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Computer algorithm</a:t>
            </a:r>
            <a:endParaRPr/>
          </a:p>
        </p:txBody>
      </p:sp>
      <p:sp>
        <p:nvSpPr>
          <p:cNvPr id="291" name="Google Shape;291;p20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Algorithm representations: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Flowchart: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Use diagram.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Visualize flow of process.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Notations:</a:t>
            </a:r>
            <a:endParaRPr/>
          </a:p>
        </p:txBody>
      </p:sp>
      <p:sp>
        <p:nvSpPr>
          <p:cNvPr id="292" name="Google Shape;292;p20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3" name="Google Shape;293;p20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  <p:graphicFrame>
        <p:nvGraphicFramePr>
          <p:cNvPr id="294" name="Google Shape;294;p20"/>
          <p:cNvGraphicFramePr/>
          <p:nvPr/>
        </p:nvGraphicFramePr>
        <p:xfrm>
          <a:off x="533400" y="3352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{063B5111-6C2D-42A1-8BCE-3C7C404C4FE3}</a:tableStyleId>
              </a:tblPr>
              <a:tblGrid>
                <a:gridCol w="2138075"/>
                <a:gridCol w="2510125"/>
                <a:gridCol w="3429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Intrustions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Notations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Example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619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Read input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Write output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Arithmetic operations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83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Condition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1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Transition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1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95" name="Google Shape;295;p20"/>
          <p:cNvSpPr/>
          <p:nvPr/>
        </p:nvSpPr>
        <p:spPr>
          <a:xfrm>
            <a:off x="2895600" y="3810000"/>
            <a:ext cx="990600" cy="457200"/>
          </a:xfrm>
          <a:prstGeom prst="parallelogram">
            <a:avLst>
              <a:gd fmla="val 32792" name="adj"/>
            </a:avLst>
          </a:prstGeom>
          <a:solidFill>
            <a:srgbClr val="92D0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1919" lvl="0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0"/>
          <p:cNvSpPr/>
          <p:nvPr/>
        </p:nvSpPr>
        <p:spPr>
          <a:xfrm>
            <a:off x="5410200" y="3810000"/>
            <a:ext cx="1447800" cy="457200"/>
          </a:xfrm>
          <a:prstGeom prst="parallelogram">
            <a:avLst>
              <a:gd fmla="val 32792" name="adj"/>
            </a:avLst>
          </a:prstGeom>
          <a:solidFill>
            <a:srgbClr val="92D0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0"/>
          <p:cNvSpPr txBox="1"/>
          <p:nvPr/>
        </p:nvSpPr>
        <p:spPr>
          <a:xfrm>
            <a:off x="5761626" y="3886200"/>
            <a:ext cx="74571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a, b, c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0"/>
          <p:cNvSpPr/>
          <p:nvPr/>
        </p:nvSpPr>
        <p:spPr>
          <a:xfrm>
            <a:off x="3200400" y="4419600"/>
            <a:ext cx="1371600" cy="457200"/>
          </a:xfrm>
          <a:prstGeom prst="rect">
            <a:avLst/>
          </a:prstGeom>
          <a:solidFill>
            <a:srgbClr val="92D0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1919" lvl="0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0"/>
          <p:cNvSpPr/>
          <p:nvPr/>
        </p:nvSpPr>
        <p:spPr>
          <a:xfrm>
            <a:off x="6248400" y="4419600"/>
            <a:ext cx="1371600" cy="457200"/>
          </a:xfrm>
          <a:prstGeom prst="rect">
            <a:avLst/>
          </a:prstGeom>
          <a:solidFill>
            <a:srgbClr val="92D0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1919" lvl="0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0"/>
          <p:cNvSpPr txBox="1"/>
          <p:nvPr/>
        </p:nvSpPr>
        <p:spPr>
          <a:xfrm>
            <a:off x="6400800" y="4495800"/>
            <a:ext cx="9973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= a + b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0"/>
          <p:cNvSpPr/>
          <p:nvPr/>
        </p:nvSpPr>
        <p:spPr>
          <a:xfrm>
            <a:off x="3352800" y="5029200"/>
            <a:ext cx="1143000" cy="685800"/>
          </a:xfrm>
          <a:prstGeom prst="diamond">
            <a:avLst/>
          </a:prstGeom>
          <a:solidFill>
            <a:srgbClr val="92D0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1919" lvl="0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0"/>
          <p:cNvSpPr/>
          <p:nvPr/>
        </p:nvSpPr>
        <p:spPr>
          <a:xfrm>
            <a:off x="6400800" y="5029200"/>
            <a:ext cx="1143000" cy="685800"/>
          </a:xfrm>
          <a:prstGeom prst="diamond">
            <a:avLst/>
          </a:prstGeom>
          <a:solidFill>
            <a:srgbClr val="92D0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1919" lvl="0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0"/>
          <p:cNvSpPr txBox="1"/>
          <p:nvPr/>
        </p:nvSpPr>
        <p:spPr>
          <a:xfrm>
            <a:off x="6667266" y="5224046"/>
            <a:ext cx="64793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&lt; 0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4" name="Google Shape;304;p20"/>
          <p:cNvCxnSpPr/>
          <p:nvPr/>
        </p:nvCxnSpPr>
        <p:spPr>
          <a:xfrm>
            <a:off x="3352800" y="6094412"/>
            <a:ext cx="1219200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05" name="Google Shape;305;p20"/>
          <p:cNvSpPr/>
          <p:nvPr/>
        </p:nvSpPr>
        <p:spPr>
          <a:xfrm rot="10800000">
            <a:off x="4038600" y="3810000"/>
            <a:ext cx="914400" cy="457200"/>
          </a:xfrm>
          <a:prstGeom prst="flowChartPunchedCard">
            <a:avLst/>
          </a:prstGeom>
          <a:solidFill>
            <a:srgbClr val="92D0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1919" lvl="0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0"/>
          <p:cNvSpPr/>
          <p:nvPr/>
        </p:nvSpPr>
        <p:spPr>
          <a:xfrm rot="10800000">
            <a:off x="7162800" y="3810000"/>
            <a:ext cx="1143000" cy="457200"/>
          </a:xfrm>
          <a:prstGeom prst="flowChartPunchedCard">
            <a:avLst/>
          </a:prstGeom>
          <a:solidFill>
            <a:srgbClr val="92D0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1919" lvl="0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0"/>
          <p:cNvSpPr txBox="1"/>
          <p:nvPr/>
        </p:nvSpPr>
        <p:spPr>
          <a:xfrm>
            <a:off x="7514225" y="3886200"/>
            <a:ext cx="56297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x, y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1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Computer algorithm</a:t>
            </a:r>
            <a:endParaRPr/>
          </a:p>
        </p:txBody>
      </p:sp>
      <p:sp>
        <p:nvSpPr>
          <p:cNvPr id="313" name="Google Shape;313;p21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Algorithm representations:</a:t>
            </a:r>
            <a:endParaRPr/>
          </a:p>
        </p:txBody>
      </p:sp>
      <p:sp>
        <p:nvSpPr>
          <p:cNvPr id="314" name="Google Shape;314;p21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5" name="Google Shape;315;p21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  <p:sp>
        <p:nvSpPr>
          <p:cNvPr id="316" name="Google Shape;316;p21"/>
          <p:cNvSpPr/>
          <p:nvPr/>
        </p:nvSpPr>
        <p:spPr>
          <a:xfrm>
            <a:off x="1066800" y="2362200"/>
            <a:ext cx="1600200" cy="381000"/>
          </a:xfrm>
          <a:prstGeom prst="parallelogram">
            <a:avLst>
              <a:gd fmla="val 32792" name="adj"/>
            </a:avLst>
          </a:prstGeom>
          <a:solidFill>
            <a:srgbClr val="ECE5F8"/>
          </a:solidFill>
          <a:ln cap="flat" cmpd="sng" w="9525">
            <a:solidFill>
              <a:srgbClr val="6D6D6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1"/>
          <p:cNvSpPr txBox="1"/>
          <p:nvPr/>
        </p:nvSpPr>
        <p:spPr>
          <a:xfrm>
            <a:off x="1447800" y="2404646"/>
            <a:ext cx="74571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rPr lang="en-US" sz="1600">
                <a:solidFill>
                  <a:srgbClr val="0000F2"/>
                </a:solidFill>
                <a:latin typeface="Arial"/>
                <a:ea typeface="Arial"/>
                <a:cs typeface="Arial"/>
                <a:sym typeface="Arial"/>
              </a:rPr>
              <a:t>a, b, c</a:t>
            </a:r>
            <a:endParaRPr sz="1600">
              <a:solidFill>
                <a:srgbClr val="0000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1"/>
          <p:cNvSpPr/>
          <p:nvPr/>
        </p:nvSpPr>
        <p:spPr>
          <a:xfrm>
            <a:off x="1219200" y="2971800"/>
            <a:ext cx="1219200" cy="381000"/>
          </a:xfrm>
          <a:prstGeom prst="rect">
            <a:avLst/>
          </a:prstGeom>
          <a:solidFill>
            <a:srgbClr val="ECE5F8"/>
          </a:solidFill>
          <a:ln cap="flat" cmpd="sng" w="9525">
            <a:solidFill>
              <a:srgbClr val="6D6D6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1919" lvl="0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1"/>
          <p:cNvSpPr txBox="1"/>
          <p:nvPr/>
        </p:nvSpPr>
        <p:spPr>
          <a:xfrm>
            <a:off x="1371600" y="3014246"/>
            <a:ext cx="92204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rPr lang="en-US" sz="1600">
                <a:solidFill>
                  <a:srgbClr val="0000F2"/>
                </a:solidFill>
                <a:latin typeface="Arial"/>
                <a:ea typeface="Arial"/>
                <a:cs typeface="Arial"/>
                <a:sym typeface="Arial"/>
              </a:rPr>
              <a:t>max = a</a:t>
            </a:r>
            <a:endParaRPr sz="1600">
              <a:solidFill>
                <a:srgbClr val="0000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1"/>
          <p:cNvSpPr/>
          <p:nvPr/>
        </p:nvSpPr>
        <p:spPr>
          <a:xfrm>
            <a:off x="1257534" y="3615154"/>
            <a:ext cx="1143000" cy="457200"/>
          </a:xfrm>
          <a:prstGeom prst="diamond">
            <a:avLst/>
          </a:prstGeom>
          <a:solidFill>
            <a:srgbClr val="ECE5F8"/>
          </a:solidFill>
          <a:ln cap="flat" cmpd="sng" w="9525">
            <a:solidFill>
              <a:srgbClr val="6D6D6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1919" lvl="0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1"/>
          <p:cNvSpPr txBox="1"/>
          <p:nvPr/>
        </p:nvSpPr>
        <p:spPr>
          <a:xfrm>
            <a:off x="1371600" y="3657600"/>
            <a:ext cx="92204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rPr lang="en-US" sz="1600">
                <a:solidFill>
                  <a:srgbClr val="0000F2"/>
                </a:solidFill>
                <a:latin typeface="Arial"/>
                <a:ea typeface="Arial"/>
                <a:cs typeface="Arial"/>
                <a:sym typeface="Arial"/>
              </a:rPr>
              <a:t>b &gt; max</a:t>
            </a:r>
            <a:endParaRPr sz="1600">
              <a:solidFill>
                <a:srgbClr val="0000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2" name="Google Shape;322;p21"/>
          <p:cNvCxnSpPr/>
          <p:nvPr/>
        </p:nvCxnSpPr>
        <p:spPr>
          <a:xfrm rot="5400000">
            <a:off x="1714897" y="2857103"/>
            <a:ext cx="229394" cy="158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23" name="Google Shape;323;p21"/>
          <p:cNvSpPr/>
          <p:nvPr/>
        </p:nvSpPr>
        <p:spPr>
          <a:xfrm>
            <a:off x="1219200" y="4419600"/>
            <a:ext cx="1143000" cy="457200"/>
          </a:xfrm>
          <a:prstGeom prst="diamond">
            <a:avLst/>
          </a:prstGeom>
          <a:solidFill>
            <a:srgbClr val="ECE5F8"/>
          </a:solidFill>
          <a:ln cap="flat" cmpd="sng" w="9525">
            <a:solidFill>
              <a:srgbClr val="6D6D6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1919" lvl="0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1"/>
          <p:cNvSpPr txBox="1"/>
          <p:nvPr/>
        </p:nvSpPr>
        <p:spPr>
          <a:xfrm>
            <a:off x="1333266" y="4462046"/>
            <a:ext cx="91082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rPr lang="en-US" sz="1600">
                <a:solidFill>
                  <a:srgbClr val="0000F2"/>
                </a:solidFill>
                <a:latin typeface="Arial"/>
                <a:ea typeface="Arial"/>
                <a:cs typeface="Arial"/>
                <a:sym typeface="Arial"/>
              </a:rPr>
              <a:t>c &gt; max</a:t>
            </a:r>
            <a:endParaRPr sz="1600">
              <a:solidFill>
                <a:srgbClr val="0000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1"/>
          <p:cNvSpPr/>
          <p:nvPr/>
        </p:nvSpPr>
        <p:spPr>
          <a:xfrm>
            <a:off x="2895600" y="3657600"/>
            <a:ext cx="1219200" cy="381000"/>
          </a:xfrm>
          <a:prstGeom prst="rect">
            <a:avLst/>
          </a:prstGeom>
          <a:solidFill>
            <a:srgbClr val="ECE5F8"/>
          </a:solidFill>
          <a:ln cap="flat" cmpd="sng" w="9525">
            <a:solidFill>
              <a:srgbClr val="6D6D6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1919" lvl="0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1"/>
          <p:cNvSpPr txBox="1"/>
          <p:nvPr/>
        </p:nvSpPr>
        <p:spPr>
          <a:xfrm>
            <a:off x="3048000" y="3700046"/>
            <a:ext cx="92204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rPr lang="en-US" sz="1600">
                <a:solidFill>
                  <a:srgbClr val="0000F2"/>
                </a:solidFill>
                <a:latin typeface="Arial"/>
                <a:ea typeface="Arial"/>
                <a:cs typeface="Arial"/>
                <a:sym typeface="Arial"/>
              </a:rPr>
              <a:t>max = b</a:t>
            </a:r>
            <a:endParaRPr sz="1600">
              <a:solidFill>
                <a:srgbClr val="0000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1"/>
          <p:cNvSpPr/>
          <p:nvPr/>
        </p:nvSpPr>
        <p:spPr>
          <a:xfrm>
            <a:off x="2895600" y="4419600"/>
            <a:ext cx="1219200" cy="381000"/>
          </a:xfrm>
          <a:prstGeom prst="rect">
            <a:avLst/>
          </a:prstGeom>
          <a:solidFill>
            <a:srgbClr val="ECE5F8"/>
          </a:solidFill>
          <a:ln cap="flat" cmpd="sng" w="9525">
            <a:solidFill>
              <a:srgbClr val="6D6D6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1919" lvl="0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1"/>
          <p:cNvSpPr txBox="1"/>
          <p:nvPr/>
        </p:nvSpPr>
        <p:spPr>
          <a:xfrm>
            <a:off x="3048000" y="4462046"/>
            <a:ext cx="91082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rPr lang="en-US" sz="1600">
                <a:solidFill>
                  <a:srgbClr val="0000F2"/>
                </a:solidFill>
                <a:latin typeface="Arial"/>
                <a:ea typeface="Arial"/>
                <a:cs typeface="Arial"/>
                <a:sym typeface="Arial"/>
              </a:rPr>
              <a:t>max = c</a:t>
            </a:r>
            <a:endParaRPr sz="1600">
              <a:solidFill>
                <a:srgbClr val="0000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9" name="Google Shape;329;p21"/>
          <p:cNvCxnSpPr/>
          <p:nvPr/>
        </p:nvCxnSpPr>
        <p:spPr>
          <a:xfrm rot="5400000">
            <a:off x="1713706" y="3466306"/>
            <a:ext cx="228600" cy="158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30" name="Google Shape;330;p21"/>
          <p:cNvCxnSpPr/>
          <p:nvPr/>
        </p:nvCxnSpPr>
        <p:spPr>
          <a:xfrm rot="5400000">
            <a:off x="1676400" y="4266406"/>
            <a:ext cx="304800" cy="158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31" name="Google Shape;331;p21"/>
          <p:cNvCxnSpPr/>
          <p:nvPr/>
        </p:nvCxnSpPr>
        <p:spPr>
          <a:xfrm rot="5400000">
            <a:off x="1676398" y="5028406"/>
            <a:ext cx="304800" cy="158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32" name="Google Shape;332;p21"/>
          <p:cNvCxnSpPr/>
          <p:nvPr/>
        </p:nvCxnSpPr>
        <p:spPr>
          <a:xfrm>
            <a:off x="2362200" y="3884612"/>
            <a:ext cx="533400" cy="158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33" name="Google Shape;333;p21"/>
          <p:cNvCxnSpPr/>
          <p:nvPr/>
        </p:nvCxnSpPr>
        <p:spPr>
          <a:xfrm>
            <a:off x="2362200" y="4646612"/>
            <a:ext cx="533400" cy="158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34" name="Google Shape;334;p21"/>
          <p:cNvCxnSpPr>
            <a:stCxn id="325" idx="2"/>
          </p:cNvCxnSpPr>
          <p:nvPr/>
        </p:nvCxnSpPr>
        <p:spPr>
          <a:xfrm flipH="1">
            <a:off x="3504300" y="4038600"/>
            <a:ext cx="900" cy="229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" name="Google Shape;335;p21"/>
          <p:cNvCxnSpPr/>
          <p:nvPr/>
        </p:nvCxnSpPr>
        <p:spPr>
          <a:xfrm rot="10800000">
            <a:off x="1828800" y="4267200"/>
            <a:ext cx="1676400" cy="158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36" name="Google Shape;336;p21"/>
          <p:cNvCxnSpPr>
            <a:stCxn id="327" idx="2"/>
          </p:cNvCxnSpPr>
          <p:nvPr/>
        </p:nvCxnSpPr>
        <p:spPr>
          <a:xfrm flipH="1">
            <a:off x="3504300" y="4800600"/>
            <a:ext cx="900" cy="229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7" name="Google Shape;337;p21"/>
          <p:cNvCxnSpPr/>
          <p:nvPr/>
        </p:nvCxnSpPr>
        <p:spPr>
          <a:xfrm flipH="1">
            <a:off x="1828006" y="5029200"/>
            <a:ext cx="1677195" cy="794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38" name="Google Shape;338;p21"/>
          <p:cNvSpPr/>
          <p:nvPr/>
        </p:nvSpPr>
        <p:spPr>
          <a:xfrm>
            <a:off x="1676400" y="1828800"/>
            <a:ext cx="304800" cy="304800"/>
          </a:xfrm>
          <a:prstGeom prst="ellipse">
            <a:avLst/>
          </a:prstGeom>
          <a:solidFill>
            <a:srgbClr val="ECE5F8"/>
          </a:solidFill>
          <a:ln cap="flat" cmpd="sng" w="9525">
            <a:solidFill>
              <a:srgbClr val="6D6D6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1919" lvl="0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9" name="Google Shape;339;p21"/>
          <p:cNvCxnSpPr/>
          <p:nvPr/>
        </p:nvCxnSpPr>
        <p:spPr>
          <a:xfrm rot="5400000">
            <a:off x="1714897" y="2247503"/>
            <a:ext cx="229394" cy="158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40" name="Google Shape;340;p21"/>
          <p:cNvSpPr/>
          <p:nvPr/>
        </p:nvSpPr>
        <p:spPr>
          <a:xfrm>
            <a:off x="1600200" y="5791200"/>
            <a:ext cx="381000" cy="381000"/>
          </a:xfrm>
          <a:prstGeom prst="ellipse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1919" lvl="0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1"/>
          <p:cNvSpPr/>
          <p:nvPr/>
        </p:nvSpPr>
        <p:spPr>
          <a:xfrm>
            <a:off x="1676400" y="5867400"/>
            <a:ext cx="228600" cy="228600"/>
          </a:xfrm>
          <a:prstGeom prst="ellipse">
            <a:avLst/>
          </a:prstGeom>
          <a:solidFill>
            <a:srgbClr val="ECE5F8"/>
          </a:solidFill>
          <a:ln cap="flat" cmpd="sng" w="9525">
            <a:solidFill>
              <a:srgbClr val="6D6D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1919" lvl="0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p21"/>
          <p:cNvCxnSpPr/>
          <p:nvPr/>
        </p:nvCxnSpPr>
        <p:spPr>
          <a:xfrm rot="5400000">
            <a:off x="1714897" y="5676503"/>
            <a:ext cx="229394" cy="158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43" name="Google Shape;343;p21"/>
          <p:cNvSpPr/>
          <p:nvPr/>
        </p:nvSpPr>
        <p:spPr>
          <a:xfrm>
            <a:off x="5715000" y="2362200"/>
            <a:ext cx="1600200" cy="381000"/>
          </a:xfrm>
          <a:prstGeom prst="parallelogram">
            <a:avLst>
              <a:gd fmla="val 32792" name="adj"/>
            </a:avLst>
          </a:prstGeom>
          <a:solidFill>
            <a:srgbClr val="ECE5F8"/>
          </a:solidFill>
          <a:ln cap="flat" cmpd="sng" w="9525">
            <a:solidFill>
              <a:srgbClr val="6D6D6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1"/>
          <p:cNvSpPr txBox="1"/>
          <p:nvPr/>
        </p:nvSpPr>
        <p:spPr>
          <a:xfrm>
            <a:off x="6324600" y="2404646"/>
            <a:ext cx="33214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rPr lang="en-US" sz="1600">
                <a:solidFill>
                  <a:srgbClr val="0000F2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600">
              <a:solidFill>
                <a:srgbClr val="0000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1"/>
          <p:cNvSpPr/>
          <p:nvPr/>
        </p:nvSpPr>
        <p:spPr>
          <a:xfrm>
            <a:off x="5867400" y="2971800"/>
            <a:ext cx="1219200" cy="381000"/>
          </a:xfrm>
          <a:prstGeom prst="rect">
            <a:avLst/>
          </a:prstGeom>
          <a:solidFill>
            <a:srgbClr val="ECE5F8"/>
          </a:solidFill>
          <a:ln cap="flat" cmpd="sng" w="9525">
            <a:solidFill>
              <a:srgbClr val="6D6D6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1919" lvl="0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1"/>
          <p:cNvSpPr txBox="1"/>
          <p:nvPr/>
        </p:nvSpPr>
        <p:spPr>
          <a:xfrm>
            <a:off x="6172200" y="3014246"/>
            <a:ext cx="6703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rPr lang="en-US" sz="1600">
                <a:solidFill>
                  <a:srgbClr val="0000F2"/>
                </a:solidFill>
                <a:latin typeface="Arial"/>
                <a:ea typeface="Arial"/>
                <a:cs typeface="Arial"/>
                <a:sym typeface="Arial"/>
              </a:rPr>
              <a:t>S = 1</a:t>
            </a:r>
            <a:endParaRPr sz="1600">
              <a:solidFill>
                <a:srgbClr val="0000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1"/>
          <p:cNvSpPr/>
          <p:nvPr/>
        </p:nvSpPr>
        <p:spPr>
          <a:xfrm>
            <a:off x="5905734" y="3615154"/>
            <a:ext cx="1143000" cy="457200"/>
          </a:xfrm>
          <a:prstGeom prst="diamond">
            <a:avLst/>
          </a:prstGeom>
          <a:solidFill>
            <a:srgbClr val="ECE5F8"/>
          </a:solidFill>
          <a:ln cap="flat" cmpd="sng" w="9525">
            <a:solidFill>
              <a:srgbClr val="6D6D6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1919" lvl="0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1"/>
          <p:cNvSpPr txBox="1"/>
          <p:nvPr/>
        </p:nvSpPr>
        <p:spPr>
          <a:xfrm>
            <a:off x="6176403" y="3700046"/>
            <a:ext cx="6815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rPr lang="en-US" sz="1600">
                <a:solidFill>
                  <a:srgbClr val="0000F2"/>
                </a:solidFill>
                <a:latin typeface="Arial"/>
                <a:ea typeface="Arial"/>
                <a:cs typeface="Arial"/>
                <a:sym typeface="Arial"/>
              </a:rPr>
              <a:t>N &gt; 1</a:t>
            </a:r>
            <a:endParaRPr sz="1600">
              <a:solidFill>
                <a:srgbClr val="0000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9" name="Google Shape;349;p21"/>
          <p:cNvCxnSpPr/>
          <p:nvPr/>
        </p:nvCxnSpPr>
        <p:spPr>
          <a:xfrm rot="5400000">
            <a:off x="6363097" y="2857103"/>
            <a:ext cx="229394" cy="158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50" name="Google Shape;350;p21"/>
          <p:cNvCxnSpPr/>
          <p:nvPr/>
        </p:nvCxnSpPr>
        <p:spPr>
          <a:xfrm rot="5400000">
            <a:off x="6361906" y="3466306"/>
            <a:ext cx="228600" cy="158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51" name="Google Shape;351;p21"/>
          <p:cNvSpPr/>
          <p:nvPr/>
        </p:nvSpPr>
        <p:spPr>
          <a:xfrm>
            <a:off x="6324600" y="1828800"/>
            <a:ext cx="304800" cy="304800"/>
          </a:xfrm>
          <a:prstGeom prst="ellipse">
            <a:avLst/>
          </a:prstGeom>
          <a:solidFill>
            <a:srgbClr val="ECE5F8"/>
          </a:solidFill>
          <a:ln cap="flat" cmpd="sng" w="9525">
            <a:solidFill>
              <a:srgbClr val="6D6D6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1919" lvl="0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2" name="Google Shape;352;p21"/>
          <p:cNvCxnSpPr/>
          <p:nvPr/>
        </p:nvCxnSpPr>
        <p:spPr>
          <a:xfrm rot="5400000">
            <a:off x="6363097" y="2247503"/>
            <a:ext cx="229394" cy="158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53" name="Google Shape;353;p21"/>
          <p:cNvSpPr/>
          <p:nvPr/>
        </p:nvSpPr>
        <p:spPr>
          <a:xfrm>
            <a:off x="5867400" y="4267200"/>
            <a:ext cx="1219200" cy="381000"/>
          </a:xfrm>
          <a:prstGeom prst="rect">
            <a:avLst/>
          </a:prstGeom>
          <a:solidFill>
            <a:srgbClr val="ECE5F8"/>
          </a:solidFill>
          <a:ln cap="flat" cmpd="sng" w="9525">
            <a:solidFill>
              <a:srgbClr val="6D6D6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1919" lvl="0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1"/>
          <p:cNvSpPr txBox="1"/>
          <p:nvPr/>
        </p:nvSpPr>
        <p:spPr>
          <a:xfrm>
            <a:off x="5974539" y="4309646"/>
            <a:ext cx="103586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rPr lang="en-US" sz="1600">
                <a:solidFill>
                  <a:srgbClr val="0000F2"/>
                </a:solidFill>
                <a:latin typeface="Arial"/>
                <a:ea typeface="Arial"/>
                <a:cs typeface="Arial"/>
                <a:sym typeface="Arial"/>
              </a:rPr>
              <a:t>S = S * N</a:t>
            </a:r>
            <a:endParaRPr sz="1600">
              <a:solidFill>
                <a:srgbClr val="0000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5" name="Google Shape;355;p21"/>
          <p:cNvCxnSpPr/>
          <p:nvPr/>
        </p:nvCxnSpPr>
        <p:spPr>
          <a:xfrm rot="5400000">
            <a:off x="6363494" y="4152106"/>
            <a:ext cx="228600" cy="158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56" name="Google Shape;356;p21"/>
          <p:cNvSpPr/>
          <p:nvPr/>
        </p:nvSpPr>
        <p:spPr>
          <a:xfrm>
            <a:off x="5867400" y="4876800"/>
            <a:ext cx="1219200" cy="381000"/>
          </a:xfrm>
          <a:prstGeom prst="rect">
            <a:avLst/>
          </a:prstGeom>
          <a:solidFill>
            <a:srgbClr val="ECE5F8"/>
          </a:solidFill>
          <a:ln cap="flat" cmpd="sng" w="9525">
            <a:solidFill>
              <a:srgbClr val="6D6D6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1919" lvl="0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1"/>
          <p:cNvSpPr txBox="1"/>
          <p:nvPr/>
        </p:nvSpPr>
        <p:spPr>
          <a:xfrm>
            <a:off x="5974539" y="4919246"/>
            <a:ext cx="101341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rPr lang="en-US" sz="1600">
                <a:solidFill>
                  <a:srgbClr val="0000F2"/>
                </a:solidFill>
                <a:latin typeface="Arial"/>
                <a:ea typeface="Arial"/>
                <a:cs typeface="Arial"/>
                <a:sym typeface="Arial"/>
              </a:rPr>
              <a:t>N = N - 1</a:t>
            </a:r>
            <a:endParaRPr sz="1600">
              <a:solidFill>
                <a:srgbClr val="0000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8" name="Google Shape;358;p21"/>
          <p:cNvCxnSpPr/>
          <p:nvPr/>
        </p:nvCxnSpPr>
        <p:spPr>
          <a:xfrm rot="5400000">
            <a:off x="6363494" y="4761706"/>
            <a:ext cx="228600" cy="158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59" name="Google Shape;359;p21"/>
          <p:cNvCxnSpPr/>
          <p:nvPr/>
        </p:nvCxnSpPr>
        <p:spPr>
          <a:xfrm>
            <a:off x="7086600" y="3886200"/>
            <a:ext cx="381000" cy="158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0" name="Google Shape;360;p21"/>
          <p:cNvCxnSpPr/>
          <p:nvPr/>
        </p:nvCxnSpPr>
        <p:spPr>
          <a:xfrm>
            <a:off x="5562600" y="5029200"/>
            <a:ext cx="304800" cy="158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" name="Google Shape;361;p21"/>
          <p:cNvCxnSpPr/>
          <p:nvPr/>
        </p:nvCxnSpPr>
        <p:spPr>
          <a:xfrm flipH="1" rot="-5400000">
            <a:off x="4990703" y="4458096"/>
            <a:ext cx="1143795" cy="1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2" name="Google Shape;362;p21"/>
          <p:cNvCxnSpPr/>
          <p:nvPr/>
        </p:nvCxnSpPr>
        <p:spPr>
          <a:xfrm>
            <a:off x="5562600" y="3886200"/>
            <a:ext cx="381000" cy="158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63" name="Google Shape;363;p21"/>
          <p:cNvCxnSpPr/>
          <p:nvPr/>
        </p:nvCxnSpPr>
        <p:spPr>
          <a:xfrm rot="5400000">
            <a:off x="6705600" y="4648200"/>
            <a:ext cx="1524000" cy="158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4" name="Google Shape;364;p21"/>
          <p:cNvCxnSpPr/>
          <p:nvPr/>
        </p:nvCxnSpPr>
        <p:spPr>
          <a:xfrm>
            <a:off x="6477000" y="5410200"/>
            <a:ext cx="990600" cy="158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5" name="Google Shape;365;p21"/>
          <p:cNvCxnSpPr/>
          <p:nvPr/>
        </p:nvCxnSpPr>
        <p:spPr>
          <a:xfrm rot="5400000">
            <a:off x="6363097" y="5524103"/>
            <a:ext cx="229394" cy="158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66" name="Google Shape;366;p21"/>
          <p:cNvSpPr/>
          <p:nvPr/>
        </p:nvSpPr>
        <p:spPr>
          <a:xfrm>
            <a:off x="7696200" y="5638800"/>
            <a:ext cx="381000" cy="381000"/>
          </a:xfrm>
          <a:prstGeom prst="ellipse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1919" lvl="0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1"/>
          <p:cNvSpPr/>
          <p:nvPr/>
        </p:nvSpPr>
        <p:spPr>
          <a:xfrm>
            <a:off x="7772400" y="5715000"/>
            <a:ext cx="228600" cy="228600"/>
          </a:xfrm>
          <a:prstGeom prst="ellipse">
            <a:avLst/>
          </a:prstGeom>
          <a:solidFill>
            <a:srgbClr val="ECE5F8"/>
          </a:solidFill>
          <a:ln cap="flat" cmpd="sng" w="9525">
            <a:solidFill>
              <a:srgbClr val="6D6D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1919" lvl="0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8" name="Google Shape;368;p21"/>
          <p:cNvCxnSpPr/>
          <p:nvPr/>
        </p:nvCxnSpPr>
        <p:spPr>
          <a:xfrm>
            <a:off x="7162800" y="5867400"/>
            <a:ext cx="533400" cy="158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69" name="Google Shape;369;p21"/>
          <p:cNvSpPr txBox="1"/>
          <p:nvPr/>
        </p:nvSpPr>
        <p:spPr>
          <a:xfrm>
            <a:off x="2331881" y="3547646"/>
            <a:ext cx="53893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1"/>
          <p:cNvSpPr txBox="1"/>
          <p:nvPr/>
        </p:nvSpPr>
        <p:spPr>
          <a:xfrm>
            <a:off x="2331881" y="4309646"/>
            <a:ext cx="53893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1"/>
          <p:cNvSpPr txBox="1"/>
          <p:nvPr/>
        </p:nvSpPr>
        <p:spPr>
          <a:xfrm>
            <a:off x="6547670" y="3962400"/>
            <a:ext cx="53893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1"/>
          <p:cNvSpPr txBox="1"/>
          <p:nvPr/>
        </p:nvSpPr>
        <p:spPr>
          <a:xfrm>
            <a:off x="1219200" y="4004846"/>
            <a:ext cx="6174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1"/>
          <p:cNvSpPr txBox="1"/>
          <p:nvPr/>
        </p:nvSpPr>
        <p:spPr>
          <a:xfrm>
            <a:off x="1219200" y="4800600"/>
            <a:ext cx="6174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1"/>
          <p:cNvSpPr txBox="1"/>
          <p:nvPr/>
        </p:nvSpPr>
        <p:spPr>
          <a:xfrm>
            <a:off x="7010400" y="3581400"/>
            <a:ext cx="6174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1"/>
          <p:cNvSpPr/>
          <p:nvPr/>
        </p:nvSpPr>
        <p:spPr>
          <a:xfrm rot="10800000">
            <a:off x="1295400" y="5181600"/>
            <a:ext cx="1143000" cy="381000"/>
          </a:xfrm>
          <a:prstGeom prst="flowChartPunchedCard">
            <a:avLst/>
          </a:prstGeom>
          <a:solidFill>
            <a:srgbClr val="F2F2F2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1919" lvl="0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1"/>
          <p:cNvSpPr txBox="1"/>
          <p:nvPr/>
        </p:nvSpPr>
        <p:spPr>
          <a:xfrm>
            <a:off x="1524000" y="5224046"/>
            <a:ext cx="57259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rPr lang="en-US" sz="1600">
                <a:solidFill>
                  <a:srgbClr val="0000F2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sz="1600">
              <a:solidFill>
                <a:srgbClr val="0000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1"/>
          <p:cNvSpPr/>
          <p:nvPr/>
        </p:nvSpPr>
        <p:spPr>
          <a:xfrm rot="10800000">
            <a:off x="5867400" y="5638800"/>
            <a:ext cx="1295400" cy="381000"/>
          </a:xfrm>
          <a:prstGeom prst="flowChartPunchedCard">
            <a:avLst/>
          </a:prstGeom>
          <a:solidFill>
            <a:srgbClr val="F2F2F2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1919" lvl="0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1"/>
          <p:cNvSpPr txBox="1"/>
          <p:nvPr/>
        </p:nvSpPr>
        <p:spPr>
          <a:xfrm>
            <a:off x="6324600" y="5681246"/>
            <a:ext cx="32092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rPr lang="en-US" sz="1600">
                <a:solidFill>
                  <a:srgbClr val="0000F2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sz="1600">
              <a:solidFill>
                <a:srgbClr val="0000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2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Computer algorithm</a:t>
            </a:r>
            <a:endParaRPr/>
          </a:p>
        </p:txBody>
      </p:sp>
      <p:sp>
        <p:nvSpPr>
          <p:cNvPr id="384" name="Google Shape;384;p22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Algorithm efficiency: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Complexity: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Algorithm performance varies with different inputs.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Big-O notation: O(), growth rate.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Time complexity: input ~ instructions.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Space complexity: input ~ memory.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Classes of complexity:</a:t>
            </a:r>
            <a:endParaRPr/>
          </a:p>
          <a:p>
            <a:pPr indent="-228600" lvl="3" marL="1600200" rtl="0" algn="l">
              <a:spcBef>
                <a:spcPts val="320"/>
              </a:spcBef>
              <a:spcAft>
                <a:spcPts val="0"/>
              </a:spcAft>
              <a:buSzPts val="1120"/>
              <a:buChar char="●"/>
            </a:pPr>
            <a:r>
              <a:rPr lang="en-US"/>
              <a:t>Constant: O(1).</a:t>
            </a:r>
            <a:endParaRPr/>
          </a:p>
          <a:p>
            <a:pPr indent="-228600" lvl="3" marL="1600200" rtl="0" algn="l">
              <a:spcBef>
                <a:spcPts val="320"/>
              </a:spcBef>
              <a:spcAft>
                <a:spcPts val="0"/>
              </a:spcAft>
              <a:buSzPts val="1120"/>
              <a:buChar char="●"/>
            </a:pPr>
            <a:r>
              <a:rPr lang="en-US"/>
              <a:t>Logarithmic: O(log(n)).</a:t>
            </a:r>
            <a:endParaRPr/>
          </a:p>
          <a:p>
            <a:pPr indent="-228600" lvl="3" marL="1600200" rtl="0" algn="l">
              <a:spcBef>
                <a:spcPts val="320"/>
              </a:spcBef>
              <a:spcAft>
                <a:spcPts val="0"/>
              </a:spcAft>
              <a:buSzPts val="1120"/>
              <a:buChar char="●"/>
            </a:pPr>
            <a:r>
              <a:rPr lang="en-US"/>
              <a:t>Linear: O(n).</a:t>
            </a:r>
            <a:endParaRPr/>
          </a:p>
          <a:p>
            <a:pPr indent="-228600" lvl="3" marL="1600200" rtl="0" algn="l">
              <a:spcBef>
                <a:spcPts val="320"/>
              </a:spcBef>
              <a:spcAft>
                <a:spcPts val="0"/>
              </a:spcAft>
              <a:buSzPts val="1120"/>
              <a:buChar char="●"/>
            </a:pPr>
            <a:r>
              <a:rPr lang="en-US"/>
              <a:t>Polynomial: O(n^2), O(n^3), …</a:t>
            </a:r>
            <a:endParaRPr/>
          </a:p>
          <a:p>
            <a:pPr indent="-228600" lvl="3" marL="1600200" rtl="0" algn="l">
              <a:spcBef>
                <a:spcPts val="320"/>
              </a:spcBef>
              <a:spcAft>
                <a:spcPts val="0"/>
              </a:spcAft>
              <a:buSzPts val="1120"/>
              <a:buChar char="●"/>
            </a:pPr>
            <a:r>
              <a:rPr lang="en-US"/>
              <a:t>Exponential: O(2^n).</a:t>
            </a:r>
            <a:endParaRPr/>
          </a:p>
          <a:p>
            <a:pPr indent="-228600" lvl="3" marL="1600200" rtl="0" algn="l">
              <a:spcBef>
                <a:spcPts val="320"/>
              </a:spcBef>
              <a:spcAft>
                <a:spcPts val="0"/>
              </a:spcAft>
              <a:buSzPts val="1120"/>
              <a:buChar char="●"/>
            </a:pPr>
            <a:r>
              <a:rPr lang="en-US"/>
              <a:t>Factorial: O(n!).</a:t>
            </a:r>
            <a:endParaRPr/>
          </a:p>
        </p:txBody>
      </p:sp>
      <p:sp>
        <p:nvSpPr>
          <p:cNvPr id="385" name="Google Shape;385;p22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6" name="Google Shape;386;p22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  <p:pic>
        <p:nvPicPr>
          <p:cNvPr id="387" name="Google Shape;38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1741" y="3505200"/>
            <a:ext cx="2903658" cy="28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3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Computer algorithm</a:t>
            </a:r>
            <a:endParaRPr/>
          </a:p>
        </p:txBody>
      </p:sp>
      <p:sp>
        <p:nvSpPr>
          <p:cNvPr id="393" name="Google Shape;393;p23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Algorithm efficiency: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Popular algorithm complexities:</a:t>
            </a:r>
            <a:endParaRPr/>
          </a:p>
          <a:p>
            <a:pPr indent="-179069" lvl="1" marL="9144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  <a:p>
            <a:pPr indent="-179069" lvl="1" marL="9144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  <a:p>
            <a:pPr indent="-179069" lvl="1" marL="9144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  <a:p>
            <a:pPr indent="-179069" lvl="1" marL="9144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  <a:p>
            <a:pPr indent="-179069" lvl="1" marL="9144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Simplicity: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Easier to understand and implement.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Reduce cost in debugging and maintenance.</a:t>
            </a:r>
            <a:endParaRPr/>
          </a:p>
        </p:txBody>
      </p:sp>
      <p:sp>
        <p:nvSpPr>
          <p:cNvPr id="394" name="Google Shape;394;p23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5" name="Google Shape;395;p23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  <p:graphicFrame>
        <p:nvGraphicFramePr>
          <p:cNvPr id="396" name="Google Shape;396;p23"/>
          <p:cNvGraphicFramePr/>
          <p:nvPr/>
        </p:nvGraphicFramePr>
        <p:xfrm>
          <a:off x="761999" y="22250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{063B5111-6C2D-42A1-8BCE-3C7C404C4FE3}</a:tableStyleId>
              </a:tblPr>
              <a:tblGrid>
                <a:gridCol w="2643675"/>
                <a:gridCol w="2518250"/>
                <a:gridCol w="2458075"/>
              </a:tblGrid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Algorithm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Complexity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Form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Finding max </a:t>
                      </a:r>
                      <a:r>
                        <a:rPr lang="en-US" sz="1600"/>
                        <a:t>(3 numbers)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O( 1 )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/>
                        <a:t>Constant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Binary Search(N elements)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O( log(n) 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Logarithmic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Factorial N!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O(n)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Linear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Sorting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(N elements)</a:t>
                      </a:r>
                      <a:endParaRPr sz="16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Bubblesort: O( n</a:t>
                      </a:r>
                      <a:r>
                        <a:rPr baseline="30000" lang="en-US" sz="1600"/>
                        <a:t>2 </a:t>
                      </a:r>
                      <a:r>
                        <a:rPr lang="en-US" sz="1600"/>
                        <a:t>)</a:t>
                      </a:r>
                      <a:endParaRPr baseline="30000" sz="16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Quicksort: O( n*log(n) 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Polynomial</a:t>
                      </a:r>
                      <a:endParaRPr sz="1600"/>
                    </a:p>
                  </a:txBody>
                  <a:tcPr marT="45725" marB="45725" marR="91450" marL="91450" anchor="ctr"/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Traveling Salesman</a:t>
                      </a:r>
                      <a:endParaRPr sz="16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(N city)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O (K</a:t>
                      </a:r>
                      <a:r>
                        <a:rPr baseline="30000" lang="en-US" sz="1600"/>
                        <a:t>n </a:t>
                      </a:r>
                      <a:r>
                        <a:rPr lang="en-US" sz="1600"/>
                        <a:t>)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O( n! 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Exponential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Factorial</a:t>
                      </a:r>
                      <a:endParaRPr sz="16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4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402" name="Google Shape;402;p24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Computer programming: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Write instructions for computer to solve problem.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Programming cycle: edit, compile, run, debug.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Programming language: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Intermediate language to communicate with computer.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Low-level vs high-level.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Trends: scripting languages, AI prompts.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Programming environment: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Platform of tools supporting programming tasks.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Editor, compiler, terminal, debugger.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IDE: Integrated Development Environment.</a:t>
            </a:r>
            <a:endParaRPr/>
          </a:p>
        </p:txBody>
      </p:sp>
      <p:sp>
        <p:nvSpPr>
          <p:cNvPr id="403" name="Google Shape;403;p24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4" name="Google Shape;404;p24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5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410" name="Google Shape;410;p25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Computer algorithm: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Finite steps to solve a problem on Turing machine.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Turing machine: abstract machine and instructions.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Basic instructions: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Input, output.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Arithmetic operations, comparisons.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Condition, loop.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Representations: pseudo-code, flowchart.</a:t>
            </a:r>
            <a:endParaRPr/>
          </a:p>
          <a:p>
            <a:pPr indent="-285750" lvl="1" marL="914400" rtl="0" algn="l">
              <a:spcBef>
                <a:spcPts val="480"/>
              </a:spcBef>
              <a:spcAft>
                <a:spcPts val="0"/>
              </a:spcAft>
              <a:buSzPts val="1680"/>
              <a:buChar char="○"/>
            </a:pPr>
            <a:r>
              <a:rPr lang="en-US"/>
              <a:t>Efficiency: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Complexity: Big-O notation, growth rate.</a:t>
            </a:r>
            <a:endParaRPr/>
          </a:p>
          <a:p>
            <a:pPr indent="-228600" lvl="2" marL="13716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Simplicity: easy to understand or implement.</a:t>
            </a:r>
            <a:endParaRPr/>
          </a:p>
        </p:txBody>
      </p:sp>
      <p:sp>
        <p:nvSpPr>
          <p:cNvPr id="411" name="Google Shape;411;p25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2" name="Google Shape;412;p25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6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418" name="Google Shape;418;p26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Practice 1.1: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Write algorithm to compute person age as follow: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Input person birth-year.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Compute and output person age.</a:t>
            </a:r>
            <a:endParaRPr/>
          </a:p>
          <a:p>
            <a:pPr indent="0" lvl="1" marL="36576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9" name="Google Shape;419;p26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0" name="Google Shape;420;p26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7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426" name="Google Shape;426;p27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Practice 1.2: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Write algorithm to compute lucky number of a car as follow: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Input car registration number (a 5-digit number).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Compute and output the lucky number.</a:t>
            </a:r>
            <a:endParaRPr/>
          </a:p>
          <a:p>
            <a:pPr indent="0" lvl="1" marL="36576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7" name="Google Shape;427;p27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8" name="Google Shape;428;p27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8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434" name="Google Shape;434;p28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Practice 1.3: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Write algorithm to simulate a calculator as follow: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Input two integers.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Input an operation (+, -, *, /).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Perform the operation on two integers and output result.</a:t>
            </a:r>
            <a:endParaRPr/>
          </a:p>
          <a:p>
            <a:pPr indent="0" lvl="1" marL="36576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5" name="Google Shape;435;p28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6" name="Google Shape;436;p28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9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443" name="Google Shape;443;p29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Practice 1.4: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Write algorithm to rank a student as follow: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Input literature, math, physics points.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Calculate student GPA.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Rank student based on GPA: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	+ Excellent: GPA &gt;= 8.5.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	+ Good: GPA &gt;= 7.0.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	+ Fair: GPA &gt;= 5.0.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	+ Failed: GPA &lt; 5.0.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Output GPA and rank.</a:t>
            </a:r>
            <a:endParaRPr sz="2000"/>
          </a:p>
        </p:txBody>
      </p:sp>
      <p:sp>
        <p:nvSpPr>
          <p:cNvPr id="444" name="Google Shape;444;p29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5" name="Google Shape;445;p29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0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452" name="Google Shape;452;p30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Practice 1.5: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Write algorithm to count number of days in a month as follow: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Input a month and a year.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Count number of days in that month and output result.</a:t>
            </a:r>
            <a:endParaRPr/>
          </a:p>
        </p:txBody>
      </p:sp>
      <p:sp>
        <p:nvSpPr>
          <p:cNvPr id="453" name="Google Shape;453;p30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4" name="Google Shape;454;p30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1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461" name="Google Shape;461;p31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Practice 1.6: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Write algorithm to compute exponentiation of an integer as follow: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Input x and n.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Compute x</a:t>
            </a:r>
            <a:r>
              <a:rPr baseline="30000" lang="en-US" sz="2000"/>
              <a:t>n</a:t>
            </a:r>
            <a:r>
              <a:rPr lang="en-US" sz="2000"/>
              <a:t> and output result.</a:t>
            </a:r>
            <a:endParaRPr/>
          </a:p>
        </p:txBody>
      </p:sp>
      <p:sp>
        <p:nvSpPr>
          <p:cNvPr id="462" name="Google Shape;462;p31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3" name="Google Shape;463;p31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2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470" name="Google Shape;470;p32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Practice 1.7: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Write algorithm to do the following: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Input 2 integers x, n (n &gt; 0).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Calculate and output S = x + x</a:t>
            </a:r>
            <a:r>
              <a:rPr baseline="30000" lang="en-US" sz="2000"/>
              <a:t>2</a:t>
            </a:r>
            <a:r>
              <a:rPr lang="en-US" sz="2000"/>
              <a:t> + … + x</a:t>
            </a:r>
            <a:r>
              <a:rPr baseline="30000" lang="en-US" sz="2000"/>
              <a:t>n</a:t>
            </a:r>
            <a:r>
              <a:rPr lang="en-US" sz="2000"/>
              <a:t>.</a:t>
            </a:r>
            <a:endParaRPr/>
          </a:p>
        </p:txBody>
      </p:sp>
      <p:sp>
        <p:nvSpPr>
          <p:cNvPr id="471" name="Google Shape;471;p32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2" name="Google Shape;472;p32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3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478" name="Google Shape;478;p33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Practice 1.8:</a:t>
            </a:r>
            <a:endParaRPr/>
          </a:p>
          <a:p>
            <a:pPr indent="0" lvl="1" marL="36576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/>
              <a:t>Set up a C/C++ programming environment on your computer.</a:t>
            </a:r>
            <a:endParaRPr/>
          </a:p>
          <a:p>
            <a:pPr indent="0" lvl="1" marL="36576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9" name="Google Shape;479;p33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0" name="Google Shape;480;p33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4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486" name="Google Shape;486;p34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Practice 1.9: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Edit, compile and run the following C/C++ program.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What does the program ask for?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What does the program print to screen?</a:t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#include &lt;stdio.h&gt;</a:t>
            </a:r>
            <a:br>
              <a:rPr lang="en-US" sz="1800"/>
            </a:br>
            <a:br>
              <a:rPr lang="en-US" sz="1800"/>
            </a:br>
            <a:r>
              <a:rPr lang="en-US" sz="1800"/>
              <a:t>int main()</a:t>
            </a:r>
            <a:br>
              <a:rPr lang="en-US" sz="1800"/>
            </a:br>
            <a:r>
              <a:rPr lang="en-US" sz="1800"/>
              <a:t>{</a:t>
            </a:r>
            <a:br>
              <a:rPr lang="en-US" sz="1800"/>
            </a:br>
            <a:r>
              <a:rPr lang="en-US" sz="1800"/>
              <a:t>	int   a, b, c, max;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	printf(“Enter 3 integers = “);</a:t>
            </a:r>
            <a:br>
              <a:rPr lang="en-US" sz="1800"/>
            </a:br>
            <a:r>
              <a:rPr lang="en-US" sz="1800"/>
              <a:t>	scanf(“%d %d %d”, &amp;a, &amp;b, &amp;c);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	max = a;</a:t>
            </a:r>
            <a:br>
              <a:rPr lang="en-US" sz="1800"/>
            </a:br>
            <a:r>
              <a:rPr lang="en-US" sz="1800"/>
              <a:t>	if (b &gt; max) max = b;</a:t>
            </a:r>
            <a:br>
              <a:rPr lang="en-US" sz="1800"/>
            </a:br>
            <a:r>
              <a:rPr lang="en-US" sz="1800"/>
              <a:t>	if (c &gt; max) max = c;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	printf(“max = %d”, max);</a:t>
            </a:r>
            <a:br>
              <a:rPr lang="en-US" sz="1800"/>
            </a:br>
            <a:r>
              <a:rPr lang="en-US" sz="1800"/>
              <a:t>}</a:t>
            </a:r>
            <a:endParaRPr sz="2000"/>
          </a:p>
        </p:txBody>
      </p:sp>
      <p:sp>
        <p:nvSpPr>
          <p:cNvPr id="487" name="Google Shape;487;p34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8" name="Google Shape;488;p34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5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494" name="Google Shape;494;p35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●"/>
            </a:pPr>
            <a:r>
              <a:rPr lang="en-US"/>
              <a:t>Practice 1.10: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Edit, compile, run and debug the following C/C++ program.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a) What does the program ask for and print to screen?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b) When enter n = 10, list the values of s when n = 3.</a:t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#include &lt;stdio.h&gt;</a:t>
            </a:r>
            <a:br>
              <a:rPr lang="en-US" sz="1800"/>
            </a:br>
            <a:br>
              <a:rPr lang="en-US" sz="1800"/>
            </a:br>
            <a:r>
              <a:rPr lang="en-US" sz="1800"/>
              <a:t>int main()</a:t>
            </a:r>
            <a:br>
              <a:rPr lang="en-US" sz="1800"/>
            </a:br>
            <a:r>
              <a:rPr lang="en-US" sz="1800"/>
              <a:t>{</a:t>
            </a:r>
            <a:br>
              <a:rPr lang="en-US" sz="1800"/>
            </a:br>
            <a:r>
              <a:rPr lang="en-US" sz="1800"/>
              <a:t>	int	  n;</a:t>
            </a:r>
            <a:br>
              <a:rPr lang="en-US" sz="1800"/>
            </a:br>
            <a:r>
              <a:rPr lang="en-US" sz="1800"/>
              <a:t>	long long  s;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	printf(“Enter an integer = “);</a:t>
            </a:r>
            <a:br>
              <a:rPr lang="en-US" sz="1800"/>
            </a:br>
            <a:r>
              <a:rPr lang="en-US" sz="1800"/>
              <a:t>	scanf(“%d”, &amp;n);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	for (s = 1; n &gt; 0; n--)</a:t>
            </a:r>
            <a:br>
              <a:rPr lang="en-US" sz="1800"/>
            </a:br>
            <a:r>
              <a:rPr lang="en-US" sz="1800"/>
              <a:t>	     s = s * n;</a:t>
            </a:r>
            <a:br>
              <a:rPr lang="en-US" sz="1800"/>
            </a:br>
            <a:r>
              <a:rPr lang="en-US" sz="1800"/>
              <a:t>	printf(“Factorial = %lld “, s);</a:t>
            </a:r>
            <a:br>
              <a:rPr lang="en-US" sz="1800"/>
            </a:br>
            <a:r>
              <a:rPr lang="en-US" sz="1800"/>
              <a:t>}</a:t>
            </a:r>
            <a:endParaRPr/>
          </a:p>
          <a:p>
            <a:pPr indent="0" lvl="1" marL="36576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5" name="Google Shape;495;p35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6" name="Google Shape;496;p35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Fundamentals of Programming - Nguyễn Minh Huy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2005-11-21T10:16:26Z</dcterms:created>
  <dc:creator>Nguyen Minh Huy</dc:creator>
</cp:coreProperties>
</file>