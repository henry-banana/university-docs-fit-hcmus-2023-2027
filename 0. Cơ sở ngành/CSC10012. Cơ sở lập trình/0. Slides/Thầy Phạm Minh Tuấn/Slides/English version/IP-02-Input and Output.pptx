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6858000" cx="9144000"/>
  <p:notesSz cx="6858000" cy="9144000"/>
  <p:embeddedFontLst>
    <p:embeddedFont>
      <p:font typeface="Economica"/>
      <p:regular r:id="rId42"/>
      <p:bold r:id="rId43"/>
      <p:italic r:id="rId44"/>
      <p:boldItalic r:id="rId45"/>
    </p:embeddedFont>
    <p:embeddedFont>
      <p:font typeface="Open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50" roundtripDataSignature="AMtx7mgWNggPdHeiGu4BGsTGbjuLG5Oz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77D932-ACE4-4834-8C48-04B20BC9DB5E}">
  <a:tblStyle styleId="{6677D932-ACE4-4834-8C48-04B20BC9DB5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FF6"/>
          </a:solidFill>
        </a:fill>
      </a:tcStyle>
    </a:wholeTbl>
    <a:band1H>
      <a:tcTxStyle/>
      <a:tcStyle>
        <a:fill>
          <a:solidFill>
            <a:srgbClr val="CADDEC"/>
          </a:solidFill>
        </a:fill>
      </a:tcStyle>
    </a:band1H>
    <a:band2H>
      <a:tcTxStyle/>
    </a:band2H>
    <a:band1V>
      <a:tcTxStyle/>
      <a:tcStyle>
        <a:fill>
          <a:solidFill>
            <a:srgbClr val="CADDEC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Economica-regular.fntdata"/><Relationship Id="rId41" Type="http://schemas.openxmlformats.org/officeDocument/2006/relationships/slide" Target="slides/slide35.xml"/><Relationship Id="rId44" Type="http://schemas.openxmlformats.org/officeDocument/2006/relationships/font" Target="fonts/Economica-italic.fntdata"/><Relationship Id="rId43" Type="http://schemas.openxmlformats.org/officeDocument/2006/relationships/font" Target="fonts/Economica-bold.fntdata"/><Relationship Id="rId46" Type="http://schemas.openxmlformats.org/officeDocument/2006/relationships/font" Target="fonts/OpenSans-regular.fntdata"/><Relationship Id="rId45" Type="http://schemas.openxmlformats.org/officeDocument/2006/relationships/font" Target="fonts/Economic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OpenSans-italic.fntdata"/><Relationship Id="rId47" Type="http://schemas.openxmlformats.org/officeDocument/2006/relationships/font" Target="fonts/OpenSans-bold.fntdata"/><Relationship Id="rId49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97" name="Google Shape;39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06" name="Google Shape;40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15" name="Google Shape;41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24" name="Google Shape;42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50" name="Google Shape;45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f84742acbd_0_4"/>
          <p:cNvSpPr/>
          <p:nvPr/>
        </p:nvSpPr>
        <p:spPr>
          <a:xfrm>
            <a:off x="2744013" y="1008933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" name="Google Shape;15;g2f84742acbd_0_4"/>
          <p:cNvSpPr/>
          <p:nvPr/>
        </p:nvSpPr>
        <p:spPr>
          <a:xfrm rot="10800000">
            <a:off x="5318350" y="43556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" name="Google Shape;16;g2f84742acbd_0_4"/>
          <p:cNvSpPr txBox="1"/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7" name="Google Shape;17;g2f84742acbd_0_4"/>
          <p:cNvSpPr txBox="1"/>
          <p:nvPr>
            <p:ph idx="1" type="subTitle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8" name="Google Shape;18;g2f84742acbd_0_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2f84742acbd_0_10"/>
          <p:cNvSpPr/>
          <p:nvPr/>
        </p:nvSpPr>
        <p:spPr>
          <a:xfrm flipH="1">
            <a:off x="7595938" y="613633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1" name="Google Shape;21;g2f84742acbd_0_10"/>
          <p:cNvSpPr/>
          <p:nvPr/>
        </p:nvSpPr>
        <p:spPr>
          <a:xfrm flipH="1" rot="10800000">
            <a:off x="466425" y="47444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2" name="Google Shape;22;g2f84742acbd_0_10"/>
          <p:cNvSpPr txBox="1"/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g2f84742acbd_0_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f84742acbd_0_15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g2f84742acbd_0_15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g2f84742acbd_0_15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g2f84742acbd_0_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2f84742acbd_0_20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1" name="Google Shape;31;g2f84742acbd_0_20"/>
          <p:cNvSpPr txBox="1"/>
          <p:nvPr>
            <p:ph idx="1" type="body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g2f84742acbd_0_20"/>
          <p:cNvSpPr txBox="1"/>
          <p:nvPr>
            <p:ph idx="2" type="body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g2f84742acbd_0_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f84742acbd_0_25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6" name="Google Shape;36;g2f84742acbd_0_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f84742acbd_0_28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" name="Google Shape;39;g2f84742acbd_0_28"/>
          <p:cNvSpPr txBox="1"/>
          <p:nvPr>
            <p:ph idx="1" type="body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g2f84742acbd_0_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f84742acbd_0_32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g2f84742acbd_0_32"/>
          <p:cNvSpPr txBox="1"/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g2f84742acbd_0_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f84742acbd_0_36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g2f84742acbd_0_36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g2f84742acbd_0_36"/>
          <p:cNvSpPr txBox="1"/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9" name="Google Shape;49;g2f84742acbd_0_36"/>
          <p:cNvSpPr txBox="1"/>
          <p:nvPr>
            <p:ph idx="1" type="subTitle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0" name="Google Shape;50;g2f84742acbd_0_36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g2f84742acbd_0_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f84742acbd_0_43"/>
          <p:cNvSpPr txBox="1"/>
          <p:nvPr>
            <p:ph idx="1" type="body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4" name="Google Shape;54;g2f84742acbd_0_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f84742acbd_0_46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2f84742acbd_0_46"/>
          <p:cNvSpPr txBox="1"/>
          <p:nvPr>
            <p:ph hasCustomPrompt="1" type="title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g2f84742acbd_0_46"/>
          <p:cNvSpPr txBox="1"/>
          <p:nvPr>
            <p:ph idx="1" type="body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g2f84742acbd_0_4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84742acbd_0_5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g2f84742acbd_0_53"/>
          <p:cNvGrpSpPr/>
          <p:nvPr/>
        </p:nvGrpSpPr>
        <p:grpSpPr>
          <a:xfrm>
            <a:off x="0" y="0"/>
            <a:ext cx="9136063" cy="6850063"/>
            <a:chOff x="0" y="0"/>
            <a:chExt cx="5755" cy="4315"/>
          </a:xfrm>
        </p:grpSpPr>
        <p:grpSp>
          <p:nvGrpSpPr>
            <p:cNvPr id="64" name="Google Shape;64;g2f84742acbd_0_53"/>
            <p:cNvGrpSpPr/>
            <p:nvPr/>
          </p:nvGrpSpPr>
          <p:grpSpPr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65" name="Google Shape;65;g2f84742acbd_0_53"/>
              <p:cNvSpPr/>
              <p:nvPr/>
            </p:nvSpPr>
            <p:spPr>
              <a:xfrm>
                <a:off x="1728" y="2644"/>
                <a:ext cx="2882" cy="1671"/>
              </a:xfrm>
              <a:custGeom>
                <a:rect b="b" l="l" r="r" t="t"/>
                <a:pathLst>
                  <a:path extrusionOk="0" h="1671" w="2882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g2f84742acbd_0_53"/>
              <p:cNvSpPr/>
              <p:nvPr/>
            </p:nvSpPr>
            <p:spPr>
              <a:xfrm>
                <a:off x="4170" y="2671"/>
                <a:ext cx="1259" cy="811"/>
              </a:xfrm>
              <a:custGeom>
                <a:rect b="b" l="l" r="r" t="t"/>
                <a:pathLst>
                  <a:path extrusionOk="0" h="811" w="1259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g2f84742acbd_0_53"/>
              <p:cNvSpPr/>
              <p:nvPr/>
            </p:nvSpPr>
            <p:spPr>
              <a:xfrm>
                <a:off x="2900" y="3346"/>
                <a:ext cx="2849" cy="969"/>
              </a:xfrm>
              <a:custGeom>
                <a:rect b="b" l="l" r="r" t="t"/>
                <a:pathLst>
                  <a:path extrusionOk="0" h="969" w="284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>
                <a:gsLst>
                  <a:gs pos="0">
                    <a:srgbClr val="002E8B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g2f84742acbd_0_53"/>
              <p:cNvSpPr/>
              <p:nvPr/>
            </p:nvSpPr>
            <p:spPr>
              <a:xfrm>
                <a:off x="2748" y="2230"/>
                <a:ext cx="3007" cy="2085"/>
              </a:xfrm>
              <a:custGeom>
                <a:rect b="b" l="l" r="r" t="t"/>
                <a:pathLst>
                  <a:path extrusionOk="0" h="2085" w="3007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g2f84742acbd_0_53"/>
              <p:cNvSpPr/>
              <p:nvPr/>
            </p:nvSpPr>
            <p:spPr>
              <a:xfrm>
                <a:off x="4501" y="2317"/>
                <a:ext cx="1248" cy="539"/>
              </a:xfrm>
              <a:custGeom>
                <a:rect b="b" l="l" r="r" t="t"/>
                <a:pathLst>
                  <a:path extrusionOk="0" h="539" w="1248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>
                <a:gsLst>
                  <a:gs pos="0">
                    <a:srgbClr val="003090"/>
                  </a:gs>
                  <a:gs pos="100000">
                    <a:schemeClr val="dk2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0" name="Google Shape;70;g2f84742acbd_0_53"/>
            <p:cNvSpPr/>
            <p:nvPr/>
          </p:nvSpPr>
          <p:spPr>
            <a:xfrm>
              <a:off x="3322" y="1341"/>
              <a:ext cx="1825" cy="1539"/>
            </a:xfrm>
            <a:custGeom>
              <a:rect b="b" l="l" r="r" t="t"/>
              <a:pathLst>
                <a:path extrusionOk="0" h="1469" w="2296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>
              <a:gsLst>
                <a:gs pos="0">
                  <a:srgbClr val="002F8D"/>
                </a:gs>
                <a:gs pos="100000">
                  <a:schemeClr val="dk2"/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g2f84742acbd_0_53"/>
            <p:cNvSpPr/>
            <p:nvPr/>
          </p:nvSpPr>
          <p:spPr>
            <a:xfrm>
              <a:off x="0" y="0"/>
              <a:ext cx="5754" cy="1777"/>
            </a:xfrm>
            <a:custGeom>
              <a:rect b="b" l="l" r="r" t="t"/>
              <a:pathLst>
                <a:path extrusionOk="0" h="1906" w="5740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2" name="Google Shape;72;g2f84742acbd_0_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4267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g2f84742acbd_0_53"/>
          <p:cNvCxnSpPr/>
          <p:nvPr/>
        </p:nvCxnSpPr>
        <p:spPr>
          <a:xfrm>
            <a:off x="0" y="6477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g2f84742acbd_0_53"/>
          <p:cNvSpPr/>
          <p:nvPr/>
        </p:nvSpPr>
        <p:spPr>
          <a:xfrm>
            <a:off x="76200" y="6553200"/>
            <a:ext cx="228600" cy="228600"/>
          </a:xfrm>
          <a:prstGeom prst="star16">
            <a:avLst>
              <a:gd fmla="val 37500" name="adj"/>
            </a:avLst>
          </a:prstGeom>
          <a:gradFill>
            <a:gsLst>
              <a:gs pos="0">
                <a:srgbClr val="8F6BB3"/>
              </a:gs>
              <a:gs pos="50000">
                <a:srgbClr val="CC99FF"/>
              </a:gs>
              <a:gs pos="100000">
                <a:srgbClr val="8F6BB3"/>
              </a:gs>
            </a:gsLst>
            <a:lin ang="2700006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2f84742acbd_0_53"/>
          <p:cNvSpPr/>
          <p:nvPr/>
        </p:nvSpPr>
        <p:spPr>
          <a:xfrm>
            <a:off x="6096000" y="3733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Inst. Nguyễn Minh Huy</a:t>
            </a:r>
            <a:endParaRPr b="0" i="0" sz="20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2f84742acbd_0_53"/>
          <p:cNvSpPr txBox="1"/>
          <p:nvPr>
            <p:ph type="ctrTitle"/>
          </p:nvPr>
        </p:nvSpPr>
        <p:spPr>
          <a:xfrm>
            <a:off x="304800" y="1828800"/>
            <a:ext cx="8534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 b="1" sz="5000">
                <a:solidFill>
                  <a:srgbClr val="FF66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g2f84742acbd_0_5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g2f84742acbd_0_5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f84742acbd_0_70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1" name="Google Shape;81;g2f84742acbd_0_70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35280" lvl="1" marL="914400" algn="l">
              <a:spcBef>
                <a:spcPts val="480"/>
              </a:spcBef>
              <a:spcAft>
                <a:spcPts val="0"/>
              </a:spcAft>
              <a:buSzPts val="1680"/>
              <a:buChar char="○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Font typeface="Noto Sans Symbols"/>
              <a:buChar char="⮚"/>
              <a:defRPr sz="20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●"/>
              <a:defRPr sz="1600"/>
            </a:lvl4pPr>
            <a:lvl5pPr indent="-290829" lvl="4" marL="2286000" algn="l">
              <a:spcBef>
                <a:spcPts val="280"/>
              </a:spcBef>
              <a:spcAft>
                <a:spcPts val="0"/>
              </a:spcAft>
              <a:buSzPts val="980"/>
              <a:buFont typeface="Noto Sans Symbols"/>
              <a:buChar char="❖"/>
              <a:defRPr sz="1400"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82" name="Google Shape;82;g2f84742acbd_0_70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g2f84742acbd_0_70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f84742acbd_0_7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6" name="Google Shape;86;g2f84742acbd_0_7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35280" lvl="1" marL="914400" algn="l">
              <a:spcBef>
                <a:spcPts val="480"/>
              </a:spcBef>
              <a:spcAft>
                <a:spcPts val="0"/>
              </a:spcAft>
              <a:buSzPts val="1680"/>
              <a:buChar char="○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Font typeface="Noto Sans Symbols"/>
              <a:buChar char="⮚"/>
              <a:defRPr sz="20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●"/>
              <a:defRPr sz="1600"/>
            </a:lvl4pPr>
            <a:lvl5pPr indent="-290829" lvl="4" marL="2286000" algn="l">
              <a:spcBef>
                <a:spcPts val="280"/>
              </a:spcBef>
              <a:spcAft>
                <a:spcPts val="0"/>
              </a:spcAft>
              <a:buSzPts val="980"/>
              <a:buFont typeface="Noto Sans Symbols"/>
              <a:buChar char="❖"/>
              <a:defRPr sz="1400"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87" name="Google Shape;87;g2f84742acbd_0_7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g2f84742acbd_0_7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clipboard2" id="89" name="Google Shape;89;g2f84742acbd_0_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89788" y="4419600"/>
            <a:ext cx="1725612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2f84742acbd_0_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54813" y="4176713"/>
            <a:ext cx="2160588" cy="21478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2f84742acbd_0_81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93" name="Google Shape;93;g2f84742acbd_0_81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spcBef>
                <a:spcPts val="640"/>
              </a:spcBef>
              <a:spcAft>
                <a:spcPts val="0"/>
              </a:spcAft>
              <a:buSzPts val="2240"/>
              <a:buChar char="●"/>
              <a:defRPr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●"/>
              <a:defRPr sz="1600"/>
            </a:lvl4pPr>
            <a:lvl5pPr indent="-290829" lvl="4" marL="2286000" algn="l">
              <a:spcBef>
                <a:spcPts val="280"/>
              </a:spcBef>
              <a:spcAft>
                <a:spcPts val="0"/>
              </a:spcAft>
              <a:buSzPts val="980"/>
              <a:buChar char="○"/>
              <a:defRPr sz="1400"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94" name="Google Shape;94;g2f84742acbd_0_8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g2f84742acbd_0_8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f84742acbd_0_0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1" name="Google Shape;11;g2f84742acbd_0_0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" name="Google Shape;12;g2f84742acbd_0_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ctrTitle"/>
          </p:nvPr>
        </p:nvSpPr>
        <p:spPr>
          <a:xfrm>
            <a:off x="304800" y="1828800"/>
            <a:ext cx="8534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Input and Output</a:t>
            </a:r>
            <a:endParaRPr/>
          </a:p>
        </p:txBody>
      </p:sp>
      <p:sp>
        <p:nvSpPr>
          <p:cNvPr id="101" name="Google Shape;101;p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108" name="Google Shape;108;p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C/C++ overview.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C/C++ basic.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IO stream.</a:t>
            </a:r>
            <a:endParaRPr/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b="1" lang="en-US">
                <a:solidFill>
                  <a:srgbClr val="FFC000"/>
                </a:solidFill>
              </a:rPr>
              <a:t>C/C++ overview.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C/C++ basic.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IO stream.</a:t>
            </a:r>
            <a:endParaRPr/>
          </a:p>
        </p:txBody>
      </p:sp>
      <p:sp>
        <p:nvSpPr>
          <p:cNvPr id="117" name="Google Shape;117;p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C/C++ overview</a:t>
            </a:r>
            <a:endParaRPr/>
          </a:p>
        </p:txBody>
      </p:sp>
      <p:sp>
        <p:nvSpPr>
          <p:cNvPr id="124" name="Google Shape;124;p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Origin: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C (1972):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Dennis Ritchie, Brian Kernighan.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Simple and minimal.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Fast, low-level memory access.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Used to write UNIX operating system.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Standard: C89 -&gt; C23.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C++ (1983):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Bjarne Stroustup.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Add object oriented programming.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Mostly compatible with C.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Standard: C++98 -&gt; C++23.</a:t>
            </a:r>
            <a:endParaRPr/>
          </a:p>
          <a:p>
            <a:pPr indent="-179069" lvl="1" marL="9144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pic>
        <p:nvPicPr>
          <p:cNvPr descr="http://t2.gstatic.com/images?q=tbn:ANd9GcQLWuYaUHqcl5hVRlHTVFV9h_d0U2upRhnlfE62GF9WRms1uJb4" id="127" name="Google Shape;1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2741" y="1936248"/>
            <a:ext cx="1178659" cy="15256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ieee.org/portal/cms_docs_sscs/sscs/08Spring/Kernighan.jpg" id="128" name="Google Shape;12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3321" y="1937054"/>
            <a:ext cx="1219200" cy="153439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 txBox="1"/>
          <p:nvPr/>
        </p:nvSpPr>
        <p:spPr>
          <a:xfrm>
            <a:off x="6039862" y="3471446"/>
            <a:ext cx="150393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Dennis Ritchie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7470921" y="3461266"/>
            <a:ext cx="165301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Brian Kernighan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jarne Stroustrup Quotes | A Quotes Daily" id="131" name="Google Shape;13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3738" y="4267200"/>
            <a:ext cx="1295400" cy="1554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 txBox="1"/>
          <p:nvPr/>
        </p:nvSpPr>
        <p:spPr>
          <a:xfrm>
            <a:off x="7295138" y="5791200"/>
            <a:ext cx="178125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Bjarne Stroustrup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C/C++ overview</a:t>
            </a:r>
            <a:endParaRPr/>
          </a:p>
        </p:txBody>
      </p:sp>
      <p:sp>
        <p:nvSpPr>
          <p:cNvPr id="138" name="Google Shape;138;p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Basic program structure:</a:t>
            </a:r>
            <a:endParaRPr/>
          </a:p>
        </p:txBody>
      </p:sp>
      <p:sp>
        <p:nvSpPr>
          <p:cNvPr id="139" name="Google Shape;139;p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graphicFrame>
        <p:nvGraphicFramePr>
          <p:cNvPr id="141" name="Google Shape;141;p5"/>
          <p:cNvGraphicFramePr/>
          <p:nvPr/>
        </p:nvGraphicFramePr>
        <p:xfrm>
          <a:off x="76200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{6677D932-ACE4-4834-8C48-04B20BC9DB5E}</a:tableStyleId>
              </a:tblPr>
              <a:tblGrid>
                <a:gridCol w="3124200"/>
                <a:gridCol w="4495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Sections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Descriptions</a:t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0000"/>
                          </a:solidFill>
                        </a:rPr>
                        <a:t>#include</a:t>
                      </a:r>
                      <a:r>
                        <a:rPr lang="en-US" sz="1800"/>
                        <a:t> &lt;stdio.h&gt;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0000"/>
                          </a:solidFill>
                        </a:rPr>
                        <a:t>#include</a:t>
                      </a:r>
                      <a:r>
                        <a:rPr lang="en-US" sz="1800"/>
                        <a:t> &lt;math.h&gt;</a:t>
                      </a:r>
                      <a:br>
                        <a:rPr lang="en-US" sz="1800"/>
                      </a:b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 Library</a:t>
                      </a:r>
                      <a:r>
                        <a:rPr lang="en-US" sz="1800"/>
                        <a:t> declarations.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   a,</a:t>
                      </a:r>
                      <a:r>
                        <a:rPr lang="en-US" sz="1800"/>
                        <a:t> b, c</a:t>
                      </a:r>
                      <a:r>
                        <a:rPr lang="en-US" sz="1800"/>
                        <a:t>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void sum();</a:t>
                      </a:r>
                      <a:br>
                        <a:rPr lang="en-US" sz="1800"/>
                      </a:b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2. Global variables,</a:t>
                      </a:r>
                      <a:r>
                        <a:rPr lang="en-US" sz="1800"/>
                        <a:t> function declarations.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 </a:t>
                      </a:r>
                      <a:r>
                        <a:rPr b="1" lang="en-US" sz="1800">
                          <a:solidFill>
                            <a:srgbClr val="FF0000"/>
                          </a:solidFill>
                        </a:rPr>
                        <a:t>main</a:t>
                      </a:r>
                      <a:r>
                        <a:rPr lang="en-US" sz="1800"/>
                        <a:t>()</a:t>
                      </a:r>
                      <a:br>
                        <a:rPr lang="en-US" sz="1800"/>
                      </a:br>
                      <a:r>
                        <a:rPr lang="en-US" sz="1800"/>
                        <a:t>{</a:t>
                      </a:r>
                      <a:br>
                        <a:rPr lang="en-US" sz="1800"/>
                      </a:br>
                      <a:r>
                        <a:rPr lang="en-US" sz="1800"/>
                        <a:t>}</a:t>
                      </a:r>
                      <a:br>
                        <a:rPr lang="en-US" sz="1800"/>
                      </a:b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3. Program entry point</a:t>
                      </a:r>
                      <a:r>
                        <a:rPr lang="en-US" sz="1800"/>
                        <a:t>.</a:t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void sum()</a:t>
                      </a:r>
                      <a:br>
                        <a:rPr lang="en-US" sz="1800"/>
                      </a:br>
                      <a:r>
                        <a:rPr lang="en-US" sz="1800"/>
                        <a:t>{</a:t>
                      </a:r>
                      <a:br>
                        <a:rPr lang="en-US" sz="1800"/>
                      </a:br>
                      <a:r>
                        <a:rPr lang="en-US" sz="1800"/>
                        <a:t>}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4. Function implementations</a:t>
                      </a:r>
                      <a:r>
                        <a:rPr lang="en-US" sz="1800"/>
                        <a:t>.</a:t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C/C++ overview</a:t>
            </a:r>
            <a:endParaRPr/>
          </a:p>
        </p:txBody>
      </p:sp>
      <p:sp>
        <p:nvSpPr>
          <p:cNvPr id="147" name="Google Shape;147;p6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Statement: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A single command to perform a task.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End with semi-colon ‘;’.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Compiler ignores spaces, blank lines.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Block: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A sequence of related statements.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Enclosed in curly braces ‘{‘, ‘}’.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Compound statement: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Contain nested statements or blocks.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main() is a giant compound statement.</a:t>
            </a:r>
            <a:endParaRPr/>
          </a:p>
        </p:txBody>
      </p:sp>
      <p:sp>
        <p:nvSpPr>
          <p:cNvPr id="148" name="Google Shape;148;p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6400800" y="1752600"/>
            <a:ext cx="2667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int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int   a, b, c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     a = 100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b = 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a / 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2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b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     {</a:t>
            </a:r>
            <a:b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 = b + 5;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c = a * 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     b;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printf(“%d”, a, b)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800" u="none" cap="none" strike="noStrik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C/C++ overview</a:t>
            </a:r>
            <a:endParaRPr/>
          </a:p>
        </p:txBody>
      </p:sp>
      <p:sp>
        <p:nvSpPr>
          <p:cNvPr id="156" name="Google Shape;156;p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Comment: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Explanation added anywhere in program.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Compiler ignores comments.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C comment: enclose in /* */.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C++ comment: like C or start with //.</a:t>
            </a:r>
            <a:endParaRPr/>
          </a:p>
          <a:p>
            <a:pPr indent="-139700" lvl="2" marL="13716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6172200" y="3429000"/>
            <a:ext cx="28194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	/* </a:t>
            </a:r>
            <a:r>
              <a:rPr b="0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Program to compute</a:t>
            </a:r>
            <a:br>
              <a:rPr b="0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    ampere current.</a:t>
            </a:r>
            <a:endParaRPr b="1" i="0" sz="1800" u="none" cap="none" strike="noStrik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	*/</a:t>
            </a:r>
            <a:b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 main()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double   U, I, R;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// Formula.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I = U / R;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800" u="none" cap="none" strike="noStrik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C/C++ overview</a:t>
            </a:r>
            <a:endParaRPr/>
          </a:p>
        </p:txBody>
      </p:sp>
      <p:sp>
        <p:nvSpPr>
          <p:cNvPr id="165" name="Google Shape;165;p8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Standard library: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KISS principle - </a:t>
            </a:r>
            <a:r>
              <a:rPr b="1" lang="en-US">
                <a:solidFill>
                  <a:srgbClr val="FFC000"/>
                </a:solidFill>
              </a:rPr>
              <a:t>K</a:t>
            </a:r>
            <a:r>
              <a:rPr lang="en-US"/>
              <a:t>eep </a:t>
            </a:r>
            <a:r>
              <a:rPr b="1" lang="en-US">
                <a:solidFill>
                  <a:srgbClr val="FFC000"/>
                </a:solidFill>
              </a:rPr>
              <a:t>I</a:t>
            </a:r>
            <a:r>
              <a:rPr lang="en-US"/>
              <a:t>t </a:t>
            </a:r>
            <a:r>
              <a:rPr b="1" lang="en-US">
                <a:solidFill>
                  <a:srgbClr val="FFC000"/>
                </a:solidFill>
              </a:rPr>
              <a:t>S</a:t>
            </a:r>
            <a:r>
              <a:rPr lang="en-US"/>
              <a:t>imple and </a:t>
            </a:r>
            <a:r>
              <a:rPr b="1" lang="en-US">
                <a:solidFill>
                  <a:srgbClr val="FFC000"/>
                </a:solidFill>
              </a:rPr>
              <a:t>S</a:t>
            </a:r>
            <a:r>
              <a:rPr lang="en-US"/>
              <a:t>tupid.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Use library: </a:t>
            </a:r>
            <a:r>
              <a:rPr b="1" lang="en-US">
                <a:solidFill>
                  <a:srgbClr val="FFC000"/>
                </a:solidFill>
              </a:rPr>
              <a:t>#include </a:t>
            </a:r>
            <a:r>
              <a:rPr lang="en-US"/>
              <a:t>&lt;library name&gt;</a:t>
            </a:r>
            <a:endParaRPr/>
          </a:p>
        </p:txBody>
      </p:sp>
      <p:sp>
        <p:nvSpPr>
          <p:cNvPr id="166" name="Google Shape;166;p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graphicFrame>
        <p:nvGraphicFramePr>
          <p:cNvPr id="168" name="Google Shape;168;p8"/>
          <p:cNvGraphicFramePr/>
          <p:nvPr/>
        </p:nvGraphicFramePr>
        <p:xfrm>
          <a:off x="304800" y="2667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{6677D932-ACE4-4834-8C48-04B20BC9DB5E}</a:tableStyleId>
              </a:tblPr>
              <a:tblGrid>
                <a:gridCol w="1447800"/>
                <a:gridCol w="4495800"/>
                <a:gridCol w="2590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 libraries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Utilities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C++ libraries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&lt;stdio.h&gt;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Input and output streams.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&lt;iostream&gt;,</a:t>
                      </a:r>
                      <a:r>
                        <a:rPr lang="en-US" sz="1800"/>
                        <a:t> </a:t>
                      </a:r>
                      <a:r>
                        <a:rPr lang="en-US" sz="1800"/>
                        <a:t>&lt;fstream&gt;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&lt;math.h&gt;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Math computations and functions</a:t>
                      </a:r>
                      <a:r>
                        <a:rPr lang="en-US" sz="1800"/>
                        <a:t>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&lt;string.h&gt;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String manipulations.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&lt;string&gt;, &lt;algorithm&gt;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&lt;stdlib.h&gt;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Memory management, random numbers.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&lt;vector&gt;, &lt;memory&gt;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&lt;time.h&gt;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Time operations</a:t>
                      </a:r>
                      <a:r>
                        <a:rPr lang="en-US" sz="1800"/>
                        <a:t>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&lt;chrono&gt;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&lt;ctype.h&gt;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Character checks and convertions</a:t>
                      </a:r>
                      <a:r>
                        <a:rPr lang="en-US" sz="1800"/>
                        <a:t>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&lt;float.h&gt;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Floating-point numbers</a:t>
                      </a:r>
                      <a:r>
                        <a:rPr lang="en-US" sz="1800"/>
                        <a:t>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&lt;limits&gt;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&lt;stdbool.h&gt;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Boolean type</a:t>
                      </a:r>
                      <a:r>
                        <a:rPr lang="en-US" sz="1800"/>
                        <a:t>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…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…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…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C/C++ overview</a:t>
            </a:r>
            <a:endParaRPr/>
          </a:p>
        </p:txBody>
      </p:sp>
      <p:sp>
        <p:nvSpPr>
          <p:cNvPr id="174" name="Google Shape;174;p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Standard library: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Math library &lt;math.h&gt;:</a:t>
            </a:r>
            <a:endParaRPr/>
          </a:p>
        </p:txBody>
      </p:sp>
      <p:sp>
        <p:nvSpPr>
          <p:cNvPr id="175" name="Google Shape;175;p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graphicFrame>
        <p:nvGraphicFramePr>
          <p:cNvPr id="177" name="Google Shape;177;p9"/>
          <p:cNvGraphicFramePr/>
          <p:nvPr/>
        </p:nvGraphicFramePr>
        <p:xfrm>
          <a:off x="381000" y="2291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{6677D932-ACE4-4834-8C48-04B20BC9DB5E}</a:tableStyleId>
              </a:tblPr>
              <a:tblGrid>
                <a:gridCol w="2209800"/>
                <a:gridCol w="2514600"/>
                <a:gridCol w="3657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Functions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Examples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sin, cos, tan,</a:t>
                      </a:r>
                      <a:r>
                        <a:rPr lang="en-US" sz="1800"/>
                        <a:t> atan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Trigonometry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float </a:t>
                      </a:r>
                      <a:r>
                        <a:rPr lang="en-US" sz="1800"/>
                        <a:t> x = sin(30 * 3.14 / 180);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log, log10, exp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</a:t>
                      </a:r>
                      <a:r>
                        <a:rPr lang="en-US" sz="1800"/>
                        <a:t>ogarithm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float  y = log(exp(5.0));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sqrt, cbrt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Square/cube</a:t>
                      </a:r>
                      <a:r>
                        <a:rPr lang="en-US" sz="1800"/>
                        <a:t> root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float  z = sqrt(2.0);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pow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Exponentiation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float  a = pow(2.0,</a:t>
                      </a:r>
                      <a:r>
                        <a:rPr lang="en-US" sz="1800"/>
                        <a:t> 5);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floor, ceil, round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Round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float  b</a:t>
                      </a:r>
                      <a:r>
                        <a:rPr lang="en-US" sz="1800"/>
                        <a:t> = ceil(2.4);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abs, fabs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Absolute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float  c = fabs(a);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…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183" name="Google Shape;183;p10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C/C++ overview.</a:t>
            </a:r>
            <a:endParaRPr b="1">
              <a:solidFill>
                <a:srgbClr val="FFC000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●"/>
            </a:pPr>
            <a:r>
              <a:rPr b="1" lang="en-US">
                <a:solidFill>
                  <a:srgbClr val="FFC000"/>
                </a:solidFill>
              </a:rPr>
              <a:t>C/C++ basic.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IO stream.</a:t>
            </a:r>
            <a:endParaRPr/>
          </a:p>
        </p:txBody>
      </p:sp>
      <p:sp>
        <p:nvSpPr>
          <p:cNvPr id="184" name="Google Shape;184;p10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10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C/C++ basic</a:t>
            </a:r>
            <a:endParaRPr/>
          </a:p>
        </p:txBody>
      </p:sp>
      <p:sp>
        <p:nvSpPr>
          <p:cNvPr id="191" name="Google Shape;191;p11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Variable and constant: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Program stores values during execution.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Values are stored in memory units (RAM).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Each memory unit is given a name: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Variable: changeable value.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Constant: unchangeable value.</a:t>
            </a:r>
            <a:endParaRPr/>
          </a:p>
        </p:txBody>
      </p:sp>
      <p:sp>
        <p:nvSpPr>
          <p:cNvPr id="192" name="Google Shape;192;p1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1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6858000" y="2666999"/>
            <a:ext cx="1600200" cy="381000"/>
          </a:xfrm>
          <a:prstGeom prst="parallelogram">
            <a:avLst>
              <a:gd fmla="val 32792" name="adj"/>
            </a:avLst>
          </a:prstGeom>
          <a:solidFill>
            <a:srgbClr val="ECE5F8"/>
          </a:solidFill>
          <a:ln cap="flat" cmpd="sng" w="9525">
            <a:solidFill>
              <a:srgbClr val="6D6D6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7440258" y="2709445"/>
            <a:ext cx="33214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2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600" u="none" cap="none" strike="noStrike">
              <a:solidFill>
                <a:srgbClr val="0000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6934200" y="3276599"/>
            <a:ext cx="1447800" cy="381000"/>
          </a:xfrm>
          <a:prstGeom prst="rect">
            <a:avLst/>
          </a:prstGeom>
          <a:solidFill>
            <a:srgbClr val="ECE5F8"/>
          </a:solidFill>
          <a:ln cap="flat" cmpd="sng" w="9525">
            <a:solidFill>
              <a:srgbClr val="6D6D6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1"/>
          <p:cNvSpPr txBox="1"/>
          <p:nvPr/>
        </p:nvSpPr>
        <p:spPr>
          <a:xfrm>
            <a:off x="7315200" y="3319045"/>
            <a:ext cx="6703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2"/>
                </a:solidFill>
                <a:latin typeface="Arial"/>
                <a:ea typeface="Arial"/>
                <a:cs typeface="Arial"/>
                <a:sym typeface="Arial"/>
              </a:rPr>
              <a:t>S = 1</a:t>
            </a:r>
            <a:endParaRPr b="0" i="0" sz="1600" u="none" cap="none" strike="noStrike">
              <a:solidFill>
                <a:srgbClr val="0000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7048734" y="3919953"/>
            <a:ext cx="1143000" cy="457200"/>
          </a:xfrm>
          <a:prstGeom prst="diamond">
            <a:avLst/>
          </a:prstGeom>
          <a:solidFill>
            <a:srgbClr val="ECE5F8"/>
          </a:solidFill>
          <a:ln cap="flat" cmpd="sng" w="9525">
            <a:solidFill>
              <a:srgbClr val="6D6D6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7319403" y="4004845"/>
            <a:ext cx="6815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2"/>
                </a:solidFill>
                <a:latin typeface="Arial"/>
                <a:ea typeface="Arial"/>
                <a:cs typeface="Arial"/>
                <a:sym typeface="Arial"/>
              </a:rPr>
              <a:t>N &gt; 1</a:t>
            </a:r>
            <a:endParaRPr b="0" i="0" sz="1600" u="none" cap="none" strike="noStrike">
              <a:solidFill>
                <a:srgbClr val="0000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11"/>
          <p:cNvCxnSpPr/>
          <p:nvPr/>
        </p:nvCxnSpPr>
        <p:spPr>
          <a:xfrm rot="5400000">
            <a:off x="7506097" y="3161902"/>
            <a:ext cx="229394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1" name="Google Shape;201;p11"/>
          <p:cNvCxnSpPr/>
          <p:nvPr/>
        </p:nvCxnSpPr>
        <p:spPr>
          <a:xfrm rot="5400000">
            <a:off x="7504906" y="3771105"/>
            <a:ext cx="228600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02" name="Google Shape;202;p11"/>
          <p:cNvSpPr/>
          <p:nvPr/>
        </p:nvSpPr>
        <p:spPr>
          <a:xfrm>
            <a:off x="7467600" y="2133599"/>
            <a:ext cx="304800" cy="304800"/>
          </a:xfrm>
          <a:prstGeom prst="ellipse">
            <a:avLst/>
          </a:prstGeom>
          <a:solidFill>
            <a:srgbClr val="ECE5F8"/>
          </a:solidFill>
          <a:ln cap="flat" cmpd="sng" w="9525">
            <a:solidFill>
              <a:srgbClr val="6D6D6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" name="Google Shape;203;p11"/>
          <p:cNvCxnSpPr/>
          <p:nvPr/>
        </p:nvCxnSpPr>
        <p:spPr>
          <a:xfrm rot="5400000">
            <a:off x="7506097" y="2552302"/>
            <a:ext cx="229394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04" name="Google Shape;204;p11"/>
          <p:cNvSpPr/>
          <p:nvPr/>
        </p:nvSpPr>
        <p:spPr>
          <a:xfrm>
            <a:off x="7010400" y="4571999"/>
            <a:ext cx="1219200" cy="381000"/>
          </a:xfrm>
          <a:prstGeom prst="rect">
            <a:avLst/>
          </a:prstGeom>
          <a:solidFill>
            <a:srgbClr val="ECE5F8"/>
          </a:solidFill>
          <a:ln cap="flat" cmpd="sng" w="9525">
            <a:solidFill>
              <a:srgbClr val="6D6D6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7117539" y="4614445"/>
            <a:ext cx="103586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2"/>
                </a:solidFill>
                <a:latin typeface="Arial"/>
                <a:ea typeface="Arial"/>
                <a:cs typeface="Arial"/>
                <a:sym typeface="Arial"/>
              </a:rPr>
              <a:t>S = S * N</a:t>
            </a:r>
            <a:endParaRPr b="0" i="0" sz="1600" u="none" cap="none" strike="noStrike">
              <a:solidFill>
                <a:srgbClr val="0000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11"/>
          <p:cNvCxnSpPr/>
          <p:nvPr/>
        </p:nvCxnSpPr>
        <p:spPr>
          <a:xfrm rot="5400000">
            <a:off x="7506494" y="4456905"/>
            <a:ext cx="228600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07" name="Google Shape;207;p11"/>
          <p:cNvSpPr/>
          <p:nvPr/>
        </p:nvSpPr>
        <p:spPr>
          <a:xfrm>
            <a:off x="7010400" y="5181599"/>
            <a:ext cx="1219200" cy="381000"/>
          </a:xfrm>
          <a:prstGeom prst="rect">
            <a:avLst/>
          </a:prstGeom>
          <a:solidFill>
            <a:srgbClr val="ECE5F8"/>
          </a:solidFill>
          <a:ln cap="flat" cmpd="sng" w="9525">
            <a:solidFill>
              <a:srgbClr val="6D6D6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7117539" y="5224045"/>
            <a:ext cx="101341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2"/>
                </a:solidFill>
                <a:latin typeface="Arial"/>
                <a:ea typeface="Arial"/>
                <a:cs typeface="Arial"/>
                <a:sym typeface="Arial"/>
              </a:rPr>
              <a:t>N = N - 1</a:t>
            </a:r>
            <a:endParaRPr b="0" i="0" sz="1600" u="none" cap="none" strike="noStrike">
              <a:solidFill>
                <a:srgbClr val="0000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11"/>
          <p:cNvCxnSpPr/>
          <p:nvPr/>
        </p:nvCxnSpPr>
        <p:spPr>
          <a:xfrm rot="5400000">
            <a:off x="7506494" y="5066505"/>
            <a:ext cx="228600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0" name="Google Shape;210;p11"/>
          <p:cNvCxnSpPr/>
          <p:nvPr/>
        </p:nvCxnSpPr>
        <p:spPr>
          <a:xfrm>
            <a:off x="8229600" y="4190999"/>
            <a:ext cx="381000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" name="Google Shape;211;p11"/>
          <p:cNvCxnSpPr/>
          <p:nvPr/>
        </p:nvCxnSpPr>
        <p:spPr>
          <a:xfrm>
            <a:off x="6705600" y="5333999"/>
            <a:ext cx="304800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p11"/>
          <p:cNvCxnSpPr/>
          <p:nvPr/>
        </p:nvCxnSpPr>
        <p:spPr>
          <a:xfrm flipH="1" rot="-5400000">
            <a:off x="6133703" y="4762895"/>
            <a:ext cx="1143795" cy="1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11"/>
          <p:cNvCxnSpPr/>
          <p:nvPr/>
        </p:nvCxnSpPr>
        <p:spPr>
          <a:xfrm>
            <a:off x="6705600" y="4190999"/>
            <a:ext cx="381000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4" name="Google Shape;214;p11"/>
          <p:cNvCxnSpPr/>
          <p:nvPr/>
        </p:nvCxnSpPr>
        <p:spPr>
          <a:xfrm rot="5400000">
            <a:off x="7848600" y="4952999"/>
            <a:ext cx="1524000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11"/>
          <p:cNvCxnSpPr/>
          <p:nvPr/>
        </p:nvCxnSpPr>
        <p:spPr>
          <a:xfrm>
            <a:off x="7620000" y="5714999"/>
            <a:ext cx="990600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11"/>
          <p:cNvCxnSpPr/>
          <p:nvPr/>
        </p:nvCxnSpPr>
        <p:spPr>
          <a:xfrm rot="5400000">
            <a:off x="7506097" y="5828902"/>
            <a:ext cx="229394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17" name="Google Shape;217;p11"/>
          <p:cNvSpPr/>
          <p:nvPr/>
        </p:nvSpPr>
        <p:spPr>
          <a:xfrm>
            <a:off x="8610600" y="5943599"/>
            <a:ext cx="381000" cy="381000"/>
          </a:xfrm>
          <a:prstGeom prst="ellipse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8686800" y="6019799"/>
            <a:ext cx="228600" cy="228600"/>
          </a:xfrm>
          <a:prstGeom prst="ellipse">
            <a:avLst/>
          </a:prstGeom>
          <a:solidFill>
            <a:srgbClr val="ECE5F8"/>
          </a:solidFill>
          <a:ln cap="flat" cmpd="sng" w="9525">
            <a:solidFill>
              <a:srgbClr val="6D6D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11"/>
          <p:cNvCxnSpPr/>
          <p:nvPr/>
        </p:nvCxnSpPr>
        <p:spPr>
          <a:xfrm>
            <a:off x="8229600" y="6172200"/>
            <a:ext cx="381000" cy="158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20" name="Google Shape;220;p11"/>
          <p:cNvSpPr txBox="1"/>
          <p:nvPr/>
        </p:nvSpPr>
        <p:spPr>
          <a:xfrm>
            <a:off x="7665881" y="4267199"/>
            <a:ext cx="53893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 txBox="1"/>
          <p:nvPr/>
        </p:nvSpPr>
        <p:spPr>
          <a:xfrm>
            <a:off x="8153400" y="3886199"/>
            <a:ext cx="6174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"/>
          <p:cNvSpPr/>
          <p:nvPr/>
        </p:nvSpPr>
        <p:spPr>
          <a:xfrm rot="10800000">
            <a:off x="7010400" y="5943599"/>
            <a:ext cx="1219200" cy="381000"/>
          </a:xfrm>
          <a:prstGeom prst="flowChartPunchedCard">
            <a:avLst/>
          </a:prstGeom>
          <a:solidFill>
            <a:srgbClr val="F2F2F2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7451478" y="5986045"/>
            <a:ext cx="32092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600" u="none" cap="none" strike="noStrike">
              <a:solidFill>
                <a:srgbClr val="0000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C/C++ basic</a:t>
            </a:r>
            <a:endParaRPr/>
          </a:p>
        </p:txBody>
      </p:sp>
      <p:sp>
        <p:nvSpPr>
          <p:cNvPr id="229" name="Google Shape;229;p1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Variable and constant: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Declaration: give name to memory unit before use.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Variable: </a:t>
            </a:r>
            <a:r>
              <a:rPr b="1" lang="en-US">
                <a:solidFill>
                  <a:srgbClr val="FFC000"/>
                </a:solidFill>
              </a:rPr>
              <a:t>&lt;data type&gt; &lt;name&gt; [ = &lt;value&gt; ]</a:t>
            </a:r>
            <a:r>
              <a:rPr lang="en-US"/>
              <a:t>;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/>
              <a:t>		int     age;</a:t>
            </a:r>
            <a:br>
              <a:rPr lang="en-US"/>
            </a:br>
            <a:r>
              <a:rPr lang="en-US"/>
              <a:t>	float  gpa = 5.0;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Constant: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/>
              <a:t>		</a:t>
            </a:r>
            <a:r>
              <a:rPr b="1" lang="en-US">
                <a:solidFill>
                  <a:srgbClr val="FFC000"/>
                </a:solidFill>
              </a:rPr>
              <a:t>#define &lt;name&gt; &lt;value</a:t>
            </a:r>
            <a:br>
              <a:rPr b="1" lang="en-US">
                <a:solidFill>
                  <a:srgbClr val="FFC000"/>
                </a:solidFill>
              </a:rPr>
            </a:br>
            <a:r>
              <a:rPr b="1" lang="en-US">
                <a:solidFill>
                  <a:srgbClr val="FFC000"/>
                </a:solidFill>
              </a:rPr>
              <a:t>	const &lt;data type&gt; &lt;name&gt; = &lt;value&gt;</a:t>
            </a:r>
            <a:r>
              <a:rPr lang="en-US"/>
              <a:t>; // C++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/>
              <a:t>		#define PI  3.1416</a:t>
            </a:r>
            <a:br>
              <a:rPr lang="en-US"/>
            </a:br>
            <a:r>
              <a:rPr lang="en-US"/>
              <a:t>	const int MAX = 1000;		             // C++</a:t>
            </a:r>
            <a:endParaRPr/>
          </a:p>
        </p:txBody>
      </p:sp>
      <p:sp>
        <p:nvSpPr>
          <p:cNvPr id="230" name="Google Shape;230;p1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1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C/C++ basic</a:t>
            </a:r>
            <a:endParaRPr/>
          </a:p>
        </p:txBody>
      </p:sp>
      <p:sp>
        <p:nvSpPr>
          <p:cNvPr id="237" name="Google Shape;237;p1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Variable and constant: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Naming rules: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Allowed characters: </a:t>
            </a:r>
            <a:r>
              <a:rPr b="1" lang="en-US">
                <a:solidFill>
                  <a:srgbClr val="FFC000"/>
                </a:solidFill>
              </a:rPr>
              <a:t>A-Z, a-z, 0-9, _</a:t>
            </a:r>
            <a:r>
              <a:rPr lang="en-US"/>
              <a:t> (underscore).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The </a:t>
            </a:r>
            <a:r>
              <a:rPr b="1" lang="en-US">
                <a:solidFill>
                  <a:srgbClr val="FFC000"/>
                </a:solidFill>
              </a:rPr>
              <a:t>first</a:t>
            </a:r>
            <a:r>
              <a:rPr lang="en-US"/>
              <a:t> character is </a:t>
            </a:r>
            <a:r>
              <a:rPr b="1" lang="en-US">
                <a:solidFill>
                  <a:srgbClr val="FFC000"/>
                </a:solidFill>
              </a:rPr>
              <a:t>not digit</a:t>
            </a:r>
            <a:r>
              <a:rPr lang="en-US"/>
              <a:t>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Avoid </a:t>
            </a:r>
            <a:r>
              <a:rPr b="1" lang="en-US">
                <a:solidFill>
                  <a:srgbClr val="FFC000"/>
                </a:solidFill>
              </a:rPr>
              <a:t>keywords</a:t>
            </a:r>
            <a:r>
              <a:rPr lang="en-US"/>
              <a:t>: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120"/>
              <a:buChar char="●"/>
            </a:pPr>
            <a:r>
              <a:rPr lang="en-US"/>
              <a:t>C: int, float, char, void, if, else, while, do, for, return, …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120"/>
              <a:buChar char="●"/>
            </a:pPr>
            <a:r>
              <a:rPr lang="en-US"/>
              <a:t>C++: C keywords, bool, true, false, new, delete, class, …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Should be meaningful.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/>
              <a:t>	int	  </a:t>
            </a:r>
            <a:r>
              <a:rPr b="1" lang="en-US">
                <a:solidFill>
                  <a:srgbClr val="FFC000"/>
                </a:solidFill>
              </a:rPr>
              <a:t>a</a:t>
            </a:r>
            <a:r>
              <a:rPr lang="en-US"/>
              <a:t>, </a:t>
            </a:r>
            <a:r>
              <a:rPr b="1" lang="en-US">
                <a:solidFill>
                  <a:srgbClr val="FFC000"/>
                </a:solidFill>
              </a:rPr>
              <a:t>b</a:t>
            </a:r>
            <a:r>
              <a:rPr lang="en-US"/>
              <a:t>;			// Valid, not meaningful.</a:t>
            </a:r>
            <a:br>
              <a:rPr lang="en-US"/>
            </a:br>
            <a:r>
              <a:rPr lang="en-US"/>
              <a:t>float  </a:t>
            </a:r>
            <a:r>
              <a:rPr b="1" lang="en-US">
                <a:solidFill>
                  <a:srgbClr val="FFC000"/>
                </a:solidFill>
              </a:rPr>
              <a:t>literature</a:t>
            </a:r>
            <a:r>
              <a:rPr lang="en-US"/>
              <a:t>, </a:t>
            </a:r>
            <a:r>
              <a:rPr b="1" lang="en-US">
                <a:solidFill>
                  <a:srgbClr val="FFC000"/>
                </a:solidFill>
              </a:rPr>
              <a:t>math</a:t>
            </a:r>
            <a:r>
              <a:rPr lang="en-US"/>
              <a:t>;	// Valid, meaningful.</a:t>
            </a:r>
            <a:br>
              <a:rPr lang="en-US"/>
            </a:br>
            <a:r>
              <a:rPr lang="en-US"/>
              <a:t>char  </a:t>
            </a:r>
            <a:r>
              <a:rPr b="1" lang="en-US">
                <a:solidFill>
                  <a:srgbClr val="FFC000"/>
                </a:solidFill>
              </a:rPr>
              <a:t>_letter_123</a:t>
            </a:r>
            <a:r>
              <a:rPr lang="en-US"/>
              <a:t>;		// Valid, meaningful.</a:t>
            </a:r>
            <a:br>
              <a:rPr lang="en-US"/>
            </a:br>
            <a:r>
              <a:rPr lang="en-US"/>
              <a:t>int	  </a:t>
            </a:r>
            <a:r>
              <a:rPr b="1" lang="en-US">
                <a:solidFill>
                  <a:srgbClr val="FFC000"/>
                </a:solidFill>
              </a:rPr>
              <a:t>123so</a:t>
            </a:r>
            <a:r>
              <a:rPr lang="en-US"/>
              <a:t>, </a:t>
            </a:r>
            <a:r>
              <a:rPr b="1" lang="en-US">
                <a:solidFill>
                  <a:srgbClr val="FFC000"/>
                </a:solidFill>
              </a:rPr>
              <a:t>new</a:t>
            </a:r>
            <a:r>
              <a:rPr lang="en-US"/>
              <a:t>;		// Invalid.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1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1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C/C++ basic</a:t>
            </a:r>
            <a:endParaRPr/>
          </a:p>
        </p:txBody>
      </p:sp>
      <p:sp>
        <p:nvSpPr>
          <p:cNvPr id="245" name="Google Shape;245;p1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Data type: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What happen when declaring a variable/constant?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A memory unit is given a name.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/>
              <a:t>	</a:t>
            </a:r>
            <a:r>
              <a:rPr b="1" lang="en-US">
                <a:solidFill>
                  <a:srgbClr val="FFC000"/>
                </a:solidFill>
              </a:rPr>
              <a:t>int</a:t>
            </a:r>
            <a:r>
              <a:rPr lang="en-US"/>
              <a:t>  a;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/>
              <a:t>	🡪 Memory unit of a: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/>
              <a:t>	</a:t>
            </a:r>
            <a:r>
              <a:rPr b="1" lang="en-US">
                <a:solidFill>
                  <a:srgbClr val="FFC000"/>
                </a:solidFill>
              </a:rPr>
              <a:t>char</a:t>
            </a:r>
            <a:r>
              <a:rPr lang="en-US"/>
              <a:t>  b;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/>
              <a:t>	🡪 Memory unit of b: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What is the memory unit size?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How is the memory unit value stored?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/>
              <a:t>🡺 Decided by data type.</a:t>
            </a:r>
            <a:endParaRPr/>
          </a:p>
        </p:txBody>
      </p:sp>
      <p:sp>
        <p:nvSpPr>
          <p:cNvPr id="246" name="Google Shape;246;p1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1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graphicFrame>
        <p:nvGraphicFramePr>
          <p:cNvPr id="248" name="Google Shape;248;p14"/>
          <p:cNvGraphicFramePr/>
          <p:nvPr/>
        </p:nvGraphicFramePr>
        <p:xfrm>
          <a:off x="6934200" y="288036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{6677D932-ACE4-4834-8C48-04B20BC9DB5E}</a:tableStyleId>
              </a:tblPr>
              <a:tblGrid>
                <a:gridCol w="219075"/>
                <a:gridCol w="219075"/>
                <a:gridCol w="219075"/>
                <a:gridCol w="219075"/>
                <a:gridCol w="219075"/>
                <a:gridCol w="219075"/>
                <a:gridCol w="219075"/>
                <a:gridCol w="219075"/>
              </a:tblGrid>
              <a:tr h="11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</a:tr>
              <a:tr h="11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</a:tr>
              <a:tr h="11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</a:tr>
              <a:tr h="11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</a:tr>
              <a:tr h="11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</a:tr>
              <a:tr h="11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</a:tr>
              <a:tr h="11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</a:tr>
              <a:tr h="11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</a:tr>
              <a:tr h="11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</a:tr>
              <a:tr h="11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</a:tr>
              <a:tr h="11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</a:tr>
              <a:tr h="11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</a:tr>
              <a:tr h="11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</a:tr>
              <a:tr h="11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49" name="Google Shape;249;p14"/>
          <p:cNvGraphicFramePr/>
          <p:nvPr/>
        </p:nvGraphicFramePr>
        <p:xfrm>
          <a:off x="4191000" y="289560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{6677D932-ACE4-4834-8C48-04B20BC9DB5E}</a:tableStyleId>
              </a:tblPr>
              <a:tblGrid>
                <a:gridCol w="495300"/>
                <a:gridCol w="495300"/>
                <a:gridCol w="495300"/>
                <a:gridCol w="495300"/>
              </a:tblGrid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0010</a:t>
                      </a:r>
                      <a:endParaRPr sz="1600"/>
                    </a:p>
                  </a:txBody>
                  <a:tcPr marT="45725" marB="45725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1101</a:t>
                      </a:r>
                      <a:endParaRPr sz="1600"/>
                    </a:p>
                  </a:txBody>
                  <a:tcPr marT="45725" marB="45725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1010</a:t>
                      </a:r>
                      <a:endParaRPr sz="1600"/>
                    </a:p>
                  </a:txBody>
                  <a:tcPr marT="45725" marB="45725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0111</a:t>
                      </a:r>
                      <a:endParaRPr sz="1600"/>
                    </a:p>
                  </a:txBody>
                  <a:tcPr marT="45725" marB="45725" marR="0" marL="0"/>
                </a:tc>
              </a:tr>
            </a:tbl>
          </a:graphicData>
        </a:graphic>
      </p:graphicFrame>
      <p:graphicFrame>
        <p:nvGraphicFramePr>
          <p:cNvPr id="250" name="Google Shape;250;p14"/>
          <p:cNvGraphicFramePr/>
          <p:nvPr/>
        </p:nvGraphicFramePr>
        <p:xfrm>
          <a:off x="4191000" y="362712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{6677D932-ACE4-4834-8C48-04B20BC9DB5E}</a:tableStyleId>
              </a:tblPr>
              <a:tblGrid>
                <a:gridCol w="495300"/>
                <a:gridCol w="495300"/>
              </a:tblGrid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0010</a:t>
                      </a:r>
                      <a:endParaRPr sz="1600"/>
                    </a:p>
                  </a:txBody>
                  <a:tcPr marT="45725" marB="45725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1101</a:t>
                      </a:r>
                      <a:endParaRPr sz="1600"/>
                    </a:p>
                  </a:txBody>
                  <a:tcPr marT="45725" marB="45725" marR="0" marL="0"/>
                </a:tc>
              </a:tr>
            </a:tbl>
          </a:graphicData>
        </a:graphic>
      </p:graphicFrame>
      <p:sp>
        <p:nvSpPr>
          <p:cNvPr id="251" name="Google Shape;251;p14"/>
          <p:cNvSpPr txBox="1"/>
          <p:nvPr/>
        </p:nvSpPr>
        <p:spPr>
          <a:xfrm>
            <a:off x="6949683" y="2526268"/>
            <a:ext cx="18133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Memory (RAM)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14"/>
          <p:cNvCxnSpPr/>
          <p:nvPr/>
        </p:nvCxnSpPr>
        <p:spPr>
          <a:xfrm flipH="1">
            <a:off x="6248400" y="2971800"/>
            <a:ext cx="762000" cy="762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53" name="Google Shape;253;p14"/>
          <p:cNvCxnSpPr/>
          <p:nvPr/>
        </p:nvCxnSpPr>
        <p:spPr>
          <a:xfrm flipH="1">
            <a:off x="5257800" y="3657600"/>
            <a:ext cx="1752600" cy="762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C/C++ basic</a:t>
            </a:r>
            <a:endParaRPr/>
          </a:p>
        </p:txBody>
      </p:sp>
      <p:sp>
        <p:nvSpPr>
          <p:cNvPr id="259" name="Google Shape;259;p1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Basic data types:</a:t>
            </a:r>
            <a:endParaRPr/>
          </a:p>
        </p:txBody>
      </p:sp>
      <p:sp>
        <p:nvSpPr>
          <p:cNvPr id="260" name="Google Shape;260;p1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1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graphicFrame>
        <p:nvGraphicFramePr>
          <p:cNvPr id="262" name="Google Shape;262;p15"/>
          <p:cNvGraphicFramePr/>
          <p:nvPr/>
        </p:nvGraphicFramePr>
        <p:xfrm>
          <a:off x="228600" y="1752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{6677D932-ACE4-4834-8C48-04B20BC9DB5E}</a:tableStyleId>
              </a:tblPr>
              <a:tblGrid>
                <a:gridCol w="1752600"/>
                <a:gridCol w="2514600"/>
                <a:gridCol w="1447800"/>
                <a:gridCol w="3048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 types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Size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Range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int, long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unsigned</a:t>
                      </a:r>
                      <a:r>
                        <a:rPr lang="en-US" sz="1800"/>
                        <a:t> int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Integers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(normal size)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 bytes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-2147483648.. 2147483647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0.. 4,294,967,295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long long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unsigned</a:t>
                      </a:r>
                      <a:r>
                        <a:rPr lang="en-US" sz="1400"/>
                        <a:t> long long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Integers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(large size)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 bytes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–9,223,372,036,854,775,808..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9,223,372,036,854,775,807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0..18,446,744,073,709,551,615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short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unsigned short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Integers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(small</a:t>
                      </a:r>
                      <a:r>
                        <a:rPr lang="en-US" sz="1800"/>
                        <a:t> size)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 bytes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-32768..32767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float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Real numbers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(single precision)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 bytes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3.4E +- 10</a:t>
                      </a:r>
                      <a:r>
                        <a:rPr baseline="30000" lang="en-US" sz="1800"/>
                        <a:t>38</a:t>
                      </a:r>
                      <a:r>
                        <a:rPr lang="en-US" sz="1800"/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(7 digits)</a:t>
                      </a:r>
                      <a:endParaRPr baseline="30000"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double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Real number</a:t>
                      </a:r>
                      <a:r>
                        <a:rPr lang="en-US" sz="1800"/>
                        <a:t>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(double precision)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 bytes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1.7E +-</a:t>
                      </a:r>
                      <a:r>
                        <a:rPr lang="en-US" sz="1800"/>
                        <a:t> 10</a:t>
                      </a:r>
                      <a:r>
                        <a:rPr baseline="30000" lang="en-US" sz="1800"/>
                        <a:t>308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(15 digits)</a:t>
                      </a:r>
                      <a:endParaRPr baseline="30000"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char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Character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 byte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-128..127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bool (C++)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Logic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 byte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true, false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6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C/C++ basic</a:t>
            </a:r>
            <a:endParaRPr/>
          </a:p>
        </p:txBody>
      </p:sp>
      <p:sp>
        <p:nvSpPr>
          <p:cNvPr id="268" name="Google Shape;268;p16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Expression: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Finite sequence of operators and operants.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solidFill>
                  <a:srgbClr val="FFC000"/>
                </a:solidFill>
              </a:rPr>
              <a:t>	</a:t>
            </a:r>
            <a:r>
              <a:rPr lang="en-US"/>
              <a:t>a + b – d * c / e</a:t>
            </a:r>
            <a:br>
              <a:rPr lang="en-US"/>
            </a:br>
            <a:r>
              <a:rPr lang="en-US"/>
              <a:t>(x &gt;&gt; (p + 1 - n)) &amp; ~(~0 &lt;&lt; n)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Operand: variable or constant.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Operator: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Unary: </a:t>
            </a:r>
            <a:r>
              <a:rPr b="1" lang="en-US">
                <a:solidFill>
                  <a:srgbClr val="FFC000"/>
                </a:solidFill>
              </a:rPr>
              <a:t>&lt;operator&gt; a     </a:t>
            </a:r>
            <a:r>
              <a:rPr lang="en-US"/>
              <a:t>🡪 !a, ~b, ++c.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Binary: </a:t>
            </a:r>
            <a:r>
              <a:rPr b="1" lang="en-US">
                <a:solidFill>
                  <a:srgbClr val="FFC000"/>
                </a:solidFill>
              </a:rPr>
              <a:t>a &lt;operator&gt; b</a:t>
            </a:r>
            <a:r>
              <a:rPr lang="en-US"/>
              <a:t> 🡪 a + b, x &gt;= y.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Ternary condition: &lt;condition&gt; </a:t>
            </a:r>
            <a:r>
              <a:rPr b="1" lang="en-US">
                <a:solidFill>
                  <a:srgbClr val="FFC000"/>
                </a:solidFill>
              </a:rPr>
              <a:t>?</a:t>
            </a:r>
            <a:r>
              <a:rPr lang="en-US"/>
              <a:t> &lt;true value&gt; </a:t>
            </a:r>
            <a:r>
              <a:rPr b="1" lang="en-US">
                <a:solidFill>
                  <a:srgbClr val="FFC000"/>
                </a:solidFill>
              </a:rPr>
              <a:t>:</a:t>
            </a:r>
            <a:r>
              <a:rPr lang="en-US"/>
              <a:t> &lt;false value&gt;;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Result value is a number.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69" name="Google Shape;269;p1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p1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C/C++ basic</a:t>
            </a:r>
            <a:endParaRPr/>
          </a:p>
        </p:txBody>
      </p:sp>
      <p:sp>
        <p:nvSpPr>
          <p:cNvPr id="276" name="Google Shape;276;p1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Expression: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Arithmetic: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+, -, *, /, %.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/ depends on operands.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% for integer only.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Comparisons: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&gt;, &lt;, &gt;=, &lt;=, ==, !=.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Value: 1 (true), 0 (false).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Logic: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! (not), &amp;&amp; (and), || (or).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Connect comparisons.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Value: 1 (true), 0 (false).</a:t>
            </a:r>
            <a:endParaRPr/>
          </a:p>
        </p:txBody>
      </p:sp>
      <p:sp>
        <p:nvSpPr>
          <p:cNvPr id="277" name="Google Shape;277;p1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8" name="Google Shape;278;p1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sp>
        <p:nvSpPr>
          <p:cNvPr id="279" name="Google Shape;279;p17"/>
          <p:cNvSpPr/>
          <p:nvPr/>
        </p:nvSpPr>
        <p:spPr>
          <a:xfrm>
            <a:off x="5181600" y="2133600"/>
            <a:ext cx="335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    a = 5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3;    // Integral div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float b =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5.0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3; // Float div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float c = 5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3.0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; // Wrong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5181600" y="3657600"/>
            <a:ext cx="335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  a = 5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3;	// 1 (true)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  b = 5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==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3;	// 0 (false)</a:t>
            </a:r>
            <a:endParaRPr/>
          </a:p>
        </p:txBody>
      </p:sp>
      <p:sp>
        <p:nvSpPr>
          <p:cNvPr id="281" name="Google Shape;281;p17"/>
          <p:cNvSpPr/>
          <p:nvPr/>
        </p:nvSpPr>
        <p:spPr>
          <a:xfrm>
            <a:off x="5181600" y="4800600"/>
            <a:ext cx="38862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  a = (5 &gt; 3)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&amp;&amp;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(4 &gt; 7); // 0 (false)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  b = (5 &gt; 3)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||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(4 &gt; 7); // 1 (true)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C/C++ basic</a:t>
            </a:r>
            <a:endParaRPr/>
          </a:p>
        </p:txBody>
      </p:sp>
      <p:sp>
        <p:nvSpPr>
          <p:cNvPr id="287" name="Google Shape;287;p18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Expression: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Bitwise: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&amp; (and), | (or), ^ (xor).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~ (complement).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&gt;&gt; (shift left), &lt;&lt; (shift right).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Increase/decrease: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++, --.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Prefix: before expression.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Postfix: after expression.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Assignment: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=, &lt;operator&gt;=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/>
              <a:t>🡪 a </a:t>
            </a:r>
            <a:r>
              <a:rPr b="1" lang="en-US">
                <a:solidFill>
                  <a:srgbClr val="FFC000"/>
                </a:solidFill>
              </a:rPr>
              <a:t>=</a:t>
            </a:r>
            <a:r>
              <a:rPr lang="en-US"/>
              <a:t> a </a:t>
            </a:r>
            <a:r>
              <a:rPr b="1" lang="en-US">
                <a:solidFill>
                  <a:srgbClr val="FFC000"/>
                </a:solidFill>
              </a:rPr>
              <a:t>&lt;operator&gt;</a:t>
            </a:r>
            <a:r>
              <a:rPr lang="en-US"/>
              <a:t> b;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&lt;operator&gt;: arithmetic, bitwise.</a:t>
            </a:r>
            <a:endParaRPr/>
          </a:p>
          <a:p>
            <a:pPr indent="-179069" lvl="1" marL="9144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288" name="Google Shape;288;p1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9" name="Google Shape;289;p1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sp>
        <p:nvSpPr>
          <p:cNvPr id="290" name="Google Shape;290;p18"/>
          <p:cNvSpPr/>
          <p:nvPr/>
        </p:nvSpPr>
        <p:spPr>
          <a:xfrm>
            <a:off x="5334000" y="1981200"/>
            <a:ext cx="388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short  a = 5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6;	// 0101 and 0110</a:t>
            </a:r>
            <a:endParaRPr b="1" i="0" sz="1800" u="none" cap="none" strike="noStrik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short  b = 5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6;	// 0101 or    0110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short  c = 10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1;// 1010 &gt;&gt; 1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5334000" y="3352800"/>
            <a:ext cx="32004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  a = 5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++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;	// Wrong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  b = 5;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  c =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++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 * 4;	// c = 24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  c = b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++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* 4;	// c = 20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8"/>
          <p:cNvSpPr/>
          <p:nvPr/>
        </p:nvSpPr>
        <p:spPr>
          <a:xfrm>
            <a:off x="5334000" y="4953000"/>
            <a:ext cx="3200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  a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5;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  b, c;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b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a;   // b = a, c = b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*=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b + c; // a = a * (b + c)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C/C++ basic</a:t>
            </a:r>
            <a:endParaRPr/>
          </a:p>
        </p:txBody>
      </p:sp>
      <p:sp>
        <p:nvSpPr>
          <p:cNvPr id="298" name="Google Shape;298;p1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Expression:</a:t>
            </a:r>
            <a:endParaRPr/>
          </a:p>
        </p:txBody>
      </p:sp>
      <p:sp>
        <p:nvSpPr>
          <p:cNvPr id="299" name="Google Shape;299;p1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" name="Google Shape;300;p1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graphicFrame>
        <p:nvGraphicFramePr>
          <p:cNvPr id="301" name="Google Shape;301;p19"/>
          <p:cNvGraphicFramePr/>
          <p:nvPr/>
        </p:nvGraphicFramePr>
        <p:xfrm>
          <a:off x="381000" y="1752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{6677D932-ACE4-4834-8C48-04B20BC9DB5E}</a:tableStyleId>
              </a:tblPr>
              <a:tblGrid>
                <a:gridCol w="786625"/>
                <a:gridCol w="2285925"/>
                <a:gridCol w="1575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Prior.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Operators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Unary arithmetic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++, --, +,</a:t>
                      </a:r>
                      <a:r>
                        <a:rPr lang="en-US" sz="1800"/>
                        <a:t> -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Unary logic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!, ~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Binary arithmetic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*, /, %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Binary arithmetic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+, -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Binary bitwise</a:t>
                      </a:r>
                      <a:r>
                        <a:rPr lang="en-US" sz="1800"/>
                        <a:t> shift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&lt;&lt;,</a:t>
                      </a:r>
                      <a:r>
                        <a:rPr lang="en-US" sz="1800"/>
                        <a:t> &gt;&gt;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Binary</a:t>
                      </a:r>
                      <a:r>
                        <a:rPr lang="en-US" sz="1800"/>
                        <a:t> comparisons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&gt;, &lt;, ==, !=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Binary bitwise logic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&amp;, ^, |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Binary logic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&amp;&amp;,</a:t>
                      </a:r>
                      <a:r>
                        <a:rPr lang="en-US" sz="1800"/>
                        <a:t> ||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Ternary condition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? :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Assignments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=, +=, -=,</a:t>
                      </a:r>
                      <a:r>
                        <a:rPr lang="en-US" sz="1800"/>
                        <a:t> …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02" name="Google Shape;302;p19"/>
          <p:cNvSpPr/>
          <p:nvPr/>
        </p:nvSpPr>
        <p:spPr>
          <a:xfrm>
            <a:off x="5105400" y="1676400"/>
            <a:ext cx="39624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int main()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int  a = 1;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int  b = 2;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int  c = 3;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int  d = c++ + - a * ++b;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int  e = a + b * c &gt;= c + d * a;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int  f = a - 1 &amp;&amp; b + 2 != c &gt;&gt; 1;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800" u="none" cap="none" strike="noStrik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0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308" name="Google Shape;308;p20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C/C++ overview.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C/C++ basic.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●"/>
            </a:pPr>
            <a:r>
              <a:rPr b="1" lang="en-US">
                <a:solidFill>
                  <a:srgbClr val="FFC000"/>
                </a:solidFill>
              </a:rPr>
              <a:t>IO stream.</a:t>
            </a:r>
            <a:endParaRPr b="1">
              <a:solidFill>
                <a:srgbClr val="FFC000"/>
              </a:solidFill>
            </a:endParaRPr>
          </a:p>
        </p:txBody>
      </p:sp>
      <p:sp>
        <p:nvSpPr>
          <p:cNvPr id="309" name="Google Shape;309;p20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0" name="Google Shape;310;p20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1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 stream</a:t>
            </a:r>
            <a:endParaRPr/>
          </a:p>
        </p:txBody>
      </p:sp>
      <p:sp>
        <p:nvSpPr>
          <p:cNvPr id="316" name="Google Shape;316;p21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IO device and stream: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Input 🡪 Program 🡪 Output.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IO device: hardware communicating with program.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Input devices: keyboard, mouse, file, …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Output devices: screen, printer, file, …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Stream: connection between program and devices.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Input stream: connect to input device to read data.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Output stream: connect to output device to write result.</a:t>
            </a:r>
            <a:endParaRPr/>
          </a:p>
        </p:txBody>
      </p:sp>
      <p:sp>
        <p:nvSpPr>
          <p:cNvPr id="317" name="Google Shape;317;p2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8" name="Google Shape;318;p2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sp>
        <p:nvSpPr>
          <p:cNvPr id="319" name="Google Shape;319;p21"/>
          <p:cNvSpPr/>
          <p:nvPr/>
        </p:nvSpPr>
        <p:spPr>
          <a:xfrm>
            <a:off x="1828800" y="4865132"/>
            <a:ext cx="1828800" cy="7620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Program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5410200" y="4865132"/>
            <a:ext cx="1828800" cy="7620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Devices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p21"/>
          <p:cNvCxnSpPr/>
          <p:nvPr/>
        </p:nvCxnSpPr>
        <p:spPr>
          <a:xfrm rot="10800000">
            <a:off x="3733800" y="5093732"/>
            <a:ext cx="1524000" cy="0"/>
          </a:xfrm>
          <a:prstGeom prst="straightConnector1">
            <a:avLst/>
          </a:prstGeom>
          <a:noFill/>
          <a:ln cap="flat" cmpd="sng" w="114300">
            <a:solidFill>
              <a:srgbClr val="33CC33"/>
            </a:solidFill>
            <a:prstDash val="solid"/>
            <a:bevel/>
            <a:headEnd len="sm" w="sm" type="none"/>
            <a:tailEnd len="sm" w="sm" type="triangl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322" name="Google Shape;322;p21"/>
          <p:cNvCxnSpPr/>
          <p:nvPr/>
        </p:nvCxnSpPr>
        <p:spPr>
          <a:xfrm>
            <a:off x="3810000" y="5474732"/>
            <a:ext cx="1524000" cy="0"/>
          </a:xfrm>
          <a:prstGeom prst="straightConnector1">
            <a:avLst/>
          </a:prstGeom>
          <a:noFill/>
          <a:ln cap="flat" cmpd="sng" w="114300">
            <a:solidFill>
              <a:srgbClr val="33CC33"/>
            </a:solidFill>
            <a:prstDash val="solid"/>
            <a:bevel/>
            <a:headEnd len="sm" w="sm" type="none"/>
            <a:tailEnd len="sm" w="sm" type="triangl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323" name="Google Shape;323;p21"/>
          <p:cNvSpPr/>
          <p:nvPr/>
        </p:nvSpPr>
        <p:spPr>
          <a:xfrm>
            <a:off x="3886200" y="4648200"/>
            <a:ext cx="1676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Input stream</a:t>
            </a:r>
            <a:endParaRPr/>
          </a:p>
        </p:txBody>
      </p:sp>
      <p:sp>
        <p:nvSpPr>
          <p:cNvPr id="324" name="Google Shape;324;p21"/>
          <p:cNvSpPr/>
          <p:nvPr/>
        </p:nvSpPr>
        <p:spPr>
          <a:xfrm>
            <a:off x="3886200" y="5562600"/>
            <a:ext cx="1676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Output stream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 stream</a:t>
            </a:r>
            <a:endParaRPr/>
          </a:p>
        </p:txBody>
      </p:sp>
      <p:sp>
        <p:nvSpPr>
          <p:cNvPr id="330" name="Google Shape;330;p2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Standard stream: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Pre-defined stream in computer program.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C: stdin, stdout, stderr (&lt;stdio.h&gt;).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C++: std::cin, std::cout, std::cerr (&lt;iostream&gt;).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Can be used by default or redirected to other devices.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Redirect program standard stream: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US"/>
              <a:t>	</a:t>
            </a:r>
            <a:r>
              <a:rPr lang="en-US" sz="1800"/>
              <a:t>program.exe </a:t>
            </a:r>
            <a:r>
              <a:rPr b="1" lang="en-US" sz="1800">
                <a:solidFill>
                  <a:srgbClr val="FFC000"/>
                </a:solidFill>
              </a:rPr>
              <a:t>&lt;</a:t>
            </a:r>
            <a:r>
              <a:rPr lang="en-US" sz="1800"/>
              <a:t> input.txt </a:t>
            </a:r>
            <a:r>
              <a:rPr b="1" lang="en-US" sz="1800">
                <a:solidFill>
                  <a:srgbClr val="FFC000"/>
                </a:solidFill>
              </a:rPr>
              <a:t>&gt;</a:t>
            </a:r>
            <a:r>
              <a:rPr lang="en-US" sz="1800"/>
              <a:t> output.txt</a:t>
            </a:r>
            <a:endParaRPr/>
          </a:p>
          <a:p>
            <a:pPr indent="-179069" lvl="1" marL="9144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331" name="Google Shape;331;p2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2" name="Google Shape;332;p2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pic>
        <p:nvPicPr>
          <p:cNvPr descr="File:Stdstreams-notitle.svg" id="333" name="Google Shape;33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4419600"/>
            <a:ext cx="3106879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 stream</a:t>
            </a:r>
            <a:endParaRPr/>
          </a:p>
        </p:txBody>
      </p:sp>
      <p:sp>
        <p:nvSpPr>
          <p:cNvPr id="339" name="Google Shape;339;p2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Read/write stream in C: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Syntax: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Read: </a:t>
            </a:r>
            <a:r>
              <a:rPr b="1" lang="en-US">
                <a:solidFill>
                  <a:srgbClr val="FFC000"/>
                </a:solidFill>
              </a:rPr>
              <a:t>scanf</a:t>
            </a:r>
            <a:r>
              <a:rPr lang="en-US"/>
              <a:t>(“&lt;Format&gt;”[, &amp;var1, &amp;var2, …]);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Write: </a:t>
            </a:r>
            <a:r>
              <a:rPr b="1" lang="en-US">
                <a:solidFill>
                  <a:srgbClr val="FFC000"/>
                </a:solidFill>
              </a:rPr>
              <a:t>printf</a:t>
            </a:r>
            <a:r>
              <a:rPr lang="en-US"/>
              <a:t>(“&lt;Format&gt;”[, var1, var2, …]);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Read/write format can be: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Text to read or write.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Control characters: \n, \t, \\, \”, …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Type format of variables:</a:t>
            </a:r>
            <a:endParaRPr/>
          </a:p>
          <a:p>
            <a:pPr indent="-179069" lvl="1" marL="9144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340" name="Google Shape;340;p2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" name="Google Shape;341;p2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graphicFrame>
        <p:nvGraphicFramePr>
          <p:cNvPr id="342" name="Google Shape;342;p23"/>
          <p:cNvGraphicFramePr/>
          <p:nvPr/>
        </p:nvGraphicFramePr>
        <p:xfrm>
          <a:off x="762000" y="4470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{6677D932-ACE4-4834-8C48-04B20BC9DB5E}</a:tableStyleId>
              </a:tblPr>
              <a:tblGrid>
                <a:gridCol w="2209800"/>
                <a:gridCol w="5257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Type format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Descriptions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0000"/>
                          </a:solidFill>
                        </a:rPr>
                        <a:t>%</a:t>
                      </a:r>
                      <a:r>
                        <a:rPr lang="en-US" sz="1800"/>
                        <a:t>d,</a:t>
                      </a:r>
                      <a:r>
                        <a:rPr lang="en-US" sz="1800"/>
                        <a:t> </a:t>
                      </a:r>
                      <a:r>
                        <a:rPr b="1" lang="en-US" sz="1800">
                          <a:solidFill>
                            <a:srgbClr val="FF0000"/>
                          </a:solidFill>
                        </a:rPr>
                        <a:t>%</a:t>
                      </a:r>
                      <a:r>
                        <a:rPr lang="en-US" sz="1800"/>
                        <a:t>lld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Integers</a:t>
                      </a:r>
                      <a:r>
                        <a:rPr lang="en-US" sz="1800"/>
                        <a:t>: short/int/long, long long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0000"/>
                          </a:solidFill>
                        </a:rPr>
                        <a:t>%</a:t>
                      </a:r>
                      <a:r>
                        <a:rPr lang="en-US" sz="1800"/>
                        <a:t>f,</a:t>
                      </a:r>
                      <a:r>
                        <a:rPr lang="en-US" sz="1800"/>
                        <a:t> </a:t>
                      </a:r>
                      <a:r>
                        <a:rPr b="1" lang="en-US" sz="1800">
                          <a:solidFill>
                            <a:srgbClr val="FF0000"/>
                          </a:solidFill>
                        </a:rPr>
                        <a:t>%</a:t>
                      </a:r>
                      <a:r>
                        <a:rPr lang="en-US" sz="1800"/>
                        <a:t>Lf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Floats</a:t>
                      </a:r>
                      <a:r>
                        <a:rPr lang="en-US" sz="1800"/>
                        <a:t>: float/double, long double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0000"/>
                          </a:solidFill>
                        </a:rPr>
                        <a:t>%</a:t>
                      </a:r>
                      <a:r>
                        <a:rPr lang="en-US" sz="1800"/>
                        <a:t>c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Character</a:t>
                      </a:r>
                      <a:r>
                        <a:rPr lang="en-US" sz="1800"/>
                        <a:t>: char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0000"/>
                          </a:solidFill>
                        </a:rPr>
                        <a:t>%</a:t>
                      </a:r>
                      <a:r>
                        <a:rPr lang="en-US" sz="1800"/>
                        <a:t>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String</a:t>
                      </a:r>
                      <a:r>
                        <a:rPr lang="en-US" sz="1800"/>
                        <a:t>: char [ ], char *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 stream</a:t>
            </a:r>
            <a:endParaRPr/>
          </a:p>
        </p:txBody>
      </p:sp>
      <p:sp>
        <p:nvSpPr>
          <p:cNvPr id="348" name="Google Shape;348;p2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Read/write stream in C: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b="1" lang="en-US" sz="1800">
                <a:solidFill>
                  <a:srgbClr val="FFC000"/>
                </a:solidFill>
              </a:rPr>
              <a:t>	#include</a:t>
            </a:r>
            <a:r>
              <a:rPr lang="en-US" sz="1800"/>
              <a:t> &lt;stdio.h&gt;</a:t>
            </a:r>
            <a:br>
              <a:rPr lang="en-US" sz="1800"/>
            </a:br>
            <a:br>
              <a:rPr lang="en-US" sz="1800"/>
            </a:br>
            <a:r>
              <a:rPr lang="en-US" sz="1800"/>
              <a:t>int </a:t>
            </a:r>
            <a:r>
              <a:rPr b="1" lang="en-US" sz="1800">
                <a:solidFill>
                  <a:srgbClr val="FFC000"/>
                </a:solidFill>
              </a:rPr>
              <a:t>main</a:t>
            </a:r>
            <a:r>
              <a:rPr lang="en-US" sz="1800"/>
              <a:t>()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	char  name[30];</a:t>
            </a:r>
            <a:br>
              <a:rPr lang="en-US" sz="1800"/>
            </a:br>
            <a:r>
              <a:rPr lang="en-US" sz="1800"/>
              <a:t>	float  literature, math;</a:t>
            </a:r>
            <a:br>
              <a:rPr lang="en-US" sz="1800"/>
            </a:br>
            <a:br>
              <a:rPr lang="en-US" sz="1800"/>
            </a:br>
            <a:r>
              <a:rPr lang="en-US" sz="1800"/>
              <a:t>	</a:t>
            </a:r>
            <a:r>
              <a:rPr b="1" lang="en-US" sz="1800">
                <a:solidFill>
                  <a:srgbClr val="FFC000"/>
                </a:solidFill>
              </a:rPr>
              <a:t>printf</a:t>
            </a:r>
            <a:r>
              <a:rPr lang="en-US" sz="1800"/>
              <a:t>(“Enter name = “);	</a:t>
            </a:r>
            <a:br>
              <a:rPr lang="en-US" sz="1800"/>
            </a:br>
            <a:r>
              <a:rPr lang="en-US" sz="1800"/>
              <a:t>	</a:t>
            </a:r>
            <a:r>
              <a:rPr b="1" lang="en-US" sz="1800">
                <a:solidFill>
                  <a:srgbClr val="FFC000"/>
                </a:solidFill>
              </a:rPr>
              <a:t>scanf</a:t>
            </a:r>
            <a:r>
              <a:rPr lang="en-US" sz="1800"/>
              <a:t>(“</a:t>
            </a:r>
            <a:r>
              <a:rPr b="1" lang="en-US" sz="1800">
                <a:solidFill>
                  <a:srgbClr val="FFC000"/>
                </a:solidFill>
              </a:rPr>
              <a:t>%s</a:t>
            </a:r>
            <a:r>
              <a:rPr lang="en-US" sz="1800"/>
              <a:t>”, &amp;name);			      // Read string.</a:t>
            </a:r>
            <a:br>
              <a:rPr lang="en-US" sz="1800"/>
            </a:br>
            <a:r>
              <a:rPr b="1" lang="en-US" sz="1800">
                <a:solidFill>
                  <a:srgbClr val="FFC000"/>
                </a:solidFill>
              </a:rPr>
              <a:t> 	printf</a:t>
            </a:r>
            <a:r>
              <a:rPr lang="en-US" sz="1800"/>
              <a:t>(“Enter literature, math = “);	</a:t>
            </a:r>
            <a:br>
              <a:rPr lang="en-US" sz="1800"/>
            </a:br>
            <a:r>
              <a:rPr lang="en-US" sz="1800"/>
              <a:t>	</a:t>
            </a:r>
            <a:r>
              <a:rPr b="1" lang="en-US" sz="1800">
                <a:solidFill>
                  <a:srgbClr val="FFC000"/>
                </a:solidFill>
              </a:rPr>
              <a:t>scanf</a:t>
            </a:r>
            <a:r>
              <a:rPr lang="en-US" sz="1800"/>
              <a:t>(“</a:t>
            </a:r>
            <a:r>
              <a:rPr b="1" lang="en-US" sz="1800">
                <a:solidFill>
                  <a:srgbClr val="FFC000"/>
                </a:solidFill>
              </a:rPr>
              <a:t>%f %f</a:t>
            </a:r>
            <a:r>
              <a:rPr lang="en-US" sz="1800"/>
              <a:t>”, &amp;literature, &amp;math);		      // Read 2 floats.</a:t>
            </a:r>
            <a:br>
              <a:rPr lang="en-US" sz="1800"/>
            </a:br>
            <a:br>
              <a:rPr lang="en-US" sz="1800"/>
            </a:br>
            <a:r>
              <a:rPr lang="en-US" sz="1800"/>
              <a:t>	</a:t>
            </a:r>
            <a:r>
              <a:rPr b="1" lang="en-US" sz="1800">
                <a:solidFill>
                  <a:srgbClr val="FFC000"/>
                </a:solidFill>
              </a:rPr>
              <a:t>printf</a:t>
            </a:r>
            <a:r>
              <a:rPr lang="en-US" sz="1800"/>
              <a:t>(“Hello </a:t>
            </a:r>
            <a:r>
              <a:rPr b="1" lang="en-US" sz="1800">
                <a:solidFill>
                  <a:srgbClr val="FFC000"/>
                </a:solidFill>
              </a:rPr>
              <a:t>%s</a:t>
            </a:r>
            <a:r>
              <a:rPr lang="en-US" sz="1800"/>
              <a:t>.</a:t>
            </a:r>
            <a:r>
              <a:rPr b="1" lang="en-US" sz="1800">
                <a:solidFill>
                  <a:srgbClr val="FFC000"/>
                </a:solidFill>
              </a:rPr>
              <a:t>\n</a:t>
            </a:r>
            <a:r>
              <a:rPr lang="en-US" sz="1800"/>
              <a:t>”, name);		      // Write string.</a:t>
            </a:r>
            <a:br>
              <a:rPr lang="en-US" sz="1800"/>
            </a:br>
            <a:r>
              <a:rPr b="1" lang="en-US" sz="1800">
                <a:solidFill>
                  <a:srgbClr val="FFC000"/>
                </a:solidFill>
              </a:rPr>
              <a:t> 	printf</a:t>
            </a:r>
            <a:r>
              <a:rPr lang="en-US" sz="1800"/>
              <a:t>(“Your GPA is </a:t>
            </a:r>
            <a:r>
              <a:rPr b="1" lang="en-US" sz="1800">
                <a:solidFill>
                  <a:srgbClr val="FFC000"/>
                </a:solidFill>
              </a:rPr>
              <a:t>%f</a:t>
            </a:r>
            <a:r>
              <a:rPr lang="en-US" sz="1800"/>
              <a:t>.”, (literature + math) / 2); // Write float.</a:t>
            </a:r>
            <a:br>
              <a:rPr lang="en-US" sz="1800"/>
            </a:br>
            <a:r>
              <a:rPr lang="en-US" sz="1800"/>
              <a:t>}</a:t>
            </a:r>
            <a:endParaRPr sz="1800"/>
          </a:p>
        </p:txBody>
      </p:sp>
      <p:sp>
        <p:nvSpPr>
          <p:cNvPr id="349" name="Google Shape;349;p2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0" name="Google Shape;350;p2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 stream</a:t>
            </a:r>
            <a:endParaRPr/>
          </a:p>
        </p:txBody>
      </p:sp>
      <p:sp>
        <p:nvSpPr>
          <p:cNvPr id="356" name="Google Shape;356;p2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Read/write stream in C++: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Syntax: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Read: </a:t>
            </a:r>
            <a:r>
              <a:rPr b="1" lang="en-US">
                <a:solidFill>
                  <a:srgbClr val="FFC000"/>
                </a:solidFill>
              </a:rPr>
              <a:t>std::cin &gt;&gt;</a:t>
            </a:r>
            <a:r>
              <a:rPr lang="en-US"/>
              <a:t> var1 [</a:t>
            </a:r>
            <a:r>
              <a:rPr b="1" lang="en-US">
                <a:solidFill>
                  <a:srgbClr val="FFC000"/>
                </a:solidFill>
              </a:rPr>
              <a:t>&gt;&gt;</a:t>
            </a:r>
            <a:r>
              <a:rPr lang="en-US"/>
              <a:t> var2 …];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Write: </a:t>
            </a:r>
            <a:r>
              <a:rPr b="1" lang="en-US">
                <a:solidFill>
                  <a:srgbClr val="FFC000"/>
                </a:solidFill>
              </a:rPr>
              <a:t>std::cout &lt;&lt;</a:t>
            </a:r>
            <a:r>
              <a:rPr lang="en-US"/>
              <a:t> &lt;format&gt; [</a:t>
            </a:r>
            <a:r>
              <a:rPr b="1" lang="en-US">
                <a:solidFill>
                  <a:srgbClr val="FFC000"/>
                </a:solidFill>
              </a:rPr>
              <a:t>&lt;&lt;</a:t>
            </a:r>
            <a:r>
              <a:rPr lang="en-US"/>
              <a:t> &lt;format&gt; …];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Write format can be: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Text or variable to write.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Control characters: \n, \t, \\, \”, …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Type format is not needed!</a:t>
            </a:r>
            <a:endParaRPr/>
          </a:p>
          <a:p>
            <a:pPr indent="-179069" lvl="1" marL="9144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357" name="Google Shape;357;p2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8" name="Google Shape;358;p2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6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 stream</a:t>
            </a:r>
            <a:endParaRPr/>
          </a:p>
        </p:txBody>
      </p:sp>
      <p:sp>
        <p:nvSpPr>
          <p:cNvPr id="364" name="Google Shape;364;p26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Read/write stream in C++: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</a:t>
            </a:r>
            <a:r>
              <a:rPr b="1" lang="en-US" sz="1800">
                <a:solidFill>
                  <a:srgbClr val="FFC000"/>
                </a:solidFill>
              </a:rPr>
              <a:t>#include</a:t>
            </a:r>
            <a:r>
              <a:rPr lang="en-US" sz="1800"/>
              <a:t> &lt;iostream&gt;</a:t>
            </a:r>
            <a:br>
              <a:rPr lang="en-US" sz="1800"/>
            </a:br>
            <a:br>
              <a:rPr lang="en-US" sz="1800"/>
            </a:br>
            <a:r>
              <a:rPr lang="en-US" sz="1800"/>
              <a:t>int </a:t>
            </a:r>
            <a:r>
              <a:rPr b="1" lang="en-US" sz="1800">
                <a:solidFill>
                  <a:srgbClr val="FFC000"/>
                </a:solidFill>
              </a:rPr>
              <a:t>main</a:t>
            </a:r>
            <a:r>
              <a:rPr lang="en-US" sz="1800"/>
              <a:t>()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	char  name[30];</a:t>
            </a:r>
            <a:br>
              <a:rPr lang="en-US" sz="1800"/>
            </a:br>
            <a:r>
              <a:rPr lang="en-US" sz="1800"/>
              <a:t>	float  literature, math;</a:t>
            </a:r>
            <a:br>
              <a:rPr lang="en-US" sz="1800"/>
            </a:br>
            <a:br>
              <a:rPr lang="en-US" sz="1800"/>
            </a:br>
            <a:r>
              <a:rPr lang="en-US" sz="1800"/>
              <a:t>	</a:t>
            </a:r>
            <a:r>
              <a:rPr b="1" lang="en-US" sz="1800">
                <a:solidFill>
                  <a:srgbClr val="FFC000"/>
                </a:solidFill>
              </a:rPr>
              <a:t>std::cout &lt;&lt; </a:t>
            </a:r>
            <a:r>
              <a:rPr lang="en-US" sz="1800"/>
              <a:t>“Enter name = “;	</a:t>
            </a:r>
            <a:br>
              <a:rPr lang="en-US" sz="1800"/>
            </a:br>
            <a:r>
              <a:rPr lang="en-US" sz="1800"/>
              <a:t>	</a:t>
            </a:r>
            <a:r>
              <a:rPr b="1" lang="en-US" sz="1800">
                <a:solidFill>
                  <a:srgbClr val="FFC000"/>
                </a:solidFill>
              </a:rPr>
              <a:t>std::cin &gt;&gt; </a:t>
            </a:r>
            <a:r>
              <a:rPr lang="en-US" sz="1800"/>
              <a:t>name;			           	// Read string.</a:t>
            </a:r>
            <a:br>
              <a:rPr lang="en-US" sz="1800"/>
            </a:br>
            <a:r>
              <a:rPr b="1" lang="en-US" sz="1800">
                <a:solidFill>
                  <a:srgbClr val="FFC000"/>
                </a:solidFill>
              </a:rPr>
              <a:t> 	std::cout &lt;&lt; </a:t>
            </a:r>
            <a:r>
              <a:rPr lang="en-US" sz="1800"/>
              <a:t>“Enter literature, math = “;	</a:t>
            </a:r>
            <a:br>
              <a:rPr lang="en-US" sz="1800"/>
            </a:br>
            <a:r>
              <a:rPr lang="en-US" sz="1800"/>
              <a:t>	</a:t>
            </a:r>
            <a:r>
              <a:rPr b="1" lang="en-US" sz="1800">
                <a:solidFill>
                  <a:srgbClr val="FFC000"/>
                </a:solidFill>
              </a:rPr>
              <a:t>std::cin &gt;&gt; </a:t>
            </a:r>
            <a:r>
              <a:rPr lang="en-US" sz="1800"/>
              <a:t>literature </a:t>
            </a:r>
            <a:r>
              <a:rPr b="1" lang="en-US" sz="1800">
                <a:solidFill>
                  <a:srgbClr val="FFC000"/>
                </a:solidFill>
              </a:rPr>
              <a:t>&gt;&gt;</a:t>
            </a:r>
            <a:r>
              <a:rPr lang="en-US" sz="1800"/>
              <a:t> math;		           	// Read 2 floats.</a:t>
            </a:r>
            <a:br>
              <a:rPr lang="en-US" sz="1800"/>
            </a:br>
            <a:br>
              <a:rPr lang="en-US" sz="1800"/>
            </a:br>
            <a:r>
              <a:rPr lang="en-US" sz="1800"/>
              <a:t>	</a:t>
            </a:r>
            <a:r>
              <a:rPr b="1" lang="en-US" sz="1800">
                <a:solidFill>
                  <a:srgbClr val="FFC000"/>
                </a:solidFill>
              </a:rPr>
              <a:t>std::cout &lt;&lt; </a:t>
            </a:r>
            <a:r>
              <a:rPr lang="en-US" sz="1800"/>
              <a:t>“Hello “ </a:t>
            </a:r>
            <a:r>
              <a:rPr b="1" lang="en-US" sz="1800">
                <a:solidFill>
                  <a:srgbClr val="FFC000"/>
                </a:solidFill>
              </a:rPr>
              <a:t>&lt;&lt;</a:t>
            </a:r>
            <a:r>
              <a:rPr lang="en-US" sz="1800"/>
              <a:t> name </a:t>
            </a:r>
            <a:r>
              <a:rPr b="1" lang="en-US" sz="1800">
                <a:solidFill>
                  <a:srgbClr val="FFC000"/>
                </a:solidFill>
              </a:rPr>
              <a:t>&lt;&lt;</a:t>
            </a:r>
            <a:r>
              <a:rPr lang="en-US" sz="1800"/>
              <a:t> “.</a:t>
            </a:r>
            <a:r>
              <a:rPr b="1" lang="en-US" sz="1800">
                <a:solidFill>
                  <a:srgbClr val="FFC000"/>
                </a:solidFill>
              </a:rPr>
              <a:t>\n</a:t>
            </a:r>
            <a:r>
              <a:rPr lang="en-US" sz="1800"/>
              <a:t>”;	           	// Write string.</a:t>
            </a:r>
            <a:br>
              <a:rPr lang="en-US" sz="1800"/>
            </a:br>
            <a:r>
              <a:rPr b="1" lang="en-US" sz="1800">
                <a:solidFill>
                  <a:srgbClr val="FFC000"/>
                </a:solidFill>
              </a:rPr>
              <a:t> 	std::cout &lt;&lt; </a:t>
            </a:r>
            <a:r>
              <a:rPr lang="en-US" sz="1800"/>
              <a:t>“Your GPA is ” </a:t>
            </a:r>
            <a:r>
              <a:rPr b="1" lang="en-US" sz="1800">
                <a:solidFill>
                  <a:srgbClr val="FFC000"/>
                </a:solidFill>
              </a:rPr>
              <a:t>&lt;&lt;</a:t>
            </a:r>
            <a:r>
              <a:rPr lang="en-US" sz="1800"/>
              <a:t> (literature + math) / 2; // Write float.</a:t>
            </a:r>
            <a:br>
              <a:rPr lang="en-US" sz="1800"/>
            </a:br>
            <a:r>
              <a:rPr lang="en-US" sz="1800"/>
              <a:t>}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/>
          </a:p>
        </p:txBody>
      </p:sp>
      <p:sp>
        <p:nvSpPr>
          <p:cNvPr id="365" name="Google Shape;365;p2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6" name="Google Shape;366;p2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 stream</a:t>
            </a:r>
            <a:endParaRPr/>
          </a:p>
        </p:txBody>
      </p:sp>
      <p:sp>
        <p:nvSpPr>
          <p:cNvPr id="372" name="Google Shape;372;p2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Read/write format: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C syntax: % </a:t>
            </a:r>
            <a:r>
              <a:rPr b="1" lang="en-US">
                <a:solidFill>
                  <a:srgbClr val="FFC000"/>
                </a:solidFill>
              </a:rPr>
              <a:t>[ - ] [ n ] . [ k ]</a:t>
            </a:r>
            <a:r>
              <a:rPr lang="en-US"/>
              <a:t> [ type format ]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-: left alignment, n: write width, k: float precision. </a:t>
            </a:r>
            <a:endParaRPr/>
          </a:p>
          <a:p>
            <a:pPr indent="-228600" lvl="2" marL="13716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int     a = 123;</a:t>
            </a:r>
            <a:br>
              <a:rPr lang="en-US" sz="1800"/>
            </a:br>
            <a:r>
              <a:rPr lang="en-US" sz="1800"/>
              <a:t>float  x = 1.2345;</a:t>
            </a:r>
            <a:br>
              <a:rPr lang="en-US" sz="1800"/>
            </a:br>
            <a:r>
              <a:rPr lang="en-US" sz="1800"/>
              <a:t>printf(“a = </a:t>
            </a:r>
            <a:r>
              <a:rPr b="1" lang="en-US" sz="1800">
                <a:solidFill>
                  <a:srgbClr val="FFC000"/>
                </a:solidFill>
              </a:rPr>
              <a:t>%5d</a:t>
            </a:r>
            <a:r>
              <a:rPr lang="en-US" sz="1800"/>
              <a:t>”, a);	// Write a = </a:t>
            </a:r>
            <a:br>
              <a:rPr lang="en-US" sz="1800"/>
            </a:br>
            <a:r>
              <a:rPr lang="en-US" sz="1800"/>
              <a:t>printf(“a = </a:t>
            </a:r>
            <a:r>
              <a:rPr b="1" lang="en-US" sz="1800">
                <a:solidFill>
                  <a:srgbClr val="FFC000"/>
                </a:solidFill>
              </a:rPr>
              <a:t>%-5d</a:t>
            </a:r>
            <a:r>
              <a:rPr lang="en-US" sz="1800"/>
              <a:t>”, a);	// Write a =</a:t>
            </a:r>
            <a:br>
              <a:rPr lang="en-US" sz="1800"/>
            </a:br>
            <a:r>
              <a:rPr lang="en-US" sz="1800"/>
              <a:t>printf(“x = </a:t>
            </a:r>
            <a:r>
              <a:rPr b="1" lang="en-US" sz="1800">
                <a:solidFill>
                  <a:srgbClr val="FFC000"/>
                </a:solidFill>
              </a:rPr>
              <a:t>%7.3f</a:t>
            </a:r>
            <a:r>
              <a:rPr lang="en-US" sz="1800"/>
              <a:t>”, x); 	// Write x =</a:t>
            </a:r>
            <a:br>
              <a:rPr lang="en-US" sz="1800"/>
            </a:br>
            <a:r>
              <a:rPr lang="en-US" sz="1800"/>
              <a:t>printf(“x = </a:t>
            </a:r>
            <a:r>
              <a:rPr b="1" lang="en-US" sz="1800">
                <a:solidFill>
                  <a:srgbClr val="FFC000"/>
                </a:solidFill>
              </a:rPr>
              <a:t>%-7.3f</a:t>
            </a:r>
            <a:r>
              <a:rPr lang="en-US" sz="1800"/>
              <a:t>”, x);	// Write x =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C++ syntax: library &lt;iomanip&gt;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Alignment: </a:t>
            </a:r>
            <a:r>
              <a:rPr b="1" lang="en-US">
                <a:solidFill>
                  <a:srgbClr val="FFC000"/>
                </a:solidFill>
              </a:rPr>
              <a:t>std::left</a:t>
            </a:r>
            <a:r>
              <a:rPr lang="en-US"/>
              <a:t>, </a:t>
            </a:r>
            <a:r>
              <a:rPr b="1" lang="en-US">
                <a:solidFill>
                  <a:srgbClr val="FFC000"/>
                </a:solidFill>
              </a:rPr>
              <a:t>std::right</a:t>
            </a:r>
            <a:r>
              <a:rPr lang="en-US"/>
              <a:t>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Write width: </a:t>
            </a:r>
            <a:r>
              <a:rPr b="1" lang="en-US">
                <a:solidFill>
                  <a:srgbClr val="FFC000"/>
                </a:solidFill>
              </a:rPr>
              <a:t>std::setw( n )</a:t>
            </a:r>
            <a:r>
              <a:rPr lang="en-US"/>
              <a:t>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Float precision: </a:t>
            </a:r>
            <a:r>
              <a:rPr b="1" lang="en-US">
                <a:solidFill>
                  <a:srgbClr val="FFC000"/>
                </a:solidFill>
              </a:rPr>
              <a:t>std::setprecision( k )</a:t>
            </a:r>
            <a:r>
              <a:rPr lang="en-US"/>
              <a:t>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C++20: </a:t>
            </a:r>
            <a:r>
              <a:rPr b="1" lang="en-US">
                <a:solidFill>
                  <a:srgbClr val="FFC000"/>
                </a:solidFill>
              </a:rPr>
              <a:t>std::format</a:t>
            </a:r>
            <a:r>
              <a:rPr lang="en-US"/>
              <a:t>(&lt;format&gt;) (library &lt;format&gt;).</a:t>
            </a:r>
            <a:endParaRPr/>
          </a:p>
        </p:txBody>
      </p:sp>
      <p:sp>
        <p:nvSpPr>
          <p:cNvPr id="373" name="Google Shape;373;p2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4" name="Google Shape;374;p2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graphicFrame>
        <p:nvGraphicFramePr>
          <p:cNvPr id="375" name="Google Shape;375;p27"/>
          <p:cNvGraphicFramePr/>
          <p:nvPr/>
        </p:nvGraphicFramePr>
        <p:xfrm>
          <a:off x="5334000" y="2962072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{6677D932-ACE4-4834-8C48-04B20BC9DB5E}</a:tableStyleId>
              </a:tblPr>
              <a:tblGrid>
                <a:gridCol w="274325"/>
                <a:gridCol w="274325"/>
                <a:gridCol w="274325"/>
                <a:gridCol w="274325"/>
                <a:gridCol w="274325"/>
              </a:tblGrid>
              <a:tr h="315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 sz="16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 sz="16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 sz="16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376" name="Google Shape;376;p27"/>
          <p:cNvGraphicFramePr/>
          <p:nvPr/>
        </p:nvGraphicFramePr>
        <p:xfrm>
          <a:off x="5334001" y="3675432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{6677D932-ACE4-4834-8C48-04B20BC9DB5E}</a:tableStyleId>
              </a:tblPr>
              <a:tblGrid>
                <a:gridCol w="272150"/>
                <a:gridCol w="272150"/>
                <a:gridCol w="272150"/>
                <a:gridCol w="272150"/>
                <a:gridCol w="272150"/>
                <a:gridCol w="272150"/>
                <a:gridCol w="272150"/>
              </a:tblGrid>
              <a:tr h="277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 sz="16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.</a:t>
                      </a:r>
                      <a:endParaRPr sz="16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 sz="16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 sz="16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 sz="16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377" name="Google Shape;377;p27"/>
          <p:cNvGraphicFramePr/>
          <p:nvPr/>
        </p:nvGraphicFramePr>
        <p:xfrm>
          <a:off x="5334000" y="3312592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{6677D932-ACE4-4834-8C48-04B20BC9DB5E}</a:tableStyleId>
              </a:tblPr>
              <a:tblGrid>
                <a:gridCol w="274325"/>
                <a:gridCol w="274325"/>
                <a:gridCol w="274325"/>
                <a:gridCol w="274325"/>
                <a:gridCol w="274325"/>
              </a:tblGrid>
              <a:tr h="1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 sz="1600"/>
                    </a:p>
                  </a:txBody>
                  <a:tcPr marT="45725" marB="45725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 sz="1600"/>
                    </a:p>
                  </a:txBody>
                  <a:tcPr marT="45725" marB="45725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 sz="1600"/>
                    </a:p>
                  </a:txBody>
                  <a:tcPr marT="45725" marB="45725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0" marL="0"/>
                </a:tc>
              </a:tr>
            </a:tbl>
          </a:graphicData>
        </a:graphic>
      </p:graphicFrame>
      <p:graphicFrame>
        <p:nvGraphicFramePr>
          <p:cNvPr id="378" name="Google Shape;378;p27"/>
          <p:cNvGraphicFramePr/>
          <p:nvPr/>
        </p:nvGraphicFramePr>
        <p:xfrm>
          <a:off x="5334001" y="398996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{6677D932-ACE4-4834-8C48-04B20BC9DB5E}</a:tableStyleId>
              </a:tblPr>
              <a:tblGrid>
                <a:gridCol w="272150"/>
                <a:gridCol w="272150"/>
                <a:gridCol w="272150"/>
                <a:gridCol w="272150"/>
                <a:gridCol w="272150"/>
                <a:gridCol w="272150"/>
                <a:gridCol w="272150"/>
              </a:tblGrid>
              <a:tr h="277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 sz="16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.</a:t>
                      </a:r>
                      <a:endParaRPr sz="16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 sz="16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 sz="16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 sz="16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8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384" name="Google Shape;384;p28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C/C++ overview: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Dennis Ritchie, Brian Kernighan, Bjarne Stroustrup.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Statement: end with ;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Comment: /* */ or //.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Standard library: #include &lt;library name&gt;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C/C++ basic: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Variable/constant: named unit to store value.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Data type: size and format of stored value.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Expression: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Sequence of operators and operands.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Evaluated in number.</a:t>
            </a:r>
            <a:endParaRPr/>
          </a:p>
        </p:txBody>
      </p:sp>
      <p:sp>
        <p:nvSpPr>
          <p:cNvPr id="385" name="Google Shape;385;p2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6" name="Google Shape;386;p2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392" name="Google Shape;392;p2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IO stream: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Connection between program and devices.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Standard stream: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Pre-define stream in program.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Can be redirected.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C: stdin,stdout.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C++: std::cin, std::cout.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Read/write standard stream: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C: scanf, printf.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C++: std::cin &gt;&gt;, std::cout &lt;&lt;.</a:t>
            </a:r>
            <a:endParaRPr/>
          </a:p>
        </p:txBody>
      </p:sp>
      <p:sp>
        <p:nvSpPr>
          <p:cNvPr id="393" name="Google Shape;393;p2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4" name="Google Shape;394;p2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0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01" name="Google Shape;401;p30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Practice 2.1: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Write C/C++ program as follow cho phép: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Enter person name and birth-year.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Compute person age and print result.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Notes: enter string with spaces: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C: scanf(“%[^\n]”), fgets.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C++: std::cin.getline.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Input format: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	Name = Nguyen Van A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	Birth-year = 2005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Output format: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</a:t>
            </a:r>
            <a:r>
              <a:rPr i="1" lang="en-US" sz="2000"/>
              <a:t>Hello </a:t>
            </a:r>
            <a:r>
              <a:rPr b="1" i="1" lang="en-US" sz="2000">
                <a:solidFill>
                  <a:srgbClr val="FFC000"/>
                </a:solidFill>
              </a:rPr>
              <a:t>Nguyen Van A</a:t>
            </a:r>
            <a:r>
              <a:rPr i="1" lang="en-US" sz="2000"/>
              <a:t>, now you are </a:t>
            </a:r>
            <a:r>
              <a:rPr b="1" i="1" lang="en-US" sz="2000">
                <a:solidFill>
                  <a:srgbClr val="FFC000"/>
                </a:solidFill>
              </a:rPr>
              <a:t>19</a:t>
            </a:r>
            <a:r>
              <a:rPr i="1" lang="en-US" sz="2000"/>
              <a:t> years old.</a:t>
            </a:r>
            <a:endParaRPr/>
          </a:p>
        </p:txBody>
      </p:sp>
      <p:sp>
        <p:nvSpPr>
          <p:cNvPr id="402" name="Google Shape;402;p30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3" name="Google Shape;403;p30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1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10" name="Google Shape;410;p31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Practice 2.2: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Write C/C++ program to compute lucky number of a car as follow: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Enter car registration number (a 5-digit positive integer).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Compute and print the lucky number.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Input format: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	So xe = 17950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Output format: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	So nut = 2</a:t>
            </a:r>
            <a:endParaRPr/>
          </a:p>
        </p:txBody>
      </p:sp>
      <p:sp>
        <p:nvSpPr>
          <p:cNvPr id="411" name="Google Shape;411;p3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p3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19" name="Google Shape;419;p3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Practice 2.3: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Write C/C++ program to convert temperature degree as follow: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Enter temperature degree in Celsius.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Convert to Fahrenheit and Kelvin degrees, and print results.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Notes: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Fahrenheit = Celsius * 1.8 + 32.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Kelvin = Celsius + 273.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Input format: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	Celsius = 25.5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Output format: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	Fahrenheit = 77.9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	Kelvin = 298.5</a:t>
            </a:r>
            <a:endParaRPr/>
          </a:p>
        </p:txBody>
      </p:sp>
      <p:sp>
        <p:nvSpPr>
          <p:cNvPr id="420" name="Google Shape;420;p3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1" name="Google Shape;421;p3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28" name="Google Shape;428;p3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Practice 2.4: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Write C/C++ program to compute distance of 2 points of time in a day: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Enter 2 points of time in a day T1 and T2 (hour, minute, second).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Compute distance (seconds) and print result.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Input format: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	T1 (h m s) = 11  3  26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	T2 (h m s) = 14  25  18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Output format: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	Distance = 12112</a:t>
            </a:r>
            <a:endParaRPr/>
          </a:p>
        </p:txBody>
      </p:sp>
      <p:sp>
        <p:nvSpPr>
          <p:cNvPr id="429" name="Google Shape;429;p3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0" name="Google Shape;430;p3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36" name="Google Shape;436;p3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Practice 2.5: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Cubic equation x</a:t>
            </a:r>
            <a:r>
              <a:rPr baseline="30000" lang="en-US" sz="2000"/>
              <a:t>3</a:t>
            </a:r>
            <a:r>
              <a:rPr lang="en-US" sz="2000"/>
              <a:t> + p</a:t>
            </a:r>
            <a:r>
              <a:rPr baseline="30000" lang="en-US" sz="2000"/>
              <a:t>2</a:t>
            </a:r>
            <a:r>
              <a:rPr lang="en-US" sz="2000"/>
              <a:t>x + q = 0 has only one solution: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Write C/C++ program compute the solution of the above equation: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Enter coefficients of the equation.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Compute the solution and print result.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Input format: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	Enter p, q = 2  3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Output format: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	Solution x = -0.673593</a:t>
            </a:r>
            <a:endParaRPr/>
          </a:p>
        </p:txBody>
      </p:sp>
      <p:sp>
        <p:nvSpPr>
          <p:cNvPr id="437" name="Google Shape;437;p3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8" name="Google Shape;438;p3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sp>
        <p:nvSpPr>
          <p:cNvPr id="439" name="Google Shape;439;p3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4"/>
          <p:cNvSpPr/>
          <p:nvPr/>
        </p:nvSpPr>
        <p:spPr>
          <a:xfrm>
            <a:off x="0" y="1196975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4"/>
          <p:cNvSpPr/>
          <p:nvPr/>
        </p:nvSpPr>
        <p:spPr>
          <a:xfrm>
            <a:off x="0" y="1196975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4"/>
          <p:cNvSpPr/>
          <p:nvPr/>
        </p:nvSpPr>
        <p:spPr>
          <a:xfrm>
            <a:off x="0" y="1196975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798" y="2209800"/>
            <a:ext cx="3885219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4"/>
          <p:cNvSpPr/>
          <p:nvPr/>
        </p:nvSpPr>
        <p:spPr>
          <a:xfrm>
            <a:off x="0" y="1196975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54" name="Google Shape;454;p3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Practice 2.6: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Write C/C++ program to exchange money as follow: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Enter an amount of money.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Print to screen how to exchange the money with: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	+ The least necessary money notes.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	+ Available money notes: 1000, 5000, 10000, 20000.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Input format: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	Exchange money = 94500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Output format: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	Note 20000: 4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	Note 10000: 1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	Note  5000: 0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	Note  1000: 4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	Remain money = 500</a:t>
            </a:r>
            <a:endParaRPr/>
          </a:p>
        </p:txBody>
      </p:sp>
      <p:sp>
        <p:nvSpPr>
          <p:cNvPr id="455" name="Google Shape;455;p3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6" name="Google Shape;456;p3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2005-11-21T10:16:26Z</dcterms:created>
  <dc:creator>Nguyen Minh Huy</dc:creator>
</cp:coreProperties>
</file>