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y="6858000" cx="9144000"/>
  <p:notesSz cx="6858000" cy="9144000"/>
  <p:embeddedFontLs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41" roundtripDataSignature="AMtx7mh/RzZlJ40o6PPV+Zyp9TEkX1Hu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5F98EA-FDD5-46D3-9ACA-765D2AC2E83C}">
  <a:tblStyle styleId="{195F98EA-FDD5-46D3-9ACA-765D2AC2E83C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2.xml"/><Relationship Id="rId41" Type="http://customschemas.google.com/relationships/presentationmetadata" Target="meta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Corbel-regular.fntdata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Corbel-italic.fntdata"/><Relationship Id="rId14" Type="http://schemas.openxmlformats.org/officeDocument/2006/relationships/slide" Target="slides/slide6.xml"/><Relationship Id="rId36" Type="http://schemas.openxmlformats.org/officeDocument/2006/relationships/font" Target="fonts/Corbel-bold.fntdata"/><Relationship Id="rId17" Type="http://schemas.openxmlformats.org/officeDocument/2006/relationships/slide" Target="slides/slide9.xml"/><Relationship Id="rId39" Type="http://schemas.openxmlformats.org/officeDocument/2006/relationships/font" Target="fonts/Tahoma-regular.fntdata"/><Relationship Id="rId16" Type="http://schemas.openxmlformats.org/officeDocument/2006/relationships/slide" Target="slides/slide8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8" name="Google Shape;6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c97cbf015e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c97cbf01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2c97cbf015e_0_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c97cbf015e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g2c97cbf015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2c97cbf015e_0_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c97cbf015e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g2c97cbf015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2c97cbf015e_0_6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c97cbf015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2c97cbf015e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c97cbf015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2c97cbf015e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c97cbf015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2c97cbf015e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ctrTitle"/>
          </p:nvPr>
        </p:nvSpPr>
        <p:spPr>
          <a:xfrm>
            <a:off x="1143000" y="1115568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3505200" y="2971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04800" y="64770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b="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/>
        </p:nvSpPr>
        <p:spPr>
          <a:xfrm>
            <a:off x="8004175" y="0"/>
            <a:ext cx="1139825" cy="6858000"/>
          </a:xfrm>
          <a:prstGeom prst="rect">
            <a:avLst/>
          </a:prstGeom>
          <a:solidFill>
            <a:schemeClr val="lt2">
              <a:alpha val="3960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 txBox="1"/>
          <p:nvPr/>
        </p:nvSpPr>
        <p:spPr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058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1"/>
          <p:cNvSpPr txBox="1"/>
          <p:nvPr/>
        </p:nvSpPr>
        <p:spPr>
          <a:xfrm>
            <a:off x="0" y="2149475"/>
            <a:ext cx="9144000" cy="24987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1"/>
          <p:cNvSpPr/>
          <p:nvPr/>
        </p:nvSpPr>
        <p:spPr>
          <a:xfrm>
            <a:off x="-9525" y="2138362"/>
            <a:ext cx="8015287" cy="22717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54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1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1"/>
          <p:cNvSpPr txBox="1"/>
          <p:nvPr/>
        </p:nvSpPr>
        <p:spPr>
          <a:xfrm>
            <a:off x="1143000" y="228600"/>
            <a:ext cx="67056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Bộ môn Công nghệ phần mềm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Khoa Công nghệ thông tin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Trường Đại học Khoa học Tự nhiên</a:t>
            </a:r>
            <a:endParaRPr/>
          </a:p>
        </p:txBody>
      </p:sp>
      <p:sp>
        <p:nvSpPr>
          <p:cNvPr descr="gdd01" id="18" name="Google Shape;18;p21"/>
          <p:cNvSpPr/>
          <p:nvPr/>
        </p:nvSpPr>
        <p:spPr>
          <a:xfrm>
            <a:off x="190500" y="3162300"/>
            <a:ext cx="17526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dd04" id="19" name="Google Shape;19;p21"/>
          <p:cNvSpPr/>
          <p:nvPr/>
        </p:nvSpPr>
        <p:spPr>
          <a:xfrm>
            <a:off x="1638300" y="2324100"/>
            <a:ext cx="18288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dd03" id="20" name="Google Shape;20;p21"/>
          <p:cNvSpPr/>
          <p:nvPr/>
        </p:nvSpPr>
        <p:spPr>
          <a:xfrm>
            <a:off x="1600200" y="4038600"/>
            <a:ext cx="1828800" cy="1600200"/>
          </a:xfrm>
          <a:prstGeom prst="hexagon">
            <a:avLst>
              <a:gd fmla="val 25000" name="adj"/>
              <a:gd fmla="val 115470" name="vf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437749" dist="125080">
              <a:schemeClr val="lt2">
                <a:alpha val="31764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1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22" name="Google Shape;22;p21"/>
          <p:cNvSpPr txBox="1"/>
          <p:nvPr/>
        </p:nvSpPr>
        <p:spPr>
          <a:xfrm>
            <a:off x="3505200" y="1600200"/>
            <a:ext cx="434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ThS. Đặng Bình Phương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dbphuong@fit.hcmus.edu.vn</a:t>
            </a:r>
            <a:endParaRPr/>
          </a:p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04800" y="64770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23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35" name="Google Shape;35;p23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3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3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3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41" name="Google Shape;41;p23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42" name="Google Shape;42;p23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43" name="Google Shape;43;p23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44" name="Google Shape;44;p23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2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/>
          <p:nvPr/>
        </p:nvSpPr>
        <p:spPr>
          <a:xfrm>
            <a:off x="-9525" y="344487"/>
            <a:ext cx="8194675" cy="633412"/>
          </a:xfrm>
          <a:custGeom>
            <a:rect b="b" l="l" r="r" t="t"/>
            <a:pathLst>
              <a:path extrusionOk="0" h="1471" w="5049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25"/>
          <p:cNvGrpSpPr/>
          <p:nvPr/>
        </p:nvGrpSpPr>
        <p:grpSpPr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56" name="Google Shape;56;p25"/>
            <p:cNvSpPr txBox="1"/>
            <p:nvPr/>
          </p:nvSpPr>
          <p:spPr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60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5"/>
            <p:cNvSpPr txBox="1"/>
            <p:nvPr/>
          </p:nvSpPr>
          <p:spPr>
            <a:xfrm>
              <a:off x="5040" y="219"/>
              <a:ext cx="720" cy="3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25"/>
          <p:cNvSpPr/>
          <p:nvPr/>
        </p:nvSpPr>
        <p:spPr>
          <a:xfrm>
            <a:off x="7696200" y="59436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5"/>
          <p:cNvSpPr/>
          <p:nvPr/>
        </p:nvSpPr>
        <p:spPr>
          <a:xfrm>
            <a:off x="8229600" y="563880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5"/>
          <p:cNvSpPr/>
          <p:nvPr/>
        </p:nvSpPr>
        <p:spPr>
          <a:xfrm>
            <a:off x="8220075" y="6229350"/>
            <a:ext cx="609600" cy="5334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086C2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5"/>
          <p:cNvSpPr/>
          <p:nvPr/>
        </p:nvSpPr>
        <p:spPr>
          <a:xfrm>
            <a:off x="169862" y="436562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5CAD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VC</a:t>
            </a:r>
            <a:endParaRPr/>
          </a:p>
        </p:txBody>
      </p:sp>
      <p:sp>
        <p:nvSpPr>
          <p:cNvPr id="62" name="Google Shape;62;p25"/>
          <p:cNvSpPr/>
          <p:nvPr/>
        </p:nvSpPr>
        <p:spPr>
          <a:xfrm>
            <a:off x="517525" y="2286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C000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</p:txBody>
      </p:sp>
      <p:sp>
        <p:nvSpPr>
          <p:cNvPr id="63" name="Google Shape;63;p25"/>
          <p:cNvSpPr/>
          <p:nvPr/>
        </p:nvSpPr>
        <p:spPr>
          <a:xfrm>
            <a:off x="517525" y="647700"/>
            <a:ext cx="473075" cy="419100"/>
          </a:xfrm>
          <a:prstGeom prst="hexagon">
            <a:avLst>
              <a:gd fmla="val 5738" name="adj"/>
              <a:gd fmla="val 115470" name="vf"/>
            </a:avLst>
          </a:prstGeom>
          <a:solidFill>
            <a:srgbClr val="FF99FF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593903" dist="56796">
              <a:srgbClr val="666633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BB</a:t>
            </a:r>
            <a:endParaRPr/>
          </a:p>
        </p:txBody>
      </p:sp>
      <p:sp>
        <p:nvSpPr>
          <p:cNvPr id="64" name="Google Shape;64;p25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65" name="Google Shape;65;p25"/>
          <p:cNvSpPr txBox="1"/>
          <p:nvPr/>
        </p:nvSpPr>
        <p:spPr>
          <a:xfrm>
            <a:off x="8305800" y="63246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/>
          </a:p>
        </p:txBody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»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8" name="Google Shape;68;p25"/>
          <p:cNvSpPr txBox="1"/>
          <p:nvPr>
            <p:ph idx="10" type="dt"/>
          </p:nvPr>
        </p:nvSpPr>
        <p:spPr>
          <a:xfrm>
            <a:off x="457200" y="6519862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5"/>
          <p:cNvSpPr txBox="1"/>
          <p:nvPr>
            <p:ph idx="11" type="ftr"/>
          </p:nvPr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1143000" y="1116012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Verdana"/>
              <a:buNone/>
            </a:pPr>
            <a:r>
              <a:rPr b="1" i="0" lang="en-US" sz="36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KỸ THUẬT LẬP TRÌNH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304800" y="152400"/>
            <a:ext cx="708025" cy="9906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25400">
            <a:solidFill>
              <a:srgbClr val="78A8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>
            <p:ph idx="1" type="subTitle"/>
          </p:nvPr>
        </p:nvSpPr>
        <p:spPr>
          <a:xfrm>
            <a:off x="3505200" y="2971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Nội dung</a:t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grpSp>
        <p:nvGrpSpPr>
          <p:cNvPr id="90" name="Google Shape;90;p2"/>
          <p:cNvGrpSpPr/>
          <p:nvPr/>
        </p:nvGrpSpPr>
        <p:grpSpPr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91" name="Google Shape;91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5F0DB"/>
                </a:gs>
                <a:gs pos="100000">
                  <a:schemeClr val="accent2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Các hình thức tổ chức danh sách</a:t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95" name="Google Shape;95;p2"/>
          <p:cNvGrpSpPr/>
          <p:nvPr/>
        </p:nvGrpSpPr>
        <p:grpSpPr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96" name="Google Shape;96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8E6D8"/>
                </a:gs>
                <a:gs pos="100000">
                  <a:schemeClr val="accent1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Các loại danh sách liên kết</a:t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01" name="Google Shape;101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AE5F2"/>
                </a:gs>
                <a:gs pos="100000">
                  <a:schemeClr val="dk2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Thao tác trên DSLK đơn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106" name="Google Shape;106;p2"/>
            <p:cNvSpPr/>
            <p:nvPr/>
          </p:nvSpPr>
          <p:spPr>
            <a:xfrm>
              <a:off x="1536" y="1899"/>
              <a:ext cx="2736" cy="28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BEFF3"/>
                </a:gs>
                <a:gs pos="100000">
                  <a:schemeClr val="folHlink"/>
                </a:gs>
              </a:gsLst>
              <a:lin ang="0" scaled="0"/>
            </a:gra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Các ứng dụng của DSLK đơn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3000" y="381000"/>
            <a:ext cx="7010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hình thức tổ chức danh sách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Mối liên hệ giữa các phần tử được ngầm hiểu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Mỗi phần tử có một chỉ số và ngầm hiểu rằng 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i+1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nằm sau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Do đó các phần tử phải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nằm cạnh nhau trong bộ nhớ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Số lượng phần tử cố định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Không có thao tác thêm và hủy mà chỉ có thao tác dời chỗ.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Truy xuất ngẫu nhiên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đến từng phần tử nhanh chóng.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Phí bộ nhớ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do không biết trước kích thước.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mảng một chiều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1143000" y="381000"/>
            <a:ext cx="7010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hình thức tổ chức danh sách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Mối liên hệ giữa các phần tử rõ ràng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Mỗi phần tử ngoài thông tin bản thân còn có thêm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liên kết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(địa chỉ)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đến phần tử kế tiếp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Các phần tử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không cần phải sắp xếp cạnh nhau trong bộ nhớ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Việc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truy xuất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đến một phần tử này đòi hỏi phải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thông qua một phần tử khác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Tùy nhu cầu, các phần tử sẽ liên kết theo nhiều cách khác nhau tạo thành danh sách liên kết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đơn, kép, vòng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Nhận xét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Số nút không cố định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thay đổi tùy nhu cầu nên đây là cấu trúc động.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Thích hợp thực hiện các thao tác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chèn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hủy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vì không cần phải dời nút mà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chỉ cần sửa các liên kết cho phù hợp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Thời gian thực hiện không phụ thuộc vào số nút danh sách.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Tốn bộ nhớ chứa con trỏ liên kết pNext.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Truy xuất tuần tự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nên mất thời gian.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Danh sách liên kết đơn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828800" y="3276600"/>
            <a:ext cx="5181600" cy="28956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Data Info;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 *pNext;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*pTail;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LIST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</p:txBody>
      </p:sp>
      <p:sp>
        <p:nvSpPr>
          <p:cNvPr id="141" name="Google Shape;141;p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loại danh sách liên kết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858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 rot="10800000">
            <a:off x="8382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45" name="Google Shape;145;p6"/>
          <p:cNvGrpSpPr/>
          <p:nvPr/>
        </p:nvGrpSpPr>
        <p:grpSpPr>
          <a:xfrm>
            <a:off x="1371600" y="2286000"/>
            <a:ext cx="990600" cy="609600"/>
            <a:chOff x="1371600" y="2286000"/>
            <a:chExt cx="990600" cy="609600"/>
          </a:xfrm>
        </p:grpSpPr>
        <p:sp>
          <p:nvSpPr>
            <p:cNvPr id="146" name="Google Shape;146;p6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6"/>
          <p:cNvSpPr/>
          <p:nvPr/>
        </p:nvSpPr>
        <p:spPr>
          <a:xfrm>
            <a:off x="19812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 rot="10800000">
            <a:off x="21336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50" name="Google Shape;150;p6"/>
          <p:cNvGrpSpPr/>
          <p:nvPr/>
        </p:nvGrpSpPr>
        <p:grpSpPr>
          <a:xfrm>
            <a:off x="2667000" y="2286000"/>
            <a:ext cx="990600" cy="609600"/>
            <a:chOff x="2667000" y="2286000"/>
            <a:chExt cx="990600" cy="609600"/>
          </a:xfrm>
        </p:grpSpPr>
        <p:sp>
          <p:nvSpPr>
            <p:cNvPr id="151" name="Google Shape;151;p6"/>
            <p:cNvSpPr/>
            <p:nvPr/>
          </p:nvSpPr>
          <p:spPr>
            <a:xfrm>
              <a:off x="27432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26670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6"/>
          <p:cNvSpPr/>
          <p:nvPr/>
        </p:nvSpPr>
        <p:spPr>
          <a:xfrm>
            <a:off x="32766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 rot="10800000">
            <a:off x="34290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55" name="Google Shape;155;p6"/>
          <p:cNvGrpSpPr/>
          <p:nvPr/>
        </p:nvGrpSpPr>
        <p:grpSpPr>
          <a:xfrm>
            <a:off x="3962400" y="2286000"/>
            <a:ext cx="990600" cy="609600"/>
            <a:chOff x="3962400" y="2286000"/>
            <a:chExt cx="990600" cy="609600"/>
          </a:xfrm>
        </p:grpSpPr>
        <p:sp>
          <p:nvSpPr>
            <p:cNvPr id="156" name="Google Shape;156;p6"/>
            <p:cNvSpPr/>
            <p:nvPr/>
          </p:nvSpPr>
          <p:spPr>
            <a:xfrm>
              <a:off x="40386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39624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6"/>
          <p:cNvSpPr/>
          <p:nvPr/>
        </p:nvSpPr>
        <p:spPr>
          <a:xfrm>
            <a:off x="45720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 rot="10800000">
            <a:off x="47244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60" name="Google Shape;160;p6"/>
          <p:cNvGrpSpPr/>
          <p:nvPr/>
        </p:nvGrpSpPr>
        <p:grpSpPr>
          <a:xfrm>
            <a:off x="5257800" y="2286000"/>
            <a:ext cx="990600" cy="609600"/>
            <a:chOff x="5257800" y="2286000"/>
            <a:chExt cx="990600" cy="609600"/>
          </a:xfrm>
        </p:grpSpPr>
        <p:sp>
          <p:nvSpPr>
            <p:cNvPr id="161" name="Google Shape;161;p6"/>
            <p:cNvSpPr/>
            <p:nvPr/>
          </p:nvSpPr>
          <p:spPr>
            <a:xfrm>
              <a:off x="53340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52578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6"/>
          <p:cNvSpPr/>
          <p:nvPr/>
        </p:nvSpPr>
        <p:spPr>
          <a:xfrm>
            <a:off x="58674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 rot="10800000">
            <a:off x="60198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65" name="Google Shape;165;p6"/>
          <p:cNvGrpSpPr/>
          <p:nvPr/>
        </p:nvGrpSpPr>
        <p:grpSpPr>
          <a:xfrm>
            <a:off x="6553200" y="2286000"/>
            <a:ext cx="990600" cy="609600"/>
            <a:chOff x="6553200" y="2286000"/>
            <a:chExt cx="990600" cy="609600"/>
          </a:xfrm>
        </p:grpSpPr>
        <p:sp>
          <p:nvSpPr>
            <p:cNvPr id="166" name="Google Shape;166;p6"/>
            <p:cNvSpPr/>
            <p:nvPr/>
          </p:nvSpPr>
          <p:spPr>
            <a:xfrm>
              <a:off x="66294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E</a:t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65532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6"/>
          <p:cNvSpPr/>
          <p:nvPr/>
        </p:nvSpPr>
        <p:spPr>
          <a:xfrm>
            <a:off x="71628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6"/>
          <p:cNvCxnSpPr/>
          <p:nvPr/>
        </p:nvCxnSpPr>
        <p:spPr>
          <a:xfrm rot="10800000">
            <a:off x="73152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170" name="Google Shape;170;p6"/>
          <p:cNvSpPr/>
          <p:nvPr/>
        </p:nvSpPr>
        <p:spPr>
          <a:xfrm>
            <a:off x="76200" y="2971800"/>
            <a:ext cx="15240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172200" y="1081875"/>
            <a:ext cx="1371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858000" y="1600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 rot="-5400000">
            <a:off x="6744493" y="2018506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74" name="Google Shape;174;p6"/>
          <p:cNvGrpSpPr/>
          <p:nvPr/>
        </p:nvGrpSpPr>
        <p:grpSpPr>
          <a:xfrm>
            <a:off x="7848600" y="2438400"/>
            <a:ext cx="304800" cy="304800"/>
            <a:chOff x="7848600" y="2438400"/>
            <a:chExt cx="304800" cy="304800"/>
          </a:xfrm>
        </p:grpSpPr>
        <p:sp>
          <p:nvSpPr>
            <p:cNvPr id="175" name="Google Shape;175;p6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" name="Google Shape;176;p6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7" name="Google Shape;177;p6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Danh sách liên kết kép (Doubly Linked List)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828800" y="3276600"/>
            <a:ext cx="5181600" cy="28956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tagDNode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Data Info;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tagDNode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 *pNext, *pPrev;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tagDList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*pTail;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DLIST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</p:txBody>
      </p:sp>
      <p:sp>
        <p:nvSpPr>
          <p:cNvPr id="185" name="Google Shape;185;p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loại danh sách liên kết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334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 flipH="1">
            <a:off x="685800" y="2895600"/>
            <a:ext cx="457200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89" name="Google Shape;189;p7"/>
          <p:cNvGrpSpPr/>
          <p:nvPr/>
        </p:nvGrpSpPr>
        <p:grpSpPr>
          <a:xfrm>
            <a:off x="2819400" y="2286000"/>
            <a:ext cx="1371600" cy="609600"/>
            <a:chOff x="2819400" y="2286000"/>
            <a:chExt cx="1371599" cy="609600"/>
          </a:xfrm>
        </p:grpSpPr>
        <p:sp>
          <p:nvSpPr>
            <p:cNvPr id="190" name="Google Shape;190;p7"/>
            <p:cNvSpPr/>
            <p:nvPr/>
          </p:nvSpPr>
          <p:spPr>
            <a:xfrm>
              <a:off x="32766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28194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7"/>
          <p:cNvSpPr/>
          <p:nvPr/>
        </p:nvSpPr>
        <p:spPr>
          <a:xfrm>
            <a:off x="189375" y="3505200"/>
            <a:ext cx="14493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772400" y="3505200"/>
            <a:ext cx="10254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8486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>
            <a:off x="7543800" y="2895600"/>
            <a:ext cx="458787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sp>
        <p:nvSpPr>
          <p:cNvPr id="196" name="Google Shape;196;p7"/>
          <p:cNvSpPr/>
          <p:nvPr/>
        </p:nvSpPr>
        <p:spPr>
          <a:xfrm>
            <a:off x="28956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25146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198" name="Google Shape;198;p7"/>
          <p:cNvGrpSpPr/>
          <p:nvPr/>
        </p:nvGrpSpPr>
        <p:grpSpPr>
          <a:xfrm>
            <a:off x="1143000" y="2286000"/>
            <a:ext cx="1371600" cy="609600"/>
            <a:chOff x="1143000" y="2286000"/>
            <a:chExt cx="1371599" cy="609600"/>
          </a:xfrm>
        </p:grpSpPr>
        <p:sp>
          <p:nvSpPr>
            <p:cNvPr id="199" name="Google Shape;199;p7"/>
            <p:cNvSpPr/>
            <p:nvPr/>
          </p:nvSpPr>
          <p:spPr>
            <a:xfrm>
              <a:off x="16002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1430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7"/>
          <p:cNvSpPr/>
          <p:nvPr/>
        </p:nvSpPr>
        <p:spPr>
          <a:xfrm>
            <a:off x="21336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7"/>
          <p:cNvCxnSpPr/>
          <p:nvPr/>
        </p:nvCxnSpPr>
        <p:spPr>
          <a:xfrm rot="10800000">
            <a:off x="22860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03" name="Google Shape;203;p7"/>
          <p:cNvSpPr/>
          <p:nvPr/>
        </p:nvSpPr>
        <p:spPr>
          <a:xfrm>
            <a:off x="38100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 rot="10800000">
            <a:off x="39624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05" name="Google Shape;205;p7"/>
          <p:cNvGrpSpPr/>
          <p:nvPr/>
        </p:nvGrpSpPr>
        <p:grpSpPr>
          <a:xfrm>
            <a:off x="4495800" y="2286000"/>
            <a:ext cx="1371600" cy="609600"/>
            <a:chOff x="4495800" y="2286000"/>
            <a:chExt cx="1371599" cy="609600"/>
          </a:xfrm>
        </p:grpSpPr>
        <p:sp>
          <p:nvSpPr>
            <p:cNvPr id="206" name="Google Shape;206;p7"/>
            <p:cNvSpPr/>
            <p:nvPr/>
          </p:nvSpPr>
          <p:spPr>
            <a:xfrm>
              <a:off x="49530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44958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7"/>
          <p:cNvSpPr/>
          <p:nvPr/>
        </p:nvSpPr>
        <p:spPr>
          <a:xfrm>
            <a:off x="45720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7"/>
          <p:cNvCxnSpPr/>
          <p:nvPr/>
        </p:nvCxnSpPr>
        <p:spPr>
          <a:xfrm>
            <a:off x="41910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10" name="Google Shape;210;p7"/>
          <p:cNvSpPr/>
          <p:nvPr/>
        </p:nvSpPr>
        <p:spPr>
          <a:xfrm>
            <a:off x="54864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 rot="10800000">
            <a:off x="56388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12" name="Google Shape;212;p7"/>
          <p:cNvGrpSpPr/>
          <p:nvPr/>
        </p:nvGrpSpPr>
        <p:grpSpPr>
          <a:xfrm>
            <a:off x="6172200" y="2286000"/>
            <a:ext cx="1371600" cy="609600"/>
            <a:chOff x="6172200" y="2286000"/>
            <a:chExt cx="1371599" cy="609600"/>
          </a:xfrm>
        </p:grpSpPr>
        <p:sp>
          <p:nvSpPr>
            <p:cNvPr id="213" name="Google Shape;213;p7"/>
            <p:cNvSpPr/>
            <p:nvPr/>
          </p:nvSpPr>
          <p:spPr>
            <a:xfrm>
              <a:off x="66294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1722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7"/>
          <p:cNvSpPr/>
          <p:nvPr/>
        </p:nvSpPr>
        <p:spPr>
          <a:xfrm>
            <a:off x="62484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58674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17" name="Google Shape;217;p7"/>
          <p:cNvSpPr/>
          <p:nvPr/>
        </p:nvSpPr>
        <p:spPr>
          <a:xfrm>
            <a:off x="71628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7"/>
          <p:cNvCxnSpPr/>
          <p:nvPr/>
        </p:nvCxnSpPr>
        <p:spPr>
          <a:xfrm rot="10800000">
            <a:off x="73152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19" name="Google Shape;219;p7"/>
          <p:cNvSpPr/>
          <p:nvPr/>
        </p:nvSpPr>
        <p:spPr>
          <a:xfrm>
            <a:off x="12192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>
            <a:off x="8382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21" name="Google Shape;221;p7"/>
          <p:cNvGrpSpPr/>
          <p:nvPr/>
        </p:nvGrpSpPr>
        <p:grpSpPr>
          <a:xfrm>
            <a:off x="7848600" y="2438400"/>
            <a:ext cx="304800" cy="304800"/>
            <a:chOff x="7848600" y="2438400"/>
            <a:chExt cx="304800" cy="304800"/>
          </a:xfrm>
        </p:grpSpPr>
        <p:sp>
          <p:nvSpPr>
            <p:cNvPr id="222" name="Google Shape;222;p7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" name="Google Shape;223;p7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24" name="Google Shape;224;p7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225" name="Google Shape;225;p7"/>
          <p:cNvGrpSpPr/>
          <p:nvPr/>
        </p:nvGrpSpPr>
        <p:grpSpPr>
          <a:xfrm>
            <a:off x="533400" y="2438400"/>
            <a:ext cx="304800" cy="304800"/>
            <a:chOff x="7848600" y="2438400"/>
            <a:chExt cx="304800" cy="304800"/>
          </a:xfrm>
        </p:grpSpPr>
        <p:sp>
          <p:nvSpPr>
            <p:cNvPr id="226" name="Google Shape;226;p7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7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28" name="Google Shape;228;p7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>
            <p:ph idx="1" type="body"/>
          </p:nvPr>
        </p:nvSpPr>
        <p:spPr>
          <a:xfrm>
            <a:off x="457200" y="1524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Danh sách liên kết đơn vòng (Circular Linked List)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828800" y="3276600"/>
            <a:ext cx="5181600" cy="28956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Data Info;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 *pNext;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*pTail;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CLIST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</p:txBody>
      </p:sp>
      <p:sp>
        <p:nvSpPr>
          <p:cNvPr id="236" name="Google Shape;236;p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loại danh sách liên kết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620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8"/>
          <p:cNvCxnSpPr/>
          <p:nvPr/>
        </p:nvCxnSpPr>
        <p:spPr>
          <a:xfrm flipH="1">
            <a:off x="914400" y="2895600"/>
            <a:ext cx="457200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40" name="Google Shape;240;p8"/>
          <p:cNvSpPr/>
          <p:nvPr/>
        </p:nvSpPr>
        <p:spPr>
          <a:xfrm>
            <a:off x="457200" y="3505200"/>
            <a:ext cx="13104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7315200" y="3505200"/>
            <a:ext cx="12099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8486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8"/>
          <p:cNvCxnSpPr/>
          <p:nvPr/>
        </p:nvCxnSpPr>
        <p:spPr>
          <a:xfrm>
            <a:off x="7543800" y="2895600"/>
            <a:ext cx="458787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grpSp>
        <p:nvGrpSpPr>
          <p:cNvPr id="244" name="Google Shape;244;p8"/>
          <p:cNvGrpSpPr/>
          <p:nvPr/>
        </p:nvGrpSpPr>
        <p:grpSpPr>
          <a:xfrm>
            <a:off x="1371600" y="2286000"/>
            <a:ext cx="990600" cy="609600"/>
            <a:chOff x="1371600" y="2286000"/>
            <a:chExt cx="990600" cy="609600"/>
          </a:xfrm>
        </p:grpSpPr>
        <p:sp>
          <p:nvSpPr>
            <p:cNvPr id="245" name="Google Shape;245;p8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8"/>
          <p:cNvSpPr/>
          <p:nvPr/>
        </p:nvSpPr>
        <p:spPr>
          <a:xfrm>
            <a:off x="19812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8"/>
          <p:cNvCxnSpPr/>
          <p:nvPr/>
        </p:nvCxnSpPr>
        <p:spPr>
          <a:xfrm rot="10800000">
            <a:off x="21336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49" name="Google Shape;249;p8"/>
          <p:cNvGrpSpPr/>
          <p:nvPr/>
        </p:nvGrpSpPr>
        <p:grpSpPr>
          <a:xfrm>
            <a:off x="2667000" y="2286000"/>
            <a:ext cx="990600" cy="609600"/>
            <a:chOff x="2667000" y="2286000"/>
            <a:chExt cx="990600" cy="609600"/>
          </a:xfrm>
        </p:grpSpPr>
        <p:sp>
          <p:nvSpPr>
            <p:cNvPr id="250" name="Google Shape;250;p8"/>
            <p:cNvSpPr/>
            <p:nvPr/>
          </p:nvSpPr>
          <p:spPr>
            <a:xfrm>
              <a:off x="27432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26670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32766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8"/>
          <p:cNvCxnSpPr/>
          <p:nvPr/>
        </p:nvCxnSpPr>
        <p:spPr>
          <a:xfrm rot="10800000">
            <a:off x="34290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54" name="Google Shape;254;p8"/>
          <p:cNvGrpSpPr/>
          <p:nvPr/>
        </p:nvGrpSpPr>
        <p:grpSpPr>
          <a:xfrm>
            <a:off x="3962400" y="2286000"/>
            <a:ext cx="990600" cy="609600"/>
            <a:chOff x="3962400" y="2286000"/>
            <a:chExt cx="990600" cy="609600"/>
          </a:xfrm>
        </p:grpSpPr>
        <p:sp>
          <p:nvSpPr>
            <p:cNvPr id="255" name="Google Shape;255;p8"/>
            <p:cNvSpPr/>
            <p:nvPr/>
          </p:nvSpPr>
          <p:spPr>
            <a:xfrm>
              <a:off x="40386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39624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8"/>
          <p:cNvSpPr/>
          <p:nvPr/>
        </p:nvSpPr>
        <p:spPr>
          <a:xfrm>
            <a:off x="45720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 rot="10800000">
            <a:off x="47244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59" name="Google Shape;259;p8"/>
          <p:cNvGrpSpPr/>
          <p:nvPr/>
        </p:nvGrpSpPr>
        <p:grpSpPr>
          <a:xfrm>
            <a:off x="5257800" y="2286000"/>
            <a:ext cx="990600" cy="609600"/>
            <a:chOff x="5257800" y="2286000"/>
            <a:chExt cx="990600" cy="609600"/>
          </a:xfrm>
        </p:grpSpPr>
        <p:sp>
          <p:nvSpPr>
            <p:cNvPr id="260" name="Google Shape;260;p8"/>
            <p:cNvSpPr/>
            <p:nvPr/>
          </p:nvSpPr>
          <p:spPr>
            <a:xfrm>
              <a:off x="53340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52578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8"/>
          <p:cNvSpPr/>
          <p:nvPr/>
        </p:nvSpPr>
        <p:spPr>
          <a:xfrm>
            <a:off x="58674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8"/>
          <p:cNvCxnSpPr/>
          <p:nvPr/>
        </p:nvCxnSpPr>
        <p:spPr>
          <a:xfrm rot="10800000">
            <a:off x="60198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64" name="Google Shape;264;p8"/>
          <p:cNvGrpSpPr/>
          <p:nvPr/>
        </p:nvGrpSpPr>
        <p:grpSpPr>
          <a:xfrm>
            <a:off x="6553200" y="2286000"/>
            <a:ext cx="990600" cy="609600"/>
            <a:chOff x="6553200" y="2286000"/>
            <a:chExt cx="990600" cy="609600"/>
          </a:xfrm>
        </p:grpSpPr>
        <p:sp>
          <p:nvSpPr>
            <p:cNvPr id="265" name="Google Shape;265;p8"/>
            <p:cNvSpPr/>
            <p:nvPr/>
          </p:nvSpPr>
          <p:spPr>
            <a:xfrm>
              <a:off x="66294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E</a:t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65532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8"/>
          <p:cNvSpPr/>
          <p:nvPr/>
        </p:nvSpPr>
        <p:spPr>
          <a:xfrm>
            <a:off x="71628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8"/>
          <p:cNvCxnSpPr/>
          <p:nvPr/>
        </p:nvCxnSpPr>
        <p:spPr>
          <a:xfrm rot="10800000">
            <a:off x="73152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9" name="Google Shape;269;p8"/>
          <p:cNvCxnSpPr/>
          <p:nvPr/>
        </p:nvCxnSpPr>
        <p:spPr>
          <a:xfrm rot="10800000">
            <a:off x="1066800" y="2590800"/>
            <a:ext cx="304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270" name="Google Shape;270;p8"/>
          <p:cNvCxnSpPr/>
          <p:nvPr/>
        </p:nvCxnSpPr>
        <p:spPr>
          <a:xfrm rot="5400000">
            <a:off x="7620000" y="2362200"/>
            <a:ext cx="4572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1" name="Google Shape;271;p8"/>
          <p:cNvCxnSpPr/>
          <p:nvPr/>
        </p:nvCxnSpPr>
        <p:spPr>
          <a:xfrm rot="10800000">
            <a:off x="1066800" y="2133600"/>
            <a:ext cx="6781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2" name="Google Shape;272;p8"/>
          <p:cNvCxnSpPr/>
          <p:nvPr/>
        </p:nvCxnSpPr>
        <p:spPr>
          <a:xfrm rot="5400000">
            <a:off x="838993" y="23614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idx="1" type="body"/>
          </p:nvPr>
        </p:nvSpPr>
        <p:spPr>
          <a:xfrm>
            <a:off x="457200" y="15240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Danh sách liên kết kép vòng (Circular Linked List)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1828800" y="3276600"/>
            <a:ext cx="5181600" cy="28956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Data Info;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 *pNext, *pPrev;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CNODE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typedef struct </a:t>
            </a:r>
            <a:r>
              <a:rPr b="1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tagCList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	NODE *pTail;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5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} </a:t>
            </a: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CLIST</a:t>
            </a:r>
            <a:r>
              <a:rPr b="0" i="0" lang="en-US" sz="1800" u="non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</p:txBody>
      </p:sp>
      <p:sp>
        <p:nvSpPr>
          <p:cNvPr id="280" name="Google Shape;280;p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Các loại danh sách liên kết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5334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9"/>
          <p:cNvCxnSpPr/>
          <p:nvPr/>
        </p:nvCxnSpPr>
        <p:spPr>
          <a:xfrm flipH="1">
            <a:off x="685800" y="2895600"/>
            <a:ext cx="457200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84" name="Google Shape;284;p9"/>
          <p:cNvGrpSpPr/>
          <p:nvPr/>
        </p:nvGrpSpPr>
        <p:grpSpPr>
          <a:xfrm>
            <a:off x="2819400" y="2286000"/>
            <a:ext cx="1371600" cy="609600"/>
            <a:chOff x="2819400" y="2286000"/>
            <a:chExt cx="1371599" cy="609600"/>
          </a:xfrm>
        </p:grpSpPr>
        <p:sp>
          <p:nvSpPr>
            <p:cNvPr id="285" name="Google Shape;285;p9"/>
            <p:cNvSpPr/>
            <p:nvPr/>
          </p:nvSpPr>
          <p:spPr>
            <a:xfrm>
              <a:off x="32766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28194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9"/>
          <p:cNvSpPr/>
          <p:nvPr/>
        </p:nvSpPr>
        <p:spPr>
          <a:xfrm>
            <a:off x="-169300" y="3505200"/>
            <a:ext cx="1371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7772400" y="3505200"/>
            <a:ext cx="10398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7848600" y="3124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9"/>
          <p:cNvCxnSpPr/>
          <p:nvPr/>
        </p:nvCxnSpPr>
        <p:spPr>
          <a:xfrm>
            <a:off x="7543800" y="2895600"/>
            <a:ext cx="458787" cy="3810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sp>
        <p:nvSpPr>
          <p:cNvPr id="291" name="Google Shape;291;p9"/>
          <p:cNvSpPr/>
          <p:nvPr/>
        </p:nvSpPr>
        <p:spPr>
          <a:xfrm>
            <a:off x="28956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>
            <a:off x="25146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293" name="Google Shape;293;p9"/>
          <p:cNvGrpSpPr/>
          <p:nvPr/>
        </p:nvGrpSpPr>
        <p:grpSpPr>
          <a:xfrm>
            <a:off x="1143000" y="2286000"/>
            <a:ext cx="1371600" cy="609600"/>
            <a:chOff x="1143000" y="2286000"/>
            <a:chExt cx="1371599" cy="609600"/>
          </a:xfrm>
        </p:grpSpPr>
        <p:sp>
          <p:nvSpPr>
            <p:cNvPr id="294" name="Google Shape;294;p9"/>
            <p:cNvSpPr/>
            <p:nvPr/>
          </p:nvSpPr>
          <p:spPr>
            <a:xfrm>
              <a:off x="16002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1430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9"/>
          <p:cNvSpPr/>
          <p:nvPr/>
        </p:nvSpPr>
        <p:spPr>
          <a:xfrm>
            <a:off x="21336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 rot="10800000">
            <a:off x="22860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98" name="Google Shape;298;p9"/>
          <p:cNvSpPr/>
          <p:nvPr/>
        </p:nvSpPr>
        <p:spPr>
          <a:xfrm>
            <a:off x="38100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9"/>
          <p:cNvCxnSpPr/>
          <p:nvPr/>
        </p:nvCxnSpPr>
        <p:spPr>
          <a:xfrm rot="10800000">
            <a:off x="39624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300" name="Google Shape;300;p9"/>
          <p:cNvGrpSpPr/>
          <p:nvPr/>
        </p:nvGrpSpPr>
        <p:grpSpPr>
          <a:xfrm>
            <a:off x="4495800" y="2286000"/>
            <a:ext cx="1371600" cy="609600"/>
            <a:chOff x="4495800" y="2286000"/>
            <a:chExt cx="1371599" cy="609600"/>
          </a:xfrm>
        </p:grpSpPr>
        <p:sp>
          <p:nvSpPr>
            <p:cNvPr id="301" name="Google Shape;301;p9"/>
            <p:cNvSpPr/>
            <p:nvPr/>
          </p:nvSpPr>
          <p:spPr>
            <a:xfrm>
              <a:off x="49530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44958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9"/>
          <p:cNvSpPr/>
          <p:nvPr/>
        </p:nvSpPr>
        <p:spPr>
          <a:xfrm>
            <a:off x="45720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9"/>
          <p:cNvCxnSpPr/>
          <p:nvPr/>
        </p:nvCxnSpPr>
        <p:spPr>
          <a:xfrm>
            <a:off x="41910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05" name="Google Shape;305;p9"/>
          <p:cNvSpPr/>
          <p:nvPr/>
        </p:nvSpPr>
        <p:spPr>
          <a:xfrm>
            <a:off x="54864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9"/>
          <p:cNvCxnSpPr/>
          <p:nvPr/>
        </p:nvCxnSpPr>
        <p:spPr>
          <a:xfrm rot="10800000">
            <a:off x="56388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307" name="Google Shape;307;p9"/>
          <p:cNvGrpSpPr/>
          <p:nvPr/>
        </p:nvGrpSpPr>
        <p:grpSpPr>
          <a:xfrm>
            <a:off x="6172200" y="2286000"/>
            <a:ext cx="1371600" cy="609600"/>
            <a:chOff x="6172200" y="2286000"/>
            <a:chExt cx="1371599" cy="609600"/>
          </a:xfrm>
        </p:grpSpPr>
        <p:sp>
          <p:nvSpPr>
            <p:cNvPr id="308" name="Google Shape;308;p9"/>
            <p:cNvSpPr/>
            <p:nvPr/>
          </p:nvSpPr>
          <p:spPr>
            <a:xfrm>
              <a:off x="66294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6172200" y="2286000"/>
              <a:ext cx="1371599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9"/>
          <p:cNvSpPr/>
          <p:nvPr/>
        </p:nvSpPr>
        <p:spPr>
          <a:xfrm>
            <a:off x="62484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9"/>
          <p:cNvCxnSpPr/>
          <p:nvPr/>
        </p:nvCxnSpPr>
        <p:spPr>
          <a:xfrm>
            <a:off x="58674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12" name="Google Shape;312;p9"/>
          <p:cNvSpPr/>
          <p:nvPr/>
        </p:nvSpPr>
        <p:spPr>
          <a:xfrm>
            <a:off x="71628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219200" y="2514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838200" y="2667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5" name="Google Shape;315;p9"/>
          <p:cNvCxnSpPr/>
          <p:nvPr/>
        </p:nvCxnSpPr>
        <p:spPr>
          <a:xfrm rot="10800000">
            <a:off x="73152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6" name="Google Shape;316;p9"/>
          <p:cNvCxnSpPr/>
          <p:nvPr/>
        </p:nvCxnSpPr>
        <p:spPr>
          <a:xfrm rot="10800000">
            <a:off x="838200" y="2438400"/>
            <a:ext cx="304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317" name="Google Shape;317;p9"/>
          <p:cNvCxnSpPr/>
          <p:nvPr/>
        </p:nvCxnSpPr>
        <p:spPr>
          <a:xfrm rot="5400000">
            <a:off x="7658893" y="23233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8" name="Google Shape;318;p9"/>
          <p:cNvCxnSpPr/>
          <p:nvPr/>
        </p:nvCxnSpPr>
        <p:spPr>
          <a:xfrm rot="10800000">
            <a:off x="838200" y="2133600"/>
            <a:ext cx="7010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9" name="Google Shape;319;p9"/>
          <p:cNvCxnSpPr/>
          <p:nvPr/>
        </p:nvCxnSpPr>
        <p:spPr>
          <a:xfrm rot="5400000">
            <a:off x="686593" y="2285206"/>
            <a:ext cx="304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0" name="Google Shape;320;p9"/>
          <p:cNvCxnSpPr/>
          <p:nvPr/>
        </p:nvCxnSpPr>
        <p:spPr>
          <a:xfrm rot="10800000">
            <a:off x="838200" y="3048000"/>
            <a:ext cx="7010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1" name="Google Shape;321;p9"/>
          <p:cNvCxnSpPr/>
          <p:nvPr/>
        </p:nvCxnSpPr>
        <p:spPr>
          <a:xfrm rot="5400000">
            <a:off x="648493" y="28567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2" name="Google Shape;322;p9"/>
          <p:cNvCxnSpPr/>
          <p:nvPr/>
        </p:nvCxnSpPr>
        <p:spPr>
          <a:xfrm rot="5400000">
            <a:off x="7658893" y="28567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3" name="Google Shape;323;p9"/>
          <p:cNvCxnSpPr/>
          <p:nvPr/>
        </p:nvCxnSpPr>
        <p:spPr>
          <a:xfrm>
            <a:off x="7543800" y="2667000"/>
            <a:ext cx="3048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/>
          <p:nvPr/>
        </p:nvSpPr>
        <p:spPr>
          <a:xfrm>
            <a:off x="4572000" y="2438400"/>
            <a:ext cx="304800" cy="3048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4572000" y="2971800"/>
            <a:ext cx="304800" cy="3048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331" name="Google Shape;331;p1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332" name="Google Shape;332;p1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Khởi tạo danh sách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Kiểm tra danh sách có rỗng hay không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2667000" y="2286000"/>
            <a:ext cx="1600200" cy="114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886200" y="2438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0"/>
          <p:cNvCxnSpPr/>
          <p:nvPr/>
        </p:nvCxnSpPr>
        <p:spPr>
          <a:xfrm rot="10800000">
            <a:off x="4038600" y="2590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37" name="Google Shape;337;p10"/>
          <p:cNvSpPr/>
          <p:nvPr/>
        </p:nvSpPr>
        <p:spPr>
          <a:xfrm>
            <a:off x="2710675" y="2362200"/>
            <a:ext cx="14043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2744800" y="2895600"/>
            <a:ext cx="12177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886200" y="2971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 rot="10800000">
            <a:off x="4038600" y="3124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41" name="Google Shape;341;p10"/>
          <p:cNvSpPr/>
          <p:nvPr/>
        </p:nvSpPr>
        <p:spPr>
          <a:xfrm>
            <a:off x="2667000" y="4343400"/>
            <a:ext cx="1600200" cy="114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3886200" y="4495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0"/>
          <p:cNvCxnSpPr/>
          <p:nvPr/>
        </p:nvCxnSpPr>
        <p:spPr>
          <a:xfrm rot="10800000">
            <a:off x="4038600" y="4648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44" name="Google Shape;344;p10"/>
          <p:cNvSpPr/>
          <p:nvPr/>
        </p:nvSpPr>
        <p:spPr>
          <a:xfrm>
            <a:off x="4572000" y="4495800"/>
            <a:ext cx="1404300" cy="3048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NULL?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2667000" y="4419600"/>
            <a:ext cx="1600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2634300" y="4953000"/>
            <a:ext cx="14043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3886200" y="5029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 rot="10800000">
            <a:off x="4038600" y="5181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349" name="Google Shape;349;p10"/>
          <p:cNvGrpSpPr/>
          <p:nvPr/>
        </p:nvGrpSpPr>
        <p:grpSpPr>
          <a:xfrm>
            <a:off x="4572000" y="2438400"/>
            <a:ext cx="304800" cy="304800"/>
            <a:chOff x="7848600" y="2438400"/>
            <a:chExt cx="304800" cy="304800"/>
          </a:xfrm>
        </p:grpSpPr>
        <p:sp>
          <p:nvSpPr>
            <p:cNvPr id="350" name="Google Shape;350;p10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1" name="Google Shape;351;p10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2" name="Google Shape;352;p10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353" name="Google Shape;353;p10"/>
          <p:cNvGrpSpPr/>
          <p:nvPr/>
        </p:nvGrpSpPr>
        <p:grpSpPr>
          <a:xfrm>
            <a:off x="4572000" y="2984500"/>
            <a:ext cx="304800" cy="304800"/>
            <a:chOff x="7848600" y="2438400"/>
            <a:chExt cx="304800" cy="304800"/>
          </a:xfrm>
        </p:grpSpPr>
        <p:sp>
          <p:nvSpPr>
            <p:cNvPr id="354" name="Google Shape;354;p10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5" name="Google Shape;355;p10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6" name="Google Shape;356;p10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4572000" y="2362200"/>
            <a:ext cx="304800" cy="3048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363" name="Google Shape;363;p11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364" name="Google Shape;364;p11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Tạo một nút mới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Xác định con trỏ của nút thứ i trong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= pHead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= p-&gt;pNext i lần trong khi p != NULL rồi return lại con trỏ p hiện tại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Xác định vị trí của nút p trong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Tương tự như trên nhưng trả lại vị trí</a:t>
            </a:r>
            <a:endParaRPr/>
          </a:p>
        </p:txBody>
      </p:sp>
      <p:sp>
        <p:nvSpPr>
          <p:cNvPr id="365" name="Google Shape;365;p11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3352800" y="22860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276600" y="22098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886200" y="2362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11"/>
          <p:cNvCxnSpPr/>
          <p:nvPr/>
        </p:nvCxnSpPr>
        <p:spPr>
          <a:xfrm rot="10800000">
            <a:off x="4038600" y="25146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70" name="Google Shape;370;p11"/>
          <p:cNvSpPr/>
          <p:nvPr/>
        </p:nvSpPr>
        <p:spPr>
          <a:xfrm>
            <a:off x="2057400" y="22860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grpSp>
        <p:nvGrpSpPr>
          <p:cNvPr id="371" name="Google Shape;371;p11"/>
          <p:cNvGrpSpPr/>
          <p:nvPr/>
        </p:nvGrpSpPr>
        <p:grpSpPr>
          <a:xfrm>
            <a:off x="4572000" y="2362200"/>
            <a:ext cx="304800" cy="304800"/>
            <a:chOff x="7848600" y="2438400"/>
            <a:chExt cx="304800" cy="304800"/>
          </a:xfrm>
        </p:grpSpPr>
        <p:sp>
          <p:nvSpPr>
            <p:cNvPr id="372" name="Google Shape;372;p11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" name="Google Shape;373;p11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4" name="Google Shape;374;p11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381" name="Google Shape;381;p12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Chèn một nút vào đầu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rỗng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không rỗng</a:t>
            </a:r>
            <a:endParaRPr/>
          </a:p>
        </p:txBody>
      </p:sp>
      <p:sp>
        <p:nvSpPr>
          <p:cNvPr id="382" name="Google Shape;382;p12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1447800" y="43434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1371600" y="42672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981200" y="4419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12"/>
          <p:cNvCxnSpPr/>
          <p:nvPr/>
        </p:nvCxnSpPr>
        <p:spPr>
          <a:xfrm rot="10800000">
            <a:off x="2133600" y="4572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87" name="Google Shape;387;p12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12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90" name="Google Shape;390;p12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2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93" name="Google Shape;393;p12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2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397" name="Google Shape;397;p12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12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01" name="Google Shape;401;p12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12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05" name="Google Shape;405;p12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12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09" name="Google Shape;409;p12"/>
          <p:cNvSpPr/>
          <p:nvPr/>
        </p:nvSpPr>
        <p:spPr>
          <a:xfrm>
            <a:off x="76200" y="5867400"/>
            <a:ext cx="15765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8153400" y="4572000"/>
            <a:ext cx="11088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7848600" y="4648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2"/>
          <p:cNvCxnSpPr/>
          <p:nvPr/>
        </p:nvCxnSpPr>
        <p:spPr>
          <a:xfrm flipH="1" rot="10800000">
            <a:off x="7467600" y="48006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413" name="Google Shape;413;p12"/>
          <p:cNvGrpSpPr/>
          <p:nvPr/>
        </p:nvGrpSpPr>
        <p:grpSpPr>
          <a:xfrm>
            <a:off x="3505200" y="2819400"/>
            <a:ext cx="990600" cy="609600"/>
            <a:chOff x="3505200" y="2819400"/>
            <a:chExt cx="990600" cy="609600"/>
          </a:xfrm>
        </p:grpSpPr>
        <p:sp>
          <p:nvSpPr>
            <p:cNvPr id="414" name="Google Shape;414;p12"/>
            <p:cNvSpPr/>
            <p:nvPr/>
          </p:nvSpPr>
          <p:spPr>
            <a:xfrm>
              <a:off x="3581400" y="28956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X</a:t>
              </a:r>
              <a:endParaRPr/>
            </a:p>
          </p:txBody>
        </p:sp>
        <p:sp>
          <p:nvSpPr>
            <p:cNvPr id="415" name="Google Shape;415;p12"/>
            <p:cNvSpPr/>
            <p:nvPr/>
          </p:nvSpPr>
          <p:spPr>
            <a:xfrm>
              <a:off x="3505200" y="28194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4114800" y="2971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2"/>
          <p:cNvCxnSpPr/>
          <p:nvPr/>
        </p:nvCxnSpPr>
        <p:spPr>
          <a:xfrm rot="10800000">
            <a:off x="4267200" y="3124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18" name="Google Shape;418;p12"/>
          <p:cNvSpPr/>
          <p:nvPr/>
        </p:nvSpPr>
        <p:spPr>
          <a:xfrm>
            <a:off x="2819400" y="2971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12"/>
          <p:cNvCxnSpPr/>
          <p:nvPr/>
        </p:nvCxnSpPr>
        <p:spPr>
          <a:xfrm rot="10800000">
            <a:off x="2971800" y="3124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20" name="Google Shape;420;p12"/>
          <p:cNvSpPr/>
          <p:nvPr/>
        </p:nvSpPr>
        <p:spPr>
          <a:xfrm>
            <a:off x="1143000" y="2895600"/>
            <a:ext cx="1371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5257800" y="2057400"/>
            <a:ext cx="17034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4800600" y="2133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12"/>
          <p:cNvCxnSpPr/>
          <p:nvPr/>
        </p:nvCxnSpPr>
        <p:spPr>
          <a:xfrm flipH="1" rot="10800000">
            <a:off x="4419600" y="22860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424" name="Google Shape;424;p12"/>
          <p:cNvCxnSpPr/>
          <p:nvPr/>
        </p:nvCxnSpPr>
        <p:spPr>
          <a:xfrm flipH="1" rot="5400000">
            <a:off x="1754981" y="4952206"/>
            <a:ext cx="762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425" name="Google Shape;425;p12"/>
          <p:cNvCxnSpPr/>
          <p:nvPr/>
        </p:nvCxnSpPr>
        <p:spPr>
          <a:xfrm rot="5400000">
            <a:off x="762000" y="4953000"/>
            <a:ext cx="762000" cy="6096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426" name="Google Shape;426;p12"/>
          <p:cNvGrpSpPr/>
          <p:nvPr/>
        </p:nvGrpSpPr>
        <p:grpSpPr>
          <a:xfrm>
            <a:off x="4802187" y="2973387"/>
            <a:ext cx="304800" cy="304800"/>
            <a:chOff x="7848600" y="2438400"/>
            <a:chExt cx="304800" cy="304800"/>
          </a:xfrm>
        </p:grpSpPr>
        <p:sp>
          <p:nvSpPr>
            <p:cNvPr id="427" name="Google Shape;427;p12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p12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29" name="Google Shape;429;p12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30" name="Google Shape;430;p12"/>
          <p:cNvGrpSpPr/>
          <p:nvPr/>
        </p:nvGrpSpPr>
        <p:grpSpPr>
          <a:xfrm>
            <a:off x="7850187" y="5487987"/>
            <a:ext cx="304800" cy="304800"/>
            <a:chOff x="7848600" y="2438400"/>
            <a:chExt cx="304800" cy="304800"/>
          </a:xfrm>
        </p:grpSpPr>
        <p:sp>
          <p:nvSpPr>
            <p:cNvPr id="431" name="Google Shape;431;p12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2" name="Google Shape;432;p12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33" name="Google Shape;433;p12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34" name="Google Shape;434;p12"/>
          <p:cNvGrpSpPr/>
          <p:nvPr/>
        </p:nvGrpSpPr>
        <p:grpSpPr>
          <a:xfrm>
            <a:off x="2673350" y="4421187"/>
            <a:ext cx="304800" cy="304800"/>
            <a:chOff x="7848600" y="2438400"/>
            <a:chExt cx="304800" cy="304800"/>
          </a:xfrm>
        </p:grpSpPr>
        <p:sp>
          <p:nvSpPr>
            <p:cNvPr id="435" name="Google Shape;435;p12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12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37" name="Google Shape;437;p12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444" name="Google Shape;444;p13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Thêm một nút vào cuối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rỗng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A85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không rỗng</a:t>
            </a:r>
            <a:endParaRPr/>
          </a:p>
        </p:txBody>
      </p:sp>
      <p:sp>
        <p:nvSpPr>
          <p:cNvPr id="445" name="Google Shape;445;p13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6629400" y="43434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6553200" y="42672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7162800" y="4419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 rot="10800000">
            <a:off x="7315200" y="4572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50" name="Google Shape;450;p13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13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53" name="Google Shape;453;p13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13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56" name="Google Shape;456;p13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13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60" name="Google Shape;460;p13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3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64" name="Google Shape;464;p13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13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72" name="Google Shape;472;p13"/>
          <p:cNvSpPr/>
          <p:nvPr/>
        </p:nvSpPr>
        <p:spPr>
          <a:xfrm>
            <a:off x="289825" y="5867400"/>
            <a:ext cx="14061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8223850" y="3505200"/>
            <a:ext cx="9201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7848600" y="3581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3"/>
          <p:cNvCxnSpPr/>
          <p:nvPr/>
        </p:nvCxnSpPr>
        <p:spPr>
          <a:xfrm flipH="1" rot="10800000">
            <a:off x="7467600" y="37338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76" name="Google Shape;476;p13"/>
          <p:cNvSpPr/>
          <p:nvPr/>
        </p:nvSpPr>
        <p:spPr>
          <a:xfrm>
            <a:off x="3581400" y="28956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3505200" y="28194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114800" y="2971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13"/>
          <p:cNvCxnSpPr/>
          <p:nvPr/>
        </p:nvCxnSpPr>
        <p:spPr>
          <a:xfrm rot="10800000">
            <a:off x="4267200" y="3124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80" name="Google Shape;480;p13"/>
          <p:cNvSpPr/>
          <p:nvPr/>
        </p:nvSpPr>
        <p:spPr>
          <a:xfrm>
            <a:off x="2819400" y="29718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13"/>
          <p:cNvCxnSpPr/>
          <p:nvPr/>
        </p:nvCxnSpPr>
        <p:spPr>
          <a:xfrm rot="10800000">
            <a:off x="2971800" y="31242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482" name="Google Shape;482;p13"/>
          <p:cNvSpPr/>
          <p:nvPr/>
        </p:nvSpPr>
        <p:spPr>
          <a:xfrm>
            <a:off x="997500" y="2895600"/>
            <a:ext cx="15171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5257800" y="2057400"/>
            <a:ext cx="15171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4800600" y="2133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13"/>
          <p:cNvCxnSpPr/>
          <p:nvPr/>
        </p:nvCxnSpPr>
        <p:spPr>
          <a:xfrm flipH="1" rot="10800000">
            <a:off x="4419600" y="22860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486" name="Google Shape;486;p13"/>
          <p:cNvCxnSpPr/>
          <p:nvPr/>
        </p:nvCxnSpPr>
        <p:spPr>
          <a:xfrm rot="-5400000">
            <a:off x="6934200" y="4267200"/>
            <a:ext cx="1600200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487" name="Google Shape;487;p13"/>
          <p:cNvCxnSpPr/>
          <p:nvPr/>
        </p:nvCxnSpPr>
        <p:spPr>
          <a:xfrm rot="5400000">
            <a:off x="6934200" y="5257800"/>
            <a:ext cx="7620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488" name="Google Shape;488;p13"/>
          <p:cNvGrpSpPr/>
          <p:nvPr/>
        </p:nvGrpSpPr>
        <p:grpSpPr>
          <a:xfrm>
            <a:off x="4800600" y="2971800"/>
            <a:ext cx="304800" cy="304800"/>
            <a:chOff x="7848600" y="2438400"/>
            <a:chExt cx="304800" cy="304800"/>
          </a:xfrm>
        </p:grpSpPr>
        <p:sp>
          <p:nvSpPr>
            <p:cNvPr id="489" name="Google Shape;489;p13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13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91" name="Google Shape;491;p13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92" name="Google Shape;492;p13"/>
          <p:cNvGrpSpPr/>
          <p:nvPr/>
        </p:nvGrpSpPr>
        <p:grpSpPr>
          <a:xfrm>
            <a:off x="7848600" y="4421187"/>
            <a:ext cx="304800" cy="304800"/>
            <a:chOff x="7848600" y="2438400"/>
            <a:chExt cx="304800" cy="304800"/>
          </a:xfrm>
        </p:grpSpPr>
        <p:sp>
          <p:nvSpPr>
            <p:cNvPr id="493" name="Google Shape;493;p13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4" name="Google Shape;494;p13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95" name="Google Shape;495;p13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96" name="Google Shape;496;p13"/>
          <p:cNvGrpSpPr/>
          <p:nvPr/>
        </p:nvGrpSpPr>
        <p:grpSpPr>
          <a:xfrm>
            <a:off x="7854950" y="5486400"/>
            <a:ext cx="304800" cy="304800"/>
            <a:chOff x="7848600" y="2438400"/>
            <a:chExt cx="304800" cy="304800"/>
          </a:xfrm>
        </p:grpSpPr>
        <p:sp>
          <p:nvSpPr>
            <p:cNvPr id="497" name="Google Shape;497;p13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8" name="Google Shape;498;p13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99" name="Google Shape;499;p13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506" name="Google Shape;506;p1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Thêm một nút vào sau nút q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== NULL 🡺 chèn vào đầu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!= NULL</a:t>
            </a:r>
            <a:endParaRPr/>
          </a:p>
        </p:txBody>
      </p:sp>
      <p:sp>
        <p:nvSpPr>
          <p:cNvPr id="507" name="Google Shape;507;p14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4038600" y="43434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3962400" y="42672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572000" y="4419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14"/>
          <p:cNvCxnSpPr/>
          <p:nvPr/>
        </p:nvCxnSpPr>
        <p:spPr>
          <a:xfrm rot="10800000">
            <a:off x="4724400" y="4572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12" name="Google Shape;512;p14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14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15" name="Google Shape;515;p14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14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18" name="Google Shape;518;p14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p14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22" name="Google Shape;522;p14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14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26" name="Google Shape;526;p14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14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30" name="Google Shape;530;p14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14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34" name="Google Shape;534;p14"/>
          <p:cNvSpPr/>
          <p:nvPr/>
        </p:nvSpPr>
        <p:spPr>
          <a:xfrm>
            <a:off x="76200" y="5867400"/>
            <a:ext cx="1371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2971800" y="35052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endParaRPr/>
          </a:p>
        </p:txBody>
      </p:sp>
      <p:cxnSp>
        <p:nvCxnSpPr>
          <p:cNvPr id="536" name="Google Shape;536;p14"/>
          <p:cNvCxnSpPr/>
          <p:nvPr/>
        </p:nvCxnSpPr>
        <p:spPr>
          <a:xfrm rot="-5400000">
            <a:off x="2515393" y="4647406"/>
            <a:ext cx="13716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537" name="Google Shape;537;p14"/>
          <p:cNvCxnSpPr/>
          <p:nvPr/>
        </p:nvCxnSpPr>
        <p:spPr>
          <a:xfrm flipH="1" rot="5400000">
            <a:off x="4344193" y="4952206"/>
            <a:ext cx="762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538" name="Google Shape;538;p14"/>
          <p:cNvCxnSpPr/>
          <p:nvPr/>
        </p:nvCxnSpPr>
        <p:spPr>
          <a:xfrm rot="5400000">
            <a:off x="3352800" y="4953000"/>
            <a:ext cx="762000" cy="6096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39" name="Google Shape;539;p14"/>
          <p:cNvSpPr/>
          <p:nvPr/>
        </p:nvSpPr>
        <p:spPr>
          <a:xfrm>
            <a:off x="8153325" y="4572000"/>
            <a:ext cx="990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7848600" y="4648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14"/>
          <p:cNvCxnSpPr/>
          <p:nvPr/>
        </p:nvCxnSpPr>
        <p:spPr>
          <a:xfrm flipH="1" rot="10800000">
            <a:off x="7467600" y="48006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542" name="Google Shape;542;p14"/>
          <p:cNvGrpSpPr/>
          <p:nvPr/>
        </p:nvGrpSpPr>
        <p:grpSpPr>
          <a:xfrm>
            <a:off x="7854950" y="5487987"/>
            <a:ext cx="304800" cy="304800"/>
            <a:chOff x="7848600" y="2438400"/>
            <a:chExt cx="304800" cy="304800"/>
          </a:xfrm>
        </p:grpSpPr>
        <p:sp>
          <p:nvSpPr>
            <p:cNvPr id="543" name="Google Shape;543;p14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4" name="Google Shape;544;p14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45" name="Google Shape;545;p14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546" name="Google Shape;546;p14"/>
          <p:cNvGrpSpPr/>
          <p:nvPr/>
        </p:nvGrpSpPr>
        <p:grpSpPr>
          <a:xfrm>
            <a:off x="5257800" y="4419600"/>
            <a:ext cx="304800" cy="304800"/>
            <a:chOff x="7848600" y="2438400"/>
            <a:chExt cx="304800" cy="304800"/>
          </a:xfrm>
        </p:grpSpPr>
        <p:sp>
          <p:nvSpPr>
            <p:cNvPr id="547" name="Google Shape;547;p14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14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49" name="Google Shape;549;p14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556" name="Google Shape;556;p1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Thêm một nút vào trước nút q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== NULL 🡺 chèn vào đầu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!= NULL 🡺 Tìm nút p trước q rồi thêm vào sau nút p này.</a:t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2743200" y="43434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2667000" y="42672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3276600" y="4419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15"/>
          <p:cNvCxnSpPr/>
          <p:nvPr/>
        </p:nvCxnSpPr>
        <p:spPr>
          <a:xfrm rot="10800000">
            <a:off x="3429000" y="45720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62" name="Google Shape;562;p15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15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65" name="Google Shape;565;p15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15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68" name="Google Shape;568;p15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15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72" name="Google Shape;572;p15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15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76" name="Google Shape;576;p15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15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80" name="Google Shape;580;p15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15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84" name="Google Shape;584;p15"/>
          <p:cNvSpPr/>
          <p:nvPr/>
        </p:nvSpPr>
        <p:spPr>
          <a:xfrm>
            <a:off x="76200" y="5867400"/>
            <a:ext cx="12954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4267200" y="35052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endParaRPr/>
          </a:p>
        </p:txBody>
      </p:sp>
      <p:cxnSp>
        <p:nvCxnSpPr>
          <p:cNvPr id="586" name="Google Shape;586;p15"/>
          <p:cNvCxnSpPr/>
          <p:nvPr/>
        </p:nvCxnSpPr>
        <p:spPr>
          <a:xfrm rot="-5400000">
            <a:off x="3810793" y="4647406"/>
            <a:ext cx="13716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587" name="Google Shape;587;p15"/>
          <p:cNvCxnSpPr/>
          <p:nvPr/>
        </p:nvCxnSpPr>
        <p:spPr>
          <a:xfrm rot="5400000">
            <a:off x="3048000" y="5257800"/>
            <a:ext cx="762000" cy="31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588" name="Google Shape;588;p15"/>
          <p:cNvCxnSpPr/>
          <p:nvPr/>
        </p:nvCxnSpPr>
        <p:spPr>
          <a:xfrm flipH="1" rot="5400000">
            <a:off x="3314700" y="4686300"/>
            <a:ext cx="762000" cy="533400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89" name="Google Shape;589;p15"/>
          <p:cNvSpPr/>
          <p:nvPr/>
        </p:nvSpPr>
        <p:spPr>
          <a:xfrm>
            <a:off x="8153400" y="4572000"/>
            <a:ext cx="990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7848600" y="4648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15"/>
          <p:cNvCxnSpPr/>
          <p:nvPr/>
        </p:nvCxnSpPr>
        <p:spPr>
          <a:xfrm flipH="1" rot="10800000">
            <a:off x="7467600" y="48006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592" name="Google Shape;592;p15"/>
          <p:cNvSpPr/>
          <p:nvPr/>
        </p:nvSpPr>
        <p:spPr>
          <a:xfrm>
            <a:off x="2971800" y="62484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endParaRPr/>
          </a:p>
        </p:txBody>
      </p:sp>
      <p:cxnSp>
        <p:nvCxnSpPr>
          <p:cNvPr id="593" name="Google Shape;593;p15"/>
          <p:cNvCxnSpPr/>
          <p:nvPr/>
        </p:nvCxnSpPr>
        <p:spPr>
          <a:xfrm rot="5400000">
            <a:off x="3010693" y="6133306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594" name="Google Shape;594;p15"/>
          <p:cNvGrpSpPr/>
          <p:nvPr/>
        </p:nvGrpSpPr>
        <p:grpSpPr>
          <a:xfrm>
            <a:off x="7854950" y="5487987"/>
            <a:ext cx="304800" cy="304800"/>
            <a:chOff x="7848600" y="2438400"/>
            <a:chExt cx="304800" cy="304800"/>
          </a:xfrm>
        </p:grpSpPr>
        <p:sp>
          <p:nvSpPr>
            <p:cNvPr id="595" name="Google Shape;595;p15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6" name="Google Shape;596;p15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97" name="Google Shape;597;p15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598" name="Google Shape;598;p15"/>
          <p:cNvGrpSpPr/>
          <p:nvPr/>
        </p:nvGrpSpPr>
        <p:grpSpPr>
          <a:xfrm>
            <a:off x="3962400" y="4421187"/>
            <a:ext cx="304800" cy="304800"/>
            <a:chOff x="7848600" y="2438400"/>
            <a:chExt cx="304800" cy="304800"/>
          </a:xfrm>
        </p:grpSpPr>
        <p:sp>
          <p:nvSpPr>
            <p:cNvPr id="599" name="Google Shape;599;p15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15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01" name="Google Shape;601;p15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6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608" name="Google Shape;608;p1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Hủy một nút đầu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rỗng 🡺 không làm gì cả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Danh sách không rỗng (nếu sau khi hủy mà pHead = NULL thì pTail = NULL)</a:t>
            </a:r>
            <a:endParaRPr/>
          </a:p>
        </p:txBody>
      </p:sp>
      <p:sp>
        <p:nvSpPr>
          <p:cNvPr id="609" name="Google Shape;609;p16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16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13" name="Google Shape;613;p16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16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16" name="Google Shape;616;p16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617" name="Google Shape;617;p16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9" name="Google Shape;619;p16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20" name="Google Shape;620;p16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16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24" name="Google Shape;624;p16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16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28" name="Google Shape;628;p16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16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32" name="Google Shape;632;p16"/>
          <p:cNvSpPr/>
          <p:nvPr/>
        </p:nvSpPr>
        <p:spPr>
          <a:xfrm>
            <a:off x="0" y="5867400"/>
            <a:ext cx="1219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8159750" y="4572000"/>
            <a:ext cx="9249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7848600" y="4648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16"/>
          <p:cNvCxnSpPr/>
          <p:nvPr/>
        </p:nvCxnSpPr>
        <p:spPr>
          <a:xfrm flipH="1" rot="10800000">
            <a:off x="7467600" y="48006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636" name="Google Shape;636;p16"/>
          <p:cNvCxnSpPr/>
          <p:nvPr/>
        </p:nvCxnSpPr>
        <p:spPr>
          <a:xfrm rot="5400000">
            <a:off x="417512" y="5219700"/>
            <a:ext cx="839787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7" name="Google Shape;637;p16"/>
          <p:cNvCxnSpPr/>
          <p:nvPr/>
        </p:nvCxnSpPr>
        <p:spPr>
          <a:xfrm rot="10800000">
            <a:off x="838200" y="4800600"/>
            <a:ext cx="23622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8" name="Google Shape;638;p16"/>
          <p:cNvCxnSpPr/>
          <p:nvPr/>
        </p:nvCxnSpPr>
        <p:spPr>
          <a:xfrm rot="-5400000">
            <a:off x="2934493" y="5066506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39" name="Google Shape;639;p16"/>
          <p:cNvSpPr/>
          <p:nvPr/>
        </p:nvSpPr>
        <p:spPr>
          <a:xfrm>
            <a:off x="2438400" y="6248400"/>
            <a:ext cx="18831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 = pHead</a:t>
            </a:r>
            <a:endParaRPr/>
          </a:p>
        </p:txBody>
      </p:sp>
      <p:cxnSp>
        <p:nvCxnSpPr>
          <p:cNvPr id="640" name="Google Shape;640;p16"/>
          <p:cNvCxnSpPr/>
          <p:nvPr/>
        </p:nvCxnSpPr>
        <p:spPr>
          <a:xfrm flipH="1" rot="-5400000">
            <a:off x="2278062" y="6088062"/>
            <a:ext cx="254000" cy="219075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641" name="Google Shape;641;p16"/>
          <p:cNvGrpSpPr/>
          <p:nvPr/>
        </p:nvGrpSpPr>
        <p:grpSpPr>
          <a:xfrm>
            <a:off x="1254125" y="5029200"/>
            <a:ext cx="1219200" cy="1219200"/>
            <a:chOff x="1254456" y="5029200"/>
            <a:chExt cx="1219200" cy="1219200"/>
          </a:xfrm>
        </p:grpSpPr>
        <p:cxnSp>
          <p:nvCxnSpPr>
            <p:cNvPr id="642" name="Google Shape;642;p16"/>
            <p:cNvCxnSpPr/>
            <p:nvPr/>
          </p:nvCxnSpPr>
          <p:spPr>
            <a:xfrm rot="5400000">
              <a:off x="1433004" y="5207748"/>
              <a:ext cx="862104" cy="862104"/>
            </a:xfrm>
            <a:prstGeom prst="straightConnector1">
              <a:avLst/>
            </a:prstGeom>
            <a:noFill/>
            <a:ln cap="flat" cmpd="sng" w="1016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43" name="Google Shape;643;p16"/>
            <p:cNvSpPr/>
            <p:nvPr/>
          </p:nvSpPr>
          <p:spPr>
            <a:xfrm>
              <a:off x="1254456" y="5029200"/>
              <a:ext cx="1219200" cy="1219200"/>
            </a:xfrm>
            <a:prstGeom prst="ellipse">
              <a:avLst/>
            </a:prstGeom>
            <a:noFill/>
            <a:ln cap="flat" cmpd="sng" w="1016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6"/>
          <p:cNvGrpSpPr/>
          <p:nvPr/>
        </p:nvGrpSpPr>
        <p:grpSpPr>
          <a:xfrm>
            <a:off x="7854950" y="5487987"/>
            <a:ext cx="304800" cy="304800"/>
            <a:chOff x="7848600" y="2438400"/>
            <a:chExt cx="304800" cy="304800"/>
          </a:xfrm>
        </p:grpSpPr>
        <p:sp>
          <p:nvSpPr>
            <p:cNvPr id="645" name="Google Shape;645;p16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6" name="Google Shape;646;p16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47" name="Google Shape;647;p16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7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654" name="Google Shape;654;p17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Hủy một nút sau nút q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== NULL 🡺 hủy nút đầu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!= NULL</a:t>
            </a:r>
            <a:endParaRPr/>
          </a:p>
        </p:txBody>
      </p:sp>
      <p:sp>
        <p:nvSpPr>
          <p:cNvPr id="655" name="Google Shape;655;p17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14478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685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p17"/>
          <p:cNvCxnSpPr/>
          <p:nvPr/>
        </p:nvCxnSpPr>
        <p:spPr>
          <a:xfrm rot="10800000">
            <a:off x="838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59" name="Google Shape;659;p17"/>
          <p:cNvSpPr/>
          <p:nvPr/>
        </p:nvSpPr>
        <p:spPr>
          <a:xfrm>
            <a:off x="13716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19812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p17"/>
          <p:cNvCxnSpPr/>
          <p:nvPr/>
        </p:nvCxnSpPr>
        <p:spPr>
          <a:xfrm rot="10800000">
            <a:off x="21336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62" name="Google Shape;662;p17"/>
          <p:cNvSpPr/>
          <p:nvPr/>
        </p:nvSpPr>
        <p:spPr>
          <a:xfrm>
            <a:off x="27432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26670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32766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p17"/>
          <p:cNvCxnSpPr/>
          <p:nvPr/>
        </p:nvCxnSpPr>
        <p:spPr>
          <a:xfrm rot="10800000">
            <a:off x="34290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66" name="Google Shape;666;p17"/>
          <p:cNvSpPr/>
          <p:nvPr/>
        </p:nvSpPr>
        <p:spPr>
          <a:xfrm>
            <a:off x="40386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39624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45720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17"/>
          <p:cNvCxnSpPr/>
          <p:nvPr/>
        </p:nvCxnSpPr>
        <p:spPr>
          <a:xfrm rot="10800000">
            <a:off x="47244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70" name="Google Shape;670;p17"/>
          <p:cNvSpPr/>
          <p:nvPr/>
        </p:nvSpPr>
        <p:spPr>
          <a:xfrm>
            <a:off x="53340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52578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58674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17"/>
          <p:cNvCxnSpPr/>
          <p:nvPr/>
        </p:nvCxnSpPr>
        <p:spPr>
          <a:xfrm rot="10800000">
            <a:off x="60198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74" name="Google Shape;674;p17"/>
          <p:cNvSpPr/>
          <p:nvPr/>
        </p:nvSpPr>
        <p:spPr>
          <a:xfrm>
            <a:off x="6629400" y="5410200"/>
            <a:ext cx="4572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/>
          </a:p>
        </p:txBody>
      </p:sp>
      <p:sp>
        <p:nvSpPr>
          <p:cNvPr id="675" name="Google Shape;675;p17"/>
          <p:cNvSpPr/>
          <p:nvPr/>
        </p:nvSpPr>
        <p:spPr>
          <a:xfrm>
            <a:off x="6553200" y="5334000"/>
            <a:ext cx="9906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7162800" y="5486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17"/>
          <p:cNvCxnSpPr/>
          <p:nvPr/>
        </p:nvCxnSpPr>
        <p:spPr>
          <a:xfrm rot="10800000">
            <a:off x="7315200" y="5638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78" name="Google Shape;678;p17"/>
          <p:cNvSpPr/>
          <p:nvPr/>
        </p:nvSpPr>
        <p:spPr>
          <a:xfrm>
            <a:off x="76200" y="5867400"/>
            <a:ext cx="14475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</a:t>
            </a: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8305800" y="45720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</a:t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7848600" y="4648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17"/>
          <p:cNvCxnSpPr/>
          <p:nvPr/>
        </p:nvCxnSpPr>
        <p:spPr>
          <a:xfrm flipH="1" rot="10800000">
            <a:off x="7467600" y="4800600"/>
            <a:ext cx="534987" cy="533400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682" name="Google Shape;682;p17"/>
          <p:cNvCxnSpPr/>
          <p:nvPr/>
        </p:nvCxnSpPr>
        <p:spPr>
          <a:xfrm rot="5400000">
            <a:off x="3009900" y="5219700"/>
            <a:ext cx="839787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3" name="Google Shape;683;p17"/>
          <p:cNvCxnSpPr/>
          <p:nvPr/>
        </p:nvCxnSpPr>
        <p:spPr>
          <a:xfrm rot="10800000">
            <a:off x="3430587" y="4800600"/>
            <a:ext cx="23622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4" name="Google Shape;684;p17"/>
          <p:cNvCxnSpPr/>
          <p:nvPr/>
        </p:nvCxnSpPr>
        <p:spPr>
          <a:xfrm rot="-5400000">
            <a:off x="5526881" y="5066506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85" name="Google Shape;685;p17"/>
          <p:cNvSpPr/>
          <p:nvPr/>
        </p:nvSpPr>
        <p:spPr>
          <a:xfrm>
            <a:off x="3505200" y="6248400"/>
            <a:ext cx="25146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 = q-&gt;pNext</a:t>
            </a:r>
            <a:endParaRPr/>
          </a:p>
        </p:txBody>
      </p:sp>
      <p:cxnSp>
        <p:nvCxnSpPr>
          <p:cNvPr id="686" name="Google Shape;686;p17"/>
          <p:cNvCxnSpPr/>
          <p:nvPr/>
        </p:nvCxnSpPr>
        <p:spPr>
          <a:xfrm rot="5400000">
            <a:off x="3790156" y="6090443"/>
            <a:ext cx="254000" cy="214312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87" name="Google Shape;687;p17"/>
          <p:cNvSpPr/>
          <p:nvPr/>
        </p:nvSpPr>
        <p:spPr>
          <a:xfrm>
            <a:off x="2895600" y="3505200"/>
            <a:ext cx="4572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endParaRPr/>
          </a:p>
        </p:txBody>
      </p:sp>
      <p:cxnSp>
        <p:nvCxnSpPr>
          <p:cNvPr id="688" name="Google Shape;688;p17"/>
          <p:cNvCxnSpPr/>
          <p:nvPr/>
        </p:nvCxnSpPr>
        <p:spPr>
          <a:xfrm rot="-5400000">
            <a:off x="2439193" y="4647406"/>
            <a:ext cx="13716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689" name="Google Shape;689;p17"/>
          <p:cNvGrpSpPr/>
          <p:nvPr/>
        </p:nvGrpSpPr>
        <p:grpSpPr>
          <a:xfrm>
            <a:off x="3844925" y="5029200"/>
            <a:ext cx="1219200" cy="1219200"/>
            <a:chOff x="3845256" y="5029200"/>
            <a:chExt cx="1219200" cy="1219200"/>
          </a:xfrm>
        </p:grpSpPr>
        <p:cxnSp>
          <p:nvCxnSpPr>
            <p:cNvPr id="690" name="Google Shape;690;p17"/>
            <p:cNvCxnSpPr/>
            <p:nvPr/>
          </p:nvCxnSpPr>
          <p:spPr>
            <a:xfrm rot="5400000">
              <a:off x="4023804" y="5207748"/>
              <a:ext cx="862104" cy="862104"/>
            </a:xfrm>
            <a:prstGeom prst="straightConnector1">
              <a:avLst/>
            </a:prstGeom>
            <a:noFill/>
            <a:ln cap="flat" cmpd="sng" w="1016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91" name="Google Shape;691;p17"/>
            <p:cNvSpPr/>
            <p:nvPr/>
          </p:nvSpPr>
          <p:spPr>
            <a:xfrm>
              <a:off x="3845256" y="5029200"/>
              <a:ext cx="1219200" cy="1219200"/>
            </a:xfrm>
            <a:prstGeom prst="ellipse">
              <a:avLst/>
            </a:prstGeom>
            <a:noFill/>
            <a:ln cap="flat" cmpd="sng" w="1016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17"/>
          <p:cNvGrpSpPr/>
          <p:nvPr/>
        </p:nvGrpSpPr>
        <p:grpSpPr>
          <a:xfrm>
            <a:off x="7854950" y="5487987"/>
            <a:ext cx="304800" cy="304800"/>
            <a:chOff x="7848600" y="2438400"/>
            <a:chExt cx="304800" cy="304800"/>
          </a:xfrm>
        </p:grpSpPr>
        <p:sp>
          <p:nvSpPr>
            <p:cNvPr id="693" name="Google Shape;693;p17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4" name="Google Shape;694;p17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5" name="Google Shape;695;p17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8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Danh sách liên kết đơn</a:t>
            </a:r>
            <a:endParaRPr/>
          </a:p>
        </p:txBody>
      </p:sp>
      <p:sp>
        <p:nvSpPr>
          <p:cNvPr id="702" name="Google Shape;702;p18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Hủy một nút cuối danh sách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cuối p (p = pTail)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Tìm nút q trước nút p (nếu có)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Hủy nút sau nút q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Hủy một nút có khóa k (Info = k)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Tìm nút p có khóa k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và nút q trước đó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Hủy nút sau nút q (nếu có)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Hủy toàn bộ danh sách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Duyệt danh sách để in/tìm/đếm các nút</a:t>
            </a:r>
            <a:endParaRPr/>
          </a:p>
        </p:txBody>
      </p:sp>
      <p:sp>
        <p:nvSpPr>
          <p:cNvPr id="703" name="Google Shape;703;p18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c97cbf015e_0_7"/>
          <p:cNvSpPr txBox="1"/>
          <p:nvPr>
            <p:ph type="title"/>
          </p:nvPr>
        </p:nvSpPr>
        <p:spPr>
          <a:xfrm>
            <a:off x="1143000" y="381000"/>
            <a:ext cx="75438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sánh dslk và mảng</a:t>
            </a:r>
            <a:endParaRPr/>
          </a:p>
        </p:txBody>
      </p:sp>
      <p:sp>
        <p:nvSpPr>
          <p:cNvPr id="710" name="Google Shape;710;g2c97cbf015e_0_7"/>
          <p:cNvSpPr txBox="1"/>
          <p:nvPr/>
        </p:nvSpPr>
        <p:spPr>
          <a:xfrm>
            <a:off x="4800600" y="2438400"/>
            <a:ext cx="4191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1790" lvl="0" marL="320040" rtl="0" algn="l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Cần xác định trước số phần tử. </a:t>
            </a:r>
            <a:endParaRPr sz="1700">
              <a:solidFill>
                <a:srgbClr val="0070C0"/>
              </a:solidFill>
            </a:endParaRPr>
          </a:p>
          <a:p>
            <a:pPr indent="-351790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Cần cấp phát vùng nhớ liên tục đủ lớn để lưu trữ mảng </a:t>
            </a:r>
            <a:r>
              <a:rPr b="1" lang="en-US" sz="1700">
                <a:solidFill>
                  <a:srgbClr val="0070C0"/>
                </a:solidFill>
              </a:rPr>
              <a:t>→</a:t>
            </a:r>
            <a:r>
              <a:rPr lang="en-US" sz="1700">
                <a:solidFill>
                  <a:srgbClr val="0070C0"/>
                </a:solidFill>
              </a:rPr>
              <a:t> lãng phí nếu không dùng hết. </a:t>
            </a:r>
            <a:endParaRPr sz="1700">
              <a:solidFill>
                <a:srgbClr val="0070C0"/>
              </a:solidFill>
            </a:endParaRPr>
          </a:p>
          <a:p>
            <a:pPr indent="-351790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Truy xuất ngẫu nhiên, đơn giản, nhanh chóng. </a:t>
            </a:r>
            <a:endParaRPr sz="1700">
              <a:solidFill>
                <a:srgbClr val="0070C0"/>
              </a:solidFill>
            </a:endParaRPr>
          </a:p>
          <a:p>
            <a:pPr indent="-351790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Không cần </a:t>
            </a:r>
            <a:endParaRPr sz="1700">
              <a:solidFill>
                <a:srgbClr val="0070C0"/>
              </a:solidFill>
            </a:endParaRPr>
          </a:p>
          <a:p>
            <a:pPr indent="-351790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Thêm/xóa phần tử cuối: O(1) </a:t>
            </a:r>
            <a:endParaRPr sz="1700">
              <a:solidFill>
                <a:srgbClr val="0070C0"/>
              </a:solidFill>
            </a:endParaRPr>
          </a:p>
          <a:p>
            <a:pPr indent="-351790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Noto Sans Symbols"/>
              <a:buChar char="◻"/>
            </a:pPr>
            <a:r>
              <a:rPr lang="en-US" sz="1700">
                <a:solidFill>
                  <a:srgbClr val="0070C0"/>
                </a:solidFill>
              </a:rPr>
              <a:t>Thêm/xóa phần tử giữa: O(n) </a:t>
            </a:r>
            <a:endParaRPr sz="1700">
              <a:solidFill>
                <a:srgbClr val="0070C0"/>
              </a:solidFill>
            </a:endParaRPr>
          </a:p>
          <a:p>
            <a:pPr indent="-243840" lvl="0" marL="32004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70C0"/>
              </a:solidFill>
            </a:endParaRPr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70C0"/>
              </a:solidFill>
            </a:endParaRPr>
          </a:p>
        </p:txBody>
      </p:sp>
      <p:sp>
        <p:nvSpPr>
          <p:cNvPr id="711" name="Google Shape;711;g2c97cbf015e_0_7"/>
          <p:cNvSpPr txBox="1"/>
          <p:nvPr/>
        </p:nvSpPr>
        <p:spPr>
          <a:xfrm>
            <a:off x="0" y="1272222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g2c97cbf015e_0_7"/>
          <p:cNvSpPr txBox="1"/>
          <p:nvPr/>
        </p:nvSpPr>
        <p:spPr>
          <a:xfrm>
            <a:off x="609600" y="6248206"/>
            <a:ext cx="542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Cấu trúc dữ liệu và giải thuật – HCMUS 2012</a:t>
            </a:r>
            <a:endParaRPr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3" name="Google Shape;713;g2c97cbf015e_0_7"/>
          <p:cNvSpPr txBox="1"/>
          <p:nvPr/>
        </p:nvSpPr>
        <p:spPr>
          <a:xfrm>
            <a:off x="609600" y="1371600"/>
            <a:ext cx="3886200" cy="6402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Danh sách liên kết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714" name="Google Shape;714;g2c97cbf015e_0_7"/>
          <p:cNvSpPr txBox="1"/>
          <p:nvPr/>
        </p:nvSpPr>
        <p:spPr>
          <a:xfrm>
            <a:off x="4800600" y="1371600"/>
            <a:ext cx="3886200" cy="64020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Mảng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715" name="Google Shape;715;g2c97cbf015e_0_7"/>
          <p:cNvSpPr txBox="1"/>
          <p:nvPr/>
        </p:nvSpPr>
        <p:spPr>
          <a:xfrm>
            <a:off x="381000" y="2438400"/>
            <a:ext cx="41148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7505" lvl="0" marL="320040" rtl="0" algn="l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Số phần tử không cần xác định trước. </a:t>
            </a:r>
            <a:endParaRPr sz="1700">
              <a:solidFill>
                <a:srgbClr val="0070C0"/>
              </a:solidFill>
            </a:endParaRPr>
          </a:p>
          <a:p>
            <a:pPr indent="-357505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Cấp phát vùng nhớ riêng lẻ cho từng phần tử. </a:t>
            </a:r>
            <a:endParaRPr sz="1700">
              <a:solidFill>
                <a:srgbClr val="0070C0"/>
              </a:solidFill>
            </a:endParaRPr>
          </a:p>
          <a:p>
            <a:pPr indent="-357505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Truy xuất tuần tự,  danh sách liên kết đơn chỉ có thể duyệt 1 chiều. </a:t>
            </a:r>
            <a:endParaRPr sz="1700">
              <a:solidFill>
                <a:srgbClr val="0070C0"/>
              </a:solidFill>
            </a:endParaRPr>
          </a:p>
          <a:p>
            <a:pPr indent="-357505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Cần nhiều bộ nhớ hơn để lưu trữ các liên kết</a:t>
            </a:r>
            <a:endParaRPr sz="1700">
              <a:solidFill>
                <a:srgbClr val="0070C0"/>
              </a:solidFill>
            </a:endParaRPr>
          </a:p>
          <a:p>
            <a:pPr indent="-357505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Thêm/xóa phần tử cuối: O(n)</a:t>
            </a:r>
            <a:endParaRPr sz="1700">
              <a:solidFill>
                <a:srgbClr val="0070C0"/>
              </a:solidFill>
            </a:endParaRPr>
          </a:p>
          <a:p>
            <a:pPr indent="-357505" lvl="0" marL="320040" rtl="0" algn="l"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700"/>
              <a:buFont typeface="Arial"/>
              <a:buChar char="◻"/>
            </a:pPr>
            <a:r>
              <a:rPr lang="en-US" sz="1700">
                <a:solidFill>
                  <a:srgbClr val="0070C0"/>
                </a:solidFill>
              </a:rPr>
              <a:t>Thêm/xóa phần tử giữa: O(1)  </a:t>
            </a:r>
            <a:endParaRPr sz="17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9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Ứng dụng của DSLK đơn</a:t>
            </a:r>
            <a:endParaRPr/>
          </a:p>
        </p:txBody>
      </p:sp>
      <p:sp>
        <p:nvSpPr>
          <p:cNvPr id="722" name="Google Shape;722;p19"/>
          <p:cNvSpPr txBox="1"/>
          <p:nvPr>
            <p:ph idx="1" type="body"/>
          </p:nvPr>
        </p:nvSpPr>
        <p:spPr>
          <a:xfrm>
            <a:off x="227000" y="1525575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Stack (Ngăn xếp)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Làm việc theo cơ chế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LIFO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irst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ut)</a:t>
            </a:r>
            <a:endParaRPr/>
          </a:p>
        </p:txBody>
      </p:sp>
      <p:sp>
        <p:nvSpPr>
          <p:cNvPr id="723" name="Google Shape;723;p19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grpSp>
        <p:nvGrpSpPr>
          <p:cNvPr id="724" name="Google Shape;724;p19"/>
          <p:cNvGrpSpPr/>
          <p:nvPr/>
        </p:nvGrpSpPr>
        <p:grpSpPr>
          <a:xfrm>
            <a:off x="3579812" y="3352800"/>
            <a:ext cx="990600" cy="609600"/>
            <a:chOff x="1371600" y="2286000"/>
            <a:chExt cx="990600" cy="609600"/>
          </a:xfrm>
        </p:grpSpPr>
        <p:sp>
          <p:nvSpPr>
            <p:cNvPr id="725" name="Google Shape;725;p19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p19"/>
          <p:cNvSpPr/>
          <p:nvPr/>
        </p:nvSpPr>
        <p:spPr>
          <a:xfrm>
            <a:off x="4189412" y="3505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19"/>
          <p:cNvCxnSpPr/>
          <p:nvPr/>
        </p:nvCxnSpPr>
        <p:spPr>
          <a:xfrm rot="-5400000">
            <a:off x="4075906" y="3925093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29" name="Google Shape;729;p19"/>
          <p:cNvGrpSpPr/>
          <p:nvPr/>
        </p:nvGrpSpPr>
        <p:grpSpPr>
          <a:xfrm>
            <a:off x="3579812" y="4191000"/>
            <a:ext cx="990600" cy="609600"/>
            <a:chOff x="1371600" y="2286000"/>
            <a:chExt cx="990600" cy="609600"/>
          </a:xfrm>
        </p:grpSpPr>
        <p:sp>
          <p:nvSpPr>
            <p:cNvPr id="730" name="Google Shape;730;p19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2" name="Google Shape;732;p19"/>
          <p:cNvSpPr/>
          <p:nvPr/>
        </p:nvSpPr>
        <p:spPr>
          <a:xfrm>
            <a:off x="4189412" y="4343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19"/>
          <p:cNvCxnSpPr/>
          <p:nvPr/>
        </p:nvCxnSpPr>
        <p:spPr>
          <a:xfrm rot="-5400000">
            <a:off x="4075906" y="4763293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34" name="Google Shape;734;p19"/>
          <p:cNvGrpSpPr/>
          <p:nvPr/>
        </p:nvGrpSpPr>
        <p:grpSpPr>
          <a:xfrm>
            <a:off x="3579812" y="5029200"/>
            <a:ext cx="990600" cy="609600"/>
            <a:chOff x="1371600" y="2286000"/>
            <a:chExt cx="990600" cy="609600"/>
          </a:xfrm>
        </p:grpSpPr>
        <p:sp>
          <p:nvSpPr>
            <p:cNvPr id="735" name="Google Shape;735;p19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7" name="Google Shape;737;p19"/>
          <p:cNvSpPr/>
          <p:nvPr/>
        </p:nvSpPr>
        <p:spPr>
          <a:xfrm>
            <a:off x="4189412" y="5181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p19"/>
          <p:cNvCxnSpPr/>
          <p:nvPr/>
        </p:nvCxnSpPr>
        <p:spPr>
          <a:xfrm rot="-5400000">
            <a:off x="4075906" y="5601493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39" name="Google Shape;739;p19"/>
          <p:cNvGrpSpPr/>
          <p:nvPr/>
        </p:nvGrpSpPr>
        <p:grpSpPr>
          <a:xfrm>
            <a:off x="3351212" y="3352800"/>
            <a:ext cx="1449387" cy="2973387"/>
            <a:chOff x="3351212" y="3352800"/>
            <a:chExt cx="1449388" cy="2973388"/>
          </a:xfrm>
        </p:grpSpPr>
        <p:cxnSp>
          <p:nvCxnSpPr>
            <p:cNvPr id="740" name="Google Shape;740;p19"/>
            <p:cNvCxnSpPr/>
            <p:nvPr/>
          </p:nvCxnSpPr>
          <p:spPr>
            <a:xfrm rot="-5400000">
              <a:off x="1866106" y="4838700"/>
              <a:ext cx="2971800" cy="1588"/>
            </a:xfrm>
            <a:prstGeom prst="straightConnector1">
              <a:avLst/>
            </a:prstGeom>
            <a:noFill/>
            <a:ln cap="flat" cmpd="sng" w="101600">
              <a:solidFill>
                <a:srgbClr val="5CAD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41" name="Google Shape;741;p19"/>
            <p:cNvCxnSpPr/>
            <p:nvPr/>
          </p:nvCxnSpPr>
          <p:spPr>
            <a:xfrm>
              <a:off x="3352006" y="6324600"/>
              <a:ext cx="1447800" cy="1588"/>
            </a:xfrm>
            <a:prstGeom prst="straightConnector1">
              <a:avLst/>
            </a:prstGeom>
            <a:noFill/>
            <a:ln cap="flat" cmpd="sng" w="101600">
              <a:solidFill>
                <a:srgbClr val="5CAD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42" name="Google Shape;742;p19"/>
            <p:cNvCxnSpPr/>
            <p:nvPr/>
          </p:nvCxnSpPr>
          <p:spPr>
            <a:xfrm rot="-5400000">
              <a:off x="3314303" y="4838303"/>
              <a:ext cx="2971800" cy="794"/>
            </a:xfrm>
            <a:prstGeom prst="straightConnector1">
              <a:avLst/>
            </a:prstGeom>
            <a:noFill/>
            <a:ln cap="flat" cmpd="sng" w="101600">
              <a:solidFill>
                <a:srgbClr val="5CAD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743" name="Google Shape;743;p19"/>
          <p:cNvSpPr/>
          <p:nvPr/>
        </p:nvSpPr>
        <p:spPr>
          <a:xfrm>
            <a:off x="2362200" y="3505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p19"/>
          <p:cNvCxnSpPr/>
          <p:nvPr/>
        </p:nvCxnSpPr>
        <p:spPr>
          <a:xfrm rot="10800000">
            <a:off x="2514600" y="3657600"/>
            <a:ext cx="10668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745" name="Google Shape;745;p19"/>
          <p:cNvSpPr/>
          <p:nvPr/>
        </p:nvSpPr>
        <p:spPr>
          <a:xfrm>
            <a:off x="347200" y="3429000"/>
            <a:ext cx="18627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(Top) pHead</a:t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5486400" y="5181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" name="Google Shape;747;p19"/>
          <p:cNvCxnSpPr/>
          <p:nvPr/>
        </p:nvCxnSpPr>
        <p:spPr>
          <a:xfrm>
            <a:off x="4572000" y="5334000"/>
            <a:ext cx="10668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748" name="Google Shape;748;p19"/>
          <p:cNvSpPr/>
          <p:nvPr/>
        </p:nvSpPr>
        <p:spPr>
          <a:xfrm>
            <a:off x="5867400" y="5105400"/>
            <a:ext cx="30738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 (Bottom)</a:t>
            </a:r>
            <a:endParaRPr/>
          </a:p>
        </p:txBody>
      </p:sp>
      <p:grpSp>
        <p:nvGrpSpPr>
          <p:cNvPr id="749" name="Google Shape;749;p19"/>
          <p:cNvGrpSpPr/>
          <p:nvPr/>
        </p:nvGrpSpPr>
        <p:grpSpPr>
          <a:xfrm>
            <a:off x="4191000" y="5865812"/>
            <a:ext cx="304800" cy="304800"/>
            <a:chOff x="7848600" y="2438400"/>
            <a:chExt cx="304800" cy="304800"/>
          </a:xfrm>
        </p:grpSpPr>
        <p:sp>
          <p:nvSpPr>
            <p:cNvPr id="750" name="Google Shape;750;p19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19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52" name="Google Shape;752;p19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c97cbf015e_0_29"/>
          <p:cNvSpPr txBox="1"/>
          <p:nvPr>
            <p:ph type="title"/>
          </p:nvPr>
        </p:nvSpPr>
        <p:spPr>
          <a:xfrm>
            <a:off x="1143000" y="381000"/>
            <a:ext cx="6705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Ứng dụng của DSLK đơn</a:t>
            </a:r>
            <a:endParaRPr/>
          </a:p>
        </p:txBody>
      </p:sp>
      <p:sp>
        <p:nvSpPr>
          <p:cNvPr id="759" name="Google Shape;759;g2c97cbf015e_0_29"/>
          <p:cNvSpPr txBox="1"/>
          <p:nvPr>
            <p:ph idx="1" type="body"/>
          </p:nvPr>
        </p:nvSpPr>
        <p:spPr>
          <a:xfrm>
            <a:off x="227000" y="1525575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Stack (Ngăn xếp)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lang="en-US"/>
              <a:t>Các thao tác cơ bản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push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pop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peek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isEmpty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Lưu trữ ngăn xếp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Dùng mảng 1 chiều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hoặc dùng danh sách liên kết</a:t>
            </a:r>
            <a:endParaRPr/>
          </a:p>
        </p:txBody>
      </p:sp>
      <p:sp>
        <p:nvSpPr>
          <p:cNvPr id="760" name="Google Shape;760;g2c97cbf015e_0_29"/>
          <p:cNvSpPr txBox="1"/>
          <p:nvPr/>
        </p:nvSpPr>
        <p:spPr>
          <a:xfrm>
            <a:off x="5181600" y="6477000"/>
            <a:ext cx="2895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0"/>
          <p:cNvSpPr txBox="1"/>
          <p:nvPr>
            <p:ph type="title"/>
          </p:nvPr>
        </p:nvSpPr>
        <p:spPr>
          <a:xfrm>
            <a:off x="1143000" y="381000"/>
            <a:ext cx="6705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Ứng dụng của DSLK đơn</a:t>
            </a:r>
            <a:endParaRPr/>
          </a:p>
        </p:txBody>
      </p:sp>
      <p:sp>
        <p:nvSpPr>
          <p:cNvPr id="767" name="Google Shape;767;p20"/>
          <p:cNvSpPr txBox="1"/>
          <p:nvPr>
            <p:ph idx="1" type="body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A85FF"/>
                </a:solidFill>
                <a:latin typeface="Tahoma"/>
                <a:ea typeface="Tahoma"/>
                <a:cs typeface="Tahoma"/>
                <a:sym typeface="Tahoma"/>
              </a:rPr>
              <a:t>Queue (Hàng đợi)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Làm việc theo cơ chế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FIFO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irst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irst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ut)</a:t>
            </a:r>
            <a:endParaRPr/>
          </a:p>
        </p:txBody>
      </p:sp>
      <p:sp>
        <p:nvSpPr>
          <p:cNvPr id="768" name="Google Shape;768;p20"/>
          <p:cNvSpPr txBox="1"/>
          <p:nvPr/>
        </p:nvSpPr>
        <p:spPr>
          <a:xfrm>
            <a:off x="5181600" y="6477000"/>
            <a:ext cx="2895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  <p:grpSp>
        <p:nvGrpSpPr>
          <p:cNvPr id="769" name="Google Shape;769;p20"/>
          <p:cNvGrpSpPr/>
          <p:nvPr/>
        </p:nvGrpSpPr>
        <p:grpSpPr>
          <a:xfrm>
            <a:off x="1600200" y="4191000"/>
            <a:ext cx="990600" cy="609600"/>
            <a:chOff x="1371600" y="2286000"/>
            <a:chExt cx="990600" cy="609600"/>
          </a:xfrm>
        </p:grpSpPr>
        <p:sp>
          <p:nvSpPr>
            <p:cNvPr id="770" name="Google Shape;770;p20"/>
            <p:cNvSpPr/>
            <p:nvPr/>
          </p:nvSpPr>
          <p:spPr>
            <a:xfrm>
              <a:off x="14478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13716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20"/>
          <p:cNvSpPr/>
          <p:nvPr/>
        </p:nvSpPr>
        <p:spPr>
          <a:xfrm>
            <a:off x="2209800" y="4343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20"/>
          <p:cNvCxnSpPr/>
          <p:nvPr/>
        </p:nvCxnSpPr>
        <p:spPr>
          <a:xfrm rot="10800000">
            <a:off x="2362200" y="4495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74" name="Google Shape;774;p20"/>
          <p:cNvGrpSpPr/>
          <p:nvPr/>
        </p:nvGrpSpPr>
        <p:grpSpPr>
          <a:xfrm>
            <a:off x="2895600" y="4191000"/>
            <a:ext cx="990600" cy="609600"/>
            <a:chOff x="2667000" y="2286000"/>
            <a:chExt cx="990600" cy="609600"/>
          </a:xfrm>
        </p:grpSpPr>
        <p:sp>
          <p:nvSpPr>
            <p:cNvPr id="775" name="Google Shape;775;p20"/>
            <p:cNvSpPr/>
            <p:nvPr/>
          </p:nvSpPr>
          <p:spPr>
            <a:xfrm>
              <a:off x="27432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26670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20"/>
          <p:cNvSpPr/>
          <p:nvPr/>
        </p:nvSpPr>
        <p:spPr>
          <a:xfrm>
            <a:off x="3505200" y="4343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" name="Google Shape;778;p20"/>
          <p:cNvCxnSpPr/>
          <p:nvPr/>
        </p:nvCxnSpPr>
        <p:spPr>
          <a:xfrm rot="10800000">
            <a:off x="3657600" y="4495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79" name="Google Shape;779;p20"/>
          <p:cNvGrpSpPr/>
          <p:nvPr/>
        </p:nvGrpSpPr>
        <p:grpSpPr>
          <a:xfrm>
            <a:off x="4191000" y="4191000"/>
            <a:ext cx="990600" cy="609600"/>
            <a:chOff x="3962400" y="2286000"/>
            <a:chExt cx="990600" cy="609600"/>
          </a:xfrm>
        </p:grpSpPr>
        <p:sp>
          <p:nvSpPr>
            <p:cNvPr id="780" name="Google Shape;780;p20"/>
            <p:cNvSpPr/>
            <p:nvPr/>
          </p:nvSpPr>
          <p:spPr>
            <a:xfrm>
              <a:off x="40386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39624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2" name="Google Shape;782;p20"/>
          <p:cNvSpPr/>
          <p:nvPr/>
        </p:nvSpPr>
        <p:spPr>
          <a:xfrm>
            <a:off x="4800600" y="4343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20"/>
          <p:cNvCxnSpPr/>
          <p:nvPr/>
        </p:nvCxnSpPr>
        <p:spPr>
          <a:xfrm rot="10800000">
            <a:off x="4953000" y="4495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84" name="Google Shape;784;p20"/>
          <p:cNvGrpSpPr/>
          <p:nvPr/>
        </p:nvGrpSpPr>
        <p:grpSpPr>
          <a:xfrm>
            <a:off x="5486400" y="4191000"/>
            <a:ext cx="990600" cy="609600"/>
            <a:chOff x="5257800" y="2286000"/>
            <a:chExt cx="990600" cy="609600"/>
          </a:xfrm>
        </p:grpSpPr>
        <p:sp>
          <p:nvSpPr>
            <p:cNvPr id="785" name="Google Shape;785;p20"/>
            <p:cNvSpPr/>
            <p:nvPr/>
          </p:nvSpPr>
          <p:spPr>
            <a:xfrm>
              <a:off x="5334000" y="2362200"/>
              <a:ext cx="457200" cy="457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7FDA6"/>
                </a:gs>
                <a:gs pos="35000">
                  <a:srgbClr val="D7FDC1"/>
                </a:gs>
                <a:gs pos="100000">
                  <a:srgbClr val="EFFFE6"/>
                </a:gs>
              </a:gsLst>
              <a:lin ang="16200000" scaled="0"/>
            </a:gradFill>
            <a:ln cap="flat" cmpd="sng" w="9525">
              <a:solidFill>
                <a:srgbClr val="82B84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66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rgbClr val="003366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5257800" y="2286000"/>
              <a:ext cx="990600" cy="609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20"/>
          <p:cNvSpPr/>
          <p:nvPr/>
        </p:nvSpPr>
        <p:spPr>
          <a:xfrm>
            <a:off x="6096000" y="43434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FFBD92"/>
              </a:gs>
              <a:gs pos="35000">
                <a:srgbClr val="FFCFB3"/>
              </a:gs>
              <a:gs pos="100000">
                <a:srgbClr val="FFEBE0"/>
              </a:gs>
            </a:gsLst>
            <a:lin ang="16200000" scaled="0"/>
          </a:gradFill>
          <a:ln cap="flat" cmpd="sng" w="9525">
            <a:solidFill>
              <a:srgbClr val="DD844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20"/>
          <p:cNvCxnSpPr/>
          <p:nvPr/>
        </p:nvCxnSpPr>
        <p:spPr>
          <a:xfrm rot="10800000">
            <a:off x="6248400" y="4495800"/>
            <a:ext cx="533400" cy="1587"/>
          </a:xfrm>
          <a:prstGeom prst="straightConnector1">
            <a:avLst/>
          </a:prstGeom>
          <a:noFill/>
          <a:ln cap="flat" cmpd="sng" w="38100">
            <a:solidFill>
              <a:srgbClr val="DD8443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grpSp>
        <p:nvGrpSpPr>
          <p:cNvPr id="789" name="Google Shape;789;p20"/>
          <p:cNvGrpSpPr/>
          <p:nvPr/>
        </p:nvGrpSpPr>
        <p:grpSpPr>
          <a:xfrm>
            <a:off x="1600200" y="3886200"/>
            <a:ext cx="5486400" cy="1220787"/>
            <a:chOff x="1371600" y="3352800"/>
            <a:chExt cx="5486400" cy="1220788"/>
          </a:xfrm>
        </p:grpSpPr>
        <p:cxnSp>
          <p:nvCxnSpPr>
            <p:cNvPr id="790" name="Google Shape;790;p20"/>
            <p:cNvCxnSpPr/>
            <p:nvPr/>
          </p:nvCxnSpPr>
          <p:spPr>
            <a:xfrm rot="10800000">
              <a:off x="1371600" y="3352800"/>
              <a:ext cx="5486400" cy="1588"/>
            </a:xfrm>
            <a:prstGeom prst="straightConnector1">
              <a:avLst/>
            </a:prstGeom>
            <a:noFill/>
            <a:ln cap="flat" cmpd="sng" w="101600">
              <a:solidFill>
                <a:srgbClr val="5CAD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91" name="Google Shape;791;p20"/>
            <p:cNvCxnSpPr/>
            <p:nvPr/>
          </p:nvCxnSpPr>
          <p:spPr>
            <a:xfrm>
              <a:off x="1371600" y="4572000"/>
              <a:ext cx="5486400" cy="1588"/>
            </a:xfrm>
            <a:prstGeom prst="straightConnector1">
              <a:avLst/>
            </a:prstGeom>
            <a:noFill/>
            <a:ln cap="flat" cmpd="sng" w="101600">
              <a:solidFill>
                <a:srgbClr val="5CAD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792" name="Google Shape;792;p20"/>
          <p:cNvSpPr/>
          <p:nvPr/>
        </p:nvSpPr>
        <p:spPr>
          <a:xfrm>
            <a:off x="5867400" y="54102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20"/>
          <p:cNvCxnSpPr/>
          <p:nvPr/>
        </p:nvCxnSpPr>
        <p:spPr>
          <a:xfrm rot="5400000">
            <a:off x="5639593" y="5180806"/>
            <a:ext cx="7620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794" name="Google Shape;794;p20"/>
          <p:cNvSpPr/>
          <p:nvPr/>
        </p:nvSpPr>
        <p:spPr>
          <a:xfrm>
            <a:off x="5791200" y="5791200"/>
            <a:ext cx="18015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pTail (Rear)</a:t>
            </a:r>
            <a:endParaRPr/>
          </a:p>
        </p:txBody>
      </p:sp>
      <p:sp>
        <p:nvSpPr>
          <p:cNvPr id="795" name="Google Shape;795;p20"/>
          <p:cNvSpPr/>
          <p:nvPr/>
        </p:nvSpPr>
        <p:spPr>
          <a:xfrm>
            <a:off x="1981200" y="3276600"/>
            <a:ext cx="304800" cy="304800"/>
          </a:xfrm>
          <a:prstGeom prst="roundRect">
            <a:avLst>
              <a:gd fmla="val 10800" name="adj"/>
            </a:avLst>
          </a:prstGeom>
          <a:gradFill>
            <a:gsLst>
              <a:gs pos="0">
                <a:srgbClr val="C7FDA6"/>
              </a:gs>
              <a:gs pos="35000">
                <a:srgbClr val="D7FDC1"/>
              </a:gs>
              <a:gs pos="100000">
                <a:srgbClr val="EFFFE6"/>
              </a:gs>
            </a:gsLst>
            <a:lin ang="16200000" scaled="0"/>
          </a:gradFill>
          <a:ln cap="flat" cmpd="sng" w="9525">
            <a:solidFill>
              <a:srgbClr val="82B84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20"/>
          <p:cNvCxnSpPr/>
          <p:nvPr/>
        </p:nvCxnSpPr>
        <p:spPr>
          <a:xfrm rot="-5400000">
            <a:off x="1753393" y="3809206"/>
            <a:ext cx="762000" cy="1587"/>
          </a:xfrm>
          <a:prstGeom prst="straightConnector1">
            <a:avLst/>
          </a:prstGeom>
          <a:noFill/>
          <a:ln cap="flat" cmpd="sng" w="38100">
            <a:solidFill>
              <a:srgbClr val="82B84F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797" name="Google Shape;797;p20"/>
          <p:cNvSpPr/>
          <p:nvPr/>
        </p:nvSpPr>
        <p:spPr>
          <a:xfrm>
            <a:off x="457200" y="2743200"/>
            <a:ext cx="1905000" cy="45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rgbClr val="003366"/>
                </a:solidFill>
                <a:latin typeface="Verdana"/>
                <a:ea typeface="Verdana"/>
                <a:cs typeface="Verdana"/>
                <a:sym typeface="Verdana"/>
              </a:rPr>
              <a:t>pHead (Front)</a:t>
            </a:r>
            <a:endParaRPr/>
          </a:p>
        </p:txBody>
      </p:sp>
      <p:grpSp>
        <p:nvGrpSpPr>
          <p:cNvPr id="798" name="Google Shape;798;p20"/>
          <p:cNvGrpSpPr/>
          <p:nvPr/>
        </p:nvGrpSpPr>
        <p:grpSpPr>
          <a:xfrm>
            <a:off x="6781800" y="4343400"/>
            <a:ext cx="304800" cy="304800"/>
            <a:chOff x="7848600" y="2438400"/>
            <a:chExt cx="304800" cy="304800"/>
          </a:xfrm>
        </p:grpSpPr>
        <p:sp>
          <p:nvSpPr>
            <p:cNvPr id="799" name="Google Shape;799;p20"/>
            <p:cNvSpPr/>
            <p:nvPr/>
          </p:nvSpPr>
          <p:spPr>
            <a:xfrm>
              <a:off x="7848600" y="2438400"/>
              <a:ext cx="304800" cy="3048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FFBD92"/>
                </a:gs>
                <a:gs pos="35000">
                  <a:srgbClr val="FFCFB3"/>
                </a:gs>
                <a:gs pos="100000">
                  <a:srgbClr val="FFEBE0"/>
                </a:gs>
              </a:gsLst>
              <a:lin ang="16200000" scaled="0"/>
            </a:gradFill>
            <a:ln cap="flat" cmpd="sng" w="9525">
              <a:solidFill>
                <a:srgbClr val="DD844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0" name="Google Shape;800;p20"/>
            <p:cNvCxnSpPr/>
            <p:nvPr/>
          </p:nvCxnSpPr>
          <p:spPr>
            <a:xfrm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01" name="Google Shape;801;p20"/>
            <p:cNvCxnSpPr/>
            <p:nvPr/>
          </p:nvCxnSpPr>
          <p:spPr>
            <a:xfrm flipH="1">
              <a:off x="7848600" y="2438400"/>
              <a:ext cx="304800" cy="304800"/>
            </a:xfrm>
            <a:prstGeom prst="straightConnector1">
              <a:avLst/>
            </a:prstGeom>
            <a:noFill/>
            <a:ln cap="flat" cmpd="sng" w="9525">
              <a:solidFill>
                <a:srgbClr val="DD844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c97cbf015e_0_66"/>
          <p:cNvSpPr txBox="1"/>
          <p:nvPr>
            <p:ph type="title"/>
          </p:nvPr>
        </p:nvSpPr>
        <p:spPr>
          <a:xfrm>
            <a:off x="1143000" y="381000"/>
            <a:ext cx="6705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Ứng dụng của DSLK đơn</a:t>
            </a:r>
            <a:endParaRPr/>
          </a:p>
        </p:txBody>
      </p:sp>
      <p:sp>
        <p:nvSpPr>
          <p:cNvPr id="808" name="Google Shape;808;g2c97cbf015e_0_66"/>
          <p:cNvSpPr txBox="1"/>
          <p:nvPr>
            <p:ph idx="1" type="body"/>
          </p:nvPr>
        </p:nvSpPr>
        <p:spPr>
          <a:xfrm>
            <a:off x="227000" y="1525575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❖"/>
            </a:pPr>
            <a:r>
              <a:rPr lang="en-US">
                <a:solidFill>
                  <a:srgbClr val="0A85FF"/>
                </a:solidFill>
              </a:rPr>
              <a:t>Queue (Hàng đợi)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</a:pPr>
            <a:r>
              <a:rPr lang="en-US"/>
              <a:t>Các thao tác cơ bản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enqueue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dequeue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peek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isEmpty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Lưu trữ ngăn xếp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Dùng mảng 1 chiều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hoặc dùng danh sách liên kết</a:t>
            </a:r>
            <a:endParaRPr/>
          </a:p>
        </p:txBody>
      </p:sp>
      <p:sp>
        <p:nvSpPr>
          <p:cNvPr id="809" name="Google Shape;809;g2c97cbf015e_0_66"/>
          <p:cNvSpPr txBox="1"/>
          <p:nvPr/>
        </p:nvSpPr>
        <p:spPr>
          <a:xfrm>
            <a:off x="5181600" y="6477000"/>
            <a:ext cx="2895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0" i="0" lang="en-US" sz="11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Danh sách liên kết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c97cbf015e_0_73"/>
          <p:cNvSpPr txBox="1"/>
          <p:nvPr>
            <p:ph type="title"/>
          </p:nvPr>
        </p:nvSpPr>
        <p:spPr>
          <a:xfrm>
            <a:off x="1143000" y="381000"/>
            <a:ext cx="6705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DD1F9"/>
              </a:buClr>
              <a:buSzPct val="112500"/>
              <a:buFont typeface="Arial"/>
              <a:buNone/>
            </a:pPr>
            <a:r>
              <a:rPr lang="en-US"/>
              <a:t>Ký pháp nghịch đảo Ba Lan (RPN)</a:t>
            </a:r>
            <a:endParaRPr/>
          </a:p>
        </p:txBody>
      </p:sp>
      <p:sp>
        <p:nvSpPr>
          <p:cNvPr id="815" name="Google Shape;815;g2c97cbf015e_0_73"/>
          <p:cNvSpPr txBox="1"/>
          <p:nvPr>
            <p:ph idx="11" type="ftr"/>
          </p:nvPr>
        </p:nvSpPr>
        <p:spPr>
          <a:xfrm>
            <a:off x="5181600" y="6477000"/>
            <a:ext cx="2895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Cấu trúc dữ liệu và giải thuật – HCMUS 2012</a:t>
            </a:r>
            <a:endParaRPr/>
          </a:p>
        </p:txBody>
      </p:sp>
      <p:sp>
        <p:nvSpPr>
          <p:cNvPr id="816" name="Google Shape;816;g2c97cbf015e_0_73"/>
          <p:cNvSpPr txBox="1"/>
          <p:nvPr>
            <p:ph idx="10" type="dt"/>
          </p:nvPr>
        </p:nvSpPr>
        <p:spPr>
          <a:xfrm>
            <a:off x="457200" y="6519862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7" name="Google Shape;817;g2c97cbf015e_0_73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Char char="◉"/>
            </a:pPr>
            <a:r>
              <a:rPr lang="en-US"/>
              <a:t>Biểu thức dạng </a:t>
            </a:r>
            <a:r>
              <a:rPr i="1" lang="en-US">
                <a:solidFill>
                  <a:srgbClr val="00B0F0"/>
                </a:solidFill>
              </a:rPr>
              <a:t>trung tố</a:t>
            </a:r>
            <a:r>
              <a:rPr lang="en-US"/>
              <a:t>: dấu của các phép toán hai ngôi luôn được </a:t>
            </a:r>
            <a:r>
              <a:rPr i="1" lang="en-US">
                <a:solidFill>
                  <a:srgbClr val="00B0F0"/>
                </a:solidFill>
              </a:rPr>
              <a:t>đặt giữa </a:t>
            </a:r>
            <a:r>
              <a:rPr lang="en-US"/>
              <a:t>2 toán hạng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Char char="▪"/>
            </a:pPr>
            <a:r>
              <a:rPr lang="en-US"/>
              <a:t>Ví dụ:  A + B * C	   	A + B * C - D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None/>
            </a:pPr>
            <a:r>
              <a:rPr lang="en-US"/>
              <a:t>			(A+B) * C	  	(A + B )* (C – D)	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Font typeface="Noto Sans Symbols"/>
              <a:buChar char="⇒"/>
            </a:pPr>
            <a:r>
              <a:rPr lang="en-US"/>
              <a:t> Qui định thứ tự ưu tiên của các phép toán 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Font typeface="Noto Sans Symbols"/>
              <a:buChar char="⇒"/>
            </a:pPr>
            <a:r>
              <a:rPr lang="en-US"/>
              <a:t> Dùng dấu ngoặc để phân biệt thứ tự thực hiện.</a:t>
            </a: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c97cbf015e_0_80"/>
          <p:cNvSpPr txBox="1"/>
          <p:nvPr>
            <p:ph type="title"/>
          </p:nvPr>
        </p:nvSpPr>
        <p:spPr>
          <a:xfrm>
            <a:off x="1143000" y="381000"/>
            <a:ext cx="6705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DD1F9"/>
              </a:buClr>
              <a:buSzPct val="112500"/>
              <a:buFont typeface="Arial"/>
              <a:buNone/>
            </a:pPr>
            <a:r>
              <a:rPr lang="en-US"/>
              <a:t>Ký pháp Ba Lan</a:t>
            </a:r>
            <a:endParaRPr/>
          </a:p>
        </p:txBody>
      </p:sp>
      <p:sp>
        <p:nvSpPr>
          <p:cNvPr id="823" name="Google Shape;823;g2c97cbf015e_0_80"/>
          <p:cNvSpPr txBox="1"/>
          <p:nvPr>
            <p:ph idx="11" type="ftr"/>
          </p:nvPr>
        </p:nvSpPr>
        <p:spPr>
          <a:xfrm>
            <a:off x="5181600" y="6477000"/>
            <a:ext cx="2895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Cấu trúc dữ liệu và giải thuật – HCMUS 2012</a:t>
            </a:r>
            <a:endParaRPr/>
          </a:p>
        </p:txBody>
      </p:sp>
      <p:sp>
        <p:nvSpPr>
          <p:cNvPr id="824" name="Google Shape;824;g2c97cbf015e_0_80"/>
          <p:cNvSpPr txBox="1"/>
          <p:nvPr>
            <p:ph idx="10" type="dt"/>
          </p:nvPr>
        </p:nvSpPr>
        <p:spPr>
          <a:xfrm>
            <a:off x="457200" y="6519862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g2c97cbf015e_0_80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Char char="◉"/>
            </a:pPr>
            <a:r>
              <a:rPr lang="en-US"/>
              <a:t>Biểu thức dạng </a:t>
            </a:r>
            <a:r>
              <a:rPr i="1" lang="en-US">
                <a:solidFill>
                  <a:srgbClr val="00B0F0"/>
                </a:solidFill>
              </a:rPr>
              <a:t>tiền tố</a:t>
            </a:r>
            <a:r>
              <a:rPr lang="en-US"/>
              <a:t>: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None/>
            </a:pPr>
            <a:r>
              <a:rPr lang="en-US"/>
              <a:t>  </a:t>
            </a:r>
            <a:endParaRPr/>
          </a:p>
          <a:p>
            <a:pPr indent="-274320" lvl="1" marL="640080" rtl="0" algn="l">
              <a:spcBef>
                <a:spcPts val="55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158750" lvl="1" marL="640080" rtl="0" algn="l">
              <a:spcBef>
                <a:spcPts val="55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Char char="◉"/>
            </a:pPr>
            <a:r>
              <a:rPr lang="en-US"/>
              <a:t>Biểu thức dạng </a:t>
            </a:r>
            <a:r>
              <a:rPr i="1" lang="en-US">
                <a:solidFill>
                  <a:srgbClr val="00B0F0"/>
                </a:solidFill>
              </a:rPr>
              <a:t>hậu tố</a:t>
            </a:r>
            <a:r>
              <a:rPr lang="en-US"/>
              <a:t>:</a:t>
            </a: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26" name="Google Shape;826;g2c97cbf015e_0_80"/>
          <p:cNvSpPr/>
          <p:nvPr/>
        </p:nvSpPr>
        <p:spPr>
          <a:xfrm>
            <a:off x="5943600" y="2743200"/>
            <a:ext cx="609600" cy="2743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g2c97cbf015e_0_80"/>
          <p:cNvSpPr txBox="1"/>
          <p:nvPr/>
        </p:nvSpPr>
        <p:spPr>
          <a:xfrm>
            <a:off x="6629400" y="3213318"/>
            <a:ext cx="1905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cần thiết phải dùng dấu ngoặc</a:t>
            </a:r>
            <a:endParaRPr b="1" sz="2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28" name="Google Shape;828;g2c97cbf015e_0_80"/>
          <p:cNvGraphicFramePr/>
          <p:nvPr/>
        </p:nvGraphicFramePr>
        <p:xfrm>
          <a:off x="13716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{195F98EA-FDD5-46D3-9ACA-765D2AC2E83C}</a:tableStyleId>
              </a:tblPr>
              <a:tblGrid>
                <a:gridCol w="2286000"/>
                <a:gridCol w="2286000"/>
              </a:tblGrid>
              <a:tr h="35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Trung tố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Tiền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tố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5860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+ B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+ A B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5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(A+B)*C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*+ A B C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5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(A + B )* (C – D)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* + A B – C D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29" name="Google Shape;829;g2c97cbf015e_0_80"/>
          <p:cNvGraphicFramePr/>
          <p:nvPr/>
        </p:nvGraphicFramePr>
        <p:xfrm>
          <a:off x="1447800" y="4587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{195F98EA-FDD5-46D3-9ACA-765D2AC2E83C}</a:tableStyleId>
              </a:tblPr>
              <a:tblGrid>
                <a:gridCol w="2247900"/>
                <a:gridCol w="224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Trung tố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Hậu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tố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+ B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A B +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(A+B)*C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A B + C *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(A + B )* (C – D)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A B + C D -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*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c97cbf015e_0_132"/>
          <p:cNvSpPr txBox="1"/>
          <p:nvPr>
            <p:ph type="title"/>
          </p:nvPr>
        </p:nvSpPr>
        <p:spPr>
          <a:xfrm>
            <a:off x="1143000" y="381000"/>
            <a:ext cx="6705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DD1F9"/>
              </a:buClr>
              <a:buSzPct val="112500"/>
              <a:buFont typeface="Arial"/>
              <a:buNone/>
            </a:pPr>
            <a:r>
              <a:rPr lang="en-US"/>
              <a:t>Chuyển trung tố sang hậu tố</a:t>
            </a:r>
            <a:endParaRPr/>
          </a:p>
        </p:txBody>
      </p:sp>
      <p:sp>
        <p:nvSpPr>
          <p:cNvPr id="835" name="Google Shape;835;g2c97cbf015e_0_132"/>
          <p:cNvSpPr txBox="1"/>
          <p:nvPr>
            <p:ph idx="11" type="ftr"/>
          </p:nvPr>
        </p:nvSpPr>
        <p:spPr>
          <a:xfrm>
            <a:off x="5181600" y="6477000"/>
            <a:ext cx="2895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Cấu trúc dữ liệu và giải thuật – HCMUS 2012</a:t>
            </a:r>
            <a:endParaRPr/>
          </a:p>
        </p:txBody>
      </p:sp>
      <p:sp>
        <p:nvSpPr>
          <p:cNvPr id="836" name="Google Shape;836;g2c97cbf015e_0_132"/>
          <p:cNvSpPr txBox="1"/>
          <p:nvPr>
            <p:ph idx="10" type="dt"/>
          </p:nvPr>
        </p:nvSpPr>
        <p:spPr>
          <a:xfrm>
            <a:off x="457200" y="6519862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7" name="Google Shape;837;g2c97cbf015e_0_132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Char char="◉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Ví dụ tính giá trị: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(A + B )* (C – D)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78130" lvl="1" marL="74295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Char char="▪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B + C D - *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…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2007-09-05T08:24:33Z</dcterms:created>
  <dc:creator>DANG BINH PHUONG</dc:creator>
</cp:coreProperties>
</file>