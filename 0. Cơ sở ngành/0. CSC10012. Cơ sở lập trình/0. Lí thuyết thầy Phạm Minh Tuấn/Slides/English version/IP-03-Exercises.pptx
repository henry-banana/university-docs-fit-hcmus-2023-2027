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chemeClr val="tx2"/>
      </a:buClr>
      <a:buSzPct val="70000"/>
      <a:buFont typeface="Wingdings" pitchFamily="2" charset="2"/>
      <a:buChar char="n"/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33CC33"/>
    <a:srgbClr val="FF9933"/>
    <a:srgbClr val="008000"/>
    <a:srgbClr val="FF6600"/>
    <a:srgbClr val="66CCFF"/>
    <a:srgbClr val="CC3300"/>
    <a:srgbClr val="CC6600"/>
    <a:srgbClr val="FF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241" autoAdjust="0"/>
    <p:restoredTop sz="94530" autoAdjust="0"/>
  </p:normalViewPr>
  <p:slideViewPr>
    <p:cSldViewPr>
      <p:cViewPr varScale="1">
        <p:scale>
          <a:sx n="65" d="100"/>
          <a:sy n="65" d="100"/>
        </p:scale>
        <p:origin x="-688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28"/>
    </p:cViewPr>
  </p:sorterViewPr>
  <p:notesViewPr>
    <p:cSldViewPr>
      <p:cViewPr varScale="1">
        <p:scale>
          <a:sx n="70" d="100"/>
          <a:sy n="70" d="100"/>
        </p:scale>
        <p:origin x="-1818" y="-9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9974381-B100-477C-A92F-6436D838F4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49FE2AAC-7B5D-4A48-9632-25D7FB231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FE2AAC-7B5D-4A48-9632-25D7FB23165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 userDrawn="1"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4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" name="Freeform 4"/>
              <p:cNvSpPr>
                <a:spLocks/>
              </p:cNvSpPr>
              <p:nvPr userDrawn="1"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8" name="Freeform 5"/>
              <p:cNvSpPr>
                <a:spLocks/>
              </p:cNvSpPr>
              <p:nvPr userDrawn="1"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Freeform 6"/>
              <p:cNvSpPr>
                <a:spLocks/>
              </p:cNvSpPr>
              <p:nvPr userDrawn="1"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Freeform 7"/>
              <p:cNvSpPr>
                <a:spLocks/>
              </p:cNvSpPr>
              <p:nvPr userDrawn="1"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Freeform 8"/>
              <p:cNvSpPr>
                <a:spLocks/>
              </p:cNvSpPr>
              <p:nvPr userDrawn="1"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5" name="Freeform 9"/>
            <p:cNvSpPr>
              <a:spLocks/>
            </p:cNvSpPr>
            <p:nvPr userDrawn="1"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Freeform 10"/>
            <p:cNvSpPr>
              <a:spLocks/>
            </p:cNvSpPr>
            <p:nvPr userDrawn="1"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2" name="Picture 26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Line 18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" name="AutoShape 19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29"/>
          <p:cNvSpPr>
            <a:spLocks noChangeArrowheads="1"/>
          </p:cNvSpPr>
          <p:nvPr userDrawn="1"/>
        </p:nvSpPr>
        <p:spPr bwMode="auto">
          <a:xfrm>
            <a:off x="6096000" y="3733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Inst.</a:t>
            </a:r>
            <a:r>
              <a:rPr lang="en-US" sz="2000" baseline="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 err="1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Nguyễn</a:t>
            </a:r>
            <a:r>
              <a:rPr lang="en-US" sz="2000" dirty="0" smtClean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Minh </a:t>
            </a:r>
            <a:r>
              <a:rPr lang="en-US" sz="2000" dirty="0" err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Huy</a:t>
            </a:r>
            <a:endParaRPr lang="en-US" sz="200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097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304800" y="1828800"/>
            <a:ext cx="8534400" cy="1676400"/>
          </a:xfrm>
        </p:spPr>
        <p:txBody>
          <a:bodyPr anchor="b"/>
          <a:lstStyle>
            <a:lvl1pPr>
              <a:defRPr sz="5000" b="1">
                <a:solidFill>
                  <a:srgbClr val="FF66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8B7D4-80C2-4EA6-9173-2F584D3BE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BC579-D393-41E7-AEB3-0C29AC67C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>
            <a:lvl2pPr marL="914400">
              <a:defRPr sz="2400"/>
            </a:lvl2pPr>
            <a:lvl3pPr marL="1371600">
              <a:buFont typeface="Wingdings" pitchFamily="2" charset="2"/>
              <a:buChar char="Ø"/>
              <a:defRPr sz="2000"/>
            </a:lvl3pPr>
            <a:lvl4pPr>
              <a:defRPr sz="1600"/>
            </a:lvl4pPr>
            <a:lvl5pPr marL="1828800">
              <a:buFont typeface="Wingdings" pitchFamily="2" charset="2"/>
              <a:buChar char="v"/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pic>
        <p:nvPicPr>
          <p:cNvPr id="7" name="Picture 4" descr="clipboard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189788" y="4419600"/>
            <a:ext cx="1725612" cy="1905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754813" y="4176713"/>
            <a:ext cx="2160587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marL="365760" indent="0">
              <a:buNone/>
              <a:defRPr sz="2000"/>
            </a:lvl2pPr>
            <a:lvl3pPr marL="914400">
              <a:defRPr sz="2000"/>
            </a:lvl3pPr>
            <a:lvl4pPr marL="1371600">
              <a:defRPr sz="1600"/>
            </a:lvl4pPr>
            <a:lvl5pPr marL="1828800">
              <a:defRPr sz="1400"/>
            </a:lvl5pPr>
          </a:lstStyle>
          <a:p>
            <a:pPr lvl="0"/>
            <a:r>
              <a:rPr lang="vi-VN" dirty="0" smtClean="0"/>
              <a:t>Practice: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5A8E62-1A30-4C97-A711-06E835BB7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fld id="{96610ADB-B7BD-4F03-9DC2-948229E6A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8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994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5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994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994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48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4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4800" y="0"/>
            <a:ext cx="861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5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477000"/>
            <a:ext cx="6324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/>
          </a:p>
        </p:txBody>
      </p:sp>
      <p:sp>
        <p:nvSpPr>
          <p:cNvPr id="399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2"/>
            <a:r>
              <a:rPr lang="en-US" dirty="0" smtClean="0"/>
              <a:t>Second level</a:t>
            </a:r>
          </a:p>
          <a:p>
            <a:pPr lvl="3"/>
            <a:r>
              <a:rPr lang="en-US" dirty="0" smtClean="0"/>
              <a:t>Third level</a:t>
            </a:r>
          </a:p>
          <a:p>
            <a:pPr lvl="4"/>
            <a:r>
              <a:rPr lang="en-US" dirty="0" smtClean="0"/>
              <a:t>Fourth level</a:t>
            </a:r>
          </a:p>
        </p:txBody>
      </p:sp>
      <p:sp>
        <p:nvSpPr>
          <p:cNvPr id="39952" name="Line 16"/>
          <p:cNvSpPr>
            <a:spLocks noChangeShapeType="1"/>
          </p:cNvSpPr>
          <p:nvPr userDrawn="1"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032" name="Group 20"/>
          <p:cNvGrpSpPr>
            <a:grpSpLocks/>
          </p:cNvGrpSpPr>
          <p:nvPr userDrawn="1"/>
        </p:nvGrpSpPr>
        <p:grpSpPr bwMode="auto"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39953" name="AutoShape 17"/>
            <p:cNvSpPr>
              <a:spLocks noChangeArrowheads="1"/>
            </p:cNvSpPr>
            <p:nvPr userDrawn="1"/>
          </p:nvSpPr>
          <p:spPr bwMode="auto">
            <a:xfrm>
              <a:off x="5088" y="144"/>
              <a:ext cx="288" cy="336"/>
            </a:xfrm>
            <a:prstGeom prst="flowChartAlternateProcess">
              <a:avLst/>
            </a:prstGeom>
            <a:noFill/>
            <a:ln w="2857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4" name="AutoShape 18"/>
            <p:cNvSpPr>
              <a:spLocks noChangeArrowheads="1"/>
            </p:cNvSpPr>
            <p:nvPr userDrawn="1"/>
          </p:nvSpPr>
          <p:spPr bwMode="auto">
            <a:xfrm>
              <a:off x="5185" y="48"/>
              <a:ext cx="385" cy="336"/>
            </a:xfrm>
            <a:prstGeom prst="flowChartAlternateProcess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9955" name="AutoShape 19"/>
            <p:cNvSpPr>
              <a:spLocks noChangeArrowheads="1"/>
            </p:cNvSpPr>
            <p:nvPr userDrawn="1"/>
          </p:nvSpPr>
          <p:spPr bwMode="auto">
            <a:xfrm>
              <a:off x="5232" y="192"/>
              <a:ext cx="384" cy="336"/>
            </a:xfrm>
            <a:prstGeom prst="flowChartAlternateProcess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9957" name="Line 21"/>
          <p:cNvSpPr>
            <a:spLocks noChangeShapeType="1"/>
          </p:cNvSpPr>
          <p:nvPr userDrawn="1"/>
        </p:nvSpPr>
        <p:spPr bwMode="auto">
          <a:xfrm>
            <a:off x="0" y="6477000"/>
            <a:ext cx="91440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958" name="AutoShape 22"/>
          <p:cNvSpPr>
            <a:spLocks noChangeArrowheads="1"/>
          </p:cNvSpPr>
          <p:nvPr userDrawn="1"/>
        </p:nvSpPr>
        <p:spPr bwMode="auto">
          <a:xfrm>
            <a:off x="76200" y="6553200"/>
            <a:ext cx="228600" cy="228600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rgbClr val="CC99FF">
                  <a:gamma/>
                  <a:shade val="46275"/>
                  <a:invGamma/>
                </a:srgbClr>
              </a:gs>
              <a:gs pos="50000">
                <a:srgbClr val="CC99FF"/>
              </a:gs>
              <a:gs pos="100000">
                <a:srgbClr val="CC99FF">
                  <a:gamma/>
                  <a:shade val="46275"/>
                  <a:invGamma/>
                </a:srgbClr>
              </a:gs>
            </a:gsLst>
            <a:lin ang="27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2" r:id="rId3"/>
    <p:sldLayoutId id="2147483731" r:id="rId4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16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 smtClean="0"/>
              <a:t>Control Flow Statements</a:t>
            </a:r>
            <a:br>
              <a:rPr lang="en-US" dirty="0" smtClean="0"/>
            </a:br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58B7D4-80C2-4EA6-9173-2F584D3BE0E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 from keyboard in C/C++:</a:t>
            </a:r>
          </a:p>
          <a:p>
            <a:pPr lvl="1"/>
            <a:r>
              <a:rPr lang="en-US" b="1" dirty="0" err="1" smtClean="0">
                <a:solidFill>
                  <a:srgbClr val="FFC000"/>
                </a:solidFill>
              </a:rPr>
              <a:t>scanf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FFC000"/>
                </a:solidFill>
              </a:rPr>
              <a:t>std::</a:t>
            </a:r>
            <a:r>
              <a:rPr lang="en-US" b="1" dirty="0" err="1" smtClean="0">
                <a:solidFill>
                  <a:srgbClr val="FFC000"/>
                </a:solidFill>
              </a:rPr>
              <a:t>cin</a:t>
            </a:r>
            <a:r>
              <a:rPr lang="en-US" b="1" dirty="0" smtClean="0">
                <a:solidFill>
                  <a:srgbClr val="FFC000"/>
                </a:solidFill>
              </a:rPr>
              <a:t> &gt;&gt;</a:t>
            </a:r>
            <a:r>
              <a:rPr lang="en-US" dirty="0" smtClean="0"/>
              <a:t> </a:t>
            </a:r>
            <a:r>
              <a:rPr lang="en-US" dirty="0" smtClean="0"/>
              <a:t>do not clean input stream.</a:t>
            </a:r>
            <a:endParaRPr lang="en-US" dirty="0" smtClean="0"/>
          </a:p>
          <a:p>
            <a:pPr lvl="1"/>
            <a:r>
              <a:rPr lang="en-US" dirty="0" smtClean="0"/>
              <a:t>Clean and safe input from keyboard:</a:t>
            </a:r>
            <a:endParaRPr lang="en-US" dirty="0" smtClean="0"/>
          </a:p>
          <a:p>
            <a:pPr lvl="2"/>
            <a:r>
              <a:rPr lang="en-US" dirty="0" smtClean="0"/>
              <a:t>Input a whole line (includes </a:t>
            </a:r>
            <a:r>
              <a:rPr lang="en-US" dirty="0" smtClean="0"/>
              <a:t>‘\n’).</a:t>
            </a:r>
          </a:p>
          <a:p>
            <a:pPr lvl="2"/>
            <a:r>
              <a:rPr lang="en-US" dirty="0" smtClean="0"/>
              <a:t>Extract data from the line: </a:t>
            </a:r>
            <a:r>
              <a:rPr lang="en-US" dirty="0" err="1" smtClean="0"/>
              <a:t>sscanf</a:t>
            </a:r>
            <a:r>
              <a:rPr lang="en-US" dirty="0" smtClean="0"/>
              <a:t>, std::</a:t>
            </a:r>
            <a:r>
              <a:rPr lang="en-US" dirty="0" err="1" smtClean="0"/>
              <a:t>stringstream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Validate data by result value.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 a;</a:t>
            </a:r>
            <a:br>
              <a:rPr lang="en-US" dirty="0" smtClean="0"/>
            </a:br>
            <a:r>
              <a:rPr lang="en-US" dirty="0" smtClean="0"/>
              <a:t>char  line [100];</a:t>
            </a:r>
            <a:br>
              <a:rPr lang="en-US" dirty="0" smtClean="0"/>
            </a:br>
            <a:r>
              <a:rPr lang="en-US" dirty="0" smtClean="0"/>
              <a:t>do {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 smtClean="0"/>
              <a:t>(“Enter a integer </a:t>
            </a:r>
            <a:r>
              <a:rPr lang="en-US" dirty="0" smtClean="0"/>
              <a:t>= “);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b="1" dirty="0" err="1" smtClean="0">
                <a:solidFill>
                  <a:srgbClr val="FFC000"/>
                </a:solidFill>
              </a:rPr>
              <a:t>fgets</a:t>
            </a:r>
            <a:r>
              <a:rPr lang="en-US" dirty="0" smtClean="0"/>
              <a:t>( line, 100, </a:t>
            </a:r>
            <a:r>
              <a:rPr lang="en-US" dirty="0" err="1" smtClean="0"/>
              <a:t>stdin</a:t>
            </a:r>
            <a:r>
              <a:rPr lang="en-US" dirty="0" smtClean="0"/>
              <a:t> );</a:t>
            </a:r>
            <a:br>
              <a:rPr lang="en-US" dirty="0" smtClean="0"/>
            </a:br>
            <a:r>
              <a:rPr lang="en-US" dirty="0" smtClean="0"/>
              <a:t>} while ( </a:t>
            </a:r>
            <a:r>
              <a:rPr lang="en-US" b="1" dirty="0" err="1" smtClean="0">
                <a:solidFill>
                  <a:srgbClr val="FFC000"/>
                </a:solidFill>
              </a:rPr>
              <a:t>sscanf</a:t>
            </a:r>
            <a:r>
              <a:rPr lang="en-US" dirty="0" smtClean="0"/>
              <a:t>( line, “%d”, &amp;a ) != 1 );</a:t>
            </a:r>
            <a:br>
              <a:rPr lang="en-US" dirty="0" smtClean="0"/>
            </a:br>
            <a:r>
              <a:rPr lang="en-US" dirty="0" smtClean="0"/>
              <a:t>// C++</a:t>
            </a:r>
            <a:br>
              <a:rPr lang="en-US" dirty="0" smtClean="0"/>
            </a:br>
            <a:r>
              <a:rPr lang="en-US" dirty="0" smtClean="0"/>
              <a:t>// } while ( !( </a:t>
            </a:r>
            <a:r>
              <a:rPr lang="en-US" b="1" dirty="0" smtClean="0">
                <a:solidFill>
                  <a:srgbClr val="FFC000"/>
                </a:solidFill>
              </a:rPr>
              <a:t>std::</a:t>
            </a:r>
            <a:r>
              <a:rPr lang="en-US" b="1" dirty="0" err="1" smtClean="0">
                <a:solidFill>
                  <a:srgbClr val="FFC000"/>
                </a:solidFill>
              </a:rPr>
              <a:t>stringstream</a:t>
            </a:r>
            <a:r>
              <a:rPr lang="en-US" dirty="0" smtClean="0"/>
              <a:t>( line ) &gt;&gt; a ) 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1BC579-D393-41E7-AEB3-0C29AC67CF0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3.6: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classify a triangle: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3 positive real numbers </a:t>
            </a:r>
            <a:r>
              <a:rPr lang="en-US" sz="2000" dirty="0" smtClean="0"/>
              <a:t>a, b, c </a:t>
            </a:r>
            <a:r>
              <a:rPr lang="en-US" sz="2000" dirty="0" smtClean="0"/>
              <a:t>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Check if </a:t>
            </a:r>
            <a:r>
              <a:rPr lang="en-US" sz="2000" dirty="0" smtClean="0"/>
              <a:t>a, b, c </a:t>
            </a:r>
            <a:r>
              <a:rPr lang="en-US" sz="2000" dirty="0" smtClean="0"/>
              <a:t>can forms a triangle.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If yes, print the triangle type.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	</a:t>
            </a:r>
            <a:r>
              <a:rPr lang="en-US" sz="2000" dirty="0" smtClean="0"/>
              <a:t>(normal, right, isosceles, right-isosceles, equilateral).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Enter 3 positive real numbers = </a:t>
            </a:r>
            <a:r>
              <a:rPr lang="en-US" sz="2000" i="1" dirty="0" smtClean="0"/>
              <a:t>3  4  5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 (</a:t>
            </a:r>
            <a:r>
              <a:rPr lang="en-US" sz="2000" i="1" dirty="0" smtClean="0"/>
              <a:t>can form a triangle</a:t>
            </a:r>
            <a:r>
              <a:rPr lang="en-US" sz="2000" i="1" dirty="0" smtClean="0"/>
              <a:t>):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Can form a triangle.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Right triangle.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 (cannot form a triangle):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Cannot form a triangle!</a:t>
            </a:r>
            <a:endParaRPr lang="en-US" sz="2000" i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3.7: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compute electricity bill: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old and new kWh 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Compute the price and print result.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Price table: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200400"/>
          <a:ext cx="51053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"/>
                <a:gridCol w="2057400"/>
                <a:gridCol w="213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Levels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/>
                        <a:t>Consumed kWh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Unit prices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– 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1549 đ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101 –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1600 đ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151 –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1858 đ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201 –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2340</a:t>
                      </a:r>
                      <a:r>
                        <a:rPr lang="en-US" baseline="0" dirty="0" smtClean="0"/>
                        <a:t> đ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301 –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2615</a:t>
                      </a:r>
                      <a:r>
                        <a:rPr lang="en-US" baseline="0" dirty="0" smtClean="0"/>
                        <a:t> đ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401 – </a:t>
                      </a:r>
                      <a:r>
                        <a:rPr lang="en-US" dirty="0" smtClean="0"/>
                        <a:t>more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2701 đ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3.8: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find max and min 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a sequence of positive integers.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	  </a:t>
            </a:r>
            <a:r>
              <a:rPr lang="en-US" sz="2000" dirty="0" smtClean="0"/>
              <a:t>(re-enter if invalid, stop if enter </a:t>
            </a:r>
            <a:r>
              <a:rPr lang="en-US" sz="2000" dirty="0" smtClean="0"/>
              <a:t>zero</a:t>
            </a:r>
            <a:r>
              <a:rPr lang="en-US" sz="2000" dirty="0" smtClean="0"/>
              <a:t>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Print max and min (do not include zero).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Notes: do not use array.</a:t>
            </a:r>
            <a:endParaRPr lang="en-US" sz="2000" i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Number </a:t>
            </a:r>
            <a:r>
              <a:rPr lang="en-US" sz="2000" i="1" dirty="0" smtClean="0"/>
              <a:t>1 = 5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Number </a:t>
            </a:r>
            <a:r>
              <a:rPr lang="en-US" sz="2000" i="1" dirty="0" smtClean="0"/>
              <a:t>2 = 3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Number </a:t>
            </a:r>
            <a:r>
              <a:rPr lang="en-US" sz="2000" i="1" dirty="0" smtClean="0"/>
              <a:t>3 = 9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Number </a:t>
            </a:r>
            <a:r>
              <a:rPr lang="en-US" sz="2000" i="1" dirty="0" smtClean="0"/>
              <a:t>4 = 0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Max </a:t>
            </a:r>
            <a:r>
              <a:rPr lang="en-US" sz="2000" i="1" dirty="0" smtClean="0"/>
              <a:t>= 9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Min</a:t>
            </a:r>
            <a:r>
              <a:rPr lang="en-US" sz="2000" i="1" dirty="0" smtClean="0"/>
              <a:t> </a:t>
            </a:r>
            <a:r>
              <a:rPr lang="en-US" sz="2000" i="1" dirty="0" smtClean="0"/>
              <a:t>= </a:t>
            </a:r>
            <a:r>
              <a:rPr lang="en-US" sz="2000" i="1" dirty="0" smtClean="0"/>
              <a:t>3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3.9: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find prime numbers: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a positive integer</a:t>
            </a:r>
            <a:r>
              <a:rPr lang="en-US" sz="2000" dirty="0" smtClean="0"/>
              <a:t> </a:t>
            </a:r>
            <a:r>
              <a:rPr lang="en-US" sz="2000" dirty="0" smtClean="0"/>
              <a:t>N </a:t>
            </a:r>
            <a:r>
              <a:rPr lang="en-US" sz="2000" dirty="0" smtClean="0"/>
              <a:t>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Print all prime numbers </a:t>
            </a:r>
            <a:r>
              <a:rPr lang="en-US" sz="2000" dirty="0" smtClean="0"/>
              <a:t>&lt;= N.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Enter a positive integer = </a:t>
            </a:r>
            <a:r>
              <a:rPr lang="en-US" sz="2000" i="1" dirty="0" smtClean="0"/>
              <a:t>11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#1 = 2</a:t>
            </a:r>
          </a:p>
          <a:p>
            <a:pPr>
              <a:buNone/>
            </a:pPr>
            <a:r>
              <a:rPr lang="en-US" sz="2000" i="1" dirty="0" smtClean="0"/>
              <a:t>		#2 = 3</a:t>
            </a:r>
          </a:p>
          <a:p>
            <a:pPr>
              <a:buNone/>
            </a:pPr>
            <a:r>
              <a:rPr lang="en-US" sz="2000" i="1" dirty="0" smtClean="0"/>
              <a:t>		#3 = 5</a:t>
            </a:r>
          </a:p>
          <a:p>
            <a:pPr>
              <a:buNone/>
            </a:pPr>
            <a:r>
              <a:rPr lang="en-US" sz="2000" i="1" dirty="0" smtClean="0"/>
              <a:t>		#4 = 7</a:t>
            </a:r>
          </a:p>
          <a:p>
            <a:pPr>
              <a:buNone/>
            </a:pPr>
            <a:r>
              <a:rPr lang="en-US" sz="2000" i="1" dirty="0" smtClean="0"/>
              <a:t>		#5 = 11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There are </a:t>
            </a:r>
            <a:r>
              <a:rPr lang="en-US" sz="2000" i="1" dirty="0" smtClean="0"/>
              <a:t>5 </a:t>
            </a:r>
            <a:r>
              <a:rPr lang="en-US" sz="2000" i="1" dirty="0" smtClean="0"/>
              <a:t>prime numbers.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3.10: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find GCD (greates</a:t>
            </a:r>
            <a:r>
              <a:rPr lang="en-US" sz="2000" dirty="0" smtClean="0"/>
              <a:t>t common divisor) and LCM (least common multiple)</a:t>
            </a:r>
            <a:r>
              <a:rPr lang="en-US" sz="2000" dirty="0" smtClean="0"/>
              <a:t>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2 positive integers </a:t>
            </a:r>
            <a:r>
              <a:rPr lang="en-US" sz="2000" dirty="0" smtClean="0"/>
              <a:t>a, b </a:t>
            </a:r>
            <a:r>
              <a:rPr lang="en-US" sz="2000" dirty="0" smtClean="0"/>
              <a:t>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Print: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	- </a:t>
            </a:r>
            <a:r>
              <a:rPr lang="en-US" sz="2000" dirty="0" smtClean="0"/>
              <a:t>GCD of </a:t>
            </a:r>
            <a:r>
              <a:rPr lang="en-US" sz="2000" dirty="0" smtClean="0"/>
              <a:t>a, b.</a:t>
            </a:r>
          </a:p>
          <a:p>
            <a:pPr>
              <a:buNone/>
            </a:pPr>
            <a:r>
              <a:rPr lang="en-US" sz="2000" dirty="0" smtClean="0"/>
              <a:t>			- </a:t>
            </a:r>
            <a:r>
              <a:rPr lang="en-US" sz="2000" dirty="0" smtClean="0"/>
              <a:t>LCM of </a:t>
            </a:r>
            <a:r>
              <a:rPr lang="en-US" sz="2000" dirty="0" smtClean="0"/>
              <a:t>a, b.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Enter 2 positive integers </a:t>
            </a:r>
            <a:r>
              <a:rPr lang="en-US" sz="2000" i="1" dirty="0" smtClean="0"/>
              <a:t>= 8  12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GCD = </a:t>
            </a:r>
            <a:r>
              <a:rPr lang="en-US" sz="2000" i="1" dirty="0" smtClean="0"/>
              <a:t>4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LCM = </a:t>
            </a:r>
            <a:r>
              <a:rPr lang="en-US" sz="2000" i="1" dirty="0" smtClean="0"/>
              <a:t>24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3.11: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print bit representation of an integer: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integer </a:t>
            </a:r>
            <a:r>
              <a:rPr lang="en-US" sz="2000" dirty="0" smtClean="0"/>
              <a:t>N </a:t>
            </a:r>
            <a:r>
              <a:rPr lang="en-US" sz="2000" dirty="0" smtClean="0"/>
              <a:t>and positive integer </a:t>
            </a:r>
            <a:r>
              <a:rPr lang="en-US" sz="2000" dirty="0" smtClean="0"/>
              <a:t>M.</a:t>
            </a:r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Print the first </a:t>
            </a:r>
            <a:r>
              <a:rPr lang="en-US" sz="2000" dirty="0" smtClean="0"/>
              <a:t>M bit </a:t>
            </a:r>
            <a:r>
              <a:rPr lang="en-US" sz="2000" dirty="0" smtClean="0"/>
              <a:t>from the right of N.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Enter </a:t>
            </a:r>
            <a:r>
              <a:rPr lang="en-US" sz="2000" i="1" dirty="0" smtClean="0"/>
              <a:t>N, M = 11  3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The first 3 bit from the right of 11</a:t>
            </a:r>
            <a:r>
              <a:rPr lang="en-US" sz="2000" i="1" dirty="0" smtClean="0"/>
              <a:t>: 011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3.12: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read phone number </a:t>
            </a:r>
            <a:r>
              <a:rPr lang="en-US" sz="2000" smtClean="0"/>
              <a:t>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smtClean="0"/>
              <a:t>- </a:t>
            </a:r>
            <a:r>
              <a:rPr lang="en-US" sz="2000" smtClean="0"/>
              <a:t>Enter a phone number (10 digits max) 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smtClean="0"/>
              <a:t>- </a:t>
            </a:r>
            <a:r>
              <a:rPr lang="en-US" sz="2000" smtClean="0"/>
              <a:t>Print how to read the phone number.</a:t>
            </a:r>
            <a:endParaRPr lang="en-US" sz="2000" dirty="0" smtClean="0"/>
          </a:p>
          <a:p>
            <a:pPr>
              <a:buNone/>
            </a:pPr>
            <a:r>
              <a:rPr lang="en-US" sz="2000" smtClean="0"/>
              <a:t>	</a:t>
            </a:r>
            <a:r>
              <a:rPr lang="en-US" sz="2000" smtClean="0"/>
              <a:t>Notes: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</a:t>
            </a:r>
            <a:r>
              <a:rPr lang="en-US" sz="2000" smtClean="0"/>
              <a:t>- </a:t>
            </a:r>
            <a:r>
              <a:rPr lang="en-US" sz="2000" smtClean="0"/>
              <a:t>Do not use array/string processing (get element, get length).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	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smtClean="0"/>
              <a:t>	</a:t>
            </a:r>
            <a:r>
              <a:rPr lang="en-US" sz="2000" smtClean="0"/>
              <a:t>    </a:t>
            </a:r>
            <a:r>
              <a:rPr lang="en-US" sz="2000" i="1" smtClean="0"/>
              <a:t>Phone number: </a:t>
            </a:r>
            <a:r>
              <a:rPr lang="en-US" sz="2000" i="1" dirty="0" smtClean="0"/>
              <a:t>838272727.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smtClean="0"/>
              <a:t>	</a:t>
            </a:r>
            <a:r>
              <a:rPr lang="en-US" sz="2000" i="1" smtClean="0"/>
              <a:t>    Eight three eight two seven two seven two seven.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3.13: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a positive integer </a:t>
            </a:r>
            <a:r>
              <a:rPr lang="en-US" sz="2000" dirty="0" smtClean="0"/>
              <a:t>N </a:t>
            </a:r>
            <a:r>
              <a:rPr lang="en-US" sz="2000" dirty="0" smtClean="0"/>
              <a:t>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Check if: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	a) </a:t>
            </a:r>
            <a:r>
              <a:rPr lang="en-US" sz="2000" dirty="0" smtClean="0"/>
              <a:t>Digits of N is in descending order from the ones.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	b) </a:t>
            </a:r>
            <a:r>
              <a:rPr lang="en-US" sz="2000" dirty="0" smtClean="0"/>
              <a:t>Digits of N is symmetric.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Enter </a:t>
            </a:r>
            <a:r>
              <a:rPr lang="en-US" sz="2000" i="1" dirty="0" smtClean="0"/>
              <a:t>N = 12344321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Not descending.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Symmetric.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3.14: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program to print month calendar 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month and year (re-enter if invalid).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Enter day of week of the first day in the month (for alignment).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Print the calendar of the month.</a:t>
            </a: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Input format:</a:t>
            </a:r>
            <a:endParaRPr lang="en-US" sz="2000" i="1" dirty="0" smtClean="0"/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What month and year to view calendar? </a:t>
            </a:r>
            <a:r>
              <a:rPr lang="en-US" sz="2000" i="1" dirty="0" smtClean="0"/>
              <a:t>9 2022</a:t>
            </a:r>
          </a:p>
          <a:p>
            <a:pPr>
              <a:buNone/>
            </a:pPr>
            <a:r>
              <a:rPr lang="en-US" sz="2000" i="1" dirty="0" smtClean="0"/>
              <a:t>		</a:t>
            </a:r>
            <a:r>
              <a:rPr lang="en-US" sz="2000" i="1" dirty="0" smtClean="0"/>
              <a:t>What is the day of week of the first day? </a:t>
            </a:r>
            <a:r>
              <a:rPr lang="en-US" sz="2000" i="1" dirty="0" smtClean="0"/>
              <a:t>5</a:t>
            </a:r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Output format:</a:t>
            </a:r>
            <a:endParaRPr lang="en-US" sz="2000" i="1" dirty="0" smtClean="0"/>
          </a:p>
          <a:p>
            <a:pPr>
              <a:spcBef>
                <a:spcPts val="200"/>
              </a:spcBef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Mon Tue Wed Thu Fri Sat Sun</a:t>
            </a:r>
          </a:p>
          <a:p>
            <a:pPr>
              <a:spcBef>
                <a:spcPts val="200"/>
              </a:spcBef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          1   2   3   4</a:t>
            </a:r>
          </a:p>
          <a:p>
            <a:pPr>
              <a:spcBef>
                <a:spcPts val="200"/>
              </a:spcBef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5   6   7   8   9  10  11</a:t>
            </a:r>
          </a:p>
          <a:p>
            <a:pPr>
              <a:spcBef>
                <a:spcPts val="200"/>
              </a:spcBef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12  13  14  15  16  17  18</a:t>
            </a:r>
          </a:p>
          <a:p>
            <a:pPr>
              <a:spcBef>
                <a:spcPts val="200"/>
              </a:spcBef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19  20  21  22  23  24  25</a:t>
            </a:r>
          </a:p>
          <a:p>
            <a:pPr>
              <a:spcBef>
                <a:spcPts val="200"/>
              </a:spcBef>
              <a:buNone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26  27  28  29  30</a:t>
            </a:r>
          </a:p>
          <a:p>
            <a:pPr>
              <a:buNone/>
            </a:pPr>
            <a:r>
              <a:rPr lang="en-US" sz="2000" i="1" dirty="0" smtClean="0">
                <a:latin typeface="Consolas" pitchFamily="49" charset="0"/>
                <a:cs typeface="Consolas" pitchFamily="49" charset="0"/>
              </a:rPr>
              <a:t>		  	</a:t>
            </a:r>
            <a:r>
              <a:rPr lang="en-US" sz="2000" i="1" dirty="0" smtClean="0"/>
              <a:t>	</a:t>
            </a:r>
            <a:endParaRPr lang="en-US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Practice 3.15:</a:t>
            </a:r>
            <a:endParaRPr lang="en-US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Write C/C++ game for grade 1 student to practice +, - as follow: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Computer asks randomly + or – between two positive integers.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Player answers the result (re-enter if wrong).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Computer continues to asks until player answers zero.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	- </a:t>
            </a:r>
            <a:r>
              <a:rPr lang="en-US" sz="2000" dirty="0" smtClean="0"/>
              <a:t>Constraint: operands, result in range [1..99].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smtClean="0"/>
              <a:t>Notes: use </a:t>
            </a:r>
            <a:r>
              <a:rPr lang="en-US" sz="2000" dirty="0" err="1" smtClean="0"/>
              <a:t>srand</a:t>
            </a:r>
            <a:r>
              <a:rPr lang="en-US" sz="2000" dirty="0" smtClean="0"/>
              <a:t>, rand </a:t>
            </a:r>
            <a:r>
              <a:rPr lang="en-US" sz="2000" dirty="0" smtClean="0"/>
              <a:t>(&lt;</a:t>
            </a:r>
            <a:r>
              <a:rPr lang="en-US" sz="2000" dirty="0" err="1" smtClean="0"/>
              <a:t>stdlib.h</a:t>
            </a:r>
            <a:r>
              <a:rPr lang="en-US" sz="2000" dirty="0" smtClean="0"/>
              <a:t>&gt;) to generate random numbers.</a:t>
            </a:r>
            <a:endParaRPr lang="en-US" sz="2000" dirty="0" smtClean="0"/>
          </a:p>
          <a:p>
            <a:pPr>
              <a:buNone/>
            </a:pPr>
            <a:r>
              <a:rPr lang="en-US" sz="2000" i="1" dirty="0" smtClean="0"/>
              <a:t>	</a:t>
            </a:r>
            <a:r>
              <a:rPr lang="en-US" sz="2000" i="1" dirty="0" smtClean="0"/>
              <a:t>Game format:</a:t>
            </a:r>
            <a:endParaRPr lang="en-US" sz="2000" i="1" dirty="0" smtClean="0"/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Question </a:t>
            </a:r>
            <a:r>
              <a:rPr lang="en-US" sz="1800" i="1" dirty="0" smtClean="0"/>
              <a:t>1: 2 + 5 = ?</a:t>
            </a:r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Answer: </a:t>
            </a:r>
            <a:r>
              <a:rPr lang="en-US" sz="1800" i="1" dirty="0" smtClean="0"/>
              <a:t>7</a:t>
            </a:r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Question </a:t>
            </a:r>
            <a:r>
              <a:rPr lang="en-US" sz="1800" i="1" dirty="0" smtClean="0"/>
              <a:t>2: 18 – 9 = ?</a:t>
            </a:r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Answer: </a:t>
            </a:r>
            <a:r>
              <a:rPr lang="en-US" sz="1800" i="1" dirty="0" smtClean="0"/>
              <a:t>8</a:t>
            </a:r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Answer: </a:t>
            </a:r>
            <a:r>
              <a:rPr lang="en-US" sz="1800" i="1" dirty="0" smtClean="0"/>
              <a:t>9</a:t>
            </a:r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Question </a:t>
            </a:r>
            <a:r>
              <a:rPr lang="en-US" sz="1800" i="1" dirty="0" smtClean="0"/>
              <a:t>3: 6 + 25 = ?</a:t>
            </a:r>
          </a:p>
          <a:p>
            <a:pPr>
              <a:buNone/>
            </a:pPr>
            <a:r>
              <a:rPr lang="en-US" sz="1800" i="1" dirty="0" smtClean="0"/>
              <a:t>		</a:t>
            </a:r>
            <a:r>
              <a:rPr lang="en-US" sz="1800" i="1" dirty="0" smtClean="0"/>
              <a:t>Answer: </a:t>
            </a:r>
            <a:r>
              <a:rPr lang="en-US" sz="1800" i="1" dirty="0" smtClean="0"/>
              <a:t>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5A8E62-1A30-4C97-A711-06E835BB74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Fundamentals of Programming - Nguyễn Minh Huy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143000" marR="0" indent="-2286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2"/>
          </a:buClr>
          <a:buSzPct val="70000"/>
          <a:buFont typeface="Wingdings" pitchFamily="2" charset="2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23488</TotalTime>
  <Words>243</Words>
  <Application>Microsoft Office PowerPoint</Application>
  <PresentationFormat>On-screen Show (4:3)</PresentationFormat>
  <Paragraphs>194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Stream</vt:lpstr>
      <vt:lpstr>Control Flow Statements Exercises</vt:lpstr>
      <vt:lpstr>Exercises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</vt:vector>
  </TitlesOfParts>
  <Company>HCMC University of Natural Sciences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Các nguyên</dc:title>
  <dc:creator>Nguyen Minh Huy</dc:creator>
  <cp:lastModifiedBy>TchyA</cp:lastModifiedBy>
  <cp:revision>1224</cp:revision>
  <dcterms:created xsi:type="dcterms:W3CDTF">2005-11-21T10:16:26Z</dcterms:created>
  <dcterms:modified xsi:type="dcterms:W3CDTF">2024-08-26T10:26:44Z</dcterms:modified>
</cp:coreProperties>
</file>