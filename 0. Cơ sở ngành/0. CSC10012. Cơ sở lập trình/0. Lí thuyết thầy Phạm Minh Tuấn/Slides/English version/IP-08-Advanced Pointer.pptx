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5"/>
  </p:notesMasterIdLst>
  <p:handoutMasterIdLst>
    <p:handoutMasterId r:id="rId36"/>
  </p:handoutMasterIdLst>
  <p:sldIdLst>
    <p:sldId id="256" r:id="rId2"/>
    <p:sldId id="261" r:id="rId3"/>
    <p:sldId id="302" r:id="rId4"/>
    <p:sldId id="288" r:id="rId5"/>
    <p:sldId id="296" r:id="rId6"/>
    <p:sldId id="289" r:id="rId7"/>
    <p:sldId id="290" r:id="rId8"/>
    <p:sldId id="291" r:id="rId9"/>
    <p:sldId id="292" r:id="rId10"/>
    <p:sldId id="293" r:id="rId11"/>
    <p:sldId id="298" r:id="rId12"/>
    <p:sldId id="301" r:id="rId13"/>
    <p:sldId id="294" r:id="rId14"/>
    <p:sldId id="303" r:id="rId15"/>
    <p:sldId id="269" r:id="rId16"/>
    <p:sldId id="270" r:id="rId17"/>
    <p:sldId id="271" r:id="rId18"/>
    <p:sldId id="272" r:id="rId19"/>
    <p:sldId id="304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9" r:id="rId30"/>
    <p:sldId id="300" r:id="rId31"/>
    <p:sldId id="260" r:id="rId32"/>
    <p:sldId id="283" r:id="rId33"/>
    <p:sldId id="284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1224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smtClean="0"/>
              <a:t>Advanced pointer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 manipulations.</a:t>
            </a:r>
          </a:p>
          <a:p>
            <a:r>
              <a:rPr lang="en-US" dirty="0" smtClean="0"/>
              <a:t>Pointer of pointer.</a:t>
            </a:r>
          </a:p>
          <a:p>
            <a:r>
              <a:rPr lang="en-US" dirty="0" smtClean="0"/>
              <a:t>Other types of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String manipulations.</a:t>
            </a:r>
          </a:p>
          <a:p>
            <a:r>
              <a:rPr lang="en-US" dirty="0" smtClean="0"/>
              <a:t>Pointer of pointer.</a:t>
            </a:r>
          </a:p>
          <a:p>
            <a:r>
              <a:rPr lang="en-US" dirty="0" smtClean="0"/>
              <a:t>Other types of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C string:</a:t>
            </a:r>
          </a:p>
          <a:p>
            <a:pPr lvl="1"/>
            <a:r>
              <a:rPr lang="en-US" dirty="0" smtClean="0"/>
              <a:t>Array of chars + ‘\0’.</a:t>
            </a:r>
          </a:p>
          <a:p>
            <a:pPr lvl="1"/>
            <a:r>
              <a:rPr lang="en-US" dirty="0" smtClean="0"/>
              <a:t>Dynamic string = pointer + memory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85800" y="2907268"/>
            <a:ext cx="7620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*s1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new char[6];	 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*s2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new char[ ]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 “hello” }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s2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*p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len1 =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strlen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);	  // len1 = 5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 len2 = </a:t>
            </a:r>
            <a:r>
              <a:rPr lang="en-US" sz="1800" dirty="0" err="1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strlen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); // len2 = 3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	//…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delete [ ]s1;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delete [ ]s2;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AutoShape 9"/>
          <p:cNvSpPr>
            <a:spLocks noChangeArrowheads="1"/>
          </p:cNvSpPr>
          <p:nvPr/>
        </p:nvSpPr>
        <p:spPr bwMode="auto">
          <a:xfrm>
            <a:off x="5257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27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5638800" y="3059668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6400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9" name="AutoShape 9"/>
          <p:cNvSpPr>
            <a:spLocks noChangeArrowheads="1"/>
          </p:cNvSpPr>
          <p:nvPr/>
        </p:nvSpPr>
        <p:spPr bwMode="auto">
          <a:xfrm>
            <a:off x="6781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0" name="AutoShape 9"/>
          <p:cNvSpPr>
            <a:spLocks noChangeArrowheads="1"/>
          </p:cNvSpPr>
          <p:nvPr/>
        </p:nvSpPr>
        <p:spPr bwMode="auto">
          <a:xfrm>
            <a:off x="7162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1" name="AutoShape 9"/>
          <p:cNvSpPr>
            <a:spLocks noChangeArrowheads="1"/>
          </p:cNvSpPr>
          <p:nvPr/>
        </p:nvSpPr>
        <p:spPr bwMode="auto">
          <a:xfrm>
            <a:off x="7543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2" name="AutoShape 9"/>
          <p:cNvSpPr>
            <a:spLocks noChangeArrowheads="1"/>
          </p:cNvSpPr>
          <p:nvPr/>
        </p:nvSpPr>
        <p:spPr bwMode="auto">
          <a:xfrm>
            <a:off x="7924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3" name="AutoShape 9"/>
          <p:cNvSpPr>
            <a:spLocks noChangeArrowheads="1"/>
          </p:cNvSpPr>
          <p:nvPr/>
        </p:nvSpPr>
        <p:spPr bwMode="auto">
          <a:xfrm>
            <a:off x="8305800" y="28310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?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257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49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 bwMode="auto">
          <a:xfrm>
            <a:off x="5638800" y="3516868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6400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6781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7162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7543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auto">
          <a:xfrm>
            <a:off x="7924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8305800" y="3288268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400800" y="41264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cxnSp>
        <p:nvCxnSpPr>
          <p:cNvPr id="24" name="Straight Connector 23"/>
          <p:cNvCxnSpPr/>
          <p:nvPr/>
        </p:nvCxnSpPr>
        <p:spPr bwMode="auto">
          <a:xfrm flipV="1">
            <a:off x="6553200" y="3669268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7010400" y="41264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+ 2</a:t>
            </a:r>
          </a:p>
        </p:txBody>
      </p:sp>
      <p:cxnSp>
        <p:nvCxnSpPr>
          <p:cNvPr id="26" name="Straight Connector 25"/>
          <p:cNvCxnSpPr/>
          <p:nvPr/>
        </p:nvCxnSpPr>
        <p:spPr bwMode="auto">
          <a:xfrm flipV="1">
            <a:off x="7315200" y="3669268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Iterate C string:</a:t>
            </a:r>
          </a:p>
          <a:p>
            <a:pPr lvl="1"/>
            <a:r>
              <a:rPr lang="en-US" dirty="0" smtClean="0"/>
              <a:t>Use index:</a:t>
            </a:r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1800" dirty="0" smtClean="0"/>
              <a:t>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b="1" dirty="0" smtClean="0">
                <a:solidFill>
                  <a:srgbClr val="FFC000"/>
                </a:solidFill>
              </a:rPr>
              <a:t>s[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 != ‘\0’</a:t>
            </a:r>
            <a:r>
              <a:rPr lang="en-US" sz="1800" dirty="0" smtClean="0"/>
              <a:t>; ++</a:t>
            </a:r>
            <a:r>
              <a:rPr lang="en-US" sz="1800" dirty="0" err="1" smtClean="0"/>
              <a:t>i</a:t>
            </a:r>
            <a:r>
              <a:rPr lang="en-US" sz="1800" dirty="0" smtClean="0"/>
              <a:t> )  </a:t>
            </a:r>
            <a:br>
              <a:rPr lang="en-US" sz="1800" dirty="0" smtClean="0"/>
            </a:br>
            <a:r>
              <a:rPr lang="en-US" sz="1800" dirty="0" smtClean="0"/>
              <a:t>{ 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Process character s[ </a:t>
            </a:r>
            <a:r>
              <a:rPr lang="en-US" sz="1800" dirty="0" err="1" smtClean="0">
                <a:solidFill>
                  <a:srgbClr val="FFC000"/>
                </a:solidFill>
              </a:rPr>
              <a:t>i</a:t>
            </a:r>
            <a:r>
              <a:rPr lang="en-US" sz="1800" dirty="0" smtClean="0">
                <a:solidFill>
                  <a:srgbClr val="FFC000"/>
                </a:solidFill>
              </a:rPr>
              <a:t> ].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dirty="0" smtClean="0"/>
          </a:p>
          <a:p>
            <a:pPr lvl="1"/>
            <a:r>
              <a:rPr lang="en-US" dirty="0" smtClean="0"/>
              <a:t>Use pointer:</a:t>
            </a:r>
          </a:p>
          <a:p>
            <a:pPr lvl="1">
              <a:buNone/>
            </a:pPr>
            <a:r>
              <a:rPr lang="en-US" sz="1800" dirty="0" smtClean="0"/>
              <a:t>	for ( char </a:t>
            </a:r>
            <a:r>
              <a:rPr lang="en-US" sz="1800" b="1" dirty="0" smtClean="0">
                <a:solidFill>
                  <a:srgbClr val="FFC000"/>
                </a:solidFill>
              </a:rPr>
              <a:t>*p</a:t>
            </a:r>
            <a:r>
              <a:rPr lang="en-US" sz="1800" dirty="0" smtClean="0"/>
              <a:t> = s; </a:t>
            </a:r>
            <a:r>
              <a:rPr lang="en-US" sz="1800" b="1" dirty="0" smtClean="0">
                <a:solidFill>
                  <a:srgbClr val="FFC000"/>
                </a:solidFill>
              </a:rPr>
              <a:t>*p</a:t>
            </a:r>
            <a:r>
              <a:rPr lang="en-US" sz="1800" dirty="0" smtClean="0"/>
              <a:t> != ‘\0’; </a:t>
            </a:r>
            <a:r>
              <a:rPr lang="en-US" sz="1800" b="1" dirty="0" smtClean="0">
                <a:solidFill>
                  <a:srgbClr val="FFC000"/>
                </a:solidFill>
              </a:rPr>
              <a:t>++p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Process character *p.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 string:</a:t>
            </a:r>
          </a:p>
          <a:p>
            <a:pPr lvl="1"/>
            <a:r>
              <a:rPr lang="en-US" dirty="0" smtClean="0"/>
              <a:t>Do not use “=“.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Two-step copy: </a:t>
            </a:r>
            <a:r>
              <a:rPr lang="en-US" b="1" dirty="0" err="1" smtClean="0">
                <a:solidFill>
                  <a:srgbClr val="FFC000"/>
                </a:solidFill>
              </a:rPr>
              <a:t>strcpy</a:t>
            </a:r>
            <a:r>
              <a:rPr lang="en-US" dirty="0" smtClean="0"/>
              <a:t>( &lt;</a:t>
            </a:r>
            <a:r>
              <a:rPr lang="en-US" dirty="0" err="1" smtClean="0"/>
              <a:t>dest</a:t>
            </a:r>
            <a:r>
              <a:rPr lang="en-US" dirty="0" smtClean="0"/>
              <a:t>&gt;, &lt;source&gt; ).</a:t>
            </a:r>
          </a:p>
          <a:p>
            <a:pPr lvl="2"/>
            <a:r>
              <a:rPr lang="en-US" dirty="0" smtClean="0"/>
              <a:t>Step 1: allocate new string.</a:t>
            </a:r>
          </a:p>
          <a:p>
            <a:pPr lvl="2"/>
            <a:r>
              <a:rPr lang="en-US" dirty="0" smtClean="0"/>
              <a:t>Step 2: copy string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04800" y="2286000"/>
            <a:ext cx="845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s1[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{ “Hello” };		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AutoShape 9"/>
          <p:cNvSpPr>
            <a:spLocks noChangeArrowheads="1"/>
          </p:cNvSpPr>
          <p:nvPr/>
        </p:nvSpPr>
        <p:spPr bwMode="auto">
          <a:xfrm>
            <a:off x="4800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27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 bwMode="auto">
          <a:xfrm>
            <a:off x="5181600" y="2514600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5943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9" name="AutoShape 9"/>
          <p:cNvSpPr>
            <a:spLocks noChangeArrowheads="1"/>
          </p:cNvSpPr>
          <p:nvPr/>
        </p:nvSpPr>
        <p:spPr bwMode="auto">
          <a:xfrm>
            <a:off x="6324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0" name="AutoShape 9"/>
          <p:cNvSpPr>
            <a:spLocks noChangeArrowheads="1"/>
          </p:cNvSpPr>
          <p:nvPr/>
        </p:nvSpPr>
        <p:spPr bwMode="auto">
          <a:xfrm>
            <a:off x="6705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1" name="AutoShape 9"/>
          <p:cNvSpPr>
            <a:spLocks noChangeArrowheads="1"/>
          </p:cNvSpPr>
          <p:nvPr/>
        </p:nvSpPr>
        <p:spPr bwMode="auto">
          <a:xfrm>
            <a:off x="7086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2" name="AutoShape 9"/>
          <p:cNvSpPr>
            <a:spLocks noChangeArrowheads="1"/>
          </p:cNvSpPr>
          <p:nvPr/>
        </p:nvSpPr>
        <p:spPr bwMode="auto">
          <a:xfrm>
            <a:off x="7467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3" name="AutoShape 9"/>
          <p:cNvSpPr>
            <a:spLocks noChangeArrowheads="1"/>
          </p:cNvSpPr>
          <p:nvPr/>
        </p:nvSpPr>
        <p:spPr bwMode="auto">
          <a:xfrm>
            <a:off x="7848600" y="22860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304800" y="2819400"/>
            <a:ext cx="845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*s2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;			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s2		     // Memory conflict!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4800600" y="2819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27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 bwMode="auto">
          <a:xfrm>
            <a:off x="5180012" y="3048000"/>
            <a:ext cx="9144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rot="5400000" flipH="1" flipV="1">
            <a:off x="5904706" y="2856706"/>
            <a:ext cx="381000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304800" y="4648200"/>
            <a:ext cx="8458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s1[ ]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“Hello”;		   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s1</a:t>
            </a:r>
            <a:endParaRPr lang="en-US" sz="1800" b="1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2" name="AutoShape 9"/>
          <p:cNvSpPr>
            <a:spLocks noChangeArrowheads="1"/>
          </p:cNvSpPr>
          <p:nvPr/>
        </p:nvSpPr>
        <p:spPr bwMode="auto">
          <a:xfrm>
            <a:off x="4800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27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83" name="Straight Connector 82"/>
          <p:cNvCxnSpPr/>
          <p:nvPr/>
        </p:nvCxnSpPr>
        <p:spPr bwMode="auto">
          <a:xfrm>
            <a:off x="5181600" y="4876800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84" name="AutoShape 9"/>
          <p:cNvSpPr>
            <a:spLocks noChangeArrowheads="1"/>
          </p:cNvSpPr>
          <p:nvPr/>
        </p:nvSpPr>
        <p:spPr bwMode="auto">
          <a:xfrm>
            <a:off x="5943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5" name="AutoShape 9"/>
          <p:cNvSpPr>
            <a:spLocks noChangeArrowheads="1"/>
          </p:cNvSpPr>
          <p:nvPr/>
        </p:nvSpPr>
        <p:spPr bwMode="auto">
          <a:xfrm>
            <a:off x="6324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6" name="AutoShape 9"/>
          <p:cNvSpPr>
            <a:spLocks noChangeArrowheads="1"/>
          </p:cNvSpPr>
          <p:nvPr/>
        </p:nvSpPr>
        <p:spPr bwMode="auto">
          <a:xfrm>
            <a:off x="6705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7" name="AutoShape 9"/>
          <p:cNvSpPr>
            <a:spLocks noChangeArrowheads="1"/>
          </p:cNvSpPr>
          <p:nvPr/>
        </p:nvSpPr>
        <p:spPr bwMode="auto">
          <a:xfrm>
            <a:off x="7086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8" name="AutoShape 9"/>
          <p:cNvSpPr>
            <a:spLocks noChangeArrowheads="1"/>
          </p:cNvSpPr>
          <p:nvPr/>
        </p:nvSpPr>
        <p:spPr bwMode="auto">
          <a:xfrm>
            <a:off x="7467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9" name="AutoShape 9"/>
          <p:cNvSpPr>
            <a:spLocks noChangeArrowheads="1"/>
          </p:cNvSpPr>
          <p:nvPr/>
        </p:nvSpPr>
        <p:spPr bwMode="auto">
          <a:xfrm>
            <a:off x="7848600" y="46482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304800" y="5181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char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*s2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= new char[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strlen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(s1) + 1 ]; 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s2</a:t>
            </a:r>
          </a:p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strcpy</a:t>
            </a: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( s2, s1 );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1" name="AutoShape 9"/>
          <p:cNvSpPr>
            <a:spLocks noChangeArrowheads="1"/>
          </p:cNvSpPr>
          <p:nvPr/>
        </p:nvSpPr>
        <p:spPr bwMode="auto">
          <a:xfrm>
            <a:off x="4800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94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92" name="Straight Connector 91"/>
          <p:cNvCxnSpPr/>
          <p:nvPr/>
        </p:nvCxnSpPr>
        <p:spPr bwMode="auto">
          <a:xfrm>
            <a:off x="5181600" y="5410200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93" name="AutoShape 9"/>
          <p:cNvSpPr>
            <a:spLocks noChangeArrowheads="1"/>
          </p:cNvSpPr>
          <p:nvPr/>
        </p:nvSpPr>
        <p:spPr bwMode="auto">
          <a:xfrm>
            <a:off x="5943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4" name="AutoShape 9"/>
          <p:cNvSpPr>
            <a:spLocks noChangeArrowheads="1"/>
          </p:cNvSpPr>
          <p:nvPr/>
        </p:nvSpPr>
        <p:spPr bwMode="auto">
          <a:xfrm>
            <a:off x="6324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5" name="AutoShape 9"/>
          <p:cNvSpPr>
            <a:spLocks noChangeArrowheads="1"/>
          </p:cNvSpPr>
          <p:nvPr/>
        </p:nvSpPr>
        <p:spPr bwMode="auto">
          <a:xfrm>
            <a:off x="6705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6" name="AutoShape 9"/>
          <p:cNvSpPr>
            <a:spLocks noChangeArrowheads="1"/>
          </p:cNvSpPr>
          <p:nvPr/>
        </p:nvSpPr>
        <p:spPr bwMode="auto">
          <a:xfrm>
            <a:off x="7086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l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7" name="AutoShape 9"/>
          <p:cNvSpPr>
            <a:spLocks noChangeArrowheads="1"/>
          </p:cNvSpPr>
          <p:nvPr/>
        </p:nvSpPr>
        <p:spPr bwMode="auto">
          <a:xfrm>
            <a:off x="7467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8" name="AutoShape 9"/>
          <p:cNvSpPr>
            <a:spLocks noChangeArrowheads="1"/>
          </p:cNvSpPr>
          <p:nvPr/>
        </p:nvSpPr>
        <p:spPr bwMode="auto">
          <a:xfrm>
            <a:off x="7848600" y="5181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30" grpId="0"/>
      <p:bldP spid="31" grpId="0" animBg="1"/>
      <p:bldP spid="81" grpId="0"/>
      <p:bldP spid="82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1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 string:</a:t>
            </a:r>
          </a:p>
          <a:p>
            <a:pPr lvl="1"/>
            <a:r>
              <a:rPr lang="en-US" dirty="0" smtClean="0"/>
              <a:t>One-step copy: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strdup</a:t>
            </a:r>
            <a:r>
              <a:rPr lang="en-US" dirty="0" smtClean="0"/>
              <a:t>( &lt;source string&gt; ).</a:t>
            </a:r>
          </a:p>
          <a:p>
            <a:pPr lvl="2"/>
            <a:r>
              <a:rPr lang="en-US" dirty="0" smtClean="0"/>
              <a:t>Return: new string copied from source string.</a:t>
            </a:r>
          </a:p>
          <a:p>
            <a:pPr lvl="2"/>
            <a:r>
              <a:rPr lang="en-US" dirty="0" smtClean="0"/>
              <a:t>New string must be de-allocated by </a:t>
            </a:r>
            <a:r>
              <a:rPr lang="en-US" b="1" dirty="0" smtClean="0">
                <a:solidFill>
                  <a:srgbClr val="FFC000"/>
                </a:solidFill>
              </a:rPr>
              <a:t>free</a:t>
            </a:r>
            <a:r>
              <a:rPr lang="en-US" dirty="0" smtClean="0"/>
              <a:t>().</a:t>
            </a:r>
          </a:p>
          <a:p>
            <a:pPr lvl="3">
              <a:buNone/>
            </a:pPr>
            <a:r>
              <a:rPr lang="en-US" sz="1800" dirty="0" smtClean="0"/>
              <a:t>	char  </a:t>
            </a:r>
            <a:r>
              <a:rPr lang="en-US" sz="1800" b="1" dirty="0" smtClean="0">
                <a:solidFill>
                  <a:srgbClr val="FFC000"/>
                </a:solidFill>
              </a:rPr>
              <a:t>s1[ ]</a:t>
            </a:r>
            <a:r>
              <a:rPr lang="en-US" sz="1800" dirty="0" smtClean="0"/>
              <a:t> { “Hello” };</a:t>
            </a:r>
            <a:br>
              <a:rPr lang="en-US" sz="1800" dirty="0" smtClean="0"/>
            </a:br>
            <a:r>
              <a:rPr lang="en-US" sz="1800" dirty="0" smtClean="0"/>
              <a:t>char  *</a:t>
            </a:r>
            <a:r>
              <a:rPr lang="en-US" sz="1800" b="1" dirty="0" smtClean="0">
                <a:solidFill>
                  <a:srgbClr val="FFC000"/>
                </a:solidFill>
              </a:rPr>
              <a:t>s2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strdup</a:t>
            </a:r>
            <a:r>
              <a:rPr lang="en-US" sz="1800" dirty="0" smtClean="0"/>
              <a:t>( s1 );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i="1" dirty="0" smtClean="0"/>
              <a:t>// Same as….</a:t>
            </a:r>
            <a:br>
              <a:rPr lang="en-US" sz="1800" i="1" dirty="0" smtClean="0"/>
            </a:br>
            <a:r>
              <a:rPr lang="en-US" sz="1800" i="1" dirty="0" smtClean="0"/>
              <a:t>// char *</a:t>
            </a:r>
            <a:r>
              <a:rPr lang="en-US" sz="1800" b="1" i="1" dirty="0" smtClean="0">
                <a:solidFill>
                  <a:srgbClr val="FFC000"/>
                </a:solidFill>
              </a:rPr>
              <a:t>s2</a:t>
            </a:r>
            <a:r>
              <a:rPr lang="en-US" sz="1800" i="1" dirty="0" smtClean="0"/>
              <a:t> = new char[ </a:t>
            </a:r>
            <a:r>
              <a:rPr lang="en-US" sz="1800" b="1" i="1" dirty="0" err="1" smtClean="0">
                <a:solidFill>
                  <a:srgbClr val="FFC000"/>
                </a:solidFill>
              </a:rPr>
              <a:t>strlen</a:t>
            </a:r>
            <a:r>
              <a:rPr lang="en-US" sz="1800" i="1" dirty="0" smtClean="0"/>
              <a:t>( s1 ) + 1 ];</a:t>
            </a:r>
            <a:br>
              <a:rPr lang="en-US" sz="1800" i="1" dirty="0" smtClean="0"/>
            </a:br>
            <a:r>
              <a:rPr lang="en-US" sz="1800" i="1" dirty="0" smtClean="0"/>
              <a:t>// </a:t>
            </a:r>
            <a:r>
              <a:rPr lang="en-US" sz="1800" b="1" i="1" dirty="0" err="1" smtClean="0">
                <a:solidFill>
                  <a:srgbClr val="FFC000"/>
                </a:solidFill>
              </a:rPr>
              <a:t>strcpy</a:t>
            </a:r>
            <a:r>
              <a:rPr lang="en-US" sz="1800" i="1" dirty="0" smtClean="0"/>
              <a:t>( s2, s1 );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>
                <a:solidFill>
                  <a:srgbClr val="FFC000"/>
                </a:solidFill>
              </a:rPr>
              <a:t>free</a:t>
            </a:r>
            <a:r>
              <a:rPr lang="en-US" sz="1800" dirty="0" smtClean="0"/>
              <a:t>(</a:t>
            </a:r>
            <a:r>
              <a:rPr lang="en-US" sz="1800" b="1" dirty="0" smtClean="0">
                <a:solidFill>
                  <a:srgbClr val="FFC000"/>
                </a:solidFill>
              </a:rPr>
              <a:t> </a:t>
            </a:r>
            <a:r>
              <a:rPr lang="en-US" sz="1800" dirty="0" smtClean="0"/>
              <a:t>s2 );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Compare string: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strcmp</a:t>
            </a:r>
            <a:r>
              <a:rPr lang="en-US" dirty="0" smtClean="0"/>
              <a:t>( &lt;string 1&gt;, &lt;string 2&gt; ).</a:t>
            </a:r>
          </a:p>
          <a:p>
            <a:pPr lvl="1"/>
            <a:r>
              <a:rPr lang="en-US" dirty="0" smtClean="0"/>
              <a:t>Return: 0 (equal), 1 (greater), -1 (less).</a:t>
            </a:r>
          </a:p>
          <a:p>
            <a:pPr lvl="1"/>
            <a:r>
              <a:rPr lang="en-US" dirty="0" smtClean="0"/>
              <a:t>Compare based on dictionary order.</a:t>
            </a:r>
          </a:p>
          <a:p>
            <a:pPr lvl="2">
              <a:buNone/>
            </a:pPr>
            <a:r>
              <a:rPr lang="en-US" sz="1800" dirty="0" smtClean="0"/>
              <a:t>	char  </a:t>
            </a:r>
            <a:r>
              <a:rPr lang="en-US" sz="1800" b="1" dirty="0" smtClean="0">
                <a:solidFill>
                  <a:srgbClr val="FFC000"/>
                </a:solidFill>
              </a:rPr>
              <a:t>s1[ ]</a:t>
            </a:r>
            <a:r>
              <a:rPr lang="en-US" sz="1800" dirty="0" smtClean="0"/>
              <a:t> { “</a:t>
            </a:r>
            <a:r>
              <a:rPr lang="en-US" sz="1800" dirty="0" err="1" smtClean="0"/>
              <a:t>abc</a:t>
            </a:r>
            <a:r>
              <a:rPr lang="en-US" sz="1800" dirty="0" smtClean="0"/>
              <a:t>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s2[ ]</a:t>
            </a:r>
            <a:r>
              <a:rPr lang="en-US" sz="1800" dirty="0" smtClean="0"/>
              <a:t> { “</a:t>
            </a:r>
            <a:r>
              <a:rPr lang="en-US" sz="1800" dirty="0" err="1" smtClean="0"/>
              <a:t>abaab</a:t>
            </a:r>
            <a:r>
              <a:rPr lang="en-US" sz="1800" dirty="0" smtClean="0"/>
              <a:t>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s3[ ]</a:t>
            </a:r>
            <a:r>
              <a:rPr lang="en-US" sz="1800" dirty="0" smtClean="0"/>
              <a:t> { “</a:t>
            </a:r>
            <a:r>
              <a:rPr lang="en-US" sz="1800" dirty="0" err="1" smtClean="0"/>
              <a:t>Abc</a:t>
            </a:r>
            <a:r>
              <a:rPr lang="en-US" sz="1800" dirty="0" smtClean="0"/>
              <a:t>” };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r1 = </a:t>
            </a:r>
            <a:r>
              <a:rPr lang="en-US" sz="1800" b="1" dirty="0" err="1" smtClean="0">
                <a:solidFill>
                  <a:srgbClr val="FFC000"/>
                </a:solidFill>
              </a:rPr>
              <a:t>strcmp</a:t>
            </a:r>
            <a:r>
              <a:rPr lang="en-US" sz="1800" dirty="0" smtClean="0"/>
              <a:t>( s1, s2 );	   // r1 = 1.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r2 = </a:t>
            </a:r>
            <a:r>
              <a:rPr lang="en-US" sz="1800" b="1" dirty="0" err="1" smtClean="0">
                <a:solidFill>
                  <a:srgbClr val="FFC000"/>
                </a:solidFill>
              </a:rPr>
              <a:t>strcmp</a:t>
            </a:r>
            <a:r>
              <a:rPr lang="en-US" sz="1800" dirty="0" smtClean="0"/>
              <a:t>( s3, s1 );	   // r2 = -1.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r3 = </a:t>
            </a:r>
            <a:r>
              <a:rPr lang="en-US" sz="1800" b="1" dirty="0" err="1" smtClean="0">
                <a:solidFill>
                  <a:srgbClr val="FFC000"/>
                </a:solidFill>
              </a:rPr>
              <a:t>strcasecmp</a:t>
            </a:r>
            <a:r>
              <a:rPr lang="en-US" sz="1800" dirty="0" smtClean="0"/>
              <a:t>( s3, s1 );  // r3 = 0, GCC compiler.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   r4 = </a:t>
            </a:r>
            <a:r>
              <a:rPr lang="en-US" sz="1800" b="1" dirty="0" err="1" smtClean="0">
                <a:solidFill>
                  <a:srgbClr val="FFC000"/>
                </a:solidFill>
              </a:rPr>
              <a:t>stricmp</a:t>
            </a:r>
            <a:r>
              <a:rPr lang="en-US" sz="1800" dirty="0" smtClean="0"/>
              <a:t>( s3, s1 );	   // r4 = 0, MSVC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 string: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strcat</a:t>
            </a:r>
            <a:r>
              <a:rPr lang="en-US" dirty="0" smtClean="0"/>
              <a:t>( &lt;</a:t>
            </a:r>
            <a:r>
              <a:rPr lang="en-US" dirty="0" err="1" smtClean="0"/>
              <a:t>dest</a:t>
            </a:r>
            <a:r>
              <a:rPr lang="en-US" dirty="0" smtClean="0"/>
              <a:t>&gt;, &lt;source&gt; ).</a:t>
            </a:r>
          </a:p>
          <a:p>
            <a:pPr lvl="1"/>
            <a:r>
              <a:rPr lang="en-US" dirty="0" smtClean="0"/>
              <a:t>Copy source to the end of </a:t>
            </a:r>
            <a:r>
              <a:rPr lang="en-US" dirty="0" err="1" smtClean="0"/>
              <a:t>dest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Dest</a:t>
            </a:r>
            <a:r>
              <a:rPr lang="en-US" dirty="0" smtClean="0"/>
              <a:t> string must have enough memory!!</a:t>
            </a:r>
          </a:p>
          <a:p>
            <a:pPr lvl="2">
              <a:buNone/>
            </a:pPr>
            <a:r>
              <a:rPr lang="en-US" sz="1800" dirty="0" smtClean="0"/>
              <a:t>	char  </a:t>
            </a:r>
            <a:r>
              <a:rPr lang="en-US" sz="1800" b="1" dirty="0" smtClean="0">
                <a:solidFill>
                  <a:srgbClr val="FFC000"/>
                </a:solidFill>
              </a:rPr>
              <a:t>s1[ ]</a:t>
            </a:r>
            <a:r>
              <a:rPr lang="en-US" sz="1800" dirty="0" smtClean="0"/>
              <a:t> { “Hello”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s2[ ]</a:t>
            </a:r>
            <a:r>
              <a:rPr lang="en-US" sz="1800" dirty="0" smtClean="0"/>
              <a:t> { “World” };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len1 = </a:t>
            </a:r>
            <a:r>
              <a:rPr lang="en-US" sz="1800" b="1" dirty="0" err="1" smtClean="0">
                <a:solidFill>
                  <a:srgbClr val="FFC000"/>
                </a:solidFill>
              </a:rPr>
              <a:t>strlen</a:t>
            </a:r>
            <a:r>
              <a:rPr lang="en-US" sz="1800" dirty="0" smtClean="0"/>
              <a:t>( s1 );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len2 = </a:t>
            </a:r>
            <a:r>
              <a:rPr lang="en-US" sz="1800" b="1" dirty="0" err="1" smtClean="0">
                <a:solidFill>
                  <a:srgbClr val="FFC000"/>
                </a:solidFill>
              </a:rPr>
              <a:t>strlen</a:t>
            </a:r>
            <a:r>
              <a:rPr lang="en-US" sz="1800" dirty="0" smtClean="0"/>
              <a:t>( s2 );</a:t>
            </a:r>
            <a:br>
              <a:rPr lang="en-US" sz="1800" dirty="0" smtClean="0"/>
            </a:br>
            <a:r>
              <a:rPr lang="en-US" sz="1800" dirty="0" smtClean="0"/>
              <a:t>char  *</a:t>
            </a:r>
            <a:r>
              <a:rPr lang="en-US" sz="1800" b="1" dirty="0" smtClean="0">
                <a:solidFill>
                  <a:srgbClr val="FFC000"/>
                </a:solidFill>
              </a:rPr>
              <a:t>s3</a:t>
            </a:r>
            <a:r>
              <a:rPr lang="en-US" sz="1800" dirty="0" smtClean="0"/>
              <a:t> = new char[ </a:t>
            </a:r>
            <a:r>
              <a:rPr lang="en-US" sz="1800" b="1" dirty="0" smtClean="0">
                <a:solidFill>
                  <a:srgbClr val="FFC000"/>
                </a:solidFill>
              </a:rPr>
              <a:t>len1 + len2 + 1</a:t>
            </a:r>
            <a:r>
              <a:rPr lang="en-US" sz="1800" dirty="0" smtClean="0"/>
              <a:t> ];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strcat</a:t>
            </a:r>
            <a:r>
              <a:rPr lang="en-US" sz="1800" dirty="0" smtClean="0"/>
              <a:t>( s3, s1 );	// Join s1 to s3.</a:t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strcat</a:t>
            </a:r>
            <a:r>
              <a:rPr lang="en-US" sz="1800" dirty="0" smtClean="0"/>
              <a:t>( s3, s2 );	// Then, join s2 to s3.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More efficient way…</a:t>
            </a:r>
            <a:br>
              <a:rPr lang="en-US" sz="1800" dirty="0" smtClean="0">
                <a:solidFill>
                  <a:srgbClr val="FFC000"/>
                </a:solidFill>
              </a:rPr>
            </a:br>
            <a:r>
              <a:rPr lang="en-US" sz="1800" b="1" dirty="0" err="1" smtClean="0">
                <a:solidFill>
                  <a:srgbClr val="FFC000"/>
                </a:solidFill>
              </a:rPr>
              <a:t>strcpy</a:t>
            </a:r>
            <a:r>
              <a:rPr lang="en-US" sz="1800" dirty="0" smtClean="0"/>
              <a:t>( s3, s1 );</a:t>
            </a:r>
            <a:br>
              <a:rPr lang="en-US" sz="1800" dirty="0" smtClean="0"/>
            </a:br>
            <a:r>
              <a:rPr lang="en-US" sz="1800" b="1" dirty="0" err="1" smtClean="0">
                <a:solidFill>
                  <a:srgbClr val="FFC000"/>
                </a:solidFill>
              </a:rPr>
              <a:t>strcpy</a:t>
            </a:r>
            <a:r>
              <a:rPr lang="en-US" sz="1800" dirty="0" smtClean="0"/>
              <a:t>( s3 + len1, s2 ); 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sub char/string: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strchr</a:t>
            </a:r>
            <a:r>
              <a:rPr lang="en-US" dirty="0" smtClean="0"/>
              <a:t>( &lt;source&gt;, &lt;sub&gt; ).</a:t>
            </a:r>
            <a:endParaRPr lang="en-US" b="1" dirty="0" smtClean="0">
              <a:solidFill>
                <a:srgbClr val="FFC000"/>
              </a:solidFill>
            </a:endParaRP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strstr</a:t>
            </a:r>
            <a:r>
              <a:rPr lang="en-US" dirty="0" smtClean="0"/>
              <a:t>( &lt;source&gt;, &lt;sub&gt; ).</a:t>
            </a:r>
          </a:p>
          <a:p>
            <a:pPr lvl="1"/>
            <a:r>
              <a:rPr lang="en-US" dirty="0" smtClean="0"/>
              <a:t>Return: pointer to sub in source or NULL (not found).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Find and skip to find all t in s.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s[ ]</a:t>
            </a:r>
            <a:r>
              <a:rPr lang="en-US" sz="1800" dirty="0" smtClean="0"/>
              <a:t> { “the cat the dog”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t [ ]</a:t>
            </a:r>
            <a:r>
              <a:rPr lang="en-US" sz="1800" dirty="0" smtClean="0"/>
              <a:t> { “the” };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</a:t>
            </a:r>
            <a:r>
              <a:rPr lang="en-US" sz="1800" dirty="0" err="1" smtClean="0"/>
              <a:t>len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strlen</a:t>
            </a:r>
            <a:r>
              <a:rPr lang="en-US" sz="1800" dirty="0" smtClean="0"/>
              <a:t>( t );</a:t>
            </a:r>
            <a:br>
              <a:rPr lang="en-US" sz="1800" dirty="0" smtClean="0"/>
            </a:br>
            <a:r>
              <a:rPr lang="en-US" sz="1800" dirty="0" smtClean="0"/>
              <a:t>for ( char </a:t>
            </a:r>
            <a:r>
              <a:rPr lang="en-US" sz="1800" b="1" dirty="0" smtClean="0">
                <a:solidFill>
                  <a:srgbClr val="FFC000"/>
                </a:solidFill>
              </a:rPr>
              <a:t>*p</a:t>
            </a:r>
            <a:r>
              <a:rPr lang="en-US" sz="1800" dirty="0" smtClean="0"/>
              <a:t> = s; (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strstr</a:t>
            </a:r>
            <a:r>
              <a:rPr lang="en-US" sz="1800" dirty="0" smtClean="0"/>
              <a:t>( 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, t ) ); 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 += </a:t>
            </a:r>
            <a:r>
              <a:rPr lang="en-US" sz="1800" dirty="0" err="1" smtClean="0"/>
              <a:t>len</a:t>
            </a:r>
            <a:r>
              <a:rPr lang="en-US" sz="1800" dirty="0" smtClean="0"/>
              <a:t> )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 “Found at %d\n”, </a:t>
            </a:r>
            <a:r>
              <a:rPr lang="en-US" sz="1800" b="1" dirty="0" smtClean="0">
                <a:solidFill>
                  <a:srgbClr val="FFC000"/>
                </a:solidFill>
              </a:rPr>
              <a:t>p – s</a:t>
            </a:r>
            <a:r>
              <a:rPr lang="en-US" sz="1800" dirty="0" smtClean="0"/>
              <a:t> );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1066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49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447800" y="5334000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209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t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590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2971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352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733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c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09800" y="59552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2362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200400" y="5955268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len</a:t>
            </a:r>
            <a:endParaRPr lang="en-US" sz="18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17" name="Straight Connector 16"/>
          <p:cNvCxnSpPr/>
          <p:nvPr/>
        </p:nvCxnSpPr>
        <p:spPr bwMode="auto">
          <a:xfrm flipV="1">
            <a:off x="3505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4114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a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4495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t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auto">
          <a:xfrm>
            <a:off x="4876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5257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t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5638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4" name="AutoShape 9"/>
          <p:cNvSpPr>
            <a:spLocks noChangeArrowheads="1"/>
          </p:cNvSpPr>
          <p:nvPr/>
        </p:nvSpPr>
        <p:spPr bwMode="auto">
          <a:xfrm>
            <a:off x="6019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e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6400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6781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d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7162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7543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g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7924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762000" y="5105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257800" y="59552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5410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248400" y="5955268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len</a:t>
            </a:r>
            <a:endParaRPr lang="en-US" sz="18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 flipV="1">
            <a:off x="6553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/>
      <p:bldP spid="16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13" grpId="0" animBg="1"/>
      <p:bldP spid="29" grpId="0"/>
      <p:bldP spid="30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any of char in/not in set: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strpbrk</a:t>
            </a:r>
            <a:r>
              <a:rPr lang="en-US" dirty="0" smtClean="0"/>
              <a:t>( &lt;source&gt;, &lt;set&gt; ).</a:t>
            </a:r>
            <a:endParaRPr lang="en-US" b="1" dirty="0" smtClean="0">
              <a:solidFill>
                <a:srgbClr val="FFC000"/>
              </a:solidFill>
            </a:endParaRPr>
          </a:p>
          <a:p>
            <a:pPr lvl="2"/>
            <a:r>
              <a:rPr lang="en-US" dirty="0" smtClean="0"/>
              <a:t>Return: pointer to first source char in set or NULL (not found).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strspn</a:t>
            </a:r>
            <a:r>
              <a:rPr lang="en-US" dirty="0" smtClean="0"/>
              <a:t>( &lt;source&gt;, &lt;set&gt; ).</a:t>
            </a:r>
          </a:p>
          <a:p>
            <a:pPr lvl="2"/>
            <a:r>
              <a:rPr lang="en-US" dirty="0" smtClean="0"/>
              <a:t>Return: distance to first source char not in set.</a:t>
            </a:r>
          </a:p>
          <a:p>
            <a:pPr lvl="2">
              <a:buNone/>
            </a:pPr>
            <a:r>
              <a:rPr lang="en-US" sz="1800" dirty="0" smtClean="0"/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// Find and skip to find all any of t in s.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s[ ]</a:t>
            </a:r>
            <a:r>
              <a:rPr lang="en-US" sz="1800" dirty="0" smtClean="0"/>
              <a:t> { “15 cats 30 dogs”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t [ ]</a:t>
            </a:r>
            <a:r>
              <a:rPr lang="en-US" sz="1800" dirty="0" smtClean="0"/>
              <a:t> { “0123456789” };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for ( char </a:t>
            </a:r>
            <a:r>
              <a:rPr lang="en-US" sz="1800" b="1" dirty="0" smtClean="0">
                <a:solidFill>
                  <a:srgbClr val="FFC000"/>
                </a:solidFill>
              </a:rPr>
              <a:t>*p</a:t>
            </a:r>
            <a:r>
              <a:rPr lang="en-US" sz="1800" dirty="0" smtClean="0"/>
              <a:t> = s; (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 = </a:t>
            </a:r>
            <a:r>
              <a:rPr lang="en-US" sz="1800" b="1" dirty="0" err="1" smtClean="0">
                <a:solidFill>
                  <a:srgbClr val="FFC000"/>
                </a:solidFill>
              </a:rPr>
              <a:t>strpbrk</a:t>
            </a:r>
            <a:r>
              <a:rPr lang="en-US" sz="1800" dirty="0" smtClean="0"/>
              <a:t>( 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, t ) ); </a:t>
            </a:r>
            <a:r>
              <a:rPr lang="en-US" sz="1800" b="1" dirty="0" smtClean="0">
                <a:solidFill>
                  <a:srgbClr val="FFC000"/>
                </a:solidFill>
              </a:rPr>
              <a:t>p</a:t>
            </a:r>
            <a:r>
              <a:rPr lang="en-US" sz="1800" dirty="0" smtClean="0"/>
              <a:t> += </a:t>
            </a:r>
            <a:r>
              <a:rPr lang="en-US" sz="1800" dirty="0" err="1" smtClean="0"/>
              <a:t>strspn</a:t>
            </a:r>
            <a:r>
              <a:rPr lang="en-US" sz="1800" dirty="0" smtClean="0"/>
              <a:t>( p, t ) )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 “Found at %d\n”, </a:t>
            </a:r>
            <a:r>
              <a:rPr lang="en-US" sz="1800" b="1" dirty="0" smtClean="0">
                <a:solidFill>
                  <a:srgbClr val="FFC000"/>
                </a:solidFill>
              </a:rPr>
              <a:t>p – s</a:t>
            </a:r>
            <a:r>
              <a:rPr lang="en-US" sz="1800" dirty="0" smtClean="0"/>
              <a:t> );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1066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49</a:t>
            </a:r>
            <a:endParaRPr lang="en-US" sz="1800" dirty="0">
              <a:solidFill>
                <a:srgbClr val="0000FF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1447800" y="5334000"/>
            <a:ext cx="762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209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590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2971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352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c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733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a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209800" y="59552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2362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743200" y="5955268"/>
            <a:ext cx="1905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strspn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p, t )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 flipV="1">
            <a:off x="32004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4114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t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AutoShape 9"/>
          <p:cNvSpPr>
            <a:spLocks noChangeArrowheads="1"/>
          </p:cNvSpPr>
          <p:nvPr/>
        </p:nvSpPr>
        <p:spPr bwMode="auto">
          <a:xfrm>
            <a:off x="4495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s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1" name="AutoShape 9"/>
          <p:cNvSpPr>
            <a:spLocks noChangeArrowheads="1"/>
          </p:cNvSpPr>
          <p:nvPr/>
        </p:nvSpPr>
        <p:spPr bwMode="auto">
          <a:xfrm>
            <a:off x="4876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5257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3" name="AutoShape 9"/>
          <p:cNvSpPr>
            <a:spLocks noChangeArrowheads="1"/>
          </p:cNvSpPr>
          <p:nvPr/>
        </p:nvSpPr>
        <p:spPr bwMode="auto">
          <a:xfrm>
            <a:off x="5638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4" name="AutoShape 9"/>
          <p:cNvSpPr>
            <a:spLocks noChangeArrowheads="1"/>
          </p:cNvSpPr>
          <p:nvPr/>
        </p:nvSpPr>
        <p:spPr bwMode="auto">
          <a:xfrm>
            <a:off x="6019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6400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d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6" name="AutoShape 9"/>
          <p:cNvSpPr>
            <a:spLocks noChangeArrowheads="1"/>
          </p:cNvSpPr>
          <p:nvPr/>
        </p:nvSpPr>
        <p:spPr bwMode="auto">
          <a:xfrm>
            <a:off x="6781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o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7162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g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7543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s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7924800" y="5105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FC000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182880" rIns="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\0 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762000" y="5105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5257800" y="5955268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 flipV="1">
            <a:off x="54102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 flipV="1">
            <a:off x="6248400" y="5486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5791200" y="5955268"/>
            <a:ext cx="1905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strspn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p, t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/>
      <p:bldP spid="16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13" grpId="0" animBg="1"/>
      <p:bldP spid="29" grpId="0"/>
      <p:bldP spid="30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string to number:</a:t>
            </a:r>
          </a:p>
          <a:p>
            <a:pPr lvl="1"/>
            <a:r>
              <a:rPr lang="en-US" dirty="0" smtClean="0"/>
              <a:t>To integer: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atoi</a:t>
            </a:r>
            <a:r>
              <a:rPr lang="en-US" dirty="0" smtClean="0"/>
              <a:t>( &lt;string&gt; )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strtoll</a:t>
            </a:r>
            <a:r>
              <a:rPr lang="en-US" dirty="0" smtClean="0"/>
              <a:t>( &lt;string&gt;, &lt;end pointer&gt;, &lt;base&gt; ).</a:t>
            </a:r>
          </a:p>
          <a:p>
            <a:pPr lvl="1"/>
            <a:r>
              <a:rPr lang="en-US" dirty="0" smtClean="0"/>
              <a:t>To float: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atof</a:t>
            </a:r>
            <a:r>
              <a:rPr lang="en-US" dirty="0" smtClean="0"/>
              <a:t>( &lt;string&gt; ).</a:t>
            </a:r>
          </a:p>
          <a:p>
            <a:pPr lvl="2"/>
            <a:r>
              <a:rPr lang="en-US" b="1" dirty="0" err="1" smtClean="0">
                <a:solidFill>
                  <a:srgbClr val="FFC000"/>
                </a:solidFill>
              </a:rPr>
              <a:t>strtod</a:t>
            </a:r>
            <a:r>
              <a:rPr lang="en-US" dirty="0" smtClean="0"/>
              <a:t>( &lt;string&gt;, &lt;end pointer&gt; ).</a:t>
            </a:r>
          </a:p>
          <a:p>
            <a:pPr lvl="2">
              <a:buNone/>
            </a:pPr>
            <a:r>
              <a:rPr lang="en-US" sz="1800" dirty="0" smtClean="0"/>
              <a:t>	char  </a:t>
            </a:r>
            <a:r>
              <a:rPr lang="en-US" sz="1800" b="1" dirty="0" smtClean="0">
                <a:solidFill>
                  <a:srgbClr val="FFC000"/>
                </a:solidFill>
              </a:rPr>
              <a:t>s1</a:t>
            </a:r>
            <a:r>
              <a:rPr lang="en-US" sz="1800" dirty="0" smtClean="0"/>
              <a:t>[ ]  { “123abc” };</a:t>
            </a:r>
            <a:br>
              <a:rPr lang="en-US" sz="1800" dirty="0" smtClean="0"/>
            </a:br>
            <a:r>
              <a:rPr lang="en-US" sz="1800" dirty="0" smtClean="0"/>
              <a:t>char  </a:t>
            </a:r>
            <a:r>
              <a:rPr lang="en-US" sz="1800" b="1" dirty="0" smtClean="0">
                <a:solidFill>
                  <a:srgbClr val="FFC000"/>
                </a:solidFill>
              </a:rPr>
              <a:t>s2</a:t>
            </a:r>
            <a:r>
              <a:rPr lang="en-US" sz="1800" dirty="0" smtClean="0"/>
              <a:t>[ ]  { “xyz” };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x1 = </a:t>
            </a:r>
            <a:r>
              <a:rPr lang="en-US" sz="1800" b="1" dirty="0" err="1" smtClean="0">
                <a:solidFill>
                  <a:srgbClr val="FFC000"/>
                </a:solidFill>
              </a:rPr>
              <a:t>atoi</a:t>
            </a:r>
            <a:r>
              <a:rPr lang="en-US" sz="1800" dirty="0" smtClean="0"/>
              <a:t>( s1 );		// x1 = 123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x2 = </a:t>
            </a:r>
            <a:r>
              <a:rPr lang="en-US" sz="1800" b="1" dirty="0" err="1" smtClean="0">
                <a:solidFill>
                  <a:srgbClr val="FFC000"/>
                </a:solidFill>
              </a:rPr>
              <a:t>atoi</a:t>
            </a:r>
            <a:r>
              <a:rPr lang="en-US" sz="1800" dirty="0" smtClean="0"/>
              <a:t>( s2 );		// x2 = 0</a:t>
            </a:r>
            <a:br>
              <a:rPr lang="en-US" sz="1800" dirty="0" smtClean="0"/>
            </a:br>
            <a:r>
              <a:rPr lang="en-US" sz="1800" dirty="0" smtClean="0"/>
              <a:t>char *p;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y1 = </a:t>
            </a:r>
            <a:r>
              <a:rPr lang="en-US" sz="1800" b="1" dirty="0" err="1" smtClean="0">
                <a:solidFill>
                  <a:srgbClr val="FFC000"/>
                </a:solidFill>
              </a:rPr>
              <a:t>strtoll</a:t>
            </a:r>
            <a:r>
              <a:rPr lang="en-US" sz="1800" dirty="0" smtClean="0"/>
              <a:t>( s1, &amp;p, 10 );	// y1 = 123, p = “xyz”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 y2 = </a:t>
            </a:r>
            <a:r>
              <a:rPr lang="en-US" sz="1800" b="1" dirty="0" err="1" smtClean="0">
                <a:solidFill>
                  <a:srgbClr val="FFC000"/>
                </a:solidFill>
              </a:rPr>
              <a:t>strtoll</a:t>
            </a:r>
            <a:r>
              <a:rPr lang="en-US" sz="1800" dirty="0" smtClean="0"/>
              <a:t>( s2, &amp;p, 10 );	// y2 = 0,     p = “xyz”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manipulations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dynamic string:</a:t>
            </a:r>
          </a:p>
          <a:p>
            <a:pPr lvl="1"/>
            <a:r>
              <a:rPr lang="en-US" dirty="0" smtClean="0"/>
              <a:t>Declare </a:t>
            </a:r>
            <a:r>
              <a:rPr lang="en-US" dirty="0" err="1" smtClean="0"/>
              <a:t>struct</a:t>
            </a:r>
            <a:r>
              <a:rPr lang="en-US" dirty="0" smtClean="0"/>
              <a:t> Student:</a:t>
            </a:r>
          </a:p>
          <a:p>
            <a:pPr lvl="2"/>
            <a:r>
              <a:rPr lang="en-US" dirty="0" smtClean="0"/>
              <a:t>Id: fix-sized 8 chars.</a:t>
            </a:r>
          </a:p>
          <a:p>
            <a:pPr lvl="2"/>
            <a:r>
              <a:rPr lang="en-US" dirty="0" smtClean="0"/>
              <a:t>Name: variable-sized 50 chars.</a:t>
            </a:r>
          </a:p>
          <a:p>
            <a:pPr lvl="2"/>
            <a:r>
              <a:rPr lang="en-US" dirty="0" smtClean="0"/>
              <a:t>GPA: float.</a:t>
            </a:r>
          </a:p>
          <a:p>
            <a:pPr lvl="1"/>
            <a:r>
              <a:rPr lang="en-US" dirty="0" smtClean="0"/>
              <a:t>Write function to input a student from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 manipulations.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Pointer of pointer.</a:t>
            </a:r>
          </a:p>
          <a:p>
            <a:r>
              <a:rPr lang="en-US" dirty="0" smtClean="0"/>
              <a:t>Other types of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Address of pointer:</a:t>
            </a:r>
          </a:p>
          <a:p>
            <a:pPr lvl="1"/>
            <a:r>
              <a:rPr lang="en-US" dirty="0" smtClean="0"/>
              <a:t>Variable has an address.</a:t>
            </a:r>
          </a:p>
          <a:p>
            <a:pPr lvl="2"/>
            <a:r>
              <a:rPr lang="en-US" dirty="0" err="1" smtClean="0"/>
              <a:t>int</a:t>
            </a:r>
            <a:r>
              <a:rPr lang="en-US" dirty="0" smtClean="0"/>
              <a:t> has address </a:t>
            </a:r>
            <a:r>
              <a:rPr lang="en-US" dirty="0" err="1" smtClean="0"/>
              <a:t>int</a:t>
            </a:r>
            <a:r>
              <a:rPr lang="en-US" dirty="0" smtClean="0"/>
              <a:t> *.</a:t>
            </a:r>
          </a:p>
          <a:p>
            <a:pPr lvl="1"/>
            <a:r>
              <a:rPr lang="en-US" dirty="0" smtClean="0"/>
              <a:t>Pointer also has an address.</a:t>
            </a:r>
          </a:p>
          <a:p>
            <a:pPr lvl="2"/>
            <a:r>
              <a:rPr lang="en-US" dirty="0" err="1" smtClean="0"/>
              <a:t>int</a:t>
            </a:r>
            <a:r>
              <a:rPr lang="en-US" dirty="0" smtClean="0"/>
              <a:t> * has address type?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Pointer of pointer: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A variable stores address of another pointer.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Declaration: 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&lt;pointer type&gt; * </a:t>
            </a:r>
            <a:r>
              <a:rPr lang="en-US" dirty="0" smtClean="0">
                <a:sym typeface="Wingdings" pitchFamily="2" charset="2"/>
              </a:rPr>
              <a:t>&lt;pointer name&gt;;</a:t>
            </a:r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of pointer in C:</a:t>
            </a:r>
          </a:p>
          <a:p>
            <a:pPr lvl="1"/>
            <a:r>
              <a:rPr lang="en-US" dirty="0" smtClean="0"/>
              <a:t>Declaration:</a:t>
            </a:r>
          </a:p>
          <a:p>
            <a:pPr lvl="2"/>
            <a:r>
              <a:rPr lang="en-US" dirty="0" smtClean="0"/>
              <a:t>Method 1: use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Method 2: use </a:t>
            </a:r>
            <a:r>
              <a:rPr lang="en-US" b="1" dirty="0" err="1" smtClean="0">
                <a:solidFill>
                  <a:srgbClr val="FFC000"/>
                </a:solidFill>
              </a:rPr>
              <a:t>typedef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Initialization:</a:t>
            </a:r>
          </a:p>
          <a:p>
            <a:pPr lvl="2"/>
            <a:r>
              <a:rPr lang="en-US" dirty="0" smtClean="0"/>
              <a:t>Use </a:t>
            </a:r>
            <a:r>
              <a:rPr lang="en-US" b="1" dirty="0" smtClean="0">
                <a:solidFill>
                  <a:srgbClr val="FFC000"/>
                </a:solidFill>
              </a:rPr>
              <a:t>NULL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Use </a:t>
            </a:r>
            <a:r>
              <a:rPr lang="en-US" b="1" dirty="0" smtClean="0">
                <a:solidFill>
                  <a:srgbClr val="FFC000"/>
                </a:solidFill>
              </a:rPr>
              <a:t>&amp; </a:t>
            </a:r>
            <a:r>
              <a:rPr lang="en-US" dirty="0" smtClean="0"/>
              <a:t>operator.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x = 257;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p = </a:t>
            </a:r>
            <a:r>
              <a:rPr lang="en-US" b="1" dirty="0" smtClean="0">
                <a:solidFill>
                  <a:srgbClr val="FFC000"/>
                </a:solidFill>
              </a:rPr>
              <a:t>NULL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**</a:t>
            </a:r>
            <a:r>
              <a:rPr lang="en-US" dirty="0" smtClean="0"/>
              <a:t>q = </a:t>
            </a:r>
            <a:r>
              <a:rPr lang="en-US" b="1" dirty="0" smtClean="0">
                <a:solidFill>
                  <a:srgbClr val="FFC000"/>
                </a:solidFill>
              </a:rPr>
              <a:t>NULL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 = </a:t>
            </a:r>
            <a:r>
              <a:rPr lang="en-US" b="1" dirty="0" smtClean="0">
                <a:solidFill>
                  <a:srgbClr val="FFC000"/>
                </a:solidFill>
              </a:rPr>
              <a:t>&amp;</a:t>
            </a:r>
            <a:r>
              <a:rPr lang="en-US" dirty="0" smtClean="0"/>
              <a:t>x;</a:t>
            </a:r>
            <a:br>
              <a:rPr lang="en-US" dirty="0" smtClean="0"/>
            </a:br>
            <a:r>
              <a:rPr lang="en-US" dirty="0" smtClean="0"/>
              <a:t>q = </a:t>
            </a:r>
            <a:r>
              <a:rPr lang="en-US" b="1" dirty="0" smtClean="0">
                <a:solidFill>
                  <a:srgbClr val="FFC000"/>
                </a:solidFill>
              </a:rPr>
              <a:t>&amp;</a:t>
            </a:r>
            <a:r>
              <a:rPr lang="en-US" dirty="0" smtClean="0"/>
              <a:t>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5791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6172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6553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6934200" y="3962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486400" y="39624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715000" y="3657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6096000" y="4800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6477000" y="4800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6858000" y="4800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7239000" y="48006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791200" y="48006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6019800" y="44958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44  45  46  47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40" name="Straight Connector 39"/>
          <p:cNvCxnSpPr/>
          <p:nvPr/>
        </p:nvCxnSpPr>
        <p:spPr bwMode="auto">
          <a:xfrm flipV="1">
            <a:off x="5943600" y="43434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sp>
        <p:nvSpPr>
          <p:cNvPr id="41" name="AutoShape 9"/>
          <p:cNvSpPr>
            <a:spLocks noChangeArrowheads="1"/>
          </p:cNvSpPr>
          <p:nvPr/>
        </p:nvSpPr>
        <p:spPr bwMode="auto">
          <a:xfrm>
            <a:off x="64770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2" name="AutoShape 9"/>
          <p:cNvSpPr>
            <a:spLocks noChangeArrowheads="1"/>
          </p:cNvSpPr>
          <p:nvPr/>
        </p:nvSpPr>
        <p:spPr bwMode="auto">
          <a:xfrm>
            <a:off x="68580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3" name="AutoShape 9"/>
          <p:cNvSpPr>
            <a:spLocks noChangeArrowheads="1"/>
          </p:cNvSpPr>
          <p:nvPr/>
        </p:nvSpPr>
        <p:spPr bwMode="auto">
          <a:xfrm>
            <a:off x="72390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4" name="AutoShape 9"/>
          <p:cNvSpPr>
            <a:spLocks noChangeArrowheads="1"/>
          </p:cNvSpPr>
          <p:nvPr/>
        </p:nvSpPr>
        <p:spPr bwMode="auto">
          <a:xfrm>
            <a:off x="7620000" y="5638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172200" y="5638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6400800" y="5334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96  97  98  99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47" name="Straight Connector 46"/>
          <p:cNvCxnSpPr/>
          <p:nvPr/>
        </p:nvCxnSpPr>
        <p:spPr bwMode="auto">
          <a:xfrm flipV="1">
            <a:off x="6324600" y="5181600"/>
            <a:ext cx="0" cy="4572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/>
      <p:bldP spid="41" grpId="0" animBg="1"/>
      <p:bldP spid="42" grpId="0" animBg="1"/>
      <p:bldP spid="43" grpId="0" animBg="1"/>
      <p:bldP spid="44" grpId="0" animBg="1"/>
      <p:bldP spid="45" grpId="0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of pointer in C:</a:t>
            </a:r>
          </a:p>
          <a:p>
            <a:pPr lvl="1"/>
            <a:r>
              <a:rPr lang="en-US" dirty="0" smtClean="0"/>
              <a:t>Access memory content:</a:t>
            </a:r>
          </a:p>
          <a:p>
            <a:pPr lvl="2"/>
            <a:r>
              <a:rPr lang="en-US" dirty="0" smtClean="0"/>
              <a:t>1-level access: operator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2-level access: operator </a:t>
            </a:r>
            <a:r>
              <a:rPr lang="en-US" b="1" dirty="0" smtClean="0">
                <a:solidFill>
                  <a:srgbClr val="FFC000"/>
                </a:solidFill>
              </a:rPr>
              <a:t>**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Passing argument:</a:t>
            </a:r>
          </a:p>
          <a:p>
            <a:pPr lvl="2"/>
            <a:r>
              <a:rPr lang="en-US" dirty="0" smtClean="0"/>
              <a:t>Pass-by-value.</a:t>
            </a:r>
          </a:p>
          <a:p>
            <a:pPr lvl="2"/>
            <a:r>
              <a:rPr lang="en-US" dirty="0" smtClean="0"/>
              <a:t>Pass-by-reference.</a:t>
            </a:r>
          </a:p>
          <a:p>
            <a:pPr lvl="2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 Which values are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changed in </a:t>
            </a:r>
            <a:r>
              <a:rPr lang="en-US" dirty="0" err="1" smtClean="0">
                <a:sym typeface="Wingdings" pitchFamily="2" charset="2"/>
              </a:rPr>
              <a:t>foo</a:t>
            </a:r>
            <a:r>
              <a:rPr lang="en-US" dirty="0" smtClean="0">
                <a:sym typeface="Wingdings" pitchFamily="2" charset="2"/>
              </a:rPr>
              <a:t>()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91200" y="1828800"/>
            <a:ext cx="3200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g, 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**&amp;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(**g)++; (*g)++; g++;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(**h)++; (*h)++; h++;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a[10];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*p = a;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**q = &amp;p;</a:t>
            </a:r>
          </a:p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**r = &amp;p;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q, r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of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Dynamic matrix:</a:t>
            </a:r>
          </a:p>
          <a:p>
            <a:pPr lvl="1"/>
            <a:r>
              <a:rPr lang="en-US" dirty="0" smtClean="0"/>
              <a:t>Array of pointers:</a:t>
            </a:r>
          </a:p>
          <a:p>
            <a:pPr lvl="2"/>
            <a:r>
              <a:rPr lang="en-US" dirty="0" smtClean="0"/>
              <a:t>Level-1 pointer is 1-dimensional dynamic array.</a:t>
            </a:r>
          </a:p>
          <a:p>
            <a:pPr lvl="2"/>
            <a:r>
              <a:rPr lang="en-US" dirty="0" smtClean="0"/>
              <a:t>Level-2 pointer is 2-dimensional dynamic array.</a:t>
            </a:r>
          </a:p>
          <a:p>
            <a:pPr>
              <a:buNone/>
            </a:pPr>
            <a:r>
              <a:rPr lang="en-US" sz="1800" dirty="0" smtClean="0"/>
              <a:t>	</a:t>
            </a:r>
            <a:br>
              <a:rPr lang="en-US" sz="1800" dirty="0" smtClean="0"/>
            </a:br>
            <a:r>
              <a:rPr lang="en-US" sz="1800" dirty="0" smtClean="0"/>
              <a:t>void </a:t>
            </a:r>
            <a:r>
              <a:rPr lang="en-US" sz="1800" b="1" dirty="0" err="1" smtClean="0">
                <a:solidFill>
                  <a:srgbClr val="FFC000"/>
                </a:solidFill>
              </a:rPr>
              <a:t>inputMatrix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**&amp;m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&amp;rows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&amp;cols</a:t>
            </a:r>
            <a:r>
              <a:rPr lang="en-US" sz="1800" dirty="0" smtClean="0"/>
              <a:t>) 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 “Enter rows and cols = “);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 %d”, &amp;rows, &amp;cols);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m = </a:t>
            </a:r>
            <a:r>
              <a:rPr lang="en-US" sz="1800" b="1" dirty="0" smtClean="0">
                <a:solidFill>
                  <a:srgbClr val="FFC000"/>
                </a:solidFill>
              </a:rPr>
              <a:t>new</a:t>
            </a: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* [ rows ];</a:t>
            </a:r>
            <a:br>
              <a:rPr lang="en-US" sz="1800" dirty="0" smtClean="0"/>
            </a:br>
            <a:r>
              <a:rPr lang="en-US" sz="1800" dirty="0" smtClean="0"/>
              <a:t>	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rows; </a:t>
            </a:r>
            <a:r>
              <a:rPr lang="en-US" sz="1800" dirty="0" err="1" smtClean="0"/>
              <a:t>i</a:t>
            </a:r>
            <a:r>
              <a:rPr lang="en-US" sz="1800" dirty="0" smtClean="0"/>
              <a:t>++) {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b="1" dirty="0" smtClean="0">
                <a:solidFill>
                  <a:srgbClr val="FFC000"/>
                </a:solidFill>
              </a:rPr>
              <a:t>m[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</a:t>
            </a:r>
            <a:r>
              <a:rPr lang="en-US" sz="1800" dirty="0" smtClean="0"/>
              <a:t> = </a:t>
            </a:r>
            <a:r>
              <a:rPr lang="en-US" sz="1800" b="1" dirty="0" smtClean="0">
                <a:solidFill>
                  <a:srgbClr val="FFC000"/>
                </a:solidFill>
              </a:rPr>
              <a:t>new</a:t>
            </a:r>
            <a:r>
              <a:rPr lang="en-US" sz="1800" dirty="0" smtClean="0"/>
              <a:t> </a:t>
            </a:r>
            <a:r>
              <a:rPr lang="en-US" sz="1800" dirty="0" err="1" smtClean="0"/>
              <a:t>int</a:t>
            </a:r>
            <a:r>
              <a:rPr lang="en-US" sz="1800" dirty="0" smtClean="0"/>
              <a:t> [ cols ];</a:t>
            </a:r>
            <a:br>
              <a:rPr lang="en-US" sz="1800" dirty="0" smtClean="0"/>
            </a:br>
            <a:r>
              <a:rPr lang="en-US" sz="1800" dirty="0" smtClean="0"/>
              <a:t>	       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j = 0; j &lt; cols; j++)</a:t>
            </a:r>
            <a:br>
              <a:rPr lang="en-US" sz="1800" dirty="0" smtClean="0"/>
            </a:br>
            <a:r>
              <a:rPr lang="en-US" sz="1800" dirty="0" smtClean="0"/>
              <a:t>	              </a:t>
            </a:r>
            <a:r>
              <a:rPr lang="en-US" sz="1800" dirty="0" err="1" smtClean="0"/>
              <a:t>scanf</a:t>
            </a:r>
            <a:r>
              <a:rPr lang="en-US" sz="1800" dirty="0" smtClean="0"/>
              <a:t>(“%d”, &amp;</a:t>
            </a:r>
            <a:r>
              <a:rPr lang="en-US" sz="1800" b="1" dirty="0" smtClean="0">
                <a:solidFill>
                  <a:srgbClr val="FFC000"/>
                </a:solidFill>
              </a:rPr>
              <a:t>m[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][ j ])</a:t>
            </a:r>
            <a:r>
              <a:rPr lang="en-US" sz="1800" dirty="0" smtClean="0"/>
              <a:t>;</a:t>
            </a:r>
            <a:br>
              <a:rPr lang="en-US" sz="1800" dirty="0" smtClean="0"/>
            </a:br>
            <a:r>
              <a:rPr lang="en-US" sz="1800" dirty="0" smtClean="0"/>
              <a:t>	}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029200" y="3733800"/>
            <a:ext cx="4038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**m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rows, cols;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inputMatrix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(m, rows, cols);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 [ ]m;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Error!! How to fix?!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 manipulations.</a:t>
            </a:r>
          </a:p>
          <a:p>
            <a:r>
              <a:rPr lang="en-US" dirty="0" smtClean="0"/>
              <a:t>Pointer of pointer.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Other types of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Constant pointer:</a:t>
            </a:r>
          </a:p>
          <a:p>
            <a:pPr lvl="1"/>
            <a:r>
              <a:rPr lang="en-US" dirty="0" smtClean="0"/>
              <a:t>Pointer points to only 1 address “for life”.</a:t>
            </a:r>
          </a:p>
          <a:p>
            <a:pPr lvl="1"/>
            <a:r>
              <a:rPr lang="en-US" dirty="0" smtClean="0"/>
              <a:t>Declaration: &lt;type&gt;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const</a:t>
            </a:r>
            <a:r>
              <a:rPr lang="en-US" dirty="0" smtClean="0"/>
              <a:t> &lt;pointer name&gt;;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x = 5, y = 6;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* const </a:t>
            </a:r>
            <a:r>
              <a:rPr lang="en-US" dirty="0" smtClean="0"/>
              <a:t>p = &amp;x;</a:t>
            </a:r>
            <a:br>
              <a:rPr lang="en-US" dirty="0" smtClean="0"/>
            </a:br>
            <a:r>
              <a:rPr lang="en-US" dirty="0" smtClean="0"/>
              <a:t>p = &amp;y;	// Wrong.</a:t>
            </a:r>
          </a:p>
          <a:p>
            <a:pPr lvl="1"/>
            <a:r>
              <a:rPr lang="en-US" dirty="0" smtClean="0"/>
              <a:t>All static arrays in C are constant pointers.</a:t>
            </a:r>
          </a:p>
          <a:p>
            <a:r>
              <a:rPr lang="en-US" dirty="0" smtClean="0"/>
              <a:t>Pointer to constant:</a:t>
            </a:r>
          </a:p>
          <a:p>
            <a:pPr lvl="1"/>
            <a:r>
              <a:rPr lang="en-US" dirty="0" smtClean="0"/>
              <a:t>Memory content pointer points to cannot be changed.</a:t>
            </a:r>
          </a:p>
          <a:p>
            <a:pPr lvl="1"/>
            <a:r>
              <a:rPr lang="en-US" dirty="0" smtClean="0"/>
              <a:t>Declaration: </a:t>
            </a:r>
            <a:r>
              <a:rPr lang="en-US" b="1" dirty="0" smtClean="0">
                <a:solidFill>
                  <a:srgbClr val="FFC000"/>
                </a:solidFill>
              </a:rPr>
              <a:t>const</a:t>
            </a:r>
            <a:r>
              <a:rPr lang="en-US" dirty="0" smtClean="0"/>
              <a:t> &lt;type&gt; </a:t>
            </a:r>
            <a:r>
              <a:rPr lang="en-US" b="1" dirty="0" smtClean="0">
                <a:solidFill>
                  <a:srgbClr val="FFC000"/>
                </a:solidFill>
              </a:rPr>
              <a:t>*</a:t>
            </a:r>
            <a:r>
              <a:rPr lang="en-US" dirty="0" smtClean="0"/>
              <a:t> &lt;pointer name&gt;;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x = 5;</a:t>
            </a:r>
            <a:br>
              <a:rPr lang="en-US" dirty="0" smtClean="0"/>
            </a:br>
            <a:r>
              <a:rPr lang="en-US" b="1" dirty="0" smtClean="0">
                <a:solidFill>
                  <a:srgbClr val="FFC000"/>
                </a:solidFill>
              </a:rPr>
              <a:t>const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*p = &amp;x;</a:t>
            </a:r>
            <a:br>
              <a:rPr lang="en-US" dirty="0" smtClean="0"/>
            </a:br>
            <a:r>
              <a:rPr lang="en-US" dirty="0" smtClean="0"/>
              <a:t>*p = 6;	// Wrong.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void pointer:</a:t>
            </a:r>
          </a:p>
          <a:p>
            <a:pPr lvl="1"/>
            <a:r>
              <a:rPr lang="en-US" dirty="0" smtClean="0"/>
              <a:t>Pointer can store address of any types.</a:t>
            </a:r>
          </a:p>
          <a:p>
            <a:pPr lvl="1"/>
            <a:r>
              <a:rPr lang="en-US" dirty="0" smtClean="0"/>
              <a:t>Declaration: </a:t>
            </a:r>
            <a:r>
              <a:rPr lang="en-US" b="1" dirty="0" smtClean="0">
                <a:solidFill>
                  <a:srgbClr val="FFC000"/>
                </a:solidFill>
              </a:rPr>
              <a:t>void *</a:t>
            </a:r>
            <a:r>
              <a:rPr lang="en-US" dirty="0" smtClean="0"/>
              <a:t> &lt;pointer name&gt;.</a:t>
            </a:r>
          </a:p>
          <a:p>
            <a:pPr lvl="1"/>
            <a:r>
              <a:rPr lang="en-US" dirty="0" smtClean="0"/>
              <a:t>Cast to specific type when accessing content.</a:t>
            </a:r>
          </a:p>
          <a:p>
            <a:pPr>
              <a:buNone/>
            </a:pPr>
            <a:r>
              <a:rPr lang="en-US" sz="1800" dirty="0" smtClean="0"/>
              <a:t>	</a:t>
            </a:r>
            <a:br>
              <a:rPr lang="en-US" sz="1800" dirty="0" smtClean="0"/>
            </a:br>
            <a:r>
              <a:rPr lang="en-US" sz="1800" dirty="0" smtClean="0"/>
              <a:t>void </a:t>
            </a:r>
            <a:r>
              <a:rPr lang="en-US" sz="1800" b="1" dirty="0" err="1" smtClean="0">
                <a:solidFill>
                  <a:srgbClr val="FFC000"/>
                </a:solidFill>
              </a:rPr>
              <a:t>printBytes</a:t>
            </a:r>
            <a:r>
              <a:rPr lang="en-US" sz="1800" dirty="0" smtClean="0"/>
              <a:t>(</a:t>
            </a:r>
            <a:r>
              <a:rPr lang="en-US" sz="1800" b="1" dirty="0" smtClean="0">
                <a:solidFill>
                  <a:srgbClr val="FFC000"/>
                </a:solidFill>
              </a:rPr>
              <a:t>void *</a:t>
            </a:r>
            <a:r>
              <a:rPr lang="en-US" sz="1800" dirty="0" smtClean="0"/>
              <a:t>p, </a:t>
            </a:r>
            <a:r>
              <a:rPr lang="en-US" sz="1800" dirty="0" err="1" smtClean="0"/>
              <a:t>int</a:t>
            </a:r>
            <a:r>
              <a:rPr lang="en-US" sz="1800" dirty="0" smtClean="0"/>
              <a:t> size) 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char *q = </a:t>
            </a:r>
            <a:r>
              <a:rPr lang="en-US" sz="1800" b="1" dirty="0" smtClean="0">
                <a:solidFill>
                  <a:srgbClr val="FFC000"/>
                </a:solidFill>
              </a:rPr>
              <a:t>( unsigned char * ) </a:t>
            </a:r>
            <a:r>
              <a:rPr lang="en-US" sz="1800" dirty="0" smtClean="0"/>
              <a:t>p;</a:t>
            </a:r>
            <a:br>
              <a:rPr lang="en-US" sz="1800" dirty="0" smtClean="0"/>
            </a:br>
            <a:r>
              <a:rPr lang="en-US" sz="1800" dirty="0" smtClean="0"/>
              <a:t>	for (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size; </a:t>
            </a:r>
            <a:r>
              <a:rPr lang="en-US" sz="1800" dirty="0" err="1" smtClean="0"/>
              <a:t>i</a:t>
            </a:r>
            <a:r>
              <a:rPr lang="en-US" sz="1800" dirty="0" smtClean="0"/>
              <a:t>++ )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 “%d “, q[ </a:t>
            </a:r>
            <a:r>
              <a:rPr lang="en-US" sz="1800" dirty="0" err="1" smtClean="0"/>
              <a:t>i</a:t>
            </a:r>
            <a:r>
              <a:rPr lang="en-US" sz="1800" dirty="0" smtClean="0"/>
              <a:t> ] );</a:t>
            </a:r>
            <a:br>
              <a:rPr lang="en-US" sz="1800" dirty="0" smtClean="0"/>
            </a:br>
            <a:r>
              <a:rPr lang="en-US" sz="1800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410200" y="3276600"/>
            <a:ext cx="3657600" cy="2579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x = 1057;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double y = 1.25;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printBytes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(&amp;x, 4);</a:t>
            </a:r>
            <a:b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printBytes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(&amp;y, 8);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pointer:</a:t>
            </a:r>
          </a:p>
          <a:p>
            <a:pPr lvl="1"/>
            <a:r>
              <a:rPr lang="en-US" dirty="0" smtClean="0"/>
              <a:t>Function address:</a:t>
            </a:r>
          </a:p>
          <a:p>
            <a:pPr lvl="2"/>
            <a:r>
              <a:rPr lang="en-US" dirty="0" smtClean="0"/>
              <a:t>Functions are also stored in memory.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Each function has an address.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Function pointer stores address of function.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Declaration: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	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&lt;return type&gt; (*</a:t>
            </a:r>
            <a:r>
              <a:rPr lang="en-US" dirty="0" smtClean="0">
                <a:sym typeface="Wingdings" pitchFamily="2" charset="2"/>
              </a:rPr>
              <a:t> &lt;pointer name&gt;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) (&lt;arguments&gt;)</a:t>
            </a:r>
            <a:r>
              <a:rPr lang="en-US" dirty="0" smtClean="0">
                <a:sym typeface="Wingdings" pitchFamily="2" charset="2"/>
              </a:rPr>
              <a:t>;</a:t>
            </a:r>
            <a:br>
              <a:rPr lang="en-US" dirty="0" smtClean="0">
                <a:sym typeface="Wingdings" pitchFamily="2" charset="2"/>
              </a:rPr>
            </a:br>
            <a:r>
              <a:rPr lang="en-US" b="1" dirty="0" err="1" smtClean="0">
                <a:solidFill>
                  <a:srgbClr val="FFC000"/>
                </a:solidFill>
                <a:sym typeface="Wingdings" pitchFamily="2" charset="2"/>
              </a:rPr>
              <a:t>typedef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 &lt;return type&gt; (*</a:t>
            </a:r>
            <a:r>
              <a:rPr lang="en-US" dirty="0" smtClean="0">
                <a:sym typeface="Wingdings" pitchFamily="2" charset="2"/>
              </a:rPr>
              <a:t> &lt;alias&gt;</a:t>
            </a:r>
            <a:r>
              <a:rPr lang="en-US" b="1" dirty="0" smtClean="0">
                <a:solidFill>
                  <a:srgbClr val="FFC000"/>
                </a:solidFill>
                <a:sym typeface="Wingdings" pitchFamily="2" charset="2"/>
              </a:rPr>
              <a:t>) (&lt;arguments&gt;)</a:t>
            </a:r>
            <a:r>
              <a:rPr lang="en-US" dirty="0" smtClean="0">
                <a:sym typeface="Wingdings" pitchFamily="2" charset="2"/>
              </a:rPr>
              <a:t>;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&lt;alias&gt;  &lt;pointer name&gt;;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Functions have same address type if: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Same return type.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Same arguments.</a:t>
            </a:r>
          </a:p>
          <a:p>
            <a:pPr lvl="2">
              <a:buNone/>
            </a:pPr>
            <a:endParaRPr lang="en-US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pointer:</a:t>
            </a:r>
          </a:p>
          <a:p>
            <a:pPr>
              <a:buNone/>
            </a:pPr>
            <a:r>
              <a:rPr lang="en-US" sz="1800" dirty="0" smtClean="0"/>
              <a:t>	</a:t>
            </a:r>
            <a:r>
              <a:rPr lang="en-US" sz="1800" b="1" dirty="0" err="1" smtClean="0">
                <a:solidFill>
                  <a:srgbClr val="FFC000"/>
                </a:solidFill>
              </a:rPr>
              <a:t>typedef</a:t>
            </a:r>
            <a:r>
              <a:rPr lang="en-US" sz="1800" dirty="0" smtClean="0"/>
              <a:t>  </a:t>
            </a:r>
            <a:r>
              <a:rPr lang="en-US" sz="1800" dirty="0" err="1" smtClean="0"/>
              <a:t>int</a:t>
            </a:r>
            <a:r>
              <a:rPr lang="en-US" sz="1800" dirty="0" smtClean="0"/>
              <a:t>  (*</a:t>
            </a:r>
            <a:r>
              <a:rPr lang="en-US" sz="1800" b="1" dirty="0" smtClean="0">
                <a:solidFill>
                  <a:srgbClr val="FFC000"/>
                </a:solidFill>
              </a:rPr>
              <a:t>Operator</a:t>
            </a:r>
            <a:r>
              <a:rPr lang="en-US" sz="1800" dirty="0" smtClean="0"/>
              <a:t>)(</a:t>
            </a:r>
            <a:r>
              <a:rPr lang="en-US" sz="1800" dirty="0" err="1" smtClean="0"/>
              <a:t>int</a:t>
            </a:r>
            <a:r>
              <a:rPr lang="en-US" sz="1800" dirty="0" smtClean="0"/>
              <a:t> a, </a:t>
            </a:r>
            <a:r>
              <a:rPr lang="en-US" sz="1800" dirty="0" err="1" smtClean="0"/>
              <a:t>int</a:t>
            </a:r>
            <a:r>
              <a:rPr lang="en-US" sz="1800" dirty="0" smtClean="0"/>
              <a:t> b);</a:t>
            </a:r>
            <a:br>
              <a:rPr lang="en-US" sz="1800" dirty="0" smtClean="0"/>
            </a:b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add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u, </a:t>
            </a:r>
            <a:r>
              <a:rPr lang="en-US" sz="1800" dirty="0" err="1" smtClean="0"/>
              <a:t>int</a:t>
            </a:r>
            <a:r>
              <a:rPr lang="en-US" sz="1800" dirty="0" smtClean="0"/>
              <a:t> v)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return u + v;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err="1" smtClean="0">
                <a:solidFill>
                  <a:srgbClr val="FFC000"/>
                </a:solidFill>
              </a:rPr>
              <a:t>mul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u, </a:t>
            </a:r>
            <a:r>
              <a:rPr lang="en-US" sz="1800" dirty="0" err="1" smtClean="0"/>
              <a:t>int</a:t>
            </a:r>
            <a:r>
              <a:rPr lang="en-US" sz="1800" dirty="0" smtClean="0"/>
              <a:t> v)</a:t>
            </a:r>
            <a:br>
              <a:rPr lang="en-US" sz="1800" dirty="0" smtClean="0"/>
            </a:br>
            <a:r>
              <a:rPr lang="en-US" sz="1800" dirty="0" smtClean="0"/>
              <a:t>{</a:t>
            </a:r>
            <a:br>
              <a:rPr lang="en-US" sz="1800" dirty="0" smtClean="0"/>
            </a:br>
            <a:r>
              <a:rPr lang="en-US" sz="1800" dirty="0" smtClean="0"/>
              <a:t>	return u * v;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calculate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u, </a:t>
            </a:r>
            <a:r>
              <a:rPr lang="en-US" sz="1800" dirty="0" err="1" smtClean="0"/>
              <a:t>int</a:t>
            </a:r>
            <a:r>
              <a:rPr lang="en-US" sz="1800" dirty="0" smtClean="0"/>
              <a:t> v, </a:t>
            </a:r>
            <a:r>
              <a:rPr lang="en-US" sz="1800" b="1" dirty="0" smtClean="0">
                <a:solidFill>
                  <a:srgbClr val="FFC000"/>
                </a:solidFill>
              </a:rPr>
              <a:t>Operator </a:t>
            </a:r>
            <a:r>
              <a:rPr lang="en-US" sz="1800" dirty="0" smtClean="0"/>
              <a:t>p)</a:t>
            </a:r>
            <a:br>
              <a:rPr lang="en-US" sz="1800" dirty="0" smtClean="0"/>
            </a:br>
            <a:r>
              <a:rPr lang="en-US" sz="1800" dirty="0" smtClean="0"/>
              <a:t>{	</a:t>
            </a:r>
            <a:r>
              <a:rPr lang="en-US" sz="1800" i="1" dirty="0" smtClean="0">
                <a:solidFill>
                  <a:srgbClr val="FFC000"/>
                </a:solidFill>
              </a:rPr>
              <a:t>// u</a:t>
            </a:r>
            <a:r>
              <a:rPr lang="en-US" sz="1800" i="1" baseline="30000" dirty="0" smtClean="0">
                <a:solidFill>
                  <a:srgbClr val="FFC000"/>
                </a:solidFill>
              </a:rPr>
              <a:t>3</a:t>
            </a:r>
            <a:r>
              <a:rPr lang="en-US" sz="1800" i="1" dirty="0" smtClean="0">
                <a:solidFill>
                  <a:srgbClr val="FFC000"/>
                </a:solidFill>
              </a:rPr>
              <a:t> operator v</a:t>
            </a:r>
            <a:r>
              <a:rPr lang="en-US" sz="1800" i="1" baseline="30000" dirty="0" smtClean="0">
                <a:solidFill>
                  <a:srgbClr val="FFC000"/>
                </a:solidFill>
              </a:rPr>
              <a:t>2</a:t>
            </a:r>
            <a:r>
              <a:rPr lang="en-US" sz="1800" i="1" dirty="0" smtClean="0">
                <a:solidFill>
                  <a:srgbClr val="FFC000"/>
                </a:solidFill>
              </a:rPr>
              <a:t>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	return p(u*u*u, v*v);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76800" y="1676400"/>
            <a:ext cx="426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x = 5;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y = 6;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 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=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r1 = p(x, y);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p = </a:t>
            </a:r>
            <a:r>
              <a:rPr lang="en-US" sz="18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r2 = p(x, y);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r3 =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(x, y, 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fix-sized memory:</a:t>
            </a:r>
          </a:p>
          <a:p>
            <a:pPr lvl="1"/>
            <a:r>
              <a:rPr lang="en-US" dirty="0" smtClean="0"/>
              <a:t>Address of static array:</a:t>
            </a:r>
          </a:p>
          <a:p>
            <a:pPr lvl="2"/>
            <a:r>
              <a:rPr lang="en-US" dirty="0" smtClean="0"/>
              <a:t>What address type of static array?</a:t>
            </a:r>
          </a:p>
          <a:p>
            <a:pPr lvl="2">
              <a:buNone/>
            </a:pPr>
            <a:r>
              <a:rPr lang="en-US" dirty="0" smtClean="0"/>
              <a:t>		</a:t>
            </a:r>
            <a:r>
              <a:rPr lang="en-US" dirty="0" err="1" smtClean="0"/>
              <a:t>int</a:t>
            </a:r>
            <a:r>
              <a:rPr lang="en-US" dirty="0" smtClean="0"/>
              <a:t>   a[ 10 ];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 *p = a	// p and a store address of a[ 0 ].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b="1" dirty="0" smtClean="0">
                <a:solidFill>
                  <a:srgbClr val="FFC000"/>
                </a:solidFill>
              </a:rPr>
              <a:t>???</a:t>
            </a:r>
            <a:r>
              <a:rPr lang="en-US" dirty="0" smtClean="0"/>
              <a:t>  q = &amp;a;</a:t>
            </a:r>
          </a:p>
          <a:p>
            <a:pPr lvl="1"/>
            <a:r>
              <a:rPr lang="en-US" dirty="0" smtClean="0"/>
              <a:t>Pointer to fix-sized memory:</a:t>
            </a:r>
          </a:p>
          <a:p>
            <a:pPr lvl="2"/>
            <a:r>
              <a:rPr lang="en-US" dirty="0" smtClean="0"/>
              <a:t>Pointer stores address of static array.</a:t>
            </a:r>
          </a:p>
          <a:p>
            <a:pPr lvl="2"/>
            <a:r>
              <a:rPr lang="en-US" dirty="0" smtClean="0"/>
              <a:t>Declaration:</a:t>
            </a:r>
          </a:p>
          <a:p>
            <a:pPr lvl="2">
              <a:buNone/>
            </a:pPr>
            <a:r>
              <a:rPr lang="en-US" dirty="0" smtClean="0"/>
              <a:t>	&lt;array type&gt; </a:t>
            </a:r>
            <a:r>
              <a:rPr lang="en-US" b="1" dirty="0" smtClean="0">
                <a:solidFill>
                  <a:srgbClr val="FFC000"/>
                </a:solidFill>
              </a:rPr>
              <a:t>(*</a:t>
            </a:r>
            <a:r>
              <a:rPr lang="en-US" dirty="0" smtClean="0"/>
              <a:t>&lt;pointer name&gt;</a:t>
            </a:r>
            <a:r>
              <a:rPr lang="en-US" b="1" dirty="0" smtClean="0">
                <a:solidFill>
                  <a:srgbClr val="FFC000"/>
                </a:solidFill>
              </a:rPr>
              <a:t>)[</a:t>
            </a:r>
            <a:r>
              <a:rPr lang="en-US" dirty="0" smtClean="0"/>
              <a:t>&lt;array size&gt;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;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a[ 10 ];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 </a:t>
            </a:r>
            <a:r>
              <a:rPr lang="en-US" b="1" dirty="0" smtClean="0">
                <a:solidFill>
                  <a:srgbClr val="FFC000"/>
                </a:solidFill>
              </a:rPr>
              <a:t>( *p )[ </a:t>
            </a:r>
            <a:r>
              <a:rPr lang="en-US" dirty="0" smtClean="0"/>
              <a:t>10 </a:t>
            </a:r>
            <a:r>
              <a:rPr lang="en-US" b="1" dirty="0" smtClean="0">
                <a:solidFill>
                  <a:srgbClr val="FFC000"/>
                </a:solidFill>
              </a:rPr>
              <a:t>]</a:t>
            </a:r>
            <a:r>
              <a:rPr lang="en-US" dirty="0" smtClean="0"/>
              <a:t> = &amp;a;   </a:t>
            </a:r>
            <a:r>
              <a:rPr lang="en-US" i="1" dirty="0" smtClean="0">
                <a:solidFill>
                  <a:srgbClr val="FFC000"/>
                </a:solidFill>
              </a:rPr>
              <a:t>// p points to 10-element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fix-sized memory:</a:t>
            </a:r>
          </a:p>
          <a:p>
            <a:pPr lvl="1"/>
            <a:r>
              <a:rPr lang="en-US" dirty="0" smtClean="0"/>
              <a:t>Static 2-D array in C:</a:t>
            </a:r>
          </a:p>
          <a:p>
            <a:pPr lvl="2"/>
            <a:r>
              <a:rPr lang="en-US" dirty="0" smtClean="0"/>
              <a:t>Is pointer to fix-sized 1-D array.</a:t>
            </a:r>
          </a:p>
          <a:p>
            <a:pPr lvl="2"/>
            <a:r>
              <a:rPr lang="en-US" dirty="0" smtClean="0"/>
              <a:t>Stores address of the first row.</a:t>
            </a:r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a[ 2 ] [ 3 ] = { { 1, 2, 3 }, { 4, 5, 6 } };</a:t>
            </a:r>
            <a:br>
              <a:rPr lang="en-US" dirty="0" smtClean="0"/>
            </a:b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( *p )[ 3 ]</a:t>
            </a:r>
            <a:r>
              <a:rPr lang="en-US" dirty="0" smtClean="0"/>
              <a:t> = a;    // a = &amp;a[ 0 ].</a:t>
            </a:r>
            <a:br>
              <a:rPr lang="en-US" dirty="0" smtClean="0"/>
            </a:br>
            <a:r>
              <a:rPr lang="en-US" dirty="0" err="1" smtClean="0"/>
              <a:t>printf</a:t>
            </a:r>
            <a:r>
              <a:rPr lang="en-US" dirty="0" smtClean="0"/>
              <a:t>(“%d\n”, </a:t>
            </a:r>
            <a:r>
              <a:rPr lang="en-US" b="1" dirty="0" smtClean="0">
                <a:solidFill>
                  <a:srgbClr val="FFC000"/>
                </a:solidFill>
              </a:rPr>
              <a:t>*(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C000"/>
                </a:solidFill>
              </a:rPr>
              <a:t>*(</a:t>
            </a:r>
            <a:r>
              <a:rPr lang="en-US" dirty="0" smtClean="0"/>
              <a:t>p + 1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 + 1 </a:t>
            </a:r>
            <a:r>
              <a:rPr lang="en-US" b="1" dirty="0" smtClean="0">
                <a:solidFill>
                  <a:srgbClr val="FFC000"/>
                </a:solidFill>
              </a:rPr>
              <a:t>)</a:t>
            </a:r>
            <a:r>
              <a:rPr lang="en-US" dirty="0" smtClean="0"/>
              <a:t> 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lvl="3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37338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1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41148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44958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8768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124200" y="44958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a[0]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657600" y="4191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72  73  74  75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53340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57150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60960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64770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6934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3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7315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7696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19" name="AutoShape 9"/>
          <p:cNvSpPr>
            <a:spLocks noChangeArrowheads="1"/>
          </p:cNvSpPr>
          <p:nvPr/>
        </p:nvSpPr>
        <p:spPr bwMode="auto">
          <a:xfrm>
            <a:off x="8077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5257800" y="4191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76  77  78  79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858000" y="4191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80  81  82  83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4038600" y="3897868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a[0][0]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5562600" y="388620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a[0][1]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7162800" y="388620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a[0][2]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AutoShape 9"/>
          <p:cNvSpPr>
            <a:spLocks noChangeArrowheads="1"/>
          </p:cNvSpPr>
          <p:nvPr/>
        </p:nvSpPr>
        <p:spPr bwMode="auto">
          <a:xfrm>
            <a:off x="37338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4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29" name="AutoShape 9"/>
          <p:cNvSpPr>
            <a:spLocks noChangeArrowheads="1"/>
          </p:cNvSpPr>
          <p:nvPr/>
        </p:nvSpPr>
        <p:spPr bwMode="auto">
          <a:xfrm>
            <a:off x="41148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0" name="AutoShape 9"/>
          <p:cNvSpPr>
            <a:spLocks noChangeArrowheads="1"/>
          </p:cNvSpPr>
          <p:nvPr/>
        </p:nvSpPr>
        <p:spPr bwMode="auto">
          <a:xfrm>
            <a:off x="44958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1" name="AutoShape 9"/>
          <p:cNvSpPr>
            <a:spLocks noChangeArrowheads="1"/>
          </p:cNvSpPr>
          <p:nvPr/>
        </p:nvSpPr>
        <p:spPr bwMode="auto">
          <a:xfrm>
            <a:off x="48768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3124200" y="548640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a[1]</a:t>
            </a: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3657600" y="5181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84  85  86  87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4" name="AutoShape 9"/>
          <p:cNvSpPr>
            <a:spLocks noChangeArrowheads="1"/>
          </p:cNvSpPr>
          <p:nvPr/>
        </p:nvSpPr>
        <p:spPr bwMode="auto">
          <a:xfrm>
            <a:off x="5334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5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5715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6" name="AutoShape 9"/>
          <p:cNvSpPr>
            <a:spLocks noChangeArrowheads="1"/>
          </p:cNvSpPr>
          <p:nvPr/>
        </p:nvSpPr>
        <p:spPr bwMode="auto">
          <a:xfrm>
            <a:off x="6096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64770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69342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6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39" name="AutoShape 9"/>
          <p:cNvSpPr>
            <a:spLocks noChangeArrowheads="1"/>
          </p:cNvSpPr>
          <p:nvPr/>
        </p:nvSpPr>
        <p:spPr bwMode="auto">
          <a:xfrm>
            <a:off x="73152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0" name="AutoShape 9"/>
          <p:cNvSpPr>
            <a:spLocks noChangeArrowheads="1"/>
          </p:cNvSpPr>
          <p:nvPr/>
        </p:nvSpPr>
        <p:spPr bwMode="auto">
          <a:xfrm>
            <a:off x="76962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1" name="AutoShape 9"/>
          <p:cNvSpPr>
            <a:spLocks noChangeArrowheads="1"/>
          </p:cNvSpPr>
          <p:nvPr/>
        </p:nvSpPr>
        <p:spPr bwMode="auto">
          <a:xfrm>
            <a:off x="8077200" y="54864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5257800" y="5181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88  89  90  91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858000" y="51816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92  93  94  95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4038600" y="4888468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a[1][0]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5562600" y="487680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a[1][1]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7162800" y="487680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ctr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a[1][2]</a:t>
            </a:r>
            <a:endParaRPr lang="en-US" sz="1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7" name="AutoShape 9"/>
          <p:cNvSpPr>
            <a:spLocks noChangeArrowheads="1"/>
          </p:cNvSpPr>
          <p:nvPr/>
        </p:nvSpPr>
        <p:spPr bwMode="auto">
          <a:xfrm>
            <a:off x="1219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72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8" name="AutoShape 9"/>
          <p:cNvSpPr>
            <a:spLocks noChangeArrowheads="1"/>
          </p:cNvSpPr>
          <p:nvPr/>
        </p:nvSpPr>
        <p:spPr bwMode="auto">
          <a:xfrm>
            <a:off x="1600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49" name="AutoShape 9"/>
          <p:cNvSpPr>
            <a:spLocks noChangeArrowheads="1"/>
          </p:cNvSpPr>
          <p:nvPr/>
        </p:nvSpPr>
        <p:spPr bwMode="auto">
          <a:xfrm>
            <a:off x="1981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0" name="AutoShape 9"/>
          <p:cNvSpPr>
            <a:spLocks noChangeArrowheads="1"/>
          </p:cNvSpPr>
          <p:nvPr/>
        </p:nvSpPr>
        <p:spPr bwMode="auto">
          <a:xfrm>
            <a:off x="2362200" y="4495800"/>
            <a:ext cx="381000" cy="381000"/>
          </a:xfrm>
          <a:prstGeom prst="roundRect">
            <a:avLst>
              <a:gd name="adj" fmla="val 7093"/>
            </a:avLst>
          </a:prstGeom>
          <a:solidFill>
            <a:srgbClr val="F5E5FF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82880" tIns="182880" rIns="182880" bIns="182880" anchor="ctr"/>
          <a:lstStyle/>
          <a:p>
            <a:pPr algn="ctr" defTabSz="457200">
              <a:buClr>
                <a:schemeClr val="bg2"/>
              </a:buClr>
              <a:buFontTx/>
              <a:buNone/>
              <a:tabLst>
                <a:tab pos="457200" algn="l"/>
              </a:tabLst>
            </a:pPr>
            <a:r>
              <a:rPr lang="en-US" sz="1800" dirty="0" smtClean="0">
                <a:solidFill>
                  <a:srgbClr val="0000FF"/>
                </a:solidFill>
              </a:rPr>
              <a:t>0</a:t>
            </a:r>
            <a:endParaRPr lang="en-US" sz="1800" dirty="0">
              <a:solidFill>
                <a:srgbClr val="0000FF"/>
              </a:solidFill>
            </a:endParaRP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914400" y="449580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1143000" y="4191000"/>
            <a:ext cx="1676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 44  45  46  47</a:t>
            </a:r>
            <a:endParaRPr lang="en-US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 flipV="1">
            <a:off x="3352800" y="48768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1066800" y="48768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>
            <a:off x="1066800" y="5105400"/>
            <a:ext cx="22860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914400" y="5955268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 + 1</a:t>
            </a:r>
          </a:p>
        </p:txBody>
      </p:sp>
      <p:cxnSp>
        <p:nvCxnSpPr>
          <p:cNvPr id="58" name="Straight Connector 57"/>
          <p:cNvCxnSpPr/>
          <p:nvPr/>
        </p:nvCxnSpPr>
        <p:spPr bwMode="auto">
          <a:xfrm flipV="1">
            <a:off x="3352800" y="58674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1600200" y="6096000"/>
            <a:ext cx="17526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6019800" y="5955268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342900" indent="-342900"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*(p + 1) + 1</a:t>
            </a:r>
          </a:p>
        </p:txBody>
      </p:sp>
      <p:cxnSp>
        <p:nvCxnSpPr>
          <p:cNvPr id="65" name="Straight Connector 64"/>
          <p:cNvCxnSpPr/>
          <p:nvPr/>
        </p:nvCxnSpPr>
        <p:spPr bwMode="auto">
          <a:xfrm flipV="1">
            <a:off x="5486400" y="58674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0" name="Straight Connector 69"/>
          <p:cNvCxnSpPr/>
          <p:nvPr/>
        </p:nvCxnSpPr>
        <p:spPr bwMode="auto">
          <a:xfrm flipH="1">
            <a:off x="5486400" y="6096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73" name="Straight Connector 72"/>
          <p:cNvCxnSpPr/>
          <p:nvPr/>
        </p:nvCxnSpPr>
        <p:spPr bwMode="auto">
          <a:xfrm flipV="1">
            <a:off x="3962400" y="48768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4" name="Straight Connector 73"/>
          <p:cNvCxnSpPr/>
          <p:nvPr/>
        </p:nvCxnSpPr>
        <p:spPr bwMode="auto">
          <a:xfrm>
            <a:off x="3505200" y="4953000"/>
            <a:ext cx="0" cy="1524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>
            <a:off x="3505200" y="51054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/>
          <p:nvPr/>
        </p:nvCxnSpPr>
        <p:spPr bwMode="auto">
          <a:xfrm flipV="1">
            <a:off x="3962400" y="5867400"/>
            <a:ext cx="0" cy="2286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2" name="Straight Connector 81"/>
          <p:cNvCxnSpPr/>
          <p:nvPr/>
        </p:nvCxnSpPr>
        <p:spPr bwMode="auto">
          <a:xfrm>
            <a:off x="3505200" y="5943600"/>
            <a:ext cx="0" cy="15240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cxnSp>
        <p:nvCxnSpPr>
          <p:cNvPr id="83" name="Straight Connector 82"/>
          <p:cNvCxnSpPr/>
          <p:nvPr/>
        </p:nvCxnSpPr>
        <p:spPr bwMode="auto">
          <a:xfrm>
            <a:off x="3505200" y="6096000"/>
            <a:ext cx="457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3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  <p:bldP spid="46" grpId="0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7" grpId="0"/>
      <p:bldP spid="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types of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Pointer to fix-sized memory:</a:t>
            </a:r>
          </a:p>
          <a:p>
            <a:pPr lvl="1"/>
            <a:r>
              <a:rPr lang="en-US" dirty="0" smtClean="0"/>
              <a:t>Passing static 2-D array to function:</a:t>
            </a:r>
          </a:p>
          <a:p>
            <a:pPr lvl="2"/>
            <a:r>
              <a:rPr lang="en-US" dirty="0" smtClean="0"/>
              <a:t>Not passing whole array.</a:t>
            </a:r>
          </a:p>
          <a:p>
            <a:pPr lvl="2"/>
            <a:r>
              <a:rPr lang="en-US" dirty="0" smtClean="0"/>
              <a:t>Only passing address of first row.</a:t>
            </a:r>
          </a:p>
          <a:p>
            <a:pPr>
              <a:buNone/>
            </a:pPr>
            <a:r>
              <a:rPr lang="en-US" sz="1800" dirty="0" smtClean="0"/>
              <a:t>	void </a:t>
            </a:r>
            <a:r>
              <a:rPr lang="en-US" sz="1800" b="1" dirty="0" err="1" smtClean="0">
                <a:solidFill>
                  <a:srgbClr val="FFC000"/>
                </a:solidFill>
              </a:rPr>
              <a:t>printMatrix</a:t>
            </a:r>
            <a:r>
              <a:rPr lang="en-US" sz="1800" dirty="0" smtClean="0"/>
              <a:t>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b="1" dirty="0" smtClean="0">
                <a:solidFill>
                  <a:srgbClr val="FFC000"/>
                </a:solidFill>
              </a:rPr>
              <a:t>a[ ][20]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rows, </a:t>
            </a:r>
            <a:r>
              <a:rPr lang="en-US" sz="1800" dirty="0" err="1" smtClean="0"/>
              <a:t>int</a:t>
            </a:r>
            <a:r>
              <a:rPr lang="en-US" sz="1800" dirty="0" smtClean="0"/>
              <a:t> cols)  {  // pass &amp;a[ 0 ].</a:t>
            </a:r>
            <a:br>
              <a:rPr lang="en-US" sz="1800" dirty="0" smtClean="0"/>
            </a:br>
            <a:r>
              <a:rPr lang="en-US" sz="1800" dirty="0" smtClean="0"/>
              <a:t>	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 = 0;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rows; </a:t>
            </a:r>
            <a:r>
              <a:rPr lang="en-US" sz="1800" dirty="0" err="1" smtClean="0"/>
              <a:t>i</a:t>
            </a:r>
            <a:r>
              <a:rPr lang="en-US" sz="1800" dirty="0" smtClean="0"/>
              <a:t>++) {</a:t>
            </a:r>
            <a:br>
              <a:rPr lang="en-US" sz="1800" dirty="0" smtClean="0"/>
            </a:br>
            <a:r>
              <a:rPr lang="en-US" sz="1800" dirty="0" smtClean="0"/>
              <a:t>	       for (</a:t>
            </a:r>
            <a:r>
              <a:rPr lang="en-US" sz="1800" dirty="0" err="1" smtClean="0"/>
              <a:t>int</a:t>
            </a:r>
            <a:r>
              <a:rPr lang="en-US" sz="1800" dirty="0" smtClean="0"/>
              <a:t> j = 0; j &lt; cols; j++)</a:t>
            </a:r>
            <a:br>
              <a:rPr lang="en-US" sz="1800" dirty="0" smtClean="0"/>
            </a:br>
            <a:r>
              <a:rPr lang="en-US" sz="1800" dirty="0" smtClean="0"/>
              <a:t>	       	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(“%d “, </a:t>
            </a:r>
            <a:r>
              <a:rPr lang="en-US" sz="1800" b="1" dirty="0" smtClean="0">
                <a:solidFill>
                  <a:srgbClr val="FFC000"/>
                </a:solidFill>
              </a:rPr>
              <a:t>a[ </a:t>
            </a:r>
            <a:r>
              <a:rPr lang="en-US" sz="1800" b="1" dirty="0" err="1" smtClean="0">
                <a:solidFill>
                  <a:srgbClr val="FFC000"/>
                </a:solidFill>
              </a:rPr>
              <a:t>i</a:t>
            </a:r>
            <a:r>
              <a:rPr lang="en-US" sz="1800" b="1" dirty="0" smtClean="0">
                <a:solidFill>
                  <a:srgbClr val="FFC000"/>
                </a:solidFill>
              </a:rPr>
              <a:t> ][ j ]</a:t>
            </a:r>
            <a:r>
              <a:rPr lang="en-US" sz="1800" dirty="0" smtClean="0"/>
              <a:t> );</a:t>
            </a:r>
            <a:br>
              <a:rPr lang="en-US" sz="1800" dirty="0" smtClean="0"/>
            </a:br>
            <a:r>
              <a:rPr lang="en-US" sz="1800" dirty="0" smtClean="0"/>
              <a:t>	       </a:t>
            </a:r>
            <a:r>
              <a:rPr lang="en-US" sz="1800" dirty="0" err="1" smtClean="0"/>
              <a:t>printf</a:t>
            </a:r>
            <a:r>
              <a:rPr lang="en-US" sz="1800" dirty="0" smtClean="0"/>
              <a:t>(“\n”);</a:t>
            </a:r>
            <a:br>
              <a:rPr lang="en-US" sz="1800" dirty="0" smtClean="0"/>
            </a:br>
            <a:r>
              <a:rPr lang="en-US" sz="1800" dirty="0" smtClean="0"/>
              <a:t>	}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br>
              <a:rPr lang="en-US" sz="1800" dirty="0" smtClean="0"/>
            </a:br>
            <a:r>
              <a:rPr lang="en-US" sz="1800" dirty="0" err="1" smtClean="0"/>
              <a:t>int</a:t>
            </a:r>
            <a:r>
              <a:rPr lang="en-US" sz="1800" dirty="0" smtClean="0"/>
              <a:t> main() {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 a[10][20];</a:t>
            </a:r>
            <a:br>
              <a:rPr lang="en-US" sz="1800" dirty="0" smtClean="0"/>
            </a:br>
            <a:r>
              <a:rPr lang="en-US" sz="1800" dirty="0" smtClean="0"/>
              <a:t>	</a:t>
            </a:r>
            <a:r>
              <a:rPr lang="en-US" sz="1800" dirty="0" err="1" smtClean="0"/>
              <a:t>printMatrix</a:t>
            </a:r>
            <a:r>
              <a:rPr lang="en-US" sz="1800" dirty="0" smtClean="0"/>
              <a:t>(</a:t>
            </a:r>
            <a:r>
              <a:rPr lang="en-US" sz="1800" b="1" dirty="0" smtClean="0">
                <a:solidFill>
                  <a:srgbClr val="FFC000"/>
                </a:solidFill>
              </a:rPr>
              <a:t>a</a:t>
            </a:r>
            <a:r>
              <a:rPr lang="en-US" sz="1800" dirty="0" smtClean="0"/>
              <a:t>, 10, 20);</a:t>
            </a:r>
            <a:br>
              <a:rPr lang="en-US" sz="1800" dirty="0" smtClean="0"/>
            </a:br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 manipulations:</a:t>
            </a:r>
          </a:p>
          <a:p>
            <a:pPr lvl="1"/>
            <a:r>
              <a:rPr lang="en-US" dirty="0" smtClean="0"/>
              <a:t>Dynamic string = pointer + memory management.</a:t>
            </a:r>
          </a:p>
          <a:p>
            <a:pPr lvl="1"/>
            <a:r>
              <a:rPr lang="en-US" dirty="0" smtClean="0"/>
              <a:t>Copy string: </a:t>
            </a:r>
            <a:r>
              <a:rPr lang="en-US" dirty="0" err="1" smtClean="0"/>
              <a:t>strcpy</a:t>
            </a:r>
            <a:r>
              <a:rPr lang="en-US" dirty="0" smtClean="0"/>
              <a:t>, </a:t>
            </a:r>
            <a:r>
              <a:rPr lang="en-US" dirty="0" err="1" smtClean="0"/>
              <a:t>strncpy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Join string: </a:t>
            </a:r>
            <a:r>
              <a:rPr lang="en-US" dirty="0" err="1" smtClean="0"/>
              <a:t>strcat</a:t>
            </a:r>
            <a:r>
              <a:rPr lang="en-US" dirty="0" smtClean="0"/>
              <a:t> (not efficient).</a:t>
            </a:r>
          </a:p>
          <a:p>
            <a:pPr lvl="1"/>
            <a:r>
              <a:rPr lang="en-US" dirty="0" smtClean="0"/>
              <a:t>Compare string: </a:t>
            </a:r>
            <a:r>
              <a:rPr lang="en-US" dirty="0" err="1" smtClean="0"/>
              <a:t>strcmp</a:t>
            </a:r>
            <a:r>
              <a:rPr lang="en-US" dirty="0" smtClean="0"/>
              <a:t>, </a:t>
            </a:r>
            <a:r>
              <a:rPr lang="en-US" dirty="0" err="1" smtClean="0"/>
              <a:t>strcasecmp</a:t>
            </a:r>
            <a:r>
              <a:rPr lang="en-US" dirty="0" smtClean="0"/>
              <a:t>, </a:t>
            </a:r>
            <a:r>
              <a:rPr lang="en-US" dirty="0" err="1" smtClean="0"/>
              <a:t>stricmp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Find sub char/string: </a:t>
            </a:r>
            <a:r>
              <a:rPr lang="en-US" dirty="0" err="1" smtClean="0"/>
              <a:t>strchr</a:t>
            </a:r>
            <a:r>
              <a:rPr lang="en-US" dirty="0" smtClean="0"/>
              <a:t>, </a:t>
            </a:r>
            <a:r>
              <a:rPr lang="en-US" dirty="0" err="1" smtClean="0"/>
              <a:t>strstr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Find any of char in/not in set: </a:t>
            </a:r>
            <a:r>
              <a:rPr lang="en-US" dirty="0" err="1" smtClean="0"/>
              <a:t>strpbrk</a:t>
            </a:r>
            <a:r>
              <a:rPr lang="en-US" dirty="0" smtClean="0"/>
              <a:t>, </a:t>
            </a:r>
            <a:r>
              <a:rPr lang="en-US" dirty="0" err="1" smtClean="0"/>
              <a:t>strspn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Convert to number: </a:t>
            </a:r>
            <a:r>
              <a:rPr lang="en-US" dirty="0" err="1" smtClean="0"/>
              <a:t>atoi</a:t>
            </a:r>
            <a:r>
              <a:rPr lang="en-US" dirty="0" smtClean="0"/>
              <a:t>, </a:t>
            </a:r>
            <a:r>
              <a:rPr lang="en-US" dirty="0" err="1" smtClean="0"/>
              <a:t>strtoll</a:t>
            </a:r>
            <a:r>
              <a:rPr lang="en-US" dirty="0" smtClean="0"/>
              <a:t>, </a:t>
            </a:r>
            <a:r>
              <a:rPr lang="en-US" dirty="0" err="1" smtClean="0"/>
              <a:t>atof</a:t>
            </a:r>
            <a:r>
              <a:rPr lang="en-US" dirty="0" smtClean="0"/>
              <a:t>, </a:t>
            </a:r>
            <a:r>
              <a:rPr lang="en-US" dirty="0" err="1" smtClean="0"/>
              <a:t>strtof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 of pointers:</a:t>
            </a:r>
          </a:p>
          <a:p>
            <a:pPr lvl="1"/>
            <a:r>
              <a:rPr lang="en-US" dirty="0" smtClean="0"/>
              <a:t>Different types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different address types.</a:t>
            </a:r>
          </a:p>
          <a:p>
            <a:pPr lvl="1"/>
            <a:r>
              <a:rPr lang="en-US" dirty="0" smtClean="0"/>
              <a:t>Each address type stored by one pointer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pointers:</a:t>
            </a:r>
          </a:p>
          <a:p>
            <a:pPr lvl="1"/>
            <a:r>
              <a:rPr lang="en-US" dirty="0" smtClean="0"/>
              <a:t>Pointer of pointer </a:t>
            </a:r>
            <a:r>
              <a:rPr lang="en-US" dirty="0" smtClean="0">
                <a:sym typeface="Wingdings" pitchFamily="2" charset="2"/>
              </a:rPr>
              <a:t> stores address of pointer.</a:t>
            </a:r>
            <a:endParaRPr lang="en-US" dirty="0" smtClean="0"/>
          </a:p>
          <a:p>
            <a:pPr lvl="1"/>
            <a:r>
              <a:rPr lang="en-US" dirty="0" smtClean="0"/>
              <a:t>Constant pointer </a:t>
            </a:r>
            <a:r>
              <a:rPr lang="en-US" dirty="0" smtClean="0">
                <a:sym typeface="Wingdings" pitchFamily="2" charset="2"/>
              </a:rPr>
              <a:t> stores constant address.</a:t>
            </a:r>
            <a:endParaRPr lang="en-US" dirty="0" smtClean="0"/>
          </a:p>
          <a:p>
            <a:pPr lvl="1"/>
            <a:r>
              <a:rPr lang="en-US" dirty="0" smtClean="0"/>
              <a:t>Pointer to constant </a:t>
            </a:r>
            <a:r>
              <a:rPr lang="en-US" dirty="0" smtClean="0">
                <a:sym typeface="Wingdings" pitchFamily="2" charset="2"/>
              </a:rPr>
              <a:t> stores address of constant.</a:t>
            </a:r>
            <a:endParaRPr lang="en-US" dirty="0" smtClean="0"/>
          </a:p>
          <a:p>
            <a:pPr lvl="1"/>
            <a:r>
              <a:rPr lang="en-US" dirty="0" smtClean="0"/>
              <a:t>void pointer </a:t>
            </a:r>
            <a:r>
              <a:rPr lang="en-US" dirty="0" smtClean="0">
                <a:sym typeface="Wingdings" pitchFamily="2" charset="2"/>
              </a:rPr>
              <a:t> stores address of any types.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Function pointer  stores address of function.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Pointer to fix-sized memory  stores address of static array.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8.1:</a:t>
            </a:r>
          </a:p>
          <a:p>
            <a:pPr>
              <a:buNone/>
            </a:pPr>
            <a:r>
              <a:rPr lang="en-US" sz="2000" dirty="0" smtClean="0"/>
              <a:t>	Write C/C++ program to find and replace all as follow:</a:t>
            </a:r>
          </a:p>
          <a:p>
            <a:pPr>
              <a:buNone/>
            </a:pPr>
            <a:r>
              <a:rPr lang="en-US" sz="2000" dirty="0" smtClean="0"/>
              <a:t>		- Enter a sentence of words S.</a:t>
            </a:r>
          </a:p>
          <a:p>
            <a:pPr>
              <a:buNone/>
            </a:pPr>
            <a:r>
              <a:rPr lang="en-US" sz="2000" dirty="0" smtClean="0"/>
              <a:t>		- Enter word to find F, and replacing word R.</a:t>
            </a:r>
          </a:p>
          <a:p>
            <a:pPr>
              <a:buNone/>
            </a:pPr>
            <a:r>
              <a:rPr lang="en-US" sz="2000" dirty="0" smtClean="0"/>
              <a:t>		- Find and replace all F in S with R.</a:t>
            </a:r>
          </a:p>
          <a:p>
            <a:pPr>
              <a:buNone/>
            </a:pPr>
            <a:r>
              <a:rPr lang="en-US" sz="2000" dirty="0" smtClean="0"/>
              <a:t>		- Print the result sentence.</a:t>
            </a:r>
          </a:p>
          <a:p>
            <a:pPr>
              <a:buNone/>
            </a:pPr>
            <a:r>
              <a:rPr lang="en-US" sz="2000" dirty="0" smtClean="0"/>
              <a:t>	Input format:</a:t>
            </a:r>
          </a:p>
          <a:p>
            <a:pPr>
              <a:buNone/>
            </a:pPr>
            <a:r>
              <a:rPr lang="en-US" sz="2000" dirty="0" smtClean="0"/>
              <a:t>		Enter a sentence = the good, the bad, the ugly</a:t>
            </a:r>
          </a:p>
          <a:p>
            <a:pPr>
              <a:buNone/>
            </a:pPr>
            <a:r>
              <a:rPr lang="en-US" sz="2000" dirty="0" smtClean="0"/>
              <a:t>		Enter find word = the</a:t>
            </a:r>
          </a:p>
          <a:p>
            <a:pPr>
              <a:buNone/>
            </a:pPr>
            <a:r>
              <a:rPr lang="en-US" sz="2000" dirty="0" smtClean="0"/>
              <a:t>		Enter replacing word = (a very)</a:t>
            </a:r>
          </a:p>
          <a:p>
            <a:pPr>
              <a:buNone/>
            </a:pPr>
            <a:r>
              <a:rPr lang="en-US" sz="2000" dirty="0" smtClean="0"/>
              <a:t>	Output format:</a:t>
            </a:r>
          </a:p>
          <a:p>
            <a:pPr>
              <a:buNone/>
            </a:pPr>
            <a:r>
              <a:rPr lang="en-US" sz="2000" dirty="0" smtClean="0"/>
              <a:t>		(a very) good, (a very) bad, (a very) ugly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8.2:</a:t>
            </a:r>
          </a:p>
          <a:p>
            <a:pPr>
              <a:buNone/>
            </a:pPr>
            <a:r>
              <a:rPr lang="en-US" sz="2000" dirty="0" smtClean="0"/>
              <a:t>	Write C/C++ program to increase numbers in sentence as follow:</a:t>
            </a:r>
          </a:p>
          <a:p>
            <a:pPr>
              <a:buNone/>
            </a:pPr>
            <a:r>
              <a:rPr lang="en-US" sz="2000" dirty="0" smtClean="0"/>
              <a:t>		- Enter a sentence.</a:t>
            </a:r>
          </a:p>
          <a:p>
            <a:pPr>
              <a:buNone/>
            </a:pPr>
            <a:r>
              <a:rPr lang="en-US" sz="2000" dirty="0" smtClean="0"/>
              <a:t>		- Find all numbers in the sentence and increase each one to 1.</a:t>
            </a:r>
          </a:p>
          <a:p>
            <a:pPr>
              <a:buNone/>
            </a:pPr>
            <a:r>
              <a:rPr lang="en-US" sz="2000" dirty="0" smtClean="0"/>
              <a:t>		- Print the result sentence.</a:t>
            </a:r>
          </a:p>
          <a:p>
            <a:pPr>
              <a:buNone/>
            </a:pPr>
            <a:r>
              <a:rPr lang="en-US" sz="2000" dirty="0" smtClean="0"/>
              <a:t>	Input format:</a:t>
            </a:r>
          </a:p>
          <a:p>
            <a:pPr>
              <a:buNone/>
            </a:pPr>
            <a:r>
              <a:rPr lang="en-US" sz="2000" dirty="0" smtClean="0"/>
              <a:t>		Enter a sentence = there are 9 cats and 19 dogs.</a:t>
            </a:r>
          </a:p>
          <a:p>
            <a:pPr>
              <a:buNone/>
            </a:pPr>
            <a:r>
              <a:rPr lang="en-US" sz="2000" dirty="0" smtClean="0"/>
              <a:t>	Output format:</a:t>
            </a:r>
          </a:p>
          <a:p>
            <a:pPr>
              <a:buNone/>
            </a:pPr>
            <a:r>
              <a:rPr lang="en-US" sz="2000" dirty="0" smtClean="0"/>
              <a:t>		there are 10 cats and 20 dogs.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8.3:</a:t>
            </a:r>
          </a:p>
          <a:p>
            <a:pPr>
              <a:buNone/>
            </a:pPr>
            <a:r>
              <a:rPr lang="en-US" sz="2000" dirty="0" smtClean="0"/>
              <a:t>	Write C/C++ program to input a paragraph with arbitrary length:</a:t>
            </a:r>
          </a:p>
          <a:p>
            <a:pPr>
              <a:buNone/>
            </a:pPr>
            <a:r>
              <a:rPr lang="en-US" sz="2000" dirty="0" smtClean="0"/>
              <a:t>		- Enter a long paragraph until input ‘.’ and new line.</a:t>
            </a:r>
          </a:p>
          <a:p>
            <a:pPr>
              <a:buNone/>
            </a:pPr>
            <a:r>
              <a:rPr lang="en-US" sz="2000" dirty="0" smtClean="0"/>
              <a:t>		- Print the paragraph.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	</a:t>
            </a:r>
            <a:r>
              <a:rPr lang="en-US" sz="2000" dirty="0" smtClean="0"/>
              <a:t>Note: use dynamic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8.4:</a:t>
            </a:r>
          </a:p>
          <a:p>
            <a:pPr>
              <a:buNone/>
            </a:pPr>
            <a:r>
              <a:rPr lang="en-US" sz="2000" dirty="0" smtClean="0"/>
              <a:t>	Given static 2-D array as follow:</a:t>
            </a:r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int</a:t>
            </a:r>
            <a:r>
              <a:rPr lang="en-US" sz="2000" dirty="0" smtClean="0"/>
              <a:t>  m[4][6];</a:t>
            </a:r>
          </a:p>
          <a:p>
            <a:pPr>
              <a:buNone/>
            </a:pPr>
            <a:r>
              <a:rPr lang="en-US" sz="2000" dirty="0" smtClean="0"/>
              <a:t>	What types of addresses of the following variables?</a:t>
            </a:r>
          </a:p>
          <a:p>
            <a:pPr>
              <a:buNone/>
            </a:pPr>
            <a:r>
              <a:rPr lang="en-US" sz="2000" dirty="0" smtClean="0"/>
              <a:t>		a) m[1][3].</a:t>
            </a:r>
          </a:p>
          <a:p>
            <a:pPr>
              <a:buNone/>
            </a:pPr>
            <a:r>
              <a:rPr lang="en-US" sz="2000" dirty="0" smtClean="0"/>
              <a:t>		b) m[0].</a:t>
            </a:r>
          </a:p>
          <a:p>
            <a:pPr>
              <a:buNone/>
            </a:pPr>
            <a:r>
              <a:rPr lang="en-US" sz="2000" dirty="0" smtClean="0"/>
              <a:t>		c) m.</a:t>
            </a:r>
          </a:p>
          <a:p>
            <a:pPr>
              <a:buNone/>
            </a:pPr>
            <a:r>
              <a:rPr lang="en-US" sz="2000" dirty="0" smtClean="0"/>
              <a:t>	Write code to access m[2][4] without using operator [ ].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8.5:</a:t>
            </a:r>
          </a:p>
          <a:p>
            <a:pPr>
              <a:buNone/>
            </a:pPr>
            <a:r>
              <a:rPr lang="en-US" sz="2000" dirty="0" smtClean="0"/>
              <a:t>	Given the following C code:</a:t>
            </a:r>
          </a:p>
          <a:p>
            <a:pPr>
              <a:buNone/>
            </a:pPr>
            <a:r>
              <a:rPr lang="en-US" sz="2000" dirty="0" smtClean="0"/>
              <a:t>	void </a:t>
            </a:r>
            <a:r>
              <a:rPr lang="en-US" sz="2000" b="1" dirty="0" smtClean="0">
                <a:solidFill>
                  <a:srgbClr val="FFC000"/>
                </a:solidFill>
              </a:rPr>
              <a:t>initialize</a:t>
            </a:r>
            <a:r>
              <a:rPr lang="en-US" sz="2000" dirty="0" smtClean="0"/>
              <a:t>(double **p)</a:t>
            </a:r>
            <a:br>
              <a:rPr lang="en-US" sz="2000" dirty="0" smtClean="0"/>
            </a:br>
            <a:r>
              <a:rPr lang="en-US" sz="2000" dirty="0" smtClean="0"/>
              <a:t>{</a:t>
            </a:r>
            <a:br>
              <a:rPr lang="en-US" sz="2000" dirty="0" smtClean="0"/>
            </a:br>
            <a:r>
              <a:rPr lang="en-US" sz="2000" dirty="0" smtClean="0"/>
              <a:t>	for (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 = 0; </a:t>
            </a:r>
            <a:r>
              <a:rPr lang="en-US" sz="2000" dirty="0" err="1" smtClean="0"/>
              <a:t>i</a:t>
            </a:r>
            <a:r>
              <a:rPr lang="en-US" sz="2000" dirty="0" smtClean="0"/>
              <a:t> &lt; 5; </a:t>
            </a:r>
            <a:r>
              <a:rPr lang="en-US" sz="2000" dirty="0" err="1" smtClean="0"/>
              <a:t>i</a:t>
            </a:r>
            <a:r>
              <a:rPr lang="en-US" sz="2000" dirty="0" smtClean="0"/>
              <a:t>++)</a:t>
            </a:r>
            <a:br>
              <a:rPr lang="en-US" sz="2000" dirty="0" smtClean="0"/>
            </a:br>
            <a:r>
              <a:rPr lang="en-US" sz="2000" dirty="0" smtClean="0"/>
              <a:t>	       *(p + </a:t>
            </a:r>
            <a:r>
              <a:rPr lang="en-US" sz="2000" dirty="0" err="1" smtClean="0"/>
              <a:t>i</a:t>
            </a:r>
            <a:r>
              <a:rPr lang="en-US" sz="2000" dirty="0" smtClean="0"/>
              <a:t>) = new double[ </a:t>
            </a:r>
            <a:r>
              <a:rPr lang="en-US" sz="2000" dirty="0" err="1" smtClean="0"/>
              <a:t>i</a:t>
            </a:r>
            <a:r>
              <a:rPr lang="en-US" sz="2000" dirty="0" smtClean="0"/>
              <a:t> + 1 ];</a:t>
            </a:r>
            <a:br>
              <a:rPr lang="en-US" sz="2000" dirty="0" smtClean="0"/>
            </a:br>
            <a:r>
              <a:rPr lang="en-US" sz="2000" dirty="0" smtClean="0"/>
              <a:t>}</a:t>
            </a:r>
          </a:p>
          <a:p>
            <a:pPr>
              <a:buNone/>
            </a:pPr>
            <a:r>
              <a:rPr lang="en-US" sz="2000" dirty="0" smtClean="0"/>
              <a:t>	Answer the following questions:</a:t>
            </a:r>
          </a:p>
          <a:p>
            <a:pPr>
              <a:buNone/>
            </a:pPr>
            <a:r>
              <a:rPr lang="en-US" sz="2000" dirty="0" smtClean="0"/>
              <a:t>		a) How many bytes are allocated </a:t>
            </a:r>
            <a:br>
              <a:rPr lang="en-US" sz="2000" dirty="0" smtClean="0"/>
            </a:br>
            <a:r>
              <a:rPr lang="en-US" sz="2000" dirty="0" smtClean="0"/>
              <a:t>	    at each line of main( ) ?</a:t>
            </a:r>
          </a:p>
          <a:p>
            <a:pPr>
              <a:buNone/>
            </a:pPr>
            <a:r>
              <a:rPr lang="en-US" sz="2000" dirty="0" smtClean="0"/>
              <a:t>		b) How memory are allocated by</a:t>
            </a:r>
            <a:br>
              <a:rPr lang="en-US" sz="2000" dirty="0" smtClean="0"/>
            </a:br>
            <a:r>
              <a:rPr lang="en-US" sz="2000" dirty="0" smtClean="0"/>
              <a:t>	    initialize( ) function in main( ) ?</a:t>
            </a:r>
          </a:p>
          <a:p>
            <a:pPr>
              <a:buNone/>
            </a:pPr>
            <a:r>
              <a:rPr lang="en-US" sz="2000" dirty="0" smtClean="0"/>
              <a:t>		c) Write release( ) function </a:t>
            </a:r>
            <a:br>
              <a:rPr lang="en-US" sz="2000" dirty="0" smtClean="0"/>
            </a:br>
            <a:r>
              <a:rPr lang="en-US" sz="2000" dirty="0" smtClean="0"/>
              <a:t>	    to avoid memory leak.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257800" y="2057400"/>
            <a:ext cx="3352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Clr>
                <a:schemeClr val="hlink"/>
              </a:buClr>
              <a:buNone/>
            </a:pPr>
            <a:r>
              <a:rPr lang="en-US" sz="18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double *p[10];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 + 3);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1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release</a:t>
            </a: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(p);</a:t>
            </a:r>
            <a:b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24576</TotalTime>
  <Words>1425</Words>
  <Application>Microsoft Office PowerPoint</Application>
  <PresentationFormat>On-screen Show (4:3)</PresentationFormat>
  <Paragraphs>475</Paragraphs>
  <Slides>33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Stream</vt:lpstr>
      <vt:lpstr>Advanced pointer</vt:lpstr>
      <vt:lpstr>Contents</vt:lpstr>
      <vt:lpstr>Contents</vt:lpstr>
      <vt:lpstr>String manipulations</vt:lpstr>
      <vt:lpstr>String manipulations</vt:lpstr>
      <vt:lpstr>String manipulations</vt:lpstr>
      <vt:lpstr>String manipulations</vt:lpstr>
      <vt:lpstr>String manipulations</vt:lpstr>
      <vt:lpstr>String manipulations</vt:lpstr>
      <vt:lpstr>String manipulations</vt:lpstr>
      <vt:lpstr>String manipulations</vt:lpstr>
      <vt:lpstr>String manipulations</vt:lpstr>
      <vt:lpstr>String manipulations</vt:lpstr>
      <vt:lpstr>Contents</vt:lpstr>
      <vt:lpstr>Pointer of pointer</vt:lpstr>
      <vt:lpstr>Pointer of pointer</vt:lpstr>
      <vt:lpstr>Pointer of pointer</vt:lpstr>
      <vt:lpstr>Pointer of pointer</vt:lpstr>
      <vt:lpstr>Contents</vt:lpstr>
      <vt:lpstr>Other types of pointers</vt:lpstr>
      <vt:lpstr>Other types of pointers</vt:lpstr>
      <vt:lpstr>Other types of pointers</vt:lpstr>
      <vt:lpstr>Other types of pointers</vt:lpstr>
      <vt:lpstr>Other types of pointers</vt:lpstr>
      <vt:lpstr>Other types of pointers</vt:lpstr>
      <vt:lpstr>Other types of pointers</vt:lpstr>
      <vt:lpstr>Summary</vt:lpstr>
      <vt:lpstr>Summary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1245</cp:revision>
  <dcterms:created xsi:type="dcterms:W3CDTF">2005-11-21T10:16:26Z</dcterms:created>
  <dcterms:modified xsi:type="dcterms:W3CDTF">2024-09-08T07:12:18Z</dcterms:modified>
</cp:coreProperties>
</file>