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68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69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58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1204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Inst.</a:t>
            </a:r>
            <a:r>
              <a:rPr lang="en-US" sz="2000" baseline="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marL="365760" indent="0">
              <a:buNone/>
              <a:defRPr sz="2000"/>
            </a:lvl2pPr>
            <a:lvl3pPr marL="914400">
              <a:defRPr sz="2000"/>
            </a:lvl3pPr>
            <a:lvl4pPr marL="1371600">
              <a:defRPr sz="1600"/>
            </a:lvl4pPr>
            <a:lvl5pPr marL="1828800">
              <a:defRPr sz="1400"/>
            </a:lvl5pPr>
          </a:lstStyle>
          <a:p>
            <a:pPr lvl="0"/>
            <a:r>
              <a:rPr lang="vi-VN" dirty="0" smtClean="0"/>
              <a:t>Practice: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Control Flow Statements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Branch statements.</a:t>
            </a:r>
          </a:p>
          <a:p>
            <a:r>
              <a:rPr lang="en-US" dirty="0" smtClean="0"/>
              <a:t>Loop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Branch statements.</a:t>
            </a:r>
          </a:p>
          <a:p>
            <a:r>
              <a:rPr lang="en-US" dirty="0" smtClean="0"/>
              <a:t>Loop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if-else statement:</a:t>
            </a:r>
          </a:p>
          <a:p>
            <a:pPr lvl="1"/>
            <a:r>
              <a:rPr lang="en-US" dirty="0" smtClean="0"/>
              <a:t>Syntax:</a:t>
            </a:r>
            <a:endParaRPr lang="en-US" sz="2200" dirty="0" smtClean="0"/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if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&lt;logic condition&gt;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&lt;Statement 1&gt;;</a:t>
            </a:r>
            <a:br>
              <a:rPr lang="en-US" sz="1800" dirty="0" smtClean="0"/>
            </a:br>
            <a:r>
              <a:rPr lang="en-US" sz="1800" dirty="0" smtClean="0"/>
              <a:t> [</a:t>
            </a:r>
            <a:r>
              <a:rPr lang="en-US" sz="1800" b="1" dirty="0" smtClean="0">
                <a:solidFill>
                  <a:srgbClr val="FFC000"/>
                </a:solidFill>
              </a:rPr>
              <a:t>else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&lt;Statement 2&gt;;]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 lvl="1"/>
            <a:r>
              <a:rPr lang="en-US" dirty="0" smtClean="0"/>
              <a:t>Examples:</a:t>
            </a:r>
          </a:p>
          <a:p>
            <a:pPr>
              <a:buNone/>
            </a:pPr>
            <a:r>
              <a:rPr lang="en-US" sz="1800" dirty="0" smtClean="0"/>
              <a:t>	// Full if-else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if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n &gt; 0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a = a * 2;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else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a = a / 2;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124200" y="2133600"/>
            <a:ext cx="2819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Pseudo-code:</a:t>
            </a:r>
          </a:p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If &lt;logic condition&gt;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Statement 1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[Else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Statement 2]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Diamond 6"/>
          <p:cNvSpPr/>
          <p:nvPr/>
        </p:nvSpPr>
        <p:spPr bwMode="auto">
          <a:xfrm>
            <a:off x="5867400" y="2362200"/>
            <a:ext cx="2019860" cy="6096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61869" y="2514600"/>
            <a:ext cx="172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&lt;logic condition&gt;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248400" y="3200400"/>
            <a:ext cx="12192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72200" y="3242846"/>
            <a:ext cx="1292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Statement 1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7850188" y="2667000"/>
            <a:ext cx="455612" cy="0"/>
          </a:xfrm>
          <a:prstGeom prst="straightConnector1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rot="5400000">
            <a:off x="6744097" y="3085703"/>
            <a:ext cx="229394" cy="158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7772400" y="2362200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rgbClr val="FFC000"/>
                </a:solidFill>
              </a:rPr>
              <a:t>false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42870" y="2861846"/>
            <a:ext cx="538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true</a:t>
            </a:r>
            <a:endParaRPr lang="en-US" sz="1600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7696200" y="3200400"/>
            <a:ext cx="1219200" cy="381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20000" y="3242846"/>
            <a:ext cx="1292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Statement 2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 bwMode="auto">
          <a:xfrm>
            <a:off x="8305800" y="2667000"/>
            <a:ext cx="0" cy="533400"/>
          </a:xfrm>
          <a:prstGeom prst="straightConnector1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>
            <a:off x="6858000" y="3581400"/>
            <a:ext cx="0" cy="533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Straight Arrow Connector 35"/>
          <p:cNvCxnSpPr/>
          <p:nvPr/>
        </p:nvCxnSpPr>
        <p:spPr bwMode="auto">
          <a:xfrm flipH="1">
            <a:off x="6858000" y="3886200"/>
            <a:ext cx="1447800" cy="0"/>
          </a:xfrm>
          <a:prstGeom prst="straightConnector1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8305800" y="3581400"/>
            <a:ext cx="0" cy="304800"/>
          </a:xfrm>
          <a:prstGeom prst="straightConnector1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2" name="Straight Arrow Connector 41"/>
          <p:cNvCxnSpPr/>
          <p:nvPr/>
        </p:nvCxnSpPr>
        <p:spPr bwMode="auto">
          <a:xfrm rot="5400000">
            <a:off x="6744097" y="2247503"/>
            <a:ext cx="229394" cy="158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3" name="Rectangle 4"/>
          <p:cNvSpPr>
            <a:spLocks noChangeArrowheads="1"/>
          </p:cNvSpPr>
          <p:nvPr/>
        </p:nvSpPr>
        <p:spPr bwMode="auto">
          <a:xfrm>
            <a:off x="3048000" y="4372708"/>
            <a:ext cx="28956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 No else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&gt; 0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a = a * 2;</a:t>
            </a:r>
          </a:p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Rectangle 4"/>
          <p:cNvSpPr>
            <a:spLocks noChangeArrowheads="1"/>
          </p:cNvSpPr>
          <p:nvPr/>
        </p:nvSpPr>
        <p:spPr bwMode="auto">
          <a:xfrm>
            <a:off x="5715000" y="4378568"/>
            <a:ext cx="3124200" cy="194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 Compound statement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&gt; 0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= a * 2;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b = b + 1;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0" grpId="0"/>
      <p:bldP spid="13" grpId="0"/>
      <p:bldP spid="16" grpId="0"/>
      <p:bldP spid="18" grpId="0" animBg="1"/>
      <p:bldP spid="19" grpId="0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if-else statement:</a:t>
            </a:r>
          </a:p>
          <a:p>
            <a:pPr lvl="1"/>
            <a:r>
              <a:rPr lang="en-US" dirty="0" smtClean="0"/>
              <a:t>Notes:</a:t>
            </a:r>
          </a:p>
          <a:p>
            <a:pPr lvl="2"/>
            <a:r>
              <a:rPr lang="en-US" dirty="0" smtClean="0"/>
              <a:t>Logic condition encloses ( ).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Value 1: true.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Value 0: false.</a:t>
            </a:r>
          </a:p>
          <a:p>
            <a:pPr lvl="2"/>
            <a:r>
              <a:rPr lang="en-US" b="1" dirty="0" smtClean="0">
                <a:solidFill>
                  <a:srgbClr val="FFC000"/>
                </a:solidFill>
              </a:rPr>
              <a:t>if-else</a:t>
            </a:r>
            <a:r>
              <a:rPr lang="en-US" dirty="0" smtClean="0"/>
              <a:t> compound statement.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No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;</a:t>
            </a:r>
            <a:r>
              <a:rPr lang="en-US" dirty="0" smtClean="0">
                <a:sym typeface="Wingdings" pitchFamily="2" charset="2"/>
              </a:rPr>
              <a:t> after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if</a:t>
            </a:r>
            <a:r>
              <a:rPr lang="en-US" dirty="0" smtClean="0">
                <a:sym typeface="Wingdings" pitchFamily="2" charset="2"/>
              </a:rPr>
              <a:t> or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else</a:t>
            </a:r>
            <a:r>
              <a:rPr lang="en-US" dirty="0" smtClean="0">
                <a:sym typeface="Wingdings" pitchFamily="2" charset="2"/>
              </a:rPr>
              <a:t>.</a:t>
            </a:r>
          </a:p>
          <a:p>
            <a:pPr lvl="2"/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if-else</a:t>
            </a:r>
            <a:r>
              <a:rPr lang="en-US" dirty="0" smtClean="0">
                <a:sym typeface="Wingdings" pitchFamily="2" charset="2"/>
              </a:rPr>
              <a:t> can be nested.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else</a:t>
            </a:r>
            <a:r>
              <a:rPr lang="en-US" dirty="0" smtClean="0">
                <a:sym typeface="Wingdings" pitchFamily="2" charset="2"/>
              </a:rPr>
              <a:t> goes with nearest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if</a:t>
            </a:r>
            <a:r>
              <a:rPr lang="en-US" dirty="0" smtClean="0">
                <a:sym typeface="Wingdings" pitchFamily="2" charset="2"/>
              </a:rPr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562600" y="1828800"/>
            <a:ext cx="3581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n &gt; 0	   // Wrong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a = a * 2;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 (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	   // Always true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a = a * 2;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 (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n &gt; 0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   //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Wrong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a = a * 2;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else ;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a = a / 2;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 (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n &gt; 0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        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// Nested if-else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 (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 &gt; b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        c = c + 1;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else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        c = c – 1;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if-else statement:</a:t>
            </a:r>
          </a:p>
          <a:p>
            <a:pPr lvl="2"/>
            <a:r>
              <a:rPr lang="en-US" dirty="0" smtClean="0"/>
              <a:t>Nested if-else, logic condition on the same variable:</a:t>
            </a:r>
          </a:p>
          <a:p>
            <a:pPr>
              <a:buNone/>
            </a:pP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if</a:t>
            </a:r>
            <a:r>
              <a:rPr lang="en-US" sz="1800" dirty="0" smtClean="0"/>
              <a:t> (</a:t>
            </a:r>
            <a:r>
              <a:rPr lang="en-US" sz="1800" b="1" dirty="0" err="1" smtClean="0">
                <a:solidFill>
                  <a:srgbClr val="FFC000"/>
                </a:solidFill>
              </a:rPr>
              <a:t>gpa</a:t>
            </a:r>
            <a:r>
              <a:rPr lang="en-US" sz="1800" dirty="0" smtClean="0"/>
              <a:t> &gt;= 8.5)</a:t>
            </a:r>
            <a:br>
              <a:rPr lang="en-US" sz="1800" dirty="0" smtClean="0"/>
            </a:br>
            <a:r>
              <a:rPr lang="en-US" sz="1800" dirty="0" smtClean="0"/>
              <a:t>	rank = “Excellent”;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else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if</a:t>
            </a:r>
            <a:r>
              <a:rPr lang="en-US" sz="1800" dirty="0" smtClean="0"/>
              <a:t> (</a:t>
            </a:r>
            <a:r>
              <a:rPr lang="en-US" sz="1800" b="1" dirty="0" err="1" smtClean="0">
                <a:solidFill>
                  <a:srgbClr val="FFC000"/>
                </a:solidFill>
              </a:rPr>
              <a:t>gpa</a:t>
            </a:r>
            <a:r>
              <a:rPr lang="en-US" sz="1800" dirty="0" smtClean="0"/>
              <a:t> &gt;= 7.0)</a:t>
            </a:r>
            <a:br>
              <a:rPr lang="en-US" sz="1800" dirty="0" smtClean="0"/>
            </a:br>
            <a:r>
              <a:rPr lang="en-US" sz="1800" dirty="0" smtClean="0"/>
              <a:t>	       rank = “Good”;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else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b="1" dirty="0" smtClean="0">
                <a:solidFill>
                  <a:srgbClr val="FFC000"/>
                </a:solidFill>
              </a:rPr>
              <a:t>if</a:t>
            </a:r>
            <a:r>
              <a:rPr lang="en-US" sz="1800" dirty="0" smtClean="0"/>
              <a:t> (</a:t>
            </a:r>
            <a:r>
              <a:rPr lang="en-US" sz="1800" b="1" dirty="0" err="1" smtClean="0">
                <a:solidFill>
                  <a:srgbClr val="FFC000"/>
                </a:solidFill>
              </a:rPr>
              <a:t>gpa</a:t>
            </a:r>
            <a:r>
              <a:rPr lang="en-US" sz="1800" dirty="0" smtClean="0"/>
              <a:t> &gt;= 5.0)</a:t>
            </a:r>
            <a:br>
              <a:rPr lang="en-US" sz="1800" dirty="0" smtClean="0"/>
            </a:br>
            <a:r>
              <a:rPr lang="en-US" sz="1800" dirty="0" smtClean="0"/>
              <a:t>		rank = “Fair”;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b="1" dirty="0" smtClean="0">
                <a:solidFill>
                  <a:srgbClr val="FFC000"/>
                </a:solidFill>
              </a:rPr>
              <a:t>else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	rank = “Failed”;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81600" y="2397369"/>
            <a:ext cx="32004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if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&gt;= 8.5)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rank = “Excellent”;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 if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&gt;= 7.0)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rank = “Good”;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&gt;= 5.0)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rank = “Fair”;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rank = “Failed”; 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switch-case statement:</a:t>
            </a:r>
          </a:p>
          <a:p>
            <a:pPr lvl="1"/>
            <a:r>
              <a:rPr lang="en-US" dirty="0" smtClean="0"/>
              <a:t>Syntax: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switch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&lt;expression&gt;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{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[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&lt;value 1&gt;:</a:t>
            </a:r>
            <a:br>
              <a:rPr lang="en-US" sz="1800" dirty="0" smtClean="0"/>
            </a:br>
            <a:r>
              <a:rPr lang="en-US" sz="1800" dirty="0" smtClean="0"/>
              <a:t>	        &lt;Statement 1&gt;;</a:t>
            </a:r>
            <a:br>
              <a:rPr lang="en-US" sz="1800" dirty="0" smtClean="0"/>
            </a:br>
            <a:r>
              <a:rPr lang="en-US" sz="1800" dirty="0" smtClean="0"/>
              <a:t>	       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&lt;value 2&gt;:</a:t>
            </a:r>
            <a:br>
              <a:rPr lang="en-US" sz="1800" dirty="0" smtClean="0"/>
            </a:br>
            <a:r>
              <a:rPr lang="en-US" sz="1800" dirty="0" smtClean="0"/>
              <a:t>	        &lt;Statement 2&gt;;</a:t>
            </a:r>
            <a:br>
              <a:rPr lang="en-US" sz="1800" dirty="0" smtClean="0"/>
            </a:br>
            <a:r>
              <a:rPr lang="en-US" sz="1800" dirty="0" smtClean="0"/>
              <a:t>	       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....]</a:t>
            </a:r>
            <a:br>
              <a:rPr lang="en-US" sz="1800" dirty="0" smtClean="0"/>
            </a:br>
            <a:r>
              <a:rPr lang="en-US" sz="1800" dirty="0" smtClean="0"/>
              <a:t>	[</a:t>
            </a:r>
            <a:r>
              <a:rPr lang="en-US" sz="1800" b="1" dirty="0" smtClean="0">
                <a:solidFill>
                  <a:srgbClr val="FFC000"/>
                </a:solidFill>
              </a:rPr>
              <a:t>default: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        &lt;Statement N&gt;;]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}</a:t>
            </a:r>
            <a:endParaRPr lang="en-US" sz="1800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4267200" y="2133600"/>
            <a:ext cx="4191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 Equivalent if-else statement.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(&lt;expression&gt; == &lt;value 1&gt;)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&lt;Statement 1&gt;;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 if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(&lt;expression&gt; == &lt;value 2&gt;) 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&lt;Statement 2&gt;;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&lt;Statement N&gt;; 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switch-case statement: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switch</a:t>
            </a:r>
            <a:r>
              <a:rPr lang="en-US" sz="1800" dirty="0" smtClean="0"/>
              <a:t> (</a:t>
            </a:r>
            <a:r>
              <a:rPr lang="en-US" sz="1800" dirty="0" err="1" smtClean="0"/>
              <a:t>day_of_week</a:t>
            </a:r>
            <a:r>
              <a:rPr lang="en-US" sz="1800" dirty="0" smtClean="0"/>
              <a:t>)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{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1: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(“Sunday”);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2: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(“Monday”);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3: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(“Tuesday”);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4: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(“Wednesday”);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5: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(“Thursday”);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6: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(“Friday”);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7: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(“Saturday”);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switch-case statement:</a:t>
            </a:r>
          </a:p>
          <a:p>
            <a:pPr lvl="1"/>
            <a:r>
              <a:rPr lang="en-US" dirty="0" smtClean="0"/>
              <a:t>Notes:</a:t>
            </a:r>
          </a:p>
          <a:p>
            <a:pPr lvl="2"/>
            <a:r>
              <a:rPr lang="en-US" dirty="0" smtClean="0"/>
              <a:t>Expression encloses ( ).</a:t>
            </a:r>
          </a:p>
          <a:p>
            <a:pPr lvl="2"/>
            <a:r>
              <a:rPr lang="en-US" dirty="0" smtClean="0"/>
              <a:t>Value of </a:t>
            </a:r>
            <a:r>
              <a:rPr lang="en-US" b="1" dirty="0" smtClean="0">
                <a:solidFill>
                  <a:srgbClr val="FFC000"/>
                </a:solidFill>
              </a:rPr>
              <a:t>case</a:t>
            </a:r>
            <a:r>
              <a:rPr lang="en-US" dirty="0" smtClean="0"/>
              <a:t>: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Single value.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Not range value.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Statement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break</a:t>
            </a:r>
            <a:r>
              <a:rPr lang="en-US" dirty="0" smtClean="0">
                <a:sym typeface="Wingdings" pitchFamily="2" charset="2"/>
              </a:rPr>
              <a:t>: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Exit the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case</a:t>
            </a:r>
            <a:r>
              <a:rPr lang="en-US" dirty="0" smtClean="0">
                <a:sym typeface="Wingdings" pitchFamily="2" charset="2"/>
              </a:rPr>
              <a:t>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Ignore to combine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case</a:t>
            </a:r>
            <a:r>
              <a:rPr lang="en-US" dirty="0" smtClean="0">
                <a:sym typeface="Wingdings" pitchFamily="2" charset="2"/>
              </a:rPr>
              <a:t>.</a:t>
            </a:r>
            <a:endParaRPr lang="en-US" dirty="0" smtClean="0"/>
          </a:p>
          <a:p>
            <a:pPr lvl="3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638800" y="2133600"/>
            <a:ext cx="33528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switch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a + b	// false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…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switch (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 + b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case &gt; 5:     // false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       …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switch-case statement: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switch</a:t>
            </a:r>
            <a:r>
              <a:rPr lang="en-US" sz="1800" dirty="0" smtClean="0"/>
              <a:t> (</a:t>
            </a:r>
            <a:r>
              <a:rPr lang="en-US" sz="1800" dirty="0" err="1" smtClean="0"/>
              <a:t>day_of_week</a:t>
            </a:r>
            <a:r>
              <a:rPr lang="en-US" sz="1800" dirty="0" smtClean="0"/>
              <a:t>)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{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2: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3: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4: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5: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6: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(“Working day”);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1: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case</a:t>
            </a:r>
            <a:r>
              <a:rPr lang="en-US" sz="1800" dirty="0" smtClean="0"/>
              <a:t> 7: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(“Weekend”); </a:t>
            </a:r>
            <a:r>
              <a:rPr lang="en-US" sz="1800" b="1" dirty="0" smtClean="0">
                <a:solidFill>
                  <a:srgbClr val="FFC000"/>
                </a:solidFill>
              </a:rPr>
              <a:t>break;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	default: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(“Invalid day of week”);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Branch statements.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Loop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the program:</a:t>
            </a:r>
          </a:p>
          <a:p>
            <a:pPr lvl="1"/>
            <a:r>
              <a:rPr lang="en-US" dirty="0" smtClean="0"/>
              <a:t>Print integers in range [1..10].</a:t>
            </a:r>
          </a:p>
          <a:p>
            <a:pPr lvl="2"/>
            <a:r>
              <a:rPr lang="en-US" dirty="0" smtClean="0"/>
              <a:t>Write 10 output statements.</a:t>
            </a:r>
          </a:p>
          <a:p>
            <a:pPr lvl="1"/>
            <a:r>
              <a:rPr lang="en-US" dirty="0" smtClean="0"/>
              <a:t>Print integers in range [1..100]?</a:t>
            </a:r>
          </a:p>
          <a:p>
            <a:pPr lvl="2"/>
            <a:r>
              <a:rPr lang="en-US" dirty="0" smtClean="0"/>
              <a:t>Write 100 output statements?!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Use loop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while and do-while statements:</a:t>
            </a:r>
          </a:p>
          <a:p>
            <a:pPr lvl="1"/>
            <a:r>
              <a:rPr lang="en-US" dirty="0" smtClean="0"/>
              <a:t>Syntax:</a:t>
            </a:r>
            <a:endParaRPr lang="en-US" dirty="0"/>
          </a:p>
          <a:p>
            <a:pPr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// while statement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while</a:t>
            </a:r>
            <a:r>
              <a:rPr lang="en-US" sz="1800" dirty="0" smtClean="0"/>
              <a:t> (&lt;Condition&gt;)</a:t>
            </a:r>
            <a:br>
              <a:rPr lang="en-US" sz="1800" dirty="0" smtClean="0"/>
            </a:br>
            <a:r>
              <a:rPr lang="en-US" sz="1800" dirty="0" smtClean="0"/>
              <a:t>	&lt;Statement&gt;;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Equivalent while for do-while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/>
              <a:t>	&lt;Statement&gt;;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while</a:t>
            </a:r>
            <a:r>
              <a:rPr lang="en-US" sz="1800" dirty="0" smtClean="0"/>
              <a:t> (&lt;Condition&gt;)</a:t>
            </a:r>
            <a:br>
              <a:rPr lang="en-US" sz="1800" dirty="0" smtClean="0"/>
            </a:br>
            <a:r>
              <a:rPr lang="en-US" sz="1800" dirty="0" smtClean="0"/>
              <a:t>	&lt;Statement&gt;;</a:t>
            </a:r>
            <a:br>
              <a:rPr lang="en-US" sz="1800" dirty="0" smtClean="0"/>
            </a:b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81600" y="2133600"/>
            <a:ext cx="3352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Diamond 6"/>
          <p:cNvSpPr/>
          <p:nvPr/>
        </p:nvSpPr>
        <p:spPr bwMode="auto">
          <a:xfrm>
            <a:off x="533400" y="4953000"/>
            <a:ext cx="2019860" cy="6096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9349" y="5105400"/>
            <a:ext cx="1289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&lt;Condition&gt;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819400" y="5105400"/>
            <a:ext cx="12192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41580" y="5147846"/>
            <a:ext cx="1120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Statement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31881" y="4876800"/>
            <a:ext cx="538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true</a:t>
            </a:r>
            <a:endParaRPr lang="en-US" sz="1600" dirty="0"/>
          </a:p>
        </p:txBody>
      </p:sp>
      <p:cxnSp>
        <p:nvCxnSpPr>
          <p:cNvPr id="18" name="Straight Arrow Connector 17"/>
          <p:cNvCxnSpPr/>
          <p:nvPr/>
        </p:nvCxnSpPr>
        <p:spPr bwMode="auto">
          <a:xfrm>
            <a:off x="1524000" y="5562600"/>
            <a:ext cx="0" cy="4572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1524000" y="4495800"/>
            <a:ext cx="0" cy="45799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V="1">
            <a:off x="3429000" y="4648200"/>
            <a:ext cx="0" cy="4572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>
            <a:off x="2514600" y="5257800"/>
            <a:ext cx="3048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Straight Arrow Connector 31"/>
          <p:cNvCxnSpPr/>
          <p:nvPr/>
        </p:nvCxnSpPr>
        <p:spPr bwMode="auto">
          <a:xfrm flipH="1">
            <a:off x="1524000" y="4648200"/>
            <a:ext cx="19050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1493681" y="5562600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false</a:t>
            </a:r>
            <a:endParaRPr lang="en-US" sz="1600" dirty="0"/>
          </a:p>
        </p:txBody>
      </p:sp>
      <p:sp>
        <p:nvSpPr>
          <p:cNvPr id="41" name="Diamond 40"/>
          <p:cNvSpPr/>
          <p:nvPr/>
        </p:nvSpPr>
        <p:spPr bwMode="auto">
          <a:xfrm>
            <a:off x="5532281" y="4800600"/>
            <a:ext cx="2019860" cy="6096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918549" y="4953000"/>
            <a:ext cx="1289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&lt;Condition&gt;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5913281" y="4191000"/>
            <a:ext cx="12192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43600" y="4233446"/>
            <a:ext cx="1120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Statement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37281" y="4766846"/>
            <a:ext cx="538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true</a:t>
            </a:r>
            <a:endParaRPr lang="en-US" sz="1600" dirty="0"/>
          </a:p>
        </p:txBody>
      </p:sp>
      <p:cxnSp>
        <p:nvCxnSpPr>
          <p:cNvPr id="46" name="Straight Arrow Connector 45"/>
          <p:cNvCxnSpPr/>
          <p:nvPr/>
        </p:nvCxnSpPr>
        <p:spPr bwMode="auto">
          <a:xfrm>
            <a:off x="6522881" y="5410200"/>
            <a:ext cx="0" cy="4572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Straight Arrow Connector 46"/>
          <p:cNvCxnSpPr/>
          <p:nvPr/>
        </p:nvCxnSpPr>
        <p:spPr bwMode="auto">
          <a:xfrm>
            <a:off x="6522881" y="39624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Straight Arrow Connector 47"/>
          <p:cNvCxnSpPr/>
          <p:nvPr/>
        </p:nvCxnSpPr>
        <p:spPr bwMode="auto">
          <a:xfrm flipV="1">
            <a:off x="8046881" y="4419600"/>
            <a:ext cx="0" cy="685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0" name="Straight Arrow Connector 49"/>
          <p:cNvCxnSpPr/>
          <p:nvPr/>
        </p:nvCxnSpPr>
        <p:spPr bwMode="auto">
          <a:xfrm flipH="1">
            <a:off x="7132481" y="4419600"/>
            <a:ext cx="9144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6492562" y="5410200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false</a:t>
            </a:r>
            <a:endParaRPr lang="en-US" sz="1600" dirty="0"/>
          </a:p>
        </p:txBody>
      </p:sp>
      <p:cxnSp>
        <p:nvCxnSpPr>
          <p:cNvPr id="55" name="Straight Arrow Connector 54"/>
          <p:cNvCxnSpPr/>
          <p:nvPr/>
        </p:nvCxnSpPr>
        <p:spPr bwMode="auto">
          <a:xfrm>
            <a:off x="6522881" y="45720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Straight Arrow Connector 58"/>
          <p:cNvCxnSpPr/>
          <p:nvPr/>
        </p:nvCxnSpPr>
        <p:spPr bwMode="auto">
          <a:xfrm>
            <a:off x="7513481" y="5105400"/>
            <a:ext cx="5334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64" name="Rectangle 4"/>
          <p:cNvSpPr>
            <a:spLocks noChangeArrowheads="1"/>
          </p:cNvSpPr>
          <p:nvPr/>
        </p:nvSpPr>
        <p:spPr bwMode="auto">
          <a:xfrm>
            <a:off x="5181600" y="2133600"/>
            <a:ext cx="3352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 do-while statement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&lt;Statement&gt;;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 while (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&lt;Condition&gt;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  <p:bldP spid="43" grpId="0" animBg="1"/>
      <p:bldP spid="44" grpId="0"/>
      <p:bldP spid="45" grpId="0"/>
      <p:bldP spid="51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while and do-while statements:</a:t>
            </a:r>
          </a:p>
          <a:p>
            <a:pPr lvl="2"/>
            <a:r>
              <a:rPr lang="en-US" dirty="0" smtClean="0"/>
              <a:t>Examples: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// while statement.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printf</a:t>
            </a:r>
            <a:r>
              <a:rPr lang="en-US" sz="1800" dirty="0" smtClean="0"/>
              <a:t>(“Enter n = “);</a:t>
            </a:r>
            <a:br>
              <a:rPr lang="en-US" sz="1800" dirty="0" smtClean="0"/>
            </a:br>
            <a:r>
              <a:rPr lang="en-US" sz="1800" dirty="0" err="1" smtClean="0"/>
              <a:t>scanf</a:t>
            </a:r>
            <a:r>
              <a:rPr lang="en-US" sz="1800" dirty="0" smtClean="0"/>
              <a:t>(“%d”, &amp;n);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i</a:t>
            </a:r>
            <a:r>
              <a:rPr lang="en-US" sz="1800" dirty="0" smtClean="0"/>
              <a:t> = 1;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while (</a:t>
            </a:r>
            <a:r>
              <a:rPr lang="en-US" sz="1800" dirty="0" err="1" smtClean="0"/>
              <a:t>i</a:t>
            </a:r>
            <a:r>
              <a:rPr lang="en-US" sz="1800" dirty="0" smtClean="0"/>
              <a:t> &lt;= n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{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(“%d”, </a:t>
            </a:r>
            <a:r>
              <a:rPr lang="en-US" sz="1800" dirty="0" err="1" smtClean="0"/>
              <a:t>i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</a:t>
            </a:r>
            <a:r>
              <a:rPr lang="en-US" sz="1800" dirty="0" smtClean="0"/>
              <a:t>++;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}</a:t>
            </a:r>
            <a:endParaRPr lang="en-US" sz="1800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81600" y="2121725"/>
            <a:ext cx="33528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 do-while statement.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err="1" smtClean="0"/>
              <a:t>printf</a:t>
            </a:r>
            <a:r>
              <a:rPr lang="en-US" sz="1800" dirty="0" smtClean="0"/>
              <a:t>(“Enter n = “);</a:t>
            </a:r>
            <a:br>
              <a:rPr lang="en-US" sz="1800" dirty="0" smtClean="0"/>
            </a:br>
            <a:r>
              <a:rPr lang="en-US" sz="1800" dirty="0" err="1" smtClean="0"/>
              <a:t>scanf</a:t>
            </a:r>
            <a:r>
              <a:rPr lang="en-US" sz="1800" dirty="0" smtClean="0"/>
              <a:t>(“%d”, &amp;n); 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1;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(“%d”,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++;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 while (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&lt;= n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while and do-while statements:</a:t>
            </a:r>
          </a:p>
          <a:p>
            <a:pPr lvl="1"/>
            <a:r>
              <a:rPr lang="en-US" dirty="0" smtClean="0"/>
              <a:t>Notes:</a:t>
            </a:r>
          </a:p>
          <a:p>
            <a:pPr lvl="2"/>
            <a:r>
              <a:rPr lang="en-US" dirty="0" smtClean="0"/>
              <a:t>Loop condition encloses ( ).</a:t>
            </a:r>
          </a:p>
          <a:p>
            <a:pPr lvl="2"/>
            <a:r>
              <a:rPr lang="en-US" dirty="0" smtClean="0"/>
              <a:t>Loop often includes: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Step 1: Initialize counter.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Step 2: Check condition.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Step 3: Execute a loop.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 Step 4: Update counter.</a:t>
            </a:r>
            <a:endParaRPr lang="en-US" dirty="0" smtClean="0"/>
          </a:p>
          <a:p>
            <a:pPr lvl="3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562600" y="2121725"/>
            <a:ext cx="3581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while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n &gt; 0	// false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…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 = 0;		   // Step 1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(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 &lt; n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	   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Step 2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S = S * k;   // Step 3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k = k + 1;   // Step 4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statement:</a:t>
            </a:r>
          </a:p>
          <a:p>
            <a:pPr lvl="1"/>
            <a:r>
              <a:rPr lang="en-US" dirty="0" smtClean="0"/>
              <a:t>Syntax: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for </a:t>
            </a:r>
            <a:r>
              <a:rPr lang="en-US" sz="1800" dirty="0" smtClean="0"/>
              <a:t>([&lt;Initialization&gt;] </a:t>
            </a:r>
            <a:r>
              <a:rPr lang="en-US" sz="1800" b="1" dirty="0" smtClean="0">
                <a:solidFill>
                  <a:srgbClr val="FFC000"/>
                </a:solidFill>
              </a:rPr>
              <a:t>;</a:t>
            </a:r>
            <a:r>
              <a:rPr lang="en-US" sz="1800" dirty="0" smtClean="0"/>
              <a:t>  [&lt;Condition&gt;] </a:t>
            </a:r>
            <a:r>
              <a:rPr lang="en-US" sz="1800" b="1" dirty="0" smtClean="0">
                <a:solidFill>
                  <a:srgbClr val="FFC000"/>
                </a:solidFill>
              </a:rPr>
              <a:t>;</a:t>
            </a:r>
            <a:r>
              <a:rPr lang="en-US" sz="1800" dirty="0" smtClean="0"/>
              <a:t>  [&lt;Loop step&gt;]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&lt;Statement&gt;;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// Equivalent while.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&lt;Initialization&gt;;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while (</a:t>
            </a:r>
            <a:r>
              <a:rPr lang="en-US" sz="1800" dirty="0" smtClean="0"/>
              <a:t>&lt;Condition&gt;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{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&lt;Statement&gt;;</a:t>
            </a:r>
            <a:br>
              <a:rPr lang="en-US" sz="1800" dirty="0" smtClean="0"/>
            </a:br>
            <a:r>
              <a:rPr lang="en-US" sz="1800" dirty="0" smtClean="0"/>
              <a:t>	&lt;Loop step&gt;;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}</a:t>
            </a:r>
            <a:endParaRPr lang="en-US" sz="1800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Diamond 5"/>
          <p:cNvSpPr/>
          <p:nvPr/>
        </p:nvSpPr>
        <p:spPr bwMode="auto">
          <a:xfrm>
            <a:off x="5029200" y="4114800"/>
            <a:ext cx="2019860" cy="6096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85149" y="4267200"/>
            <a:ext cx="1289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&lt;Condition&gt;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7315200" y="4267200"/>
            <a:ext cx="12192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0" y="4309646"/>
            <a:ext cx="1120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Statement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27681" y="4038600"/>
            <a:ext cx="538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true</a:t>
            </a:r>
            <a:endParaRPr lang="en-US" sz="1600" dirty="0"/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6019800" y="4724400"/>
            <a:ext cx="0" cy="4572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>
            <a:off x="6019800" y="3657600"/>
            <a:ext cx="0" cy="45799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>
            <a:off x="7010400" y="4419600"/>
            <a:ext cx="3048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>
            <a:off x="6019800" y="3810000"/>
            <a:ext cx="12954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989481" y="4724400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false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 bwMode="auto">
          <a:xfrm>
            <a:off x="5410200" y="3276600"/>
            <a:ext cx="12192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57800" y="3319046"/>
            <a:ext cx="1494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&lt;Initialization&gt;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7315200" y="3657600"/>
            <a:ext cx="12192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39000" y="3700046"/>
            <a:ext cx="1326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2">
                    <a:lumMod val="50000"/>
                  </a:schemeClr>
                </a:solidFill>
              </a:rPr>
              <a:t>&lt;Loop step&gt;</a:t>
            </a: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 bwMode="auto">
          <a:xfrm flipV="1">
            <a:off x="7924800" y="4038600"/>
            <a:ext cx="0" cy="228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/>
      <p:bldP spid="16" grpId="0"/>
      <p:bldP spid="17" grpId="0" animBg="1"/>
      <p:bldP spid="18" grpId="0"/>
      <p:bldP spid="19" grpId="0" animBg="1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statement:</a:t>
            </a:r>
          </a:p>
          <a:p>
            <a:pPr lvl="2"/>
            <a:r>
              <a:rPr lang="en-US" dirty="0" smtClean="0"/>
              <a:t>Examples: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(“Enter n = “);</a:t>
            </a:r>
            <a:br>
              <a:rPr lang="en-US" sz="1800" dirty="0" smtClean="0"/>
            </a:br>
            <a:r>
              <a:rPr lang="en-US" sz="1800" dirty="0" err="1" smtClean="0"/>
              <a:t>scanf</a:t>
            </a:r>
            <a:r>
              <a:rPr lang="en-US" sz="1800" dirty="0" smtClean="0"/>
              <a:t>(“%d”, &amp;n);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// Full for.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for (</a:t>
            </a:r>
            <a:r>
              <a:rPr lang="en-US" sz="1800" dirty="0" err="1" smtClean="0"/>
              <a:t>i</a:t>
            </a:r>
            <a:r>
              <a:rPr lang="en-US" sz="1800" dirty="0" smtClean="0"/>
              <a:t> = 1;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&lt;= n; </a:t>
            </a:r>
            <a:r>
              <a:rPr lang="en-US" sz="1800" dirty="0" err="1" smtClean="0"/>
              <a:t>i</a:t>
            </a:r>
            <a:r>
              <a:rPr lang="en-US" sz="1800" dirty="0" smtClean="0"/>
              <a:t>++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(“%d”, </a:t>
            </a:r>
            <a:r>
              <a:rPr lang="en-US" sz="1800" dirty="0" err="1" smtClean="0"/>
              <a:t>i</a:t>
            </a:r>
            <a:r>
              <a:rPr lang="en-US" sz="1800" dirty="0" smtClean="0"/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048000" y="2121725"/>
            <a:ext cx="2895600" cy="237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(“Enter n = “);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(“%d”, &amp;n);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No initialization.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( 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&lt;= n;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(“%d”,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342900" indent="-342900">
              <a:buClr>
                <a:schemeClr val="hlink"/>
              </a:buClr>
              <a:buNone/>
            </a:pP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943600" y="2121725"/>
            <a:ext cx="2895600" cy="313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(“Enter n = “);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(“%d”, &amp;n);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No loop step.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( 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&lt;= n;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(“%d”,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marL="342900" indent="-342900">
              <a:buClr>
                <a:schemeClr val="hlink"/>
              </a:buClr>
              <a:buNone/>
            </a:pP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break and continue statements:</a:t>
            </a:r>
          </a:p>
          <a:p>
            <a:pPr lvl="1"/>
            <a:r>
              <a:rPr lang="en-US" dirty="0" smtClean="0"/>
              <a:t>break:</a:t>
            </a:r>
          </a:p>
          <a:p>
            <a:pPr lvl="2"/>
            <a:r>
              <a:rPr lang="en-US" dirty="0" smtClean="0"/>
              <a:t>Exit the current loop.</a:t>
            </a:r>
          </a:p>
          <a:p>
            <a:pPr lvl="2"/>
            <a:r>
              <a:rPr lang="en-US" dirty="0" smtClean="0"/>
              <a:t>Use with </a:t>
            </a:r>
            <a:r>
              <a:rPr lang="en-US" b="1" dirty="0" smtClean="0">
                <a:solidFill>
                  <a:srgbClr val="FFC000"/>
                </a:solidFill>
              </a:rPr>
              <a:t>if-else</a:t>
            </a:r>
            <a:r>
              <a:rPr lang="en-US" dirty="0" smtClean="0"/>
              <a:t> for exit condition.</a:t>
            </a:r>
          </a:p>
          <a:p>
            <a:pPr lvl="1"/>
            <a:r>
              <a:rPr lang="en-US" dirty="0" smtClean="0"/>
              <a:t>continue:</a:t>
            </a:r>
          </a:p>
          <a:p>
            <a:pPr lvl="2"/>
            <a:r>
              <a:rPr lang="en-US" dirty="0" smtClean="0"/>
              <a:t>Skip the current loop one time.</a:t>
            </a:r>
          </a:p>
          <a:p>
            <a:pPr lvl="2"/>
            <a:r>
              <a:rPr lang="en-US" dirty="0" smtClean="0"/>
              <a:t>Use with </a:t>
            </a:r>
            <a:r>
              <a:rPr lang="en-US" b="1" dirty="0" smtClean="0">
                <a:solidFill>
                  <a:srgbClr val="FFC000"/>
                </a:solidFill>
              </a:rPr>
              <a:t>if-else </a:t>
            </a:r>
            <a:r>
              <a:rPr lang="en-US" dirty="0" smtClean="0"/>
              <a:t>for skip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943600" y="1752600"/>
            <a:ext cx="2895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(“Enter n = “);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(“%d”, &amp;n);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(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1;  ;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(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n)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break;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if (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% 2 == 0)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continue;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(“%d”,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marL="342900" indent="-342900">
              <a:buClr>
                <a:schemeClr val="hlink"/>
              </a:buClr>
              <a:buNone/>
            </a:pP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Branch statements:</a:t>
            </a:r>
          </a:p>
          <a:p>
            <a:pPr lvl="1"/>
            <a:r>
              <a:rPr lang="en-US" dirty="0" smtClean="0"/>
              <a:t>if-else: two branches.</a:t>
            </a:r>
          </a:p>
          <a:p>
            <a:pPr lvl="1"/>
            <a:r>
              <a:rPr lang="en-US" dirty="0" smtClean="0"/>
              <a:t>switch-case: multiple branches.</a:t>
            </a:r>
          </a:p>
          <a:p>
            <a:r>
              <a:rPr lang="en-US" dirty="0" smtClean="0"/>
              <a:t>Loop statements</a:t>
            </a:r>
            <a:r>
              <a:rPr lang="vi-VN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while: condition is checked before the loop.</a:t>
            </a:r>
          </a:p>
          <a:p>
            <a:pPr lvl="1"/>
            <a:r>
              <a:rPr lang="en-US" dirty="0" smtClean="0"/>
              <a:t>do-while: condition is checked after the loop. </a:t>
            </a:r>
          </a:p>
          <a:p>
            <a:pPr lvl="1"/>
            <a:r>
              <a:rPr lang="en-US" dirty="0" smtClean="0"/>
              <a:t>for:</a:t>
            </a:r>
          </a:p>
          <a:p>
            <a:pPr lvl="2"/>
            <a:r>
              <a:rPr lang="en-US" dirty="0" smtClean="0"/>
              <a:t>Initialize counter.</a:t>
            </a:r>
          </a:p>
          <a:p>
            <a:pPr lvl="2"/>
            <a:r>
              <a:rPr lang="en-US" dirty="0" smtClean="0"/>
              <a:t>Check condition.</a:t>
            </a:r>
          </a:p>
          <a:p>
            <a:pPr lvl="2"/>
            <a:r>
              <a:rPr lang="en-US" dirty="0" smtClean="0"/>
              <a:t>Execute loop.</a:t>
            </a:r>
          </a:p>
          <a:p>
            <a:pPr lvl="2"/>
            <a:r>
              <a:rPr lang="en-US" dirty="0" smtClean="0"/>
              <a:t>Update counter.</a:t>
            </a:r>
          </a:p>
          <a:p>
            <a:pPr lvl="1"/>
            <a:r>
              <a:rPr lang="en-US" dirty="0" smtClean="0"/>
              <a:t>break, continue: use with if-else in a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3.1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Write C/C++ program to simulate a calculator as follow:</a:t>
            </a:r>
          </a:p>
          <a:p>
            <a:pPr>
              <a:buNone/>
            </a:pPr>
            <a:r>
              <a:rPr lang="en-US" sz="2000" dirty="0" smtClean="0"/>
              <a:t>		- Enter two integers.</a:t>
            </a:r>
          </a:p>
          <a:p>
            <a:pPr>
              <a:buNone/>
            </a:pPr>
            <a:r>
              <a:rPr lang="en-US" sz="2000" dirty="0" smtClean="0"/>
              <a:t>		- Enter an operator (+, -, *, /, %).</a:t>
            </a:r>
          </a:p>
          <a:p>
            <a:pPr>
              <a:buNone/>
            </a:pPr>
            <a:r>
              <a:rPr lang="en-US" sz="2000" dirty="0" smtClean="0"/>
              <a:t>		- Perform the operator on two integers and print result.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dirty="0" smtClean="0"/>
              <a:t>Notes: flush the standard input stream after each input.</a:t>
            </a:r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dirty="0" smtClean="0"/>
              <a:t>- C: </a:t>
            </a:r>
            <a:r>
              <a:rPr lang="en-US" sz="2000" dirty="0" err="1" smtClean="0"/>
              <a:t>fgets</a:t>
            </a:r>
            <a:r>
              <a:rPr lang="en-US" sz="2000" dirty="0" smtClean="0"/>
              <a:t>, or while </a:t>
            </a:r>
            <a:r>
              <a:rPr lang="en-US" sz="2000" dirty="0" err="1" smtClean="0"/>
              <a:t>getchar</a:t>
            </a:r>
            <a:r>
              <a:rPr lang="en-US" sz="2000" dirty="0" smtClean="0"/>
              <a:t>, C++: </a:t>
            </a:r>
            <a:r>
              <a:rPr lang="en-US" sz="2000" dirty="0" err="1" smtClean="0"/>
              <a:t>cin.getline</a:t>
            </a:r>
            <a:r>
              <a:rPr lang="en-US" sz="2000" dirty="0" smtClean="0"/>
              <a:t>, or </a:t>
            </a:r>
            <a:r>
              <a:rPr lang="en-US" sz="2000" dirty="0" err="1" smtClean="0"/>
              <a:t>cin.ignore</a:t>
            </a:r>
            <a:r>
              <a:rPr lang="en-US" sz="2000" dirty="0" smtClean="0"/>
              <a:t>.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Input format:</a:t>
            </a:r>
          </a:p>
          <a:p>
            <a:pPr>
              <a:buNone/>
            </a:pPr>
            <a:r>
              <a:rPr lang="en-US" sz="2000" i="1" dirty="0" smtClean="0"/>
              <a:t>		Enter two integers = 7  5</a:t>
            </a:r>
          </a:p>
          <a:p>
            <a:pPr>
              <a:buNone/>
            </a:pPr>
            <a:r>
              <a:rPr lang="en-US" sz="2000" i="1" dirty="0" smtClean="0"/>
              <a:t>		Enter an </a:t>
            </a:r>
            <a:r>
              <a:rPr lang="en-US" sz="2000" i="1" dirty="0" err="1" smtClean="0"/>
              <a:t>opertor</a:t>
            </a:r>
            <a:r>
              <a:rPr lang="en-US" sz="2000" i="1" dirty="0" smtClean="0"/>
              <a:t> (+, -, *, /, %) = +</a:t>
            </a:r>
          </a:p>
          <a:p>
            <a:pPr>
              <a:buNone/>
            </a:pPr>
            <a:r>
              <a:rPr lang="en-US" sz="2000" i="1" dirty="0" smtClean="0"/>
              <a:t>	Output format (no error):</a:t>
            </a:r>
          </a:p>
          <a:p>
            <a:pPr>
              <a:buNone/>
            </a:pPr>
            <a:r>
              <a:rPr lang="en-US" sz="2000" i="1" dirty="0" smtClean="0"/>
              <a:t>		Result = 12</a:t>
            </a:r>
          </a:p>
          <a:p>
            <a:pPr>
              <a:buNone/>
            </a:pPr>
            <a:r>
              <a:rPr lang="en-US" sz="2000" i="1" dirty="0" smtClean="0"/>
              <a:t>	Output format (divided-by-zero error):</a:t>
            </a:r>
          </a:p>
          <a:p>
            <a:pPr>
              <a:buNone/>
            </a:pPr>
            <a:r>
              <a:rPr lang="en-US" sz="2000" i="1" dirty="0" smtClean="0"/>
              <a:t>		Error: divided by zero.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3.2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Write C/C++ program to solve quadratic equation: ax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 + </a:t>
            </a:r>
            <a:r>
              <a:rPr lang="en-US" sz="2000" dirty="0" err="1" smtClean="0"/>
              <a:t>bx</a:t>
            </a:r>
            <a:r>
              <a:rPr lang="en-US" sz="2000" dirty="0" smtClean="0"/>
              <a:t> + c = 0.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Input format:</a:t>
            </a:r>
          </a:p>
          <a:p>
            <a:pPr>
              <a:buNone/>
            </a:pPr>
            <a:r>
              <a:rPr lang="en-US" sz="2000" i="1" dirty="0" smtClean="0"/>
              <a:t>		Enter coefficients a, b, c = 2  -5  3</a:t>
            </a:r>
          </a:p>
          <a:p>
            <a:pPr>
              <a:buNone/>
            </a:pPr>
            <a:r>
              <a:rPr lang="en-US" sz="2000" i="1" dirty="0" smtClean="0"/>
              <a:t>	Output format (2 solutions):</a:t>
            </a:r>
          </a:p>
          <a:p>
            <a:pPr>
              <a:buNone/>
            </a:pPr>
            <a:r>
              <a:rPr lang="en-US" sz="2000" i="1" dirty="0" smtClean="0"/>
              <a:t>		Solution 1 = 1</a:t>
            </a:r>
          </a:p>
          <a:p>
            <a:pPr>
              <a:buNone/>
            </a:pPr>
            <a:r>
              <a:rPr lang="en-US" sz="2000" i="1" dirty="0" smtClean="0"/>
              <a:t>		Solution 2 = 1.5</a:t>
            </a:r>
          </a:p>
          <a:p>
            <a:pPr>
              <a:buNone/>
            </a:pPr>
            <a:r>
              <a:rPr lang="en-US" sz="2000" i="1" dirty="0" smtClean="0"/>
              <a:t>	Output format (1 solution):</a:t>
            </a:r>
          </a:p>
          <a:p>
            <a:pPr>
              <a:buNone/>
            </a:pPr>
            <a:r>
              <a:rPr lang="en-US" sz="2000" i="1" dirty="0" smtClean="0"/>
              <a:t>		Solution 1 = &lt;result&gt;</a:t>
            </a:r>
          </a:p>
          <a:p>
            <a:pPr>
              <a:buNone/>
            </a:pPr>
            <a:r>
              <a:rPr lang="en-US" sz="2000" i="1" dirty="0" smtClean="0"/>
              <a:t>	Output format (no solution):</a:t>
            </a:r>
          </a:p>
          <a:p>
            <a:pPr>
              <a:buNone/>
            </a:pPr>
            <a:r>
              <a:rPr lang="en-US" sz="2000" i="1" dirty="0" smtClean="0"/>
              <a:t>		No solution!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3.3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Write C/C++ program to count the number of days in a month:</a:t>
            </a:r>
          </a:p>
          <a:p>
            <a:pPr>
              <a:buNone/>
            </a:pPr>
            <a:r>
              <a:rPr lang="en-US" sz="2000" dirty="0" smtClean="0"/>
              <a:t>		- Enter month and year.</a:t>
            </a:r>
          </a:p>
          <a:p>
            <a:pPr>
              <a:buNone/>
            </a:pPr>
            <a:r>
              <a:rPr lang="en-US" sz="2000" dirty="0" smtClean="0"/>
              <a:t>		- Count the number of days in the month and print result.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Input format:</a:t>
            </a:r>
          </a:p>
          <a:p>
            <a:pPr>
              <a:buNone/>
            </a:pPr>
            <a:r>
              <a:rPr lang="en-US" sz="2000" i="1" dirty="0" smtClean="0"/>
              <a:t>		Enter month and year =  6  2012</a:t>
            </a:r>
          </a:p>
          <a:p>
            <a:pPr>
              <a:buNone/>
            </a:pPr>
            <a:r>
              <a:rPr lang="en-US" sz="2000" i="1" dirty="0" smtClean="0"/>
              <a:t>	Output format: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i="1" dirty="0" smtClean="0"/>
              <a:t>Month </a:t>
            </a:r>
            <a:r>
              <a:rPr lang="en-US" sz="2000" b="1" i="1" dirty="0" smtClean="0">
                <a:solidFill>
                  <a:srgbClr val="FFC000"/>
                </a:solidFill>
              </a:rPr>
              <a:t>6 </a:t>
            </a:r>
            <a:r>
              <a:rPr lang="en-US" sz="2000" i="1" dirty="0" smtClean="0"/>
              <a:t>in year </a:t>
            </a:r>
            <a:r>
              <a:rPr lang="en-US" sz="2000" b="1" i="1" dirty="0" smtClean="0">
                <a:solidFill>
                  <a:srgbClr val="FFC000"/>
                </a:solidFill>
              </a:rPr>
              <a:t>2012</a:t>
            </a:r>
            <a:r>
              <a:rPr lang="en-US" sz="2000" i="1" dirty="0" smtClean="0"/>
              <a:t> has </a:t>
            </a:r>
            <a:r>
              <a:rPr lang="en-US" sz="2000" b="1" i="1" dirty="0" smtClean="0">
                <a:solidFill>
                  <a:srgbClr val="FFC000"/>
                </a:solidFill>
              </a:rPr>
              <a:t>30</a:t>
            </a:r>
            <a:r>
              <a:rPr lang="en-US" sz="2000" i="1" dirty="0" smtClean="0"/>
              <a:t> days.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3.4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Write C/C++ program as follow:</a:t>
            </a:r>
          </a:p>
          <a:p>
            <a:pPr>
              <a:buNone/>
            </a:pPr>
            <a:r>
              <a:rPr lang="en-US" sz="2000" dirty="0" smtClean="0"/>
              <a:t>		- Enter a positive integer N.</a:t>
            </a:r>
          </a:p>
          <a:p>
            <a:pPr>
              <a:buNone/>
            </a:pPr>
            <a:r>
              <a:rPr lang="en-US" sz="2000" dirty="0" smtClean="0"/>
              <a:t>		- Compute and print results:</a:t>
            </a:r>
          </a:p>
          <a:p>
            <a:pPr>
              <a:buNone/>
            </a:pPr>
            <a:r>
              <a:rPr lang="en-US" sz="2000" dirty="0" smtClean="0"/>
              <a:t>			a) N! = 1 * 2 * … * N.</a:t>
            </a:r>
          </a:p>
          <a:p>
            <a:pPr>
              <a:buNone/>
            </a:pPr>
            <a:r>
              <a:rPr lang="en-US" sz="2000" dirty="0" smtClean="0"/>
              <a:t>			b) </a:t>
            </a:r>
            <a:r>
              <a:rPr lang="en-US" sz="2000" dirty="0" err="1" smtClean="0"/>
              <a:t>ln</a:t>
            </a:r>
            <a:r>
              <a:rPr lang="en-US" sz="2000" dirty="0" smtClean="0"/>
              <a:t>(2) = 1 - 1/2 + 1/3 - … +/- 1/N.</a:t>
            </a:r>
          </a:p>
          <a:p>
            <a:pPr>
              <a:buNone/>
            </a:pPr>
            <a:r>
              <a:rPr lang="en-US" sz="2000" dirty="0" smtClean="0"/>
              <a:t>			c) PI = 4 ( 1 – 1/3 + 1/5 – … +/- 1/(2*N + 1) ).</a:t>
            </a:r>
          </a:p>
          <a:p>
            <a:pPr>
              <a:buNone/>
            </a:pPr>
            <a:r>
              <a:rPr lang="en-US" sz="2000" dirty="0" smtClean="0"/>
              <a:t> 			d) S = a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+ a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+ … </a:t>
            </a:r>
            <a:r>
              <a:rPr lang="en-US" sz="2000" dirty="0" err="1" smtClean="0"/>
              <a:t>a</a:t>
            </a:r>
            <a:r>
              <a:rPr lang="en-US" sz="2000" baseline="-25000" dirty="0" err="1" smtClean="0"/>
              <a:t>k</a:t>
            </a:r>
            <a:r>
              <a:rPr lang="en-US" sz="2000" dirty="0" smtClean="0"/>
              <a:t> ( { </a:t>
            </a:r>
            <a:r>
              <a:rPr lang="en-US" sz="2000" dirty="0" err="1" smtClean="0"/>
              <a:t>a</a:t>
            </a:r>
            <a:r>
              <a:rPr lang="en-US" sz="2000" baseline="-25000" dirty="0" err="1" smtClean="0"/>
              <a:t>i</a:t>
            </a:r>
            <a:r>
              <a:rPr lang="en-US" sz="2000" baseline="-25000" dirty="0" smtClean="0"/>
              <a:t> </a:t>
            </a:r>
            <a:r>
              <a:rPr lang="en-US" sz="2000" dirty="0" smtClean="0"/>
              <a:t>} are all square numbers &lt;= N).</a:t>
            </a:r>
          </a:p>
          <a:p>
            <a:pPr>
              <a:buNone/>
            </a:pPr>
            <a:r>
              <a:rPr lang="en-US" sz="2000" i="1" dirty="0" smtClean="0"/>
              <a:t>	Output format:</a:t>
            </a:r>
          </a:p>
          <a:p>
            <a:pPr>
              <a:buNone/>
            </a:pPr>
            <a:r>
              <a:rPr lang="en-US" sz="2000" i="1" dirty="0" smtClean="0"/>
              <a:t>		N! = &lt;a result&gt;</a:t>
            </a:r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err="1" smtClean="0"/>
              <a:t>ln</a:t>
            </a:r>
            <a:r>
              <a:rPr lang="en-US" sz="2000" i="1" dirty="0" smtClean="0"/>
              <a:t>(2) = &lt;b result&gt;</a:t>
            </a:r>
          </a:p>
          <a:p>
            <a:pPr>
              <a:buNone/>
            </a:pPr>
            <a:r>
              <a:rPr lang="en-US" sz="2000" i="1" dirty="0" smtClean="0"/>
              <a:t>		PI = &lt;c result&gt;</a:t>
            </a:r>
          </a:p>
          <a:p>
            <a:pPr>
              <a:buNone/>
            </a:pPr>
            <a:r>
              <a:rPr lang="en-US" sz="2000" i="1" dirty="0" smtClean="0"/>
              <a:t>		S = &lt;d result&gt;</a:t>
            </a:r>
            <a:r>
              <a:rPr lang="en-US" sz="2000" dirty="0" smtClean="0"/>
              <a:t>	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Practice </a:t>
            </a:r>
            <a:r>
              <a:rPr lang="en-US" smtClean="0"/>
              <a:t>3.5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Write C/C++ program to find all numbers satisfying:</a:t>
            </a:r>
          </a:p>
          <a:p>
            <a:pPr>
              <a:buNone/>
            </a:pPr>
            <a:r>
              <a:rPr lang="en-US" sz="2000" dirty="0" smtClean="0"/>
              <a:t>		- A 3-digit positive integer.</a:t>
            </a:r>
          </a:p>
          <a:p>
            <a:pPr>
              <a:buNone/>
            </a:pPr>
            <a:r>
              <a:rPr lang="en-US" sz="2000" dirty="0" smtClean="0"/>
              <a:t>		- Tens digit = Hundreds digit + Ones digit.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Output format:</a:t>
            </a:r>
          </a:p>
          <a:p>
            <a:pPr>
              <a:buNone/>
            </a:pPr>
            <a:r>
              <a:rPr lang="en-US" sz="2000" i="1" dirty="0" smtClean="0"/>
              <a:t>		1: &lt;the 1</a:t>
            </a:r>
            <a:r>
              <a:rPr lang="en-US" sz="2000" i="1" baseline="30000" dirty="0" smtClean="0"/>
              <a:t>st</a:t>
            </a:r>
            <a:r>
              <a:rPr lang="en-US" sz="2000" i="1" dirty="0" smtClean="0"/>
              <a:t> satisfied number&gt;</a:t>
            </a:r>
          </a:p>
          <a:p>
            <a:pPr>
              <a:buNone/>
            </a:pPr>
            <a:r>
              <a:rPr lang="en-US" sz="2000" i="1" dirty="0" smtClean="0"/>
              <a:t>		2: &lt;the 2</a:t>
            </a:r>
            <a:r>
              <a:rPr lang="en-US" sz="2000" i="1" baseline="30000" dirty="0" smtClean="0"/>
              <a:t>nd</a:t>
            </a:r>
            <a:r>
              <a:rPr lang="en-US" sz="2000" i="1" dirty="0" smtClean="0"/>
              <a:t> satisfied number&gt;</a:t>
            </a:r>
          </a:p>
          <a:p>
            <a:pPr>
              <a:buNone/>
            </a:pPr>
            <a:r>
              <a:rPr lang="en-US" sz="2000" i="1" dirty="0" smtClean="0"/>
              <a:t>		…</a:t>
            </a:r>
          </a:p>
          <a:p>
            <a:pPr>
              <a:buNone/>
            </a:pPr>
            <a:r>
              <a:rPr lang="en-US" sz="2000" i="1" dirty="0" smtClean="0"/>
              <a:t>		N: &lt;the N</a:t>
            </a:r>
            <a:r>
              <a:rPr lang="en-US" sz="2000" i="1" baseline="30000" dirty="0" smtClean="0"/>
              <a:t>th</a:t>
            </a:r>
            <a:r>
              <a:rPr lang="en-US" sz="2000" i="1" dirty="0" smtClean="0"/>
              <a:t> satisfied number&gt;</a:t>
            </a:r>
          </a:p>
          <a:p>
            <a:pPr>
              <a:buNone/>
            </a:pPr>
            <a:r>
              <a:rPr lang="en-US" sz="2000" i="1" dirty="0" smtClean="0"/>
              <a:t>		There are N satisfied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23625</TotalTime>
  <Words>530</Words>
  <Application>Microsoft Office PowerPoint</Application>
  <PresentationFormat>On-screen Show (4:3)</PresentationFormat>
  <Paragraphs>262</Paragraphs>
  <Slides>24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Stream</vt:lpstr>
      <vt:lpstr>Control Flow Statements</vt:lpstr>
      <vt:lpstr>Contents</vt:lpstr>
      <vt:lpstr>Contents</vt:lpstr>
      <vt:lpstr>Branch statements</vt:lpstr>
      <vt:lpstr>Branch statements</vt:lpstr>
      <vt:lpstr>Branch statements</vt:lpstr>
      <vt:lpstr>Branch statements</vt:lpstr>
      <vt:lpstr>Branch statements</vt:lpstr>
      <vt:lpstr>Branch statements</vt:lpstr>
      <vt:lpstr>Branch statements</vt:lpstr>
      <vt:lpstr>Contents</vt:lpstr>
      <vt:lpstr>Loop statements</vt:lpstr>
      <vt:lpstr>Loop statements</vt:lpstr>
      <vt:lpstr>Loop statements</vt:lpstr>
      <vt:lpstr>Loop statements</vt:lpstr>
      <vt:lpstr>Loop statements</vt:lpstr>
      <vt:lpstr>Loop statements</vt:lpstr>
      <vt:lpstr>Loop statements</vt:lpstr>
      <vt:lpstr>Summary</vt:lpstr>
      <vt:lpstr>Practice</vt:lpstr>
      <vt:lpstr>Practice</vt:lpstr>
      <vt:lpstr>Practice</vt:lpstr>
      <vt:lpstr>Practice</vt:lpstr>
      <vt:lpstr>Practice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1234</cp:revision>
  <dcterms:created xsi:type="dcterms:W3CDTF">2005-11-21T10:16:26Z</dcterms:created>
  <dcterms:modified xsi:type="dcterms:W3CDTF">2024-09-08T20:02:11Z</dcterms:modified>
</cp:coreProperties>
</file>