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29"/>
  </p:notesMasterIdLst>
  <p:handoutMasterIdLst>
    <p:handoutMasterId r:id="rId30"/>
  </p:handoutMasterIdLst>
  <p:sldIdLst>
    <p:sldId id="256" r:id="rId2"/>
    <p:sldId id="279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92" r:id="rId13"/>
    <p:sldId id="286" r:id="rId14"/>
    <p:sldId id="280" r:id="rId15"/>
    <p:sldId id="281" r:id="rId16"/>
    <p:sldId id="282" r:id="rId17"/>
    <p:sldId id="283" r:id="rId18"/>
    <p:sldId id="284" r:id="rId19"/>
    <p:sldId id="285" r:id="rId20"/>
    <p:sldId id="258" r:id="rId21"/>
    <p:sldId id="287" r:id="rId22"/>
    <p:sldId id="288" r:id="rId23"/>
    <p:sldId id="293" r:id="rId24"/>
    <p:sldId id="294" r:id="rId25"/>
    <p:sldId id="289" r:id="rId26"/>
    <p:sldId id="290" r:id="rId27"/>
    <p:sldId id="291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33CC33"/>
    <a:srgbClr val="FF9933"/>
    <a:srgbClr val="008000"/>
    <a:srgbClr val="FF6600"/>
    <a:srgbClr val="66CCFF"/>
    <a:srgbClr val="CC3300"/>
    <a:srgbClr val="CC6600"/>
    <a:srgbClr val="FF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241" autoAdjust="0"/>
    <p:restoredTop sz="94530" autoAdjust="0"/>
  </p:normalViewPr>
  <p:slideViewPr>
    <p:cSldViewPr>
      <p:cViewPr varScale="1">
        <p:scale>
          <a:sx n="65" d="100"/>
          <a:sy n="65" d="100"/>
        </p:scale>
        <p:origin x="-1204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28"/>
    </p:cViewPr>
  </p:sorterViewPr>
  <p:notesViewPr>
    <p:cSldViewPr>
      <p:cViewPr varScale="1">
        <p:scale>
          <a:sx n="70" d="100"/>
          <a:sy n="70" d="100"/>
        </p:scale>
        <p:origin x="-1818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9974381-B100-477C-A92F-6436D838F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49FE2AAC-7B5D-4A48-9632-25D7FB2316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 userDrawn="1"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7" name="Freeform 4"/>
              <p:cNvSpPr>
                <a:spLocks/>
              </p:cNvSpPr>
              <p:nvPr userDrawn="1"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" name="Freeform 5"/>
              <p:cNvSpPr>
                <a:spLocks/>
              </p:cNvSpPr>
              <p:nvPr userDrawn="1"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Freeform 6"/>
              <p:cNvSpPr>
                <a:spLocks/>
              </p:cNvSpPr>
              <p:nvPr userDrawn="1"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Freeform 7"/>
              <p:cNvSpPr>
                <a:spLocks/>
              </p:cNvSpPr>
              <p:nvPr userDrawn="1"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Freeform 8"/>
              <p:cNvSpPr>
                <a:spLocks/>
              </p:cNvSpPr>
              <p:nvPr userDrawn="1"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5" name="Freeform 9"/>
            <p:cNvSpPr>
              <a:spLocks/>
            </p:cNvSpPr>
            <p:nvPr userDrawn="1"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Freeform 10"/>
            <p:cNvSpPr>
              <a:spLocks/>
            </p:cNvSpPr>
            <p:nvPr userDrawn="1"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2" name="Picture 26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Line 18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AutoShape 19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29"/>
          <p:cNvSpPr>
            <a:spLocks noChangeArrowheads="1"/>
          </p:cNvSpPr>
          <p:nvPr userDrawn="1"/>
        </p:nvSpPr>
        <p:spPr bwMode="auto">
          <a:xfrm>
            <a:off x="6096000" y="3733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Inst.</a:t>
            </a:r>
            <a:r>
              <a:rPr lang="en-US" sz="2000" baseline="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Nguyễn</a:t>
            </a: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Minh </a:t>
            </a:r>
            <a:r>
              <a:rPr lang="en-US" sz="200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Huy</a:t>
            </a:r>
            <a:endParaRPr lang="en-US" sz="200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97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304800" y="1828800"/>
            <a:ext cx="8534400" cy="1676400"/>
          </a:xfrm>
        </p:spPr>
        <p:txBody>
          <a:bodyPr anchor="b"/>
          <a:lstStyle>
            <a:lvl1pPr>
              <a:defRPr sz="5000" b="1">
                <a:solidFill>
                  <a:srgbClr val="FF66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8B7D4-80C2-4EA6-9173-2F584D3BE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BC579-D393-41E7-AEB3-0C29AC67CF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181600"/>
          </a:xfrm>
        </p:spPr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pic>
        <p:nvPicPr>
          <p:cNvPr id="7" name="Picture 4" descr="clipboard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189788" y="4419600"/>
            <a:ext cx="1725612" cy="1905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754813" y="4176713"/>
            <a:ext cx="2160587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marL="365760" indent="0">
              <a:buNone/>
              <a:defRPr sz="2000"/>
            </a:lvl2pPr>
            <a:lvl3pPr marL="914400">
              <a:defRPr sz="2000"/>
            </a:lvl3pPr>
            <a:lvl4pPr marL="1371600">
              <a:defRPr sz="1600"/>
            </a:lvl4pPr>
            <a:lvl5pPr marL="1828800">
              <a:defRPr sz="1400"/>
            </a:lvl5pPr>
          </a:lstStyle>
          <a:p>
            <a:pPr lvl="0"/>
            <a:r>
              <a:rPr lang="vi-VN" dirty="0" smtClean="0"/>
              <a:t>Practice: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4770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6610ADB-B7BD-4F03-9DC2-948229E6A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38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994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994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4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4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4800" y="0"/>
            <a:ext cx="861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995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477000"/>
            <a:ext cx="6324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/>
          </a:p>
        </p:txBody>
      </p:sp>
      <p:sp>
        <p:nvSpPr>
          <p:cNvPr id="3995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610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Second level</a:t>
            </a:r>
          </a:p>
          <a:p>
            <a:pPr lvl="3"/>
            <a:r>
              <a:rPr lang="en-US" dirty="0" smtClean="0"/>
              <a:t>Third level</a:t>
            </a:r>
          </a:p>
          <a:p>
            <a:pPr lvl="4"/>
            <a:r>
              <a:rPr lang="en-US" dirty="0" smtClean="0"/>
              <a:t>Fourth level</a:t>
            </a:r>
          </a:p>
        </p:txBody>
      </p:sp>
      <p:sp>
        <p:nvSpPr>
          <p:cNvPr id="39952" name="Line 16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032" name="Group 20"/>
          <p:cNvGrpSpPr>
            <a:grpSpLocks/>
          </p:cNvGrpSpPr>
          <p:nvPr userDrawn="1"/>
        </p:nvGrpSpPr>
        <p:grpSpPr bwMode="auto"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39953" name="AutoShape 17"/>
            <p:cNvSpPr>
              <a:spLocks noChangeArrowheads="1"/>
            </p:cNvSpPr>
            <p:nvPr userDrawn="1"/>
          </p:nvSpPr>
          <p:spPr bwMode="auto">
            <a:xfrm>
              <a:off x="5088" y="144"/>
              <a:ext cx="288" cy="336"/>
            </a:xfrm>
            <a:prstGeom prst="flowChartAlternateProcess">
              <a:avLst/>
            </a:prstGeom>
            <a:noFill/>
            <a:ln w="2857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4" name="AutoShape 18"/>
            <p:cNvSpPr>
              <a:spLocks noChangeArrowheads="1"/>
            </p:cNvSpPr>
            <p:nvPr userDrawn="1"/>
          </p:nvSpPr>
          <p:spPr bwMode="auto">
            <a:xfrm>
              <a:off x="5185" y="48"/>
              <a:ext cx="385" cy="336"/>
            </a:xfrm>
            <a:prstGeom prst="flowChartAlternateProcess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5" name="AutoShape 19"/>
            <p:cNvSpPr>
              <a:spLocks noChangeArrowheads="1"/>
            </p:cNvSpPr>
            <p:nvPr userDrawn="1"/>
          </p:nvSpPr>
          <p:spPr bwMode="auto">
            <a:xfrm>
              <a:off x="5232" y="192"/>
              <a:ext cx="384" cy="336"/>
            </a:xfrm>
            <a:prstGeom prst="flowChartAlternateProcess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57" name="Line 21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958" name="AutoShape 22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2" r:id="rId3"/>
    <p:sldLayoutId id="2147483731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Ø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 smtClean="0"/>
              <a:t>Array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8B7D4-80C2-4EA6-9173-2F584D3BE0E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Array 1-D.</a:t>
            </a:r>
          </a:p>
          <a:p>
            <a:r>
              <a:rPr lang="en-US" dirty="0" smtClean="0"/>
              <a:t>Array 2-D.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1-D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a program:</a:t>
            </a:r>
          </a:p>
          <a:p>
            <a:pPr lvl="1"/>
            <a:r>
              <a:rPr lang="en-US" dirty="0" smtClean="0"/>
              <a:t>Enter 5 integers, then print them out.</a:t>
            </a:r>
          </a:p>
          <a:p>
            <a:pPr lvl="2"/>
            <a:r>
              <a:rPr lang="en-US" dirty="0" smtClean="0"/>
              <a:t>Declare 5 </a:t>
            </a:r>
            <a:r>
              <a:rPr lang="en-US" dirty="0" err="1" smtClean="0"/>
              <a:t>ints</a:t>
            </a:r>
            <a:r>
              <a:rPr lang="en-US" dirty="0" smtClean="0"/>
              <a:t>  a1, a2, a3, a4, a5.</a:t>
            </a:r>
          </a:p>
          <a:p>
            <a:pPr lvl="1"/>
            <a:r>
              <a:rPr lang="en-US" dirty="0" smtClean="0"/>
              <a:t>Enter 50 integers, then print them out.</a:t>
            </a:r>
          </a:p>
          <a:p>
            <a:pPr lvl="2"/>
            <a:r>
              <a:rPr lang="en-US" dirty="0" smtClean="0"/>
              <a:t>Declare 50 </a:t>
            </a:r>
            <a:r>
              <a:rPr lang="en-US" dirty="0" err="1" smtClean="0"/>
              <a:t>ints</a:t>
            </a:r>
            <a:r>
              <a:rPr lang="en-US" dirty="0" smtClean="0"/>
              <a:t>!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 How to declare many variables at once?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 Use array.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1-D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 concepts:</a:t>
            </a:r>
          </a:p>
          <a:p>
            <a:pPr lvl="1"/>
            <a:r>
              <a:rPr lang="en-US" dirty="0" smtClean="0"/>
              <a:t>A sequence of contiguous variables of the same type.</a:t>
            </a:r>
          </a:p>
          <a:p>
            <a:pPr lvl="1"/>
            <a:r>
              <a:rPr lang="en-US" dirty="0" smtClean="0"/>
              <a:t>Each variable in array called array element.</a:t>
            </a:r>
          </a:p>
          <a:p>
            <a:pPr lvl="1"/>
            <a:r>
              <a:rPr lang="en-US" dirty="0" smtClean="0"/>
              <a:t>Declaration:</a:t>
            </a:r>
          </a:p>
          <a:p>
            <a:pPr lvl="2">
              <a:buNone/>
            </a:pPr>
            <a:r>
              <a:rPr lang="en-US" dirty="0" smtClean="0"/>
              <a:t>&lt;data type&gt;  </a:t>
            </a:r>
            <a:r>
              <a:rPr lang="en-US" b="1" dirty="0" smtClean="0">
                <a:solidFill>
                  <a:srgbClr val="FFC000"/>
                </a:solidFill>
              </a:rPr>
              <a:t>&lt;array name&gt;[ </a:t>
            </a:r>
            <a:r>
              <a:rPr lang="en-US" dirty="0" smtClean="0"/>
              <a:t>&lt;array length&gt; </a:t>
            </a:r>
            <a:r>
              <a:rPr lang="en-US" b="1" dirty="0" smtClean="0">
                <a:solidFill>
                  <a:srgbClr val="FFC000"/>
                </a:solidFill>
              </a:rPr>
              <a:t>]</a:t>
            </a:r>
            <a:r>
              <a:rPr lang="en-US" dirty="0" smtClean="0"/>
              <a:t>;</a:t>
            </a:r>
          </a:p>
          <a:p>
            <a:pPr lvl="2">
              <a:buNone/>
            </a:pPr>
            <a:r>
              <a:rPr lang="en-US" dirty="0" smtClean="0"/>
              <a:t>&lt;array length&gt;: number of elements, must be constant.</a:t>
            </a:r>
          </a:p>
          <a:p>
            <a:pPr lvl="2"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    </a:t>
            </a:r>
            <a:r>
              <a:rPr lang="en-US" sz="1800" b="1" dirty="0" smtClean="0">
                <a:solidFill>
                  <a:srgbClr val="FFC000"/>
                </a:solidFill>
              </a:rPr>
              <a:t>m1[ 10 ]</a:t>
            </a:r>
            <a:r>
              <a:rPr lang="en-US" sz="1800" dirty="0" smtClean="0"/>
              <a:t>;	// Array of 10 integers.</a:t>
            </a:r>
            <a:br>
              <a:rPr lang="en-US" sz="1800" dirty="0" smtClean="0"/>
            </a:br>
            <a:r>
              <a:rPr lang="en-US" sz="1800" dirty="0" smtClean="0"/>
              <a:t>float  </a:t>
            </a:r>
            <a:r>
              <a:rPr lang="en-US" sz="1800" b="1" dirty="0" smtClean="0">
                <a:solidFill>
                  <a:srgbClr val="FFC000"/>
                </a:solidFill>
              </a:rPr>
              <a:t>m2[ 50 ]</a:t>
            </a:r>
            <a:r>
              <a:rPr lang="en-US" sz="1800" dirty="0" smtClean="0"/>
              <a:t>;	// Array of 50 floats.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   N;</a:t>
            </a:r>
            <a:br>
              <a:rPr lang="en-US" sz="1800" dirty="0" smtClean="0"/>
            </a:br>
            <a:r>
              <a:rPr lang="en-US" sz="1800" dirty="0" smtClean="0"/>
              <a:t>float  </a:t>
            </a:r>
            <a:r>
              <a:rPr lang="en-US" sz="1800" b="1" dirty="0" smtClean="0">
                <a:solidFill>
                  <a:srgbClr val="FFC000"/>
                </a:solidFill>
              </a:rPr>
              <a:t>m3[ N ]</a:t>
            </a:r>
            <a:r>
              <a:rPr lang="en-US" sz="1800" dirty="0" smtClean="0"/>
              <a:t>;	// Wrong.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const </a:t>
            </a:r>
            <a:r>
              <a:rPr lang="en-US" sz="1800" dirty="0" err="1" smtClean="0"/>
              <a:t>int</a:t>
            </a:r>
            <a:r>
              <a:rPr lang="en-US" sz="1800" dirty="0" smtClean="0"/>
              <a:t> K = 100;</a:t>
            </a:r>
            <a:br>
              <a:rPr lang="en-US" sz="1800" dirty="0" smtClean="0"/>
            </a:br>
            <a:r>
              <a:rPr lang="en-US" sz="1800" dirty="0" smtClean="0"/>
              <a:t>float  </a:t>
            </a:r>
            <a:r>
              <a:rPr lang="en-US" sz="1800" b="1" dirty="0" smtClean="0">
                <a:solidFill>
                  <a:srgbClr val="FFC000"/>
                </a:solidFill>
              </a:rPr>
              <a:t>m4[ K ]</a:t>
            </a:r>
            <a:r>
              <a:rPr lang="en-US" sz="1800" dirty="0" smtClean="0"/>
              <a:t>;	// Array of 100 floats.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1-D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 concepts:</a:t>
            </a:r>
          </a:p>
          <a:p>
            <a:pPr lvl="1"/>
            <a:r>
              <a:rPr lang="en-US" dirty="0" smtClean="0"/>
              <a:t>Uninitialized array has random element values.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Initialization:</a:t>
            </a:r>
          </a:p>
          <a:p>
            <a:pPr>
              <a:buNone/>
            </a:pPr>
            <a:r>
              <a:rPr lang="en-US" sz="1800" dirty="0" smtClean="0"/>
              <a:t>&lt;data type&gt;  </a:t>
            </a:r>
            <a:r>
              <a:rPr lang="en-US" sz="1800" b="1" dirty="0" smtClean="0">
                <a:solidFill>
                  <a:srgbClr val="FFC000"/>
                </a:solidFill>
              </a:rPr>
              <a:t>&lt;array name&gt;[</a:t>
            </a:r>
            <a:r>
              <a:rPr lang="en-US" sz="1800" dirty="0" smtClean="0"/>
              <a:t>&lt;array length&gt;</a:t>
            </a:r>
            <a:r>
              <a:rPr lang="en-US" sz="1800" b="1" dirty="0" smtClean="0">
                <a:solidFill>
                  <a:srgbClr val="FFC000"/>
                </a:solidFill>
              </a:rPr>
              <a:t>]</a:t>
            </a:r>
            <a:r>
              <a:rPr lang="en-US" sz="1800" dirty="0" smtClean="0"/>
              <a:t> = { </a:t>
            </a:r>
            <a:r>
              <a:rPr lang="en-US" sz="1800" b="1" dirty="0" smtClean="0">
                <a:solidFill>
                  <a:srgbClr val="FFC000"/>
                </a:solidFill>
              </a:rPr>
              <a:t>&lt;value 1&gt;</a:t>
            </a:r>
            <a:r>
              <a:rPr lang="en-US" sz="1800" dirty="0" smtClean="0"/>
              <a:t>, </a:t>
            </a:r>
            <a:r>
              <a:rPr lang="en-US" sz="1800" b="1" dirty="0" smtClean="0">
                <a:solidFill>
                  <a:srgbClr val="FFC000"/>
                </a:solidFill>
              </a:rPr>
              <a:t>&lt;value 2&gt;</a:t>
            </a:r>
            <a:r>
              <a:rPr lang="en-US" sz="1800" dirty="0" smtClean="0"/>
              <a:t>, … 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3886200" y="2209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4267200" y="2209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4648200" y="2209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5029200" y="2209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5410200" y="2209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05000" y="2209800"/>
            <a:ext cx="1981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m[ 5 ]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;     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304800" y="3505200"/>
            <a:ext cx="8763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m1[5]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{ 1, 2, 3, 4, 5 };   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m1                                     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// Initialize all elements.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3886200" y="3505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4267200" y="3505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4648200" y="3505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3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9" name="AutoShape 9"/>
          <p:cNvSpPr>
            <a:spLocks noChangeArrowheads="1"/>
          </p:cNvSpPr>
          <p:nvPr/>
        </p:nvSpPr>
        <p:spPr bwMode="auto">
          <a:xfrm>
            <a:off x="5029200" y="3505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4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0" name="AutoShape 9"/>
          <p:cNvSpPr>
            <a:spLocks noChangeArrowheads="1"/>
          </p:cNvSpPr>
          <p:nvPr/>
        </p:nvSpPr>
        <p:spPr bwMode="auto">
          <a:xfrm>
            <a:off x="5410200" y="3505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304800" y="4191000"/>
            <a:ext cx="8763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m2[5]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{ 1, 2 };               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m2                                     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// Initialize some elements.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					    // remain elements = 0</a:t>
            </a:r>
          </a:p>
        </p:txBody>
      </p:sp>
      <p:sp>
        <p:nvSpPr>
          <p:cNvPr id="34" name="AutoShape 9"/>
          <p:cNvSpPr>
            <a:spLocks noChangeArrowheads="1"/>
          </p:cNvSpPr>
          <p:nvPr/>
        </p:nvSpPr>
        <p:spPr bwMode="auto">
          <a:xfrm>
            <a:off x="3886200" y="4191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5" name="AutoShape 9"/>
          <p:cNvSpPr>
            <a:spLocks noChangeArrowheads="1"/>
          </p:cNvSpPr>
          <p:nvPr/>
        </p:nvSpPr>
        <p:spPr bwMode="auto">
          <a:xfrm>
            <a:off x="4267200" y="4191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6" name="AutoShape 9"/>
          <p:cNvSpPr>
            <a:spLocks noChangeArrowheads="1"/>
          </p:cNvSpPr>
          <p:nvPr/>
        </p:nvSpPr>
        <p:spPr bwMode="auto">
          <a:xfrm>
            <a:off x="4648200" y="4191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7" name="AutoShape 9"/>
          <p:cNvSpPr>
            <a:spLocks noChangeArrowheads="1"/>
          </p:cNvSpPr>
          <p:nvPr/>
        </p:nvSpPr>
        <p:spPr bwMode="auto">
          <a:xfrm>
            <a:off x="5029200" y="4191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8" name="AutoShape 9"/>
          <p:cNvSpPr>
            <a:spLocks noChangeArrowheads="1"/>
          </p:cNvSpPr>
          <p:nvPr/>
        </p:nvSpPr>
        <p:spPr bwMode="auto">
          <a:xfrm>
            <a:off x="5410200" y="4191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304800" y="4876800"/>
            <a:ext cx="8763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m3[5]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{ 0 };                   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m3                                     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// Initialize all elements = 0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" name="AutoShape 9"/>
          <p:cNvSpPr>
            <a:spLocks noChangeArrowheads="1"/>
          </p:cNvSpPr>
          <p:nvPr/>
        </p:nvSpPr>
        <p:spPr bwMode="auto">
          <a:xfrm>
            <a:off x="38862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1" name="AutoShape 9"/>
          <p:cNvSpPr>
            <a:spLocks noChangeArrowheads="1"/>
          </p:cNvSpPr>
          <p:nvPr/>
        </p:nvSpPr>
        <p:spPr bwMode="auto">
          <a:xfrm>
            <a:off x="42672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2" name="AutoShape 9"/>
          <p:cNvSpPr>
            <a:spLocks noChangeArrowheads="1"/>
          </p:cNvSpPr>
          <p:nvPr/>
        </p:nvSpPr>
        <p:spPr bwMode="auto">
          <a:xfrm>
            <a:off x="46482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3" name="AutoShape 9"/>
          <p:cNvSpPr>
            <a:spLocks noChangeArrowheads="1"/>
          </p:cNvSpPr>
          <p:nvPr/>
        </p:nvSpPr>
        <p:spPr bwMode="auto">
          <a:xfrm>
            <a:off x="50292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4" name="AutoShape 9"/>
          <p:cNvSpPr>
            <a:spLocks noChangeArrowheads="1"/>
          </p:cNvSpPr>
          <p:nvPr/>
        </p:nvSpPr>
        <p:spPr bwMode="auto">
          <a:xfrm>
            <a:off x="54102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304800" y="5562600"/>
            <a:ext cx="8763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m4[  ]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{ 1, 2, 3, 4, 5 };   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m3                                     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// Initialize with auto length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6" name="AutoShape 9"/>
          <p:cNvSpPr>
            <a:spLocks noChangeArrowheads="1"/>
          </p:cNvSpPr>
          <p:nvPr/>
        </p:nvSpPr>
        <p:spPr bwMode="auto">
          <a:xfrm>
            <a:off x="3886200" y="5562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7" name="AutoShape 9"/>
          <p:cNvSpPr>
            <a:spLocks noChangeArrowheads="1"/>
          </p:cNvSpPr>
          <p:nvPr/>
        </p:nvSpPr>
        <p:spPr bwMode="auto">
          <a:xfrm>
            <a:off x="4267200" y="5562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8" name="AutoShape 9"/>
          <p:cNvSpPr>
            <a:spLocks noChangeArrowheads="1"/>
          </p:cNvSpPr>
          <p:nvPr/>
        </p:nvSpPr>
        <p:spPr bwMode="auto">
          <a:xfrm>
            <a:off x="4648200" y="5562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3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9" name="AutoShape 9"/>
          <p:cNvSpPr>
            <a:spLocks noChangeArrowheads="1"/>
          </p:cNvSpPr>
          <p:nvPr/>
        </p:nvSpPr>
        <p:spPr bwMode="auto">
          <a:xfrm>
            <a:off x="5029200" y="5562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4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0" name="AutoShape 9"/>
          <p:cNvSpPr>
            <a:spLocks noChangeArrowheads="1"/>
          </p:cNvSpPr>
          <p:nvPr/>
        </p:nvSpPr>
        <p:spPr bwMode="auto">
          <a:xfrm>
            <a:off x="5410200" y="5562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</a:t>
            </a:r>
            <a:endParaRPr lang="en-US" sz="1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/>
      <p:bldP spid="40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1-D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 concepts:</a:t>
            </a:r>
          </a:p>
          <a:p>
            <a:pPr lvl="1"/>
            <a:r>
              <a:rPr lang="en-US" dirty="0" smtClean="0"/>
              <a:t>Accessing element:</a:t>
            </a:r>
          </a:p>
          <a:p>
            <a:pPr lvl="2">
              <a:buNone/>
            </a:pPr>
            <a:r>
              <a:rPr lang="en-US" dirty="0" smtClean="0"/>
              <a:t>&lt;array name&gt; </a:t>
            </a:r>
            <a:r>
              <a:rPr lang="en-US" b="1" dirty="0" smtClean="0">
                <a:solidFill>
                  <a:srgbClr val="FFC000"/>
                </a:solidFill>
              </a:rPr>
              <a:t>[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&lt;index&gt;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]</a:t>
            </a:r>
          </a:p>
          <a:p>
            <a:pPr lvl="2">
              <a:buNone/>
            </a:pPr>
            <a:r>
              <a:rPr lang="en-US" dirty="0" smtClean="0"/>
              <a:t>&lt;index&gt;: integer in range </a:t>
            </a:r>
            <a:r>
              <a:rPr lang="en-US" b="1" dirty="0" smtClean="0">
                <a:solidFill>
                  <a:srgbClr val="FFC000"/>
                </a:solidFill>
              </a:rPr>
              <a:t>[ 0.. &lt;array length&gt; - 1 ]</a:t>
            </a:r>
            <a:r>
              <a:rPr lang="en-US" dirty="0" smtClean="0"/>
              <a:t>.</a:t>
            </a:r>
          </a:p>
          <a:p>
            <a:pPr lvl="3">
              <a:buNone/>
            </a:pPr>
            <a:endParaRPr lang="en-US" sz="1800" dirty="0" smtClean="0"/>
          </a:p>
          <a:p>
            <a:pPr lvl="3">
              <a:buNone/>
            </a:pPr>
            <a:endParaRPr lang="en-US" sz="1800" dirty="0" smtClean="0"/>
          </a:p>
          <a:p>
            <a:pPr lvl="3">
              <a:buNone/>
            </a:pPr>
            <a:endParaRPr lang="en-US" sz="1800" dirty="0" smtClean="0"/>
          </a:p>
          <a:p>
            <a:pPr lvl="3">
              <a:buNone/>
            </a:pPr>
            <a:r>
              <a:rPr lang="en-US" sz="1800" dirty="0" smtClean="0"/>
              <a:t>a</a:t>
            </a:r>
            <a:r>
              <a:rPr lang="en-US" sz="1800" b="1" dirty="0" smtClean="0">
                <a:solidFill>
                  <a:srgbClr val="FFC000"/>
                </a:solidFill>
              </a:rPr>
              <a:t>[ 0 ]</a:t>
            </a:r>
            <a:r>
              <a:rPr lang="en-US" sz="1800" dirty="0" smtClean="0"/>
              <a:t> = 5;</a:t>
            </a:r>
          </a:p>
          <a:p>
            <a:pPr lvl="3">
              <a:buNone/>
            </a:pPr>
            <a:r>
              <a:rPr lang="en-US" sz="1800" dirty="0" smtClean="0"/>
              <a:t>a</a:t>
            </a:r>
            <a:r>
              <a:rPr lang="en-US" sz="1800" b="1" dirty="0" smtClean="0">
                <a:solidFill>
                  <a:srgbClr val="FFC000"/>
                </a:solidFill>
              </a:rPr>
              <a:t>[ 1 ]</a:t>
            </a:r>
            <a:r>
              <a:rPr lang="en-US" sz="1800" dirty="0" smtClean="0"/>
              <a:t> = 6;</a:t>
            </a:r>
          </a:p>
          <a:p>
            <a:pPr lvl="3">
              <a:buNone/>
            </a:pPr>
            <a:r>
              <a:rPr lang="en-US" sz="1800" dirty="0" smtClean="0"/>
              <a:t>a</a:t>
            </a:r>
            <a:r>
              <a:rPr lang="en-US" sz="1800" b="1" dirty="0" smtClean="0">
                <a:solidFill>
                  <a:srgbClr val="FFC000"/>
                </a:solidFill>
              </a:rPr>
              <a:t>[ 2 ]</a:t>
            </a:r>
            <a:r>
              <a:rPr lang="en-US" sz="1800" dirty="0" smtClean="0"/>
              <a:t> = a[ 0 ] + a[ 1 ];</a:t>
            </a:r>
          </a:p>
          <a:p>
            <a:pPr lvl="3">
              <a:buNone/>
            </a:pPr>
            <a:endParaRPr lang="en-US" sz="1800" dirty="0" smtClean="0"/>
          </a:p>
          <a:p>
            <a:pPr lvl="3">
              <a:buNone/>
            </a:pPr>
            <a:r>
              <a:rPr lang="en-US" sz="1800" dirty="0" smtClean="0"/>
              <a:t>a</a:t>
            </a:r>
            <a:r>
              <a:rPr lang="en-US" sz="1800" b="1" dirty="0" smtClean="0">
                <a:solidFill>
                  <a:srgbClr val="FFC000"/>
                </a:solidFill>
              </a:rPr>
              <a:t>[ -1 ]</a:t>
            </a:r>
            <a:r>
              <a:rPr lang="en-US" sz="1800" dirty="0" smtClean="0"/>
              <a:t> = 7;		// Wrong.</a:t>
            </a:r>
          </a:p>
          <a:p>
            <a:pPr lvl="3">
              <a:buNone/>
            </a:pPr>
            <a:r>
              <a:rPr lang="en-US" sz="1800" dirty="0" smtClean="0"/>
              <a:t>a</a:t>
            </a:r>
            <a:r>
              <a:rPr lang="en-US" sz="1800" b="1" dirty="0" smtClean="0">
                <a:solidFill>
                  <a:srgbClr val="FFC000"/>
                </a:solidFill>
              </a:rPr>
              <a:t>[ 10 ]</a:t>
            </a:r>
            <a:r>
              <a:rPr lang="en-US" sz="1800" dirty="0" smtClean="0"/>
              <a:t> = 8;		// Wrong.</a:t>
            </a:r>
          </a:p>
          <a:p>
            <a:pPr lvl="3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4267200" y="3200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4648200" y="3200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5029200" y="3200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5410200" y="3200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5791200" y="3200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676400" y="3200400"/>
            <a:ext cx="2590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a[ 10 ]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{ 0 };     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4319650" y="2895600"/>
            <a:ext cx="37575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0    1    2    3    4    5    6    7    8    9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6172200" y="3200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AutoShape 9"/>
          <p:cNvSpPr>
            <a:spLocks noChangeArrowheads="1"/>
          </p:cNvSpPr>
          <p:nvPr/>
        </p:nvSpPr>
        <p:spPr bwMode="auto">
          <a:xfrm>
            <a:off x="6553200" y="3200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6934200" y="3200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7315200" y="3200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7696200" y="3200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1-D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 concepts:</a:t>
            </a:r>
          </a:p>
          <a:p>
            <a:pPr lvl="1"/>
            <a:r>
              <a:rPr lang="en-US" dirty="0" smtClean="0"/>
              <a:t>Passed as argument:</a:t>
            </a:r>
          </a:p>
          <a:p>
            <a:pPr lvl="2"/>
            <a:r>
              <a:rPr lang="en-US" dirty="0" smtClean="0"/>
              <a:t>Method 1: void </a:t>
            </a:r>
            <a:r>
              <a:rPr lang="en-US" dirty="0" err="1" smtClean="0"/>
              <a:t>foo</a:t>
            </a:r>
            <a:r>
              <a:rPr lang="en-US" dirty="0" smtClean="0"/>
              <a:t>( </a:t>
            </a:r>
            <a:r>
              <a:rPr lang="en-US" b="1" dirty="0" err="1" smtClean="0">
                <a:solidFill>
                  <a:srgbClr val="FFC000"/>
                </a:solidFill>
              </a:rPr>
              <a:t>int</a:t>
            </a:r>
            <a:r>
              <a:rPr lang="en-US" b="1" dirty="0" smtClean="0">
                <a:solidFill>
                  <a:srgbClr val="FFC000"/>
                </a:solidFill>
              </a:rPr>
              <a:t>  a[ 100 ], </a:t>
            </a:r>
            <a:r>
              <a:rPr lang="en-US" b="1" dirty="0" err="1" smtClean="0">
                <a:solidFill>
                  <a:srgbClr val="FFC000"/>
                </a:solidFill>
              </a:rPr>
              <a:t>int</a:t>
            </a:r>
            <a:r>
              <a:rPr lang="en-US" b="1" dirty="0" smtClean="0">
                <a:solidFill>
                  <a:srgbClr val="FFC000"/>
                </a:solidFill>
              </a:rPr>
              <a:t> size</a:t>
            </a:r>
            <a:r>
              <a:rPr lang="en-US" dirty="0" smtClean="0"/>
              <a:t> );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Static array, accept only array of 100 elements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Method 2: void </a:t>
            </a:r>
            <a:r>
              <a:rPr lang="en-US" dirty="0" err="1" smtClean="0"/>
              <a:t>foo</a:t>
            </a:r>
            <a:r>
              <a:rPr lang="en-US" dirty="0" smtClean="0"/>
              <a:t>( </a:t>
            </a:r>
            <a:r>
              <a:rPr lang="en-US" b="1" dirty="0" err="1" smtClean="0">
                <a:solidFill>
                  <a:srgbClr val="FFC000"/>
                </a:solidFill>
              </a:rPr>
              <a:t>int</a:t>
            </a:r>
            <a:r>
              <a:rPr lang="en-US" b="1" dirty="0" smtClean="0">
                <a:solidFill>
                  <a:srgbClr val="FFC000"/>
                </a:solidFill>
              </a:rPr>
              <a:t>  a[ ], </a:t>
            </a:r>
            <a:r>
              <a:rPr lang="en-US" b="1" dirty="0" err="1" smtClean="0">
                <a:solidFill>
                  <a:srgbClr val="FFC000"/>
                </a:solidFill>
              </a:rPr>
              <a:t>int</a:t>
            </a:r>
            <a:r>
              <a:rPr lang="en-US" b="1" dirty="0" smtClean="0">
                <a:solidFill>
                  <a:srgbClr val="FFC000"/>
                </a:solidFill>
              </a:rPr>
              <a:t> size</a:t>
            </a:r>
            <a:r>
              <a:rPr lang="en-US" dirty="0" smtClean="0"/>
              <a:t> );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Dynamic array, accept array of any length</a:t>
            </a:r>
            <a:r>
              <a:rPr lang="en-US" dirty="0" smtClean="0"/>
              <a:t>. </a:t>
            </a:r>
          </a:p>
          <a:p>
            <a:pPr lvl="2"/>
            <a:r>
              <a:rPr lang="en-US" dirty="0" smtClean="0"/>
              <a:t>Array elements can be CHANGED.</a:t>
            </a:r>
          </a:p>
          <a:p>
            <a:pPr>
              <a:buNone/>
            </a:pPr>
            <a:r>
              <a:rPr lang="en-US" sz="1800" dirty="0" smtClean="0"/>
              <a:t>	void </a:t>
            </a:r>
            <a:r>
              <a:rPr lang="en-US" sz="1800" dirty="0" err="1" smtClean="0"/>
              <a:t>foo</a:t>
            </a:r>
            <a:r>
              <a:rPr lang="en-US" sz="1800" dirty="0" smtClean="0"/>
              <a:t>( </a:t>
            </a:r>
            <a:r>
              <a:rPr lang="en-US" sz="1800" b="1" dirty="0" err="1" smtClean="0">
                <a:solidFill>
                  <a:srgbClr val="FFC000"/>
                </a:solidFill>
              </a:rPr>
              <a:t>int</a:t>
            </a:r>
            <a:r>
              <a:rPr lang="en-US" sz="1800" b="1" dirty="0" smtClean="0">
                <a:solidFill>
                  <a:srgbClr val="FFC000"/>
                </a:solidFill>
              </a:rPr>
              <a:t> a[ ], </a:t>
            </a:r>
            <a:r>
              <a:rPr lang="en-US" sz="1800" b="1" dirty="0" err="1" smtClean="0">
                <a:solidFill>
                  <a:srgbClr val="FFC000"/>
                </a:solidFill>
              </a:rPr>
              <a:t>int</a:t>
            </a:r>
            <a:r>
              <a:rPr lang="en-US" sz="1800" b="1" dirty="0" smtClean="0">
                <a:solidFill>
                  <a:srgbClr val="FFC000"/>
                </a:solidFill>
              </a:rPr>
              <a:t> size</a:t>
            </a:r>
            <a:r>
              <a:rPr lang="en-US" sz="1800" dirty="0" smtClean="0"/>
              <a:t> 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a[ 2 ] = 9;</a:t>
            </a:r>
            <a:br>
              <a:rPr lang="en-US" sz="1800" dirty="0" smtClean="0"/>
            </a:br>
            <a:r>
              <a:rPr lang="en-US" sz="1800" dirty="0" smtClean="0"/>
              <a:t>	a[ 5 ] = 8;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029200" y="3962400"/>
            <a:ext cx="35814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main()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a[ 100 ] = { 0 };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b[ 200 ] = { 0 };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foo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 a, 50 );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foo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 b, 70 );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// a[2], a[5] changed.</a:t>
            </a:r>
            <a:b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	// b[2], b[5] changed. </a:t>
            </a:r>
            <a:b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endParaRPr lang="en-US" sz="1800" i="1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1-D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Operations:</a:t>
            </a:r>
          </a:p>
          <a:p>
            <a:pPr lvl="1"/>
            <a:r>
              <a:rPr lang="en-US" dirty="0" smtClean="0"/>
              <a:t>Step 1: Iterate through elements.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Use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loop</a:t>
            </a:r>
            <a:r>
              <a:rPr lang="en-US" dirty="0" smtClean="0">
                <a:sym typeface="Wingdings" pitchFamily="2" charset="2"/>
              </a:rPr>
              <a:t> +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counter</a:t>
            </a:r>
            <a:r>
              <a:rPr lang="en-US" dirty="0" smtClean="0">
                <a:sym typeface="Wingdings" pitchFamily="2" charset="2"/>
              </a:rPr>
              <a:t>.</a:t>
            </a:r>
          </a:p>
          <a:p>
            <a:pPr lvl="1"/>
            <a:r>
              <a:rPr lang="en-US" dirty="0" smtClean="0"/>
              <a:t>Step 2: Access element by indexing.</a:t>
            </a:r>
          </a:p>
          <a:p>
            <a:pPr lvl="1"/>
            <a:endParaRPr lang="en-US" dirty="0" smtClean="0">
              <a:sym typeface="Wingdings" pitchFamily="2" charset="2"/>
            </a:endParaRPr>
          </a:p>
          <a:p>
            <a:pPr>
              <a:buNone/>
            </a:pPr>
            <a:r>
              <a:rPr lang="en-US" sz="1800" dirty="0" smtClean="0">
                <a:solidFill>
                  <a:srgbClr val="FFC000"/>
                </a:solidFill>
              </a:rPr>
              <a:t>	// Iterate array A length N.</a:t>
            </a:r>
          </a:p>
          <a:p>
            <a:pPr>
              <a:buNone/>
            </a:pPr>
            <a:r>
              <a:rPr lang="en-US" sz="1800" b="1" dirty="0" smtClean="0">
                <a:solidFill>
                  <a:srgbClr val="FFC000"/>
                </a:solidFill>
              </a:rPr>
              <a:t>	for (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dirty="0" smtClean="0"/>
              <a:t> = 0;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dirty="0" smtClean="0"/>
              <a:t> &lt; </a:t>
            </a:r>
            <a:r>
              <a:rPr lang="en-US" sz="1800" b="1" dirty="0" smtClean="0">
                <a:solidFill>
                  <a:srgbClr val="FFC000"/>
                </a:solidFill>
              </a:rPr>
              <a:t>N</a:t>
            </a:r>
            <a:r>
              <a:rPr lang="en-US" sz="1800" dirty="0" smtClean="0"/>
              <a:t>;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dirty="0" smtClean="0"/>
              <a:t>++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b="1" dirty="0" smtClean="0">
                <a:solidFill>
                  <a:srgbClr val="FFC000"/>
                </a:solidFill>
              </a:rPr>
              <a:t>{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&lt;Process element </a:t>
            </a:r>
            <a:r>
              <a:rPr lang="en-US" sz="1800" b="1" dirty="0" smtClean="0">
                <a:solidFill>
                  <a:srgbClr val="FFC000"/>
                </a:solidFill>
              </a:rPr>
              <a:t>A[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b="1" dirty="0" smtClean="0">
                <a:solidFill>
                  <a:srgbClr val="FFC000"/>
                </a:solidFill>
              </a:rPr>
              <a:t> ]</a:t>
            </a:r>
            <a:r>
              <a:rPr lang="en-US" sz="1800" dirty="0" smtClean="0"/>
              <a:t>&gt;;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1-D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Operations:</a:t>
            </a:r>
            <a:endParaRPr lang="en-US" dirty="0"/>
          </a:p>
          <a:p>
            <a:pPr>
              <a:buNone/>
            </a:pPr>
            <a:r>
              <a:rPr lang="en-US" sz="1800" dirty="0" smtClean="0">
                <a:solidFill>
                  <a:srgbClr val="FFC000"/>
                </a:solidFill>
              </a:rPr>
              <a:t>	</a:t>
            </a:r>
            <a:r>
              <a:rPr lang="en-US" sz="1800" dirty="0" smtClean="0"/>
              <a:t>void </a:t>
            </a:r>
            <a:r>
              <a:rPr lang="en-US" sz="1800" b="1" dirty="0" err="1" smtClean="0">
                <a:solidFill>
                  <a:srgbClr val="FFC000"/>
                </a:solidFill>
              </a:rPr>
              <a:t>inputArray</a:t>
            </a:r>
            <a:r>
              <a:rPr lang="en-US" sz="1800" dirty="0" smtClean="0"/>
              <a:t>( </a:t>
            </a:r>
            <a:r>
              <a:rPr lang="en-US" sz="1800" dirty="0" err="1" smtClean="0"/>
              <a:t>int</a:t>
            </a:r>
            <a:r>
              <a:rPr lang="en-US" sz="1800" dirty="0" smtClean="0"/>
              <a:t> a[ ],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&amp;n</a:t>
            </a:r>
            <a:r>
              <a:rPr lang="en-US" sz="1800" dirty="0" smtClean="0"/>
              <a:t> 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(“Number of elements = “);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scanf</a:t>
            </a:r>
            <a:r>
              <a:rPr lang="en-US" sz="1800" dirty="0" smtClean="0"/>
              <a:t>(“%d”, </a:t>
            </a:r>
            <a:r>
              <a:rPr lang="en-US" sz="1800" b="1" dirty="0" smtClean="0">
                <a:solidFill>
                  <a:srgbClr val="FFC000"/>
                </a:solidFill>
              </a:rPr>
              <a:t>&amp;n</a:t>
            </a:r>
            <a:r>
              <a:rPr lang="en-US" sz="1800" dirty="0" smtClean="0"/>
              <a:t>);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/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b="1" dirty="0" smtClean="0">
                <a:solidFill>
                  <a:srgbClr val="FFC000"/>
                </a:solidFill>
              </a:rPr>
              <a:t>	for (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= 0; </a:t>
            </a:r>
            <a:r>
              <a:rPr lang="en-US" sz="1800" dirty="0" err="1" smtClean="0"/>
              <a:t>i</a:t>
            </a:r>
            <a:r>
              <a:rPr lang="en-US" sz="1800" dirty="0" smtClean="0"/>
              <a:t> &lt; </a:t>
            </a:r>
            <a:r>
              <a:rPr lang="en-US" sz="1800" b="1" dirty="0" smtClean="0">
                <a:solidFill>
                  <a:srgbClr val="FFC000"/>
                </a:solidFill>
              </a:rPr>
              <a:t>n</a:t>
            </a:r>
            <a:r>
              <a:rPr lang="en-US" sz="1800" dirty="0" smtClean="0"/>
              <a:t>; </a:t>
            </a:r>
            <a:r>
              <a:rPr lang="en-US" sz="1800" dirty="0" err="1" smtClean="0"/>
              <a:t>i</a:t>
            </a:r>
            <a:r>
              <a:rPr lang="en-US" sz="1800" dirty="0" smtClean="0"/>
              <a:t>++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{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b="1" dirty="0" smtClean="0">
                <a:solidFill>
                  <a:srgbClr val="FFC000"/>
                </a:solidFill>
              </a:rPr>
              <a:t>	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(“Element %d = “, </a:t>
            </a:r>
            <a:r>
              <a:rPr lang="en-US" sz="1800" dirty="0" err="1" smtClean="0"/>
              <a:t>i</a:t>
            </a:r>
            <a:r>
              <a:rPr lang="en-US" sz="1800" dirty="0" smtClean="0"/>
              <a:t>);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dirty="0" err="1" smtClean="0"/>
              <a:t>scanf</a:t>
            </a:r>
            <a:r>
              <a:rPr lang="en-US" sz="1800" dirty="0" smtClean="0"/>
              <a:t>(“%d”, </a:t>
            </a:r>
            <a:r>
              <a:rPr lang="en-US" sz="1800" b="1" dirty="0" smtClean="0">
                <a:solidFill>
                  <a:srgbClr val="FFC000"/>
                </a:solidFill>
              </a:rPr>
              <a:t>&amp;a[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b="1" dirty="0" smtClean="0">
                <a:solidFill>
                  <a:srgbClr val="FFC000"/>
                </a:solidFill>
              </a:rPr>
              <a:t> ]</a:t>
            </a:r>
            <a:r>
              <a:rPr lang="en-US" sz="1800" dirty="0" smtClean="0"/>
              <a:t>);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}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dirty="0" smtClean="0"/>
              <a:t>}</a:t>
            </a:r>
          </a:p>
          <a:p>
            <a:pPr>
              <a:buNone/>
            </a:pPr>
            <a:r>
              <a:rPr lang="en-US" sz="1800" dirty="0" smtClean="0"/>
              <a:t>	void </a:t>
            </a:r>
            <a:r>
              <a:rPr lang="en-US" sz="1800" b="1" dirty="0" err="1" smtClean="0">
                <a:solidFill>
                  <a:srgbClr val="FFC000"/>
                </a:solidFill>
              </a:rPr>
              <a:t>printArray</a:t>
            </a:r>
            <a:r>
              <a:rPr lang="en-US" sz="1800" dirty="0" smtClean="0"/>
              <a:t>( </a:t>
            </a:r>
            <a:r>
              <a:rPr lang="en-US" sz="1800" dirty="0" err="1" smtClean="0"/>
              <a:t>int</a:t>
            </a:r>
            <a:r>
              <a:rPr lang="en-US" sz="1800" dirty="0" smtClean="0"/>
              <a:t> a[ ],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n</a:t>
            </a:r>
            <a:r>
              <a:rPr lang="en-US" sz="1800" dirty="0" smtClean="0"/>
              <a:t> 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	for (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= 0; </a:t>
            </a:r>
            <a:r>
              <a:rPr lang="en-US" sz="1800" dirty="0" err="1" smtClean="0"/>
              <a:t>i</a:t>
            </a:r>
            <a:r>
              <a:rPr lang="en-US" sz="1800" dirty="0" smtClean="0"/>
              <a:t> &lt; </a:t>
            </a:r>
            <a:r>
              <a:rPr lang="en-US" sz="1800" b="1" dirty="0" smtClean="0">
                <a:solidFill>
                  <a:srgbClr val="FFC000"/>
                </a:solidFill>
              </a:rPr>
              <a:t>n</a:t>
            </a:r>
            <a:r>
              <a:rPr lang="en-US" sz="1800" dirty="0" smtClean="0"/>
              <a:t>; </a:t>
            </a:r>
            <a:r>
              <a:rPr lang="en-US" sz="1800" dirty="0" err="1" smtClean="0"/>
              <a:t>i</a:t>
            </a:r>
            <a:r>
              <a:rPr lang="en-US" sz="1800" dirty="0" smtClean="0"/>
              <a:t>++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	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(“%d “, </a:t>
            </a:r>
            <a:r>
              <a:rPr lang="en-US" sz="1800" b="1" dirty="0" smtClean="0">
                <a:solidFill>
                  <a:srgbClr val="FFC000"/>
                </a:solidFill>
              </a:rPr>
              <a:t>a[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b="1" dirty="0" smtClean="0">
                <a:solidFill>
                  <a:srgbClr val="FFC000"/>
                </a:solidFill>
              </a:rPr>
              <a:t> ]</a:t>
            </a:r>
            <a:r>
              <a:rPr lang="en-US" sz="1800" dirty="0" smtClean="0"/>
              <a:t>);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410200" y="1676400"/>
            <a:ext cx="35814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b="1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#define MAX	  1000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main()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m[ MAX ], size;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inputArray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(m, size);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printArray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(m, size); </a:t>
            </a: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endParaRPr lang="en-US" sz="1800" i="1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1-D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Operations:</a:t>
            </a:r>
            <a:endParaRPr lang="en-US" dirty="0"/>
          </a:p>
          <a:p>
            <a:pPr>
              <a:buNone/>
            </a:pPr>
            <a:r>
              <a:rPr lang="en-US" sz="1800" dirty="0" smtClean="0">
                <a:solidFill>
                  <a:srgbClr val="FFC000"/>
                </a:solidFill>
              </a:rPr>
              <a:t>	// Sum of elements in a length n.</a:t>
            </a:r>
            <a:br>
              <a:rPr lang="en-US" sz="1800" dirty="0" smtClean="0">
                <a:solidFill>
                  <a:srgbClr val="FFC000"/>
                </a:solidFill>
              </a:rPr>
            </a:br>
            <a:r>
              <a:rPr lang="en-US" sz="1800" dirty="0" smtClean="0"/>
              <a:t>long </a:t>
            </a:r>
            <a:r>
              <a:rPr lang="en-US" sz="1800" b="1" dirty="0" err="1" smtClean="0">
                <a:solidFill>
                  <a:srgbClr val="FFC000"/>
                </a:solidFill>
              </a:rPr>
              <a:t>sumArray</a:t>
            </a:r>
            <a:r>
              <a:rPr lang="en-US" sz="1800" dirty="0" smtClean="0"/>
              <a:t>( </a:t>
            </a:r>
            <a:r>
              <a:rPr lang="en-US" sz="1800" dirty="0" err="1" smtClean="0"/>
              <a:t>int</a:t>
            </a:r>
            <a:r>
              <a:rPr lang="en-US" sz="1800" dirty="0" smtClean="0"/>
              <a:t> a[ ],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n</a:t>
            </a:r>
            <a:r>
              <a:rPr lang="en-US" sz="1800" dirty="0" smtClean="0"/>
              <a:t> 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long  sum = 0;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	for (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= 0; </a:t>
            </a:r>
            <a:r>
              <a:rPr lang="en-US" sz="1800" dirty="0" err="1" smtClean="0"/>
              <a:t>i</a:t>
            </a:r>
            <a:r>
              <a:rPr lang="en-US" sz="1800" dirty="0" smtClean="0"/>
              <a:t> &lt; </a:t>
            </a:r>
            <a:r>
              <a:rPr lang="en-US" sz="1800" b="1" dirty="0" smtClean="0">
                <a:solidFill>
                  <a:srgbClr val="FFC000"/>
                </a:solidFill>
              </a:rPr>
              <a:t>n</a:t>
            </a:r>
            <a:r>
              <a:rPr lang="en-US" sz="1800" dirty="0" smtClean="0"/>
              <a:t>; </a:t>
            </a:r>
            <a:r>
              <a:rPr lang="en-US" sz="1800" dirty="0" err="1" smtClean="0"/>
              <a:t>i</a:t>
            </a:r>
            <a:r>
              <a:rPr lang="en-US" sz="1800" dirty="0" smtClean="0"/>
              <a:t>++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	       </a:t>
            </a:r>
            <a:r>
              <a:rPr lang="en-US" sz="1800" dirty="0" smtClean="0"/>
              <a:t>sum += </a:t>
            </a:r>
            <a:r>
              <a:rPr lang="en-US" sz="1800" b="1" dirty="0" smtClean="0">
                <a:solidFill>
                  <a:srgbClr val="FFC000"/>
                </a:solidFill>
              </a:rPr>
              <a:t>a[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b="1" dirty="0" smtClean="0">
                <a:solidFill>
                  <a:srgbClr val="FFC000"/>
                </a:solidFill>
              </a:rPr>
              <a:t> ]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return sum;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419600" y="1676400"/>
            <a:ext cx="44958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b="1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#define MAX	  100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main()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m[ MAX ], size;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inputArray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(m, size);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long  tong =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sumArray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(m, size);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endParaRPr lang="en-US" sz="1800" i="1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1-D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Operations:</a:t>
            </a:r>
          </a:p>
          <a:p>
            <a:pPr lvl="1"/>
            <a:r>
              <a:rPr lang="en-US" dirty="0" smtClean="0"/>
              <a:t>Copy array:</a:t>
            </a:r>
          </a:p>
          <a:p>
            <a:pPr lvl="1"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 a [ MAX ] = { 1, 2, 3, 4, 5 };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b [ MAX ];</a:t>
            </a:r>
            <a:br>
              <a:rPr lang="en-US" sz="1800" dirty="0" smtClean="0"/>
            </a:br>
            <a:r>
              <a:rPr lang="en-US" sz="1800" dirty="0" smtClean="0"/>
              <a:t>b = a;			// Wrong, cannot copy by assignment!</a:t>
            </a:r>
            <a:br>
              <a:rPr lang="en-US" sz="1800" dirty="0" smtClean="0"/>
            </a:br>
            <a:r>
              <a:rPr lang="en-US" sz="1800" b="1" dirty="0" err="1" smtClean="0">
                <a:solidFill>
                  <a:srgbClr val="FFC000"/>
                </a:solidFill>
              </a:rPr>
              <a:t>copyArray</a:t>
            </a:r>
            <a:r>
              <a:rPr lang="en-US" sz="1800" dirty="0" smtClean="0"/>
              <a:t>( a, n, b );	// Write function to copy a length n to b.</a:t>
            </a:r>
          </a:p>
          <a:p>
            <a:pPr lvl="1"/>
            <a:r>
              <a:rPr lang="en-US" dirty="0" smtClean="0"/>
              <a:t>Insert element:</a:t>
            </a:r>
          </a:p>
          <a:p>
            <a:pPr lvl="1"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 a [ MAX ] = { 1, 2, 4, 5 };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x = 3;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pos = 2;		 // Array a length n, insert x at index pos.</a:t>
            </a:r>
            <a:br>
              <a:rPr lang="en-US" sz="1800" dirty="0" smtClean="0"/>
            </a:br>
            <a:r>
              <a:rPr lang="en-US" sz="1800" b="1" dirty="0" err="1" smtClean="0">
                <a:solidFill>
                  <a:srgbClr val="FFC000"/>
                </a:solidFill>
              </a:rPr>
              <a:t>insertArray</a:t>
            </a:r>
            <a:r>
              <a:rPr lang="en-US" sz="1800" dirty="0" smtClean="0"/>
              <a:t>( a, n, x, pos );  // a = { 1, 2, </a:t>
            </a:r>
            <a:r>
              <a:rPr lang="en-US" sz="1800" b="1" u="sng" dirty="0" smtClean="0">
                <a:solidFill>
                  <a:srgbClr val="FFC000"/>
                </a:solidFill>
              </a:rPr>
              <a:t>3</a:t>
            </a:r>
            <a:r>
              <a:rPr lang="en-US" sz="1800" dirty="0" smtClean="0"/>
              <a:t>, 4, 5 }</a:t>
            </a:r>
          </a:p>
          <a:p>
            <a:pPr lvl="1"/>
            <a:r>
              <a:rPr lang="en-US" dirty="0" smtClean="0"/>
              <a:t>Delete element:</a:t>
            </a:r>
          </a:p>
          <a:p>
            <a:pPr lvl="1"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 a [ MAX ] = { 1, 2, </a:t>
            </a:r>
            <a:r>
              <a:rPr lang="en-US" sz="1800" b="1" u="sng" dirty="0" smtClean="0">
                <a:solidFill>
                  <a:srgbClr val="FFC000"/>
                </a:solidFill>
              </a:rPr>
              <a:t>3</a:t>
            </a:r>
            <a:r>
              <a:rPr lang="en-US" sz="1800" dirty="0" smtClean="0"/>
              <a:t>, 4, 5 };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pos = 2;	              // Array a length n, delete element at index pos.</a:t>
            </a:r>
            <a:br>
              <a:rPr lang="en-US" sz="1800" dirty="0" smtClean="0"/>
            </a:br>
            <a:r>
              <a:rPr lang="en-US" sz="1800" b="1" dirty="0" err="1" smtClean="0">
                <a:solidFill>
                  <a:srgbClr val="FFC000"/>
                </a:solidFill>
              </a:rPr>
              <a:t>deleteArray</a:t>
            </a:r>
            <a:r>
              <a:rPr lang="en-US" sz="1800" dirty="0" smtClean="0"/>
              <a:t>( a, n, pos );    // a = { 1, 2, 4, 5 }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1-D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Array of </a:t>
            </a:r>
            <a:r>
              <a:rPr lang="en-US" dirty="0" err="1" smtClean="0"/>
              <a:t>struct</a:t>
            </a:r>
            <a:r>
              <a:rPr lang="en-US" dirty="0" smtClean="0"/>
              <a:t>: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sz="1800" b="1" dirty="0" err="1" smtClean="0">
                <a:solidFill>
                  <a:srgbClr val="FFC000"/>
                </a:solidFill>
              </a:rPr>
              <a:t>struct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Student</a:t>
            </a:r>
            <a:r>
              <a:rPr lang="en-US" sz="1800" dirty="0" smtClean="0"/>
              <a:t>  m1[ 10 ];		// Array of 10 </a:t>
            </a:r>
            <a:r>
              <a:rPr lang="en-US" sz="1800" dirty="0" err="1" smtClean="0"/>
              <a:t>struct</a:t>
            </a:r>
            <a:r>
              <a:rPr lang="en-US" sz="1800" dirty="0" smtClean="0"/>
              <a:t> Student.</a:t>
            </a:r>
          </a:p>
          <a:p>
            <a:pPr lvl="1">
              <a:buNone/>
            </a:pPr>
            <a:endParaRPr lang="en-US" sz="1800" dirty="0" smtClean="0"/>
          </a:p>
          <a:p>
            <a:pPr lvl="1">
              <a:buNone/>
            </a:pPr>
            <a:r>
              <a:rPr lang="en-US" sz="1800" dirty="0" smtClean="0">
                <a:solidFill>
                  <a:srgbClr val="FFFFFF"/>
                </a:solidFill>
                <a:ea typeface="+mn-ea"/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  <a:ea typeface="+mn-ea"/>
              </a:rPr>
              <a:t>struct</a:t>
            </a:r>
            <a:r>
              <a:rPr lang="en-US" sz="1800" b="1" dirty="0" smtClean="0">
                <a:solidFill>
                  <a:srgbClr val="FFC000"/>
                </a:solidFill>
                <a:ea typeface="+mn-ea"/>
              </a:rPr>
              <a:t> Student</a:t>
            </a:r>
            <a:r>
              <a:rPr lang="en-US" sz="1800" b="1" dirty="0" smtClean="0">
                <a:solidFill>
                  <a:srgbClr val="FFFFFF"/>
                </a:solidFill>
                <a:ea typeface="+mn-ea"/>
              </a:rPr>
              <a:t>  </a:t>
            </a:r>
            <a:r>
              <a:rPr lang="en-US" sz="1800" dirty="0" smtClean="0">
                <a:solidFill>
                  <a:srgbClr val="FFFFFF"/>
                </a:solidFill>
                <a:ea typeface="+mn-ea"/>
              </a:rPr>
              <a:t>m2[ 10 ] = { 	// Initialize some array elements.</a:t>
            </a:r>
            <a:br>
              <a:rPr lang="en-US" sz="1800" dirty="0" smtClean="0">
                <a:solidFill>
                  <a:srgbClr val="FFFFFF"/>
                </a:solidFill>
                <a:ea typeface="+mn-ea"/>
              </a:rPr>
            </a:br>
            <a:r>
              <a:rPr lang="en-US" sz="1800" dirty="0" smtClean="0">
                <a:solidFill>
                  <a:srgbClr val="FFFFFF"/>
                </a:solidFill>
                <a:ea typeface="+mn-ea"/>
              </a:rPr>
              <a:t>     { “24127001“, “minh”, 8.5, 9.0 },</a:t>
            </a:r>
            <a:br>
              <a:rPr lang="en-US" sz="1800" dirty="0" smtClean="0">
                <a:solidFill>
                  <a:srgbClr val="FFFFFF"/>
                </a:solidFill>
                <a:ea typeface="+mn-ea"/>
              </a:rPr>
            </a:br>
            <a:r>
              <a:rPr lang="en-US" sz="1800" dirty="0" smtClean="0">
                <a:solidFill>
                  <a:srgbClr val="FFFFFF"/>
                </a:solidFill>
                <a:ea typeface="+mn-ea"/>
              </a:rPr>
              <a:t>     { .name = “</a:t>
            </a:r>
            <a:r>
              <a:rPr lang="en-US" sz="1800" dirty="0" err="1" smtClean="0">
                <a:solidFill>
                  <a:srgbClr val="FFFFFF"/>
                </a:solidFill>
                <a:ea typeface="+mn-ea"/>
              </a:rPr>
              <a:t>trang</a:t>
            </a:r>
            <a:r>
              <a:rPr lang="en-US" sz="1800" dirty="0" smtClean="0">
                <a:solidFill>
                  <a:srgbClr val="FFFFFF"/>
                </a:solidFill>
                <a:ea typeface="+mn-ea"/>
              </a:rPr>
              <a:t>”, .literature = 9.5 }</a:t>
            </a:r>
            <a:br>
              <a:rPr lang="en-US" sz="1800" dirty="0" smtClean="0">
                <a:solidFill>
                  <a:srgbClr val="FFFFFF"/>
                </a:solidFill>
                <a:ea typeface="+mn-ea"/>
              </a:rPr>
            </a:br>
            <a:r>
              <a:rPr lang="en-US" sz="1800" dirty="0" smtClean="0">
                <a:solidFill>
                  <a:srgbClr val="FFFFFF"/>
                </a:solidFill>
                <a:ea typeface="+mn-ea"/>
              </a:rPr>
              <a:t>};</a:t>
            </a:r>
          </a:p>
          <a:p>
            <a:pPr lvl="1">
              <a:buNone/>
            </a:pPr>
            <a:endParaRPr lang="en-US" sz="1800" dirty="0" smtClean="0">
              <a:solidFill>
                <a:srgbClr val="FFFFFF"/>
              </a:solidFill>
              <a:ea typeface="+mn-ea"/>
            </a:endParaRPr>
          </a:p>
          <a:p>
            <a:pPr lvl="1">
              <a:buNone/>
            </a:pPr>
            <a:r>
              <a:rPr lang="en-US" sz="1800" b="1" dirty="0" smtClean="0">
                <a:solidFill>
                  <a:srgbClr val="FFC000"/>
                </a:solidFill>
                <a:ea typeface="+mn-ea"/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  <a:ea typeface="+mn-ea"/>
              </a:rPr>
              <a:t>struct</a:t>
            </a:r>
            <a:r>
              <a:rPr lang="en-US" sz="1800" b="1" dirty="0" smtClean="0">
                <a:solidFill>
                  <a:srgbClr val="FFC000"/>
                </a:solidFill>
                <a:ea typeface="+mn-ea"/>
              </a:rPr>
              <a:t> Student</a:t>
            </a:r>
            <a:r>
              <a:rPr lang="en-US" sz="1800" b="1" dirty="0" smtClean="0">
                <a:solidFill>
                  <a:srgbClr val="FFFFFF"/>
                </a:solidFill>
                <a:ea typeface="+mn-ea"/>
              </a:rPr>
              <a:t>  </a:t>
            </a:r>
            <a:r>
              <a:rPr lang="en-US" sz="1800" dirty="0" smtClean="0">
                <a:solidFill>
                  <a:srgbClr val="FFFFFF"/>
                </a:solidFill>
                <a:ea typeface="+mn-ea"/>
              </a:rPr>
              <a:t>m2[  ] = { 		// Auto array length.</a:t>
            </a:r>
            <a:br>
              <a:rPr lang="en-US" sz="1800" dirty="0" smtClean="0">
                <a:solidFill>
                  <a:srgbClr val="FFFFFF"/>
                </a:solidFill>
                <a:ea typeface="+mn-ea"/>
              </a:rPr>
            </a:br>
            <a:r>
              <a:rPr lang="en-US" sz="1800" dirty="0" smtClean="0">
                <a:solidFill>
                  <a:srgbClr val="FFFFFF"/>
                </a:solidFill>
                <a:ea typeface="+mn-ea"/>
              </a:rPr>
              <a:t>     { “24127001”, “minh”, 8.5, 9.0 },</a:t>
            </a:r>
            <a:br>
              <a:rPr lang="en-US" sz="1800" dirty="0" smtClean="0">
                <a:solidFill>
                  <a:srgbClr val="FFFFFF"/>
                </a:solidFill>
                <a:ea typeface="+mn-ea"/>
              </a:rPr>
            </a:br>
            <a:r>
              <a:rPr lang="en-US" sz="1800" dirty="0" smtClean="0">
                <a:solidFill>
                  <a:srgbClr val="FFFFFF"/>
                </a:solidFill>
                <a:ea typeface="+mn-ea"/>
              </a:rPr>
              <a:t>     { .name = “</a:t>
            </a:r>
            <a:r>
              <a:rPr lang="en-US" sz="1800" dirty="0" err="1" smtClean="0">
                <a:solidFill>
                  <a:srgbClr val="FFFFFF"/>
                </a:solidFill>
                <a:ea typeface="+mn-ea"/>
              </a:rPr>
              <a:t>trang</a:t>
            </a:r>
            <a:r>
              <a:rPr lang="en-US" sz="1800" dirty="0" smtClean="0">
                <a:solidFill>
                  <a:srgbClr val="FFFFFF"/>
                </a:solidFill>
                <a:ea typeface="+mn-ea"/>
              </a:rPr>
              <a:t>”, .literature = 9.5 }</a:t>
            </a:r>
            <a:br>
              <a:rPr lang="en-US" sz="1800" dirty="0" smtClean="0">
                <a:solidFill>
                  <a:srgbClr val="FFFFFF"/>
                </a:solidFill>
                <a:ea typeface="+mn-ea"/>
              </a:rPr>
            </a:br>
            <a:r>
              <a:rPr lang="en-US" sz="1800" dirty="0" smtClean="0">
                <a:solidFill>
                  <a:srgbClr val="FFFFFF"/>
                </a:solidFill>
                <a:ea typeface="+mn-ea"/>
              </a:rPr>
              <a:t>};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Array 1-D.</a:t>
            </a:r>
          </a:p>
          <a:p>
            <a:r>
              <a:rPr lang="en-US" dirty="0" smtClean="0"/>
              <a:t>Array 2-D.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2-D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the program:</a:t>
            </a:r>
          </a:p>
          <a:p>
            <a:pPr lvl="1"/>
            <a:r>
              <a:rPr lang="en-US" dirty="0" smtClean="0"/>
              <a:t>Enter a matrix of 5 x 10 integers, then print it out.</a:t>
            </a:r>
          </a:p>
          <a:p>
            <a:pPr lvl="2"/>
            <a:r>
              <a:rPr lang="en-US" dirty="0" smtClean="0"/>
              <a:t>Declare 5 arrays: </a:t>
            </a:r>
            <a:r>
              <a:rPr lang="en-US" dirty="0" err="1" smtClean="0"/>
              <a:t>int</a:t>
            </a:r>
            <a:r>
              <a:rPr lang="en-US" dirty="0" smtClean="0"/>
              <a:t> a1[10], a2[10], a3[10], a4[10], a5[10].</a:t>
            </a:r>
          </a:p>
          <a:p>
            <a:pPr lvl="1"/>
            <a:r>
              <a:rPr lang="en-US" dirty="0" smtClean="0"/>
              <a:t>Enter a matrix of 50 x 10 integers, then print it out.</a:t>
            </a:r>
          </a:p>
          <a:p>
            <a:pPr lvl="2"/>
            <a:r>
              <a:rPr lang="en-US" dirty="0" smtClean="0"/>
              <a:t>Declare 50 arrays!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 How to declare a matrix of M x N?</a:t>
            </a:r>
            <a:endParaRPr lang="en-US" dirty="0" smtClean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2-D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Method 1:</a:t>
            </a:r>
          </a:p>
          <a:p>
            <a:pPr lvl="1"/>
            <a:r>
              <a:rPr lang="en-US" dirty="0" smtClean="0"/>
              <a:t>Use array 1-D!</a:t>
            </a:r>
          </a:p>
          <a:p>
            <a:pPr lvl="1"/>
            <a:r>
              <a:rPr lang="en-US" dirty="0" smtClean="0"/>
              <a:t>Matrix M x N ~ array 1-D of M x N elements.</a:t>
            </a:r>
          </a:p>
          <a:p>
            <a:pPr lvl="1"/>
            <a:r>
              <a:rPr lang="en-US" dirty="0" smtClean="0"/>
              <a:t>Matrix [ row </a:t>
            </a:r>
            <a:r>
              <a:rPr lang="en-US" dirty="0" err="1" smtClean="0"/>
              <a:t>i</a:t>
            </a:r>
            <a:r>
              <a:rPr lang="en-US" dirty="0" smtClean="0"/>
              <a:t>, column j ] ~ array [ </a:t>
            </a:r>
            <a:r>
              <a:rPr lang="en-US" dirty="0" err="1" smtClean="0">
                <a:sym typeface="Wingdings" pitchFamily="2" charset="2"/>
              </a:rPr>
              <a:t>i</a:t>
            </a:r>
            <a:r>
              <a:rPr lang="en-US" dirty="0" smtClean="0">
                <a:sym typeface="Wingdings" pitchFamily="2" charset="2"/>
              </a:rPr>
              <a:t> * N + j 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5334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9144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12954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16764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533400" y="4419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914400" y="4419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1295400" y="4419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AutoShape 9"/>
          <p:cNvSpPr>
            <a:spLocks noChangeArrowheads="1"/>
          </p:cNvSpPr>
          <p:nvPr/>
        </p:nvSpPr>
        <p:spPr bwMode="auto">
          <a:xfrm>
            <a:off x="1676400" y="4419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5334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9144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12954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9" name="AutoShape 9"/>
          <p:cNvSpPr>
            <a:spLocks noChangeArrowheads="1"/>
          </p:cNvSpPr>
          <p:nvPr/>
        </p:nvSpPr>
        <p:spPr bwMode="auto">
          <a:xfrm>
            <a:off x="1676400" y="4876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1" name="AutoShape 9"/>
          <p:cNvSpPr>
            <a:spLocks noChangeArrowheads="1"/>
          </p:cNvSpPr>
          <p:nvPr/>
        </p:nvSpPr>
        <p:spPr bwMode="auto">
          <a:xfrm>
            <a:off x="37338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2" name="AutoShape 9"/>
          <p:cNvSpPr>
            <a:spLocks noChangeArrowheads="1"/>
          </p:cNvSpPr>
          <p:nvPr/>
        </p:nvSpPr>
        <p:spPr bwMode="auto">
          <a:xfrm>
            <a:off x="41148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3" name="AutoShape 9"/>
          <p:cNvSpPr>
            <a:spLocks noChangeArrowheads="1"/>
          </p:cNvSpPr>
          <p:nvPr/>
        </p:nvSpPr>
        <p:spPr bwMode="auto">
          <a:xfrm>
            <a:off x="44958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4" name="AutoShape 9"/>
          <p:cNvSpPr>
            <a:spLocks noChangeArrowheads="1"/>
          </p:cNvSpPr>
          <p:nvPr/>
        </p:nvSpPr>
        <p:spPr bwMode="auto">
          <a:xfrm>
            <a:off x="48768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5" name="AutoShape 9"/>
          <p:cNvSpPr>
            <a:spLocks noChangeArrowheads="1"/>
          </p:cNvSpPr>
          <p:nvPr/>
        </p:nvSpPr>
        <p:spPr bwMode="auto">
          <a:xfrm>
            <a:off x="53340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6" name="AutoShape 9"/>
          <p:cNvSpPr>
            <a:spLocks noChangeArrowheads="1"/>
          </p:cNvSpPr>
          <p:nvPr/>
        </p:nvSpPr>
        <p:spPr bwMode="auto">
          <a:xfrm>
            <a:off x="57150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>
            <a:off x="60960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64770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>
            <a:off x="69342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0" name="AutoShape 9"/>
          <p:cNvSpPr>
            <a:spLocks noChangeArrowheads="1"/>
          </p:cNvSpPr>
          <p:nvPr/>
        </p:nvSpPr>
        <p:spPr bwMode="auto">
          <a:xfrm>
            <a:off x="73152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1" name="AutoShape 9"/>
          <p:cNvSpPr>
            <a:spLocks noChangeArrowheads="1"/>
          </p:cNvSpPr>
          <p:nvPr/>
        </p:nvSpPr>
        <p:spPr bwMode="auto">
          <a:xfrm>
            <a:off x="76962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2" name="AutoShape 9"/>
          <p:cNvSpPr>
            <a:spLocks noChangeArrowheads="1"/>
          </p:cNvSpPr>
          <p:nvPr/>
        </p:nvSpPr>
        <p:spPr bwMode="auto">
          <a:xfrm>
            <a:off x="80772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533400" y="3581400"/>
            <a:ext cx="1524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Matrix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3505200" y="3581400"/>
            <a:ext cx="1524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Array 1-D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381000" y="52578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…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8382000" y="39624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…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40" name="Straight Arrow Connector 39"/>
          <p:cNvCxnSpPr/>
          <p:nvPr/>
        </p:nvCxnSpPr>
        <p:spPr bwMode="auto">
          <a:xfrm flipV="1">
            <a:off x="2438400" y="4114800"/>
            <a:ext cx="914400" cy="10080"/>
          </a:xfrm>
          <a:prstGeom prst="straightConnector1">
            <a:avLst/>
          </a:prstGeom>
          <a:noFill/>
          <a:ln w="38100" cap="flat" cmpd="sng" algn="ctr">
            <a:solidFill>
              <a:srgbClr val="33CC33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6" grpId="0"/>
      <p:bldP spid="37" grpId="0"/>
      <p:bldP spid="38" grpId="0"/>
      <p:bldP spid="3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2-D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Method 2:</a:t>
            </a:r>
          </a:p>
          <a:p>
            <a:pPr lvl="1"/>
            <a:r>
              <a:rPr lang="en-US" dirty="0" smtClean="0"/>
              <a:t>Use array 2-D.</a:t>
            </a:r>
          </a:p>
          <a:p>
            <a:pPr lvl="1"/>
            <a:r>
              <a:rPr lang="en-US" dirty="0" smtClean="0"/>
              <a:t>Declaration:</a:t>
            </a:r>
          </a:p>
          <a:p>
            <a:pPr lvl="2">
              <a:buNone/>
            </a:pPr>
            <a:r>
              <a:rPr lang="en-US" dirty="0" smtClean="0"/>
              <a:t>&lt;data type&gt;  </a:t>
            </a:r>
            <a:r>
              <a:rPr lang="en-US" b="1" dirty="0" smtClean="0">
                <a:solidFill>
                  <a:srgbClr val="FFC000"/>
                </a:solidFill>
              </a:rPr>
              <a:t>&lt;array name&gt;[</a:t>
            </a:r>
            <a:r>
              <a:rPr lang="en-US" dirty="0" smtClean="0"/>
              <a:t>&lt;rows&gt;</a:t>
            </a:r>
            <a:r>
              <a:rPr lang="en-US" b="1" dirty="0" smtClean="0">
                <a:solidFill>
                  <a:srgbClr val="FFC000"/>
                </a:solidFill>
              </a:rPr>
              <a:t>] [</a:t>
            </a:r>
            <a:r>
              <a:rPr lang="en-US" dirty="0" smtClean="0"/>
              <a:t>&lt;columns&gt;</a:t>
            </a:r>
            <a:r>
              <a:rPr lang="en-US" b="1" dirty="0" smtClean="0">
                <a:solidFill>
                  <a:srgbClr val="FFC000"/>
                </a:solidFill>
              </a:rPr>
              <a:t>]</a:t>
            </a:r>
            <a:r>
              <a:rPr lang="en-US" dirty="0" smtClean="0"/>
              <a:t>;</a:t>
            </a:r>
          </a:p>
          <a:p>
            <a:pPr lvl="2">
              <a:buNone/>
            </a:pPr>
            <a:r>
              <a:rPr lang="en-US" dirty="0" smtClean="0"/>
              <a:t>&lt;rows&gt;, &lt;columns&gt; must be constants.</a:t>
            </a:r>
          </a:p>
          <a:p>
            <a:pPr lvl="3">
              <a:buNone/>
            </a:pP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    </a:t>
            </a:r>
            <a:r>
              <a:rPr lang="en-US" sz="1800" b="1" dirty="0" smtClean="0">
                <a:solidFill>
                  <a:srgbClr val="FFC000"/>
                </a:solidFill>
              </a:rPr>
              <a:t>m1[ 5 ][ 10 ]</a:t>
            </a:r>
            <a:r>
              <a:rPr lang="en-US" sz="1800" dirty="0" smtClean="0"/>
              <a:t>;	// Matrix 5 x 10 of integers.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   </a:t>
            </a:r>
            <a:r>
              <a:rPr lang="en-US" sz="1800" b="1" dirty="0" smtClean="0">
                <a:solidFill>
                  <a:srgbClr val="FFC000"/>
                </a:solidFill>
              </a:rPr>
              <a:t>m2[ M ][ N ]</a:t>
            </a:r>
            <a:r>
              <a:rPr lang="en-US" sz="1800" dirty="0" smtClean="0"/>
              <a:t>;	// Wrong.</a:t>
            </a:r>
          </a:p>
          <a:p>
            <a:pPr lvl="1">
              <a:buClr>
                <a:srgbClr val="E5E5FF"/>
              </a:buClr>
            </a:pPr>
            <a:r>
              <a:rPr lang="en-US" dirty="0" smtClean="0">
                <a:solidFill>
                  <a:srgbClr val="FFFFFF"/>
                </a:solidFill>
              </a:rPr>
              <a:t>Accessing element:</a:t>
            </a:r>
          </a:p>
          <a:p>
            <a:pPr lvl="2">
              <a:buNone/>
            </a:pPr>
            <a:r>
              <a:rPr lang="en-US" dirty="0" smtClean="0"/>
              <a:t>&lt;array name&gt; </a:t>
            </a:r>
            <a:r>
              <a:rPr lang="en-US" b="1" dirty="0" smtClean="0">
                <a:solidFill>
                  <a:srgbClr val="FFC000"/>
                </a:solidFill>
              </a:rPr>
              <a:t>[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&lt;row index&gt;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] [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&lt;column index&gt;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]</a:t>
            </a:r>
          </a:p>
          <a:p>
            <a:pPr lvl="2">
              <a:buNone/>
            </a:pPr>
            <a:r>
              <a:rPr lang="en-US" dirty="0" smtClean="0"/>
              <a:t>&lt;row index&gt;: integer in range </a:t>
            </a:r>
            <a:r>
              <a:rPr lang="en-US" b="1" dirty="0" smtClean="0">
                <a:solidFill>
                  <a:srgbClr val="FFC000"/>
                </a:solidFill>
              </a:rPr>
              <a:t>[ 0..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&lt;rows&gt; - 1 ]</a:t>
            </a:r>
            <a:r>
              <a:rPr lang="en-US" dirty="0" smtClean="0"/>
              <a:t>.</a:t>
            </a:r>
          </a:p>
          <a:p>
            <a:pPr lvl="2">
              <a:buNone/>
            </a:pPr>
            <a:r>
              <a:rPr lang="en-US" dirty="0" smtClean="0"/>
              <a:t>&lt;column index&gt;: integer in range </a:t>
            </a:r>
            <a:r>
              <a:rPr lang="en-US" b="1" dirty="0" smtClean="0">
                <a:solidFill>
                  <a:srgbClr val="FFC000"/>
                </a:solidFill>
              </a:rPr>
              <a:t>[ 0..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&lt;columns&gt; - 1 ]</a:t>
            </a:r>
            <a:r>
              <a:rPr lang="en-US" dirty="0" smtClean="0"/>
              <a:t>.</a:t>
            </a:r>
          </a:p>
          <a:p>
            <a:pPr lvl="3">
              <a:buNone/>
            </a:pPr>
            <a:r>
              <a:rPr lang="en-US" sz="1800" dirty="0" smtClean="0"/>
              <a:t>	m1</a:t>
            </a:r>
            <a:r>
              <a:rPr lang="en-US" sz="1800" b="1" dirty="0" smtClean="0">
                <a:solidFill>
                  <a:srgbClr val="FFC000"/>
                </a:solidFill>
              </a:rPr>
              <a:t>[ 0 ][ 2 ]</a:t>
            </a:r>
            <a:r>
              <a:rPr lang="en-US" sz="1800" dirty="0" smtClean="0"/>
              <a:t> = 5;</a:t>
            </a:r>
            <a:br>
              <a:rPr lang="en-US" sz="1800" dirty="0" smtClean="0"/>
            </a:br>
            <a:r>
              <a:rPr lang="en-US" sz="1800" dirty="0" smtClean="0"/>
              <a:t>m1</a:t>
            </a:r>
            <a:r>
              <a:rPr lang="en-US" sz="1800" b="1" dirty="0" smtClean="0">
                <a:solidFill>
                  <a:srgbClr val="FFC000"/>
                </a:solidFill>
              </a:rPr>
              <a:t>[ 1 ][ 3 ]</a:t>
            </a:r>
            <a:r>
              <a:rPr lang="en-US" sz="1800" dirty="0" smtClean="0"/>
              <a:t> = 6;</a:t>
            </a:r>
            <a:br>
              <a:rPr lang="en-US" sz="1800" dirty="0" smtClean="0"/>
            </a:br>
            <a:r>
              <a:rPr lang="en-US" sz="1800" dirty="0" smtClean="0"/>
              <a:t>m1</a:t>
            </a:r>
            <a:r>
              <a:rPr lang="en-US" sz="1800" b="1" dirty="0" smtClean="0">
                <a:solidFill>
                  <a:srgbClr val="FFC000"/>
                </a:solidFill>
              </a:rPr>
              <a:t>[ -1 ][ 10 ]</a:t>
            </a:r>
            <a:r>
              <a:rPr lang="en-US" sz="1800" dirty="0" smtClean="0"/>
              <a:t> = 7;	//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2-D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Initialization:</a:t>
            </a:r>
          </a:p>
          <a:p>
            <a:pPr lvl="1">
              <a:buClr>
                <a:srgbClr val="FFFFFF"/>
              </a:buClr>
              <a:buNone/>
            </a:pPr>
            <a:r>
              <a:rPr lang="en-US" sz="2200" dirty="0" smtClean="0">
                <a:solidFill>
                  <a:srgbClr val="FFFFFF"/>
                </a:solidFill>
              </a:rPr>
              <a:t>	</a:t>
            </a:r>
            <a:r>
              <a:rPr lang="en-US" sz="2000" dirty="0" smtClean="0">
                <a:solidFill>
                  <a:srgbClr val="FFFFFF"/>
                </a:solidFill>
              </a:rPr>
              <a:t>&lt;data type&gt; </a:t>
            </a:r>
            <a:r>
              <a:rPr lang="en-US" sz="2000" b="1" dirty="0" smtClean="0">
                <a:solidFill>
                  <a:srgbClr val="FFC000"/>
                </a:solidFill>
              </a:rPr>
              <a:t>&lt;array name&gt;[</a:t>
            </a:r>
            <a:r>
              <a:rPr lang="en-US" sz="2000" dirty="0" smtClean="0">
                <a:solidFill>
                  <a:srgbClr val="FFFFFF"/>
                </a:solidFill>
              </a:rPr>
              <a:t>&lt;rows&gt;</a:t>
            </a:r>
            <a:r>
              <a:rPr lang="en-US" sz="2000" b="1" dirty="0" smtClean="0">
                <a:solidFill>
                  <a:srgbClr val="FFC000"/>
                </a:solidFill>
              </a:rPr>
              <a:t>] [</a:t>
            </a:r>
            <a:r>
              <a:rPr lang="en-US" sz="2000" dirty="0" smtClean="0">
                <a:solidFill>
                  <a:srgbClr val="FFFFFF"/>
                </a:solidFill>
              </a:rPr>
              <a:t>&lt;columns&gt;</a:t>
            </a:r>
            <a:r>
              <a:rPr lang="en-US" sz="2000" b="1" dirty="0" smtClean="0">
                <a:solidFill>
                  <a:srgbClr val="FFC000"/>
                </a:solidFill>
              </a:rPr>
              <a:t>]</a:t>
            </a:r>
            <a:r>
              <a:rPr lang="en-US" sz="2000" dirty="0" smtClean="0">
                <a:solidFill>
                  <a:srgbClr val="FFFFFF"/>
                </a:solidFill>
              </a:rPr>
              <a:t> =</a:t>
            </a:r>
            <a:br>
              <a:rPr lang="en-US" sz="2000" dirty="0" smtClean="0">
                <a:solidFill>
                  <a:srgbClr val="FFFFFF"/>
                </a:solidFill>
              </a:rPr>
            </a:br>
            <a:r>
              <a:rPr lang="en-US" sz="2000" dirty="0" smtClean="0">
                <a:solidFill>
                  <a:srgbClr val="FFFFFF"/>
                </a:solidFill>
              </a:rPr>
              <a:t>{</a:t>
            </a:r>
            <a:br>
              <a:rPr lang="en-US" sz="2000" dirty="0" smtClean="0">
                <a:solidFill>
                  <a:srgbClr val="FFFFFF"/>
                </a:solidFill>
              </a:rPr>
            </a:br>
            <a:r>
              <a:rPr lang="en-US" sz="2000" dirty="0" smtClean="0">
                <a:solidFill>
                  <a:srgbClr val="FFFFFF"/>
                </a:solidFill>
              </a:rPr>
              <a:t>	&lt;Initialize row 0&gt;,</a:t>
            </a:r>
            <a:br>
              <a:rPr lang="en-US" sz="2000" dirty="0" smtClean="0">
                <a:solidFill>
                  <a:srgbClr val="FFFFFF"/>
                </a:solidFill>
              </a:rPr>
            </a:br>
            <a:r>
              <a:rPr lang="en-US" sz="2000" dirty="0" smtClean="0">
                <a:solidFill>
                  <a:srgbClr val="FFFFFF"/>
                </a:solidFill>
              </a:rPr>
              <a:t>	&lt;Initialize row 1&gt;,</a:t>
            </a:r>
            <a:br>
              <a:rPr lang="en-US" sz="2000" dirty="0" smtClean="0">
                <a:solidFill>
                  <a:srgbClr val="FFFFFF"/>
                </a:solidFill>
              </a:rPr>
            </a:br>
            <a:r>
              <a:rPr lang="en-US" sz="2000" dirty="0" smtClean="0">
                <a:solidFill>
                  <a:srgbClr val="FFFFFF"/>
                </a:solidFill>
              </a:rPr>
              <a:t>	…</a:t>
            </a:r>
            <a:br>
              <a:rPr lang="en-US" sz="2000" dirty="0" smtClean="0">
                <a:solidFill>
                  <a:srgbClr val="FFFFFF"/>
                </a:solidFill>
              </a:rPr>
            </a:br>
            <a:r>
              <a:rPr lang="en-US" sz="2000" dirty="0" smtClean="0">
                <a:solidFill>
                  <a:srgbClr val="FFFFFF"/>
                </a:solidFill>
              </a:rPr>
              <a:t>};</a:t>
            </a:r>
            <a:endParaRPr lang="en-US" sz="1800" dirty="0" smtClean="0"/>
          </a:p>
          <a:p>
            <a:pPr lvl="3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6200" y="3962400"/>
            <a:ext cx="3276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// Initialize all elements.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m1[ 3 ][ 5 ]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{ 1, 1, 1, 1, 1 },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{ 1, 2, 3, 4, 5 },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{ 5, 4, 3, 2, 1 }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};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971800" y="3962400"/>
            <a:ext cx="3429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// Initialize some elements.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m1[ 3][ 5 ]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{ 1, 1 },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{ 1, 2, 3 },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{ 0 }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};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943600" y="3962400"/>
            <a:ext cx="3276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 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// Initialize with auto rows.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m1[  ][ 5 ]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{ 1, 1 },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{ 1, 2, 3 },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{ 0 }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};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2-D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Operations:</a:t>
            </a:r>
          </a:p>
          <a:p>
            <a:pPr lvl="1"/>
            <a:r>
              <a:rPr lang="en-US" dirty="0" smtClean="0"/>
              <a:t>Step 1: Iterate through array.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Use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2 nested loops</a:t>
            </a:r>
            <a:r>
              <a:rPr lang="en-US" dirty="0" smtClean="0">
                <a:sym typeface="Wingdings" pitchFamily="2" charset="2"/>
              </a:rPr>
              <a:t>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Outer loop: iterate through rows.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Inner loop: iterate through columns in each row.</a:t>
            </a:r>
            <a:endParaRPr lang="en-US" dirty="0" smtClean="0"/>
          </a:p>
          <a:p>
            <a:pPr lvl="1"/>
            <a:r>
              <a:rPr lang="en-US" dirty="0" smtClean="0"/>
              <a:t>Step 2: Access element by indexing.</a:t>
            </a:r>
            <a:endParaRPr lang="en-US" dirty="0" smtClean="0">
              <a:sym typeface="Wingdings" pitchFamily="2" charset="2"/>
            </a:endParaRPr>
          </a:p>
          <a:p>
            <a:pPr>
              <a:buNone/>
            </a:pPr>
            <a:r>
              <a:rPr lang="en-US" sz="1800" dirty="0" smtClean="0">
                <a:solidFill>
                  <a:srgbClr val="FFC000"/>
                </a:solidFill>
              </a:rPr>
              <a:t>	// Iterate matrix A of M rows N columns.</a:t>
            </a:r>
          </a:p>
          <a:p>
            <a:pPr>
              <a:buNone/>
            </a:pPr>
            <a:r>
              <a:rPr lang="en-US" sz="1800" b="1" dirty="0" smtClean="0">
                <a:solidFill>
                  <a:srgbClr val="FFC000"/>
                </a:solidFill>
              </a:rPr>
              <a:t>	for (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= 0; </a:t>
            </a:r>
            <a:r>
              <a:rPr lang="en-US" sz="1800" dirty="0" err="1" smtClean="0"/>
              <a:t>i</a:t>
            </a:r>
            <a:r>
              <a:rPr lang="en-US" sz="1800" dirty="0" smtClean="0"/>
              <a:t> &lt; </a:t>
            </a:r>
            <a:r>
              <a:rPr lang="en-US" sz="1800" b="1" dirty="0" smtClean="0">
                <a:solidFill>
                  <a:srgbClr val="FFC000"/>
                </a:solidFill>
              </a:rPr>
              <a:t>M</a:t>
            </a:r>
            <a:r>
              <a:rPr lang="en-US" sz="1800" dirty="0" smtClean="0"/>
              <a:t>; </a:t>
            </a:r>
            <a:r>
              <a:rPr lang="en-US" sz="1800" dirty="0" err="1" smtClean="0"/>
              <a:t>i</a:t>
            </a:r>
            <a:r>
              <a:rPr lang="en-US" sz="1800" dirty="0" smtClean="0"/>
              <a:t>++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for ( </a:t>
            </a:r>
            <a:r>
              <a:rPr lang="en-US" sz="1800" dirty="0" err="1" smtClean="0"/>
              <a:t>int</a:t>
            </a:r>
            <a:r>
              <a:rPr lang="en-US" sz="1800" dirty="0" smtClean="0"/>
              <a:t> j = 0; j &lt; </a:t>
            </a:r>
            <a:r>
              <a:rPr lang="en-US" sz="1800" b="1" dirty="0" smtClean="0">
                <a:solidFill>
                  <a:srgbClr val="FFC000"/>
                </a:solidFill>
              </a:rPr>
              <a:t>N</a:t>
            </a:r>
            <a:r>
              <a:rPr lang="en-US" sz="1800" dirty="0" smtClean="0"/>
              <a:t>; j++ 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 	</a:t>
            </a:r>
            <a:r>
              <a:rPr lang="en-US" sz="1800" b="1" dirty="0" smtClean="0">
                <a:solidFill>
                  <a:srgbClr val="FFC000"/>
                </a:solidFill>
              </a:rPr>
              <a:t>{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       &lt;Process element </a:t>
            </a:r>
            <a:r>
              <a:rPr lang="en-US" sz="1800" b="1" dirty="0" smtClean="0">
                <a:solidFill>
                  <a:srgbClr val="FFC000"/>
                </a:solidFill>
              </a:rPr>
              <a:t>A[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b="1" dirty="0" smtClean="0">
                <a:solidFill>
                  <a:srgbClr val="FFC000"/>
                </a:solidFill>
              </a:rPr>
              <a:t> ][ j ]</a:t>
            </a:r>
            <a:r>
              <a:rPr lang="en-US" sz="1800" dirty="0" smtClean="0"/>
              <a:t>&gt;;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2-D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Operations:</a:t>
            </a:r>
            <a:endParaRPr lang="en-US" dirty="0"/>
          </a:p>
          <a:p>
            <a:pPr>
              <a:buNone/>
            </a:pPr>
            <a:r>
              <a:rPr lang="en-US" sz="1800" dirty="0" smtClean="0">
                <a:solidFill>
                  <a:srgbClr val="FFC000"/>
                </a:solidFill>
              </a:rPr>
              <a:t>	// Input matrix A of M rows N columns.</a:t>
            </a:r>
            <a:br>
              <a:rPr lang="en-US" sz="1800" dirty="0" smtClean="0">
                <a:solidFill>
                  <a:srgbClr val="FFC000"/>
                </a:solidFill>
              </a:rPr>
            </a:br>
            <a:r>
              <a:rPr lang="en-US" sz="1800" dirty="0" smtClean="0"/>
              <a:t>void </a:t>
            </a:r>
            <a:r>
              <a:rPr lang="en-US" sz="1800" b="1" dirty="0" err="1" smtClean="0">
                <a:solidFill>
                  <a:srgbClr val="FFC000"/>
                </a:solidFill>
              </a:rPr>
              <a:t>inputMatrix</a:t>
            </a:r>
            <a:r>
              <a:rPr lang="en-US" sz="1800" dirty="0" smtClean="0"/>
              <a:t>( </a:t>
            </a:r>
            <a:r>
              <a:rPr lang="en-US" sz="1800" dirty="0" err="1" smtClean="0"/>
              <a:t>int</a:t>
            </a:r>
            <a:r>
              <a:rPr lang="en-US" sz="1800" dirty="0" smtClean="0"/>
              <a:t> A[ ][ MAX ],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&amp;M</a:t>
            </a:r>
            <a:r>
              <a:rPr lang="en-US" sz="1800" dirty="0" smtClean="0"/>
              <a:t>,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&amp;N</a:t>
            </a:r>
            <a:r>
              <a:rPr lang="en-US" sz="1800" dirty="0" smtClean="0"/>
              <a:t> 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(“Enter rows, columns = “);</a:t>
            </a:r>
            <a:br>
              <a:rPr lang="en-US" sz="1800" dirty="0" smtClean="0"/>
            </a:br>
            <a:r>
              <a:rPr lang="en-US" sz="1800" dirty="0" smtClean="0"/>
              <a:t>     </a:t>
            </a:r>
            <a:r>
              <a:rPr lang="en-US" sz="1800" dirty="0" err="1" smtClean="0"/>
              <a:t>scanf</a:t>
            </a:r>
            <a:r>
              <a:rPr lang="en-US" sz="1800" dirty="0" smtClean="0"/>
              <a:t>(“%d %d”, </a:t>
            </a:r>
            <a:r>
              <a:rPr lang="en-US" sz="1800" b="1" dirty="0" smtClean="0">
                <a:solidFill>
                  <a:srgbClr val="FFC000"/>
                </a:solidFill>
              </a:rPr>
              <a:t>&amp;M, &amp;N</a:t>
            </a:r>
            <a:r>
              <a:rPr lang="en-US" sz="1800" dirty="0" smtClean="0"/>
              <a:t>);</a:t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/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b="1" dirty="0" smtClean="0">
                <a:solidFill>
                  <a:srgbClr val="FFC000"/>
                </a:solidFill>
              </a:rPr>
              <a:t>     for (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= 0; </a:t>
            </a:r>
            <a:r>
              <a:rPr lang="en-US" sz="1800" dirty="0" err="1" smtClean="0"/>
              <a:t>i</a:t>
            </a:r>
            <a:r>
              <a:rPr lang="en-US" sz="1800" dirty="0" smtClean="0"/>
              <a:t> &lt; </a:t>
            </a:r>
            <a:r>
              <a:rPr lang="en-US" sz="1800" b="1" dirty="0" smtClean="0">
                <a:solidFill>
                  <a:srgbClr val="FFC000"/>
                </a:solidFill>
              </a:rPr>
              <a:t>M</a:t>
            </a:r>
            <a:r>
              <a:rPr lang="en-US" sz="1800" dirty="0" smtClean="0"/>
              <a:t>; </a:t>
            </a:r>
            <a:r>
              <a:rPr lang="en-US" sz="1800" dirty="0" err="1" smtClean="0"/>
              <a:t>i</a:t>
            </a:r>
            <a:r>
              <a:rPr lang="en-US" sz="1800" dirty="0" smtClean="0"/>
              <a:t>++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for (</a:t>
            </a:r>
            <a:r>
              <a:rPr lang="en-US" sz="1800" dirty="0" err="1" smtClean="0"/>
              <a:t>int</a:t>
            </a:r>
            <a:r>
              <a:rPr lang="en-US" sz="1800" dirty="0" smtClean="0"/>
              <a:t> j = 0; j &lt; </a:t>
            </a:r>
            <a:r>
              <a:rPr lang="en-US" sz="1800" b="1" dirty="0" smtClean="0">
                <a:solidFill>
                  <a:srgbClr val="FFC000"/>
                </a:solidFill>
              </a:rPr>
              <a:t>N</a:t>
            </a:r>
            <a:r>
              <a:rPr lang="en-US" sz="1800" dirty="0" smtClean="0"/>
              <a:t>; j++</a:t>
            </a:r>
            <a:r>
              <a:rPr lang="en-US" sz="1800" b="1" dirty="0" smtClean="0">
                <a:solidFill>
                  <a:srgbClr val="FFC000"/>
                </a:solidFill>
              </a:rPr>
              <a:t>)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 	</a:t>
            </a:r>
            <a:r>
              <a:rPr lang="en-US" sz="1800" b="1" dirty="0" smtClean="0">
                <a:solidFill>
                  <a:srgbClr val="FFC000"/>
                </a:solidFill>
              </a:rPr>
              <a:t>{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b="1" dirty="0" smtClean="0">
                <a:solidFill>
                  <a:srgbClr val="FFC000"/>
                </a:solidFill>
              </a:rPr>
              <a:t>	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(“Element %d, %d = “, </a:t>
            </a:r>
            <a:r>
              <a:rPr lang="en-US" sz="1800" dirty="0" err="1" smtClean="0"/>
              <a:t>i</a:t>
            </a:r>
            <a:r>
              <a:rPr lang="en-US" sz="1800" dirty="0" smtClean="0"/>
              <a:t>, j);</a:t>
            </a:r>
            <a:br>
              <a:rPr lang="en-US" sz="1800" dirty="0" smtClean="0"/>
            </a:br>
            <a:r>
              <a:rPr lang="en-US" sz="1800" dirty="0" smtClean="0"/>
              <a:t>	     </a:t>
            </a:r>
            <a:r>
              <a:rPr lang="en-US" sz="1800" dirty="0" err="1" smtClean="0"/>
              <a:t>scanf</a:t>
            </a:r>
            <a:r>
              <a:rPr lang="en-US" sz="1800" dirty="0" smtClean="0"/>
              <a:t>(“%d”, </a:t>
            </a:r>
            <a:r>
              <a:rPr lang="en-US" sz="1800" b="1" dirty="0" smtClean="0">
                <a:solidFill>
                  <a:srgbClr val="FFC000"/>
                </a:solidFill>
              </a:rPr>
              <a:t>&amp;A[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b="1" dirty="0" smtClean="0">
                <a:solidFill>
                  <a:srgbClr val="FFC000"/>
                </a:solidFill>
              </a:rPr>
              <a:t> ][ j ]</a:t>
            </a:r>
            <a:r>
              <a:rPr lang="en-US" sz="1800" dirty="0" smtClean="0"/>
              <a:t>);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}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410200" y="1676400"/>
            <a:ext cx="35814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b="1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#define MAX	  100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i="1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main()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a[ MAX ][ MAX ];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M, N;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inputMatrix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(a, M, N);</a:t>
            </a: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endParaRPr lang="en-US" sz="1800" i="1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Array 1-D:</a:t>
            </a:r>
          </a:p>
          <a:p>
            <a:pPr lvl="1"/>
            <a:r>
              <a:rPr lang="en-US" dirty="0" smtClean="0"/>
              <a:t>Sequence of contiguous elements of same type.</a:t>
            </a:r>
          </a:p>
          <a:p>
            <a:pPr lvl="1"/>
            <a:r>
              <a:rPr lang="en-US" dirty="0" smtClean="0"/>
              <a:t>Element accessed by indexing.</a:t>
            </a:r>
          </a:p>
          <a:p>
            <a:pPr lvl="1"/>
            <a:r>
              <a:rPr lang="en-US" dirty="0" smtClean="0"/>
              <a:t>Operations: use loop to iterate through elements.  </a:t>
            </a:r>
          </a:p>
          <a:p>
            <a:r>
              <a:rPr lang="en-US" dirty="0" smtClean="0"/>
              <a:t>Array 2-D:</a:t>
            </a:r>
          </a:p>
          <a:p>
            <a:pPr lvl="1"/>
            <a:r>
              <a:rPr lang="en-US" dirty="0" smtClean="0"/>
              <a:t>Method 1: array 1-D of rows x columns elements.</a:t>
            </a:r>
          </a:p>
          <a:p>
            <a:pPr lvl="1"/>
            <a:r>
              <a:rPr lang="en-US" dirty="0" smtClean="0"/>
              <a:t>Method 2: array 2-D.</a:t>
            </a:r>
          </a:p>
          <a:p>
            <a:pPr lvl="1"/>
            <a:r>
              <a:rPr lang="en-US" dirty="0" smtClean="0"/>
              <a:t>Matrix of elements of same type.</a:t>
            </a:r>
          </a:p>
          <a:p>
            <a:pPr lvl="1"/>
            <a:r>
              <a:rPr lang="en-US" dirty="0" smtClean="0"/>
              <a:t>Operations: use nested loop </a:t>
            </a:r>
            <a:r>
              <a:rPr lang="en-US" smtClean="0"/>
              <a:t>to iterate.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5.1:</a:t>
            </a:r>
          </a:p>
          <a:p>
            <a:pPr>
              <a:buNone/>
            </a:pPr>
            <a:r>
              <a:rPr lang="en-US" sz="2000" dirty="0" smtClean="0"/>
              <a:t>	Write C/C++ program (organize in functions and multiple-file project):</a:t>
            </a:r>
          </a:p>
          <a:p>
            <a:pPr>
              <a:buNone/>
            </a:pPr>
            <a:r>
              <a:rPr lang="en-US" sz="2000" dirty="0" smtClean="0"/>
              <a:t>		- Enter an array of integers.</a:t>
            </a:r>
          </a:p>
          <a:p>
            <a:pPr>
              <a:buNone/>
            </a:pPr>
            <a:r>
              <a:rPr lang="en-US" sz="2000" dirty="0" smtClean="0"/>
              <a:t>		- Count:</a:t>
            </a:r>
          </a:p>
          <a:p>
            <a:pPr>
              <a:buNone/>
            </a:pPr>
            <a:r>
              <a:rPr lang="en-US" sz="2000" dirty="0" smtClean="0"/>
              <a:t>			a) Negative numbers in the array.</a:t>
            </a:r>
          </a:p>
          <a:p>
            <a:pPr>
              <a:buNone/>
            </a:pPr>
            <a:r>
              <a:rPr lang="en-US" sz="2000" dirty="0" smtClean="0"/>
              <a:t>			b) Prime numbers in the array.</a:t>
            </a:r>
          </a:p>
          <a:p>
            <a:pPr>
              <a:buNone/>
            </a:pPr>
            <a:r>
              <a:rPr lang="en-US" sz="2000" i="1" dirty="0" smtClean="0"/>
              <a:t>	Input format:</a:t>
            </a:r>
          </a:p>
          <a:p>
            <a:pPr>
              <a:buNone/>
            </a:pPr>
            <a:r>
              <a:rPr lang="en-US" sz="2000" i="1" dirty="0" smtClean="0"/>
              <a:t>		Enter N = 3</a:t>
            </a:r>
          </a:p>
          <a:p>
            <a:pPr>
              <a:buNone/>
            </a:pPr>
            <a:r>
              <a:rPr lang="en-US" sz="2000" i="1" dirty="0" smtClean="0"/>
              <a:t>		Element 0 = 2</a:t>
            </a:r>
          </a:p>
          <a:p>
            <a:pPr>
              <a:buNone/>
            </a:pPr>
            <a:r>
              <a:rPr lang="en-US" sz="2000" i="1" dirty="0" smtClean="0"/>
              <a:t>		Element 1 = 3</a:t>
            </a:r>
          </a:p>
          <a:p>
            <a:pPr>
              <a:buNone/>
            </a:pPr>
            <a:r>
              <a:rPr lang="en-US" sz="2000" i="1" dirty="0" smtClean="0"/>
              <a:t>		Element 2 = -6</a:t>
            </a:r>
          </a:p>
          <a:p>
            <a:pPr>
              <a:buNone/>
            </a:pPr>
            <a:r>
              <a:rPr lang="en-US" sz="2000" i="1" dirty="0" smtClean="0"/>
              <a:t>	Output format:</a:t>
            </a:r>
          </a:p>
          <a:p>
            <a:pPr>
              <a:buNone/>
            </a:pPr>
            <a:r>
              <a:rPr lang="en-US" sz="2000" i="1" dirty="0" smtClean="0"/>
              <a:t>		Negative numbers: 1.</a:t>
            </a:r>
          </a:p>
          <a:p>
            <a:pPr>
              <a:buNone/>
            </a:pPr>
            <a:r>
              <a:rPr lang="en-US" sz="2000" i="1" dirty="0" smtClean="0"/>
              <a:t>		Prime numbers: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5.2:</a:t>
            </a:r>
          </a:p>
          <a:p>
            <a:pPr>
              <a:buNone/>
            </a:pPr>
            <a:r>
              <a:rPr lang="en-US" sz="2000" dirty="0" smtClean="0"/>
              <a:t>	Write C/C++ program to check array:</a:t>
            </a:r>
          </a:p>
          <a:p>
            <a:pPr>
              <a:buNone/>
            </a:pPr>
            <a:r>
              <a:rPr lang="en-US" sz="2000" dirty="0" smtClean="0"/>
              <a:t>	(organize in functions and multiple-file project)</a:t>
            </a:r>
          </a:p>
          <a:p>
            <a:pPr>
              <a:buNone/>
            </a:pPr>
            <a:r>
              <a:rPr lang="en-US" sz="2000" dirty="0" smtClean="0"/>
              <a:t>		- Enter a array of integers.</a:t>
            </a:r>
          </a:p>
          <a:p>
            <a:pPr>
              <a:buNone/>
            </a:pPr>
            <a:r>
              <a:rPr lang="en-US" sz="2000" dirty="0" smtClean="0"/>
              <a:t>		- Check if:</a:t>
            </a:r>
          </a:p>
          <a:p>
            <a:pPr>
              <a:buNone/>
            </a:pPr>
            <a:r>
              <a:rPr lang="en-US" sz="2000" dirty="0" smtClean="0"/>
              <a:t>			a) Array is in ascending order.</a:t>
            </a:r>
          </a:p>
          <a:p>
            <a:pPr>
              <a:buNone/>
            </a:pPr>
            <a:r>
              <a:rPr lang="en-US" sz="2000" dirty="0" smtClean="0"/>
              <a:t>			b) Array is symmetric.</a:t>
            </a:r>
          </a:p>
          <a:p>
            <a:pPr>
              <a:buNone/>
            </a:pPr>
            <a:r>
              <a:rPr lang="en-US" sz="2000" dirty="0" smtClean="0"/>
              <a:t>			c) Array is an arithmetic progression.</a:t>
            </a:r>
          </a:p>
          <a:p>
            <a:pPr>
              <a:buNone/>
            </a:pPr>
            <a:r>
              <a:rPr lang="en-US" sz="2000" i="1" dirty="0" smtClean="0"/>
              <a:t>	Output format:</a:t>
            </a:r>
          </a:p>
          <a:p>
            <a:pPr>
              <a:buNone/>
            </a:pPr>
            <a:r>
              <a:rPr lang="en-US" sz="2000" i="1" dirty="0" smtClean="0"/>
              <a:t>		Array &lt;is/is not&gt; ascending.</a:t>
            </a:r>
          </a:p>
          <a:p>
            <a:pPr>
              <a:buNone/>
            </a:pPr>
            <a:r>
              <a:rPr lang="en-US" sz="2000" i="1" dirty="0" smtClean="0"/>
              <a:t>		Array &lt;is/is not&gt; symmetric.</a:t>
            </a:r>
          </a:p>
          <a:p>
            <a:pPr>
              <a:buNone/>
            </a:pPr>
            <a:r>
              <a:rPr lang="en-US" sz="2000" i="1" dirty="0" smtClean="0"/>
              <a:t>		Array &lt;is/is not&gt; a arithmetic progression.</a:t>
            </a:r>
            <a:endParaRPr lang="en-US" sz="20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5.3: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Write C/C++ program to operate on students:</a:t>
            </a:r>
          </a:p>
          <a:p>
            <a:pPr>
              <a:buNone/>
            </a:pPr>
            <a:r>
              <a:rPr lang="en-US" sz="2000" dirty="0" smtClean="0"/>
              <a:t>	(organize in functions and multiple-file project):</a:t>
            </a:r>
          </a:p>
          <a:p>
            <a:pPr>
              <a:buNone/>
            </a:pPr>
            <a:r>
              <a:rPr lang="en-US" sz="2000" dirty="0" smtClean="0"/>
              <a:t>		- Declare </a:t>
            </a:r>
            <a:r>
              <a:rPr lang="en-US" sz="2000" dirty="0" err="1" smtClean="0"/>
              <a:t>struct</a:t>
            </a:r>
            <a:r>
              <a:rPr lang="en-US" sz="2000" dirty="0" smtClean="0"/>
              <a:t> to represent a student (stated in the lesson).</a:t>
            </a:r>
            <a:endParaRPr lang="en-US" sz="2000" dirty="0"/>
          </a:p>
          <a:p>
            <a:pPr>
              <a:buNone/>
            </a:pPr>
            <a:r>
              <a:rPr lang="en-US" sz="2000" dirty="0" smtClean="0"/>
              <a:t>		- Enter a list of N students.</a:t>
            </a:r>
          </a:p>
          <a:p>
            <a:pPr>
              <a:buNone/>
            </a:pPr>
            <a:r>
              <a:rPr lang="en-US" sz="2000" dirty="0" smtClean="0"/>
              <a:t>		- Print a list of excellent students (GPA &gt;= 8.5) in descending 	order of GPA.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5.4: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Write C/C++ program to operate on date:</a:t>
            </a:r>
          </a:p>
          <a:p>
            <a:pPr>
              <a:buNone/>
            </a:pPr>
            <a:r>
              <a:rPr lang="en-US" sz="2000" dirty="0" smtClean="0"/>
              <a:t>	(organize in functions and multiple-file project):</a:t>
            </a:r>
          </a:p>
          <a:p>
            <a:pPr>
              <a:buNone/>
            </a:pPr>
            <a:r>
              <a:rPr lang="en-US" sz="2000" dirty="0" smtClean="0"/>
              <a:t>		- Declare </a:t>
            </a:r>
            <a:r>
              <a:rPr lang="en-US" sz="2000" dirty="0" err="1" smtClean="0"/>
              <a:t>struct</a:t>
            </a:r>
            <a:r>
              <a:rPr lang="en-US" sz="2000" dirty="0" smtClean="0"/>
              <a:t> to represent date (day, month, year).</a:t>
            </a:r>
            <a:endParaRPr lang="en-US" sz="2000" dirty="0"/>
          </a:p>
          <a:p>
            <a:pPr>
              <a:buNone/>
            </a:pPr>
            <a:r>
              <a:rPr lang="en-US" sz="2000" dirty="0" smtClean="0"/>
              <a:t>		- Enter a list of date.</a:t>
            </a:r>
          </a:p>
          <a:p>
            <a:pPr>
              <a:buNone/>
            </a:pPr>
            <a:r>
              <a:rPr lang="en-US" sz="2000" dirty="0" smtClean="0"/>
              <a:t>		- Print the list from the latest date to the oldest one</a:t>
            </a:r>
            <a:r>
              <a:rPr lang="en-US" sz="2000" dirty="0" smtClean="0"/>
              <a:t>.</a:t>
            </a: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5.5: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Write C/C++ program </a:t>
            </a:r>
            <a:r>
              <a:rPr lang="en-US" sz="2000" dirty="0" smtClean="0"/>
              <a:t>as follow: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(organize in functions and multiple-file project)</a:t>
            </a:r>
          </a:p>
          <a:p>
            <a:pPr>
              <a:buNone/>
            </a:pPr>
            <a:r>
              <a:rPr lang="en-US" sz="2000" dirty="0" smtClean="0"/>
              <a:t>		- Enter square matrix N x N of integers.</a:t>
            </a:r>
          </a:p>
          <a:p>
            <a:pPr>
              <a:buNone/>
            </a:pPr>
            <a:r>
              <a:rPr lang="en-US" sz="2000" dirty="0" smtClean="0"/>
              <a:t>		- Print to screen:</a:t>
            </a:r>
          </a:p>
          <a:p>
            <a:pPr>
              <a:buNone/>
            </a:pPr>
            <a:r>
              <a:rPr lang="en-US" sz="2000" dirty="0" smtClean="0"/>
              <a:t>			a) Sum of elements on each diagonal.</a:t>
            </a:r>
          </a:p>
          <a:p>
            <a:pPr>
              <a:buNone/>
            </a:pPr>
            <a:r>
              <a:rPr lang="en-US" sz="2000" dirty="0" smtClean="0"/>
              <a:t>			b) Row index having max sum of elements.</a:t>
            </a:r>
          </a:p>
          <a:p>
            <a:pPr>
              <a:buNone/>
            </a:pPr>
            <a:r>
              <a:rPr lang="en-US" sz="2000" dirty="0" smtClean="0"/>
              <a:t>			c) It is a magic square or not.</a:t>
            </a:r>
          </a:p>
          <a:p>
            <a:pPr>
              <a:buNone/>
            </a:pP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Output format:</a:t>
            </a:r>
          </a:p>
          <a:p>
            <a:pPr>
              <a:buNone/>
            </a:pPr>
            <a:r>
              <a:rPr lang="en-US" sz="2000" i="1" dirty="0" smtClean="0"/>
              <a:t>		Main diagonal = &lt;sum of elements&gt;.</a:t>
            </a:r>
          </a:p>
          <a:p>
            <a:pPr>
              <a:buNone/>
            </a:pPr>
            <a:r>
              <a:rPr lang="en-US" sz="2000" i="1" dirty="0" smtClean="0"/>
              <a:t>		Anti-diagonal = &lt;sum of elements&gt;.</a:t>
            </a:r>
          </a:p>
          <a:p>
            <a:pPr>
              <a:buNone/>
            </a:pPr>
            <a:r>
              <a:rPr lang="en-US" sz="2000" i="1" dirty="0" smtClean="0"/>
              <a:t>		It &lt;is/is not&gt; a magic square.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5.6: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Write C/C++ program to manipulate matrix:</a:t>
            </a:r>
          </a:p>
          <a:p>
            <a:pPr>
              <a:buNone/>
            </a:pPr>
            <a:r>
              <a:rPr lang="en-US" sz="2000" dirty="0" smtClean="0"/>
              <a:t>	(organize in functions and multiple-file project)</a:t>
            </a:r>
          </a:p>
          <a:p>
            <a:pPr>
              <a:buNone/>
            </a:pPr>
            <a:r>
              <a:rPr lang="en-US" sz="2000" dirty="0" smtClean="0"/>
              <a:t>		- Enter a matrix M x N of integers.</a:t>
            </a:r>
          </a:p>
          <a:p>
            <a:pPr>
              <a:buNone/>
            </a:pPr>
            <a:r>
              <a:rPr lang="en-US" sz="2000" dirty="0" smtClean="0"/>
              <a:t>		- Print to screen all elements satisfying its value equals to sum of 	the remaining elements on its row and column.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5.7: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Write C/C++ program to rotate matrix:</a:t>
            </a:r>
          </a:p>
          <a:p>
            <a:pPr>
              <a:buNone/>
            </a:pPr>
            <a:r>
              <a:rPr lang="en-US" sz="2000" dirty="0" smtClean="0"/>
              <a:t>	(organize in functions and multiple-file project)</a:t>
            </a:r>
          </a:p>
          <a:p>
            <a:pPr>
              <a:buNone/>
            </a:pPr>
            <a:r>
              <a:rPr lang="en-US" sz="2000" dirty="0" smtClean="0"/>
              <a:t>		- Enter a matrix M x N of integers.</a:t>
            </a:r>
          </a:p>
          <a:p>
            <a:pPr>
              <a:buNone/>
            </a:pPr>
            <a:r>
              <a:rPr lang="en-US" sz="2000" dirty="0" smtClean="0"/>
              <a:t>		- Rotate left matrix 90 degree and print result.</a:t>
            </a:r>
          </a:p>
          <a:p>
            <a:pPr>
              <a:buNone/>
            </a:pPr>
            <a:r>
              <a:rPr lang="en-US" sz="2000" dirty="0" smtClean="0"/>
              <a:t>		- Rotate right matrix 90 degree and print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23508</TotalTime>
  <Words>953</Words>
  <Application>Microsoft Office PowerPoint</Application>
  <PresentationFormat>On-screen Show (4:3)</PresentationFormat>
  <Paragraphs>338</Paragraphs>
  <Slides>27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Stream</vt:lpstr>
      <vt:lpstr>Array</vt:lpstr>
      <vt:lpstr>Contents</vt:lpstr>
      <vt:lpstr>Array 1-D</vt:lpstr>
      <vt:lpstr>Array 1-D</vt:lpstr>
      <vt:lpstr>Array 1-D</vt:lpstr>
      <vt:lpstr>Array 1-D</vt:lpstr>
      <vt:lpstr>Array 1-D</vt:lpstr>
      <vt:lpstr>Array 1-D</vt:lpstr>
      <vt:lpstr>Array 1-D</vt:lpstr>
      <vt:lpstr>Array 1-D</vt:lpstr>
      <vt:lpstr>Array 1-D</vt:lpstr>
      <vt:lpstr>Array 1-D</vt:lpstr>
      <vt:lpstr>Contents</vt:lpstr>
      <vt:lpstr>Array 2-D</vt:lpstr>
      <vt:lpstr>Array 2-D</vt:lpstr>
      <vt:lpstr>Array 2-D</vt:lpstr>
      <vt:lpstr>Array 2-D</vt:lpstr>
      <vt:lpstr>Array 2-D</vt:lpstr>
      <vt:lpstr>Array 2-D</vt:lpstr>
      <vt:lpstr>Summary</vt:lpstr>
      <vt:lpstr>Practice</vt:lpstr>
      <vt:lpstr>Practice</vt:lpstr>
      <vt:lpstr>Practice</vt:lpstr>
      <vt:lpstr>Practice</vt:lpstr>
      <vt:lpstr>Practice</vt:lpstr>
      <vt:lpstr>Practice</vt:lpstr>
      <vt:lpstr>Practice</vt:lpstr>
    </vt:vector>
  </TitlesOfParts>
  <Company>HCMC University of Natural Sciences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Các nguyên</dc:title>
  <dc:creator>Nguyen Minh Huy</dc:creator>
  <cp:lastModifiedBy>TchyA</cp:lastModifiedBy>
  <cp:revision>1177</cp:revision>
  <dcterms:created xsi:type="dcterms:W3CDTF">2005-11-21T10:16:26Z</dcterms:created>
  <dcterms:modified xsi:type="dcterms:W3CDTF">2024-09-03T08:03:06Z</dcterms:modified>
</cp:coreProperties>
</file>