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688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Stack and Queue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Stack.</a:t>
            </a:r>
          </a:p>
          <a:p>
            <a:r>
              <a:rPr lang="en-US" dirty="0" smtClean="0"/>
              <a:t>Queue.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Stack.</a:t>
            </a:r>
          </a:p>
          <a:p>
            <a:r>
              <a:rPr lang="en-US" dirty="0" smtClean="0"/>
              <a:t>Queue.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concept:</a:t>
            </a:r>
          </a:p>
          <a:p>
            <a:pPr lvl="1"/>
            <a:r>
              <a:rPr lang="en-US" dirty="0" smtClean="0"/>
              <a:t>Collection of elements accessed by LIFO method.</a:t>
            </a:r>
          </a:p>
          <a:p>
            <a:pPr lvl="1"/>
            <a:r>
              <a:rPr lang="en-US" dirty="0" smtClean="0"/>
              <a:t>LIFO (</a:t>
            </a:r>
            <a:r>
              <a:rPr lang="en-US" b="1" dirty="0" smtClean="0">
                <a:solidFill>
                  <a:srgbClr val="FFC000"/>
                </a:solidFill>
              </a:rPr>
              <a:t>L</a:t>
            </a:r>
            <a:r>
              <a:rPr lang="en-US" dirty="0" smtClean="0"/>
              <a:t>ast </a:t>
            </a:r>
            <a:r>
              <a:rPr lang="en-US" b="1" dirty="0" smtClean="0">
                <a:solidFill>
                  <a:srgbClr val="FFC000"/>
                </a:solidFill>
              </a:rPr>
              <a:t>I</a:t>
            </a:r>
            <a:r>
              <a:rPr lang="en-US" dirty="0" smtClean="0"/>
              <a:t>n </a:t>
            </a:r>
            <a:r>
              <a:rPr lang="en-US" b="1" dirty="0" smtClean="0">
                <a:solidFill>
                  <a:srgbClr val="FFC000"/>
                </a:solidFill>
              </a:rPr>
              <a:t>F</a:t>
            </a:r>
            <a:r>
              <a:rPr lang="en-US" dirty="0" smtClean="0"/>
              <a:t>irst </a:t>
            </a:r>
            <a:r>
              <a:rPr lang="en-US" b="1" dirty="0" smtClean="0">
                <a:solidFill>
                  <a:srgbClr val="FFC000"/>
                </a:solidFill>
              </a:rPr>
              <a:t>O</a:t>
            </a:r>
            <a:r>
              <a:rPr lang="en-US" dirty="0" smtClean="0"/>
              <a:t>ut):</a:t>
            </a:r>
          </a:p>
          <a:p>
            <a:pPr lvl="2"/>
            <a:r>
              <a:rPr lang="en-US" dirty="0" smtClean="0"/>
              <a:t>Last insert, first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7010400" y="38100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6400800" y="5791200"/>
            <a:ext cx="21336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7924800" y="38100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934200" y="5562600"/>
            <a:ext cx="1143000" cy="2286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003366">
                  <a:tint val="50000"/>
                  <a:satMod val="300000"/>
                </a:srgbClr>
              </a:gs>
              <a:gs pos="35000">
                <a:srgbClr val="003366">
                  <a:tint val="37000"/>
                  <a:satMod val="300000"/>
                </a:srgbClr>
              </a:gs>
              <a:gs pos="100000">
                <a:srgbClr val="003366">
                  <a:tint val="15000"/>
                  <a:satMod val="350000"/>
                </a:srgbClr>
              </a:gs>
            </a:gsLst>
            <a:lin ang="2700000" scaled="1"/>
            <a:tileRect/>
          </a:gradFill>
          <a:ln w="9525" cap="flat" cmpd="sng" algn="ctr">
            <a:solidFill>
              <a:srgbClr val="00336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glow rad="1016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7117080" y="51816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7117080" y="48006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7117080" y="44196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7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7117080" y="40386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Bent Arrow 13"/>
          <p:cNvSpPr/>
          <p:nvPr/>
        </p:nvSpPr>
        <p:spPr bwMode="auto">
          <a:xfrm rot="5400000">
            <a:off x="6705600" y="3200406"/>
            <a:ext cx="609599" cy="9144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Bent Arrow 14"/>
          <p:cNvSpPr/>
          <p:nvPr/>
        </p:nvSpPr>
        <p:spPr bwMode="auto">
          <a:xfrm>
            <a:off x="7658100" y="3276600"/>
            <a:ext cx="800100" cy="6096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6172200" y="28956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in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7620000" y="28956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out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20" name="Picture 4" descr="Kết quả hình ảnh cho stack clipa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175" y="3352800"/>
            <a:ext cx="1800225" cy="2543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on stack:</a:t>
            </a:r>
          </a:p>
          <a:p>
            <a:pPr lvl="1"/>
            <a:r>
              <a:rPr lang="en-US" dirty="0" smtClean="0"/>
              <a:t>init: initialize stack.</a:t>
            </a:r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: check empty.</a:t>
            </a:r>
          </a:p>
          <a:p>
            <a:pPr lvl="1"/>
            <a:r>
              <a:rPr lang="en-US" dirty="0" err="1" smtClean="0"/>
              <a:t>isFull</a:t>
            </a:r>
            <a:r>
              <a:rPr lang="en-US" dirty="0" smtClean="0"/>
              <a:t>: check full.</a:t>
            </a:r>
          </a:p>
          <a:p>
            <a:pPr lvl="1"/>
            <a:r>
              <a:rPr lang="en-US" dirty="0" smtClean="0"/>
              <a:t>push: insert element.</a:t>
            </a:r>
          </a:p>
          <a:p>
            <a:pPr lvl="1"/>
            <a:r>
              <a:rPr lang="en-US" dirty="0" smtClean="0"/>
              <a:t>pop: remove element.</a:t>
            </a:r>
          </a:p>
          <a:p>
            <a:pPr lvl="1"/>
            <a:r>
              <a:rPr lang="en-US" dirty="0" smtClean="0"/>
              <a:t>peek: read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6400800" y="3200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5791200" y="5181600"/>
            <a:ext cx="21336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7315200" y="3200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324600" y="4953000"/>
            <a:ext cx="1143000" cy="2286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003366">
                  <a:tint val="50000"/>
                  <a:satMod val="300000"/>
                </a:srgbClr>
              </a:gs>
              <a:gs pos="35000">
                <a:srgbClr val="003366">
                  <a:tint val="37000"/>
                  <a:satMod val="300000"/>
                </a:srgbClr>
              </a:gs>
              <a:gs pos="100000">
                <a:srgbClr val="003366">
                  <a:tint val="15000"/>
                  <a:satMod val="350000"/>
                </a:srgbClr>
              </a:gs>
            </a:gsLst>
            <a:lin ang="2700000" scaled="1"/>
            <a:tileRect/>
          </a:gradFill>
          <a:ln w="9525" cap="flat" cmpd="sng" algn="ctr">
            <a:solidFill>
              <a:srgbClr val="00336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glow rad="1016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6507480" y="4572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6507480" y="4191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507480" y="3810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7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Bent Arrow 13"/>
          <p:cNvSpPr/>
          <p:nvPr/>
        </p:nvSpPr>
        <p:spPr bwMode="auto">
          <a:xfrm rot="5400000">
            <a:off x="6210300" y="2705107"/>
            <a:ext cx="609599" cy="6858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Bent Arrow 14"/>
          <p:cNvSpPr/>
          <p:nvPr/>
        </p:nvSpPr>
        <p:spPr bwMode="auto">
          <a:xfrm>
            <a:off x="7048500" y="2667000"/>
            <a:ext cx="647700" cy="6096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181600" y="22098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7467600" y="22098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Down Arrow 33"/>
          <p:cNvSpPr/>
          <p:nvPr/>
        </p:nvSpPr>
        <p:spPr bwMode="auto">
          <a:xfrm rot="16200000">
            <a:off x="6134100" y="3379232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5410200" y="33528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peek</a:t>
            </a:r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7696200" y="2590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5410200" y="2590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8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6507480" y="3429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implementation:</a:t>
            </a:r>
          </a:p>
          <a:p>
            <a:pPr lvl="1"/>
            <a:r>
              <a:rPr lang="en-US" dirty="0" smtClean="0"/>
              <a:t>Declaration: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</a:rPr>
              <a:t>// Use dynamic array.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struct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Stack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</a:rPr>
              <a:t>  *</a:t>
            </a:r>
            <a:r>
              <a:rPr lang="en-US" sz="1800" dirty="0" smtClean="0"/>
              <a:t>data;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size;</a:t>
            </a:r>
            <a:br>
              <a:rPr lang="en-US" sz="1800" dirty="0" smtClean="0"/>
            </a:br>
            <a:r>
              <a:rPr lang="en-US" sz="1800" dirty="0" smtClean="0"/>
              <a:t> 	</a:t>
            </a:r>
            <a:r>
              <a:rPr lang="en-US" sz="1800" dirty="0" err="1" smtClean="0"/>
              <a:t>int</a:t>
            </a:r>
            <a:r>
              <a:rPr lang="en-US" sz="1800" dirty="0" smtClean="0"/>
              <a:t>   top; 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dirty="0" smtClean="0"/>
              <a:t>	</a:t>
            </a:r>
            <a:br>
              <a:rPr lang="en-US" sz="1800" dirty="0" smtClean="0"/>
            </a:b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81800" y="6477000"/>
            <a:ext cx="2133600" cy="381000"/>
          </a:xfrm>
        </p:spPr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81600" y="2133600"/>
            <a:ext cx="3657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 Use linked list.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kern="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struct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Stack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{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Node 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*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top;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};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791200" y="4964668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648200" y="51170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6858000" y="4964668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6400800" y="53456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7467600" y="53456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7848600" y="51170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5334000" y="53456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1371600" y="49646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1752600" y="49646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2133600" y="49646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2514600" y="49646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85800" y="49646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9" name="Straight Connector 38"/>
          <p:cNvCxnSpPr/>
          <p:nvPr/>
        </p:nvCxnSpPr>
        <p:spPr bwMode="auto">
          <a:xfrm flipV="1">
            <a:off x="2362200" y="53340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40" name="AutoShape 9"/>
          <p:cNvSpPr>
            <a:spLocks noChangeArrowheads="1"/>
          </p:cNvSpPr>
          <p:nvPr/>
        </p:nvSpPr>
        <p:spPr bwMode="auto">
          <a:xfrm>
            <a:off x="2895600" y="49646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057400" y="56504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cxnSp>
        <p:nvCxnSpPr>
          <p:cNvPr id="45" name="Straight Connector 44"/>
          <p:cNvCxnSpPr/>
          <p:nvPr/>
        </p:nvCxnSpPr>
        <p:spPr bwMode="auto">
          <a:xfrm>
            <a:off x="1447800" y="4810680"/>
            <a:ext cx="18288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2057400" y="44429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animBg="1"/>
      <p:bldP spid="16" grpId="0"/>
      <p:bldP spid="17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implementation:</a:t>
            </a:r>
          </a:p>
          <a:p>
            <a:pPr lvl="1"/>
            <a:r>
              <a:rPr lang="en-US" dirty="0" smtClean="0"/>
              <a:t>init: initialize empty stack.</a:t>
            </a:r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: check top position.</a:t>
            </a:r>
          </a:p>
          <a:p>
            <a:pPr lvl="1"/>
            <a:r>
              <a:rPr lang="en-US" dirty="0" err="1" smtClean="0"/>
              <a:t>isFull</a:t>
            </a:r>
            <a:r>
              <a:rPr lang="en-US" dirty="0" smtClean="0"/>
              <a:t>: check top position.</a:t>
            </a:r>
          </a:p>
          <a:p>
            <a:pPr lvl="2"/>
            <a:endParaRPr lang="en-US" dirty="0" smtClean="0"/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67400" y="37454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34200" y="37454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553200" y="39740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1447800" y="41264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1828800" y="41264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209800" y="41264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2590800" y="41264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62000" y="41264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19" name="Straight Connector 18"/>
          <p:cNvCxnSpPr/>
          <p:nvPr/>
        </p:nvCxnSpPr>
        <p:spPr bwMode="auto">
          <a:xfrm flipV="1">
            <a:off x="1676400" y="44958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2971800" y="41264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371600" y="48122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1524000" y="3972480"/>
            <a:ext cx="18288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133600" y="36047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</a:t>
            </a:r>
          </a:p>
        </p:txBody>
      </p:sp>
      <p:cxnSp>
        <p:nvCxnSpPr>
          <p:cNvPr id="24" name="Straight Connector 23"/>
          <p:cNvCxnSpPr/>
          <p:nvPr/>
        </p:nvCxnSpPr>
        <p:spPr bwMode="auto">
          <a:xfrm flipV="1">
            <a:off x="3200400" y="44958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895600" y="48122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1143000" y="5181600"/>
            <a:ext cx="990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Empty </a:t>
            </a:r>
          </a:p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position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667000" y="5181600"/>
            <a:ext cx="990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Full</a:t>
            </a:r>
          </a:p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position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324600" y="4114800"/>
            <a:ext cx="990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Empty </a:t>
            </a:r>
          </a:p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position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371600" y="3200400"/>
            <a:ext cx="243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019800" y="32004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 animBg="1"/>
      <p:bldP spid="15" grpId="0" animBg="1"/>
      <p:bldP spid="16" grpId="0" animBg="1"/>
      <p:bldP spid="17" grpId="0" animBg="1"/>
      <p:bldP spid="18" grpId="0"/>
      <p:bldP spid="20" grpId="0" animBg="1"/>
      <p:bldP spid="21" grpId="0"/>
      <p:bldP spid="23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implementation:</a:t>
            </a:r>
          </a:p>
          <a:p>
            <a:pPr lvl="1"/>
            <a:r>
              <a:rPr lang="en-US" dirty="0" smtClean="0"/>
              <a:t>Push: insert element into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5105400" y="3516868"/>
            <a:ext cx="685800" cy="521732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876800" y="3135868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Add head</a:t>
            </a:r>
          </a:p>
        </p:txBody>
      </p:sp>
      <p:sp>
        <p:nvSpPr>
          <p:cNvPr id="8" name="Down Arrow 7"/>
          <p:cNvSpPr/>
          <p:nvPr/>
        </p:nvSpPr>
        <p:spPr bwMode="auto">
          <a:xfrm>
            <a:off x="5257800" y="41148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6388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495800" y="43434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7056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2484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73152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696200" y="43434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51816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22098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19050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63246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x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Down Arrow 36"/>
          <p:cNvSpPr/>
          <p:nvPr/>
        </p:nvSpPr>
        <p:spPr bwMode="auto">
          <a:xfrm rot="5400000">
            <a:off x="5905500" y="35433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981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x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>
            <a:off x="2057400" y="37338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43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sp>
        <p:nvSpPr>
          <p:cNvPr id="34" name="Down Arrow 33"/>
          <p:cNvSpPr/>
          <p:nvPr/>
        </p:nvSpPr>
        <p:spPr bwMode="auto">
          <a:xfrm rot="16200000">
            <a:off x="2400300" y="44577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2286000" y="36576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Insert position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2667000" y="4507468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Shift 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 animBg="1"/>
      <p:bldP spid="16" grpId="0"/>
      <p:bldP spid="26" grpId="0" animBg="1"/>
      <p:bldP spid="27" grpId="0" animBg="1"/>
      <p:bldP spid="28" grpId="0" animBg="1"/>
      <p:bldP spid="29" grpId="0" animBg="1"/>
      <p:bldP spid="30" grpId="0"/>
      <p:bldP spid="32" grpId="0" animBg="1"/>
      <p:bldP spid="33" grpId="0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34" grpId="0" animBg="1"/>
      <p:bldP spid="35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implementation:</a:t>
            </a:r>
          </a:p>
          <a:p>
            <a:pPr lvl="1"/>
            <a:r>
              <a:rPr lang="en-US" dirty="0" smtClean="0"/>
              <a:t>Pop: remove element from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6388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495800" y="43434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7056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2484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73152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696200" y="43434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51816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25908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2860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5867400" y="3429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Down Arrow 36"/>
          <p:cNvSpPr/>
          <p:nvPr/>
        </p:nvSpPr>
        <p:spPr bwMode="auto">
          <a:xfrm rot="10800000">
            <a:off x="5905500" y="38100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981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 rot="10800000">
            <a:off x="2057400" y="36576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>
            <a:off x="5562600" y="4114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5562600" y="4114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Down Arrow 41"/>
          <p:cNvSpPr/>
          <p:nvPr/>
        </p:nvSpPr>
        <p:spPr bwMode="auto">
          <a:xfrm rot="5400000">
            <a:off x="2095500" y="44577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2286000" y="3657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Remove position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1143000" y="4507468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Shift top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5257800" y="31242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Remove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6" grpId="0"/>
      <p:bldP spid="26" grpId="0" animBg="1"/>
      <p:bldP spid="27" grpId="0" animBg="1"/>
      <p:bldP spid="28" grpId="0" animBg="1"/>
      <p:bldP spid="29" grpId="0" animBg="1"/>
      <p:bldP spid="30" grpId="0"/>
      <p:bldP spid="32" grpId="0" animBg="1"/>
      <p:bldP spid="33" grpId="0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/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implementation:</a:t>
            </a:r>
          </a:p>
          <a:p>
            <a:pPr lvl="1"/>
            <a:r>
              <a:rPr lang="en-US" dirty="0" smtClean="0"/>
              <a:t>Peek: read element from stack, do not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6388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495800" y="43434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705600" y="4191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2484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73152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696200" y="43434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5181600" y="4572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25908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2860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5867400" y="3429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Down Arrow 36"/>
          <p:cNvSpPr/>
          <p:nvPr/>
        </p:nvSpPr>
        <p:spPr bwMode="auto">
          <a:xfrm rot="10800000">
            <a:off x="5905500" y="38100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981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 rot="10800000">
            <a:off x="2057400" y="36576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1905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2286000" y="3657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Read position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5410200" y="31242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Read 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6" grpId="0"/>
      <p:bldP spid="26" grpId="0" animBg="1"/>
      <p:bldP spid="27" grpId="0" animBg="1"/>
      <p:bldP spid="28" grpId="0" animBg="1"/>
      <p:bldP spid="29" grpId="0" animBg="1"/>
      <p:bldP spid="30" grpId="0"/>
      <p:bldP spid="32" grpId="0" animBg="1"/>
      <p:bldP spid="33" grpId="0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 applications:</a:t>
            </a:r>
          </a:p>
          <a:p>
            <a:pPr lvl="1"/>
            <a:r>
              <a:rPr lang="en-US" dirty="0" smtClean="0"/>
              <a:t>Perform reversed operations:</a:t>
            </a:r>
          </a:p>
          <a:p>
            <a:pPr lvl="2"/>
            <a:r>
              <a:rPr lang="en-US" dirty="0" smtClean="0"/>
              <a:t>Convert decimal to binary.</a:t>
            </a:r>
          </a:p>
          <a:p>
            <a:pPr lvl="1"/>
            <a:r>
              <a:rPr lang="en-US" dirty="0" smtClean="0"/>
              <a:t>Process expression:</a:t>
            </a:r>
          </a:p>
          <a:p>
            <a:pPr lvl="2"/>
            <a:r>
              <a:rPr lang="en-US" dirty="0" smtClean="0"/>
              <a:t>Reversed Polish Notation.</a:t>
            </a:r>
          </a:p>
          <a:p>
            <a:pPr lvl="1"/>
            <a:r>
              <a:rPr lang="en-US" dirty="0" smtClean="0"/>
              <a:t>Simulate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6705600" y="3581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6096000" y="5562600"/>
            <a:ext cx="21336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Stack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7620000" y="3581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6629400" y="5334000"/>
            <a:ext cx="1143000" cy="2286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003366">
                  <a:tint val="50000"/>
                  <a:satMod val="300000"/>
                </a:srgbClr>
              </a:gs>
              <a:gs pos="35000">
                <a:srgbClr val="003366">
                  <a:tint val="37000"/>
                  <a:satMod val="300000"/>
                </a:srgbClr>
              </a:gs>
              <a:gs pos="100000">
                <a:srgbClr val="003366">
                  <a:tint val="15000"/>
                  <a:satMod val="350000"/>
                </a:srgbClr>
              </a:gs>
            </a:gsLst>
            <a:lin ang="2700000" scaled="1"/>
            <a:tileRect/>
          </a:gradFill>
          <a:ln w="9525" cap="flat" cmpd="sng" algn="ctr">
            <a:solidFill>
              <a:srgbClr val="00336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glow rad="1016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812280" y="4953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solidFill>
                  <a:srgbClr val="003366"/>
                </a:solidFill>
                <a:latin typeface="+mj-lt"/>
                <a:cs typeface="+mn-cs"/>
              </a:rPr>
              <a:t>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6812280" y="4572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solidFill>
                  <a:srgbClr val="003366"/>
                </a:solidFill>
                <a:latin typeface="+mj-lt"/>
                <a:cs typeface="+mn-cs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812280" y="4191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>
                <a:solidFill>
                  <a:srgbClr val="003366"/>
                </a:solidFill>
                <a:latin typeface="+mj-lt"/>
                <a:cs typeface="+mn-cs"/>
              </a:rPr>
              <a:t>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6812280" y="3810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>
                <a:solidFill>
                  <a:srgbClr val="003366"/>
                </a:solidFill>
                <a:latin typeface="+mj-lt"/>
                <a:cs typeface="+mn-cs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5334000" y="2743200"/>
            <a:ext cx="990600" cy="6096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x = 10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x % 2</a:t>
            </a:r>
          </a:p>
        </p:txBody>
      </p:sp>
      <p:sp>
        <p:nvSpPr>
          <p:cNvPr id="25" name="Bent Arrow 24"/>
          <p:cNvSpPr/>
          <p:nvPr/>
        </p:nvSpPr>
        <p:spPr bwMode="auto">
          <a:xfrm rot="5400000">
            <a:off x="6400800" y="2971806"/>
            <a:ext cx="609599" cy="9144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Bent Arrow 25"/>
          <p:cNvSpPr/>
          <p:nvPr/>
        </p:nvSpPr>
        <p:spPr bwMode="auto">
          <a:xfrm>
            <a:off x="7353300" y="3048000"/>
            <a:ext cx="800100" cy="6096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8077200" y="2819400"/>
            <a:ext cx="990600" cy="6096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9" grpId="0" animBg="1"/>
      <p:bldP spid="14" grpId="0" animBg="1"/>
      <p:bldP spid="15" grpId="0" animBg="1"/>
      <p:bldP spid="16" grpId="0" animBg="1"/>
      <p:bldP spid="21" grpId="0"/>
      <p:bldP spid="25" grpId="0" animBg="1"/>
      <p:bldP spid="26" grpId="0" animBg="1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Stack.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Queue.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concept:</a:t>
            </a:r>
          </a:p>
          <a:p>
            <a:pPr lvl="1"/>
            <a:r>
              <a:rPr lang="en-US" dirty="0" smtClean="0"/>
              <a:t>Collection of elements accessed by FIFO method.</a:t>
            </a:r>
          </a:p>
          <a:p>
            <a:pPr lvl="1"/>
            <a:r>
              <a:rPr lang="en-US" dirty="0" smtClean="0"/>
              <a:t>FIFO (</a:t>
            </a:r>
            <a:r>
              <a:rPr lang="en-US" b="1" dirty="0" smtClean="0">
                <a:solidFill>
                  <a:srgbClr val="FFC000"/>
                </a:solidFill>
              </a:rPr>
              <a:t>F</a:t>
            </a:r>
            <a:r>
              <a:rPr lang="en-US" dirty="0" smtClean="0"/>
              <a:t>irst </a:t>
            </a:r>
            <a:r>
              <a:rPr lang="en-US" b="1" dirty="0" smtClean="0">
                <a:solidFill>
                  <a:srgbClr val="FFC000"/>
                </a:solidFill>
              </a:rPr>
              <a:t>I</a:t>
            </a:r>
            <a:r>
              <a:rPr lang="en-US" dirty="0" smtClean="0"/>
              <a:t>n </a:t>
            </a:r>
            <a:r>
              <a:rPr lang="en-US" b="1" dirty="0" smtClean="0">
                <a:solidFill>
                  <a:srgbClr val="FFC000"/>
                </a:solidFill>
              </a:rPr>
              <a:t>F</a:t>
            </a:r>
            <a:r>
              <a:rPr lang="en-US" dirty="0" smtClean="0"/>
              <a:t>irst </a:t>
            </a:r>
            <a:r>
              <a:rPr lang="en-US" b="1" dirty="0" smtClean="0">
                <a:solidFill>
                  <a:srgbClr val="FFC000"/>
                </a:solidFill>
              </a:rPr>
              <a:t>O</a:t>
            </a:r>
            <a:r>
              <a:rPr lang="en-US" dirty="0" smtClean="0"/>
              <a:t>ut):</a:t>
            </a:r>
          </a:p>
          <a:p>
            <a:pPr lvl="2"/>
            <a:r>
              <a:rPr lang="en-US" dirty="0" smtClean="0"/>
              <a:t>First come first serve.</a:t>
            </a:r>
          </a:p>
          <a:p>
            <a:pPr lvl="2"/>
            <a:r>
              <a:rPr lang="en-US" dirty="0" smtClean="0"/>
              <a:t>First insert first </a:t>
            </a:r>
            <a:r>
              <a:rPr lang="en-US" dirty="0" smtClean="0"/>
              <a:t>remove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6858000" y="35052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5486400" y="4191000"/>
            <a:ext cx="13716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7772400" y="35052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6964680" y="4876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6964680" y="4495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964680" y="4114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7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6964680" y="3733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Bent Arrow 13"/>
          <p:cNvSpPr/>
          <p:nvPr/>
        </p:nvSpPr>
        <p:spPr bwMode="auto">
          <a:xfrm rot="5400000">
            <a:off x="6553200" y="2895606"/>
            <a:ext cx="609599" cy="9144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943600" y="2590800"/>
            <a:ext cx="18288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insert last remove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6629400" y="5791200"/>
            <a:ext cx="22098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insert first remove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Bent Arrow 45"/>
          <p:cNvSpPr/>
          <p:nvPr/>
        </p:nvSpPr>
        <p:spPr bwMode="auto">
          <a:xfrm rot="10800000" flipH="1">
            <a:off x="7467600" y="5257800"/>
            <a:ext cx="762000" cy="6096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9218" name="Picture 2" descr="https://encrypted-tbn0.google.com/images?q=tbn:ANd9GcRWRuxL_9udDwipT9BFaTGV7Z44aTrgrvzAkbkN8VxQSc_pepxj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733800"/>
            <a:ext cx="2514600" cy="205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26" grpId="0"/>
      <p:bldP spid="27" grpId="0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on queue:</a:t>
            </a:r>
          </a:p>
          <a:p>
            <a:pPr lvl="1"/>
            <a:r>
              <a:rPr lang="en-US" dirty="0" smtClean="0"/>
              <a:t>init: initialize queue.</a:t>
            </a:r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: check empty.</a:t>
            </a:r>
          </a:p>
          <a:p>
            <a:pPr lvl="1"/>
            <a:r>
              <a:rPr lang="en-US" dirty="0" err="1" smtClean="0"/>
              <a:t>isFull</a:t>
            </a:r>
            <a:r>
              <a:rPr lang="en-US" dirty="0" smtClean="0"/>
              <a:t>: check full.</a:t>
            </a:r>
          </a:p>
          <a:p>
            <a:pPr lvl="1"/>
            <a:r>
              <a:rPr lang="en-US" dirty="0" smtClean="0"/>
              <a:t>push: insert element.</a:t>
            </a:r>
          </a:p>
          <a:p>
            <a:pPr lvl="1"/>
            <a:r>
              <a:rPr lang="en-US" dirty="0" smtClean="0"/>
              <a:t>pop: pop element.</a:t>
            </a:r>
          </a:p>
          <a:p>
            <a:pPr lvl="1"/>
            <a:r>
              <a:rPr lang="en-US" dirty="0" smtClean="0"/>
              <a:t>peek: read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6400800" y="3200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4648200" y="3886200"/>
            <a:ext cx="21336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7315200" y="3200400"/>
            <a:ext cx="0" cy="1753394"/>
          </a:xfrm>
          <a:prstGeom prst="straightConnector1">
            <a:avLst/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C000"/>
            </a:solidFill>
            <a:prstDash val="solid"/>
            <a:headEnd/>
            <a:tailEnd/>
          </a:ln>
          <a:effectLst>
            <a:glow rad="139700">
              <a:srgbClr val="002A56">
                <a:satMod val="175000"/>
                <a:alpha val="40000"/>
              </a:srgbClr>
            </a:glow>
            <a:outerShdw blurRad="40000" dist="20000" dir="5400000" rotWithShape="0">
              <a:schemeClr val="tx1">
                <a:alpha val="60000"/>
              </a:schemeClr>
            </a:outerShdw>
          </a:effectLst>
        </p:spPr>
      </p:cxn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6507480" y="4572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6507480" y="4191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507480" y="3810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7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Bent Arrow 13"/>
          <p:cNvSpPr/>
          <p:nvPr/>
        </p:nvSpPr>
        <p:spPr bwMode="auto">
          <a:xfrm rot="5400000">
            <a:off x="6210300" y="2705107"/>
            <a:ext cx="609599" cy="6858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Bent Arrow 14"/>
          <p:cNvSpPr/>
          <p:nvPr/>
        </p:nvSpPr>
        <p:spPr bwMode="auto">
          <a:xfrm rot="10800000" flipH="1">
            <a:off x="7010400" y="4952999"/>
            <a:ext cx="647700" cy="609600"/>
          </a:xfrm>
          <a:prstGeom prst="bentArrow">
            <a:avLst>
              <a:gd name="adj1" fmla="val 19156"/>
              <a:gd name="adj2" fmla="val 25000"/>
              <a:gd name="adj3" fmla="val 25000"/>
              <a:gd name="adj4" fmla="val 43750"/>
            </a:avLst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181600" y="22098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7467600" y="4876800"/>
            <a:ext cx="1143000" cy="457200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noFill/>
            <a:prstDash val="sysDash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Down Arrow 33"/>
          <p:cNvSpPr/>
          <p:nvPr/>
        </p:nvSpPr>
        <p:spPr bwMode="auto">
          <a:xfrm rot="16200000">
            <a:off x="6134100" y="46101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5410200" y="45836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peek</a:t>
            </a:r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7696200" y="5257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 smtClean="0">
                <a:solidFill>
                  <a:srgbClr val="003366"/>
                </a:solidFill>
                <a:latin typeface="+mj-lt"/>
                <a:cs typeface="+mn-cs"/>
              </a:rPr>
              <a:t>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5410200" y="25908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noProof="0" dirty="0" smtClean="0">
                <a:solidFill>
                  <a:srgbClr val="003366"/>
                </a:solidFill>
                <a:latin typeface="+mj-lt"/>
                <a:cs typeface="+mn-cs"/>
              </a:rPr>
              <a:t>8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6507480" y="3429000"/>
            <a:ext cx="731520" cy="304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E8848">
                  <a:tint val="50000"/>
                  <a:satMod val="300000"/>
                </a:srgbClr>
              </a:gs>
              <a:gs pos="35000">
                <a:srgbClr val="DE8848">
                  <a:tint val="37000"/>
                  <a:satMod val="300000"/>
                </a:srgbClr>
              </a:gs>
              <a:gs pos="100000">
                <a:srgbClr val="DE884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E884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implementation:</a:t>
            </a:r>
          </a:p>
          <a:p>
            <a:pPr lvl="1"/>
            <a:r>
              <a:rPr lang="en-US" dirty="0" smtClean="0"/>
              <a:t>Declaration: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</a:rPr>
              <a:t>// Use dynamic array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struct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Queue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</a:rPr>
              <a:t>  *</a:t>
            </a:r>
            <a:r>
              <a:rPr lang="en-US" sz="1800" dirty="0" smtClean="0"/>
              <a:t>data;</a:t>
            </a:r>
            <a:br>
              <a:rPr lang="en-US" sz="1800" dirty="0" smtClean="0"/>
            </a:br>
            <a:r>
              <a:rPr lang="en-US" sz="1800" dirty="0" smtClean="0"/>
              <a:t> 	</a:t>
            </a:r>
            <a:r>
              <a:rPr lang="en-US" sz="1800" dirty="0" err="1" smtClean="0"/>
              <a:t>int</a:t>
            </a:r>
            <a:r>
              <a:rPr lang="en-US" sz="1800" dirty="0" smtClean="0"/>
              <a:t>   size; 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in;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out;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648200" y="2133600"/>
            <a:ext cx="4343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// Use linked list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kern="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struct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Queue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{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Node 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*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head;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Node 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*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tail;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};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791200" y="5193268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48200" y="53456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858000" y="5193268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6400800" y="55742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7467600" y="55742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848600" y="53456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5334000" y="55742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1371600" y="5193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1752600" y="5193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133600" y="5193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2514600" y="5193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85800" y="51932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19" name="Straight Connector 18"/>
          <p:cNvCxnSpPr/>
          <p:nvPr/>
        </p:nvCxnSpPr>
        <p:spPr bwMode="auto">
          <a:xfrm flipV="1">
            <a:off x="1600200" y="55626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2895600" y="5193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295400" y="58790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1447800" y="5039280"/>
            <a:ext cx="18288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057400" y="4671536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</a:t>
            </a:r>
          </a:p>
        </p:txBody>
      </p:sp>
      <p:cxnSp>
        <p:nvCxnSpPr>
          <p:cNvPr id="24" name="Straight Connector 23"/>
          <p:cNvCxnSpPr/>
          <p:nvPr/>
        </p:nvCxnSpPr>
        <p:spPr bwMode="auto">
          <a:xfrm flipV="1">
            <a:off x="2362200" y="55626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209800" y="58790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934200" y="4419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cxnSp>
        <p:nvCxnSpPr>
          <p:cNvPr id="27" name="Straight Connector 26"/>
          <p:cNvCxnSpPr>
            <a:stCxn id="26" idx="2"/>
          </p:cNvCxnSpPr>
          <p:nvPr/>
        </p:nvCxnSpPr>
        <p:spPr bwMode="auto">
          <a:xfrm rot="5400000">
            <a:off x="7042269" y="4985663"/>
            <a:ext cx="393462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2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implementation:</a:t>
            </a:r>
          </a:p>
          <a:p>
            <a:pPr lvl="1"/>
            <a:r>
              <a:rPr lang="en-US" dirty="0" smtClean="0"/>
              <a:t>init: initialize empty queue.</a:t>
            </a:r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: check in and out position.</a:t>
            </a:r>
          </a:p>
          <a:p>
            <a:pPr lvl="1"/>
            <a:r>
              <a:rPr lang="en-US" dirty="0" err="1" smtClean="0"/>
              <a:t>isFull</a:t>
            </a:r>
            <a:r>
              <a:rPr lang="en-US" dirty="0" smtClean="0"/>
              <a:t>: check in and out position.</a:t>
            </a:r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19800" y="43550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086600" y="43550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6705600" y="4583668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1447800" y="4624864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1828800" y="4624864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2209800" y="4624864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2590800" y="4624864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62000" y="4624864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1524000" y="4994196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971800" y="4624864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066800" y="531066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1524000" y="3949144"/>
            <a:ext cx="18288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133600" y="3581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</a:t>
            </a:r>
          </a:p>
        </p:txBody>
      </p:sp>
      <p:cxnSp>
        <p:nvCxnSpPr>
          <p:cNvPr id="20" name="Straight Connector 19"/>
          <p:cNvCxnSpPr/>
          <p:nvPr/>
        </p:nvCxnSpPr>
        <p:spPr bwMode="auto">
          <a:xfrm flipV="1">
            <a:off x="1752600" y="4994196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600200" y="531066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09600" y="5603796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Empty position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477000" y="4724400"/>
            <a:ext cx="990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Empty </a:t>
            </a:r>
          </a:p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position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371600" y="3200400"/>
            <a:ext cx="243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172200" y="32004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524000" y="4255532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Full position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371600" y="3962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cxnSp>
        <p:nvCxnSpPr>
          <p:cNvPr id="30" name="Straight Connector 29"/>
          <p:cNvCxnSpPr/>
          <p:nvPr/>
        </p:nvCxnSpPr>
        <p:spPr bwMode="auto">
          <a:xfrm rot="5400000">
            <a:off x="3047603" y="4483735"/>
            <a:ext cx="304800" cy="794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2971800" y="3962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cxnSp>
        <p:nvCxnSpPr>
          <p:cNvPr id="36" name="Straight Connector 35"/>
          <p:cNvCxnSpPr/>
          <p:nvPr/>
        </p:nvCxnSpPr>
        <p:spPr bwMode="auto">
          <a:xfrm rot="5400000">
            <a:off x="1523603" y="4483735"/>
            <a:ext cx="304800" cy="794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7086600" y="3657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 bwMode="auto">
          <a:xfrm rot="5400000">
            <a:off x="7194669" y="4223663"/>
            <a:ext cx="393462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4" grpId="0"/>
      <p:bldP spid="26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implementation:</a:t>
            </a:r>
          </a:p>
          <a:p>
            <a:pPr lvl="1"/>
            <a:r>
              <a:rPr lang="en-US" dirty="0" smtClean="0"/>
              <a:t>Push: insert element into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7315200" y="3440668"/>
            <a:ext cx="685800" cy="521732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62800" y="3124200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Add tail</a:t>
            </a:r>
          </a:p>
        </p:txBody>
      </p:sp>
      <p:sp>
        <p:nvSpPr>
          <p:cNvPr id="8" name="Down Arrow 7"/>
          <p:cNvSpPr/>
          <p:nvPr/>
        </p:nvSpPr>
        <p:spPr bwMode="auto">
          <a:xfrm>
            <a:off x="7467600" y="40386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6388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495800" y="42672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7056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62484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51816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13716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10668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6477000" y="3429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x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Down Arrow 36"/>
          <p:cNvSpPr/>
          <p:nvPr/>
        </p:nvSpPr>
        <p:spPr bwMode="auto">
          <a:xfrm rot="16200000">
            <a:off x="6972300" y="34671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981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x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>
            <a:off x="2057400" y="37338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43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 flipV="1">
            <a:off x="2209800" y="44196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19812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781800" y="5029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cxnSp>
        <p:nvCxnSpPr>
          <p:cNvPr id="50" name="Straight Connector 49"/>
          <p:cNvCxnSpPr/>
          <p:nvPr/>
        </p:nvCxnSpPr>
        <p:spPr bwMode="auto">
          <a:xfrm rot="16200000" flipV="1">
            <a:off x="6896101" y="4838701"/>
            <a:ext cx="381001" cy="1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43" name="Down Arrow 42"/>
          <p:cNvSpPr/>
          <p:nvPr/>
        </p:nvSpPr>
        <p:spPr bwMode="auto">
          <a:xfrm rot="16200000">
            <a:off x="2400300" y="44577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2286000" y="3657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Insert position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2667000" y="4507468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Shift in</a:t>
            </a: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73152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7696200" y="42788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/>
      <p:bldP spid="11" grpId="0" animBg="1"/>
      <p:bldP spid="36" grpId="0" animBg="1"/>
      <p:bldP spid="37" grpId="0" animBg="1"/>
      <p:bldP spid="41" grpId="0"/>
      <p:bldP spid="49" grpId="0"/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implementation:</a:t>
            </a:r>
          </a:p>
          <a:p>
            <a:pPr lvl="1"/>
            <a:r>
              <a:rPr lang="en-US" dirty="0" smtClean="0"/>
              <a:t>Pop: remove element from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13716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10668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219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 rot="10800000">
            <a:off x="1295400" y="36576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514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 flipV="1">
            <a:off x="2133600" y="44196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19050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45" name="Down Arrow 44"/>
          <p:cNvSpPr/>
          <p:nvPr/>
        </p:nvSpPr>
        <p:spPr bwMode="auto">
          <a:xfrm rot="16200000">
            <a:off x="1562100" y="44577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1524000" y="3657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Remove position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38200" y="5040868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Shift out</a:t>
            </a:r>
          </a:p>
        </p:txBody>
      </p:sp>
      <p:sp>
        <p:nvSpPr>
          <p:cNvPr id="55" name="AutoShape 9"/>
          <p:cNvSpPr>
            <a:spLocks noChangeArrowheads="1"/>
          </p:cNvSpPr>
          <p:nvPr/>
        </p:nvSpPr>
        <p:spPr bwMode="auto">
          <a:xfrm>
            <a:off x="56388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4495800" y="42672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57" name="AutoShape 9"/>
          <p:cNvSpPr>
            <a:spLocks noChangeArrowheads="1"/>
          </p:cNvSpPr>
          <p:nvPr/>
        </p:nvSpPr>
        <p:spPr bwMode="auto">
          <a:xfrm>
            <a:off x="67056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62484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51816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781800" y="5029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cxnSp>
        <p:nvCxnSpPr>
          <p:cNvPr id="64" name="Straight Connector 63"/>
          <p:cNvCxnSpPr/>
          <p:nvPr/>
        </p:nvCxnSpPr>
        <p:spPr bwMode="auto">
          <a:xfrm rot="16200000" flipV="1">
            <a:off x="6896101" y="4838701"/>
            <a:ext cx="381001" cy="1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65" name="Straight Connector 64"/>
          <p:cNvCxnSpPr/>
          <p:nvPr/>
        </p:nvCxnSpPr>
        <p:spPr bwMode="auto">
          <a:xfrm>
            <a:off x="73152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7696200" y="42788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sp>
        <p:nvSpPr>
          <p:cNvPr id="67" name="AutoShape 9"/>
          <p:cNvSpPr>
            <a:spLocks noChangeArrowheads="1"/>
          </p:cNvSpPr>
          <p:nvPr/>
        </p:nvSpPr>
        <p:spPr bwMode="auto">
          <a:xfrm>
            <a:off x="5867400" y="3352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68" name="Down Arrow 67"/>
          <p:cNvSpPr/>
          <p:nvPr/>
        </p:nvSpPr>
        <p:spPr bwMode="auto">
          <a:xfrm rot="10800000">
            <a:off x="5905500" y="37338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9" name="Straight Connector 68"/>
          <p:cNvCxnSpPr/>
          <p:nvPr/>
        </p:nvCxnSpPr>
        <p:spPr bwMode="auto">
          <a:xfrm>
            <a:off x="5562600" y="40386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/>
          <p:nvPr/>
        </p:nvCxnSpPr>
        <p:spPr bwMode="auto">
          <a:xfrm flipH="1">
            <a:off x="5562600" y="40386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5257800" y="30480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Remove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5" grpId="0" animBg="1"/>
      <p:bldP spid="56" grpId="0"/>
      <p:bldP spid="57" grpId="0" animBg="1"/>
      <p:bldP spid="63" grpId="0"/>
      <p:bldP spid="66" grpId="0"/>
      <p:bldP spid="67" grpId="0" animBg="1"/>
      <p:bldP spid="68" grpId="0" animBg="1"/>
      <p:bldP spid="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implementation:</a:t>
            </a:r>
          </a:p>
          <a:p>
            <a:pPr lvl="1"/>
            <a:r>
              <a:rPr lang="en-US" dirty="0" smtClean="0"/>
              <a:t>Peek: read element from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219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1600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1981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362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33400" y="4038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1371600" y="4407932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27432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10668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</a:t>
            </a: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1219200" y="3276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Down Arrow 38"/>
          <p:cNvSpPr/>
          <p:nvPr/>
        </p:nvSpPr>
        <p:spPr bwMode="auto">
          <a:xfrm rot="10800000">
            <a:off x="1295400" y="36576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1066800" y="2526268"/>
            <a:ext cx="2514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dynamic array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24400" y="2514600"/>
            <a:ext cx="198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Use linked list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 flipV="1">
            <a:off x="2133600" y="4419600"/>
            <a:ext cx="0" cy="3164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1905000" y="4724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524000" y="3657600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Read position</a:t>
            </a:r>
          </a:p>
        </p:txBody>
      </p:sp>
      <p:sp>
        <p:nvSpPr>
          <p:cNvPr id="44" name="AutoShape 9"/>
          <p:cNvSpPr>
            <a:spLocks noChangeArrowheads="1"/>
          </p:cNvSpPr>
          <p:nvPr/>
        </p:nvSpPr>
        <p:spPr bwMode="auto">
          <a:xfrm>
            <a:off x="56388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4495800" y="42672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46" name="AutoShape 9"/>
          <p:cNvSpPr>
            <a:spLocks noChangeArrowheads="1"/>
          </p:cNvSpPr>
          <p:nvPr/>
        </p:nvSpPr>
        <p:spPr bwMode="auto">
          <a:xfrm>
            <a:off x="6705600" y="41148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62484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>
            <a:off x="51816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781800" y="5029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 rot="16200000" flipV="1">
            <a:off x="6896101" y="4838701"/>
            <a:ext cx="381001" cy="1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7315200" y="4495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696200" y="4278868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sp>
        <p:nvSpPr>
          <p:cNvPr id="57" name="AutoShape 9"/>
          <p:cNvSpPr>
            <a:spLocks noChangeArrowheads="1"/>
          </p:cNvSpPr>
          <p:nvPr/>
        </p:nvSpPr>
        <p:spPr bwMode="auto">
          <a:xfrm>
            <a:off x="5867400" y="3352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8" name="Down Arrow 57"/>
          <p:cNvSpPr/>
          <p:nvPr/>
        </p:nvSpPr>
        <p:spPr bwMode="auto">
          <a:xfrm rot="10800000">
            <a:off x="5905500" y="3733800"/>
            <a:ext cx="304800" cy="3048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5410200" y="30480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Read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4" grpId="0" animBg="1"/>
      <p:bldP spid="45" grpId="0"/>
      <p:bldP spid="46" grpId="0" animBg="1"/>
      <p:bldP spid="53" grpId="0"/>
      <p:bldP spid="56" grpId="0"/>
      <p:bldP spid="57" grpId="0" animBg="1"/>
      <p:bldP spid="58" grpId="0" animBg="1"/>
      <p:bldP spid="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Queue applications:</a:t>
            </a:r>
          </a:p>
          <a:p>
            <a:pPr lvl="1"/>
            <a:r>
              <a:rPr lang="en-US" dirty="0" smtClean="0"/>
              <a:t>Breadth-first search in tree.</a:t>
            </a:r>
          </a:p>
          <a:p>
            <a:pPr lvl="1"/>
            <a:r>
              <a:rPr lang="en-US" dirty="0" smtClean="0"/>
              <a:t>System queue.</a:t>
            </a:r>
          </a:p>
          <a:p>
            <a:pPr lvl="3"/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Concept:</a:t>
            </a:r>
          </a:p>
          <a:p>
            <a:pPr lvl="1"/>
            <a:r>
              <a:rPr lang="en-US" dirty="0" smtClean="0"/>
              <a:t>Stack: LIFO – Last In First Out.</a:t>
            </a:r>
          </a:p>
          <a:p>
            <a:pPr lvl="1"/>
            <a:r>
              <a:rPr lang="en-US" dirty="0" smtClean="0"/>
              <a:t>Queue: FIFO – First In First Out.</a:t>
            </a:r>
          </a:p>
          <a:p>
            <a:r>
              <a:rPr lang="en-US" dirty="0" smtClean="0"/>
              <a:t>Operations:</a:t>
            </a:r>
          </a:p>
          <a:p>
            <a:pPr lvl="1"/>
            <a:r>
              <a:rPr lang="en-US" dirty="0" smtClean="0"/>
              <a:t>init, </a:t>
            </a:r>
            <a:r>
              <a:rPr lang="en-US" dirty="0" err="1" smtClean="0"/>
              <a:t>isEmpty</a:t>
            </a:r>
            <a:r>
              <a:rPr lang="en-US" dirty="0" smtClean="0"/>
              <a:t>, </a:t>
            </a:r>
            <a:r>
              <a:rPr lang="en-US" dirty="0" err="1" smtClean="0"/>
              <a:t>isFull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push, pop, peek.</a:t>
            </a:r>
          </a:p>
          <a:p>
            <a:r>
              <a:rPr lang="en-US" dirty="0" smtClean="0"/>
              <a:t>Implementations:</a:t>
            </a:r>
          </a:p>
          <a:p>
            <a:pPr lvl="1"/>
            <a:r>
              <a:rPr lang="en-US" dirty="0" smtClean="0"/>
              <a:t>Dynamic array.</a:t>
            </a:r>
          </a:p>
          <a:p>
            <a:pPr lvl="1"/>
            <a:r>
              <a:rPr lang="en-US" dirty="0" smtClean="0"/>
              <a:t>Singly linked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23409</TotalTime>
  <Words>761</Words>
  <Application>Microsoft Office PowerPoint</Application>
  <PresentationFormat>On-screen Show (4:3)</PresentationFormat>
  <Paragraphs>323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Stream</vt:lpstr>
      <vt:lpstr>Stack and Queue</vt:lpstr>
      <vt:lpstr>Contents</vt:lpstr>
      <vt:lpstr>Contents</vt:lpstr>
      <vt:lpstr>Stack</vt:lpstr>
      <vt:lpstr>Stack</vt:lpstr>
      <vt:lpstr>Stack</vt:lpstr>
      <vt:lpstr>Stack</vt:lpstr>
      <vt:lpstr>Stack</vt:lpstr>
      <vt:lpstr>Stack</vt:lpstr>
      <vt:lpstr>Stack</vt:lpstr>
      <vt:lpstr>Stack</vt:lpstr>
      <vt:lpstr>Contents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Slide 21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1201</cp:revision>
  <dcterms:created xsi:type="dcterms:W3CDTF">2005-11-21T10:16:26Z</dcterms:created>
  <dcterms:modified xsi:type="dcterms:W3CDTF">2024-09-02T09:00:36Z</dcterms:modified>
</cp:coreProperties>
</file>