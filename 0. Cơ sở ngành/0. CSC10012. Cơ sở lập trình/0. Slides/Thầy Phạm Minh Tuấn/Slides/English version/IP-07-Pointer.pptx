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0" r:id="rId3"/>
    <p:sldId id="29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92" r:id="rId23"/>
    <p:sldId id="286" r:id="rId24"/>
    <p:sldId id="287" r:id="rId25"/>
    <p:sldId id="288" r:id="rId26"/>
    <p:sldId id="289" r:id="rId27"/>
    <p:sldId id="290" r:id="rId28"/>
    <p:sldId id="280" r:id="rId29"/>
    <p:sldId id="293" r:id="rId30"/>
    <p:sldId id="281" r:id="rId31"/>
    <p:sldId id="282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0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smtClean="0"/>
              <a:t>Pointer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concept.</a:t>
            </a:r>
          </a:p>
          <a:p>
            <a:r>
              <a:rPr lang="en-US" dirty="0" smtClean="0"/>
              <a:t>Pointer usage.</a:t>
            </a:r>
          </a:p>
          <a:p>
            <a:r>
              <a:rPr lang="en-US" dirty="0" smtClean="0"/>
              <a:t>Pointer vs. array.</a:t>
            </a:r>
          </a:p>
          <a:p>
            <a:r>
              <a:rPr lang="en-US" dirty="0" smtClean="0"/>
              <a:t>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Pointer concept.</a:t>
            </a:r>
          </a:p>
          <a:p>
            <a:r>
              <a:rPr lang="en-US" dirty="0" smtClean="0"/>
              <a:t>Pointer usage.</a:t>
            </a:r>
          </a:p>
          <a:p>
            <a:r>
              <a:rPr lang="en-US" dirty="0" smtClean="0"/>
              <a:t>Pointer vs. array.</a:t>
            </a:r>
          </a:p>
          <a:p>
            <a:r>
              <a:rPr lang="en-US" dirty="0" smtClean="0"/>
              <a:t>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memory:</a:t>
            </a:r>
          </a:p>
          <a:p>
            <a:pPr lvl="1"/>
            <a:r>
              <a:rPr lang="en-US" dirty="0" smtClean="0"/>
              <a:t>RAM (</a:t>
            </a:r>
            <a:r>
              <a:rPr lang="en-US" b="1" dirty="0" smtClean="0">
                <a:solidFill>
                  <a:srgbClr val="FFC000"/>
                </a:solidFill>
              </a:rPr>
              <a:t>R</a:t>
            </a:r>
            <a:r>
              <a:rPr lang="en-US" dirty="0" smtClean="0"/>
              <a:t>andom </a:t>
            </a:r>
            <a:r>
              <a:rPr lang="en-US" b="1" dirty="0" smtClean="0">
                <a:solidFill>
                  <a:srgbClr val="FFC000"/>
                </a:solidFill>
              </a:rPr>
              <a:t>A</a:t>
            </a:r>
            <a:r>
              <a:rPr lang="en-US" dirty="0" smtClean="0"/>
              <a:t>ccess </a:t>
            </a:r>
            <a:r>
              <a:rPr lang="en-US" b="1" dirty="0" smtClean="0">
                <a:solidFill>
                  <a:srgbClr val="FFC000"/>
                </a:solidFill>
              </a:rPr>
              <a:t>M</a:t>
            </a:r>
            <a:r>
              <a:rPr lang="en-US" dirty="0" smtClean="0"/>
              <a:t>emory).</a:t>
            </a:r>
          </a:p>
          <a:p>
            <a:pPr lvl="2"/>
            <a:r>
              <a:rPr lang="en-US" dirty="0" smtClean="0"/>
              <a:t>Primary vs. Secondary memory.</a:t>
            </a:r>
          </a:p>
          <a:p>
            <a:pPr lvl="1"/>
            <a:r>
              <a:rPr lang="en-US" dirty="0" smtClean="0"/>
              <a:t>Used to store:</a:t>
            </a:r>
          </a:p>
          <a:p>
            <a:pPr lvl="2"/>
            <a:r>
              <a:rPr lang="en-US" dirty="0" smtClean="0"/>
              <a:t>Operating system.</a:t>
            </a:r>
          </a:p>
          <a:p>
            <a:pPr lvl="2"/>
            <a:r>
              <a:rPr lang="en-US" dirty="0" smtClean="0"/>
              <a:t>Programs: variables + functions.</a:t>
            </a:r>
          </a:p>
          <a:p>
            <a:pPr lvl="1"/>
            <a:r>
              <a:rPr lang="en-US" dirty="0" smtClean="0"/>
              <a:t>Contains 1-byte cells.</a:t>
            </a:r>
          </a:p>
          <a:p>
            <a:pPr lvl="2"/>
            <a:r>
              <a:rPr lang="en-US" dirty="0" smtClean="0"/>
              <a:t>RAM 4GB ~ 4 billion cells.</a:t>
            </a:r>
          </a:p>
          <a:p>
            <a:pPr lvl="1"/>
            <a:r>
              <a:rPr lang="en-US" dirty="0" smtClean="0"/>
              <a:t>Each cell has an address number.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RAM 4GB address 0  2</a:t>
            </a:r>
            <a:r>
              <a:rPr lang="en-US" baseline="30000" dirty="0" smtClean="0">
                <a:sym typeface="Wingdings" pitchFamily="2" charset="2"/>
              </a:rPr>
              <a:t>32</a:t>
            </a:r>
            <a:r>
              <a:rPr lang="en-US" dirty="0" smtClean="0">
                <a:sym typeface="Wingdings" pitchFamily="2" charset="2"/>
              </a:rPr>
              <a:t> –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2362200"/>
          <a:ext cx="1752600" cy="128016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</a:tblGrid>
              <a:tr h="11906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80900" y="190500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dirty="0" smtClean="0"/>
              <a:t>RAM (4GB)</a:t>
            </a:r>
            <a:endParaRPr lang="en-US" sz="18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3977640"/>
          <a:ext cx="1752600" cy="128016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  <a:gridCol w="219075"/>
              </a:tblGrid>
              <a:tr h="11906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119063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09302" y="3581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b="1" dirty="0" smtClean="0"/>
              <a:t>…</a:t>
            </a:r>
            <a:endParaRPr lang="en-US" sz="1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781800" y="206906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0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280176" y="5269468"/>
            <a:ext cx="449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 smtClean="0"/>
              <a:t>2</a:t>
            </a:r>
            <a:r>
              <a:rPr lang="en-US" sz="1600" baseline="30000" dirty="0" smtClean="0"/>
              <a:t>32</a:t>
            </a:r>
            <a:endParaRPr lang="en-US" sz="16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address:</a:t>
            </a:r>
          </a:p>
          <a:p>
            <a:pPr lvl="1"/>
            <a:r>
              <a:rPr lang="en-US" dirty="0" smtClean="0"/>
              <a:t>How it works, when declaring a variable?</a:t>
            </a:r>
          </a:p>
          <a:p>
            <a:pPr lvl="2"/>
            <a:r>
              <a:rPr lang="en-US" dirty="0" smtClean="0"/>
              <a:t>Allocate a series of memory cells.</a:t>
            </a:r>
          </a:p>
          <a:p>
            <a:pPr lvl="2"/>
            <a:r>
              <a:rPr lang="en-US" dirty="0" smtClean="0"/>
              <a:t>Assign variable name to the first cell.</a:t>
            </a:r>
          </a:p>
          <a:p>
            <a:pPr lvl="2"/>
            <a:r>
              <a:rPr lang="en-US" dirty="0" smtClean="0"/>
              <a:t>Number of cells?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variable type.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Variable address = address of first cell.</a:t>
            </a:r>
          </a:p>
          <a:p>
            <a:pPr lvl="1"/>
            <a:r>
              <a:rPr lang="en-US" dirty="0" smtClean="0"/>
              <a:t>How value is stored in variable?</a:t>
            </a:r>
          </a:p>
          <a:p>
            <a:pPr lvl="2"/>
            <a:r>
              <a:rPr lang="en-US" dirty="0" smtClean="0"/>
              <a:t>Divide value into bytes.</a:t>
            </a:r>
          </a:p>
          <a:p>
            <a:pPr lvl="2"/>
            <a:r>
              <a:rPr lang="en-US" dirty="0" smtClean="0"/>
              <a:t>Store each byte in cell.</a:t>
            </a:r>
          </a:p>
          <a:p>
            <a:pPr lvl="2"/>
            <a:r>
              <a:rPr lang="en-US" dirty="0" smtClean="0"/>
              <a:t>Start from the first cell.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7086600" y="2971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7467600" y="2971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7848600" y="2971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8229600" y="2971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086600" y="2209800"/>
            <a:ext cx="762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781800" y="2971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010400" y="2667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65  66  67  68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781800" y="4114800"/>
            <a:ext cx="1447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1057;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7086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7467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7848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8229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781800" y="4876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7010400" y="4572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65  66  67  68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Address type in C:</a:t>
            </a:r>
          </a:p>
          <a:p>
            <a:pPr lvl="1"/>
            <a:r>
              <a:rPr lang="en-US" dirty="0" smtClean="0"/>
              <a:t>Store integer, real number?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int</a:t>
            </a:r>
            <a:r>
              <a:rPr lang="en-US" dirty="0" smtClean="0">
                <a:sym typeface="Wingdings" pitchFamily="2" charset="2"/>
              </a:rPr>
              <a:t>, float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Store variable address?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address type.</a:t>
            </a:r>
          </a:p>
          <a:p>
            <a:pPr lvl="1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&lt;type&gt; *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Address of </a:t>
            </a:r>
            <a:r>
              <a:rPr lang="en-US" dirty="0" err="1" smtClean="0"/>
              <a:t>int</a:t>
            </a:r>
            <a:r>
              <a:rPr lang="en-US" dirty="0" smtClean="0"/>
              <a:t>: </a:t>
            </a:r>
            <a:r>
              <a:rPr lang="en-US" dirty="0" err="1" smtClean="0"/>
              <a:t>int</a:t>
            </a:r>
            <a:r>
              <a:rPr lang="en-US" dirty="0" smtClean="0"/>
              <a:t> *.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Operator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&amp;</a:t>
            </a:r>
            <a:r>
              <a:rPr lang="en-US" dirty="0" smtClean="0">
                <a:sym typeface="Wingdings" pitchFamily="2" charset="2"/>
              </a:rPr>
              <a:t>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Usage: get variable address.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Syntax: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&amp;</a:t>
            </a:r>
            <a:r>
              <a:rPr lang="en-US" dirty="0" smtClean="0">
                <a:sym typeface="Wingdings" pitchFamily="2" charset="2"/>
              </a:rPr>
              <a:t>&lt;variable name&gt;;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</a:t>
            </a:r>
            <a:r>
              <a:rPr lang="en-US" dirty="0" err="1" smtClean="0">
                <a:sym typeface="Wingdings" pitchFamily="2" charset="2"/>
              </a:rPr>
              <a:t>int</a:t>
            </a:r>
            <a:r>
              <a:rPr lang="en-US" dirty="0" smtClean="0">
                <a:sym typeface="Wingdings" pitchFamily="2" charset="2"/>
              </a:rPr>
              <a:t>     x = 1057;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float  y = 1.25;</a:t>
            </a:r>
            <a:br>
              <a:rPr lang="en-US" dirty="0" smtClean="0">
                <a:sym typeface="Wingdings" pitchFamily="2" charset="2"/>
              </a:rPr>
            </a:b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int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    *</a:t>
            </a:r>
            <a:r>
              <a:rPr lang="en-US" dirty="0" err="1" smtClean="0">
                <a:sym typeface="Wingdings" pitchFamily="2" charset="2"/>
              </a:rPr>
              <a:t>address_x</a:t>
            </a:r>
            <a:r>
              <a:rPr lang="en-US" dirty="0" smtClean="0">
                <a:sym typeface="Wingdings" pitchFamily="2" charset="2"/>
              </a:rPr>
              <a:t> =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&amp;</a:t>
            </a:r>
            <a:r>
              <a:rPr lang="en-US" dirty="0" smtClean="0">
                <a:sym typeface="Wingdings" pitchFamily="2" charset="2"/>
              </a:rPr>
              <a:t>x;</a:t>
            </a:r>
            <a:br>
              <a:rPr lang="en-US" dirty="0" smtClean="0">
                <a:sym typeface="Wingdings" pitchFamily="2" charset="2"/>
              </a:rPr>
            </a:b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float  *</a:t>
            </a:r>
            <a:r>
              <a:rPr lang="en-US" dirty="0" err="1" smtClean="0">
                <a:sym typeface="Wingdings" pitchFamily="2" charset="2"/>
              </a:rPr>
              <a:t>address_y</a:t>
            </a:r>
            <a:r>
              <a:rPr lang="en-US" dirty="0" smtClean="0">
                <a:sym typeface="Wingdings" pitchFamily="2" charset="2"/>
              </a:rPr>
              <a:t> =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&amp;</a:t>
            </a:r>
            <a:r>
              <a:rPr lang="en-US" dirty="0" smtClean="0">
                <a:sym typeface="Wingdings" pitchFamily="2" charset="2"/>
              </a:rPr>
              <a:t>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81800" y="3810000"/>
            <a:ext cx="1447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1057;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7086600" y="4572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7467600" y="4572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7848600" y="4572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8229600" y="4572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81800" y="45720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010400" y="42672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65  66  67  68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7086600" y="5410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65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7467600" y="5410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7848600" y="5410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8229600" y="5410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791200" y="54102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address_x</a:t>
            </a:r>
            <a:endParaRPr lang="en-US" sz="18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010400" y="5105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91  92  93  94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in C:</a:t>
            </a:r>
          </a:p>
          <a:p>
            <a:pPr lvl="1"/>
            <a:r>
              <a:rPr lang="en-US" dirty="0" smtClean="0"/>
              <a:t>A variable having address type.</a:t>
            </a:r>
          </a:p>
          <a:p>
            <a:pPr lvl="1"/>
            <a:r>
              <a:rPr lang="en-US" dirty="0" smtClean="0"/>
              <a:t>Store address of other variable.</a:t>
            </a:r>
          </a:p>
          <a:p>
            <a:pPr lvl="1"/>
            <a:r>
              <a:rPr lang="en-US" dirty="0" smtClean="0"/>
              <a:t>Its value is an address number.</a:t>
            </a:r>
          </a:p>
          <a:p>
            <a:pPr lvl="1"/>
            <a:r>
              <a:rPr lang="en-US" dirty="0" smtClean="0"/>
              <a:t>Its size:</a:t>
            </a:r>
          </a:p>
          <a:p>
            <a:pPr lvl="2"/>
            <a:r>
              <a:rPr lang="en-US" dirty="0" smtClean="0"/>
              <a:t>Fix-sized for all address type.</a:t>
            </a:r>
          </a:p>
          <a:p>
            <a:pPr lvl="2"/>
            <a:r>
              <a:rPr lang="en-US" dirty="0" smtClean="0"/>
              <a:t>Depend on platform:</a:t>
            </a:r>
          </a:p>
          <a:p>
            <a:pPr lvl="3"/>
            <a:r>
              <a:rPr lang="en-US" dirty="0" smtClean="0"/>
              <a:t>Intel 8008   (1972),   8-bit, 1 byte   (256 B).</a:t>
            </a:r>
          </a:p>
          <a:p>
            <a:pPr lvl="3"/>
            <a:r>
              <a:rPr lang="en-US" dirty="0" smtClean="0"/>
              <a:t>Intel 8086   (1978), 16-bit, 2 bytes (64 KB).</a:t>
            </a:r>
          </a:p>
          <a:p>
            <a:pPr lvl="3"/>
            <a:r>
              <a:rPr lang="en-US" dirty="0" smtClean="0"/>
              <a:t>Intel 80386 (1985), 32-bit, 4 bytes (4 GB).</a:t>
            </a:r>
          </a:p>
          <a:p>
            <a:pPr lvl="3"/>
            <a:r>
              <a:rPr lang="en-US" dirty="0" smtClean="0"/>
              <a:t>Intel Core   (2000), 64-bit, 8 bytes (16 TB).</a:t>
            </a:r>
          </a:p>
          <a:p>
            <a:pPr lvl="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concept.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Pointer usage.</a:t>
            </a:r>
          </a:p>
          <a:p>
            <a:r>
              <a:rPr lang="en-US" dirty="0" smtClean="0"/>
              <a:t>Pointer vs. array.</a:t>
            </a:r>
          </a:p>
          <a:p>
            <a:r>
              <a:rPr lang="en-US" dirty="0" smtClean="0"/>
              <a:t>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declaration:</a:t>
            </a:r>
          </a:p>
          <a:p>
            <a:pPr lvl="1"/>
            <a:r>
              <a:rPr lang="en-US" dirty="0" smtClean="0"/>
              <a:t>Declare variable having address type.</a:t>
            </a:r>
          </a:p>
          <a:p>
            <a:pPr lvl="1"/>
            <a:r>
              <a:rPr lang="en-US" dirty="0" smtClean="0"/>
              <a:t>Method 1:</a:t>
            </a:r>
          </a:p>
          <a:p>
            <a:pPr lvl="2">
              <a:buNone/>
            </a:pPr>
            <a:r>
              <a:rPr lang="en-US" dirty="0" smtClean="0"/>
              <a:t>	&lt;type&gt;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&lt;pointer name&gt;;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 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p1;		// Pointer storing address of int.</a:t>
            </a:r>
            <a:br>
              <a:rPr lang="en-US" dirty="0" smtClean="0"/>
            </a:br>
            <a:r>
              <a:rPr lang="en-US" dirty="0" smtClean="0"/>
              <a:t>float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p2;		// Pointer storing address of float.</a:t>
            </a:r>
          </a:p>
          <a:p>
            <a:pPr lvl="1"/>
            <a:r>
              <a:rPr lang="en-US" dirty="0" smtClean="0"/>
              <a:t>Method 2:</a:t>
            </a:r>
          </a:p>
          <a:p>
            <a:pPr lvl="2">
              <a:buNone/>
            </a:pPr>
            <a:r>
              <a:rPr lang="en-US" b="1" dirty="0" smtClean="0">
                <a:solidFill>
                  <a:srgbClr val="FFC000"/>
                </a:solidFill>
              </a:rPr>
              <a:t>	</a:t>
            </a:r>
            <a:r>
              <a:rPr lang="en-US" b="1" dirty="0" err="1" smtClean="0">
                <a:solidFill>
                  <a:srgbClr val="FFC000"/>
                </a:solidFill>
              </a:rPr>
              <a:t>typedef</a:t>
            </a:r>
            <a:r>
              <a:rPr lang="en-US" dirty="0" smtClean="0"/>
              <a:t> &lt;type&gt;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&lt;alias&gt;;</a:t>
            </a:r>
          </a:p>
          <a:p>
            <a:pPr lvl="2">
              <a:buNone/>
            </a:pPr>
            <a:r>
              <a:rPr lang="en-US" dirty="0" smtClean="0"/>
              <a:t>	&lt;alias&gt; &lt;pointer name&gt;;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typedef</a:t>
            </a: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 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</a:t>
            </a:r>
            <a:r>
              <a:rPr lang="en-US" dirty="0" err="1" smtClean="0"/>
              <a:t>int_pointer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err="1" smtClean="0"/>
              <a:t>typedef</a:t>
            </a:r>
            <a:r>
              <a:rPr lang="en-US" dirty="0" smtClean="0"/>
              <a:t>  float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</a:t>
            </a:r>
            <a:r>
              <a:rPr lang="en-US" dirty="0" err="1" smtClean="0"/>
              <a:t>float_pointer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int_pointer</a:t>
            </a:r>
            <a:r>
              <a:rPr lang="en-US" dirty="0" smtClean="0"/>
              <a:t>      p1;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float_pointer</a:t>
            </a:r>
            <a:r>
              <a:rPr lang="en-US" dirty="0" smtClean="0"/>
              <a:t>  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referencing:</a:t>
            </a:r>
          </a:p>
          <a:p>
            <a:pPr lvl="1"/>
            <a:r>
              <a:rPr lang="en-US" dirty="0" smtClean="0"/>
              <a:t>Pointer has random address at first </a:t>
            </a:r>
            <a:r>
              <a:rPr lang="en-US" dirty="0" smtClean="0">
                <a:sym typeface="Wingdings" pitchFamily="2" charset="2"/>
              </a:rPr>
              <a:t> initialization.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Operator &amp;</a:t>
            </a:r>
            <a:r>
              <a:rPr lang="en-US" dirty="0" smtClean="0">
                <a:sym typeface="Wingdings" pitchFamily="2" charset="2"/>
              </a:rPr>
              <a:t>: get variable address.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Syntax: &lt;pointer name&gt; =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&amp;</a:t>
            </a:r>
            <a:r>
              <a:rPr lang="en-US" dirty="0" smtClean="0">
                <a:sym typeface="Wingdings" pitchFamily="2" charset="2"/>
              </a:rPr>
              <a:t>&lt;variable&gt;;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x = 5;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 = </a:t>
            </a:r>
            <a:r>
              <a:rPr lang="en-US" b="1" dirty="0" smtClean="0">
                <a:solidFill>
                  <a:srgbClr val="FFC000"/>
                </a:solidFill>
              </a:rPr>
              <a:t>&amp;</a:t>
            </a:r>
            <a:r>
              <a:rPr lang="en-US" dirty="0" smtClean="0"/>
              <a:t>x;</a:t>
            </a:r>
          </a:p>
          <a:p>
            <a:pPr lvl="1"/>
            <a:r>
              <a:rPr lang="en-US" dirty="0" smtClean="0"/>
              <a:t>Pointer only accepts address of the same type!!</a:t>
            </a:r>
            <a:endParaRPr lang="en-US" dirty="0"/>
          </a:p>
          <a:p>
            <a:pPr lvl="2">
              <a:buNone/>
            </a:pPr>
            <a:r>
              <a:rPr lang="en-US" dirty="0" smtClean="0"/>
              <a:t>	float  y;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dirty="0" smtClean="0"/>
              <a:t>  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q = </a:t>
            </a:r>
            <a:r>
              <a:rPr lang="en-US" b="1" dirty="0" smtClean="0">
                <a:solidFill>
                  <a:srgbClr val="FFC000"/>
                </a:solidFill>
              </a:rPr>
              <a:t>&amp;</a:t>
            </a:r>
            <a:r>
              <a:rPr lang="en-US" dirty="0" smtClean="0"/>
              <a:t>y;	// Wrong!!</a:t>
            </a:r>
          </a:p>
          <a:p>
            <a:pPr lvl="1"/>
            <a:r>
              <a:rPr lang="en-US" dirty="0" smtClean="0"/>
              <a:t>NULL address:</a:t>
            </a:r>
          </a:p>
          <a:p>
            <a:pPr lvl="2"/>
            <a:r>
              <a:rPr lang="en-US" dirty="0" smtClean="0"/>
              <a:t>Empty address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default initialization.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r = </a:t>
            </a:r>
            <a:r>
              <a:rPr lang="en-US" b="1" dirty="0" smtClean="0">
                <a:solidFill>
                  <a:srgbClr val="FFC000"/>
                </a:solidFill>
              </a:rPr>
              <a:t>NULL</a:t>
            </a:r>
            <a:r>
              <a:rPr lang="en-US" dirty="0" smtClean="0"/>
              <a:t>;	// C, use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s = </a:t>
            </a:r>
            <a:r>
              <a:rPr lang="en-US" b="1" dirty="0" err="1" smtClean="0">
                <a:solidFill>
                  <a:srgbClr val="FFC000"/>
                </a:solidFill>
              </a:rPr>
              <a:t>nullptr</a:t>
            </a:r>
            <a:r>
              <a:rPr lang="en-US" dirty="0" smtClean="0"/>
              <a:t>;	// C++, keyword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de-referencing:</a:t>
            </a:r>
          </a:p>
          <a:p>
            <a:pPr lvl="1"/>
            <a:r>
              <a:rPr lang="en-US" b="1" dirty="0" smtClean="0">
                <a:solidFill>
                  <a:srgbClr val="FFC000"/>
                </a:solidFill>
              </a:rPr>
              <a:t>Operator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Read variable whose address pointer stores.</a:t>
            </a:r>
          </a:p>
          <a:p>
            <a:pPr lvl="2"/>
            <a:r>
              <a:rPr lang="en-US" dirty="0" smtClean="0"/>
              <a:t>Syntax: &lt;variable&gt; =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&lt;pointer&gt;;</a:t>
            </a:r>
            <a:endParaRPr lang="en-US" dirty="0"/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x = 5;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 = &amp;x;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k = </a:t>
            </a:r>
            <a:r>
              <a:rPr lang="en-US" b="1" dirty="0" smtClean="0">
                <a:solidFill>
                  <a:srgbClr val="FFC000"/>
                </a:solidFill>
              </a:rPr>
              <a:t>*p</a:t>
            </a:r>
            <a:r>
              <a:rPr lang="en-US" dirty="0" smtClean="0"/>
              <a:t>;	// get x value.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p</a:t>
            </a:r>
            <a:r>
              <a:rPr lang="en-US" dirty="0" smtClean="0"/>
              <a:t>);	// print x address.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*p</a:t>
            </a:r>
            <a:r>
              <a:rPr lang="en-US" dirty="0" smtClean="0"/>
              <a:t>);	// print x value.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&amp;p</a:t>
            </a:r>
            <a:r>
              <a:rPr lang="en-US" dirty="0" smtClean="0"/>
              <a:t>);	// print p address.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Pointer </a:t>
            </a:r>
            <a:r>
              <a:rPr lang="en-US" b="1" dirty="0" smtClean="0">
                <a:solidFill>
                  <a:srgbClr val="FFC000"/>
                </a:solidFill>
              </a:rPr>
              <a:t>points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to</a:t>
            </a:r>
            <a:r>
              <a:rPr lang="en-US" dirty="0" smtClean="0"/>
              <a:t> variable whose address it stores!</a:t>
            </a:r>
          </a:p>
          <a:p>
            <a:pPr lvl="3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22098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5908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9718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33528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05000" y="55626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133600" y="5257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48006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1816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55626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9436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495800" y="55626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724400" y="5257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91  92  93  94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 flipH="1">
            <a:off x="2438400" y="6172200"/>
            <a:ext cx="22098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>
            <a:off x="4648200" y="59436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2438400" y="59436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pointer to function:</a:t>
            </a:r>
          </a:p>
          <a:p>
            <a:pPr lvl="1"/>
            <a:r>
              <a:rPr lang="en-US" dirty="0" smtClean="0"/>
              <a:t>Pass-by-value:</a:t>
            </a:r>
          </a:p>
          <a:p>
            <a:pPr lvl="2"/>
            <a:r>
              <a:rPr lang="en-US" dirty="0" smtClean="0"/>
              <a:t>Pass copy of pointer to function.</a:t>
            </a:r>
          </a:p>
          <a:p>
            <a:pPr lvl="2"/>
            <a:r>
              <a:rPr lang="en-US" dirty="0" smtClean="0"/>
              <a:t>Address stored in pointer is </a:t>
            </a:r>
            <a:br>
              <a:rPr lang="en-US" dirty="0" smtClean="0"/>
            </a:br>
            <a:r>
              <a:rPr lang="en-US" dirty="0" smtClean="0"/>
              <a:t>NOT CHANGED.</a:t>
            </a:r>
          </a:p>
          <a:p>
            <a:pPr lvl="2"/>
            <a:r>
              <a:rPr lang="en-US" dirty="0" smtClean="0"/>
              <a:t>Variable that pointer points to </a:t>
            </a:r>
            <a:br>
              <a:rPr lang="en-US" dirty="0" smtClean="0"/>
            </a:br>
            <a:r>
              <a:rPr lang="en-US" dirty="0" smtClean="0"/>
              <a:t>CAN BE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3600" y="1295400"/>
            <a:ext cx="2971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*g = *g + 1;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g = g + 1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x = 5;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*p = &amp;x;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x is changed.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42" name="AutoShape 9"/>
          <p:cNvSpPr>
            <a:spLocks noChangeArrowheads="1"/>
          </p:cNvSpPr>
          <p:nvPr/>
        </p:nvSpPr>
        <p:spPr bwMode="auto">
          <a:xfrm>
            <a:off x="609600" y="4038600"/>
            <a:ext cx="2438400" cy="2133600"/>
          </a:xfrm>
          <a:prstGeom prst="roundRect">
            <a:avLst>
              <a:gd name="adj" fmla="val 7093"/>
            </a:avLst>
          </a:prstGeom>
          <a:gradFill>
            <a:gsLst>
              <a:gs pos="0">
                <a:schemeClr val="tx1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0" rIns="91440" bIns="0" anchor="t" anchorCtr="0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main()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990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1371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1752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2133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5800" y="4648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14400" y="4343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2954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16764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20574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4384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990600" y="5638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219200" y="5334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91  92  93  94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 flipV="1">
            <a:off x="1143000" y="5029200"/>
            <a:ext cx="0" cy="609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V="1">
            <a:off x="1295400" y="50292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3" name="AutoShape 9"/>
          <p:cNvSpPr>
            <a:spLocks noChangeArrowheads="1"/>
          </p:cNvSpPr>
          <p:nvPr/>
        </p:nvSpPr>
        <p:spPr bwMode="auto">
          <a:xfrm>
            <a:off x="3505200" y="4343400"/>
            <a:ext cx="2133600" cy="1219200"/>
          </a:xfrm>
          <a:prstGeom prst="roundRect">
            <a:avLst>
              <a:gd name="adj" fmla="val 7093"/>
            </a:avLst>
          </a:prstGeom>
          <a:gradFill>
            <a:gsLst>
              <a:gs pos="0">
                <a:schemeClr val="tx1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0" rIns="91440" bIns="0" anchor="t" anchorCtr="0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foo</a:t>
            </a:r>
            <a:r>
              <a:rPr lang="en-US" sz="1800" dirty="0" smtClean="0">
                <a:solidFill>
                  <a:srgbClr val="0000FF"/>
                </a:solidFill>
              </a:rPr>
              <a:t>(</a:t>
            </a: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*g)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3886200" y="5029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4267200" y="5029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4648200" y="5029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5029200" y="5029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581400" y="5029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3810000" y="4724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66  67  68  69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1295400" y="5257800"/>
            <a:ext cx="2286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2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43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pointer to function:</a:t>
            </a:r>
          </a:p>
          <a:p>
            <a:pPr lvl="1"/>
            <a:r>
              <a:rPr lang="en-US" dirty="0" smtClean="0"/>
              <a:t>Pass-by-reference (C++):</a:t>
            </a:r>
          </a:p>
          <a:p>
            <a:pPr lvl="2"/>
            <a:r>
              <a:rPr lang="en-US" dirty="0" smtClean="0"/>
              <a:t>Pass real pointer to function.</a:t>
            </a:r>
          </a:p>
          <a:p>
            <a:pPr lvl="2"/>
            <a:r>
              <a:rPr lang="en-US" dirty="0" smtClean="0"/>
              <a:t>Address stored in pointer</a:t>
            </a:r>
            <a:br>
              <a:rPr lang="en-US" dirty="0" smtClean="0"/>
            </a:br>
            <a:r>
              <a:rPr lang="en-US" dirty="0" smtClean="0"/>
              <a:t>CAN BE CHANGED.</a:t>
            </a:r>
          </a:p>
          <a:p>
            <a:pPr lvl="2"/>
            <a:r>
              <a:rPr lang="en-US" dirty="0" smtClean="0"/>
              <a:t>Variable that pointer points to</a:t>
            </a:r>
            <a:br>
              <a:rPr lang="en-US" dirty="0" smtClean="0"/>
            </a:br>
            <a:r>
              <a:rPr lang="en-US" dirty="0" smtClean="0"/>
              <a:t>CAN BE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3600" y="1295400"/>
            <a:ext cx="2971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*&amp;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*g = *g + 1;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g = g + 1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x = 5;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*p = &amp;x;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x is changed.</a:t>
            </a:r>
            <a:b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 p is changed.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42" name="AutoShape 9"/>
          <p:cNvSpPr>
            <a:spLocks noChangeArrowheads="1"/>
          </p:cNvSpPr>
          <p:nvPr/>
        </p:nvSpPr>
        <p:spPr bwMode="auto">
          <a:xfrm>
            <a:off x="609600" y="4038600"/>
            <a:ext cx="2438400" cy="2133600"/>
          </a:xfrm>
          <a:prstGeom prst="roundRect">
            <a:avLst>
              <a:gd name="adj" fmla="val 7093"/>
            </a:avLst>
          </a:prstGeom>
          <a:gradFill>
            <a:gsLst>
              <a:gs pos="0">
                <a:schemeClr val="tx1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0" rIns="91440" bIns="0" anchor="t" anchorCtr="0"/>
          <a:lstStyle/>
          <a:p>
            <a:pPr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main()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990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1371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1752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2133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5800" y="4648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14400" y="4343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3" name="AutoShape 9"/>
          <p:cNvSpPr>
            <a:spLocks noChangeArrowheads="1"/>
          </p:cNvSpPr>
          <p:nvPr/>
        </p:nvSpPr>
        <p:spPr bwMode="auto">
          <a:xfrm>
            <a:off x="914400" y="5181600"/>
            <a:ext cx="3810000" cy="838200"/>
          </a:xfrm>
          <a:prstGeom prst="roundRect">
            <a:avLst>
              <a:gd name="adj" fmla="val 7093"/>
            </a:avLst>
          </a:prstGeom>
          <a:gradFill>
            <a:gsLst>
              <a:gs pos="0">
                <a:schemeClr val="tx1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1440" tIns="0" rIns="91440" bIns="0" anchor="t" anchorCtr="0"/>
          <a:lstStyle/>
          <a:p>
            <a:pPr algn="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err="1" smtClean="0">
                <a:solidFill>
                  <a:srgbClr val="0000FF"/>
                </a:solidFill>
              </a:rPr>
              <a:t>foo</a:t>
            </a:r>
            <a:r>
              <a:rPr lang="en-US" sz="1800" dirty="0" smtClean="0">
                <a:solidFill>
                  <a:srgbClr val="0000FF"/>
                </a:solidFill>
              </a:rPr>
              <a:t>(</a:t>
            </a:r>
            <a:r>
              <a:rPr lang="en-US" sz="1800" dirty="0" err="1" smtClean="0">
                <a:solidFill>
                  <a:srgbClr val="0000FF"/>
                </a:solidFill>
              </a:rPr>
              <a:t>int</a:t>
            </a:r>
            <a:r>
              <a:rPr lang="en-US" sz="1800" dirty="0" smtClean="0">
                <a:solidFill>
                  <a:srgbClr val="0000FF"/>
                </a:solidFill>
              </a:rPr>
              <a:t> *&amp;g)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2954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16764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20574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4384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990600" y="5486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219200" y="5181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91  92  93  94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 flipV="1">
            <a:off x="1143000" y="50292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2819400" y="54980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2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43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Pointer stores address of </a:t>
            </a:r>
            <a:r>
              <a:rPr lang="en-US" dirty="0" err="1" smtClean="0"/>
              <a:t>struct</a:t>
            </a:r>
            <a:r>
              <a:rPr lang="en-US" dirty="0" smtClean="0"/>
              <a:t> variable.</a:t>
            </a:r>
          </a:p>
          <a:p>
            <a:pPr lvl="1"/>
            <a:r>
              <a:rPr lang="en-US" dirty="0" smtClean="0"/>
              <a:t>Declaration:</a:t>
            </a:r>
          </a:p>
          <a:p>
            <a:pPr lvl="2"/>
            <a:r>
              <a:rPr lang="en-US" dirty="0" smtClean="0"/>
              <a:t>Method 1: </a:t>
            </a:r>
            <a:r>
              <a:rPr lang="en-US" dirty="0" err="1" smtClean="0"/>
              <a:t>struct</a:t>
            </a:r>
            <a:r>
              <a:rPr lang="en-US" dirty="0" smtClean="0"/>
              <a:t> &lt;</a:t>
            </a:r>
            <a:r>
              <a:rPr lang="en-US" dirty="0" err="1" smtClean="0"/>
              <a:t>struct</a:t>
            </a:r>
            <a:r>
              <a:rPr lang="en-US" dirty="0" smtClean="0"/>
              <a:t> 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&lt;pointer name&gt;;</a:t>
            </a:r>
          </a:p>
          <a:p>
            <a:pPr lvl="2"/>
            <a:r>
              <a:rPr lang="en-US" dirty="0" smtClean="0"/>
              <a:t>Method 2: </a:t>
            </a:r>
            <a:r>
              <a:rPr lang="en-US" b="1" dirty="0" err="1" smtClean="0">
                <a:solidFill>
                  <a:srgbClr val="FFC000"/>
                </a:solidFill>
              </a:rPr>
              <a:t>typedef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dirty="0" smtClean="0"/>
              <a:t> </a:t>
            </a:r>
            <a:r>
              <a:rPr lang="en-US" dirty="0" err="1" smtClean="0"/>
              <a:t>struct</a:t>
            </a:r>
            <a:r>
              <a:rPr lang="en-US" dirty="0" smtClean="0"/>
              <a:t> &lt;</a:t>
            </a:r>
            <a:r>
              <a:rPr lang="en-US" dirty="0" err="1" smtClean="0"/>
              <a:t>struct</a:t>
            </a:r>
            <a:r>
              <a:rPr lang="en-US" dirty="0" smtClean="0"/>
              <a:t> 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 &lt;alias&gt;;</a:t>
            </a:r>
            <a:br>
              <a:rPr lang="en-US" dirty="0" smtClean="0"/>
            </a:br>
            <a:r>
              <a:rPr lang="en-US" dirty="0" smtClean="0"/>
              <a:t>		&lt;alias&gt;  &lt;pointer name&gt;;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Fraction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numerator, denominator;</a:t>
            </a:r>
            <a:br>
              <a:rPr lang="en-US" dirty="0" smtClean="0"/>
            </a:br>
            <a:r>
              <a:rPr lang="en-US" dirty="0" smtClean="0"/>
              <a:t>};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typedef</a:t>
            </a:r>
            <a:r>
              <a:rPr lang="en-US" dirty="0" smtClean="0"/>
              <a:t> </a:t>
            </a:r>
            <a:r>
              <a:rPr lang="en-US" dirty="0" err="1" smtClean="0"/>
              <a:t>struct</a:t>
            </a:r>
            <a:r>
              <a:rPr lang="en-US" dirty="0" smtClean="0"/>
              <a:t> Fraction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</a:t>
            </a:r>
            <a:r>
              <a:rPr lang="en-US" dirty="0" err="1" smtClean="0"/>
              <a:t>FractionPointer</a:t>
            </a:r>
            <a:r>
              <a:rPr lang="en-US" dirty="0" smtClean="0"/>
              <a:t>;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Fraction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p;</a:t>
            </a:r>
            <a:br>
              <a:rPr lang="en-US" dirty="0" smtClean="0"/>
            </a:br>
            <a:r>
              <a:rPr lang="en-US" b="1" dirty="0" err="1" smtClean="0">
                <a:solidFill>
                  <a:srgbClr val="FFC000"/>
                </a:solidFill>
              </a:rPr>
              <a:t>FractionPointer</a:t>
            </a:r>
            <a:r>
              <a:rPr lang="en-US" dirty="0" smtClean="0"/>
              <a:t>	q;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Access </a:t>
            </a:r>
            <a:r>
              <a:rPr lang="en-US" dirty="0" err="1" smtClean="0"/>
              <a:t>struct</a:t>
            </a:r>
            <a:r>
              <a:rPr lang="en-US" dirty="0" smtClean="0"/>
              <a:t> member through pointer:</a:t>
            </a:r>
          </a:p>
          <a:p>
            <a:pPr lvl="2"/>
            <a:r>
              <a:rPr lang="en-US" dirty="0" smtClean="0"/>
              <a:t>Method 1: </a:t>
            </a:r>
            <a:r>
              <a:rPr lang="en-US" b="1" dirty="0" smtClean="0">
                <a:solidFill>
                  <a:srgbClr val="FFC000"/>
                </a:solidFill>
              </a:rPr>
              <a:t>(*</a:t>
            </a:r>
            <a:r>
              <a:rPr lang="en-US" dirty="0" smtClean="0"/>
              <a:t>&lt;pointer name&gt;</a:t>
            </a:r>
            <a:r>
              <a:rPr lang="en-US" b="1" dirty="0" smtClean="0">
                <a:solidFill>
                  <a:srgbClr val="FFC000"/>
                </a:solidFill>
              </a:rPr>
              <a:t>).</a:t>
            </a:r>
            <a:r>
              <a:rPr lang="en-US" dirty="0" smtClean="0"/>
              <a:t>&lt;</a:t>
            </a:r>
            <a:r>
              <a:rPr lang="en-US" dirty="0" err="1" smtClean="0"/>
              <a:t>struct</a:t>
            </a:r>
            <a:r>
              <a:rPr lang="en-US" dirty="0" smtClean="0"/>
              <a:t> member&gt;;</a:t>
            </a:r>
          </a:p>
          <a:p>
            <a:pPr lvl="2"/>
            <a:r>
              <a:rPr lang="en-US" dirty="0" smtClean="0"/>
              <a:t>Method 2: &lt;pointer name&gt;</a:t>
            </a:r>
            <a:r>
              <a:rPr lang="en-US" b="1" dirty="0" smtClean="0">
                <a:solidFill>
                  <a:srgbClr val="FFC000"/>
                </a:solidFill>
              </a:rPr>
              <a:t>-&gt;</a:t>
            </a:r>
            <a:r>
              <a:rPr lang="en-US" dirty="0" smtClean="0"/>
              <a:t>&lt;</a:t>
            </a:r>
            <a:r>
              <a:rPr lang="en-US" dirty="0" err="1" smtClean="0"/>
              <a:t>struct</a:t>
            </a:r>
            <a:r>
              <a:rPr lang="en-US" dirty="0" smtClean="0"/>
              <a:t> member&gt;;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Fraction</a:t>
            </a:r>
            <a:r>
              <a:rPr lang="en-US" dirty="0" smtClean="0"/>
              <a:t>	f;</a:t>
            </a:r>
            <a:br>
              <a:rPr lang="en-US" dirty="0" smtClean="0"/>
            </a:b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Fraction</a:t>
            </a:r>
            <a:r>
              <a:rPr lang="en-US" dirty="0" smtClean="0"/>
              <a:t> 	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 = &amp;f;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(*</a:t>
            </a:r>
            <a:r>
              <a:rPr lang="en-US" dirty="0" smtClean="0"/>
              <a:t>p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.numerator = 1;</a:t>
            </a:r>
            <a:br>
              <a:rPr lang="en-US" dirty="0" smtClean="0"/>
            </a:br>
            <a:r>
              <a:rPr lang="en-US" dirty="0" smtClean="0"/>
              <a:t>p</a:t>
            </a:r>
            <a:r>
              <a:rPr lang="en-US" b="1" dirty="0" smtClean="0">
                <a:solidFill>
                  <a:srgbClr val="FFC000"/>
                </a:solidFill>
              </a:rPr>
              <a:t>-&gt;</a:t>
            </a:r>
            <a:r>
              <a:rPr lang="en-US" dirty="0" smtClean="0"/>
              <a:t>denominator = 2;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concept.</a:t>
            </a:r>
          </a:p>
          <a:p>
            <a:r>
              <a:rPr lang="en-US" dirty="0" smtClean="0"/>
              <a:t>Pointer usage.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Pointer vs. array.</a:t>
            </a:r>
          </a:p>
          <a:p>
            <a:r>
              <a:rPr lang="en-US" dirty="0" smtClean="0"/>
              <a:t>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vs.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as array:</a:t>
            </a:r>
          </a:p>
          <a:p>
            <a:pPr lvl="1"/>
            <a:r>
              <a:rPr lang="en-US" dirty="0" smtClean="0"/>
              <a:t>Array is a pointer.</a:t>
            </a:r>
          </a:p>
          <a:p>
            <a:pPr lvl="1"/>
            <a:r>
              <a:rPr lang="en-US" dirty="0" smtClean="0"/>
              <a:t>Stores address of first element.</a:t>
            </a:r>
            <a:endParaRPr lang="en-US" sz="24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int</a:t>
            </a:r>
            <a:r>
              <a:rPr lang="en-US" sz="2000" dirty="0" smtClean="0"/>
              <a:t> main()</a:t>
            </a:r>
            <a:br>
              <a:rPr lang="en-US" sz="2000" dirty="0" smtClean="0"/>
            </a:br>
            <a:r>
              <a:rPr lang="en-US" sz="2000" dirty="0" smtClean="0"/>
              <a:t>{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int</a:t>
            </a:r>
            <a:r>
              <a:rPr lang="en-US" sz="2000" dirty="0" smtClean="0"/>
              <a:t>  a[ 10 ] = { 1, 2, 3 };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printf</a:t>
            </a:r>
            <a:r>
              <a:rPr lang="en-US" sz="2000" dirty="0" smtClean="0"/>
              <a:t>(“%d\n”, </a:t>
            </a:r>
            <a:r>
              <a:rPr lang="en-US" sz="2000" b="1" dirty="0" smtClean="0">
                <a:solidFill>
                  <a:srgbClr val="FFC000"/>
                </a:solidFill>
              </a:rPr>
              <a:t>a</a:t>
            </a:r>
            <a:r>
              <a:rPr lang="en-US" sz="2000" dirty="0" smtClean="0"/>
              <a:t>);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printf</a:t>
            </a:r>
            <a:r>
              <a:rPr lang="en-US" sz="2000" dirty="0" smtClean="0"/>
              <a:t>(“%d\n”, </a:t>
            </a:r>
            <a:r>
              <a:rPr lang="en-US" sz="2000" b="1" dirty="0" smtClean="0">
                <a:solidFill>
                  <a:srgbClr val="FFC000"/>
                </a:solidFill>
              </a:rPr>
              <a:t>&amp;a[0]</a:t>
            </a:r>
            <a:r>
              <a:rPr lang="en-US" sz="2000" dirty="0" smtClean="0"/>
              <a:t>);	// a = &amp;a[0].</a:t>
            </a:r>
            <a:br>
              <a:rPr lang="en-US" sz="2000" dirty="0" smtClean="0"/>
            </a:br>
            <a:r>
              <a:rPr lang="en-US" sz="2000" dirty="0" smtClean="0"/>
              <a:t>}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22860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6670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0480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34290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00200" y="51816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209800" y="4876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8862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42672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46482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0292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54864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58674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62484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66294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810000" y="4876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76  77  78  79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410200" y="4876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80  81  82  83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010400" y="51932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743200" y="4572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343400" y="4572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943600" y="4572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a[2]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26" name="Straight Connector 25"/>
          <p:cNvCxnSpPr/>
          <p:nvPr/>
        </p:nvCxnSpPr>
        <p:spPr bwMode="auto">
          <a:xfrm>
            <a:off x="1905000" y="5410200"/>
            <a:ext cx="3810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vs.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array element:</a:t>
            </a:r>
          </a:p>
          <a:p>
            <a:pPr lvl="1"/>
            <a:r>
              <a:rPr lang="en-US" dirty="0" smtClean="0"/>
              <a:t>To access array indirectly.</a:t>
            </a:r>
          </a:p>
          <a:p>
            <a:pPr lvl="1"/>
            <a:r>
              <a:rPr lang="en-US" dirty="0" smtClean="0"/>
              <a:t>Consider the following code: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a[100] = { 1, 2, 3 };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*p = a</a:t>
            </a:r>
            <a:r>
              <a:rPr lang="en-US" dirty="0" smtClean="0"/>
              <a:t>;	// p = &amp;a[0]</a:t>
            </a:r>
            <a:br>
              <a:rPr lang="en-US" dirty="0" smtClean="0"/>
            </a:br>
            <a:r>
              <a:rPr lang="en-US" dirty="0" smtClean="0"/>
              <a:t>*p = *p + 1;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*p);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16002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19812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3622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7432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4400" y="4648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4343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2004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35814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39624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43434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4800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5181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5562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5943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124200" y="4343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76  77  78  79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4724400" y="4343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80  81  82  83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324600" y="46598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057400" y="4038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657600" y="4038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257800" y="4038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a[2]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905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2286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2667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3048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1600200" y="5486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1828800" y="5181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44  45  46  47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32" name="Straight Connector 31"/>
          <p:cNvCxnSpPr/>
          <p:nvPr/>
        </p:nvCxnSpPr>
        <p:spPr bwMode="auto">
          <a:xfrm flipV="1">
            <a:off x="1752600" y="50292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1219200" y="4876800"/>
            <a:ext cx="3810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vs.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increment/decrement:</a:t>
            </a:r>
          </a:p>
          <a:p>
            <a:pPr lvl="1"/>
            <a:r>
              <a:rPr lang="en-US" dirty="0" smtClean="0"/>
              <a:t>Pointer value changed based on pointer type.</a:t>
            </a:r>
          </a:p>
          <a:p>
            <a:pPr lvl="1"/>
            <a:r>
              <a:rPr lang="en-US" dirty="0" smtClean="0"/>
              <a:t>Jumping formula:</a:t>
            </a:r>
          </a:p>
          <a:p>
            <a:pPr lvl="2"/>
            <a:r>
              <a:rPr lang="en-US" dirty="0" smtClean="0"/>
              <a:t>&lt;Pointer&gt; </a:t>
            </a:r>
            <a:r>
              <a:rPr lang="en-US" b="1" dirty="0" smtClean="0">
                <a:solidFill>
                  <a:srgbClr val="FFC000"/>
                </a:solidFill>
              </a:rPr>
              <a:t>+/- k</a:t>
            </a:r>
            <a:r>
              <a:rPr lang="en-US" dirty="0" smtClean="0"/>
              <a:t> = &lt;Address&gt; </a:t>
            </a:r>
            <a:r>
              <a:rPr lang="en-US" b="1" dirty="0" smtClean="0">
                <a:solidFill>
                  <a:srgbClr val="FFC000"/>
                </a:solidFill>
              </a:rPr>
              <a:t>+/- k * </a:t>
            </a:r>
            <a:r>
              <a:rPr lang="en-US" b="1" dirty="0" err="1" smtClean="0">
                <a:solidFill>
                  <a:srgbClr val="FFC000"/>
                </a:solidFill>
              </a:rPr>
              <a:t>sizeof</a:t>
            </a:r>
            <a:r>
              <a:rPr lang="en-US" b="1" dirty="0" smtClean="0">
                <a:solidFill>
                  <a:srgbClr val="FFC000"/>
                </a:solidFill>
              </a:rPr>
              <a:t>(&lt;Pointer Type&gt;)</a:t>
            </a:r>
            <a:r>
              <a:rPr lang="en-US" dirty="0" smtClean="0"/>
              <a:t>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a[100] = { 1, 2, 3 };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*p = a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*(p + 1) 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*(p + 2)</a:t>
            </a:r>
            <a:r>
              <a:rPr lang="en-US" dirty="0" smtClean="0"/>
              <a:t> 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1600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1981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362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743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4400" y="4876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4572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200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3581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3962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4343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4800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5181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5562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59436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124200" y="4572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76  77  78  79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4724400" y="4572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80  81  82  83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324600" y="48884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057400" y="4278868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657600" y="4278868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257800" y="4278868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a[2]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1905000" y="5715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2286000" y="5715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2667000" y="5715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3048000" y="5715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1600200" y="57150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1828800" y="54102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44  45  46  47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32" name="Straight Connector 31"/>
          <p:cNvCxnSpPr/>
          <p:nvPr/>
        </p:nvCxnSpPr>
        <p:spPr bwMode="auto">
          <a:xfrm flipV="1">
            <a:off x="1752600" y="52578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4038600" y="53340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+ 1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5562600" y="53340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+ 2</a:t>
            </a:r>
          </a:p>
        </p:txBody>
      </p:sp>
      <p:cxnSp>
        <p:nvCxnSpPr>
          <p:cNvPr id="35" name="Straight Connector 34"/>
          <p:cNvCxnSpPr/>
          <p:nvPr/>
        </p:nvCxnSpPr>
        <p:spPr bwMode="auto">
          <a:xfrm flipV="1">
            <a:off x="3505200" y="5257800"/>
            <a:ext cx="0" cy="3048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3505200" y="5562600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 flipV="1">
            <a:off x="5029200" y="5257800"/>
            <a:ext cx="0" cy="3048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 flipH="1">
            <a:off x="5029200" y="5562600"/>
            <a:ext cx="5334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>
            <a:off x="1219200" y="5105400"/>
            <a:ext cx="3810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3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vs.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Operator [ ]:</a:t>
            </a:r>
          </a:p>
          <a:p>
            <a:pPr lvl="1"/>
            <a:r>
              <a:rPr lang="en-US" dirty="0" smtClean="0"/>
              <a:t>Read memory content pointer jumps to.</a:t>
            </a:r>
          </a:p>
          <a:p>
            <a:pPr lvl="1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&lt;Pointer&gt;[ &lt;Index&gt; ] </a:t>
            </a:r>
            <a:r>
              <a:rPr lang="en-US" dirty="0" smtClean="0"/>
              <a:t>~ *(&lt;Pointer&gt; + &lt;Index&gt;)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a[100] = { 1, 2, 3 };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*p = a;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a[2] = 5;</a:t>
            </a:r>
            <a:br>
              <a:rPr lang="en-US" dirty="0" smtClean="0"/>
            </a:br>
            <a:r>
              <a:rPr lang="en-US" dirty="0" smtClean="0"/>
              <a:t>*(a + 2) = 5;</a:t>
            </a:r>
            <a:br>
              <a:rPr lang="en-US" dirty="0" smtClean="0"/>
            </a:br>
            <a:r>
              <a:rPr lang="en-US" dirty="0" smtClean="0"/>
              <a:t>*(p + 2) = 5;</a:t>
            </a:r>
            <a:br>
              <a:rPr lang="en-US" dirty="0" smtClean="0"/>
            </a:br>
            <a:r>
              <a:rPr lang="en-US" dirty="0" smtClean="0"/>
              <a:t>p[2] = 5;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vs.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array to function:</a:t>
            </a:r>
          </a:p>
          <a:p>
            <a:pPr lvl="1"/>
            <a:r>
              <a:rPr lang="en-US" dirty="0" smtClean="0"/>
              <a:t>Not passing whole array.</a:t>
            </a:r>
          </a:p>
          <a:p>
            <a:pPr lvl="1"/>
            <a:r>
              <a:rPr lang="en-US" dirty="0" smtClean="0"/>
              <a:t>Only passing address of first element.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Pass pointer points to first element.</a:t>
            </a:r>
          </a:p>
          <a:p>
            <a:pPr>
              <a:buNone/>
            </a:pPr>
            <a:r>
              <a:rPr lang="en-US" sz="2000" dirty="0" smtClean="0"/>
              <a:t>	void </a:t>
            </a:r>
            <a:r>
              <a:rPr lang="en-US" sz="2000" b="1" dirty="0" err="1" smtClean="0">
                <a:solidFill>
                  <a:srgbClr val="FFC000"/>
                </a:solidFill>
              </a:rPr>
              <a:t>printArray</a:t>
            </a:r>
            <a:r>
              <a:rPr lang="en-US" sz="2000" dirty="0" smtClean="0"/>
              <a:t>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rgbClr val="FFC000"/>
                </a:solidFill>
              </a:rPr>
              <a:t>a[ ]</a:t>
            </a:r>
            <a:r>
              <a:rPr lang="en-US" sz="2000" dirty="0" smtClean="0"/>
              <a:t>, </a:t>
            </a:r>
            <a:r>
              <a:rPr lang="en-US" sz="2000" dirty="0" err="1" smtClean="0"/>
              <a:t>int</a:t>
            </a:r>
            <a:r>
              <a:rPr lang="en-US" sz="2000" dirty="0" smtClean="0"/>
              <a:t> n) {</a:t>
            </a:r>
            <a:br>
              <a:rPr lang="en-US" sz="2000" dirty="0" smtClean="0"/>
            </a:br>
            <a:r>
              <a:rPr lang="en-US" sz="2000" dirty="0" smtClean="0"/>
              <a:t>	for 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= 0; </a:t>
            </a:r>
            <a:r>
              <a:rPr lang="en-US" sz="2000" dirty="0" err="1" smtClean="0"/>
              <a:t>i</a:t>
            </a:r>
            <a:r>
              <a:rPr lang="en-US" sz="2000" dirty="0" smtClean="0"/>
              <a:t> &lt; n; </a:t>
            </a:r>
            <a:r>
              <a:rPr lang="en-US" sz="2000" dirty="0" err="1" smtClean="0"/>
              <a:t>i</a:t>
            </a:r>
            <a:r>
              <a:rPr lang="en-US" sz="2000" dirty="0" smtClean="0"/>
              <a:t>++)</a:t>
            </a:r>
            <a:br>
              <a:rPr lang="en-US" sz="2000" dirty="0" smtClean="0"/>
            </a:br>
            <a:r>
              <a:rPr lang="en-US" sz="2000" dirty="0" smtClean="0"/>
              <a:t>	      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(“%d “, </a:t>
            </a:r>
            <a:r>
              <a:rPr lang="en-US" sz="2000" b="1" dirty="0" smtClean="0">
                <a:solidFill>
                  <a:srgbClr val="FFC000"/>
                </a:solidFill>
              </a:rPr>
              <a:t>*(a++)</a:t>
            </a:r>
            <a:r>
              <a:rPr lang="en-US" sz="2000" dirty="0" smtClean="0"/>
              <a:t> );	// Same as a[ </a:t>
            </a:r>
            <a:r>
              <a:rPr lang="en-US" sz="2000" dirty="0" err="1" smtClean="0"/>
              <a:t>i</a:t>
            </a:r>
            <a:r>
              <a:rPr lang="en-US" sz="2000" dirty="0" smtClean="0"/>
              <a:t> ]…</a:t>
            </a:r>
            <a:br>
              <a:rPr lang="en-US" sz="2000" dirty="0" smtClean="0"/>
            </a:br>
            <a:r>
              <a:rPr lang="en-US" sz="2000" dirty="0" smtClean="0"/>
              <a:t>}</a:t>
            </a:r>
            <a:br>
              <a:rPr lang="en-US" sz="2000" dirty="0" smtClean="0"/>
            </a:br>
            <a:r>
              <a:rPr lang="en-US" sz="2000" dirty="0" err="1" smtClean="0"/>
              <a:t>int</a:t>
            </a:r>
            <a:r>
              <a:rPr lang="en-US" sz="2000" dirty="0" smtClean="0"/>
              <a:t> main() {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int</a:t>
            </a:r>
            <a:r>
              <a:rPr lang="en-US" sz="2000" dirty="0" smtClean="0"/>
              <a:t>  a[100];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printArray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rgbClr val="FFC000"/>
                </a:solidFill>
              </a:rPr>
              <a:t>a</a:t>
            </a:r>
            <a:r>
              <a:rPr lang="en-US" sz="2000" dirty="0" smtClean="0"/>
              <a:t>, 100);</a:t>
            </a:r>
            <a:br>
              <a:rPr lang="en-US" sz="2000" dirty="0" smtClean="0"/>
            </a:br>
            <a:r>
              <a:rPr lang="en-US" sz="2000" dirty="0" smtClean="0"/>
              <a:t>	for 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= 0; </a:t>
            </a:r>
            <a:r>
              <a:rPr lang="en-US" sz="2000" dirty="0" err="1" smtClean="0"/>
              <a:t>i</a:t>
            </a:r>
            <a:r>
              <a:rPr lang="en-US" sz="2000" dirty="0" smtClean="0"/>
              <a:t> &lt; n; </a:t>
            </a:r>
            <a:r>
              <a:rPr lang="en-US" sz="2000" dirty="0" err="1" smtClean="0"/>
              <a:t>i</a:t>
            </a:r>
            <a:r>
              <a:rPr lang="en-US" sz="2000" dirty="0" smtClean="0"/>
              <a:t>++)</a:t>
            </a:r>
            <a:br>
              <a:rPr lang="en-US" sz="2000" dirty="0" smtClean="0"/>
            </a:br>
            <a:r>
              <a:rPr lang="en-US" sz="2000" dirty="0" smtClean="0"/>
              <a:t>	      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(“%d “, </a:t>
            </a:r>
            <a:r>
              <a:rPr lang="en-US" sz="2000" b="1" dirty="0" smtClean="0">
                <a:solidFill>
                  <a:srgbClr val="FFC000"/>
                </a:solidFill>
              </a:rPr>
              <a:t>*(a++)</a:t>
            </a:r>
            <a:r>
              <a:rPr lang="en-US" sz="2000" dirty="0" smtClean="0"/>
              <a:t> );	// Wrong, why?</a:t>
            </a:r>
            <a:br>
              <a:rPr lang="en-US" sz="2000" dirty="0" smtClean="0"/>
            </a:br>
            <a:r>
              <a:rPr lang="en-US" sz="2000" dirty="0" smtClean="0"/>
              <a:t>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concept.</a:t>
            </a:r>
          </a:p>
          <a:p>
            <a:r>
              <a:rPr lang="en-US" dirty="0" smtClean="0"/>
              <a:t>Pointer usage.</a:t>
            </a:r>
          </a:p>
          <a:p>
            <a:r>
              <a:rPr lang="en-US" dirty="0" smtClean="0"/>
              <a:t>Pointer vs. array.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allocation (library &lt;</a:t>
            </a:r>
            <a:r>
              <a:rPr lang="en-US" dirty="0" err="1" smtClean="0"/>
              <a:t>stdlib.h</a:t>
            </a:r>
            <a:r>
              <a:rPr lang="en-US" dirty="0" smtClean="0"/>
              <a:t>&gt;):</a:t>
            </a:r>
          </a:p>
          <a:p>
            <a:pPr lvl="1"/>
            <a:r>
              <a:rPr lang="en-US" dirty="0" smtClean="0"/>
              <a:t>Request memory from RAM.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malloc</a:t>
            </a:r>
            <a:r>
              <a:rPr lang="en-US" b="1" dirty="0" smtClean="0">
                <a:solidFill>
                  <a:srgbClr val="FFC000"/>
                </a:solidFill>
              </a:rPr>
              <a:t>( </a:t>
            </a:r>
            <a:r>
              <a:rPr lang="en-US" dirty="0" smtClean="0"/>
              <a:t>&lt;number of bytes&gt;</a:t>
            </a:r>
            <a:r>
              <a:rPr lang="en-US" b="1" dirty="0" smtClean="0">
                <a:solidFill>
                  <a:srgbClr val="FFC000"/>
                </a:solidFill>
              </a:rPr>
              <a:t> )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Return: allocated memory address or NULL (failed).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        *p = ( </a:t>
            </a:r>
            <a:r>
              <a:rPr lang="en-US" dirty="0" err="1" smtClean="0"/>
              <a:t>int</a:t>
            </a:r>
            <a:r>
              <a:rPr lang="en-US" dirty="0" smtClean="0"/>
              <a:t> * ) </a:t>
            </a:r>
            <a:r>
              <a:rPr lang="en-US" b="1" dirty="0" err="1" smtClean="0">
                <a:solidFill>
                  <a:srgbClr val="FFC000"/>
                </a:solidFill>
              </a:rPr>
              <a:t>malloc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 3 * </a:t>
            </a:r>
            <a:r>
              <a:rPr lang="en-US" dirty="0" err="1" smtClean="0"/>
              <a:t>sizeof</a:t>
            </a:r>
            <a:r>
              <a:rPr lang="en-US" dirty="0" smtClean="0"/>
              <a:t>( </a:t>
            </a:r>
            <a:r>
              <a:rPr lang="en-US" dirty="0" err="1" smtClean="0"/>
              <a:t>int</a:t>
            </a:r>
            <a:r>
              <a:rPr lang="en-US" dirty="0" smtClean="0"/>
              <a:t> )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Fraction *q = ( Fraction * ) </a:t>
            </a:r>
            <a:r>
              <a:rPr lang="en-US" b="1" dirty="0" err="1" smtClean="0">
                <a:solidFill>
                  <a:srgbClr val="FFC000"/>
                </a:solidFill>
              </a:rPr>
              <a:t>malloc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 2 * </a:t>
            </a:r>
            <a:r>
              <a:rPr lang="en-US" dirty="0" err="1" smtClean="0"/>
              <a:t>sizeof</a:t>
            </a:r>
            <a:r>
              <a:rPr lang="en-US" dirty="0" smtClean="0"/>
              <a:t>( Fraction )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24384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8194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2004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35814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362200" y="3962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4038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4419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4800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5181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962400" y="3962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76  77  78  79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609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990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1371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17526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04800" y="4267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33400" y="3962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44  45  46  47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 flipV="1">
            <a:off x="2590800" y="46482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457200" y="46482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>
            <a:off x="457200" y="4876800"/>
            <a:ext cx="21336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24384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28194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32004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35814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362200" y="528113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55  56  57  58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3" name="AutoShape 9"/>
          <p:cNvSpPr>
            <a:spLocks noChangeArrowheads="1"/>
          </p:cNvSpPr>
          <p:nvPr/>
        </p:nvSpPr>
        <p:spPr bwMode="auto">
          <a:xfrm>
            <a:off x="4038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4419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4800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5181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962400" y="528113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59  60  61  62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609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AutoShape 9"/>
          <p:cNvSpPr>
            <a:spLocks noChangeArrowheads="1"/>
          </p:cNvSpPr>
          <p:nvPr/>
        </p:nvSpPr>
        <p:spPr bwMode="auto">
          <a:xfrm>
            <a:off x="990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0" name="AutoShape 9"/>
          <p:cNvSpPr>
            <a:spLocks noChangeArrowheads="1"/>
          </p:cNvSpPr>
          <p:nvPr/>
        </p:nvSpPr>
        <p:spPr bwMode="auto">
          <a:xfrm>
            <a:off x="1371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1" name="AutoShape 9"/>
          <p:cNvSpPr>
            <a:spLocks noChangeArrowheads="1"/>
          </p:cNvSpPr>
          <p:nvPr/>
        </p:nvSpPr>
        <p:spPr bwMode="auto">
          <a:xfrm>
            <a:off x="1752600" y="5585936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304800" y="5585936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533400" y="528113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33  34  35  36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 flipV="1">
            <a:off x="2590800" y="5966936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>
            <a:off x="457200" y="5966936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>
            <a:off x="457200" y="6183868"/>
            <a:ext cx="2133600" cy="1166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56388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9" name="AutoShape 9"/>
          <p:cNvSpPr>
            <a:spLocks noChangeArrowheads="1"/>
          </p:cNvSpPr>
          <p:nvPr/>
        </p:nvSpPr>
        <p:spPr bwMode="auto">
          <a:xfrm>
            <a:off x="60198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0" name="AutoShape 9"/>
          <p:cNvSpPr>
            <a:spLocks noChangeArrowheads="1"/>
          </p:cNvSpPr>
          <p:nvPr/>
        </p:nvSpPr>
        <p:spPr bwMode="auto">
          <a:xfrm>
            <a:off x="64008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1" name="AutoShape 9"/>
          <p:cNvSpPr>
            <a:spLocks noChangeArrowheads="1"/>
          </p:cNvSpPr>
          <p:nvPr/>
        </p:nvSpPr>
        <p:spPr bwMode="auto">
          <a:xfrm>
            <a:off x="67818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5562600" y="5269468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63  64  65  66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3" name="AutoShape 9"/>
          <p:cNvSpPr>
            <a:spLocks noChangeArrowheads="1"/>
          </p:cNvSpPr>
          <p:nvPr/>
        </p:nvSpPr>
        <p:spPr bwMode="auto">
          <a:xfrm>
            <a:off x="72390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4" name="AutoShape 9"/>
          <p:cNvSpPr>
            <a:spLocks noChangeArrowheads="1"/>
          </p:cNvSpPr>
          <p:nvPr/>
        </p:nvSpPr>
        <p:spPr bwMode="auto">
          <a:xfrm>
            <a:off x="76200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5" name="AutoShape 9"/>
          <p:cNvSpPr>
            <a:spLocks noChangeArrowheads="1"/>
          </p:cNvSpPr>
          <p:nvPr/>
        </p:nvSpPr>
        <p:spPr bwMode="auto">
          <a:xfrm>
            <a:off x="80010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6" name="AutoShape 9"/>
          <p:cNvSpPr>
            <a:spLocks noChangeArrowheads="1"/>
          </p:cNvSpPr>
          <p:nvPr/>
        </p:nvSpPr>
        <p:spPr bwMode="auto">
          <a:xfrm>
            <a:off x="8382000" y="5574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7162800" y="5269468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67  68  69  70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5715000" y="5052536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numerator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2590800" y="5052536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numerator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7239000" y="505253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denominator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4038600" y="505253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denominator</a:t>
            </a:r>
          </a:p>
        </p:txBody>
      </p:sp>
      <p:sp>
        <p:nvSpPr>
          <p:cNvPr id="63" name="AutoShape 9"/>
          <p:cNvSpPr>
            <a:spLocks noChangeArrowheads="1"/>
          </p:cNvSpPr>
          <p:nvPr/>
        </p:nvSpPr>
        <p:spPr bwMode="auto">
          <a:xfrm>
            <a:off x="56388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64" name="AutoShape 9"/>
          <p:cNvSpPr>
            <a:spLocks noChangeArrowheads="1"/>
          </p:cNvSpPr>
          <p:nvPr/>
        </p:nvSpPr>
        <p:spPr bwMode="auto">
          <a:xfrm>
            <a:off x="60198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65" name="AutoShape 9"/>
          <p:cNvSpPr>
            <a:spLocks noChangeArrowheads="1"/>
          </p:cNvSpPr>
          <p:nvPr/>
        </p:nvSpPr>
        <p:spPr bwMode="auto">
          <a:xfrm>
            <a:off x="64008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66" name="AutoShape 9"/>
          <p:cNvSpPr>
            <a:spLocks noChangeArrowheads="1"/>
          </p:cNvSpPr>
          <p:nvPr/>
        </p:nvSpPr>
        <p:spPr bwMode="auto">
          <a:xfrm>
            <a:off x="6781800" y="4267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5562600" y="39624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80  81  82  83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4495800" y="46482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+ 1</a:t>
            </a:r>
          </a:p>
        </p:txBody>
      </p:sp>
      <p:cxnSp>
        <p:nvCxnSpPr>
          <p:cNvPr id="68" name="Straight Connector 67"/>
          <p:cNvCxnSpPr/>
          <p:nvPr/>
        </p:nvCxnSpPr>
        <p:spPr bwMode="auto">
          <a:xfrm flipV="1">
            <a:off x="4191000" y="46482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191000" y="4876800"/>
            <a:ext cx="3048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096000" y="59552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 + 1</a:t>
            </a:r>
          </a:p>
        </p:txBody>
      </p:sp>
      <p:cxnSp>
        <p:nvCxnSpPr>
          <p:cNvPr id="73" name="Straight Connector 72"/>
          <p:cNvCxnSpPr/>
          <p:nvPr/>
        </p:nvCxnSpPr>
        <p:spPr bwMode="auto">
          <a:xfrm flipH="1">
            <a:off x="5791200" y="6172200"/>
            <a:ext cx="3048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5791200" y="5955268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8" grpId="0" animBg="1"/>
      <p:bldP spid="49" grpId="0" animBg="1"/>
      <p:bldP spid="50" grpId="0" animBg="1"/>
      <p:bldP spid="51" grpId="0" animBg="1"/>
      <p:bldP spid="52" grpId="0"/>
      <p:bldP spid="53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61" grpId="0"/>
      <p:bldP spid="63" grpId="0" animBg="1"/>
      <p:bldP spid="64" grpId="0" animBg="1"/>
      <p:bldP spid="65" grpId="0" animBg="1"/>
      <p:bldP spid="66" grpId="0" animBg="1"/>
      <p:bldP spid="71" grpId="0"/>
      <p:bldP spid="67" grpId="0"/>
      <p:bldP spid="7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allocation: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calloc</a:t>
            </a:r>
            <a:r>
              <a:rPr lang="en-US" b="1" dirty="0" smtClean="0">
                <a:solidFill>
                  <a:srgbClr val="FFC000"/>
                </a:solidFill>
              </a:rPr>
              <a:t>( </a:t>
            </a:r>
            <a:r>
              <a:rPr lang="en-US" dirty="0" smtClean="0"/>
              <a:t>&lt;block count&gt;, &lt;block size&gt;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Return: allocated memory address or NULL (failed).</a:t>
            </a:r>
          </a:p>
          <a:p>
            <a:pPr lvl="2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int</a:t>
            </a:r>
            <a:r>
              <a:rPr lang="en-US" sz="2000" dirty="0" smtClean="0"/>
              <a:t>  	 *p = (</a:t>
            </a:r>
            <a:r>
              <a:rPr lang="en-US" sz="2000" dirty="0" err="1" smtClean="0"/>
              <a:t>int</a:t>
            </a:r>
            <a:r>
              <a:rPr lang="en-US" sz="2000" dirty="0" smtClean="0"/>
              <a:t> *) </a:t>
            </a:r>
            <a:r>
              <a:rPr lang="en-US" sz="2000" b="1" dirty="0" err="1" smtClean="0">
                <a:solidFill>
                  <a:srgbClr val="FFC000"/>
                </a:solidFill>
              </a:rPr>
              <a:t>calloc</a:t>
            </a:r>
            <a:r>
              <a:rPr lang="en-US" sz="2000" b="1" dirty="0" smtClean="0">
                <a:solidFill>
                  <a:srgbClr val="FFC000"/>
                </a:solidFill>
              </a:rPr>
              <a:t>(</a:t>
            </a:r>
            <a:r>
              <a:rPr lang="en-US" sz="2000" dirty="0" smtClean="0"/>
              <a:t> 3, </a:t>
            </a:r>
            <a:r>
              <a:rPr lang="en-US" sz="2000" dirty="0" err="1" smtClean="0"/>
              <a:t>sizeof</a:t>
            </a:r>
            <a:r>
              <a:rPr lang="en-US" sz="2000" dirty="0" smtClean="0"/>
              <a:t>(</a:t>
            </a:r>
            <a:r>
              <a:rPr lang="en-US" sz="2000" dirty="0" err="1" smtClean="0"/>
              <a:t>int</a:t>
            </a:r>
            <a:r>
              <a:rPr lang="en-US" sz="2000" dirty="0" smtClean="0"/>
              <a:t>) </a:t>
            </a:r>
            <a:r>
              <a:rPr lang="en-US" sz="2000" b="1" dirty="0" smtClean="0">
                <a:solidFill>
                  <a:srgbClr val="FFC000"/>
                </a:solidFill>
              </a:rPr>
              <a:t>)</a:t>
            </a:r>
            <a:r>
              <a:rPr lang="en-US" sz="2000" dirty="0" smtClean="0"/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Fraction *q = (Fraction *) </a:t>
            </a:r>
            <a:r>
              <a:rPr lang="en-US" sz="2000" b="1" dirty="0" err="1" smtClean="0">
                <a:solidFill>
                  <a:srgbClr val="FFC000"/>
                </a:solidFill>
              </a:rPr>
              <a:t>calloc</a:t>
            </a:r>
            <a:r>
              <a:rPr lang="en-US" sz="2000" b="1" dirty="0" smtClean="0">
                <a:solidFill>
                  <a:srgbClr val="FFC000"/>
                </a:solidFill>
              </a:rPr>
              <a:t>( </a:t>
            </a:r>
            <a:r>
              <a:rPr lang="en-US" sz="2000" dirty="0" smtClean="0"/>
              <a:t>2, </a:t>
            </a:r>
            <a:r>
              <a:rPr lang="en-US" sz="2000" dirty="0" err="1" smtClean="0"/>
              <a:t>sizeof</a:t>
            </a:r>
            <a:r>
              <a:rPr lang="en-US" sz="2000" dirty="0" smtClean="0"/>
              <a:t>(Fraction) </a:t>
            </a:r>
            <a:r>
              <a:rPr lang="en-US" sz="2000" b="1" dirty="0" smtClean="0">
                <a:solidFill>
                  <a:srgbClr val="FFC000"/>
                </a:solidFill>
              </a:rPr>
              <a:t>)</a:t>
            </a:r>
            <a:r>
              <a:rPr lang="en-US" sz="2000" dirty="0" smtClean="0"/>
              <a:t>;</a:t>
            </a:r>
            <a:endParaRPr lang="en-US" dirty="0" smtClean="0"/>
          </a:p>
          <a:p>
            <a:pPr lvl="2"/>
            <a:r>
              <a:rPr lang="en-US" dirty="0" err="1" smtClean="0"/>
              <a:t>malloc</a:t>
            </a:r>
            <a:r>
              <a:rPr lang="en-US" dirty="0" smtClean="0"/>
              <a:t> vs. </a:t>
            </a:r>
            <a:r>
              <a:rPr lang="en-US" dirty="0" err="1" smtClean="0"/>
              <a:t>calloc</a:t>
            </a:r>
            <a:r>
              <a:rPr lang="en-US" dirty="0" smtClean="0"/>
              <a:t>?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realloc</a:t>
            </a:r>
            <a:r>
              <a:rPr lang="en-US" b="1" dirty="0" smtClean="0">
                <a:solidFill>
                  <a:srgbClr val="FFC000"/>
                </a:solidFill>
              </a:rPr>
              <a:t>( </a:t>
            </a:r>
            <a:r>
              <a:rPr lang="en-US" dirty="0" smtClean="0"/>
              <a:t>&lt;allocated address&gt;, &lt;bytes&gt;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Resize allocated memory.</a:t>
            </a:r>
          </a:p>
          <a:p>
            <a:pPr lvl="2"/>
            <a:r>
              <a:rPr lang="en-US" dirty="0" smtClean="0"/>
              <a:t>Return: resized memory address or NULL (failed).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	 *p = (</a:t>
            </a:r>
            <a:r>
              <a:rPr lang="en-US" sz="1800" dirty="0" err="1" smtClean="0"/>
              <a:t>int</a:t>
            </a:r>
            <a:r>
              <a:rPr lang="en-US" sz="1800" dirty="0" smtClean="0"/>
              <a:t> *) </a:t>
            </a:r>
            <a:r>
              <a:rPr lang="en-US" sz="1800" b="1" dirty="0" err="1" smtClean="0">
                <a:solidFill>
                  <a:srgbClr val="FFC000"/>
                </a:solidFill>
              </a:rPr>
              <a:t>malloc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 2 *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)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 </a:t>
            </a:r>
            <a:br>
              <a:rPr lang="en-US" sz="1800" dirty="0" smtClean="0"/>
            </a:br>
            <a:r>
              <a:rPr lang="en-US" sz="1800" dirty="0" smtClean="0"/>
              <a:t>p[ 0 ] = 5;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	*q = (</a:t>
            </a:r>
            <a:r>
              <a:rPr lang="en-US" sz="1800" dirty="0" err="1" smtClean="0"/>
              <a:t>int</a:t>
            </a:r>
            <a:r>
              <a:rPr lang="en-US" sz="1800" dirty="0" smtClean="0"/>
              <a:t> *) </a:t>
            </a:r>
            <a:r>
              <a:rPr lang="en-US" sz="1800" b="1" dirty="0" err="1" smtClean="0">
                <a:solidFill>
                  <a:srgbClr val="FFC000"/>
                </a:solidFill>
              </a:rPr>
              <a:t>realloc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 p, 4 *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)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de-allocation (library &lt;</a:t>
            </a:r>
            <a:r>
              <a:rPr lang="en-US" dirty="0" err="1" smtClean="0"/>
              <a:t>stdlib.h</a:t>
            </a:r>
            <a:r>
              <a:rPr lang="en-US" dirty="0" smtClean="0"/>
              <a:t>&gt;):</a:t>
            </a:r>
          </a:p>
          <a:p>
            <a:pPr lvl="1"/>
            <a:r>
              <a:rPr lang="en-US" dirty="0" smtClean="0"/>
              <a:t>Return memory to RAM after use.</a:t>
            </a:r>
          </a:p>
          <a:p>
            <a:pPr lvl="1"/>
            <a:r>
              <a:rPr lang="en-US" dirty="0" smtClean="0"/>
              <a:t>Memory leak problem:</a:t>
            </a:r>
          </a:p>
          <a:p>
            <a:pPr lvl="2"/>
            <a:r>
              <a:rPr lang="en-US" dirty="0" smtClean="0"/>
              <a:t>Declared variables are auto return.</a:t>
            </a:r>
          </a:p>
          <a:p>
            <a:pPr lvl="2"/>
            <a:r>
              <a:rPr lang="en-US" dirty="0" smtClean="0"/>
              <a:t>Allocated memory ARE NOT auto return.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Forget to return  memory leak.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C000"/>
                </a:solidFill>
              </a:rPr>
              <a:t>free( </a:t>
            </a:r>
            <a:r>
              <a:rPr lang="en-US" dirty="0" smtClean="0"/>
              <a:t>&lt;pointer&gt;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.</a:t>
            </a:r>
          </a:p>
          <a:p>
            <a:pPr lvl="2">
              <a:buNone/>
            </a:pPr>
            <a:r>
              <a:rPr lang="en-US" dirty="0" smtClean="0"/>
              <a:t>	float  *p = ( float * ) </a:t>
            </a:r>
            <a:r>
              <a:rPr lang="en-US" b="1" dirty="0" err="1" smtClean="0">
                <a:solidFill>
                  <a:srgbClr val="FFC000"/>
                </a:solidFill>
              </a:rPr>
              <a:t>malloc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 20 * </a:t>
            </a:r>
            <a:r>
              <a:rPr lang="en-US" dirty="0" err="1" smtClean="0"/>
              <a:t>sizeof</a:t>
            </a:r>
            <a:r>
              <a:rPr lang="en-US" dirty="0" smtClean="0"/>
              <a:t>( float )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free(</a:t>
            </a:r>
            <a:r>
              <a:rPr lang="en-US" dirty="0" smtClean="0"/>
              <a:t> p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p = NULL;	// Safe practice.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C++ memory management:</a:t>
            </a:r>
          </a:p>
          <a:p>
            <a:pPr lvl="1"/>
            <a:r>
              <a:rPr lang="en-US" dirty="0" smtClean="0"/>
              <a:t>Is compatible with C (</a:t>
            </a:r>
            <a:r>
              <a:rPr lang="en-US" dirty="0" err="1" smtClean="0"/>
              <a:t>malloc</a:t>
            </a:r>
            <a:r>
              <a:rPr lang="en-US" dirty="0" smtClean="0"/>
              <a:t>, </a:t>
            </a:r>
            <a:r>
              <a:rPr lang="en-US" dirty="0" err="1" smtClean="0"/>
              <a:t>calloc</a:t>
            </a:r>
            <a:r>
              <a:rPr lang="en-US" dirty="0" smtClean="0"/>
              <a:t>, </a:t>
            </a:r>
            <a:r>
              <a:rPr lang="en-US" dirty="0" err="1" smtClean="0"/>
              <a:t>realloc</a:t>
            </a:r>
            <a:r>
              <a:rPr lang="en-US" dirty="0" smtClean="0"/>
              <a:t>, free).</a:t>
            </a:r>
          </a:p>
          <a:p>
            <a:pPr lvl="1"/>
            <a:r>
              <a:rPr lang="en-US" dirty="0" smtClean="0"/>
              <a:t>Has new way to manage memory.</a:t>
            </a:r>
          </a:p>
          <a:p>
            <a:pPr lvl="1"/>
            <a:r>
              <a:rPr lang="en-US" dirty="0" smtClean="0"/>
              <a:t>Operator </a:t>
            </a:r>
            <a:r>
              <a:rPr lang="en-US" b="1" dirty="0" smtClean="0">
                <a:solidFill>
                  <a:srgbClr val="FFC000"/>
                </a:solidFill>
              </a:rPr>
              <a:t>new</a:t>
            </a:r>
            <a:r>
              <a:rPr lang="en-US" dirty="0" smtClean="0"/>
              <a:t>: allocate memory.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new</a:t>
            </a:r>
            <a:r>
              <a:rPr lang="en-US" dirty="0" smtClean="0"/>
              <a:t> &lt;type&gt;</a:t>
            </a:r>
            <a:r>
              <a:rPr lang="en-US" b="1" dirty="0" smtClean="0">
                <a:solidFill>
                  <a:srgbClr val="FFC000"/>
                </a:solidFill>
              </a:rPr>
              <a:t>[</a:t>
            </a:r>
            <a:r>
              <a:rPr lang="en-US" dirty="0" smtClean="0"/>
              <a:t>&lt;number of elements&gt;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Return: address of allocated memory.</a:t>
            </a:r>
          </a:p>
          <a:p>
            <a:pPr lvl="1"/>
            <a:r>
              <a:rPr lang="en-US" dirty="0" smtClean="0"/>
              <a:t>Operator </a:t>
            </a:r>
            <a:r>
              <a:rPr lang="en-US" b="1" dirty="0" smtClean="0">
                <a:solidFill>
                  <a:srgbClr val="FFC000"/>
                </a:solidFill>
              </a:rPr>
              <a:t>delete</a:t>
            </a:r>
            <a:r>
              <a:rPr lang="en-US" dirty="0" smtClean="0"/>
              <a:t>: de-allocate memory.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smtClean="0">
                <a:solidFill>
                  <a:srgbClr val="FFC000"/>
                </a:solidFill>
              </a:rPr>
              <a:t>delete</a:t>
            </a:r>
            <a:r>
              <a:rPr lang="en-US" dirty="0" smtClean="0"/>
              <a:t> &lt;pointer&gt;;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        *p = </a:t>
            </a:r>
            <a:r>
              <a:rPr lang="en-US" b="1" dirty="0" smtClean="0">
                <a:solidFill>
                  <a:srgbClr val="FFC000"/>
                </a:solidFill>
              </a:rPr>
              <a:t>new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[</a:t>
            </a:r>
            <a:r>
              <a:rPr lang="en-US" dirty="0" smtClean="0"/>
              <a:t> 10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Fraction *q = </a:t>
            </a:r>
            <a:r>
              <a:rPr lang="en-US" b="1" dirty="0" smtClean="0">
                <a:solidFill>
                  <a:srgbClr val="FFC000"/>
                </a:solidFill>
              </a:rPr>
              <a:t>new</a:t>
            </a:r>
            <a:r>
              <a:rPr lang="en-US" dirty="0" smtClean="0"/>
              <a:t> Fraction </a:t>
            </a:r>
            <a:r>
              <a:rPr lang="en-US" b="1" dirty="0" smtClean="0">
                <a:solidFill>
                  <a:srgbClr val="FFC000"/>
                </a:solidFill>
              </a:rPr>
              <a:t>[</a:t>
            </a:r>
            <a:r>
              <a:rPr lang="en-US" dirty="0" smtClean="0"/>
              <a:t> 30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delete</a:t>
            </a:r>
            <a:r>
              <a:rPr lang="en-US" dirty="0" smtClean="0"/>
              <a:t> [ ]p;</a:t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delete</a:t>
            </a:r>
            <a:r>
              <a:rPr lang="en-US" dirty="0" smtClean="0"/>
              <a:t> [ ]q;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1-D array:</a:t>
            </a:r>
          </a:p>
          <a:p>
            <a:pPr lvl="1"/>
            <a:r>
              <a:rPr lang="en-US" dirty="0" smtClean="0"/>
              <a:t>Array has flexible size:</a:t>
            </a:r>
          </a:p>
          <a:p>
            <a:pPr lvl="2"/>
            <a:r>
              <a:rPr lang="en-US" dirty="0" smtClean="0"/>
              <a:t>Use pointer.</a:t>
            </a:r>
          </a:p>
          <a:p>
            <a:pPr lvl="2"/>
            <a:r>
              <a:rPr lang="en-US" dirty="0" smtClean="0"/>
              <a:t>Allocate memory as needed.</a:t>
            </a:r>
          </a:p>
          <a:p>
            <a:pPr lvl="2"/>
            <a:r>
              <a:rPr lang="en-US" dirty="0" smtClean="0"/>
              <a:t>De-allocate when finish.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Use memory more efficient.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b="1" dirty="0" err="1" smtClean="0">
                <a:solidFill>
                  <a:srgbClr val="FFC000"/>
                </a:solidFill>
              </a:rPr>
              <a:t>inputArray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*&amp;a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&amp;n </a:t>
            </a:r>
            <a:r>
              <a:rPr lang="en-US" sz="1800" dirty="0" smtClean="0"/>
              <a:t>) 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number of elements: “);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</a:t>
            </a:r>
            <a:r>
              <a:rPr lang="en-US" sz="1800" b="1" dirty="0" smtClean="0">
                <a:solidFill>
                  <a:srgbClr val="FFC000"/>
                </a:solidFill>
              </a:rPr>
              <a:t>&amp;n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a</a:t>
            </a:r>
            <a:r>
              <a:rPr lang="en-US" sz="1800" dirty="0" smtClean="0"/>
              <a:t> = </a:t>
            </a:r>
            <a:r>
              <a:rPr lang="en-US" sz="1800" b="1" dirty="0" smtClean="0">
                <a:solidFill>
                  <a:srgbClr val="FFC000"/>
                </a:solidFill>
              </a:rPr>
              <a:t>new</a:t>
            </a: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[</a:t>
            </a:r>
            <a:r>
              <a:rPr lang="en-US" sz="1800" dirty="0" smtClean="0"/>
              <a:t> n </a:t>
            </a:r>
            <a:r>
              <a:rPr lang="en-US" sz="1800" b="1" dirty="0" smtClean="0">
                <a:solidFill>
                  <a:srgbClr val="FFC000"/>
                </a:solidFill>
              </a:rPr>
              <a:t>]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n; </a:t>
            </a:r>
            <a:r>
              <a:rPr lang="en-US" sz="1800" dirty="0" err="1" smtClean="0"/>
              <a:t>i</a:t>
            </a:r>
            <a:r>
              <a:rPr lang="en-US" sz="1800" dirty="0" smtClean="0"/>
              <a:t>++) {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element %d:”, </a:t>
            </a:r>
            <a:r>
              <a:rPr lang="en-US" sz="1800" dirty="0" err="1" smtClean="0"/>
              <a:t>i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</a:t>
            </a:r>
            <a:r>
              <a:rPr lang="en-US" sz="1800" b="1" dirty="0" smtClean="0">
                <a:solidFill>
                  <a:srgbClr val="FFC000"/>
                </a:solidFill>
              </a:rPr>
              <a:t>&amp;a[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}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3600" y="3657600"/>
            <a:ext cx="3505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*a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inputArray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(a, n);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[ ]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concept:</a:t>
            </a:r>
          </a:p>
          <a:p>
            <a:pPr lvl="1"/>
            <a:r>
              <a:rPr lang="en-US" dirty="0" smtClean="0"/>
              <a:t>Each variable has a memory address.</a:t>
            </a:r>
          </a:p>
          <a:p>
            <a:pPr lvl="1"/>
            <a:r>
              <a:rPr lang="en-US" dirty="0" smtClean="0"/>
              <a:t>Pointer is variable storing other variable address.</a:t>
            </a:r>
          </a:p>
          <a:p>
            <a:r>
              <a:rPr lang="en-US" dirty="0" smtClean="0"/>
              <a:t>Pointer usage:</a:t>
            </a:r>
          </a:p>
          <a:p>
            <a:pPr lvl="1"/>
            <a:r>
              <a:rPr lang="en-US" dirty="0" smtClean="0"/>
              <a:t>Declaration: &lt;Data type&gt; *.</a:t>
            </a:r>
          </a:p>
          <a:p>
            <a:pPr lvl="1"/>
            <a:r>
              <a:rPr lang="en-US" dirty="0" smtClean="0"/>
              <a:t>Referencing (operator &amp;): points to memory address.</a:t>
            </a:r>
          </a:p>
          <a:p>
            <a:pPr lvl="1"/>
            <a:r>
              <a:rPr lang="en-US" dirty="0" smtClean="0"/>
              <a:t>De-referencing (operator *): read memory content.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vs. Array:</a:t>
            </a:r>
          </a:p>
          <a:p>
            <a:pPr lvl="1"/>
            <a:r>
              <a:rPr lang="en-US" dirty="0" smtClean="0"/>
              <a:t>Array is a pointer pointing to first element.</a:t>
            </a:r>
          </a:p>
          <a:p>
            <a:pPr lvl="1"/>
            <a:r>
              <a:rPr lang="en-US" dirty="0" smtClean="0"/>
              <a:t>Operator [ ]: jump and de-reference.</a:t>
            </a:r>
          </a:p>
          <a:p>
            <a:pPr lvl="1"/>
            <a:r>
              <a:rPr lang="en-US" dirty="0" smtClean="0"/>
              <a:t>Array argument is pointer passed to function.</a:t>
            </a:r>
          </a:p>
          <a:p>
            <a:r>
              <a:rPr lang="en-US" dirty="0" smtClean="0"/>
              <a:t>Memory management:</a:t>
            </a:r>
          </a:p>
          <a:p>
            <a:pPr lvl="1"/>
            <a:r>
              <a:rPr lang="en-US" dirty="0" smtClean="0"/>
              <a:t>Allocation: </a:t>
            </a:r>
            <a:r>
              <a:rPr lang="en-US" dirty="0" err="1" smtClean="0"/>
              <a:t>malloc</a:t>
            </a:r>
            <a:r>
              <a:rPr lang="en-US" dirty="0" smtClean="0"/>
              <a:t>, </a:t>
            </a:r>
            <a:r>
              <a:rPr lang="en-US" dirty="0" err="1" smtClean="0"/>
              <a:t>calloc</a:t>
            </a:r>
            <a:r>
              <a:rPr lang="en-US" dirty="0" smtClean="0"/>
              <a:t>, </a:t>
            </a:r>
            <a:r>
              <a:rPr lang="en-US" dirty="0" err="1" smtClean="0"/>
              <a:t>realloc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De-allocation: free.</a:t>
            </a:r>
          </a:p>
          <a:p>
            <a:pPr lvl="1"/>
            <a:r>
              <a:rPr lang="en-US" dirty="0" smtClean="0"/>
              <a:t>Memory leak: allocated memory not returned.</a:t>
            </a:r>
          </a:p>
          <a:p>
            <a:pPr lvl="1"/>
            <a:r>
              <a:rPr lang="en-US" dirty="0" smtClean="0"/>
              <a:t>C++:</a:t>
            </a:r>
          </a:p>
          <a:p>
            <a:pPr lvl="2"/>
            <a:r>
              <a:rPr lang="en-US" dirty="0" smtClean="0"/>
              <a:t>Allocation: operator new.</a:t>
            </a:r>
          </a:p>
          <a:p>
            <a:pPr lvl="2"/>
            <a:r>
              <a:rPr lang="en-US" dirty="0" smtClean="0"/>
              <a:t>De-allocation: operator delete.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7.1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Given the following code: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main()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*x, y = 2;</a:t>
            </a:r>
            <a:br>
              <a:rPr lang="en-US" sz="1800" dirty="0" smtClean="0"/>
            </a:br>
            <a:r>
              <a:rPr lang="en-US" sz="1800" dirty="0" smtClean="0"/>
              <a:t>	float  *z = &amp;y;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*x = *z + y;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(“%d”, y);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2000" dirty="0" smtClean="0"/>
              <a:t>	a) Fix error of the code.</a:t>
            </a:r>
          </a:p>
          <a:p>
            <a:pPr>
              <a:buNone/>
            </a:pPr>
            <a:r>
              <a:rPr lang="en-US" sz="2000" dirty="0" smtClean="0"/>
              <a:t>	b) After fixing, what is displayed on screen?</a:t>
            </a:r>
            <a:endParaRPr lang="en-US" sz="2400" dirty="0" smtClean="0"/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7.2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Explain the difference amongst the following 3 functions:</a:t>
            </a:r>
          </a:p>
          <a:p>
            <a:pPr>
              <a:buNone/>
            </a:pPr>
            <a:r>
              <a:rPr lang="en-US" sz="1800" dirty="0" smtClean="0"/>
              <a:t>	void swap1(</a:t>
            </a:r>
            <a:r>
              <a:rPr lang="en-US" sz="1800" dirty="0" err="1" smtClean="0"/>
              <a:t>int</a:t>
            </a:r>
            <a:r>
              <a:rPr lang="en-US" sz="1800" dirty="0" smtClean="0"/>
              <a:t> x, </a:t>
            </a:r>
            <a:r>
              <a:rPr lang="en-US" sz="1800" dirty="0" err="1" smtClean="0"/>
              <a:t>int</a:t>
            </a:r>
            <a:r>
              <a:rPr lang="en-US" sz="1800" dirty="0" smtClean="0"/>
              <a:t> y)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temp = x;</a:t>
            </a:r>
            <a:br>
              <a:rPr lang="en-US" sz="1800" dirty="0" smtClean="0"/>
            </a:br>
            <a:r>
              <a:rPr lang="en-US" sz="1800" dirty="0" smtClean="0"/>
              <a:t>	x = y;</a:t>
            </a:r>
            <a:br>
              <a:rPr lang="en-US" sz="1800" dirty="0" smtClean="0"/>
            </a:br>
            <a:r>
              <a:rPr lang="en-US" sz="1800" dirty="0" smtClean="0"/>
              <a:t>	y = temp;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void swap2(</a:t>
            </a:r>
            <a:r>
              <a:rPr lang="en-US" sz="1800" dirty="0" err="1" smtClean="0"/>
              <a:t>int</a:t>
            </a:r>
            <a:r>
              <a:rPr lang="en-US" sz="1800" dirty="0" smtClean="0"/>
              <a:t> &amp;x, </a:t>
            </a:r>
            <a:r>
              <a:rPr lang="en-US" sz="1800" dirty="0" err="1" smtClean="0"/>
              <a:t>int</a:t>
            </a:r>
            <a:r>
              <a:rPr lang="en-US" sz="1800" dirty="0" smtClean="0"/>
              <a:t> &amp;y)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temp = x;</a:t>
            </a:r>
            <a:br>
              <a:rPr lang="en-US" sz="1800" dirty="0" smtClean="0"/>
            </a:br>
            <a:r>
              <a:rPr lang="en-US" sz="1800" dirty="0" smtClean="0"/>
              <a:t>	x = y;</a:t>
            </a:r>
            <a:br>
              <a:rPr lang="en-US" sz="1800" dirty="0" smtClean="0"/>
            </a:br>
            <a:r>
              <a:rPr lang="en-US" sz="1800" dirty="0" smtClean="0"/>
              <a:t>	y = temp;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038600" y="2057400"/>
            <a:ext cx="2971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swap3(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*x,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*y)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temp = *x;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*x = *y;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*y = temp;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7.3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Explain what the following program prints: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main()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double	m[100];</a:t>
            </a:r>
            <a:br>
              <a:rPr lang="en-US" sz="1800" dirty="0" smtClean="0"/>
            </a:br>
            <a:r>
              <a:rPr lang="en-US" sz="1800" dirty="0" smtClean="0"/>
              <a:t>	double	*p1, *p2;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p1 = m;</a:t>
            </a:r>
            <a:br>
              <a:rPr lang="en-US" sz="1800" dirty="0" smtClean="0"/>
            </a:br>
            <a:r>
              <a:rPr lang="en-US" sz="1800" dirty="0" smtClean="0"/>
              <a:t>	p2 = &amp;m[6];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</a:t>
            </a:r>
            <a:r>
              <a:rPr lang="en-US" sz="1800" dirty="0" err="1" smtClean="0"/>
              <a:t>lld</a:t>
            </a:r>
            <a:r>
              <a:rPr lang="en-US" sz="1800" dirty="0" smtClean="0"/>
              <a:t>”, p2 – p1);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7.4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Explain what the following program prints: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#include &lt;</a:t>
            </a:r>
            <a:r>
              <a:rPr lang="en-US" sz="1800" dirty="0" err="1" smtClean="0"/>
              <a:t>stdio.h</a:t>
            </a:r>
            <a:r>
              <a:rPr lang="en-US" sz="1800" dirty="0" smtClean="0"/>
              <a:t>&gt;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main()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x = 1023;</a:t>
            </a:r>
            <a:br>
              <a:rPr lang="en-US" sz="1800" dirty="0" smtClean="0"/>
            </a:br>
            <a:r>
              <a:rPr lang="en-US" sz="1800" dirty="0" smtClean="0"/>
              <a:t>	char  *p = (char *)&amp;x; 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 %d %d %d\n”, p[0], p[1], p[2], p[3]);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7.5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Write C/C++ program to use pointer as dynamic array:</a:t>
            </a:r>
          </a:p>
          <a:p>
            <a:pPr>
              <a:buNone/>
            </a:pPr>
            <a:r>
              <a:rPr lang="en-US" sz="2000" dirty="0" smtClean="0"/>
              <a:t>		- Enter an array of N fractions.</a:t>
            </a:r>
          </a:p>
          <a:p>
            <a:pPr>
              <a:buNone/>
            </a:pPr>
            <a:r>
              <a:rPr lang="en-US" sz="2000" dirty="0" smtClean="0"/>
              <a:t>		- Delete fractions having duplicate values (keep the first one).</a:t>
            </a:r>
          </a:p>
          <a:p>
            <a:pPr>
              <a:buNone/>
            </a:pPr>
            <a:r>
              <a:rPr lang="en-US" sz="2000" dirty="0" smtClean="0"/>
              <a:t>		- Print the result array.</a:t>
            </a:r>
          </a:p>
          <a:p>
            <a:pPr>
              <a:buNone/>
            </a:pPr>
            <a:r>
              <a:rPr lang="en-US" sz="2000" dirty="0" smtClean="0"/>
              <a:t>	Input format:</a:t>
            </a:r>
          </a:p>
          <a:p>
            <a:pPr>
              <a:buNone/>
            </a:pPr>
            <a:r>
              <a:rPr lang="en-US" sz="2000" dirty="0" smtClean="0"/>
              <a:t>		Number of fractions = 5</a:t>
            </a:r>
            <a:br>
              <a:rPr lang="en-US" sz="2000" dirty="0" smtClean="0"/>
            </a:br>
            <a:r>
              <a:rPr lang="en-US" sz="2000" dirty="0" smtClean="0"/>
              <a:t>	Fraction 0 = 1/2</a:t>
            </a:r>
            <a:br>
              <a:rPr lang="en-US" sz="2000" dirty="0" smtClean="0"/>
            </a:br>
            <a:r>
              <a:rPr lang="en-US" sz="2000" dirty="0" smtClean="0"/>
              <a:t>	Fraction 1 = 2/5</a:t>
            </a:r>
            <a:br>
              <a:rPr lang="en-US" sz="2000" dirty="0" smtClean="0"/>
            </a:br>
            <a:r>
              <a:rPr lang="en-US" sz="2000" dirty="0" smtClean="0"/>
              <a:t>	Fraction 2 = 4/8</a:t>
            </a:r>
            <a:br>
              <a:rPr lang="en-US" sz="2000" dirty="0" smtClean="0"/>
            </a:br>
            <a:r>
              <a:rPr lang="en-US" sz="2000" dirty="0" smtClean="0"/>
              <a:t>	Fraction 3 = 9/7</a:t>
            </a:r>
            <a:br>
              <a:rPr lang="en-US" sz="2000" dirty="0" smtClean="0"/>
            </a:br>
            <a:r>
              <a:rPr lang="en-US" sz="2000" dirty="0" smtClean="0"/>
              <a:t>	Fraction 4 = 18/14</a:t>
            </a:r>
          </a:p>
          <a:p>
            <a:pPr>
              <a:buNone/>
            </a:pPr>
            <a:r>
              <a:rPr lang="en-US" sz="2000" dirty="0" smtClean="0"/>
              <a:t>	Output format:</a:t>
            </a:r>
          </a:p>
          <a:p>
            <a:pPr>
              <a:buNone/>
            </a:pPr>
            <a:r>
              <a:rPr lang="en-US" sz="2000" dirty="0" smtClean="0"/>
              <a:t>		1/2 2/5 9/7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23575</TotalTime>
  <Words>1649</Words>
  <Application>Microsoft Office PowerPoint</Application>
  <PresentationFormat>On-screen Show (4:3)</PresentationFormat>
  <Paragraphs>546</Paragraphs>
  <Slides>34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Stream</vt:lpstr>
      <vt:lpstr>Pointer</vt:lpstr>
      <vt:lpstr>Contents</vt:lpstr>
      <vt:lpstr>Contents</vt:lpstr>
      <vt:lpstr>Pointer concept</vt:lpstr>
      <vt:lpstr>Pointer concept</vt:lpstr>
      <vt:lpstr>Pointer concept</vt:lpstr>
      <vt:lpstr>Pointer concept</vt:lpstr>
      <vt:lpstr>Contents</vt:lpstr>
      <vt:lpstr>Pointer usage</vt:lpstr>
      <vt:lpstr>Pointer usage</vt:lpstr>
      <vt:lpstr>Pointer usage</vt:lpstr>
      <vt:lpstr>Pointer usage</vt:lpstr>
      <vt:lpstr>Pointer usage</vt:lpstr>
      <vt:lpstr>Pointer usage</vt:lpstr>
      <vt:lpstr>Pointer usage</vt:lpstr>
      <vt:lpstr>Contents</vt:lpstr>
      <vt:lpstr>Pointer vs. array</vt:lpstr>
      <vt:lpstr>Pointer vs. array</vt:lpstr>
      <vt:lpstr>Pointer vs. array</vt:lpstr>
      <vt:lpstr>Pointer vs. array</vt:lpstr>
      <vt:lpstr>Pointer vs. array</vt:lpstr>
      <vt:lpstr>Contents</vt:lpstr>
      <vt:lpstr>Memory management</vt:lpstr>
      <vt:lpstr>Memory management</vt:lpstr>
      <vt:lpstr>Memory management</vt:lpstr>
      <vt:lpstr>Memory management</vt:lpstr>
      <vt:lpstr>Memory management</vt:lpstr>
      <vt:lpstr>Summary</vt:lpstr>
      <vt:lpstr>Summary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1233</cp:revision>
  <dcterms:created xsi:type="dcterms:W3CDTF">2005-11-21T10:16:26Z</dcterms:created>
  <dcterms:modified xsi:type="dcterms:W3CDTF">2024-09-08T20:00:33Z</dcterms:modified>
</cp:coreProperties>
</file>