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73" r:id="rId4"/>
    <p:sldId id="269" r:id="rId5"/>
    <p:sldId id="270" r:id="rId6"/>
    <p:sldId id="271" r:id="rId7"/>
    <p:sldId id="268" r:id="rId8"/>
    <p:sldId id="260" r:id="rId9"/>
    <p:sldId id="261" r:id="rId10"/>
    <p:sldId id="262" r:id="rId11"/>
    <p:sldId id="263" r:id="rId12"/>
    <p:sldId id="265" r:id="rId13"/>
    <p:sldId id="266" r:id="rId14"/>
    <p:sldId id="259" r:id="rId15"/>
    <p:sldId id="272" r:id="rId16"/>
    <p:sldId id="267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33CC33"/>
    <a:srgbClr val="FF9933"/>
    <a:srgbClr val="008000"/>
    <a:srgbClr val="FF6600"/>
    <a:srgbClr val="66CCFF"/>
    <a:srgbClr val="CC3300"/>
    <a:srgbClr val="CC66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241" autoAdjust="0"/>
    <p:restoredTop sz="94530" autoAdjust="0"/>
  </p:normalViewPr>
  <p:slideViewPr>
    <p:cSldViewPr>
      <p:cViewPr varScale="1">
        <p:scale>
          <a:sx n="65" d="100"/>
          <a:sy n="65" d="100"/>
        </p:scale>
        <p:origin x="-688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8"/>
    </p:cViewPr>
  </p:sorterViewPr>
  <p:notesViewPr>
    <p:cSldViewPr>
      <p:cViewPr varScale="1">
        <p:scale>
          <a:sx n="70" d="100"/>
          <a:sy n="70" d="100"/>
        </p:scale>
        <p:origin x="-181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9974381-B100-477C-A92F-6436D838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49FE2AAC-7B5D-4A48-9632-25D7FB231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" name="Freeform 4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" name="Freeform 5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6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7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8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5" name="Freeform 9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0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2" name="Picture 26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8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6096000" y="3733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Inst.</a:t>
            </a:r>
            <a:r>
              <a:rPr lang="en-US" sz="2000" baseline="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Nguyễn</a:t>
            </a: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Minh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Huy</a:t>
            </a:r>
            <a:endParaRPr lang="en-US" sz="200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304800" y="1828800"/>
            <a:ext cx="8534400" cy="1676400"/>
          </a:xfrm>
        </p:spPr>
        <p:txBody>
          <a:bodyPr anchor="b"/>
          <a:lstStyle>
            <a:lvl1pPr>
              <a:defRPr sz="5000" b="1">
                <a:solidFill>
                  <a:srgbClr val="FF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8B7D4-80C2-4EA6-9173-2F584D3BE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BC579-D393-41E7-AEB3-0C29AC67C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7" name="Picture 4" descr="clipboard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89788" y="4419600"/>
            <a:ext cx="1725612" cy="1905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54813" y="4176713"/>
            <a:ext cx="2160587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marL="365760" indent="0">
              <a:buNone/>
              <a:defRPr sz="2000"/>
            </a:lvl2pPr>
            <a:lvl3pPr marL="914400">
              <a:defRPr sz="2000"/>
            </a:lvl3pPr>
            <a:lvl4pPr marL="1371600">
              <a:defRPr sz="1600"/>
            </a:lvl4pPr>
            <a:lvl5pPr marL="1828800">
              <a:defRPr sz="1400"/>
            </a:lvl5pPr>
          </a:lstStyle>
          <a:p>
            <a:pPr lvl="0"/>
            <a:r>
              <a:rPr lang="vi-VN" dirty="0" smtClean="0"/>
              <a:t>Practice: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6610ADB-B7BD-4F03-9DC2-948229E6A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8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994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994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4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4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4800" y="0"/>
            <a:ext cx="861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632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Fourth level</a:t>
            </a:r>
          </a:p>
        </p:txBody>
      </p:sp>
      <p:sp>
        <p:nvSpPr>
          <p:cNvPr id="39952" name="Line 16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32" name="Group 20"/>
          <p:cNvGrpSpPr>
            <a:grpSpLocks/>
          </p:cNvGrpSpPr>
          <p:nvPr userDrawn="1"/>
        </p:nvGrpSpPr>
        <p:grpSpPr bwMode="auto"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39953" name="AutoShape 17"/>
            <p:cNvSpPr>
              <a:spLocks noChangeArrowheads="1"/>
            </p:cNvSpPr>
            <p:nvPr userDrawn="1"/>
          </p:nvSpPr>
          <p:spPr bwMode="auto">
            <a:xfrm>
              <a:off x="5088" y="144"/>
              <a:ext cx="288" cy="336"/>
            </a:xfrm>
            <a:prstGeom prst="flowChartAlternateProcess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4" name="AutoShape 18"/>
            <p:cNvSpPr>
              <a:spLocks noChangeArrowheads="1"/>
            </p:cNvSpPr>
            <p:nvPr userDrawn="1"/>
          </p:nvSpPr>
          <p:spPr bwMode="auto">
            <a:xfrm>
              <a:off x="5185" y="48"/>
              <a:ext cx="385" cy="336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5" name="AutoShape 19"/>
            <p:cNvSpPr>
              <a:spLocks noChangeArrowheads="1"/>
            </p:cNvSpPr>
            <p:nvPr userDrawn="1"/>
          </p:nvSpPr>
          <p:spPr bwMode="auto">
            <a:xfrm>
              <a:off x="5232" y="192"/>
              <a:ext cx="384" cy="336"/>
            </a:xfrm>
            <a:prstGeom prst="flowChartAlternateProcess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57" name="Line 21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8" name="AutoShape 22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  <p:sldLayoutId id="2147483731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smtClean="0"/>
              <a:t>Binary File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8B7D4-80C2-4EA6-9173-2F584D3BE0E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main() arguments.</a:t>
            </a:r>
          </a:p>
          <a:p>
            <a:r>
              <a:rPr lang="en-US" dirty="0" smtClean="0"/>
              <a:t>Binary file.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main() arguments.</a:t>
            </a:r>
          </a:p>
          <a:p>
            <a:r>
              <a:rPr lang="en-US" dirty="0" smtClean="0"/>
              <a:t>Binary file.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main( )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Command-line arguments:</a:t>
            </a:r>
          </a:p>
          <a:p>
            <a:pPr lvl="1"/>
            <a:r>
              <a:rPr lang="en-US" dirty="0" smtClean="0"/>
              <a:t>Program is a giant function!!</a:t>
            </a:r>
          </a:p>
          <a:p>
            <a:pPr lvl="1"/>
            <a:r>
              <a:rPr lang="en-US" dirty="0" smtClean="0"/>
              <a:t>How to pass arguments to program?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Command-line arguments: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Pass arguments to program when calling.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main( ) can get the calling arguments.</a:t>
            </a:r>
          </a:p>
          <a:p>
            <a:pPr lvl="1"/>
            <a:r>
              <a:rPr lang="en-US" dirty="0" smtClean="0"/>
              <a:t>Usage:</a:t>
            </a:r>
          </a:p>
          <a:p>
            <a:pPr lvl="2"/>
            <a:r>
              <a:rPr lang="en-US" dirty="0" smtClean="0"/>
              <a:t>Run program in command-line terminal.</a:t>
            </a:r>
          </a:p>
          <a:p>
            <a:pPr lvl="2"/>
            <a:r>
              <a:rPr lang="en-US" dirty="0" smtClean="0"/>
              <a:t>Syntax: &lt;program&gt;  </a:t>
            </a:r>
            <a:r>
              <a:rPr lang="en-US" b="1" dirty="0" smtClean="0">
                <a:solidFill>
                  <a:srgbClr val="FFC000"/>
                </a:solidFill>
              </a:rPr>
              <a:t>&lt;</a:t>
            </a:r>
            <a:r>
              <a:rPr lang="en-US" b="1" dirty="0" err="1" smtClean="0">
                <a:solidFill>
                  <a:srgbClr val="FFC000"/>
                </a:solidFill>
              </a:rPr>
              <a:t>arg</a:t>
            </a:r>
            <a:r>
              <a:rPr lang="en-US" b="1" dirty="0" smtClean="0">
                <a:solidFill>
                  <a:srgbClr val="FFC000"/>
                </a:solidFill>
              </a:rPr>
              <a:t> 1&gt;  &lt;</a:t>
            </a:r>
            <a:r>
              <a:rPr lang="en-US" b="1" dirty="0" err="1" smtClean="0">
                <a:solidFill>
                  <a:srgbClr val="FFC000"/>
                </a:solidFill>
              </a:rPr>
              <a:t>arg</a:t>
            </a:r>
            <a:r>
              <a:rPr lang="en-US" b="1" dirty="0" smtClean="0">
                <a:solidFill>
                  <a:srgbClr val="FFC000"/>
                </a:solidFill>
              </a:rPr>
              <a:t> 2&gt; …</a:t>
            </a:r>
          </a:p>
          <a:p>
            <a:pPr lvl="3">
              <a:buNone/>
            </a:pPr>
            <a:r>
              <a:rPr lang="en-US" sz="1800" dirty="0" smtClean="0"/>
              <a:t>	C:\&gt;</a:t>
            </a:r>
            <a:r>
              <a:rPr lang="en-US" sz="1800" dirty="0" err="1" smtClean="0"/>
              <a:t>BaiTap</a:t>
            </a:r>
            <a:r>
              <a:rPr lang="en-US" sz="1800" dirty="0" smtClean="0"/>
              <a:t>\baitap1.exe  </a:t>
            </a:r>
            <a:r>
              <a:rPr lang="en-US" sz="1800" b="1" dirty="0" smtClean="0">
                <a:solidFill>
                  <a:srgbClr val="FFC000"/>
                </a:solidFill>
              </a:rPr>
              <a:t>hello  5  /</a:t>
            </a:r>
            <a:r>
              <a:rPr lang="en-US" sz="1800" b="1" dirty="0" err="1" smtClean="0">
                <a:solidFill>
                  <a:srgbClr val="FFC000"/>
                </a:solidFill>
              </a:rPr>
              <a:t>abc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C:\&gt;copy  </a:t>
            </a:r>
            <a:r>
              <a:rPr lang="en-US" sz="1800" b="1" dirty="0" smtClean="0">
                <a:solidFill>
                  <a:srgbClr val="FFC000"/>
                </a:solidFill>
              </a:rPr>
              <a:t>C:\BaiTap\baitap1.exe  D:\Files\baitap1.exe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main( )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main( ) arguments:</a:t>
            </a:r>
          </a:p>
          <a:p>
            <a:pPr lvl="1"/>
            <a:r>
              <a:rPr lang="en-US" dirty="0" smtClean="0"/>
              <a:t>Declaration: </a:t>
            </a:r>
            <a:r>
              <a:rPr lang="en-US" dirty="0" err="1" smtClean="0"/>
              <a:t>int</a:t>
            </a:r>
            <a:r>
              <a:rPr lang="en-US" dirty="0" smtClean="0"/>
              <a:t> main(</a:t>
            </a: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err="1" smtClean="0">
                <a:solidFill>
                  <a:srgbClr val="FFC000"/>
                </a:solidFill>
              </a:rPr>
              <a:t>argc</a:t>
            </a:r>
            <a:r>
              <a:rPr lang="en-US" dirty="0" smtClean="0"/>
              <a:t>, char  </a:t>
            </a:r>
            <a:r>
              <a:rPr lang="en-US" b="1" dirty="0" smtClean="0">
                <a:solidFill>
                  <a:srgbClr val="FFC000"/>
                </a:solidFill>
              </a:rPr>
              <a:t>**</a:t>
            </a:r>
            <a:r>
              <a:rPr lang="en-US" b="1" dirty="0" err="1" smtClean="0">
                <a:solidFill>
                  <a:srgbClr val="FFC000"/>
                </a:solidFill>
              </a:rPr>
              <a:t>argv</a:t>
            </a:r>
            <a:r>
              <a:rPr lang="en-US" dirty="0" smtClean="0"/>
              <a:t>);</a:t>
            </a:r>
          </a:p>
          <a:p>
            <a:pPr lvl="2"/>
            <a:r>
              <a:rPr lang="en-US" dirty="0" err="1" smtClean="0"/>
              <a:t>argc</a:t>
            </a:r>
            <a:r>
              <a:rPr lang="en-US" dirty="0" smtClean="0"/>
              <a:t>: argument count .</a:t>
            </a:r>
          </a:p>
          <a:p>
            <a:pPr lvl="2"/>
            <a:r>
              <a:rPr lang="en-US" dirty="0" err="1" smtClean="0"/>
              <a:t>argv</a:t>
            </a:r>
            <a:r>
              <a:rPr lang="en-US" dirty="0" smtClean="0"/>
              <a:t>: argument variables.</a:t>
            </a:r>
          </a:p>
          <a:p>
            <a:pPr lvl="2"/>
            <a:r>
              <a:rPr lang="en-US" dirty="0" smtClean="0"/>
              <a:t>Arguments passed as strings.</a:t>
            </a:r>
          </a:p>
          <a:p>
            <a:pPr lvl="2"/>
            <a:r>
              <a:rPr lang="en-US" dirty="0" smtClean="0"/>
              <a:t>First argument is program name.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main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  </a:t>
            </a:r>
            <a:r>
              <a:rPr lang="en-US" sz="1800" b="1" dirty="0" err="1" smtClean="0">
                <a:solidFill>
                  <a:srgbClr val="FFC000"/>
                </a:solidFill>
              </a:rPr>
              <a:t>argc</a:t>
            </a:r>
            <a:r>
              <a:rPr lang="en-US" sz="1800" dirty="0" smtClean="0"/>
              <a:t>, char  </a:t>
            </a:r>
            <a:r>
              <a:rPr lang="en-US" sz="1800" b="1" dirty="0" smtClean="0">
                <a:solidFill>
                  <a:srgbClr val="FFC000"/>
                </a:solidFill>
              </a:rPr>
              <a:t>**</a:t>
            </a:r>
            <a:r>
              <a:rPr lang="en-US" sz="1800" b="1" dirty="0" err="1" smtClean="0">
                <a:solidFill>
                  <a:srgbClr val="FFC000"/>
                </a:solidFill>
              </a:rPr>
              <a:t>argv</a:t>
            </a:r>
            <a:r>
              <a:rPr lang="en-US" sz="1800" dirty="0" smtClean="0"/>
              <a:t>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cout</a:t>
            </a:r>
            <a:r>
              <a:rPr lang="en-US" sz="1800" dirty="0" smtClean="0"/>
              <a:t> &lt;&lt; “Number of </a:t>
            </a:r>
            <a:r>
              <a:rPr lang="en-US" sz="1800" dirty="0" err="1" smtClean="0"/>
              <a:t>args</a:t>
            </a:r>
            <a:r>
              <a:rPr lang="en-US" sz="1800" dirty="0" smtClean="0"/>
              <a:t> = “ &lt;&lt; </a:t>
            </a:r>
            <a:r>
              <a:rPr lang="en-US" sz="1800" b="1" dirty="0" err="1" smtClean="0">
                <a:solidFill>
                  <a:srgbClr val="FFC000"/>
                </a:solidFill>
              </a:rPr>
              <a:t>argc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cout</a:t>
            </a:r>
            <a:r>
              <a:rPr lang="en-US" sz="1800" dirty="0" smtClean="0"/>
              <a:t> &lt;&lt; “</a:t>
            </a:r>
            <a:r>
              <a:rPr lang="en-US" sz="1800" dirty="0" err="1" smtClean="0"/>
              <a:t>Args</a:t>
            </a:r>
            <a:r>
              <a:rPr lang="en-US" sz="1800" dirty="0" smtClean="0"/>
              <a:t> list:” &lt;&lt; </a:t>
            </a:r>
            <a:r>
              <a:rPr lang="en-US" sz="1800" dirty="0" err="1" smtClean="0"/>
              <a:t>endl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	for 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</a:t>
            </a:r>
            <a:r>
              <a:rPr lang="en-US" sz="1800" b="1" dirty="0" err="1" smtClean="0">
                <a:solidFill>
                  <a:srgbClr val="FFC000"/>
                </a:solidFill>
              </a:rPr>
              <a:t>argc</a:t>
            </a:r>
            <a:r>
              <a:rPr lang="en-US" sz="1800" dirty="0" smtClean="0"/>
              <a:t>; </a:t>
            </a:r>
            <a:r>
              <a:rPr lang="en-US" sz="1800" dirty="0" err="1" smtClean="0"/>
              <a:t>i</a:t>
            </a:r>
            <a:r>
              <a:rPr lang="en-US" sz="1800" dirty="0" smtClean="0"/>
              <a:t>++)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cout</a:t>
            </a:r>
            <a:r>
              <a:rPr lang="en-US" sz="1800" dirty="0" smtClean="0"/>
              <a:t> &lt;&lt; </a:t>
            </a:r>
            <a:r>
              <a:rPr lang="en-US" sz="1800" b="1" dirty="0" err="1" smtClean="0">
                <a:solidFill>
                  <a:srgbClr val="FFC000"/>
                </a:solidFill>
              </a:rPr>
              <a:t>argv</a:t>
            </a:r>
            <a:r>
              <a:rPr lang="en-US" sz="1800" b="1" dirty="0" smtClean="0">
                <a:solidFill>
                  <a:srgbClr val="FFC000"/>
                </a:solidFill>
              </a:rPr>
              <a:t>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</a:t>
            </a:r>
            <a:r>
              <a:rPr lang="en-US" sz="1800" dirty="0" smtClean="0"/>
              <a:t> &lt;&lt; </a:t>
            </a:r>
            <a:r>
              <a:rPr lang="en-US" sz="1800" dirty="0" err="1" smtClean="0"/>
              <a:t>endl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main() arguments.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Binary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Binary </a:t>
            </a:r>
            <a:r>
              <a:rPr lang="en-US" dirty="0" smtClean="0"/>
              <a:t>vs</a:t>
            </a:r>
            <a:r>
              <a:rPr lang="en-US" dirty="0" smtClean="0"/>
              <a:t>. text mode</a:t>
            </a:r>
            <a:r>
              <a:rPr lang="en-US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All file are stored in </a:t>
            </a:r>
            <a:r>
              <a:rPr lang="en-US" dirty="0" smtClean="0"/>
              <a:t>binary (bit/byte).</a:t>
            </a:r>
          </a:p>
          <a:p>
            <a:pPr lvl="1"/>
            <a:r>
              <a:rPr lang="en-US" dirty="0" smtClean="0"/>
              <a:t>Binary: read/write raw bytes directly.</a:t>
            </a:r>
          </a:p>
          <a:p>
            <a:pPr lvl="1"/>
            <a:r>
              <a:rPr lang="en-US" dirty="0" smtClean="0"/>
              <a:t>Text: read/write through conversion (ASCII or Unicode).</a:t>
            </a:r>
          </a:p>
          <a:p>
            <a:pPr lvl="1"/>
            <a:r>
              <a:rPr lang="en-US" dirty="0" smtClean="0"/>
              <a:t>C/C++ binary mode:</a:t>
            </a:r>
          </a:p>
          <a:p>
            <a:pPr lvl="2"/>
            <a:r>
              <a:rPr lang="en-US" dirty="0" smtClean="0"/>
              <a:t>C: [r / w / a] </a:t>
            </a:r>
            <a:r>
              <a:rPr lang="en-US" b="1" dirty="0" smtClean="0">
                <a:solidFill>
                  <a:srgbClr val="FFC000"/>
                </a:solidFill>
              </a:rPr>
              <a:t>b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C++: [std::</a:t>
            </a:r>
            <a:r>
              <a:rPr lang="en-US" dirty="0" err="1" smtClean="0"/>
              <a:t>ios</a:t>
            </a:r>
            <a:r>
              <a:rPr lang="en-US" dirty="0" smtClean="0"/>
              <a:t>::in / out / app] | </a:t>
            </a:r>
            <a:r>
              <a:rPr lang="en-US" b="1" dirty="0" smtClean="0">
                <a:solidFill>
                  <a:srgbClr val="FFC000"/>
                </a:solidFill>
              </a:rPr>
              <a:t>std::</a:t>
            </a:r>
            <a:r>
              <a:rPr lang="en-US" b="1" dirty="0" err="1" smtClean="0">
                <a:solidFill>
                  <a:srgbClr val="FFC000"/>
                </a:solidFill>
              </a:rPr>
              <a:t>ios</a:t>
            </a:r>
            <a:r>
              <a:rPr lang="en-US" b="1" dirty="0" smtClean="0">
                <a:solidFill>
                  <a:srgbClr val="FFC000"/>
                </a:solidFill>
              </a:rPr>
              <a:t>::bin</a:t>
            </a:r>
            <a:r>
              <a:rPr lang="en-US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3962400" y="4736068"/>
            <a:ext cx="1371600" cy="1447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Program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7467600" y="4736068"/>
            <a:ext cx="1371600" cy="1447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File</a:t>
            </a:r>
            <a:endParaRPr lang="en-US" sz="1800" dirty="0">
              <a:solidFill>
                <a:srgbClr val="0000FF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rot="10800000">
            <a:off x="5486400" y="5029200"/>
            <a:ext cx="1828800" cy="1588"/>
          </a:xfrm>
          <a:prstGeom prst="straightConnector1">
            <a:avLst/>
          </a:prstGeom>
          <a:noFill/>
          <a:ln w="50800" cap="flat" cmpd="sng" algn="ctr">
            <a:solidFill>
              <a:srgbClr val="33CC33"/>
            </a:solidFill>
            <a:prstDash val="solid"/>
            <a:bevel/>
            <a:headEnd type="arrow" w="sm" len="sm"/>
            <a:tailEnd type="arrow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562600" y="5955268"/>
            <a:ext cx="1828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Text conversion</a:t>
            </a:r>
            <a:endParaRPr lang="en-US" sz="1800" dirty="0" smtClean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867400" y="4583668"/>
            <a:ext cx="1295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aw bytes</a:t>
            </a:r>
            <a:endParaRPr lang="en-US" sz="1800" dirty="0" smtClean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18" name="Straight Arrow Connector 17"/>
          <p:cNvCxnSpPr/>
          <p:nvPr/>
        </p:nvCxnSpPr>
        <p:spPr bwMode="auto">
          <a:xfrm rot="10800000">
            <a:off x="5486401" y="5713411"/>
            <a:ext cx="1828800" cy="1588"/>
          </a:xfrm>
          <a:prstGeom prst="straightConnector1">
            <a:avLst/>
          </a:prstGeom>
          <a:noFill/>
          <a:ln w="50800" cap="flat" cmpd="sng" algn="ctr">
            <a:solidFill>
              <a:srgbClr val="33CC33"/>
            </a:solidFill>
            <a:prstDash val="solid"/>
            <a:bevel/>
            <a:headEnd type="arrow" w="sm" len="sm"/>
            <a:tailEnd type="arrow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pic>
        <p:nvPicPr>
          <p:cNvPr id="11" name="Picture 4" descr="gearani"/>
          <p:cNvPicPr>
            <a:picLocks noChangeAspect="1" noChangeArrowheads="1" noCrop="1"/>
          </p:cNvPicPr>
          <p:nvPr/>
        </p:nvPicPr>
        <p:blipFill>
          <a:blip r:embed="rId2">
            <a:lum contrast="30000"/>
          </a:blip>
          <a:srcRect/>
          <a:stretch>
            <a:fillRect/>
          </a:stretch>
        </p:blipFill>
        <p:spPr bwMode="auto">
          <a:xfrm rot="7320062">
            <a:off x="6020823" y="5383069"/>
            <a:ext cx="791869" cy="62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fread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Read blocks of bytes from file into memory.</a:t>
            </a:r>
          </a:p>
          <a:p>
            <a:pPr lvl="2"/>
            <a:r>
              <a:rPr lang="en-US" dirty="0" smtClean="0"/>
              <a:t>Syntax:</a:t>
            </a:r>
            <a:r>
              <a:rPr lang="en-US" sz="2400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fread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&lt;memory pointer&gt;, </a:t>
            </a:r>
            <a:r>
              <a:rPr lang="en-US" dirty="0" smtClean="0"/>
              <a:t> &lt;</a:t>
            </a:r>
            <a:r>
              <a:rPr lang="en-US" dirty="0" smtClean="0"/>
              <a:t>block size&gt; , 			         	   </a:t>
            </a:r>
            <a:r>
              <a:rPr lang="en-US" dirty="0" smtClean="0"/>
              <a:t>&lt;</a:t>
            </a:r>
            <a:r>
              <a:rPr lang="en-US" dirty="0" smtClean="0"/>
              <a:t>number of blocks&gt;, &lt;file pointer&gt;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  <a:endParaRPr lang="en-US" sz="2400" dirty="0" smtClean="0"/>
          </a:p>
          <a:p>
            <a:pPr lvl="2"/>
            <a:r>
              <a:rPr lang="en-US" dirty="0" smtClean="0"/>
              <a:t>Return: number of read blocks.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 End of file: number of read blocks &lt; number of blocks.</a:t>
            </a:r>
            <a:endParaRPr lang="en-US" dirty="0" smtClean="0"/>
          </a:p>
          <a:p>
            <a:pPr lvl="2">
              <a:buNone/>
            </a:pPr>
            <a:r>
              <a:rPr lang="en-US" sz="22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    </a:t>
            </a:r>
            <a:r>
              <a:rPr lang="en-US" sz="1800" b="1" dirty="0" smtClean="0">
                <a:solidFill>
                  <a:srgbClr val="FFC000"/>
                </a:solidFill>
              </a:rPr>
              <a:t>x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char   *</a:t>
            </a:r>
            <a:r>
              <a:rPr lang="en-US" sz="1800" b="1" dirty="0" smtClean="0">
                <a:solidFill>
                  <a:srgbClr val="FFC000"/>
                </a:solidFill>
              </a:rPr>
              <a:t>p = new char[ 100 ]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FILE  *f = </a:t>
            </a:r>
            <a:r>
              <a:rPr lang="en-US" sz="1800" dirty="0" err="1" smtClean="0"/>
              <a:t>fopen</a:t>
            </a:r>
            <a:r>
              <a:rPr lang="en-US" sz="1800" dirty="0" smtClean="0"/>
              <a:t>(“C:\\BaiTap.txt”, “</a:t>
            </a:r>
            <a:r>
              <a:rPr lang="en-US" sz="1800" b="1" dirty="0" err="1" smtClean="0">
                <a:solidFill>
                  <a:srgbClr val="FFC000"/>
                </a:solidFill>
              </a:rPr>
              <a:t>rb</a:t>
            </a:r>
            <a:r>
              <a:rPr lang="en-US" sz="1800" dirty="0" smtClean="0"/>
              <a:t>”);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if ( f != NULL 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b="1" dirty="0" err="1" smtClean="0">
                <a:solidFill>
                  <a:srgbClr val="FFC000"/>
                </a:solidFill>
              </a:rPr>
              <a:t>fread</a:t>
            </a:r>
            <a:r>
              <a:rPr lang="en-US" sz="1800" b="1" dirty="0" smtClean="0">
                <a:solidFill>
                  <a:srgbClr val="FFC000"/>
                </a:solidFill>
              </a:rPr>
              <a:t>( &amp;x</a:t>
            </a:r>
            <a:r>
              <a:rPr lang="en-US" sz="1800" dirty="0" smtClean="0"/>
              <a:t>, </a:t>
            </a:r>
            <a:r>
              <a:rPr lang="en-US" sz="1800" dirty="0" err="1" smtClean="0"/>
              <a:t>sizeof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), 1,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dirty="0" smtClean="0"/>
              <a:t>f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     // Read 4 bytes into x.</a:t>
            </a:r>
            <a:br>
              <a:rPr lang="en-US" sz="1800" dirty="0" smtClean="0"/>
            </a:br>
            <a:r>
              <a:rPr lang="en-US" sz="1800" dirty="0" smtClean="0"/>
              <a:t>	 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b="1" dirty="0" err="1" smtClean="0">
                <a:solidFill>
                  <a:srgbClr val="FFC000"/>
                </a:solidFill>
              </a:rPr>
              <a:t>fread</a:t>
            </a:r>
            <a:r>
              <a:rPr lang="en-US" sz="1800" b="1" dirty="0" smtClean="0">
                <a:solidFill>
                  <a:srgbClr val="FFC000"/>
                </a:solidFill>
              </a:rPr>
              <a:t>( p</a:t>
            </a:r>
            <a:r>
              <a:rPr lang="en-US" sz="1800" dirty="0" smtClean="0"/>
              <a:t>, </a:t>
            </a:r>
            <a:r>
              <a:rPr lang="en-US" sz="1800" dirty="0" err="1" smtClean="0"/>
              <a:t>sizeof</a:t>
            </a:r>
            <a:r>
              <a:rPr lang="en-US" sz="1800" dirty="0" smtClean="0"/>
              <a:t>(char), 100,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dirty="0" smtClean="0"/>
              <a:t>f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;// Read 100 bytes into p.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dirty="0" err="1" smtClean="0"/>
              <a:t>fclose</a:t>
            </a:r>
            <a:r>
              <a:rPr lang="en-US" sz="1800" dirty="0" smtClean="0"/>
              <a:t>( f );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fwrite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Write blocks of bytes from memory into file.</a:t>
            </a:r>
          </a:p>
          <a:p>
            <a:pPr lvl="2"/>
            <a:r>
              <a:rPr lang="en-US" dirty="0" smtClean="0"/>
              <a:t>Syntax: </a:t>
            </a:r>
            <a:r>
              <a:rPr lang="en-US" b="1" dirty="0" err="1" smtClean="0">
                <a:solidFill>
                  <a:srgbClr val="FFC000"/>
                </a:solidFill>
              </a:rPr>
              <a:t>fwrite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&lt;memory pointer&gt;, </a:t>
            </a:r>
            <a:r>
              <a:rPr lang="en-US" dirty="0" smtClean="0"/>
              <a:t>  &lt;</a:t>
            </a:r>
            <a:r>
              <a:rPr lang="en-US" dirty="0" smtClean="0"/>
              <a:t>block size&gt; , </a:t>
            </a:r>
            <a:br>
              <a:rPr lang="en-US" dirty="0" smtClean="0"/>
            </a:br>
            <a:r>
              <a:rPr lang="en-US" dirty="0" smtClean="0"/>
              <a:t>		    </a:t>
            </a:r>
            <a:r>
              <a:rPr lang="en-US" dirty="0" smtClean="0"/>
              <a:t>&lt;</a:t>
            </a:r>
            <a:r>
              <a:rPr lang="en-US" dirty="0" smtClean="0"/>
              <a:t>number of blocks&gt;, &lt;file pointer&gt;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</a:p>
          <a:p>
            <a:pPr lvl="2"/>
            <a:r>
              <a:rPr lang="en-US" dirty="0" smtClean="0"/>
              <a:t>Return: number of written blocks.</a:t>
            </a:r>
          </a:p>
          <a:p>
            <a:pPr lvl="2">
              <a:buNone/>
            </a:pPr>
            <a:r>
              <a:rPr lang="en-US" sz="22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    </a:t>
            </a:r>
            <a:r>
              <a:rPr lang="en-US" sz="1800" b="1" dirty="0" smtClean="0">
                <a:solidFill>
                  <a:srgbClr val="FFC000"/>
                </a:solidFill>
              </a:rPr>
              <a:t>x</a:t>
            </a:r>
            <a:r>
              <a:rPr lang="en-US" sz="1800" dirty="0" smtClean="0"/>
              <a:t> = 123456;</a:t>
            </a:r>
            <a:br>
              <a:rPr lang="en-US" sz="1800" dirty="0" smtClean="0"/>
            </a:br>
            <a:r>
              <a:rPr lang="en-US" sz="1800" dirty="0" smtClean="0"/>
              <a:t>char   </a:t>
            </a:r>
            <a:r>
              <a:rPr lang="en-US" sz="1800" b="1" dirty="0" smtClean="0">
                <a:solidFill>
                  <a:srgbClr val="FFC000"/>
                </a:solidFill>
              </a:rPr>
              <a:t>s[ ]</a:t>
            </a:r>
            <a:r>
              <a:rPr lang="en-US" sz="1800" dirty="0" smtClean="0"/>
              <a:t> = “Hello World”;</a:t>
            </a:r>
            <a:br>
              <a:rPr lang="en-US" sz="1800" dirty="0" smtClean="0"/>
            </a:br>
            <a:r>
              <a:rPr lang="en-US" sz="1800" dirty="0" smtClean="0"/>
              <a:t>FILE  *f = </a:t>
            </a:r>
            <a:r>
              <a:rPr lang="en-US" sz="1800" dirty="0" err="1" smtClean="0"/>
              <a:t>fopen</a:t>
            </a:r>
            <a:r>
              <a:rPr lang="en-US" sz="1800" dirty="0" smtClean="0"/>
              <a:t>(“C:\\BaiTap.txt”, “</a:t>
            </a:r>
            <a:r>
              <a:rPr lang="en-US" sz="1800" b="1" dirty="0" err="1" smtClean="0">
                <a:solidFill>
                  <a:srgbClr val="FFC000"/>
                </a:solidFill>
              </a:rPr>
              <a:t>wb</a:t>
            </a:r>
            <a:r>
              <a:rPr lang="en-US" sz="1800" dirty="0" smtClean="0"/>
              <a:t>”);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if ( f != NULL 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b="1" dirty="0" err="1" smtClean="0">
                <a:solidFill>
                  <a:srgbClr val="FFC000"/>
                </a:solidFill>
              </a:rPr>
              <a:t>fwrite</a:t>
            </a:r>
            <a:r>
              <a:rPr lang="en-US" sz="1800" b="1" dirty="0" smtClean="0">
                <a:solidFill>
                  <a:srgbClr val="FFC000"/>
                </a:solidFill>
              </a:rPr>
              <a:t>( &amp;x</a:t>
            </a:r>
            <a:r>
              <a:rPr lang="en-US" sz="1800" dirty="0" smtClean="0"/>
              <a:t>, </a:t>
            </a:r>
            <a:r>
              <a:rPr lang="en-US" sz="1800" dirty="0" err="1" smtClean="0"/>
              <a:t>sizeof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), 1,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dirty="0" smtClean="0"/>
              <a:t>f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        	  // Write 4 bytes x to file.</a:t>
            </a:r>
            <a:br>
              <a:rPr lang="en-US" sz="1800" dirty="0" smtClean="0"/>
            </a:br>
            <a:r>
              <a:rPr lang="en-US" sz="1800" dirty="0" smtClean="0"/>
              <a:t>	 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b="1" dirty="0" err="1" smtClean="0">
                <a:solidFill>
                  <a:srgbClr val="FFC000"/>
                </a:solidFill>
              </a:rPr>
              <a:t>fwrite</a:t>
            </a:r>
            <a:r>
              <a:rPr lang="en-US" sz="1800" b="1" dirty="0" smtClean="0">
                <a:solidFill>
                  <a:srgbClr val="FFC000"/>
                </a:solidFill>
              </a:rPr>
              <a:t>( s</a:t>
            </a:r>
            <a:r>
              <a:rPr lang="en-US" sz="1800" dirty="0" smtClean="0"/>
              <a:t>, </a:t>
            </a:r>
            <a:r>
              <a:rPr lang="en-US" sz="1800" dirty="0" err="1" smtClean="0"/>
              <a:t>sizeof</a:t>
            </a:r>
            <a:r>
              <a:rPr lang="en-US" sz="1800" dirty="0" smtClean="0"/>
              <a:t>(char), </a:t>
            </a:r>
            <a:r>
              <a:rPr lang="en-US" sz="1800" dirty="0" err="1" smtClean="0"/>
              <a:t>strlen</a:t>
            </a:r>
            <a:r>
              <a:rPr lang="en-US" sz="1800" dirty="0" smtClean="0"/>
              <a:t>(s),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dirty="0" smtClean="0"/>
              <a:t>f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  // Write 11 bytes s to file.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dirty="0" err="1" smtClean="0"/>
              <a:t>fclose</a:t>
            </a:r>
            <a:r>
              <a:rPr lang="en-US" sz="1800" dirty="0" smtClean="0"/>
              <a:t>( f );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fseek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Move file pointer.</a:t>
            </a:r>
          </a:p>
          <a:p>
            <a:pPr lvl="2"/>
            <a:r>
              <a:rPr lang="en-US" dirty="0" smtClean="0"/>
              <a:t>Syntax: </a:t>
            </a:r>
            <a:r>
              <a:rPr lang="en-US" b="1" dirty="0" err="1" smtClean="0">
                <a:solidFill>
                  <a:srgbClr val="FFC000"/>
                </a:solidFill>
              </a:rPr>
              <a:t>fseek</a:t>
            </a:r>
            <a:r>
              <a:rPr lang="en-US" b="1" dirty="0" smtClean="0">
                <a:solidFill>
                  <a:srgbClr val="FFC000"/>
                </a:solidFill>
              </a:rPr>
              <a:t>(</a:t>
            </a:r>
            <a:r>
              <a:rPr lang="en-US" dirty="0" smtClean="0"/>
              <a:t>&lt;file pointer&gt;, &lt;offset&gt;, &lt;origin&gt;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;</a:t>
            </a:r>
          </a:p>
          <a:p>
            <a:pPr lvl="2"/>
            <a:r>
              <a:rPr lang="en-US" dirty="0" smtClean="0"/>
              <a:t>&lt;origin&gt;:</a:t>
            </a:r>
          </a:p>
          <a:p>
            <a:pPr lvl="3"/>
            <a:r>
              <a:rPr lang="en-US" dirty="0" smtClean="0"/>
              <a:t>SEEK_SET (beginning of file).</a:t>
            </a:r>
          </a:p>
          <a:p>
            <a:pPr lvl="3"/>
            <a:r>
              <a:rPr lang="en-US" dirty="0" smtClean="0"/>
              <a:t>SEEK_CUR (current position).</a:t>
            </a:r>
          </a:p>
          <a:p>
            <a:pPr lvl="3"/>
            <a:r>
              <a:rPr lang="en-US" dirty="0" smtClean="0"/>
              <a:t>SEEK_END (end of file).</a:t>
            </a:r>
          </a:p>
          <a:p>
            <a:pPr lvl="2"/>
            <a:r>
              <a:rPr lang="en-US" dirty="0" smtClean="0"/>
              <a:t>Only works with opening file.</a:t>
            </a:r>
          </a:p>
          <a:p>
            <a:pPr lvl="2">
              <a:buNone/>
            </a:pPr>
            <a:r>
              <a:rPr lang="en-US" sz="2200" dirty="0" smtClean="0"/>
              <a:t>	</a:t>
            </a:r>
            <a:r>
              <a:rPr lang="en-US" sz="1800" dirty="0" smtClean="0"/>
              <a:t>FILE  </a:t>
            </a:r>
            <a:r>
              <a:rPr lang="en-US" sz="1800" b="1" dirty="0" smtClean="0">
                <a:solidFill>
                  <a:srgbClr val="FFC000"/>
                </a:solidFill>
              </a:rPr>
              <a:t>*f</a:t>
            </a:r>
            <a:r>
              <a:rPr lang="en-US" sz="1800" dirty="0" smtClean="0"/>
              <a:t> = </a:t>
            </a:r>
            <a:r>
              <a:rPr lang="en-US" sz="1800" b="1" dirty="0" err="1" smtClean="0">
                <a:solidFill>
                  <a:srgbClr val="FFC000"/>
                </a:solidFill>
              </a:rPr>
              <a:t>fopen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“C:\\BaiTap.txt”, “</a:t>
            </a:r>
            <a:r>
              <a:rPr lang="en-US" sz="1800" b="1" dirty="0" smtClean="0">
                <a:solidFill>
                  <a:srgbClr val="FFC000"/>
                </a:solidFill>
              </a:rPr>
              <a:t>r</a:t>
            </a:r>
            <a:r>
              <a:rPr lang="en-US" sz="1800" dirty="0" smtClean="0"/>
              <a:t>”);</a:t>
            </a:r>
            <a:br>
              <a:rPr lang="en-US" sz="1800" dirty="0" smtClean="0"/>
            </a:br>
            <a:r>
              <a:rPr lang="en-US" sz="1800" dirty="0" smtClean="0"/>
              <a:t>if ( </a:t>
            </a:r>
            <a:r>
              <a:rPr lang="en-US" sz="1800" b="1" dirty="0" smtClean="0">
                <a:solidFill>
                  <a:srgbClr val="FFC000"/>
                </a:solidFill>
              </a:rPr>
              <a:t>f</a:t>
            </a:r>
            <a:r>
              <a:rPr lang="en-US" sz="1800" dirty="0" smtClean="0"/>
              <a:t> != NULL 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b="1" dirty="0" err="1" smtClean="0">
                <a:solidFill>
                  <a:srgbClr val="FFC000"/>
                </a:solidFill>
              </a:rPr>
              <a:t>fseek</a:t>
            </a:r>
            <a:r>
              <a:rPr lang="en-US" sz="1800" b="1" dirty="0" smtClean="0">
                <a:solidFill>
                  <a:srgbClr val="FFC000"/>
                </a:solidFill>
              </a:rPr>
              <a:t>(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f</a:t>
            </a:r>
            <a:r>
              <a:rPr lang="en-US" sz="1800" dirty="0" smtClean="0"/>
              <a:t>, 2, SEEK_CUR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>;  // Move forward 2 bytes.</a:t>
            </a:r>
            <a:br>
              <a:rPr lang="en-US" sz="1800" dirty="0" smtClean="0"/>
            </a:br>
            <a:r>
              <a:rPr lang="en-US" sz="1800" dirty="0" smtClean="0"/>
              <a:t>	  </a:t>
            </a:r>
            <a:r>
              <a:rPr lang="en-US" sz="1800" dirty="0" err="1" smtClean="0"/>
              <a:t>fclose</a:t>
            </a:r>
            <a:r>
              <a:rPr lang="en-US" sz="1800" dirty="0" smtClean="0"/>
              <a:t>( f );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endParaRPr lang="en-US" sz="2200" dirty="0" smtClean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Practice:</a:t>
            </a:r>
          </a:p>
          <a:p>
            <a:pPr lvl="1"/>
            <a:r>
              <a:rPr lang="en-US" dirty="0" smtClean="0"/>
              <a:t>Write function to copy file:</a:t>
            </a:r>
          </a:p>
          <a:p>
            <a:pPr lvl="1">
              <a:buNone/>
            </a:pPr>
            <a:r>
              <a:rPr lang="en-US" dirty="0" smtClean="0"/>
              <a:t>	void </a:t>
            </a:r>
            <a:r>
              <a:rPr lang="en-US" b="1" dirty="0" err="1" smtClean="0">
                <a:solidFill>
                  <a:srgbClr val="FFC000"/>
                </a:solidFill>
              </a:rPr>
              <a:t>copy_file</a:t>
            </a:r>
            <a:r>
              <a:rPr lang="en-US" dirty="0" smtClean="0"/>
              <a:t>(&lt;source path&gt;, &lt;</a:t>
            </a:r>
            <a:r>
              <a:rPr lang="en-US" dirty="0" err="1" smtClean="0"/>
              <a:t>dest</a:t>
            </a:r>
            <a:r>
              <a:rPr lang="en-US" dirty="0" smtClean="0"/>
              <a:t> path).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Documents"/>
          <p:cNvSpPr>
            <a:spLocks noEditPoints="1" noChangeArrowheads="1"/>
          </p:cNvSpPr>
          <p:nvPr/>
        </p:nvSpPr>
        <p:spPr bwMode="auto">
          <a:xfrm>
            <a:off x="1371600" y="3429000"/>
            <a:ext cx="838200" cy="104775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1066800" y="4572000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smtClean="0"/>
              <a:t>Source path</a:t>
            </a:r>
          </a:p>
        </p:txBody>
      </p:sp>
      <p:sp>
        <p:nvSpPr>
          <p:cNvPr id="8" name="Documents"/>
          <p:cNvSpPr>
            <a:spLocks noEditPoints="1" noChangeArrowheads="1"/>
          </p:cNvSpPr>
          <p:nvPr/>
        </p:nvSpPr>
        <p:spPr bwMode="auto">
          <a:xfrm>
            <a:off x="6781800" y="3429000"/>
            <a:ext cx="838200" cy="104775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477000" y="4572000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err="1" smtClean="0"/>
              <a:t>Dest</a:t>
            </a:r>
            <a:r>
              <a:rPr lang="en-US" sz="1800" dirty="0" smtClean="0"/>
              <a:t> path</a:t>
            </a:r>
          </a:p>
        </p:txBody>
      </p:sp>
      <p:sp>
        <p:nvSpPr>
          <p:cNvPr id="23" name="AutoShape 9"/>
          <p:cNvSpPr>
            <a:spLocks noChangeArrowheads="1"/>
          </p:cNvSpPr>
          <p:nvPr/>
        </p:nvSpPr>
        <p:spPr bwMode="auto">
          <a:xfrm>
            <a:off x="2514600" y="2971800"/>
            <a:ext cx="4038600" cy="16002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t" anchorCtr="0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FF0000"/>
                </a:solidFill>
              </a:rPr>
              <a:t>Loop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3733800" y="3810000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Buffer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2590800" y="4038600"/>
            <a:ext cx="1143000" cy="1588"/>
          </a:xfrm>
          <a:prstGeom prst="straightConnector1">
            <a:avLst/>
          </a:prstGeom>
          <a:noFill/>
          <a:ln w="114300" cap="flat" cmpd="sng" algn="ctr">
            <a:solidFill>
              <a:srgbClr val="33CC33"/>
            </a:solidFill>
            <a:prstDash val="solid"/>
            <a:bevel/>
            <a:headEnd type="none" w="med" len="sm"/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2286000" y="3581400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err="1" smtClean="0">
                <a:solidFill>
                  <a:schemeClr val="tx2">
                    <a:lumMod val="50000"/>
                  </a:schemeClr>
                </a:solidFill>
              </a:rPr>
              <a:t>fread</a:t>
            </a:r>
            <a:endParaRPr lang="en-US" sz="1800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5029200" y="3581400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err="1" smtClean="0">
                <a:solidFill>
                  <a:schemeClr val="tx2">
                    <a:lumMod val="50000"/>
                  </a:schemeClr>
                </a:solidFill>
              </a:rPr>
              <a:t>fwrite</a:t>
            </a:r>
            <a:endParaRPr lang="en-US" sz="1800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5334000" y="4038600"/>
            <a:ext cx="1143000" cy="1588"/>
          </a:xfrm>
          <a:prstGeom prst="straightConnector1">
            <a:avLst/>
          </a:prstGeom>
          <a:noFill/>
          <a:ln w="114300" cap="flat" cmpd="sng" algn="ctr">
            <a:solidFill>
              <a:srgbClr val="33CC33"/>
            </a:solidFill>
            <a:prstDash val="solid"/>
            <a:bevel/>
            <a:headEnd type="none" w="med" len="sm"/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23" grpId="0" animBg="1"/>
      <p:bldP spid="12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Read/write </a:t>
            </a:r>
            <a:r>
              <a:rPr lang="en-US" dirty="0" err="1" smtClean="0"/>
              <a:t>struct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Read/write </a:t>
            </a:r>
            <a:r>
              <a:rPr lang="en-US" dirty="0" smtClean="0"/>
              <a:t>one-by-one </a:t>
            </a:r>
            <a:r>
              <a:rPr lang="en-US" dirty="0" smtClean="0"/>
              <a:t>bytes of whole </a:t>
            </a:r>
            <a:r>
              <a:rPr lang="en-US" dirty="0" err="1" smtClean="0"/>
              <a:t>struct</a:t>
            </a:r>
            <a:r>
              <a:rPr lang="en-US" dirty="0" smtClean="0"/>
              <a:t> to file.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More effective than read/write </a:t>
            </a:r>
            <a:r>
              <a:rPr lang="en-US" dirty="0" err="1" smtClean="0">
                <a:sym typeface="Wingdings" pitchFamily="2" charset="2"/>
              </a:rPr>
              <a:t>struct</a:t>
            </a:r>
            <a:r>
              <a:rPr lang="en-US" dirty="0" smtClean="0">
                <a:sym typeface="Wingdings" pitchFamily="2" charset="2"/>
              </a:rPr>
              <a:t> members.</a:t>
            </a:r>
            <a:endParaRPr lang="en-US" dirty="0" smtClean="0"/>
          </a:p>
          <a:p>
            <a:pP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Fraction 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num;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denom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readFraction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(FILE *f, Fraction &amp;p) {	// Read 8 bytes from file into p.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fread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&amp;p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sizeof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(Fraction), 1, f ); 	// First 4 bytes into p.num.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				          	// Second 4 bytes into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p.denom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writeFraction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(FILE *f, Fraction p) {	// Write 8 bytes p to file. 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fwrite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&amp;p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sizeof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(Fraction), 1, f );	// p.num write to first 4 bytes.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					//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p.denom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write to second 4 bytes.</a:t>
            </a:r>
            <a:endParaRPr lang="en-US" sz="1800" dirty="0" smtClean="0"/>
          </a:p>
          <a:p>
            <a:pPr lvl="2"/>
            <a:endParaRPr lang="en-US" dirty="0" smtClean="0"/>
          </a:p>
          <a:p>
            <a:pPr>
              <a:buNone/>
            </a:pPr>
            <a:r>
              <a:rPr lang="en-US" sz="1800" dirty="0" smtClean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Library &lt;</a:t>
            </a:r>
            <a:r>
              <a:rPr lang="en-US" dirty="0" err="1" smtClean="0"/>
              <a:t>stdint.h</a:t>
            </a:r>
            <a:r>
              <a:rPr lang="en-US" dirty="0" smtClean="0"/>
              <a:t>&gt;:</a:t>
            </a:r>
          </a:p>
          <a:p>
            <a:pPr lvl="1"/>
            <a:r>
              <a:rPr lang="en-US" dirty="0" smtClean="0"/>
              <a:t>What size of </a:t>
            </a:r>
            <a:r>
              <a:rPr lang="en-US" dirty="0" err="1" smtClean="0"/>
              <a:t>int</a:t>
            </a:r>
            <a:r>
              <a:rPr lang="en-US" dirty="0" smtClean="0"/>
              <a:t> in C?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Depends on platform.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Binary file read/write needs fix-sized integer.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 Use &lt;</a:t>
            </a:r>
            <a:r>
              <a:rPr lang="en-US" dirty="0" err="1" smtClean="0">
                <a:sym typeface="Wingdings" pitchFamily="2" charset="2"/>
              </a:rPr>
              <a:t>stdint.h</a:t>
            </a:r>
            <a:r>
              <a:rPr lang="en-US" dirty="0" smtClean="0">
                <a:sym typeface="Wingdings" pitchFamily="2" charset="2"/>
              </a:rPr>
              <a:t>&gt;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Fix-sized integer: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1 byte:   int8_t, uint8_t.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2 bytes: int16_t, uint16_t.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4 bytes: int32_t, uint32_t.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8 bytes: int64_t, uint64_t.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019800" y="3505200"/>
            <a:ext cx="29718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stdint.h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Fraction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int32_t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num;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int32_t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denom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main() arguments:</a:t>
            </a:r>
          </a:p>
          <a:p>
            <a:pPr lvl="1"/>
            <a:r>
              <a:rPr lang="en-US" dirty="0" smtClean="0"/>
              <a:t>Calling arguments </a:t>
            </a:r>
            <a:r>
              <a:rPr lang="en-US" dirty="0" smtClean="0"/>
              <a:t>from</a:t>
            </a:r>
            <a:r>
              <a:rPr lang="en-US" dirty="0" smtClean="0"/>
              <a:t> command-line terminal.</a:t>
            </a:r>
          </a:p>
          <a:p>
            <a:pPr lvl="1"/>
            <a:r>
              <a:rPr lang="en-US" dirty="0" smtClean="0"/>
              <a:t>Syntax: </a:t>
            </a:r>
            <a:r>
              <a:rPr lang="en-US" dirty="0" err="1" smtClean="0"/>
              <a:t>int</a:t>
            </a:r>
            <a:r>
              <a:rPr lang="en-US" dirty="0" smtClean="0"/>
              <a:t> main(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argc</a:t>
            </a:r>
            <a:r>
              <a:rPr lang="en-US" dirty="0" smtClean="0"/>
              <a:t>, char **</a:t>
            </a:r>
            <a:r>
              <a:rPr lang="en-US" dirty="0" err="1" smtClean="0"/>
              <a:t>argv</a:t>
            </a:r>
            <a:r>
              <a:rPr lang="en-US" dirty="0" smtClean="0"/>
              <a:t>).</a:t>
            </a:r>
          </a:p>
          <a:p>
            <a:r>
              <a:rPr lang="en-US" dirty="0" smtClean="0"/>
              <a:t>Binary file:</a:t>
            </a:r>
          </a:p>
          <a:p>
            <a:pPr lvl="1"/>
            <a:r>
              <a:rPr lang="en-US" dirty="0" smtClean="0"/>
              <a:t>Binary mode: r</a:t>
            </a:r>
            <a:r>
              <a:rPr lang="en-US" dirty="0" smtClean="0"/>
              <a:t>ead/write directly.</a:t>
            </a:r>
          </a:p>
          <a:p>
            <a:pPr lvl="1"/>
            <a:r>
              <a:rPr lang="en-US" dirty="0" smtClean="0"/>
              <a:t>Text mode: read/write through text conversion.</a:t>
            </a:r>
          </a:p>
          <a:p>
            <a:pPr lvl="1"/>
            <a:r>
              <a:rPr lang="en-US" dirty="0" smtClean="0"/>
              <a:t>C: </a:t>
            </a:r>
            <a:r>
              <a:rPr lang="en-US" dirty="0" err="1" smtClean="0"/>
              <a:t>fread</a:t>
            </a:r>
            <a:r>
              <a:rPr lang="en-US" dirty="0" smtClean="0"/>
              <a:t>, </a:t>
            </a:r>
            <a:r>
              <a:rPr lang="en-US" dirty="0" err="1" smtClean="0"/>
              <a:t>fwrite</a:t>
            </a:r>
            <a:r>
              <a:rPr lang="en-US" dirty="0" smtClean="0"/>
              <a:t>, </a:t>
            </a:r>
            <a:r>
              <a:rPr lang="en-US" dirty="0" err="1" smtClean="0"/>
              <a:t>fseek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C++: &lt;stream&gt;.read, &lt;stream&gt;.write, &lt;stream&gt;.</a:t>
            </a:r>
            <a:r>
              <a:rPr lang="en-US" dirty="0" err="1" smtClean="0"/>
              <a:t>seekg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&lt;</a:t>
            </a:r>
            <a:r>
              <a:rPr lang="en-US" dirty="0" err="1" smtClean="0"/>
              <a:t>stdint.h</a:t>
            </a:r>
            <a:r>
              <a:rPr lang="en-US" dirty="0" smtClean="0"/>
              <a:t>&gt;: fix-sized integers.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9.1: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Write C/C++ program named “COPY” to copy file in command line.</a:t>
            </a:r>
          </a:p>
          <a:p>
            <a:pPr>
              <a:buNone/>
            </a:pPr>
            <a:r>
              <a:rPr lang="en-US" sz="2000" dirty="0" smtClean="0"/>
              <a:t>	Command-line syntax:</a:t>
            </a:r>
          </a:p>
          <a:p>
            <a:pPr>
              <a:buNone/>
            </a:pPr>
            <a:r>
              <a:rPr lang="en-US" sz="2000" dirty="0" smtClean="0"/>
              <a:t>		- Syntax 1: copy source file to destination file:</a:t>
            </a:r>
          </a:p>
          <a:p>
            <a:pPr>
              <a:buNone/>
            </a:pPr>
            <a:r>
              <a:rPr lang="en-US" sz="2000" dirty="0" smtClean="0"/>
              <a:t>			COPY &lt;</a:t>
            </a:r>
            <a:r>
              <a:rPr lang="en-US" sz="2000" b="1" dirty="0" smtClean="0">
                <a:solidFill>
                  <a:srgbClr val="FFC000"/>
                </a:solidFill>
              </a:rPr>
              <a:t>source file</a:t>
            </a:r>
            <a:r>
              <a:rPr lang="en-US" sz="2000" dirty="0" smtClean="0"/>
              <a:t>&gt;  &lt;</a:t>
            </a:r>
            <a:r>
              <a:rPr lang="en-US" sz="2000" b="1" dirty="0" smtClean="0">
                <a:solidFill>
                  <a:srgbClr val="FFC000"/>
                </a:solidFill>
              </a:rPr>
              <a:t>destination file</a:t>
            </a:r>
            <a:r>
              <a:rPr lang="en-US" sz="2000" dirty="0" smtClean="0"/>
              <a:t>&gt;</a:t>
            </a:r>
          </a:p>
          <a:p>
            <a:pPr>
              <a:buNone/>
            </a:pPr>
            <a:r>
              <a:rPr lang="en-US" sz="2000" dirty="0" smtClean="0"/>
              <a:t>		- Syntax 2: copy source file to destination path (keep filename):</a:t>
            </a:r>
          </a:p>
          <a:p>
            <a:pPr>
              <a:buNone/>
            </a:pPr>
            <a:r>
              <a:rPr lang="en-US" sz="2000" dirty="0" smtClean="0"/>
              <a:t>			COPY &lt;</a:t>
            </a:r>
            <a:r>
              <a:rPr lang="en-US" sz="2000" b="1" dirty="0" smtClean="0">
                <a:solidFill>
                  <a:srgbClr val="FFC000"/>
                </a:solidFill>
              </a:rPr>
              <a:t>source file</a:t>
            </a:r>
            <a:r>
              <a:rPr lang="en-US" sz="2000" dirty="0" smtClean="0"/>
              <a:t>&gt;  &lt;</a:t>
            </a:r>
            <a:r>
              <a:rPr lang="en-US" sz="2000" b="1" dirty="0" smtClean="0">
                <a:solidFill>
                  <a:srgbClr val="FFC000"/>
                </a:solidFill>
              </a:rPr>
              <a:t>destination path</a:t>
            </a:r>
            <a:r>
              <a:rPr lang="en-US" sz="2000" dirty="0" smtClean="0"/>
              <a:t>&gt;</a:t>
            </a:r>
            <a:r>
              <a:rPr lang="en-US" sz="2000" b="1" dirty="0" smtClean="0">
                <a:solidFill>
                  <a:srgbClr val="FFC000"/>
                </a:solidFill>
              </a:rPr>
              <a:t>/</a:t>
            </a:r>
          </a:p>
          <a:p>
            <a:pPr>
              <a:buNone/>
            </a:pPr>
            <a:r>
              <a:rPr lang="en-US" sz="2000" dirty="0" smtClean="0"/>
              <a:t>		- Syntax 3: join file 1 and file 2 to destination file:</a:t>
            </a:r>
          </a:p>
          <a:p>
            <a:pPr>
              <a:buNone/>
            </a:pPr>
            <a:r>
              <a:rPr lang="en-US" sz="2000" dirty="0" smtClean="0"/>
              <a:t>			COPY &lt;</a:t>
            </a:r>
            <a:r>
              <a:rPr lang="en-US" sz="2000" b="1" dirty="0" smtClean="0">
                <a:solidFill>
                  <a:srgbClr val="FFC000"/>
                </a:solidFill>
              </a:rPr>
              <a:t>file 1</a:t>
            </a:r>
            <a:r>
              <a:rPr lang="en-US" sz="2000" dirty="0" smtClean="0"/>
              <a:t>&gt; + &lt;</a:t>
            </a:r>
            <a:r>
              <a:rPr lang="en-US" sz="2000" b="1" dirty="0" smtClean="0">
                <a:solidFill>
                  <a:srgbClr val="FFC000"/>
                </a:solidFill>
              </a:rPr>
              <a:t>file 2</a:t>
            </a:r>
            <a:r>
              <a:rPr lang="en-US" sz="2000" dirty="0" smtClean="0"/>
              <a:t>&gt;  &lt;</a:t>
            </a:r>
            <a:r>
              <a:rPr lang="en-US" sz="2000" b="1" dirty="0" smtClean="0">
                <a:solidFill>
                  <a:srgbClr val="FFC000"/>
                </a:solidFill>
              </a:rPr>
              <a:t>destination file</a:t>
            </a:r>
            <a:r>
              <a:rPr lang="en-US" sz="2000" dirty="0" smtClean="0"/>
              <a:t>&gt;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		</a:t>
            </a:r>
            <a:r>
              <a:rPr lang="en-US" sz="2000" dirty="0" smtClean="0"/>
              <a:t>- Syntax 4: show help:</a:t>
            </a:r>
          </a:p>
          <a:p>
            <a:pPr>
              <a:buNone/>
            </a:pPr>
            <a:r>
              <a:rPr lang="en-US" sz="2000" dirty="0" smtClean="0"/>
              <a:t>			COPY </a:t>
            </a:r>
            <a:r>
              <a:rPr lang="en-US" sz="2000" b="1" dirty="0" smtClean="0">
                <a:solidFill>
                  <a:srgbClr val="FFC000"/>
                </a:solidFill>
              </a:rPr>
              <a:t>-?</a:t>
            </a:r>
            <a:endParaRPr lang="en-US" sz="1800" b="1" dirty="0" smtClean="0">
              <a:solidFill>
                <a:srgbClr val="FFC000"/>
              </a:solidFill>
            </a:endParaRPr>
          </a:p>
          <a:p>
            <a:pPr>
              <a:buNone/>
            </a:pPr>
            <a:r>
              <a:rPr lang="en-US" sz="2000" dirty="0" smtClean="0"/>
              <a:t>	Note: use </a:t>
            </a:r>
            <a:r>
              <a:rPr lang="en-US" sz="2000" dirty="0" smtClean="0"/>
              <a:t>dynamic </a:t>
            </a:r>
            <a:r>
              <a:rPr lang="en-US" sz="2000" dirty="0" smtClean="0"/>
              <a:t>string and binary file.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9.2 </a:t>
            </a:r>
            <a:r>
              <a:rPr lang="en-US" dirty="0" smtClean="0"/>
              <a:t>(*):</a:t>
            </a:r>
          </a:p>
          <a:p>
            <a:pPr>
              <a:buNone/>
            </a:pPr>
            <a:r>
              <a:rPr lang="en-US" sz="2000" dirty="0" smtClean="0"/>
              <a:t>	Write C/C++ program to cut Bitmap file into equal parts in command-line. Each part is saved in a new Bitmap file.</a:t>
            </a:r>
          </a:p>
          <a:p>
            <a:pPr>
              <a:buNone/>
            </a:pPr>
            <a:r>
              <a:rPr lang="en-US" sz="2000" dirty="0" smtClean="0"/>
              <a:t>	Command-line syntax:</a:t>
            </a:r>
            <a:br>
              <a:rPr lang="en-US" sz="2000" dirty="0" smtClean="0"/>
            </a:br>
            <a:r>
              <a:rPr lang="en-US" sz="1800" dirty="0" smtClean="0"/>
              <a:t>	&lt;program&gt; &lt;Bitmap file&gt; [-h &lt;parts in height&gt;] [-w &lt;parts in width&gt;]</a:t>
            </a:r>
            <a:endParaRPr lang="en-US" sz="1800" dirty="0"/>
          </a:p>
          <a:p>
            <a:pPr>
              <a:buNone/>
            </a:pPr>
            <a:r>
              <a:rPr lang="en-US" sz="2000" dirty="0" smtClean="0"/>
              <a:t>	Example: program cutbmp.exe</a:t>
            </a:r>
          </a:p>
          <a:p>
            <a:pPr>
              <a:buNone/>
            </a:pPr>
            <a:r>
              <a:rPr lang="en-US" sz="2000" dirty="0" smtClean="0"/>
              <a:t>		- Cut 3 parts in height (save in 3 new Bitmap files):</a:t>
            </a:r>
            <a:br>
              <a:rPr lang="en-US" sz="2000" dirty="0" smtClean="0"/>
            </a:br>
            <a:r>
              <a:rPr lang="en-US" sz="2000" dirty="0" smtClean="0"/>
              <a:t>	</a:t>
            </a:r>
            <a:r>
              <a:rPr lang="en-US" sz="1600" dirty="0" smtClean="0"/>
              <a:t>	</a:t>
            </a:r>
            <a:r>
              <a:rPr lang="en-US" sz="1800" dirty="0" smtClean="0"/>
              <a:t>cutbmp.exe d:/images/img1.bmp -h 3</a:t>
            </a:r>
          </a:p>
          <a:p>
            <a:pPr>
              <a:buNone/>
            </a:pPr>
            <a:r>
              <a:rPr lang="en-US" sz="2000" dirty="0" smtClean="0"/>
              <a:t>		- Cut 2 parts in height, 4 parts in width</a:t>
            </a:r>
            <a:br>
              <a:rPr lang="en-US" sz="2000" dirty="0" smtClean="0"/>
            </a:br>
            <a:r>
              <a:rPr lang="en-US" sz="2000" dirty="0" smtClean="0"/>
              <a:t>	  (save in 8 new Bitmap files) </a:t>
            </a:r>
          </a:p>
          <a:p>
            <a:pPr>
              <a:buNone/>
            </a:pPr>
            <a:r>
              <a:rPr lang="en-US" sz="1600" dirty="0" smtClean="0"/>
              <a:t>			</a:t>
            </a:r>
            <a:r>
              <a:rPr lang="en-US" sz="1800" dirty="0" smtClean="0"/>
              <a:t>cutbmp.exe d:/images/img1.bmp -h 2 -w 4</a:t>
            </a:r>
          </a:p>
          <a:p>
            <a:pPr>
              <a:buNone/>
            </a:pP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23512</TotalTime>
  <Words>552</Words>
  <Application>Microsoft Office PowerPoint</Application>
  <PresentationFormat>On-screen Show (4:3)</PresentationFormat>
  <Paragraphs>158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Stream</vt:lpstr>
      <vt:lpstr>Binary File</vt:lpstr>
      <vt:lpstr>Contents</vt:lpstr>
      <vt:lpstr>Contents</vt:lpstr>
      <vt:lpstr>main( ) arguments</vt:lpstr>
      <vt:lpstr>main( ) arguments</vt:lpstr>
      <vt:lpstr>Contents</vt:lpstr>
      <vt:lpstr>Binary file</vt:lpstr>
      <vt:lpstr>Binary file</vt:lpstr>
      <vt:lpstr>Binary file</vt:lpstr>
      <vt:lpstr>Binary file</vt:lpstr>
      <vt:lpstr>Binary file</vt:lpstr>
      <vt:lpstr>Binary file</vt:lpstr>
      <vt:lpstr>Binary file</vt:lpstr>
      <vt:lpstr>Summary</vt:lpstr>
      <vt:lpstr>Practice</vt:lpstr>
      <vt:lpstr>Practice</vt:lpstr>
    </vt:vector>
  </TitlesOfParts>
  <Company>HCMC University of Natural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nguyên</dc:title>
  <dc:creator>Nguyen Minh Huy</dc:creator>
  <cp:lastModifiedBy>TchyA</cp:lastModifiedBy>
  <cp:revision>1219</cp:revision>
  <dcterms:created xsi:type="dcterms:W3CDTF">2005-11-21T10:16:26Z</dcterms:created>
  <dcterms:modified xsi:type="dcterms:W3CDTF">2024-09-03T10:01:07Z</dcterms:modified>
</cp:coreProperties>
</file>