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314" r:id="rId4"/>
    <p:sldId id="315" r:id="rId5"/>
    <p:sldId id="332" r:id="rId6"/>
    <p:sldId id="316" r:id="rId7"/>
    <p:sldId id="299" r:id="rId8"/>
    <p:sldId id="339" r:id="rId9"/>
    <p:sldId id="306" r:id="rId10"/>
    <p:sldId id="323" r:id="rId11"/>
    <p:sldId id="325" r:id="rId12"/>
    <p:sldId id="326" r:id="rId13"/>
    <p:sldId id="327" r:id="rId14"/>
    <p:sldId id="329" r:id="rId15"/>
    <p:sldId id="330" r:id="rId16"/>
    <p:sldId id="331" r:id="rId17"/>
    <p:sldId id="259" r:id="rId18"/>
    <p:sldId id="333" r:id="rId19"/>
    <p:sldId id="337" r:id="rId20"/>
    <p:sldId id="342" r:id="rId21"/>
    <p:sldId id="341" r:id="rId22"/>
    <p:sldId id="334" r:id="rId23"/>
    <p:sldId id="335" r:id="rId24"/>
    <p:sldId id="338" r:id="rId25"/>
    <p:sldId id="336" r:id="rId26"/>
    <p:sldId id="340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2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String and Text File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String.</a:t>
            </a:r>
          </a:p>
          <a:p>
            <a:r>
              <a:rPr lang="en-US" dirty="0" smtClean="0"/>
              <a:t>Text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concept:</a:t>
            </a:r>
          </a:p>
          <a:p>
            <a:pPr lvl="1"/>
            <a:r>
              <a:rPr lang="en-US" dirty="0" smtClean="0"/>
              <a:t>String is an array of chars </a:t>
            </a:r>
            <a:r>
              <a:rPr lang="en-US" dirty="0" smtClean="0"/>
              <a:t>storing readable text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C </a:t>
            </a:r>
            <a:r>
              <a:rPr lang="en-US" dirty="0" smtClean="0"/>
              <a:t>string (null-terminated string):</a:t>
            </a:r>
            <a:endParaRPr lang="en-US" dirty="0" smtClean="0"/>
          </a:p>
          <a:p>
            <a:pPr lvl="2"/>
            <a:r>
              <a:rPr lang="en-US" dirty="0" smtClean="0"/>
              <a:t>Array of chars + ‘\0’ at the end.</a:t>
            </a:r>
          </a:p>
          <a:p>
            <a:pPr lvl="2"/>
            <a:r>
              <a:rPr lang="en-US" dirty="0" smtClean="0"/>
              <a:t>Declaration</a:t>
            </a:r>
            <a:r>
              <a:rPr lang="en-US" dirty="0" smtClean="0"/>
              <a:t>: char </a:t>
            </a:r>
            <a:r>
              <a:rPr lang="en-US" b="1" dirty="0" smtClean="0">
                <a:solidFill>
                  <a:srgbClr val="FFC000"/>
                </a:solidFill>
              </a:rPr>
              <a:t>&lt;string name&gt;</a:t>
            </a:r>
            <a:r>
              <a:rPr lang="en-US" dirty="0" smtClean="0"/>
              <a:t> [ &lt;string length&gt; </a:t>
            </a:r>
            <a:r>
              <a:rPr lang="en-US" b="1" dirty="0" smtClean="0">
                <a:solidFill>
                  <a:srgbClr val="FFC000"/>
                </a:solidFill>
              </a:rPr>
              <a:t>+ 1</a:t>
            </a:r>
            <a:r>
              <a:rPr lang="en-US" dirty="0" smtClean="0"/>
              <a:t> ];</a:t>
            </a:r>
          </a:p>
          <a:p>
            <a:pPr lvl="2">
              <a:buNone/>
            </a:pPr>
            <a:r>
              <a:rPr lang="en-US" dirty="0" smtClean="0"/>
              <a:t>	</a:t>
            </a:r>
            <a:br>
              <a:rPr lang="en-US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s1[ 5 ]</a:t>
            </a:r>
            <a:r>
              <a:rPr lang="en-US" sz="1800" dirty="0" smtClean="0"/>
              <a:t>;		</a:t>
            </a:r>
            <a:r>
              <a:rPr lang="en-US" sz="1800" dirty="0" smtClean="0"/>
              <a:t> </a:t>
            </a:r>
            <a:r>
              <a:rPr lang="en-US" sz="1800" dirty="0" smtClean="0"/>
              <a:t>     </a:t>
            </a:r>
            <a:r>
              <a:rPr lang="en-US" sz="1800" b="1" dirty="0" smtClean="0">
                <a:solidFill>
                  <a:srgbClr val="FFC000"/>
                </a:solidFill>
              </a:rPr>
              <a:t>s1</a:t>
            </a:r>
            <a:endParaRPr lang="en-US" sz="1800" b="1" dirty="0" smtClean="0">
              <a:solidFill>
                <a:srgbClr val="FFC000"/>
              </a:solidFill>
            </a:endParaRPr>
          </a:p>
          <a:p>
            <a:pPr lvl="2"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</a:t>
            </a: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s2[ ]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{“</a:t>
            </a:r>
            <a:r>
              <a:rPr lang="en-US" sz="1800" b="1" dirty="0" smtClean="0">
                <a:solidFill>
                  <a:srgbClr val="FFC000"/>
                </a:solidFill>
              </a:rPr>
              <a:t>hello</a:t>
            </a:r>
            <a:r>
              <a:rPr lang="en-US" sz="1800" b="1" dirty="0" smtClean="0">
                <a:solidFill>
                  <a:srgbClr val="FFC000"/>
                </a:solidFill>
              </a:rPr>
              <a:t>”}</a:t>
            </a:r>
            <a:r>
              <a:rPr lang="en-US" sz="1800" dirty="0" smtClean="0"/>
              <a:t>;</a:t>
            </a:r>
            <a:r>
              <a:rPr lang="en-US" sz="1800" dirty="0" smtClean="0"/>
              <a:t>	</a:t>
            </a:r>
            <a:r>
              <a:rPr lang="en-US" sz="1800" dirty="0" smtClean="0"/>
              <a:t>      </a:t>
            </a:r>
            <a:r>
              <a:rPr lang="en-US" sz="1800" b="1" dirty="0" smtClean="0">
                <a:solidFill>
                  <a:srgbClr val="FFC000"/>
                </a:solidFill>
              </a:rPr>
              <a:t>s2</a:t>
            </a:r>
            <a:endParaRPr lang="en-US" b="1" dirty="0" smtClean="0">
              <a:solidFill>
                <a:srgbClr val="FFC000"/>
              </a:solidFill>
            </a:endParaRPr>
          </a:p>
          <a:p>
            <a:pPr lvl="1"/>
            <a:r>
              <a:rPr lang="en-US" dirty="0" smtClean="0"/>
              <a:t>C++ string (std::string):</a:t>
            </a:r>
          </a:p>
          <a:p>
            <a:pPr lvl="2"/>
            <a:r>
              <a:rPr lang="en-US" dirty="0" smtClean="0"/>
              <a:t>Data </a:t>
            </a:r>
            <a:r>
              <a:rPr lang="en-US" dirty="0" smtClean="0"/>
              <a:t>type in library &lt;string&gt;.</a:t>
            </a:r>
          </a:p>
          <a:p>
            <a:pPr lvl="2"/>
            <a:r>
              <a:rPr lang="en-US" dirty="0" smtClean="0"/>
              <a:t>Support dynamic string.</a:t>
            </a:r>
          </a:p>
          <a:p>
            <a:pPr lvl="2"/>
            <a:r>
              <a:rPr lang="en-US" dirty="0" smtClean="0"/>
              <a:t>Declaration: std::string </a:t>
            </a:r>
            <a:r>
              <a:rPr lang="en-US" b="1" dirty="0" smtClean="0">
                <a:solidFill>
                  <a:srgbClr val="FFC000"/>
                </a:solidFill>
              </a:rPr>
              <a:t>&lt;string name&gt;</a:t>
            </a:r>
            <a:r>
              <a:rPr lang="en-US" dirty="0" smtClean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4876800" y="3581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5257800" y="3581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5638800" y="3581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6019800" y="3581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400800" y="3581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929250" y="3276600"/>
            <a:ext cx="2385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0    1    2    3    4    5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48768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52578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e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56388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60198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64008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6781800" y="4038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</a:t>
            </a:r>
            <a:endParaRPr 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7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concept:</a:t>
            </a:r>
          </a:p>
          <a:p>
            <a:pPr lvl="1"/>
            <a:r>
              <a:rPr lang="en-US" dirty="0" smtClean="0"/>
              <a:t>String comes with helpful libraries:</a:t>
            </a:r>
          </a:p>
          <a:p>
            <a:pPr lvl="2"/>
            <a:r>
              <a:rPr lang="en-US" dirty="0" smtClean="0"/>
              <a:t>C: &lt;</a:t>
            </a:r>
            <a:r>
              <a:rPr lang="en-US" dirty="0" err="1" smtClean="0"/>
              <a:t>string.h</a:t>
            </a:r>
            <a:r>
              <a:rPr lang="en-US" dirty="0" smtClean="0"/>
              <a:t>&gt;, &lt;</a:t>
            </a:r>
            <a:r>
              <a:rPr lang="en-US" dirty="0" err="1" smtClean="0"/>
              <a:t>stdio.h</a:t>
            </a:r>
            <a:r>
              <a:rPr lang="en-US" dirty="0" smtClean="0"/>
              <a:t>&gt;, &lt;</a:t>
            </a:r>
            <a:r>
              <a:rPr lang="en-US" dirty="0" err="1" smtClean="0"/>
              <a:t>ctype.h</a:t>
            </a:r>
            <a:r>
              <a:rPr lang="en-US" dirty="0" smtClean="0"/>
              <a:t>&gt;.</a:t>
            </a:r>
          </a:p>
          <a:p>
            <a:pPr lvl="2"/>
            <a:r>
              <a:rPr lang="en-US" dirty="0" smtClean="0"/>
              <a:t>C++: &lt;string&gt;, &lt;</a:t>
            </a:r>
            <a:r>
              <a:rPr lang="en-US" dirty="0" err="1" smtClean="0"/>
              <a:t>iostream</a:t>
            </a:r>
            <a:r>
              <a:rPr lang="en-US" dirty="0" smtClean="0"/>
              <a:t>&gt;, &lt;</a:t>
            </a:r>
            <a:r>
              <a:rPr lang="en-US" dirty="0" err="1" smtClean="0"/>
              <a:t>sstream</a:t>
            </a:r>
            <a:r>
              <a:rPr lang="en-US" dirty="0" smtClean="0"/>
              <a:t>&gt;.</a:t>
            </a:r>
          </a:p>
          <a:p>
            <a:pPr lvl="1"/>
            <a:r>
              <a:rPr lang="en-US" dirty="0" smtClean="0"/>
              <a:t>Iterate string:</a:t>
            </a:r>
          </a:p>
          <a:p>
            <a:pPr lvl="2"/>
            <a:r>
              <a:rPr lang="en-US" dirty="0" smtClean="0"/>
              <a:t>C string: check for ‘\0’ or use </a:t>
            </a:r>
            <a:r>
              <a:rPr lang="en-US" dirty="0" err="1" smtClean="0"/>
              <a:t>strlen</a:t>
            </a:r>
            <a:r>
              <a:rPr lang="en-US" dirty="0" smtClean="0"/>
              <a:t>(&lt;string&gt;).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sz="1800" dirty="0" smtClean="0"/>
              <a:t>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b="1" dirty="0" smtClean="0">
                <a:solidFill>
                  <a:srgbClr val="FFC000"/>
                </a:solidFill>
              </a:rPr>
              <a:t>s[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 != ‘\0’</a:t>
            </a:r>
            <a:r>
              <a:rPr lang="en-US" sz="1800" dirty="0" smtClean="0"/>
              <a:t>; ++</a:t>
            </a:r>
            <a:r>
              <a:rPr lang="en-US" sz="1800" dirty="0" err="1" smtClean="0"/>
              <a:t>i</a:t>
            </a:r>
            <a:r>
              <a:rPr lang="en-US" sz="1800" dirty="0" smtClean="0"/>
              <a:t>)  </a:t>
            </a:r>
            <a:br>
              <a:rPr lang="en-US" sz="1800" dirty="0" smtClean="0"/>
            </a:br>
            <a:r>
              <a:rPr lang="en-US" sz="1800" dirty="0" smtClean="0"/>
              <a:t>{ 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Process character s[ </a:t>
            </a:r>
            <a:r>
              <a:rPr lang="en-US" sz="1800" dirty="0" err="1" smtClean="0">
                <a:solidFill>
                  <a:srgbClr val="FFC000"/>
                </a:solidFill>
              </a:rPr>
              <a:t>i</a:t>
            </a:r>
            <a:r>
              <a:rPr lang="en-US" sz="1800" dirty="0" smtClean="0">
                <a:solidFill>
                  <a:srgbClr val="FFC000"/>
                </a:solidFill>
              </a:rPr>
              <a:t> ].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dirty="0" smtClean="0"/>
          </a:p>
          <a:p>
            <a:pPr lvl="2"/>
            <a:r>
              <a:rPr lang="en-US" dirty="0" smtClean="0"/>
              <a:t>std::string: &lt;string&gt;.length().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sz="1800" dirty="0" smtClean="0"/>
              <a:t>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&lt; </a:t>
            </a:r>
            <a:r>
              <a:rPr lang="en-US" sz="1800" b="1" dirty="0" err="1" smtClean="0">
                <a:solidFill>
                  <a:srgbClr val="FFC000"/>
                </a:solidFill>
              </a:rPr>
              <a:t>s.length</a:t>
            </a:r>
            <a:r>
              <a:rPr lang="en-US" sz="1800" b="1" dirty="0" smtClean="0">
                <a:solidFill>
                  <a:srgbClr val="FFC000"/>
                </a:solidFill>
              </a:rPr>
              <a:t>()</a:t>
            </a:r>
            <a:r>
              <a:rPr lang="en-US" sz="1800" dirty="0" smtClean="0"/>
              <a:t>; ++</a:t>
            </a:r>
            <a:r>
              <a:rPr lang="en-US" sz="1800" dirty="0" err="1" smtClean="0"/>
              <a:t>i</a:t>
            </a:r>
            <a:r>
              <a:rPr lang="en-US" sz="1800" dirty="0" smtClean="0"/>
              <a:t>) </a:t>
            </a:r>
            <a:br>
              <a:rPr lang="en-US" sz="1800" dirty="0" smtClean="0"/>
            </a:br>
            <a:r>
              <a:rPr lang="en-US" sz="1800" dirty="0" smtClean="0"/>
              <a:t>{ 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Process character s[ </a:t>
            </a:r>
            <a:r>
              <a:rPr lang="en-US" sz="1800" dirty="0" err="1" smtClean="0">
                <a:solidFill>
                  <a:srgbClr val="FFC000"/>
                </a:solidFill>
              </a:rPr>
              <a:t>i</a:t>
            </a:r>
            <a:r>
              <a:rPr lang="en-US" sz="1800" dirty="0" smtClean="0">
                <a:solidFill>
                  <a:srgbClr val="FFC000"/>
                </a:solidFill>
              </a:rPr>
              <a:t> ].</a:t>
            </a:r>
            <a:r>
              <a:rPr lang="en-US" sz="1800" dirty="0" smtClean="0"/>
              <a:t> 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 string:</a:t>
            </a:r>
          </a:p>
          <a:p>
            <a:pPr lvl="1"/>
            <a:r>
              <a:rPr lang="en-US" dirty="0" smtClean="0"/>
              <a:t>C string:</a:t>
            </a:r>
          </a:p>
          <a:p>
            <a:pPr lvl="2"/>
            <a:r>
              <a:rPr lang="en-US" dirty="0" err="1" smtClean="0"/>
              <a:t>fgets</a:t>
            </a:r>
            <a:r>
              <a:rPr lang="en-US" dirty="0" smtClean="0"/>
              <a:t>( &lt;string&gt;, &lt;max length&gt;, </a:t>
            </a:r>
            <a:r>
              <a:rPr lang="en-US" dirty="0" err="1" smtClean="0"/>
              <a:t>stdin</a:t>
            </a:r>
            <a:r>
              <a:rPr lang="en-US" dirty="0" smtClean="0"/>
              <a:t> ).</a:t>
            </a:r>
          </a:p>
          <a:p>
            <a:pPr lvl="2"/>
            <a:r>
              <a:rPr lang="en-US" dirty="0" smtClean="0"/>
              <a:t>std::</a:t>
            </a:r>
            <a:r>
              <a:rPr lang="en-US" dirty="0" err="1" smtClean="0"/>
              <a:t>cin.getline</a:t>
            </a:r>
            <a:r>
              <a:rPr lang="en-US" dirty="0" smtClean="0"/>
              <a:t>( &lt;string&gt;, &lt;max length&gt; ) (C++).</a:t>
            </a:r>
          </a:p>
          <a:p>
            <a:pPr lvl="1"/>
            <a:r>
              <a:rPr lang="en-US" dirty="0" smtClean="0"/>
              <a:t>std::string:</a:t>
            </a:r>
          </a:p>
          <a:p>
            <a:pPr lvl="2"/>
            <a:r>
              <a:rPr lang="en-US" dirty="0" smtClean="0"/>
              <a:t>std::</a:t>
            </a:r>
            <a:r>
              <a:rPr lang="en-US" dirty="0" err="1" smtClean="0"/>
              <a:t>getline</a:t>
            </a:r>
            <a:r>
              <a:rPr lang="en-US" dirty="0" smtClean="0"/>
              <a:t>( std::</a:t>
            </a:r>
            <a:r>
              <a:rPr lang="en-US" dirty="0" err="1" smtClean="0"/>
              <a:t>cin</a:t>
            </a:r>
            <a:r>
              <a:rPr lang="en-US" dirty="0" smtClean="0"/>
              <a:t>, &lt;string&gt; ).</a:t>
            </a:r>
          </a:p>
          <a:p>
            <a:r>
              <a:rPr lang="en-US" dirty="0" smtClean="0"/>
              <a:t>Output string:</a:t>
            </a:r>
          </a:p>
          <a:p>
            <a:pPr lvl="1"/>
            <a:r>
              <a:rPr lang="en-US" dirty="0" smtClean="0"/>
              <a:t>C string:</a:t>
            </a:r>
          </a:p>
          <a:p>
            <a:pPr lvl="2"/>
            <a:r>
              <a:rPr lang="en-US" dirty="0" err="1" smtClean="0"/>
              <a:t>printf</a:t>
            </a:r>
            <a:r>
              <a:rPr lang="en-US" dirty="0" smtClean="0"/>
              <a:t>( “%s”, &lt;string&gt; ).</a:t>
            </a:r>
          </a:p>
          <a:p>
            <a:pPr lvl="2"/>
            <a:r>
              <a:rPr lang="en-US" dirty="0" smtClean="0"/>
              <a:t>puts( &lt;string&gt; ).</a:t>
            </a:r>
          </a:p>
          <a:p>
            <a:pPr lvl="2"/>
            <a:r>
              <a:rPr lang="en-US" dirty="0" smtClean="0"/>
              <a:t>std::</a:t>
            </a:r>
            <a:r>
              <a:rPr lang="en-US" dirty="0" err="1" smtClean="0"/>
              <a:t>cout</a:t>
            </a:r>
            <a:r>
              <a:rPr lang="en-US" dirty="0" smtClean="0"/>
              <a:t> &lt;&lt; &lt;string&gt; (C++).</a:t>
            </a:r>
          </a:p>
          <a:p>
            <a:pPr lvl="1"/>
            <a:r>
              <a:rPr lang="en-US" dirty="0" smtClean="0"/>
              <a:t>std::string: std::</a:t>
            </a:r>
            <a:r>
              <a:rPr lang="en-US" dirty="0" err="1" smtClean="0"/>
              <a:t>cout</a:t>
            </a:r>
            <a:r>
              <a:rPr lang="en-US" dirty="0" smtClean="0"/>
              <a:t> &lt;&lt; &lt;string&gt;.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Practice: &lt;</a:t>
            </a:r>
            <a:r>
              <a:rPr lang="en-US" dirty="0" err="1" smtClean="0"/>
              <a:t>ctype.h</a:t>
            </a:r>
            <a:r>
              <a:rPr lang="en-US" dirty="0" smtClean="0"/>
              <a:t>&gt;</a:t>
            </a:r>
          </a:p>
          <a:p>
            <a:pPr lvl="1"/>
            <a:r>
              <a:rPr lang="en-US" dirty="0" smtClean="0"/>
              <a:t>Count words: “the quick fox” </a:t>
            </a:r>
            <a:r>
              <a:rPr lang="en-US" dirty="0" smtClean="0">
                <a:sym typeface="Wingdings" pitchFamily="2" charset="2"/>
              </a:rPr>
              <a:t> 3 words.</a:t>
            </a:r>
            <a:endParaRPr lang="en-US" dirty="0" smtClean="0"/>
          </a:p>
          <a:p>
            <a:pPr lvl="2"/>
            <a:r>
              <a:rPr lang="en-US" dirty="0" smtClean="0"/>
              <a:t>Space: </a:t>
            </a:r>
            <a:r>
              <a:rPr lang="en-US" b="1" dirty="0" smtClean="0">
                <a:solidFill>
                  <a:srgbClr val="FFC000"/>
                </a:solidFill>
              </a:rPr>
              <a:t>‘ ‘, ‘\t’, ‘\n’, ‘\r’</a:t>
            </a:r>
            <a:r>
              <a:rPr lang="en-US" dirty="0" smtClean="0"/>
              <a:t> 	-&gt; </a:t>
            </a:r>
            <a:r>
              <a:rPr lang="en-US" b="1" dirty="0" err="1" smtClean="0">
                <a:solidFill>
                  <a:srgbClr val="FFC000"/>
                </a:solidFill>
              </a:rPr>
              <a:t>isspace</a:t>
            </a:r>
            <a:r>
              <a:rPr lang="en-US" dirty="0" smtClean="0"/>
              <a:t>(&lt;char&gt;).</a:t>
            </a:r>
          </a:p>
          <a:p>
            <a:pPr lvl="2"/>
            <a:r>
              <a:rPr lang="en-US" dirty="0" smtClean="0"/>
              <a:t>Alphabet: </a:t>
            </a:r>
            <a:r>
              <a:rPr lang="en-US" b="1" dirty="0" smtClean="0">
                <a:solidFill>
                  <a:srgbClr val="FFC000"/>
                </a:solidFill>
              </a:rPr>
              <a:t>‘A’–‘Z’, ‘</a:t>
            </a:r>
            <a:r>
              <a:rPr lang="en-US" b="1" dirty="0" err="1" smtClean="0">
                <a:solidFill>
                  <a:srgbClr val="FFC000"/>
                </a:solidFill>
              </a:rPr>
              <a:t>a’-‘z</a:t>
            </a:r>
            <a:r>
              <a:rPr lang="en-US" b="1" dirty="0" smtClean="0">
                <a:solidFill>
                  <a:srgbClr val="FFC000"/>
                </a:solidFill>
              </a:rPr>
              <a:t>’ 	</a:t>
            </a:r>
            <a:r>
              <a:rPr lang="en-US" dirty="0" smtClean="0"/>
              <a:t>-&gt; </a:t>
            </a:r>
            <a:r>
              <a:rPr lang="en-US" b="1" dirty="0" err="1" smtClean="0">
                <a:solidFill>
                  <a:srgbClr val="FFC000"/>
                </a:solidFill>
              </a:rPr>
              <a:t>isalpha</a:t>
            </a:r>
            <a:r>
              <a:rPr lang="en-US" dirty="0" smtClean="0"/>
              <a:t>(&lt;char&gt;).</a:t>
            </a:r>
          </a:p>
          <a:p>
            <a:pPr lvl="2"/>
            <a:r>
              <a:rPr lang="en-US" dirty="0" smtClean="0"/>
              <a:t>Punctuation: </a:t>
            </a:r>
            <a:r>
              <a:rPr lang="en-US" b="1" dirty="0" smtClean="0">
                <a:solidFill>
                  <a:srgbClr val="FFC000"/>
                </a:solidFill>
              </a:rPr>
              <a:t>‘.‘, ‘,’, ‘?’, ‘!’,…</a:t>
            </a:r>
            <a:r>
              <a:rPr lang="en-US" dirty="0" smtClean="0"/>
              <a:t> -&gt;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ispunct</a:t>
            </a:r>
            <a:r>
              <a:rPr lang="en-US" dirty="0" smtClean="0"/>
              <a:t>(&lt;char&gt;).</a:t>
            </a:r>
          </a:p>
          <a:p>
            <a:pPr lvl="2"/>
            <a:r>
              <a:rPr lang="en-US" dirty="0" smtClean="0"/>
              <a:t>Digit: </a:t>
            </a:r>
            <a:r>
              <a:rPr lang="en-US" b="1" dirty="0" smtClean="0">
                <a:solidFill>
                  <a:srgbClr val="FFC000"/>
                </a:solidFill>
              </a:rPr>
              <a:t>‘0’, ‘1’, ‘2’, ‘3’, ‘4’, …</a:t>
            </a:r>
            <a:r>
              <a:rPr lang="en-US" dirty="0" smtClean="0"/>
              <a:t> 	-&gt; </a:t>
            </a:r>
            <a:r>
              <a:rPr lang="en-US" b="1" dirty="0" err="1" smtClean="0">
                <a:solidFill>
                  <a:srgbClr val="FFC000"/>
                </a:solidFill>
              </a:rPr>
              <a:t>isdigit</a:t>
            </a:r>
            <a:r>
              <a:rPr lang="en-US" dirty="0" smtClean="0"/>
              <a:t>(&lt;char&gt;).</a:t>
            </a:r>
          </a:p>
          <a:p>
            <a:pPr lvl="1"/>
            <a:r>
              <a:rPr lang="en-US" dirty="0" smtClean="0"/>
              <a:t>Capitalize words: “the quick fox” </a:t>
            </a:r>
            <a:r>
              <a:rPr lang="en-US" dirty="0" smtClean="0">
                <a:sym typeface="Wingdings" pitchFamily="2" charset="2"/>
              </a:rPr>
              <a:t> “The Quick Fox”.</a:t>
            </a:r>
            <a:endParaRPr lang="en-US" dirty="0" smtClean="0"/>
          </a:p>
          <a:p>
            <a:pPr lvl="2"/>
            <a:r>
              <a:rPr lang="en-US" dirty="0" smtClean="0"/>
              <a:t>Lower alphabet: </a:t>
            </a:r>
            <a:r>
              <a:rPr lang="en-US" b="1" dirty="0" smtClean="0">
                <a:solidFill>
                  <a:srgbClr val="FFC000"/>
                </a:solidFill>
              </a:rPr>
              <a:t>‘</a:t>
            </a:r>
            <a:r>
              <a:rPr lang="en-US" b="1" dirty="0" err="1" smtClean="0">
                <a:solidFill>
                  <a:srgbClr val="FFC000"/>
                </a:solidFill>
              </a:rPr>
              <a:t>a’-‘z</a:t>
            </a:r>
            <a:r>
              <a:rPr lang="en-US" b="1" dirty="0" smtClean="0">
                <a:solidFill>
                  <a:srgbClr val="FFC000"/>
                </a:solidFill>
              </a:rPr>
              <a:t>’</a:t>
            </a:r>
            <a:r>
              <a:rPr lang="en-US" dirty="0" smtClean="0"/>
              <a:t>  -&gt; </a:t>
            </a:r>
            <a:r>
              <a:rPr lang="en-US" b="1" dirty="0" err="1" smtClean="0">
                <a:solidFill>
                  <a:srgbClr val="FFC000"/>
                </a:solidFill>
              </a:rPr>
              <a:t>islower</a:t>
            </a:r>
            <a:r>
              <a:rPr lang="en-US" dirty="0" smtClean="0"/>
              <a:t>(&lt;char&gt;).</a:t>
            </a:r>
          </a:p>
          <a:p>
            <a:pPr lvl="2"/>
            <a:r>
              <a:rPr lang="en-US" dirty="0" smtClean="0"/>
              <a:t>Capitalize: &lt;char&gt; - 32 -&gt; </a:t>
            </a:r>
            <a:r>
              <a:rPr lang="en-US" b="1" dirty="0" err="1" smtClean="0">
                <a:solidFill>
                  <a:srgbClr val="FFC000"/>
                </a:solidFill>
              </a:rPr>
              <a:t>toupper</a:t>
            </a:r>
            <a:r>
              <a:rPr lang="en-US" dirty="0" smtClean="0"/>
              <a:t>(&lt;char&gt;).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r>
              <a:rPr lang="vi-VN" dirty="0" smtClean="0"/>
              <a:t>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Text file.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IO:</a:t>
            </a:r>
          </a:p>
          <a:p>
            <a:pPr lvl="1"/>
            <a:r>
              <a:rPr lang="en-US" dirty="0" smtClean="0"/>
              <a:t>Advantages (vs. keyboard and screen):</a:t>
            </a:r>
          </a:p>
          <a:p>
            <a:pPr lvl="2"/>
            <a:r>
              <a:rPr lang="en-US" dirty="0" smtClean="0"/>
              <a:t>Do not need user: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Automatic control..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Repeatable.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Communicate with other programs.</a:t>
            </a:r>
            <a:endParaRPr lang="en-US" dirty="0" smtClean="0"/>
          </a:p>
          <a:p>
            <a:pPr lvl="2"/>
            <a:r>
              <a:rPr lang="en-US" dirty="0" smtClean="0"/>
              <a:t>Persistent storage.</a:t>
            </a:r>
          </a:p>
          <a:p>
            <a:pPr lvl="1"/>
            <a:r>
              <a:rPr lang="en-US" dirty="0" smtClean="0"/>
              <a:t>Disadvantages (vs. RAM):</a:t>
            </a:r>
          </a:p>
          <a:p>
            <a:pPr lvl="2"/>
            <a:r>
              <a:rPr lang="en-US" dirty="0" smtClean="0"/>
              <a:t>Sequential vs. random access.</a:t>
            </a:r>
          </a:p>
          <a:p>
            <a:pPr lvl="2"/>
            <a:r>
              <a:rPr lang="en-US" dirty="0" smtClean="0"/>
              <a:t>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stream:</a:t>
            </a:r>
          </a:p>
          <a:p>
            <a:pPr lvl="1"/>
            <a:r>
              <a:rPr lang="en-US" dirty="0" smtClean="0"/>
              <a:t>File is either input or output device.</a:t>
            </a:r>
          </a:p>
          <a:p>
            <a:pPr lvl="1"/>
            <a:r>
              <a:rPr lang="en-US" dirty="0" smtClean="0"/>
              <a:t>File stream is connection between program and file.</a:t>
            </a:r>
          </a:p>
          <a:p>
            <a:pPr lvl="1"/>
            <a:r>
              <a:rPr lang="en-US" dirty="0" smtClean="0"/>
              <a:t>Declaration:</a:t>
            </a:r>
          </a:p>
          <a:p>
            <a:pPr lvl="2"/>
            <a:r>
              <a:rPr lang="en-US" dirty="0" smtClean="0"/>
              <a:t>C (library &lt;</a:t>
            </a:r>
            <a:r>
              <a:rPr lang="en-US" dirty="0" err="1" smtClean="0"/>
              <a:t>stdio.h</a:t>
            </a:r>
            <a:r>
              <a:rPr lang="en-US" dirty="0" smtClean="0"/>
              <a:t>&gt;): </a:t>
            </a:r>
            <a:r>
              <a:rPr lang="en-US" b="1" dirty="0" smtClean="0">
                <a:solidFill>
                  <a:srgbClr val="FFC000"/>
                </a:solidFill>
              </a:rPr>
              <a:t>FILE *</a:t>
            </a:r>
            <a:r>
              <a:rPr lang="en-US" dirty="0" smtClean="0"/>
              <a:t>&lt;name&gt;.</a:t>
            </a:r>
          </a:p>
          <a:p>
            <a:pPr lvl="2"/>
            <a:r>
              <a:rPr lang="en-US" dirty="0" smtClean="0"/>
              <a:t>C++ (library &lt;</a:t>
            </a:r>
            <a:r>
              <a:rPr lang="en-US" dirty="0" err="1" smtClean="0"/>
              <a:t>fstream</a:t>
            </a:r>
            <a:r>
              <a:rPr lang="en-US" dirty="0" smtClean="0"/>
              <a:t>&gt;): </a:t>
            </a:r>
            <a:r>
              <a:rPr lang="en-US" b="1" dirty="0" smtClean="0">
                <a:solidFill>
                  <a:srgbClr val="FFC000"/>
                </a:solidFill>
              </a:rPr>
              <a:t>std::</a:t>
            </a:r>
            <a:r>
              <a:rPr lang="en-US" b="1" dirty="0" err="1" smtClean="0">
                <a:solidFill>
                  <a:srgbClr val="FFC000"/>
                </a:solidFill>
              </a:rPr>
              <a:t>fstream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dirty="0" smtClean="0"/>
              <a:t>&lt;name&gt;.</a:t>
            </a:r>
          </a:p>
          <a:p>
            <a:pPr lvl="1"/>
            <a:r>
              <a:rPr lang="en-US" dirty="0" smtClean="0"/>
              <a:t>Steps to process a file:</a:t>
            </a:r>
          </a:p>
          <a:p>
            <a:pPr lvl="2"/>
            <a:r>
              <a:rPr lang="en-US" dirty="0" smtClean="0"/>
              <a:t>Open file stream.</a:t>
            </a:r>
          </a:p>
          <a:p>
            <a:pPr lvl="2"/>
            <a:r>
              <a:rPr lang="en-US" dirty="0" smtClean="0"/>
              <a:t>Read/write file stream.</a:t>
            </a:r>
          </a:p>
          <a:p>
            <a:pPr lvl="2"/>
            <a:r>
              <a:rPr lang="en-US" dirty="0" smtClean="0"/>
              <a:t>Close file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file stream:</a:t>
            </a:r>
          </a:p>
          <a:p>
            <a:pPr lvl="1"/>
            <a:r>
              <a:rPr lang="en-US" dirty="0" smtClean="0"/>
              <a:t>C syntax: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fopen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“&lt;file path&gt;”, “&lt;open mode&gt;”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Return: file stream (succeeded) or NULL (error).</a:t>
            </a:r>
          </a:p>
          <a:p>
            <a:pPr lvl="2">
              <a:buNone/>
            </a:pPr>
            <a:r>
              <a:rPr lang="en-US" sz="22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FILE</a:t>
            </a:r>
            <a:r>
              <a:rPr lang="en-US" sz="1800" dirty="0" smtClean="0"/>
              <a:t>  </a:t>
            </a:r>
            <a:r>
              <a:rPr lang="en-US" sz="1800" b="1" dirty="0" smtClean="0">
                <a:solidFill>
                  <a:srgbClr val="FFC000"/>
                </a:solidFill>
              </a:rPr>
              <a:t>*f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fopen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“C:/test.txt”, “</a:t>
            </a:r>
            <a:r>
              <a:rPr lang="en-US" sz="1800" b="1" dirty="0" smtClean="0">
                <a:solidFill>
                  <a:srgbClr val="FFC000"/>
                </a:solidFill>
              </a:rPr>
              <a:t>r</a:t>
            </a:r>
            <a:r>
              <a:rPr lang="en-US" sz="1800" dirty="0" smtClean="0"/>
              <a:t>”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if ( </a:t>
            </a:r>
            <a:r>
              <a:rPr lang="en-US" sz="1800" b="1" dirty="0" smtClean="0">
                <a:solidFill>
                  <a:srgbClr val="FFC000"/>
                </a:solidFill>
              </a:rPr>
              <a:t>!f </a:t>
            </a:r>
            <a:r>
              <a:rPr lang="en-US" sz="1800" dirty="0" smtClean="0"/>
              <a:t>) </a:t>
            </a:r>
            <a:r>
              <a:rPr lang="en-US" sz="1800" dirty="0" err="1" smtClean="0"/>
              <a:t>fprintf</a:t>
            </a:r>
            <a:r>
              <a:rPr lang="en-US" sz="1800" dirty="0" smtClean="0"/>
              <a:t>(</a:t>
            </a:r>
            <a:r>
              <a:rPr lang="en-US" sz="1800" dirty="0" err="1" smtClean="0"/>
              <a:t>stderr</a:t>
            </a:r>
            <a:r>
              <a:rPr lang="en-US" sz="1800" dirty="0" smtClean="0"/>
              <a:t>, “Error.”);</a:t>
            </a:r>
            <a:br>
              <a:rPr lang="en-US" sz="1800" dirty="0" smtClean="0"/>
            </a:br>
            <a:r>
              <a:rPr lang="en-US" sz="1800" dirty="0" smtClean="0"/>
              <a:t>else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(“Succeeded.”);</a:t>
            </a:r>
            <a:endParaRPr lang="en-US" sz="2200" dirty="0" smtClean="0"/>
          </a:p>
          <a:p>
            <a:pPr lvl="1"/>
            <a:r>
              <a:rPr lang="en-US" dirty="0" smtClean="0"/>
              <a:t>C++ syntax:</a:t>
            </a:r>
          </a:p>
          <a:p>
            <a:pPr lvl="2"/>
            <a:r>
              <a:rPr lang="en-US" b="1" dirty="0" smtClean="0">
                <a:solidFill>
                  <a:srgbClr val="FFC000"/>
                </a:solidFill>
              </a:rPr>
              <a:t>&lt;stream&gt;(</a:t>
            </a:r>
            <a:r>
              <a:rPr lang="en-US" dirty="0" smtClean="0"/>
              <a:t>“&lt;file path&gt;”, &lt;C++ open mode&gt;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Check </a:t>
            </a:r>
            <a:r>
              <a:rPr lang="en-US" b="1" dirty="0" smtClean="0">
                <a:solidFill>
                  <a:srgbClr val="FFC000"/>
                </a:solidFill>
              </a:rPr>
              <a:t>&lt;stream&gt;</a:t>
            </a:r>
            <a:r>
              <a:rPr lang="en-US" dirty="0" smtClean="0"/>
              <a:t> to know the result.</a:t>
            </a:r>
          </a:p>
          <a:p>
            <a:pPr lvl="2">
              <a:buNone/>
            </a:pP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std::</a:t>
            </a:r>
            <a:r>
              <a:rPr lang="en-US" sz="1800" b="1" dirty="0" err="1" smtClean="0">
                <a:solidFill>
                  <a:srgbClr val="FFC000"/>
                </a:solidFill>
              </a:rPr>
              <a:t>fstream</a:t>
            </a:r>
            <a:r>
              <a:rPr lang="en-US" sz="1800" b="1" dirty="0" smtClean="0">
                <a:solidFill>
                  <a:srgbClr val="FFC000"/>
                </a:solidFill>
              </a:rPr>
              <a:t>  f (</a:t>
            </a:r>
            <a:r>
              <a:rPr lang="en-US" sz="1800" dirty="0" smtClean="0"/>
              <a:t>“test.txt”, </a:t>
            </a:r>
            <a:r>
              <a:rPr lang="en-US" sz="1800" b="1" dirty="0" smtClean="0">
                <a:solidFill>
                  <a:srgbClr val="FFC000"/>
                </a:solidFill>
              </a:rPr>
              <a:t>std::</a:t>
            </a:r>
            <a:r>
              <a:rPr lang="en-US" sz="1800" b="1" dirty="0" err="1" smtClean="0">
                <a:solidFill>
                  <a:srgbClr val="FFC000"/>
                </a:solidFill>
              </a:rPr>
              <a:t>ios</a:t>
            </a:r>
            <a:r>
              <a:rPr lang="en-US" sz="1800" b="1" dirty="0" smtClean="0">
                <a:solidFill>
                  <a:srgbClr val="FFC000"/>
                </a:solidFill>
              </a:rPr>
              <a:t>::in)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if ( </a:t>
            </a:r>
            <a:r>
              <a:rPr lang="en-US" sz="1800" b="1" dirty="0" smtClean="0">
                <a:solidFill>
                  <a:srgbClr val="FFC000"/>
                </a:solidFill>
              </a:rPr>
              <a:t>!f </a:t>
            </a:r>
            <a:r>
              <a:rPr lang="en-US" sz="1800" dirty="0" smtClean="0"/>
              <a:t>) std::</a:t>
            </a:r>
            <a:r>
              <a:rPr lang="en-US" sz="1800" dirty="0" err="1" smtClean="0"/>
              <a:t>cerr</a:t>
            </a:r>
            <a:r>
              <a:rPr lang="en-US" sz="1800" dirty="0" smtClean="0"/>
              <a:t> &lt;&lt; “Error.”;</a:t>
            </a:r>
            <a:br>
              <a:rPr lang="en-US" sz="1800" dirty="0" smtClean="0"/>
            </a:br>
            <a:r>
              <a:rPr lang="en-US" sz="1800" dirty="0" smtClean="0"/>
              <a:t>else std::</a:t>
            </a:r>
            <a:r>
              <a:rPr lang="en-US" sz="1800" dirty="0" err="1" smtClean="0"/>
              <a:t>cout</a:t>
            </a:r>
            <a:r>
              <a:rPr lang="en-US" sz="1800" dirty="0" smtClean="0"/>
              <a:t> &lt;&lt; “Succeeded.”;</a:t>
            </a:r>
          </a:p>
          <a:p>
            <a:pPr lvl="2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file stream:</a:t>
            </a:r>
          </a:p>
          <a:p>
            <a:pPr lvl="1"/>
            <a:r>
              <a:rPr lang="en-US" dirty="0" smtClean="0"/>
              <a:t>C/C++ open modes: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83058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609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Open mode</a:t>
                      </a:r>
                      <a:r>
                        <a:rPr lang="en-US" baseline="0" dirty="0" smtClean="0"/>
                        <a:t> C/C++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Ý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nghĩa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 / std::</a:t>
                      </a:r>
                      <a:r>
                        <a:rPr lang="en-US" dirty="0" err="1" smtClean="0"/>
                        <a:t>ios</a:t>
                      </a:r>
                      <a:r>
                        <a:rPr lang="en-US" dirty="0" smtClean="0"/>
                        <a:t>::in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en-US" dirty="0" smtClean="0"/>
                        <a:t>ead-only,</a:t>
                      </a:r>
                      <a:r>
                        <a:rPr lang="en-US" baseline="0" dirty="0" smtClean="0"/>
                        <a:t> open for reading (text mode).</a:t>
                      </a:r>
                    </a:p>
                    <a:p>
                      <a:r>
                        <a:rPr lang="en-US" baseline="0" dirty="0" smtClean="0"/>
                        <a:t>Return NULL if file not found.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dk1"/>
                          </a:solidFill>
                        </a:rPr>
                        <a:t>w / std::</a:t>
                      </a:r>
                      <a:r>
                        <a:rPr lang="en-US" b="0" dirty="0" err="1" smtClean="0">
                          <a:solidFill>
                            <a:schemeClr val="dk1"/>
                          </a:solidFill>
                        </a:rPr>
                        <a:t>ios:out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</a:t>
                      </a:r>
                      <a:r>
                        <a:rPr lang="en-US" dirty="0" smtClean="0"/>
                        <a:t>rite-only, open for writing (text mode)</a:t>
                      </a:r>
                      <a:r>
                        <a:rPr lang="en-US" baseline="0" dirty="0" smtClean="0"/>
                        <a:t>.</a:t>
                      </a:r>
                    </a:p>
                    <a:p>
                      <a:r>
                        <a:rPr lang="en-US" dirty="0" smtClean="0"/>
                        <a:t>File created or</a:t>
                      </a:r>
                      <a:r>
                        <a:rPr lang="en-US" baseline="0" dirty="0" smtClean="0"/>
                        <a:t> overwritten.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dk1"/>
                          </a:solidFill>
                        </a:rPr>
                        <a:t>a /</a:t>
                      </a:r>
                      <a:r>
                        <a:rPr lang="en-US" b="0" baseline="0" dirty="0" smtClean="0">
                          <a:solidFill>
                            <a:schemeClr val="dk1"/>
                          </a:solidFill>
                        </a:rPr>
                        <a:t> std::</a:t>
                      </a:r>
                      <a:r>
                        <a:rPr lang="en-US" b="0" baseline="0" dirty="0" err="1" smtClean="0">
                          <a:solidFill>
                            <a:schemeClr val="dk1"/>
                          </a:solidFill>
                        </a:rPr>
                        <a:t>ios:app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dirty="0" smtClean="0"/>
                        <a:t>ppend-only, open for append</a:t>
                      </a:r>
                      <a:r>
                        <a:rPr lang="en-US" baseline="0" dirty="0" smtClean="0"/>
                        <a:t> (text mode).</a:t>
                      </a:r>
                    </a:p>
                    <a:p>
                      <a:r>
                        <a:rPr lang="en-US" dirty="0" smtClean="0"/>
                        <a:t>File created if not found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[r/w/a</a:t>
                      </a:r>
                      <a:r>
                        <a:rPr lang="en-US" baseline="0" dirty="0" smtClean="0"/>
                        <a:t>]</a:t>
                      </a:r>
                      <a:r>
                        <a:rPr lang="en-US" dirty="0" smtClean="0"/>
                        <a:t>+ / combine</a:t>
                      </a:r>
                      <a:r>
                        <a:rPr lang="en-US" baseline="0" dirty="0" smtClean="0"/>
                        <a:t> |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Combine read and write (text mode)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[r/w/a</a:t>
                      </a:r>
                      <a:r>
                        <a:rPr lang="en-US" baseline="0" dirty="0" smtClean="0"/>
                        <a:t>]</a:t>
                      </a:r>
                      <a:r>
                        <a:rPr lang="en-US" dirty="0" smtClean="0"/>
                        <a:t>b / combine</a:t>
                      </a:r>
                      <a:r>
                        <a:rPr lang="en-US" baseline="0" dirty="0" smtClean="0"/>
                        <a:t> |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Read</a:t>
                      </a:r>
                      <a:r>
                        <a:rPr lang="en-US" baseline="0" dirty="0" smtClean="0"/>
                        <a:t> and write in binary (binary mode).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Close file stream:</a:t>
            </a:r>
          </a:p>
          <a:p>
            <a:pPr lvl="1"/>
            <a:r>
              <a:rPr lang="en-US" dirty="0" smtClean="0"/>
              <a:t>C syntax: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fclose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&lt;stream&gt;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Close an opened stream.</a:t>
            </a:r>
          </a:p>
          <a:p>
            <a:pPr lvl="2"/>
            <a:r>
              <a:rPr lang="en-US" dirty="0" smtClean="0"/>
              <a:t>Always close a stream after used.</a:t>
            </a:r>
          </a:p>
          <a:p>
            <a:pPr lvl="2">
              <a:buNone/>
            </a:pPr>
            <a:r>
              <a:rPr lang="en-US" sz="1800" dirty="0" smtClean="0"/>
              <a:t>	FILE  </a:t>
            </a:r>
            <a:r>
              <a:rPr lang="en-US" sz="1800" b="1" dirty="0" smtClean="0">
                <a:solidFill>
                  <a:srgbClr val="FFC000"/>
                </a:solidFill>
              </a:rPr>
              <a:t>*f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fopen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“C:\\test.txt”, “</a:t>
            </a:r>
            <a:r>
              <a:rPr lang="en-US" sz="1800" b="1" dirty="0" smtClean="0">
                <a:solidFill>
                  <a:srgbClr val="FFC000"/>
                </a:solidFill>
              </a:rPr>
              <a:t>r</a:t>
            </a:r>
            <a:r>
              <a:rPr lang="en-US" sz="1800" dirty="0" smtClean="0"/>
              <a:t>”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if ( </a:t>
            </a:r>
            <a:r>
              <a:rPr lang="en-US" sz="1800" b="1" dirty="0" smtClean="0">
                <a:solidFill>
                  <a:srgbClr val="FFC000"/>
                </a:solidFill>
              </a:rPr>
              <a:t>!f</a:t>
            </a:r>
            <a:r>
              <a:rPr lang="en-US" sz="1800" dirty="0" smtClean="0"/>
              <a:t> ) {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fprintf</a:t>
            </a:r>
            <a:r>
              <a:rPr lang="en-US" sz="1800" dirty="0" smtClean="0"/>
              <a:t>(</a:t>
            </a:r>
            <a:r>
              <a:rPr lang="en-US" sz="1800" dirty="0" err="1" smtClean="0"/>
              <a:t>stderr</a:t>
            </a:r>
            <a:r>
              <a:rPr lang="en-US" sz="1800" dirty="0" smtClean="0"/>
              <a:t>, “Error.”);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fclose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f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	// Wrong.</a:t>
            </a:r>
            <a:br>
              <a:rPr lang="en-US" sz="1800" dirty="0" smtClean="0"/>
            </a:br>
            <a:r>
              <a:rPr lang="en-US" sz="1800" dirty="0" smtClean="0"/>
              <a:t>} else {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(“Succeeded.”);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fclose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f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	// Right.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  <a:p>
            <a:pPr lvl="1"/>
            <a:r>
              <a:rPr lang="en-US" dirty="0" smtClean="0"/>
              <a:t>C++ syntax: &lt;stream&gt;</a:t>
            </a:r>
            <a:r>
              <a:rPr lang="en-US" b="1" dirty="0" smtClean="0">
                <a:solidFill>
                  <a:srgbClr val="FFC000"/>
                </a:solidFill>
              </a:rPr>
              <a:t>.close( )</a:t>
            </a:r>
            <a:r>
              <a:rPr lang="en-US" dirty="0" smtClean="0"/>
              <a:t>;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 stream:</a:t>
            </a:r>
          </a:p>
          <a:p>
            <a:pPr lvl="1"/>
            <a:r>
              <a:rPr lang="en-US" dirty="0" smtClean="0"/>
              <a:t>C syntax: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fscanf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&lt;stream&gt;, “&lt;type format&gt;”, &amp;&lt;</a:t>
            </a:r>
            <a:r>
              <a:rPr lang="en-US" dirty="0" err="1" smtClean="0"/>
              <a:t>var</a:t>
            </a:r>
            <a:r>
              <a:rPr lang="en-US" dirty="0" smtClean="0"/>
              <a:t> 1&gt;, …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fgets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&lt;string&gt;, &lt;max line&gt;, &lt;stream&gt;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3">
              <a:buNone/>
            </a:pPr>
            <a:r>
              <a:rPr lang="en-US" sz="1800" dirty="0" smtClean="0"/>
              <a:t>	FILE  </a:t>
            </a:r>
            <a:r>
              <a:rPr lang="en-US" sz="1800" b="1" dirty="0" smtClean="0">
                <a:solidFill>
                  <a:srgbClr val="FFC000"/>
                </a:solidFill>
              </a:rPr>
              <a:t>*f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fopen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“C:\\test.txt”, “</a:t>
            </a:r>
            <a:r>
              <a:rPr lang="en-US" sz="1800" b="1" dirty="0" smtClean="0">
                <a:solidFill>
                  <a:srgbClr val="FFC000"/>
                </a:solidFill>
              </a:rPr>
              <a:t>r</a:t>
            </a:r>
            <a:r>
              <a:rPr lang="en-US" sz="1800" dirty="0" smtClean="0"/>
              <a:t>”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if ( </a:t>
            </a:r>
            <a:r>
              <a:rPr lang="en-US" sz="1800" b="1" dirty="0" smtClean="0">
                <a:solidFill>
                  <a:srgbClr val="FFC000"/>
                </a:solidFill>
              </a:rPr>
              <a:t>!f</a:t>
            </a:r>
            <a:r>
              <a:rPr lang="en-US" sz="1800" dirty="0" smtClean="0"/>
              <a:t> )  </a:t>
            </a:r>
            <a:r>
              <a:rPr lang="en-US" sz="1800" dirty="0" err="1" smtClean="0"/>
              <a:t>fprintf</a:t>
            </a:r>
            <a:r>
              <a:rPr lang="en-US" sz="1800" dirty="0" smtClean="0"/>
              <a:t>(</a:t>
            </a:r>
            <a:r>
              <a:rPr lang="en-US" sz="1800" dirty="0" err="1" smtClean="0"/>
              <a:t>stderr</a:t>
            </a:r>
            <a:r>
              <a:rPr lang="en-US" sz="1800" dirty="0" smtClean="0"/>
              <a:t>, “Error.”);</a:t>
            </a:r>
            <a:br>
              <a:rPr lang="en-US" sz="1800" dirty="0" smtClean="0"/>
            </a:br>
            <a:r>
              <a:rPr lang="en-US" sz="1800" dirty="0" smtClean="0"/>
              <a:t>else {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int</a:t>
            </a:r>
            <a:r>
              <a:rPr lang="en-US" sz="1800" dirty="0" smtClean="0"/>
              <a:t>   </a:t>
            </a:r>
            <a:r>
              <a:rPr lang="en-US" sz="1800" b="1" dirty="0" smtClean="0">
                <a:solidFill>
                  <a:srgbClr val="FFC000"/>
                </a:solidFill>
              </a:rPr>
              <a:t>a, b</a:t>
            </a:r>
            <a:r>
              <a:rPr lang="en-US" sz="1800" dirty="0" smtClean="0"/>
              <a:t>;         char  </a:t>
            </a:r>
            <a:r>
              <a:rPr lang="en-US" sz="1800" b="1" dirty="0" smtClean="0">
                <a:solidFill>
                  <a:srgbClr val="FFC000"/>
                </a:solidFill>
              </a:rPr>
              <a:t>s</a:t>
            </a:r>
            <a:r>
              <a:rPr lang="en-US" sz="1800" dirty="0" smtClean="0"/>
              <a:t> [ 100 ]; 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fscanf</a:t>
            </a:r>
            <a:r>
              <a:rPr lang="en-US" sz="1800" b="1" dirty="0" smtClean="0">
                <a:solidFill>
                  <a:srgbClr val="FFC000"/>
                </a:solidFill>
              </a:rPr>
              <a:t>( </a:t>
            </a:r>
            <a:r>
              <a:rPr lang="en-US" sz="1800" dirty="0" smtClean="0"/>
              <a:t>f, “%d %d”, </a:t>
            </a:r>
            <a:r>
              <a:rPr lang="en-US" sz="1800" b="1" dirty="0" smtClean="0">
                <a:solidFill>
                  <a:srgbClr val="FFC000"/>
                </a:solidFill>
              </a:rPr>
              <a:t>&amp;a, &amp;b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fgets</a:t>
            </a:r>
            <a:r>
              <a:rPr lang="en-US" sz="1800" b="1" dirty="0" smtClean="0">
                <a:solidFill>
                  <a:srgbClr val="FFC000"/>
                </a:solidFill>
              </a:rPr>
              <a:t>( s</a:t>
            </a:r>
            <a:r>
              <a:rPr lang="en-US" sz="1800" dirty="0" smtClean="0"/>
              <a:t>, 100, f );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fclose</a:t>
            </a:r>
            <a:r>
              <a:rPr lang="en-US" sz="1800" dirty="0" smtClean="0"/>
              <a:t>( f 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  <a:p>
            <a:pPr lvl="1"/>
            <a:r>
              <a:rPr lang="en-US" dirty="0" smtClean="0"/>
              <a:t>C++ syntax:</a:t>
            </a:r>
          </a:p>
          <a:p>
            <a:pPr lvl="2"/>
            <a:r>
              <a:rPr lang="en-US" dirty="0" smtClean="0"/>
              <a:t>&lt;stream&gt;</a:t>
            </a:r>
            <a:r>
              <a:rPr lang="en-US" b="1" dirty="0" smtClean="0">
                <a:solidFill>
                  <a:srgbClr val="FFC000"/>
                </a:solidFill>
              </a:rPr>
              <a:t> &gt;&gt; </a:t>
            </a:r>
            <a:r>
              <a:rPr lang="en-US" dirty="0" smtClean="0"/>
              <a:t>&lt;</a:t>
            </a:r>
            <a:r>
              <a:rPr lang="en-US" dirty="0" err="1" smtClean="0"/>
              <a:t>var</a:t>
            </a:r>
            <a:r>
              <a:rPr lang="en-US" dirty="0" smtClean="0"/>
              <a:t>&gt;.</a:t>
            </a:r>
          </a:p>
          <a:p>
            <a:pPr lvl="2"/>
            <a:r>
              <a:rPr lang="en-US" dirty="0" smtClean="0"/>
              <a:t>&lt;stream&gt;.</a:t>
            </a:r>
            <a:r>
              <a:rPr lang="en-US" b="1" dirty="0" err="1" smtClean="0">
                <a:solidFill>
                  <a:srgbClr val="FFC000"/>
                </a:solidFill>
              </a:rPr>
              <a:t>getline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 &lt;string&gt;, &lt;max line&gt;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stream:</a:t>
            </a:r>
          </a:p>
          <a:p>
            <a:pPr lvl="1"/>
            <a:r>
              <a:rPr lang="en-US" dirty="0" smtClean="0"/>
              <a:t>C syntax: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fprintf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&lt;File stream&gt;, “&lt;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&gt;”, &lt;</a:t>
            </a:r>
            <a:r>
              <a:rPr lang="en-US" dirty="0" err="1" smtClean="0"/>
              <a:t>Biến</a:t>
            </a:r>
            <a:r>
              <a:rPr lang="en-US" dirty="0" smtClean="0"/>
              <a:t> 1&gt;, …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3">
              <a:buNone/>
            </a:pPr>
            <a:r>
              <a:rPr lang="en-US" sz="1800" dirty="0" smtClean="0"/>
              <a:t>	FILE  </a:t>
            </a:r>
            <a:r>
              <a:rPr lang="en-US" sz="1800" b="1" dirty="0" smtClean="0">
                <a:solidFill>
                  <a:srgbClr val="FFC000"/>
                </a:solidFill>
              </a:rPr>
              <a:t>*f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fopen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“C:\\BaiTap.txt”, “</a:t>
            </a:r>
            <a:r>
              <a:rPr lang="en-US" sz="1800" b="1" dirty="0" smtClean="0">
                <a:solidFill>
                  <a:srgbClr val="FFC000"/>
                </a:solidFill>
              </a:rPr>
              <a:t>w</a:t>
            </a:r>
            <a:r>
              <a:rPr lang="en-US" sz="1800" dirty="0" smtClean="0"/>
              <a:t>”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if ( </a:t>
            </a:r>
            <a:r>
              <a:rPr lang="en-US" sz="1800" b="1" dirty="0" smtClean="0">
                <a:solidFill>
                  <a:srgbClr val="FFC000"/>
                </a:solidFill>
              </a:rPr>
              <a:t>!f</a:t>
            </a:r>
            <a:r>
              <a:rPr lang="en-US" sz="1800" dirty="0" smtClean="0"/>
              <a:t> )  </a:t>
            </a:r>
            <a:r>
              <a:rPr lang="en-US" sz="1800" dirty="0" err="1" smtClean="0"/>
              <a:t>fprintf</a:t>
            </a:r>
            <a:r>
              <a:rPr lang="en-US" sz="1800" dirty="0" smtClean="0"/>
              <a:t>(</a:t>
            </a:r>
            <a:r>
              <a:rPr lang="en-US" sz="1800" dirty="0" err="1" smtClean="0"/>
              <a:t>stderr</a:t>
            </a:r>
            <a:r>
              <a:rPr lang="en-US" sz="1800" dirty="0" smtClean="0"/>
              <a:t>, “Error.”);</a:t>
            </a:r>
            <a:br>
              <a:rPr lang="en-US" sz="1800" dirty="0" smtClean="0"/>
            </a:br>
            <a:r>
              <a:rPr lang="en-US" sz="1800" dirty="0" smtClean="0"/>
              <a:t>else {</a:t>
            </a:r>
            <a:br>
              <a:rPr lang="en-US" sz="1800" dirty="0" smtClean="0"/>
            </a:br>
            <a:r>
              <a:rPr lang="en-US" sz="1800" dirty="0" smtClean="0"/>
              <a:t> 	  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 </a:t>
            </a:r>
            <a:r>
              <a:rPr lang="en-US" sz="1800" b="1" dirty="0" smtClean="0">
                <a:solidFill>
                  <a:srgbClr val="FFC000"/>
                </a:solidFill>
              </a:rPr>
              <a:t>a</a:t>
            </a:r>
            <a:r>
              <a:rPr lang="en-US" sz="1800" dirty="0" smtClean="0"/>
              <a:t> = 12;</a:t>
            </a:r>
            <a:br>
              <a:rPr lang="en-US" sz="1800" dirty="0" smtClean="0"/>
            </a:br>
            <a:r>
              <a:rPr lang="en-US" sz="1800" dirty="0" smtClean="0"/>
              <a:t>	  float   </a:t>
            </a:r>
            <a:r>
              <a:rPr lang="en-US" sz="1800" b="1" dirty="0" smtClean="0">
                <a:solidFill>
                  <a:srgbClr val="FFC000"/>
                </a:solidFill>
              </a:rPr>
              <a:t>b</a:t>
            </a:r>
            <a:r>
              <a:rPr lang="en-US" sz="1800" dirty="0" smtClean="0"/>
              <a:t> = 4.165;</a:t>
            </a:r>
            <a:br>
              <a:rPr lang="en-US" sz="1800" dirty="0" smtClean="0"/>
            </a:br>
            <a:r>
              <a:rPr lang="en-US" sz="1800" dirty="0" smtClean="0"/>
              <a:t>	  char   </a:t>
            </a:r>
            <a:r>
              <a:rPr lang="en-US" sz="1800" b="1" dirty="0" smtClean="0">
                <a:solidFill>
                  <a:srgbClr val="FFC000"/>
                </a:solidFill>
              </a:rPr>
              <a:t>c</a:t>
            </a:r>
            <a:r>
              <a:rPr lang="en-US" sz="1800" dirty="0" smtClean="0"/>
              <a:t> = ‘A’; 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fprintf</a:t>
            </a:r>
            <a:r>
              <a:rPr lang="en-US" sz="1800" b="1" dirty="0" smtClean="0">
                <a:solidFill>
                  <a:srgbClr val="FFC000"/>
                </a:solidFill>
              </a:rPr>
              <a:t>( </a:t>
            </a:r>
            <a:r>
              <a:rPr lang="en-US" sz="1800" dirty="0" smtClean="0"/>
              <a:t>f, “</a:t>
            </a:r>
            <a:r>
              <a:rPr lang="en-US" sz="1800" dirty="0" err="1" smtClean="0"/>
              <a:t>Gia</a:t>
            </a:r>
            <a:r>
              <a:rPr lang="en-US" sz="1800" dirty="0" smtClean="0"/>
              <a:t> tri = %d %f %c”, </a:t>
            </a:r>
            <a:r>
              <a:rPr lang="en-US" sz="1800" b="1" dirty="0" smtClean="0">
                <a:solidFill>
                  <a:srgbClr val="FFC000"/>
                </a:solidFill>
              </a:rPr>
              <a:t>a, b, c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fclose</a:t>
            </a:r>
            <a:r>
              <a:rPr lang="en-US" sz="1800" dirty="0" smtClean="0"/>
              <a:t>( f 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  <a:p>
            <a:pPr lvl="1"/>
            <a:r>
              <a:rPr lang="en-US" dirty="0" smtClean="0"/>
              <a:t>C++ syntax: &lt;stream&gt;</a:t>
            </a:r>
            <a:r>
              <a:rPr lang="en-US" b="1" dirty="0" smtClean="0">
                <a:solidFill>
                  <a:srgbClr val="FFC000"/>
                </a:solidFill>
              </a:rPr>
              <a:t> &lt;&lt; </a:t>
            </a:r>
            <a:r>
              <a:rPr lang="en-US" dirty="0" smtClean="0"/>
              <a:t>&lt;</a:t>
            </a:r>
            <a:r>
              <a:rPr lang="en-US" dirty="0" err="1" smtClean="0"/>
              <a:t>var</a:t>
            </a:r>
            <a:r>
              <a:rPr lang="en-US" dirty="0" smtClean="0"/>
              <a:t>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management:</a:t>
            </a:r>
          </a:p>
          <a:p>
            <a:pPr lvl="1"/>
            <a:r>
              <a:rPr lang="en-US" dirty="0" smtClean="0"/>
              <a:t>Delete file:</a:t>
            </a:r>
          </a:p>
          <a:p>
            <a:pPr lvl="2"/>
            <a:r>
              <a:rPr lang="en-US" dirty="0" smtClean="0"/>
              <a:t>Syntax: </a:t>
            </a:r>
            <a:r>
              <a:rPr lang="en-US" b="1" dirty="0" smtClean="0">
                <a:solidFill>
                  <a:srgbClr val="FFC000"/>
                </a:solidFill>
              </a:rPr>
              <a:t>remove(</a:t>
            </a:r>
            <a:r>
              <a:rPr lang="en-US" dirty="0" smtClean="0"/>
              <a:t>“&lt;file path&gt;”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Return: 0 (succeeded), -1 (error).</a:t>
            </a:r>
          </a:p>
          <a:p>
            <a:pPr lvl="2"/>
            <a:r>
              <a:rPr lang="en-US" dirty="0" smtClean="0"/>
              <a:t>Do not need file stream.</a:t>
            </a:r>
          </a:p>
          <a:p>
            <a:pPr lvl="3">
              <a:buNone/>
            </a:pPr>
            <a:r>
              <a:rPr lang="en-US" sz="1800" dirty="0" smtClean="0"/>
              <a:t>	</a:t>
            </a:r>
            <a:br>
              <a:rPr lang="en-US" sz="1800" dirty="0" smtClean="0"/>
            </a:br>
            <a:r>
              <a:rPr lang="en-US" sz="1800" dirty="0" smtClean="0"/>
              <a:t>if (</a:t>
            </a:r>
            <a:r>
              <a:rPr lang="en-US" sz="1800" b="1" dirty="0" smtClean="0">
                <a:solidFill>
                  <a:srgbClr val="FFC000"/>
                </a:solidFill>
              </a:rPr>
              <a:t>remove(</a:t>
            </a:r>
            <a:r>
              <a:rPr lang="en-US" sz="1800" dirty="0" smtClean="0"/>
              <a:t>“C:\\test.txt”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 == </a:t>
            </a:r>
            <a:r>
              <a:rPr lang="en-US" sz="1800" b="1" dirty="0" smtClean="0">
                <a:solidFill>
                  <a:srgbClr val="FFC000"/>
                </a:solidFill>
              </a:rPr>
              <a:t>0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dirty="0" smtClean="0"/>
              <a:t>	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(“File deleted.\n”);</a:t>
            </a:r>
            <a:br>
              <a:rPr lang="en-US" sz="1800" dirty="0" smtClean="0"/>
            </a:br>
            <a:r>
              <a:rPr lang="en-US" sz="1800" dirty="0" smtClean="0"/>
              <a:t>else</a:t>
            </a:r>
            <a:br>
              <a:rPr lang="en-US" sz="1800" dirty="0" smtClean="0"/>
            </a:br>
            <a:r>
              <a:rPr lang="en-US" sz="1800" dirty="0" smtClean="0"/>
              <a:t>	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(“Error: cannot delete file.\n”);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management:</a:t>
            </a:r>
          </a:p>
          <a:p>
            <a:pPr lvl="1"/>
            <a:r>
              <a:rPr lang="en-US" dirty="0" smtClean="0"/>
              <a:t>Rename/move file:</a:t>
            </a:r>
          </a:p>
          <a:p>
            <a:pPr lvl="2"/>
            <a:r>
              <a:rPr lang="en-US" dirty="0" smtClean="0"/>
              <a:t>Syntax: </a:t>
            </a:r>
            <a:r>
              <a:rPr lang="en-US" b="1" dirty="0" smtClean="0">
                <a:solidFill>
                  <a:srgbClr val="FFC000"/>
                </a:solidFill>
              </a:rPr>
              <a:t>rename(</a:t>
            </a:r>
            <a:r>
              <a:rPr lang="en-US" dirty="0" smtClean="0"/>
              <a:t>“&lt;file path&gt;”, “&lt;new file path&gt;”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Return: 0 (succeeded), -1 (error).</a:t>
            </a:r>
          </a:p>
          <a:p>
            <a:pPr lvl="2"/>
            <a:r>
              <a:rPr lang="en-US" dirty="0" smtClean="0"/>
              <a:t>Both path must be in the same drive.</a:t>
            </a:r>
          </a:p>
          <a:p>
            <a:pPr lvl="2"/>
            <a:r>
              <a:rPr lang="en-US" dirty="0" smtClean="0"/>
              <a:t>Do not need file stream.</a:t>
            </a:r>
          </a:p>
          <a:p>
            <a:pPr lvl="3"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if (</a:t>
            </a:r>
            <a:r>
              <a:rPr lang="en-US" sz="1800" b="1" dirty="0" smtClean="0">
                <a:solidFill>
                  <a:srgbClr val="FFC000"/>
                </a:solidFill>
              </a:rPr>
              <a:t>rename(</a:t>
            </a:r>
            <a:r>
              <a:rPr lang="en-US" sz="1800" dirty="0" smtClean="0"/>
              <a:t>“C:/test.txt”, “C:/folder\\test2.txt”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 == </a:t>
            </a:r>
            <a:r>
              <a:rPr lang="en-US" sz="1800" b="1" dirty="0" smtClean="0">
                <a:solidFill>
                  <a:srgbClr val="FFC000"/>
                </a:solidFill>
              </a:rPr>
              <a:t>0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dirty="0" smtClean="0"/>
              <a:t>	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(“Succeeded.\n”);</a:t>
            </a:r>
            <a:br>
              <a:rPr lang="en-US" sz="1800" dirty="0" smtClean="0"/>
            </a:br>
            <a:r>
              <a:rPr lang="en-US" sz="1800" dirty="0" smtClean="0"/>
              <a:t>else</a:t>
            </a:r>
            <a:br>
              <a:rPr lang="en-US" sz="1800" dirty="0" smtClean="0"/>
            </a:br>
            <a:r>
              <a:rPr lang="en-US" sz="1800" dirty="0" smtClean="0"/>
              <a:t>	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(“Error.\n”);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String:</a:t>
            </a:r>
          </a:p>
          <a:p>
            <a:pPr lvl="1"/>
            <a:r>
              <a:rPr lang="en-US" dirty="0" smtClean="0"/>
              <a:t>C string: </a:t>
            </a:r>
          </a:p>
          <a:p>
            <a:pPr lvl="2"/>
            <a:r>
              <a:rPr lang="en-US" dirty="0" smtClean="0"/>
              <a:t>Array of chars + ‘\0’ at the end.</a:t>
            </a:r>
          </a:p>
          <a:p>
            <a:pPr lvl="2"/>
            <a:r>
              <a:rPr lang="en-US" dirty="0" smtClean="0"/>
              <a:t>Null terminated string.</a:t>
            </a:r>
          </a:p>
          <a:p>
            <a:pPr lvl="1"/>
            <a:r>
              <a:rPr lang="en-US" dirty="0" smtClean="0"/>
              <a:t>C++ string (std::string):</a:t>
            </a:r>
          </a:p>
          <a:p>
            <a:pPr lvl="2"/>
            <a:r>
              <a:rPr lang="en-US" dirty="0" smtClean="0"/>
              <a:t>A data type in library &lt;string&gt;.</a:t>
            </a:r>
          </a:p>
          <a:p>
            <a:pPr lvl="2"/>
            <a:r>
              <a:rPr lang="en-US" dirty="0" smtClean="0"/>
              <a:t>Dynamic string.</a:t>
            </a:r>
          </a:p>
          <a:p>
            <a:pPr lvl="1"/>
            <a:r>
              <a:rPr lang="en-US" dirty="0" smtClean="0"/>
              <a:t>Input/output:</a:t>
            </a:r>
          </a:p>
          <a:p>
            <a:pPr lvl="2"/>
            <a:r>
              <a:rPr lang="en-US" dirty="0" smtClean="0"/>
              <a:t>C string: </a:t>
            </a:r>
            <a:r>
              <a:rPr lang="en-US" dirty="0" err="1" smtClean="0"/>
              <a:t>fgets</a:t>
            </a:r>
            <a:r>
              <a:rPr lang="en-US" dirty="0" smtClean="0"/>
              <a:t>, std::</a:t>
            </a:r>
            <a:r>
              <a:rPr lang="en-US" dirty="0" err="1" smtClean="0"/>
              <a:t>cin.getline</a:t>
            </a:r>
            <a:r>
              <a:rPr lang="en-US" dirty="0" smtClean="0"/>
              <a:t>, </a:t>
            </a:r>
            <a:r>
              <a:rPr lang="en-US" dirty="0" err="1" smtClean="0"/>
              <a:t>printf</a:t>
            </a:r>
            <a:r>
              <a:rPr lang="en-US" dirty="0" smtClean="0"/>
              <a:t>, std::</a:t>
            </a:r>
            <a:r>
              <a:rPr lang="en-US" dirty="0" err="1" smtClean="0"/>
              <a:t>cout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std::string: std::</a:t>
            </a:r>
            <a:r>
              <a:rPr lang="en-US" dirty="0" err="1" smtClean="0"/>
              <a:t>getline</a:t>
            </a:r>
            <a:r>
              <a:rPr lang="en-US" dirty="0" smtClean="0"/>
              <a:t>, std::</a:t>
            </a:r>
            <a:r>
              <a:rPr lang="en-US" dirty="0" err="1" smtClean="0"/>
              <a:t>cout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&lt;</a:t>
            </a:r>
            <a:r>
              <a:rPr lang="en-US" dirty="0" err="1" smtClean="0"/>
              <a:t>ctype.h</a:t>
            </a:r>
            <a:r>
              <a:rPr lang="en-US" dirty="0" smtClean="0"/>
              <a:t>&gt;: support checking 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Text file:</a:t>
            </a:r>
          </a:p>
          <a:p>
            <a:pPr lvl="1"/>
            <a:r>
              <a:rPr lang="en-US" dirty="0" smtClean="0"/>
              <a:t>File stream: connection between program and file.</a:t>
            </a:r>
          </a:p>
          <a:p>
            <a:pPr lvl="1"/>
            <a:r>
              <a:rPr lang="en-US" dirty="0" smtClean="0"/>
              <a:t>C file stream: FILE * (&lt;</a:t>
            </a:r>
            <a:r>
              <a:rPr lang="en-US" dirty="0" err="1" smtClean="0"/>
              <a:t>stdio.h</a:t>
            </a:r>
            <a:r>
              <a:rPr lang="en-US" dirty="0" smtClean="0"/>
              <a:t>&gt;).</a:t>
            </a:r>
          </a:p>
          <a:p>
            <a:pPr lvl="2"/>
            <a:r>
              <a:rPr lang="en-US" dirty="0" smtClean="0"/>
              <a:t>Open/close: </a:t>
            </a:r>
            <a:r>
              <a:rPr lang="en-US" dirty="0" err="1" smtClean="0"/>
              <a:t>fopen</a:t>
            </a:r>
            <a:r>
              <a:rPr lang="en-US" dirty="0" smtClean="0"/>
              <a:t>, </a:t>
            </a:r>
            <a:r>
              <a:rPr lang="en-US" dirty="0" err="1" smtClean="0"/>
              <a:t>fclose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Read/write: </a:t>
            </a:r>
            <a:r>
              <a:rPr lang="en-US" dirty="0" err="1" smtClean="0"/>
              <a:t>fscanf</a:t>
            </a:r>
            <a:r>
              <a:rPr lang="en-US" dirty="0" smtClean="0"/>
              <a:t>, </a:t>
            </a:r>
            <a:r>
              <a:rPr lang="en-US" dirty="0" err="1" smtClean="0"/>
              <a:t>fprintf</a:t>
            </a:r>
            <a:r>
              <a:rPr lang="en-US" dirty="0" smtClean="0"/>
              <a:t>, </a:t>
            </a:r>
            <a:r>
              <a:rPr lang="en-US" dirty="0" err="1" smtClean="0"/>
              <a:t>fgets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C++ file stream: std::</a:t>
            </a:r>
            <a:r>
              <a:rPr lang="en-US" dirty="0" err="1" smtClean="0"/>
              <a:t>fstream</a:t>
            </a:r>
            <a:r>
              <a:rPr lang="en-US" dirty="0" smtClean="0"/>
              <a:t> (&lt;</a:t>
            </a:r>
            <a:r>
              <a:rPr lang="en-US" dirty="0" err="1" smtClean="0"/>
              <a:t>fstream</a:t>
            </a:r>
            <a:r>
              <a:rPr lang="en-US" dirty="0" smtClean="0"/>
              <a:t>&gt;).</a:t>
            </a:r>
          </a:p>
          <a:p>
            <a:pPr lvl="2"/>
            <a:r>
              <a:rPr lang="en-US" dirty="0" smtClean="0"/>
              <a:t>Open/close: &lt;stream&gt;(), &lt;stream&gt;.close.</a:t>
            </a:r>
          </a:p>
          <a:p>
            <a:pPr lvl="2"/>
            <a:r>
              <a:rPr lang="en-US" dirty="0" smtClean="0"/>
              <a:t>Read/write: &lt;stream&gt; &gt;&gt;, &lt;&lt;, &lt;stream&gt;.</a:t>
            </a:r>
            <a:r>
              <a:rPr lang="en-US" dirty="0" err="1" smtClean="0"/>
              <a:t>getline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Text file:</a:t>
            </a:r>
          </a:p>
          <a:p>
            <a:pPr lvl="1"/>
            <a:r>
              <a:rPr lang="en-US" dirty="0" smtClean="0"/>
              <a:t>File stream: connection between program and file.</a:t>
            </a:r>
          </a:p>
          <a:p>
            <a:pPr lvl="1"/>
            <a:r>
              <a:rPr lang="en-US" dirty="0" smtClean="0"/>
              <a:t>C file stream: FILE * (&lt;</a:t>
            </a:r>
            <a:r>
              <a:rPr lang="en-US" dirty="0" err="1" smtClean="0"/>
              <a:t>stdio.h</a:t>
            </a:r>
            <a:r>
              <a:rPr lang="en-US" dirty="0" smtClean="0"/>
              <a:t>&gt;).</a:t>
            </a:r>
          </a:p>
          <a:p>
            <a:pPr lvl="2"/>
            <a:r>
              <a:rPr lang="en-US" dirty="0" smtClean="0"/>
              <a:t>Open/close: </a:t>
            </a:r>
            <a:r>
              <a:rPr lang="en-US" dirty="0" err="1" smtClean="0"/>
              <a:t>fopen</a:t>
            </a:r>
            <a:r>
              <a:rPr lang="en-US" dirty="0" smtClean="0"/>
              <a:t>, </a:t>
            </a:r>
            <a:r>
              <a:rPr lang="en-US" dirty="0" err="1" smtClean="0"/>
              <a:t>fclose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Read/write: </a:t>
            </a:r>
            <a:r>
              <a:rPr lang="en-US" dirty="0" err="1" smtClean="0"/>
              <a:t>fscanf</a:t>
            </a:r>
            <a:r>
              <a:rPr lang="en-US" dirty="0" smtClean="0"/>
              <a:t>, </a:t>
            </a:r>
            <a:r>
              <a:rPr lang="en-US" dirty="0" err="1" smtClean="0"/>
              <a:t>fprintf</a:t>
            </a:r>
            <a:r>
              <a:rPr lang="en-US" dirty="0" smtClean="0"/>
              <a:t>, </a:t>
            </a:r>
            <a:r>
              <a:rPr lang="en-US" dirty="0" err="1" smtClean="0"/>
              <a:t>fgets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C++ file stream: std::</a:t>
            </a:r>
            <a:r>
              <a:rPr lang="en-US" dirty="0" err="1" smtClean="0"/>
              <a:t>fstream</a:t>
            </a:r>
            <a:r>
              <a:rPr lang="en-US" dirty="0" smtClean="0"/>
              <a:t> (&lt;</a:t>
            </a:r>
            <a:r>
              <a:rPr lang="en-US" dirty="0" err="1" smtClean="0"/>
              <a:t>fstream</a:t>
            </a:r>
            <a:r>
              <a:rPr lang="en-US" dirty="0" smtClean="0"/>
              <a:t>&gt;).</a:t>
            </a:r>
          </a:p>
          <a:p>
            <a:pPr lvl="2"/>
            <a:r>
              <a:rPr lang="en-US" dirty="0" smtClean="0"/>
              <a:t>Open/close: &lt;stream&gt;(), &lt;stream&gt;.close.</a:t>
            </a:r>
          </a:p>
          <a:p>
            <a:pPr lvl="2"/>
            <a:r>
              <a:rPr lang="en-US" dirty="0" smtClean="0"/>
              <a:t>Read/write: &lt;stream&gt; &gt;&gt;, &lt;&lt;, &lt;stream&gt;.</a:t>
            </a:r>
            <a:r>
              <a:rPr lang="en-US" dirty="0" err="1" smtClean="0"/>
              <a:t>getline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6</a:t>
            </a:r>
            <a:r>
              <a:rPr lang="en-US" dirty="0" smtClean="0"/>
              <a:t>.1: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trim spaces: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a sentence of words.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Delete leading spaces at the beginning </a:t>
            </a:r>
            <a:r>
              <a:rPr lang="en-US" sz="2000" dirty="0" smtClean="0"/>
              <a:t>(trim left).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Delete trailing spaces at the end </a:t>
            </a:r>
            <a:r>
              <a:rPr lang="en-US" sz="2000" dirty="0" smtClean="0"/>
              <a:t>(trim right).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Delete duplicate spaces </a:t>
            </a:r>
            <a:r>
              <a:rPr lang="en-US" sz="2000" dirty="0" smtClean="0"/>
              <a:t>between words</a:t>
            </a:r>
            <a:r>
              <a:rPr lang="en-US" sz="2000" dirty="0" smtClean="0"/>
              <a:t> (keep one space).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Enter a sentence = “     today   is a   beautiful day   ”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“today is a beautiful day”</a:t>
            </a:r>
            <a:endParaRPr lang="en-US" sz="2000" i="1" dirty="0" smtClean="0"/>
          </a:p>
          <a:p>
            <a:pPr>
              <a:buNone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6</a:t>
            </a:r>
            <a:r>
              <a:rPr lang="en-US" dirty="0" smtClean="0"/>
              <a:t>.2: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as follow: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a string S.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Count frequencies of each character in S.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Print the frequencies in descending order.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S </a:t>
            </a:r>
            <a:r>
              <a:rPr lang="en-US" sz="2000" i="1" dirty="0" smtClean="0"/>
              <a:t>= tick </a:t>
            </a:r>
            <a:r>
              <a:rPr lang="en-US" sz="2000" i="1" dirty="0" err="1" smtClean="0"/>
              <a:t>tak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tok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3: k t</a:t>
            </a:r>
          </a:p>
          <a:p>
            <a:pPr>
              <a:buNone/>
            </a:pPr>
            <a:r>
              <a:rPr lang="en-US" sz="2000" i="1" dirty="0" smtClean="0"/>
              <a:t>		1: a c </a:t>
            </a:r>
            <a:r>
              <a:rPr lang="en-US" sz="2000" i="1" dirty="0" err="1" smtClean="0"/>
              <a:t>i</a:t>
            </a:r>
            <a:r>
              <a:rPr lang="en-US" sz="2000" i="1" dirty="0" smtClean="0"/>
              <a:t> 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6.3: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File MATRIX.TXT stores a matrix of M x N integers:</a:t>
            </a:r>
          </a:p>
          <a:p>
            <a:pPr>
              <a:buNone/>
            </a:pPr>
            <a:r>
              <a:rPr lang="en-US" sz="2000" dirty="0" smtClean="0"/>
              <a:t>		- First line: M N (integers, rows and columns).</a:t>
            </a:r>
          </a:p>
          <a:p>
            <a:pPr>
              <a:buNone/>
            </a:pPr>
            <a:r>
              <a:rPr lang="en-US" sz="2000" dirty="0" smtClean="0"/>
              <a:t>		- Next M lines, line </a:t>
            </a:r>
            <a:r>
              <a:rPr lang="en-US" sz="2000" dirty="0" err="1" smtClean="0"/>
              <a:t>i</a:t>
            </a:r>
            <a:r>
              <a:rPr lang="en-US" sz="2000" dirty="0" smtClean="0"/>
              <a:t> stores N elements at row </a:t>
            </a:r>
            <a:r>
              <a:rPr lang="en-US" sz="2000" dirty="0" err="1" smtClean="0"/>
              <a:t>i</a:t>
            </a:r>
            <a:r>
              <a:rPr lang="en-US" sz="2000" dirty="0" smtClean="0"/>
              <a:t> of matrix.</a:t>
            </a:r>
          </a:p>
          <a:p>
            <a:pPr>
              <a:buNone/>
            </a:pPr>
            <a:r>
              <a:rPr lang="en-US" sz="2000" dirty="0" smtClean="0"/>
              <a:t>	Write C/C++ program to:</a:t>
            </a:r>
          </a:p>
          <a:p>
            <a:pPr>
              <a:buNone/>
            </a:pPr>
            <a:r>
              <a:rPr lang="en-US" sz="2000" dirty="0" smtClean="0"/>
              <a:t>		- Read matrix from MATRIX.TXT.</a:t>
            </a:r>
          </a:p>
          <a:p>
            <a:pPr>
              <a:buNone/>
            </a:pPr>
            <a:r>
              <a:rPr lang="en-US" sz="2000" dirty="0" smtClean="0"/>
              <a:t>		- Rotate left the matrix.</a:t>
            </a:r>
          </a:p>
          <a:p>
            <a:pPr>
              <a:buNone/>
            </a:pPr>
            <a:r>
              <a:rPr lang="en-US" sz="2000" dirty="0" smtClean="0"/>
              <a:t>		- Write the result to OUTPUT.TXT (same format as MATRIX.TXT).</a:t>
            </a:r>
          </a:p>
          <a:p>
            <a:pPr>
              <a:buNone/>
            </a:pPr>
            <a:r>
              <a:rPr lang="en-US" sz="2000" dirty="0" smtClean="0"/>
              <a:t>	MATRIX.TXT		OUTPUT.TXT</a:t>
            </a:r>
          </a:p>
          <a:p>
            <a:pPr>
              <a:buNone/>
            </a:pPr>
            <a:r>
              <a:rPr lang="en-US" sz="2000" dirty="0" smtClean="0"/>
              <a:t>	2 3				3 2</a:t>
            </a:r>
          </a:p>
          <a:p>
            <a:pPr>
              <a:buNone/>
            </a:pPr>
            <a:r>
              <a:rPr lang="en-US" sz="2000" dirty="0" smtClean="0"/>
              <a:t>	1 2 3				3 6</a:t>
            </a:r>
          </a:p>
          <a:p>
            <a:pPr>
              <a:buNone/>
            </a:pPr>
            <a:r>
              <a:rPr lang="en-US" sz="2000" dirty="0" smtClean="0"/>
              <a:t>	4 5 6				2 5</a:t>
            </a:r>
          </a:p>
          <a:p>
            <a:pPr>
              <a:buNone/>
            </a:pPr>
            <a:r>
              <a:rPr lang="en-US" sz="2000" dirty="0" smtClean="0"/>
              <a:t>					1 4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6.4: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File NUMBER.TXT stores sequence of integers separated by space.</a:t>
            </a:r>
          </a:p>
          <a:p>
            <a:pPr>
              <a:buNone/>
            </a:pPr>
            <a:r>
              <a:rPr lang="en-US" sz="2000" dirty="0" smtClean="0"/>
              <a:t>	Write C/C++ program as follow:</a:t>
            </a:r>
          </a:p>
          <a:p>
            <a:pPr>
              <a:buNone/>
            </a:pPr>
            <a:r>
              <a:rPr lang="en-US" sz="2000" dirty="0" smtClean="0"/>
              <a:t>		- Read sequence of integers from NUMBER.TXT.</a:t>
            </a:r>
          </a:p>
          <a:p>
            <a:pPr>
              <a:buNone/>
            </a:pPr>
            <a:r>
              <a:rPr lang="en-US" sz="2000" dirty="0" smtClean="0"/>
              <a:t>		- Extract prime numbers from the sequence.</a:t>
            </a:r>
          </a:p>
          <a:p>
            <a:pPr>
              <a:buNone/>
            </a:pPr>
            <a:r>
              <a:rPr lang="en-US" sz="2000" dirty="0" smtClean="0"/>
              <a:t>		- Write result to PRIME.TXT (same format as NUMBER.TXT).</a:t>
            </a:r>
          </a:p>
          <a:p>
            <a:pPr>
              <a:buNone/>
            </a:pPr>
            <a:r>
              <a:rPr lang="en-US" sz="2000" dirty="0" smtClean="0"/>
              <a:t>	NUMBER.TXT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	5 1 2 9 46 23 11 39 43 117 20</a:t>
            </a:r>
          </a:p>
          <a:p>
            <a:pPr>
              <a:buNone/>
            </a:pPr>
            <a:r>
              <a:rPr lang="en-US" sz="2000" dirty="0" smtClean="0"/>
              <a:t>	</a:t>
            </a:r>
          </a:p>
          <a:p>
            <a:pPr>
              <a:buNone/>
            </a:pPr>
            <a:r>
              <a:rPr lang="en-US" sz="2000" dirty="0" smtClean="0"/>
              <a:t>	PRIME.TXT</a:t>
            </a:r>
            <a:br>
              <a:rPr lang="en-US" sz="2000" dirty="0" smtClean="0"/>
            </a:br>
            <a:r>
              <a:rPr lang="en-US" sz="2000" dirty="0" smtClean="0"/>
              <a:t>	5 2 23 43 117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6.5: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File OPERATION.TXT stores a list of arithmetic operations, each operation is on a line containing an operator (character +, -, *, /)  in between two operands (integers).</a:t>
            </a:r>
          </a:p>
          <a:p>
            <a:pPr>
              <a:buNone/>
            </a:pPr>
            <a:r>
              <a:rPr lang="en-US" sz="2000" dirty="0" smtClean="0"/>
              <a:t> 	Write C/C++ program as follow:</a:t>
            </a:r>
          </a:p>
          <a:p>
            <a:pPr>
              <a:buNone/>
            </a:pPr>
            <a:r>
              <a:rPr lang="en-US" sz="2000" dirty="0" smtClean="0"/>
              <a:t>		- Read list of operations from OPERATION.TXT.</a:t>
            </a:r>
          </a:p>
          <a:p>
            <a:pPr>
              <a:buNone/>
            </a:pPr>
            <a:r>
              <a:rPr lang="en-US" sz="2000" dirty="0" smtClean="0"/>
              <a:t>		- Compute the result of each operation.</a:t>
            </a:r>
          </a:p>
          <a:p>
            <a:pPr>
              <a:buNone/>
            </a:pPr>
            <a:r>
              <a:rPr lang="en-US" sz="2000" dirty="0" smtClean="0"/>
              <a:t>		- Write operation results to RESULT.TXT.</a:t>
            </a:r>
          </a:p>
          <a:p>
            <a:pPr>
              <a:buNone/>
            </a:pPr>
            <a:r>
              <a:rPr lang="en-US" sz="2000" dirty="0" smtClean="0"/>
              <a:t>	OPERATION.TXT		RESULT.TXT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12 + 5			17</a:t>
            </a:r>
          </a:p>
          <a:p>
            <a:pPr>
              <a:buNone/>
            </a:pPr>
            <a:r>
              <a:rPr lang="en-US" sz="2000" dirty="0" smtClean="0"/>
              <a:t>	2 * 31			62</a:t>
            </a:r>
          </a:p>
          <a:p>
            <a:pPr>
              <a:buNone/>
            </a:pPr>
            <a:r>
              <a:rPr lang="en-US" sz="2000" dirty="0" smtClean="0"/>
              <a:t>	3 / 0				Divided by zero</a:t>
            </a:r>
          </a:p>
          <a:p>
            <a:pPr>
              <a:buNone/>
            </a:pPr>
            <a:r>
              <a:rPr lang="en-US" sz="2000" dirty="0" smtClean="0"/>
              <a:t>	60 / 2			30</a:t>
            </a:r>
          </a:p>
          <a:p>
            <a:pPr>
              <a:buNone/>
            </a:pPr>
            <a:r>
              <a:rPr lang="en-US" sz="2000" dirty="0" smtClean="0"/>
              <a:t>	7 – 20			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6.6: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File STUDENT.TXT stores a list of students, each student is on 2 lines: 	- First line format: student </a:t>
            </a:r>
            <a:r>
              <a:rPr lang="en-US" sz="2000" dirty="0" err="1" smtClean="0"/>
              <a:t>name|student</a:t>
            </a:r>
            <a:r>
              <a:rPr lang="en-US" sz="2000" dirty="0" smtClean="0"/>
              <a:t> id.</a:t>
            </a:r>
          </a:p>
          <a:p>
            <a:pPr>
              <a:buNone/>
            </a:pPr>
            <a:r>
              <a:rPr lang="en-US" sz="2000" dirty="0" smtClean="0"/>
              <a:t>		- Second line format: student points (floats) separated by spaces.</a:t>
            </a:r>
          </a:p>
          <a:p>
            <a:pPr>
              <a:buNone/>
            </a:pPr>
            <a:r>
              <a:rPr lang="en-US" sz="2000" dirty="0" smtClean="0"/>
              <a:t>	Write C/C++ program as follow:</a:t>
            </a:r>
          </a:p>
          <a:p>
            <a:pPr>
              <a:buNone/>
            </a:pPr>
            <a:r>
              <a:rPr lang="en-US" sz="2000" dirty="0" smtClean="0"/>
              <a:t>		- Read student list from STUDENT.TXT.</a:t>
            </a:r>
          </a:p>
          <a:p>
            <a:pPr>
              <a:buNone/>
            </a:pPr>
            <a:r>
              <a:rPr lang="en-US" sz="2000" dirty="0" smtClean="0"/>
              <a:t>		- For each student, capitalize student name and compute GPA.</a:t>
            </a:r>
          </a:p>
          <a:p>
            <a:pPr>
              <a:buNone/>
            </a:pPr>
            <a:r>
              <a:rPr lang="en-US" sz="2000" dirty="0" smtClean="0"/>
              <a:t>		- Write the result to GPA.TXT in descending order of GPA.</a:t>
            </a:r>
          </a:p>
          <a:p>
            <a:pPr>
              <a:buNone/>
            </a:pPr>
            <a:r>
              <a:rPr lang="en-US" sz="2000" dirty="0" smtClean="0"/>
              <a:t>STUDENT.TXT		      GPA.TXT</a:t>
            </a:r>
          </a:p>
          <a:p>
            <a:pPr>
              <a:buNone/>
            </a:pPr>
            <a:r>
              <a:rPr lang="en-US" sz="2000" dirty="0" err="1" smtClean="0"/>
              <a:t>nguyen</a:t>
            </a:r>
            <a:r>
              <a:rPr lang="en-US" sz="2000" dirty="0" smtClean="0"/>
              <a:t> van a|24127001	      24127002|Tran </a:t>
            </a:r>
            <a:r>
              <a:rPr lang="en-US" sz="2000" dirty="0" err="1" smtClean="0"/>
              <a:t>Thi</a:t>
            </a:r>
            <a:r>
              <a:rPr lang="en-US" sz="2000" dirty="0" smtClean="0"/>
              <a:t> B|7.6</a:t>
            </a:r>
          </a:p>
          <a:p>
            <a:pPr>
              <a:buNone/>
            </a:pPr>
            <a:r>
              <a:rPr lang="en-US" sz="2000" dirty="0" smtClean="0"/>
              <a:t>8.5  6.0  7.5		      24127001|Nguyen Van A|7.3</a:t>
            </a:r>
          </a:p>
          <a:p>
            <a:pPr>
              <a:buNone/>
            </a:pPr>
            <a:r>
              <a:rPr lang="en-US" sz="2000" dirty="0" err="1" smtClean="0"/>
              <a:t>tran</a:t>
            </a:r>
            <a:r>
              <a:rPr lang="en-US" sz="2000" dirty="0" smtClean="0"/>
              <a:t> </a:t>
            </a:r>
            <a:r>
              <a:rPr lang="en-US" sz="2000" dirty="0" err="1" smtClean="0"/>
              <a:t>thi</a:t>
            </a:r>
            <a:r>
              <a:rPr lang="en-US" sz="2000" dirty="0" smtClean="0"/>
              <a:t> b|24127002</a:t>
            </a:r>
          </a:p>
          <a:p>
            <a:pPr>
              <a:buNone/>
            </a:pPr>
            <a:r>
              <a:rPr lang="en-US" sz="2000" dirty="0" smtClean="0"/>
              <a:t>9.0  8.0  6.5  7.5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6.7: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Write C/C++ program to count words and numbers:</a:t>
            </a:r>
          </a:p>
          <a:p>
            <a:pPr>
              <a:buNone/>
            </a:pPr>
            <a:r>
              <a:rPr lang="en-US" sz="2000" dirty="0" smtClean="0"/>
              <a:t>		- Read from a text file INPUT.TXT.</a:t>
            </a:r>
          </a:p>
          <a:p>
            <a:pPr>
              <a:buNone/>
            </a:pPr>
            <a:r>
              <a:rPr lang="en-US" sz="2000" dirty="0" smtClean="0"/>
              <a:t>		- Count and print the number of words and numbers in the file.</a:t>
            </a:r>
          </a:p>
          <a:p>
            <a:pPr>
              <a:buNone/>
            </a:pPr>
            <a:r>
              <a:rPr lang="en-US" sz="2000" dirty="0" smtClean="0"/>
              <a:t>	Notes:</a:t>
            </a:r>
          </a:p>
          <a:p>
            <a:pPr>
              <a:buNone/>
            </a:pPr>
            <a:r>
              <a:rPr lang="en-US" sz="2000" dirty="0" smtClean="0"/>
              <a:t>		- A word is a sequence of alphabets.</a:t>
            </a:r>
          </a:p>
          <a:p>
            <a:pPr>
              <a:buNone/>
            </a:pPr>
            <a:r>
              <a:rPr lang="en-US" sz="2000" dirty="0" smtClean="0"/>
              <a:t>		- A number is a sequence of digits.</a:t>
            </a:r>
          </a:p>
          <a:p>
            <a:pPr>
              <a:buNone/>
            </a:pPr>
            <a:r>
              <a:rPr lang="en-US" sz="2000" dirty="0" smtClean="0"/>
              <a:t>	INPUT.TXT</a:t>
            </a:r>
          </a:p>
          <a:p>
            <a:pPr>
              <a:buNone/>
            </a:pPr>
            <a:r>
              <a:rPr lang="en-US" sz="2000" dirty="0" smtClean="0"/>
              <a:t>		-----The, quick ##123 fox,,, 456!!!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Screen output:</a:t>
            </a:r>
          </a:p>
          <a:p>
            <a:pPr>
              <a:buNone/>
            </a:pPr>
            <a:r>
              <a:rPr lang="en-US" sz="2000" dirty="0" smtClean="0"/>
              <a:t>		Word count: 3.</a:t>
            </a:r>
          </a:p>
          <a:p>
            <a:pPr>
              <a:buNone/>
            </a:pPr>
            <a:r>
              <a:rPr lang="en-US" sz="2000" dirty="0" smtClean="0"/>
              <a:t>		Number count: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24348</TotalTime>
  <Words>1114</Words>
  <Application>Microsoft Office PowerPoint</Application>
  <PresentationFormat>On-screen Show (4:3)</PresentationFormat>
  <Paragraphs>327</Paragraphs>
  <Slides>26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Stream</vt:lpstr>
      <vt:lpstr>String and Text File</vt:lpstr>
      <vt:lpstr>Contents</vt:lpstr>
      <vt:lpstr>String</vt:lpstr>
      <vt:lpstr>String</vt:lpstr>
      <vt:lpstr>String</vt:lpstr>
      <vt:lpstr>String</vt:lpstr>
      <vt:lpstr>Contents</vt:lpstr>
      <vt:lpstr>Text file</vt:lpstr>
      <vt:lpstr>Text file</vt:lpstr>
      <vt:lpstr>Text file</vt:lpstr>
      <vt:lpstr>Text file</vt:lpstr>
      <vt:lpstr>Text file</vt:lpstr>
      <vt:lpstr>Text file</vt:lpstr>
      <vt:lpstr>Text file</vt:lpstr>
      <vt:lpstr>Text file</vt:lpstr>
      <vt:lpstr>Text file</vt:lpstr>
      <vt:lpstr>Summary</vt:lpstr>
      <vt:lpstr>Summary</vt:lpstr>
      <vt:lpstr>Summary</vt:lpstr>
      <vt:lpstr>Practice</vt:lpstr>
      <vt:lpstr>Practice</vt:lpstr>
      <vt:lpstr>Practice</vt:lpstr>
      <vt:lpstr>Practice</vt:lpstr>
      <vt:lpstr>Practice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1193</cp:revision>
  <dcterms:created xsi:type="dcterms:W3CDTF">2005-11-21T10:16:26Z</dcterms:created>
  <dcterms:modified xsi:type="dcterms:W3CDTF">2024-09-06T06:58:50Z</dcterms:modified>
</cp:coreProperties>
</file>