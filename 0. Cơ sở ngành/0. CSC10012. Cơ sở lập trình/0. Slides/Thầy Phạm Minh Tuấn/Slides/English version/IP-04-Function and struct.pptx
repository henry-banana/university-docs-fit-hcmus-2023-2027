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3" r:id="rId1"/>
  </p:sldMasterIdLst>
  <p:notesMasterIdLst>
    <p:notesMasterId r:id="rId40"/>
  </p:notesMasterIdLst>
  <p:handoutMasterIdLst>
    <p:handoutMasterId r:id="rId41"/>
  </p:handoutMasterIdLst>
  <p:sldIdLst>
    <p:sldId id="256" r:id="rId2"/>
    <p:sldId id="257" r:id="rId3"/>
    <p:sldId id="260" r:id="rId4"/>
    <p:sldId id="262" r:id="rId5"/>
    <p:sldId id="263" r:id="rId6"/>
    <p:sldId id="264" r:id="rId7"/>
    <p:sldId id="265" r:id="rId8"/>
    <p:sldId id="267" r:id="rId9"/>
    <p:sldId id="268" r:id="rId10"/>
    <p:sldId id="269" r:id="rId11"/>
    <p:sldId id="270" r:id="rId12"/>
    <p:sldId id="271" r:id="rId13"/>
    <p:sldId id="287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8" r:id="rId22"/>
    <p:sldId id="280" r:id="rId23"/>
    <p:sldId id="281" r:id="rId24"/>
    <p:sldId id="282" r:id="rId25"/>
    <p:sldId id="283" r:id="rId26"/>
    <p:sldId id="284" r:id="rId27"/>
    <p:sldId id="285" r:id="rId28"/>
    <p:sldId id="258" r:id="rId29"/>
    <p:sldId id="259" r:id="rId30"/>
    <p:sldId id="296" r:id="rId31"/>
    <p:sldId id="297" r:id="rId32"/>
    <p:sldId id="295" r:id="rId33"/>
    <p:sldId id="293" r:id="rId34"/>
    <p:sldId id="298" r:id="rId35"/>
    <p:sldId id="299" r:id="rId36"/>
    <p:sldId id="300" r:id="rId37"/>
    <p:sldId id="301" r:id="rId38"/>
    <p:sldId id="294" r:id="rId3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20000"/>
      </a:spcBef>
      <a:spcAft>
        <a:spcPct val="0"/>
      </a:spcAft>
      <a:buClr>
        <a:schemeClr val="tx2"/>
      </a:buClr>
      <a:buSzPct val="70000"/>
      <a:buFont typeface="Wingdings" pitchFamily="2" charset="2"/>
      <a:buChar char="n"/>
      <a:defRPr sz="24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20000"/>
      </a:spcBef>
      <a:spcAft>
        <a:spcPct val="0"/>
      </a:spcAft>
      <a:buClr>
        <a:schemeClr val="tx2"/>
      </a:buClr>
      <a:buSzPct val="70000"/>
      <a:buFont typeface="Wingdings" pitchFamily="2" charset="2"/>
      <a:buChar char="n"/>
      <a:defRPr sz="24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20000"/>
      </a:spcBef>
      <a:spcAft>
        <a:spcPct val="0"/>
      </a:spcAft>
      <a:buClr>
        <a:schemeClr val="tx2"/>
      </a:buClr>
      <a:buSzPct val="70000"/>
      <a:buFont typeface="Wingdings" pitchFamily="2" charset="2"/>
      <a:buChar char="n"/>
      <a:defRPr sz="24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20000"/>
      </a:spcBef>
      <a:spcAft>
        <a:spcPct val="0"/>
      </a:spcAft>
      <a:buClr>
        <a:schemeClr val="tx2"/>
      </a:buClr>
      <a:buSzPct val="70000"/>
      <a:buFont typeface="Wingdings" pitchFamily="2" charset="2"/>
      <a:buChar char="n"/>
      <a:defRPr sz="24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20000"/>
      </a:spcBef>
      <a:spcAft>
        <a:spcPct val="0"/>
      </a:spcAft>
      <a:buClr>
        <a:schemeClr val="tx2"/>
      </a:buClr>
      <a:buSzPct val="70000"/>
      <a:buFont typeface="Wingdings" pitchFamily="2" charset="2"/>
      <a:buChar char="n"/>
      <a:defRPr sz="24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  <p:clrMru>
    <a:srgbClr val="33CC33"/>
    <a:srgbClr val="FF9933"/>
    <a:srgbClr val="008000"/>
    <a:srgbClr val="FF6600"/>
    <a:srgbClr val="66CCFF"/>
    <a:srgbClr val="CC3300"/>
    <a:srgbClr val="CC6600"/>
    <a:srgbClr val="FF99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7241" autoAdjust="0"/>
    <p:restoredTop sz="94530" autoAdjust="0"/>
  </p:normalViewPr>
  <p:slideViewPr>
    <p:cSldViewPr>
      <p:cViewPr varScale="1">
        <p:scale>
          <a:sx n="65" d="100"/>
          <a:sy n="65" d="100"/>
        </p:scale>
        <p:origin x="-1204" y="-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228"/>
    </p:cViewPr>
  </p:sorterViewPr>
  <p:notesViewPr>
    <p:cSldViewPr>
      <p:cViewPr varScale="1">
        <p:scale>
          <a:sx n="70" d="100"/>
          <a:sy n="70" d="100"/>
        </p:scale>
        <p:origin x="-1818" y="-96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74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74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74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fld id="{99974381-B100-477C-A92F-6436D838F4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fld id="{49FE2AAC-7B5D-4A48-9632-25D7FB2316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FE2AAC-7B5D-4A48-9632-25D7FB231655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FE2AAC-7B5D-4A48-9632-25D7FB231655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FE2AAC-7B5D-4A48-9632-25D7FB231655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FE2AAC-7B5D-4A48-9632-25D7FB231655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FE2AAC-7B5D-4A48-9632-25D7FB231655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FE2AAC-7B5D-4A48-9632-25D7FB231655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FE2AAC-7B5D-4A48-9632-25D7FB231655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FE2AAC-7B5D-4A48-9632-25D7FB231655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>
            <a:grpSpLocks/>
          </p:cNvGrpSpPr>
          <p:nvPr userDrawn="1"/>
        </p:nvGrpSpPr>
        <p:grpSpPr bwMode="auto"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4" name="Group 3"/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7" name="Freeform 4"/>
              <p:cNvSpPr>
                <a:spLocks/>
              </p:cNvSpPr>
              <p:nvPr userDrawn="1"/>
            </p:nvSpPr>
            <p:spPr bwMode="hidden">
              <a:xfrm>
                <a:off x="1728" y="2644"/>
                <a:ext cx="2882" cy="1671"/>
              </a:xfrm>
              <a:custGeom>
                <a:avLst/>
                <a:gdLst/>
                <a:ahLst/>
                <a:cxnLst>
                  <a:cxn ang="0">
                    <a:pos x="2740" y="528"/>
                  </a:cxn>
                  <a:cxn ang="0">
                    <a:pos x="2632" y="484"/>
                  </a:cxn>
                  <a:cxn ang="0">
                    <a:pos x="2480" y="424"/>
                  </a:cxn>
                  <a:cxn ang="0">
                    <a:pos x="2203" y="343"/>
                  </a:cxn>
                  <a:cxn ang="0">
                    <a:pos x="1970" y="277"/>
                  </a:cxn>
                  <a:cxn ang="0">
                    <a:pos x="1807" y="212"/>
                  </a:cxn>
                  <a:cxn ang="0">
                    <a:pos x="1693" y="152"/>
                  </a:cxn>
                  <a:cxn ang="0">
                    <a:pos x="1628" y="103"/>
                  </a:cxn>
                  <a:cxn ang="0">
                    <a:pos x="1590" y="60"/>
                  </a:cxn>
                  <a:cxn ang="0">
                    <a:pos x="1579" y="27"/>
                  </a:cxn>
                  <a:cxn ang="0">
                    <a:pos x="1585" y="0"/>
                  </a:cxn>
                  <a:cxn ang="0">
                    <a:pos x="1557" y="49"/>
                  </a:cxn>
                  <a:cxn ang="0">
                    <a:pos x="1568" y="98"/>
                  </a:cxn>
                  <a:cxn ang="0">
                    <a:pos x="1617" y="141"/>
                  </a:cxn>
                  <a:cxn ang="0">
                    <a:pos x="1688" y="185"/>
                  </a:cxn>
                  <a:cxn ang="0">
                    <a:pos x="1791" y="228"/>
                  </a:cxn>
                  <a:cxn ang="0">
                    <a:pos x="2040" y="310"/>
                  </a:cxn>
                  <a:cxn ang="0">
                    <a:pos x="2285" y="381"/>
                  </a:cxn>
                  <a:cxn ang="0">
                    <a:pos x="2464" y="435"/>
                  </a:cxn>
                  <a:cxn ang="0">
                    <a:pos x="2605" y="484"/>
                  </a:cxn>
                  <a:cxn ang="0">
                    <a:pos x="2708" y="528"/>
                  </a:cxn>
                  <a:cxn ang="0">
                    <a:pos x="2768" y="560"/>
                  </a:cxn>
                  <a:cxn ang="0">
                    <a:pos x="2795" y="593"/>
                  </a:cxn>
                  <a:cxn ang="0">
                    <a:pos x="2795" y="642"/>
                  </a:cxn>
                  <a:cxn ang="0">
                    <a:pos x="2762" y="691"/>
                  </a:cxn>
                  <a:cxn ang="0">
                    <a:pos x="2692" y="735"/>
                  </a:cxn>
                  <a:cxn ang="0">
                    <a:pos x="2589" y="778"/>
                  </a:cxn>
                  <a:cxn ang="0">
                    <a:pos x="2458" y="822"/>
                  </a:cxn>
                  <a:cxn ang="0">
                    <a:pos x="2301" y="865"/>
                  </a:cxn>
                  <a:cxn ang="0">
                    <a:pos x="2030" y="930"/>
                  </a:cxn>
                  <a:cxn ang="0">
                    <a:pos x="1606" y="1034"/>
                  </a:cxn>
                  <a:cxn ang="0">
                    <a:pos x="1145" y="1164"/>
                  </a:cxn>
                  <a:cxn ang="0">
                    <a:pos x="673" y="1328"/>
                  </a:cxn>
                  <a:cxn ang="0">
                    <a:pos x="217" y="1545"/>
                  </a:cxn>
                  <a:cxn ang="0">
                    <a:pos x="353" y="1671"/>
                  </a:cxn>
                  <a:cxn ang="0">
                    <a:pos x="754" y="1469"/>
                  </a:cxn>
                  <a:cxn ang="0">
                    <a:pos x="1145" y="1311"/>
                  </a:cxn>
                  <a:cxn ang="0">
                    <a:pos x="1519" y="1186"/>
                  </a:cxn>
                  <a:cxn ang="0">
                    <a:pos x="1861" y="1083"/>
                  </a:cxn>
                  <a:cxn ang="0">
                    <a:pos x="2165" y="1007"/>
                  </a:cxn>
                  <a:cxn ang="0">
                    <a:pos x="2426" y="947"/>
                  </a:cxn>
                  <a:cxn ang="0">
                    <a:pos x="2626" y="892"/>
                  </a:cxn>
                  <a:cxn ang="0">
                    <a:pos x="2762" y="838"/>
                  </a:cxn>
                  <a:cxn ang="0">
                    <a:pos x="2827" y="794"/>
                  </a:cxn>
                  <a:cxn ang="0">
                    <a:pos x="2865" y="745"/>
                  </a:cxn>
                  <a:cxn ang="0">
                    <a:pos x="2882" y="702"/>
                  </a:cxn>
                  <a:cxn ang="0">
                    <a:pos x="2854" y="620"/>
                  </a:cxn>
                  <a:cxn ang="0">
                    <a:pos x="2800" y="560"/>
                  </a:cxn>
                  <a:cxn ang="0">
                    <a:pos x="2773" y="544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8" name="Freeform 5"/>
              <p:cNvSpPr>
                <a:spLocks/>
              </p:cNvSpPr>
              <p:nvPr userDrawn="1"/>
            </p:nvSpPr>
            <p:spPr bwMode="hidden">
              <a:xfrm>
                <a:off x="4170" y="2671"/>
                <a:ext cx="1259" cy="811"/>
              </a:xfrm>
              <a:custGeom>
                <a:avLst/>
                <a:gdLst/>
                <a:ahLst/>
                <a:cxnLst>
                  <a:cxn ang="0">
                    <a:pos x="1259" y="615"/>
                  </a:cxn>
                  <a:cxn ang="0">
                    <a:pos x="1248" y="588"/>
                  </a:cxn>
                  <a:cxn ang="0">
                    <a:pos x="1237" y="566"/>
                  </a:cxn>
                  <a:cxn ang="0">
                    <a:pos x="1216" y="539"/>
                  </a:cxn>
                  <a:cxn ang="0">
                    <a:pos x="1188" y="517"/>
                  </a:cxn>
                  <a:cxn ang="0">
                    <a:pos x="1123" y="479"/>
                  </a:cxn>
                  <a:cxn ang="0">
                    <a:pos x="1042" y="441"/>
                  </a:cxn>
                  <a:cxn ang="0">
                    <a:pos x="944" y="408"/>
                  </a:cxn>
                  <a:cxn ang="0">
                    <a:pos x="841" y="381"/>
                  </a:cxn>
                  <a:cxn ang="0">
                    <a:pos x="727" y="348"/>
                  </a:cxn>
                  <a:cxn ang="0">
                    <a:pos x="613" y="321"/>
                  </a:cxn>
                  <a:cxn ang="0">
                    <a:pos x="499" y="294"/>
                  </a:cxn>
                  <a:cxn ang="0">
                    <a:pos x="391" y="261"/>
                  </a:cxn>
                  <a:cxn ang="0">
                    <a:pos x="288" y="229"/>
                  </a:cxn>
                  <a:cxn ang="0">
                    <a:pos x="195" y="196"/>
                  </a:cxn>
                  <a:cxn ang="0">
                    <a:pos x="119" y="152"/>
                  </a:cxn>
                  <a:cxn ang="0">
                    <a:pos x="54" y="109"/>
                  </a:cxn>
                  <a:cxn ang="0">
                    <a:pos x="33" y="87"/>
                  </a:cxn>
                  <a:cxn ang="0">
                    <a:pos x="16" y="60"/>
                  </a:cxn>
                  <a:cxn ang="0">
                    <a:pos x="5" y="33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11"/>
                  </a:cxn>
                  <a:cxn ang="0">
                    <a:pos x="0" y="38"/>
                  </a:cxn>
                  <a:cxn ang="0">
                    <a:pos x="5" y="60"/>
                  </a:cxn>
                  <a:cxn ang="0">
                    <a:pos x="16" y="87"/>
                  </a:cxn>
                  <a:cxn ang="0">
                    <a:pos x="33" y="114"/>
                  </a:cxn>
                  <a:cxn ang="0">
                    <a:pos x="54" y="142"/>
                  </a:cxn>
                  <a:cxn ang="0">
                    <a:pos x="87" y="174"/>
                  </a:cxn>
                  <a:cxn ang="0">
                    <a:pos x="125" y="207"/>
                  </a:cxn>
                  <a:cxn ang="0">
                    <a:pos x="179" y="240"/>
                  </a:cxn>
                  <a:cxn ang="0">
                    <a:pos x="244" y="278"/>
                  </a:cxn>
                  <a:cxn ang="0">
                    <a:pos x="326" y="310"/>
                  </a:cxn>
                  <a:cxn ang="0">
                    <a:pos x="418" y="348"/>
                  </a:cxn>
                  <a:cxn ang="0">
                    <a:pos x="526" y="381"/>
                  </a:cxn>
                  <a:cxn ang="0">
                    <a:pos x="657" y="414"/>
                  </a:cxn>
                  <a:cxn ang="0">
                    <a:pos x="749" y="435"/>
                  </a:cxn>
                  <a:cxn ang="0">
                    <a:pos x="830" y="463"/>
                  </a:cxn>
                  <a:cxn ang="0">
                    <a:pos x="901" y="490"/>
                  </a:cxn>
                  <a:cxn ang="0">
                    <a:pos x="966" y="512"/>
                  </a:cxn>
                  <a:cxn ang="0">
                    <a:pos x="1015" y="539"/>
                  </a:cxn>
                  <a:cxn ang="0">
                    <a:pos x="1053" y="566"/>
                  </a:cxn>
                  <a:cxn ang="0">
                    <a:pos x="1080" y="593"/>
                  </a:cxn>
                  <a:cxn ang="0">
                    <a:pos x="1102" y="620"/>
                  </a:cxn>
                  <a:cxn ang="0">
                    <a:pos x="1112" y="648"/>
                  </a:cxn>
                  <a:cxn ang="0">
                    <a:pos x="1118" y="675"/>
                  </a:cxn>
                  <a:cxn ang="0">
                    <a:pos x="1112" y="697"/>
                  </a:cxn>
                  <a:cxn ang="0">
                    <a:pos x="1096" y="724"/>
                  </a:cxn>
                  <a:cxn ang="0">
                    <a:pos x="1080" y="746"/>
                  </a:cxn>
                  <a:cxn ang="0">
                    <a:pos x="1053" y="767"/>
                  </a:cxn>
                  <a:cxn ang="0">
                    <a:pos x="1015" y="789"/>
                  </a:cxn>
                  <a:cxn ang="0">
                    <a:pos x="977" y="811"/>
                  </a:cxn>
                  <a:cxn ang="0">
                    <a:pos x="1047" y="789"/>
                  </a:cxn>
                  <a:cxn ang="0">
                    <a:pos x="1107" y="767"/>
                  </a:cxn>
                  <a:cxn ang="0">
                    <a:pos x="1156" y="746"/>
                  </a:cxn>
                  <a:cxn ang="0">
                    <a:pos x="1199" y="724"/>
                  </a:cxn>
                  <a:cxn ang="0">
                    <a:pos x="1226" y="702"/>
                  </a:cxn>
                  <a:cxn ang="0">
                    <a:pos x="1248" y="675"/>
                  </a:cxn>
                  <a:cxn ang="0">
                    <a:pos x="1259" y="648"/>
                  </a:cxn>
                  <a:cxn ang="0">
                    <a:pos x="1259" y="615"/>
                  </a:cxn>
                  <a:cxn ang="0">
                    <a:pos x="1259" y="615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9" name="Freeform 6"/>
              <p:cNvSpPr>
                <a:spLocks/>
              </p:cNvSpPr>
              <p:nvPr userDrawn="1"/>
            </p:nvSpPr>
            <p:spPr bwMode="hidden">
              <a:xfrm>
                <a:off x="2900" y="3346"/>
                <a:ext cx="2849" cy="969"/>
              </a:xfrm>
              <a:custGeom>
                <a:avLst/>
                <a:gdLst/>
                <a:ahLst/>
                <a:cxnLst>
                  <a:cxn ang="0">
                    <a:pos x="92" y="958"/>
                  </a:cxn>
                  <a:cxn ang="0">
                    <a:pos x="0" y="969"/>
                  </a:cxn>
                  <a:cxn ang="0">
                    <a:pos x="391" y="969"/>
                  </a:cxn>
                  <a:cxn ang="0">
                    <a:pos x="434" y="947"/>
                  </a:cxn>
                  <a:cxn ang="0">
                    <a:pos x="483" y="914"/>
                  </a:cxn>
                  <a:cxn ang="0">
                    <a:pos x="554" y="876"/>
                  </a:cxn>
                  <a:cxn ang="0">
                    <a:pos x="635" y="838"/>
                  </a:cxn>
                  <a:cxn ang="0">
                    <a:pos x="727" y="794"/>
                  </a:cxn>
                  <a:cxn ang="0">
                    <a:pos x="836" y="745"/>
                  </a:cxn>
                  <a:cxn ang="0">
                    <a:pos x="961" y="696"/>
                  </a:cxn>
                  <a:cxn ang="0">
                    <a:pos x="1102" y="642"/>
                  </a:cxn>
                  <a:cxn ang="0">
                    <a:pos x="1259" y="582"/>
                  </a:cxn>
                  <a:cxn ang="0">
                    <a:pos x="1433" y="522"/>
                  </a:cxn>
                  <a:cxn ang="0">
                    <a:pos x="1623" y="462"/>
                  </a:cxn>
                  <a:cxn ang="0">
                    <a:pos x="1829" y="403"/>
                  </a:cxn>
                  <a:cxn ang="0">
                    <a:pos x="2057" y="343"/>
                  </a:cxn>
                  <a:cxn ang="0">
                    <a:pos x="2301" y="283"/>
                  </a:cxn>
                  <a:cxn ang="0">
                    <a:pos x="2567" y="223"/>
                  </a:cxn>
                  <a:cxn ang="0">
                    <a:pos x="2849" y="163"/>
                  </a:cxn>
                  <a:cxn ang="0">
                    <a:pos x="2849" y="0"/>
                  </a:cxn>
                  <a:cxn ang="0">
                    <a:pos x="2817" y="16"/>
                  </a:cxn>
                  <a:cxn ang="0">
                    <a:pos x="2773" y="33"/>
                  </a:cxn>
                  <a:cxn ang="0">
                    <a:pos x="2719" y="54"/>
                  </a:cxn>
                  <a:cxn ang="0">
                    <a:pos x="2648" y="76"/>
                  </a:cxn>
                  <a:cxn ang="0">
                    <a:pos x="2572" y="98"/>
                  </a:cxn>
                  <a:cxn ang="0">
                    <a:pos x="2491" y="120"/>
                  </a:cxn>
                  <a:cxn ang="0">
                    <a:pos x="2399" y="147"/>
                  </a:cxn>
                  <a:cxn ang="0">
                    <a:pos x="2301" y="169"/>
                  </a:cxn>
                  <a:cxn ang="0">
                    <a:pos x="2095" y="223"/>
                  </a:cxn>
                  <a:cxn ang="0">
                    <a:pos x="1889" y="277"/>
                  </a:cxn>
                  <a:cxn ang="0">
                    <a:pos x="1688" y="326"/>
                  </a:cxn>
                  <a:cxn ang="0">
                    <a:pos x="1590" y="354"/>
                  </a:cxn>
                  <a:cxn ang="0">
                    <a:pos x="1503" y="381"/>
                  </a:cxn>
                  <a:cxn ang="0">
                    <a:pos x="1107" y="506"/>
                  </a:cxn>
                  <a:cxn ang="0">
                    <a:pos x="912" y="577"/>
                  </a:cxn>
                  <a:cxn ang="0">
                    <a:pos x="727" y="647"/>
                  </a:cxn>
                  <a:cxn ang="0">
                    <a:pos x="548" y="718"/>
                  </a:cxn>
                  <a:cxn ang="0">
                    <a:pos x="380" y="794"/>
                  </a:cxn>
                  <a:cxn ang="0">
                    <a:pos x="228" y="876"/>
                  </a:cxn>
                  <a:cxn ang="0">
                    <a:pos x="92" y="958"/>
                  </a:cxn>
                  <a:cxn ang="0">
                    <a:pos x="92" y="958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0" name="Freeform 7"/>
              <p:cNvSpPr>
                <a:spLocks/>
              </p:cNvSpPr>
              <p:nvPr userDrawn="1"/>
            </p:nvSpPr>
            <p:spPr bwMode="hidden">
              <a:xfrm>
                <a:off x="2748" y="2230"/>
                <a:ext cx="3007" cy="2085"/>
              </a:xfrm>
              <a:custGeom>
                <a:avLst/>
                <a:gdLst/>
                <a:ahLst/>
                <a:cxnLst>
                  <a:cxn ang="0">
                    <a:pos x="1433" y="474"/>
                  </a:cxn>
                  <a:cxn ang="0">
                    <a:pos x="1460" y="528"/>
                  </a:cxn>
                  <a:cxn ang="0">
                    <a:pos x="1541" y="593"/>
                  </a:cxn>
                  <a:cxn ang="0">
                    <a:pos x="1715" y="670"/>
                  </a:cxn>
                  <a:cxn ang="0">
                    <a:pos x="1927" y="735"/>
                  </a:cxn>
                  <a:cxn ang="0">
                    <a:pos x="2155" y="789"/>
                  </a:cxn>
                  <a:cxn ang="0">
                    <a:pos x="2372" y="849"/>
                  </a:cxn>
                  <a:cxn ang="0">
                    <a:pos x="2551" y="920"/>
                  </a:cxn>
                  <a:cxn ang="0">
                    <a:pos x="2638" y="980"/>
                  </a:cxn>
                  <a:cxn ang="0">
                    <a:pos x="2676" y="1029"/>
                  </a:cxn>
                  <a:cxn ang="0">
                    <a:pos x="2681" y="1083"/>
                  </a:cxn>
                  <a:cxn ang="0">
                    <a:pos x="2665" y="1127"/>
                  </a:cxn>
                  <a:cxn ang="0">
                    <a:pos x="2616" y="1170"/>
                  </a:cxn>
                  <a:cxn ang="0">
                    <a:pos x="2545" y="1208"/>
                  </a:cxn>
                  <a:cxn ang="0">
                    <a:pos x="2448" y="1241"/>
                  </a:cxn>
                  <a:cxn ang="0">
                    <a:pos x="2328" y="1274"/>
                  </a:cxn>
                  <a:cxn ang="0">
                    <a:pos x="2106" y="1328"/>
                  </a:cxn>
                  <a:cxn ang="0">
                    <a:pos x="1742" y="1421"/>
                  </a:cxn>
                  <a:cxn ang="0">
                    <a:pos x="1308" y="1540"/>
                  </a:cxn>
                  <a:cxn ang="0">
                    <a:pos x="820" y="1709"/>
                  </a:cxn>
                  <a:cxn ang="0">
                    <a:pos x="282" y="1943"/>
                  </a:cxn>
                  <a:cxn ang="0">
                    <a:pos x="152" y="2085"/>
                  </a:cxn>
                  <a:cxn ang="0">
                    <a:pos x="386" y="1992"/>
                  </a:cxn>
                  <a:cxn ang="0">
                    <a:pos x="700" y="1834"/>
                  </a:cxn>
                  <a:cxn ang="0">
                    <a:pos x="1064" y="1693"/>
                  </a:cxn>
                  <a:cxn ang="0">
                    <a:pos x="1661" y="1497"/>
                  </a:cxn>
                  <a:cxn ang="0">
                    <a:pos x="1845" y="1442"/>
                  </a:cxn>
                  <a:cxn ang="0">
                    <a:pos x="2252" y="1339"/>
                  </a:cxn>
                  <a:cxn ang="0">
                    <a:pos x="2551" y="1263"/>
                  </a:cxn>
                  <a:cxn ang="0">
                    <a:pos x="2730" y="1214"/>
                  </a:cxn>
                  <a:cxn ang="0">
                    <a:pos x="2876" y="1170"/>
                  </a:cxn>
                  <a:cxn ang="0">
                    <a:pos x="2974" y="1132"/>
                  </a:cxn>
                  <a:cxn ang="0">
                    <a:pos x="3007" y="871"/>
                  </a:cxn>
                  <a:cxn ang="0">
                    <a:pos x="2860" y="844"/>
                  </a:cxn>
                  <a:cxn ang="0">
                    <a:pos x="2670" y="806"/>
                  </a:cxn>
                  <a:cxn ang="0">
                    <a:pos x="2458" y="757"/>
                  </a:cxn>
                  <a:cxn ang="0">
                    <a:pos x="2138" y="670"/>
                  </a:cxn>
                  <a:cxn ang="0">
                    <a:pos x="1959" y="604"/>
                  </a:cxn>
                  <a:cxn ang="0">
                    <a:pos x="1824" y="534"/>
                  </a:cxn>
                  <a:cxn ang="0">
                    <a:pos x="1769" y="474"/>
                  </a:cxn>
                  <a:cxn ang="0">
                    <a:pos x="1753" y="436"/>
                  </a:cxn>
                  <a:cxn ang="0">
                    <a:pos x="1780" y="381"/>
                  </a:cxn>
                  <a:cxn ang="0">
                    <a:pos x="1862" y="316"/>
                  </a:cxn>
                  <a:cxn ang="0">
                    <a:pos x="1986" y="267"/>
                  </a:cxn>
                  <a:cxn ang="0">
                    <a:pos x="2149" y="229"/>
                  </a:cxn>
                  <a:cxn ang="0">
                    <a:pos x="2431" y="180"/>
                  </a:cxn>
                  <a:cxn ang="0">
                    <a:pos x="2827" y="125"/>
                  </a:cxn>
                  <a:cxn ang="0">
                    <a:pos x="3007" y="87"/>
                  </a:cxn>
                  <a:cxn ang="0">
                    <a:pos x="2909" y="22"/>
                  </a:cxn>
                  <a:cxn ang="0">
                    <a:pos x="2676" y="66"/>
                  </a:cxn>
                  <a:cxn ang="0">
                    <a:pos x="2285" y="120"/>
                  </a:cxn>
                  <a:cxn ang="0">
                    <a:pos x="2030" y="158"/>
                  </a:cxn>
                  <a:cxn ang="0">
                    <a:pos x="1791" y="202"/>
                  </a:cxn>
                  <a:cxn ang="0">
                    <a:pos x="1601" y="261"/>
                  </a:cxn>
                  <a:cxn ang="0">
                    <a:pos x="1471" y="338"/>
                  </a:cxn>
                  <a:cxn ang="0">
                    <a:pos x="1438" y="387"/>
                  </a:cxn>
                  <a:cxn ang="0">
                    <a:pos x="1427" y="441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1" name="Freeform 8"/>
              <p:cNvSpPr>
                <a:spLocks/>
              </p:cNvSpPr>
              <p:nvPr userDrawn="1"/>
            </p:nvSpPr>
            <p:spPr bwMode="hidden">
              <a:xfrm>
                <a:off x="4501" y="2317"/>
                <a:ext cx="1248" cy="539"/>
              </a:xfrm>
              <a:custGeom>
                <a:avLst/>
                <a:gdLst/>
                <a:ahLst/>
                <a:cxnLst>
                  <a:cxn ang="0">
                    <a:pos x="0" y="332"/>
                  </a:cxn>
                  <a:cxn ang="0">
                    <a:pos x="0" y="360"/>
                  </a:cxn>
                  <a:cxn ang="0">
                    <a:pos x="5" y="387"/>
                  </a:cxn>
                  <a:cxn ang="0">
                    <a:pos x="27" y="414"/>
                  </a:cxn>
                  <a:cxn ang="0">
                    <a:pos x="54" y="436"/>
                  </a:cxn>
                  <a:cxn ang="0">
                    <a:pos x="92" y="463"/>
                  </a:cxn>
                  <a:cxn ang="0">
                    <a:pos x="141" y="490"/>
                  </a:cxn>
                  <a:cxn ang="0">
                    <a:pos x="195" y="512"/>
                  </a:cxn>
                  <a:cxn ang="0">
                    <a:pos x="255" y="539"/>
                  </a:cxn>
                  <a:cxn ang="0">
                    <a:pos x="212" y="517"/>
                  </a:cxn>
                  <a:cxn ang="0">
                    <a:pos x="179" y="490"/>
                  </a:cxn>
                  <a:cxn ang="0">
                    <a:pos x="157" y="468"/>
                  </a:cxn>
                  <a:cxn ang="0">
                    <a:pos x="141" y="447"/>
                  </a:cxn>
                  <a:cxn ang="0">
                    <a:pos x="136" y="425"/>
                  </a:cxn>
                  <a:cxn ang="0">
                    <a:pos x="136" y="403"/>
                  </a:cxn>
                  <a:cxn ang="0">
                    <a:pos x="141" y="381"/>
                  </a:cxn>
                  <a:cxn ang="0">
                    <a:pos x="157" y="365"/>
                  </a:cxn>
                  <a:cxn ang="0">
                    <a:pos x="179" y="343"/>
                  </a:cxn>
                  <a:cxn ang="0">
                    <a:pos x="201" y="327"/>
                  </a:cxn>
                  <a:cxn ang="0">
                    <a:pos x="266" y="294"/>
                  </a:cxn>
                  <a:cxn ang="0">
                    <a:pos x="353" y="262"/>
                  </a:cxn>
                  <a:cxn ang="0">
                    <a:pos x="445" y="234"/>
                  </a:cxn>
                  <a:cxn ang="0">
                    <a:pos x="554" y="213"/>
                  </a:cxn>
                  <a:cxn ang="0">
                    <a:pos x="662" y="191"/>
                  </a:cxn>
                  <a:cxn ang="0">
                    <a:pos x="890" y="153"/>
                  </a:cxn>
                  <a:cxn ang="0">
                    <a:pos x="993" y="136"/>
                  </a:cxn>
                  <a:cxn ang="0">
                    <a:pos x="1091" y="120"/>
                  </a:cxn>
                  <a:cxn ang="0">
                    <a:pos x="1178" y="115"/>
                  </a:cxn>
                  <a:cxn ang="0">
                    <a:pos x="1248" y="104"/>
                  </a:cxn>
                  <a:cxn ang="0">
                    <a:pos x="1248" y="0"/>
                  </a:cxn>
                  <a:cxn ang="0">
                    <a:pos x="1161" y="22"/>
                  </a:cxn>
                  <a:cxn ang="0">
                    <a:pos x="1069" y="38"/>
                  </a:cxn>
                  <a:cxn ang="0">
                    <a:pos x="874" y="71"/>
                  </a:cxn>
                  <a:cxn ang="0">
                    <a:pos x="673" y="93"/>
                  </a:cxn>
                  <a:cxn ang="0">
                    <a:pos x="483" y="126"/>
                  </a:cxn>
                  <a:cxn ang="0">
                    <a:pos x="391" y="142"/>
                  </a:cxn>
                  <a:cxn ang="0">
                    <a:pos x="309" y="158"/>
                  </a:cxn>
                  <a:cxn ang="0">
                    <a:pos x="228" y="180"/>
                  </a:cxn>
                  <a:cxn ang="0">
                    <a:pos x="163" y="202"/>
                  </a:cxn>
                  <a:cxn ang="0">
                    <a:pos x="103" y="229"/>
                  </a:cxn>
                  <a:cxn ang="0">
                    <a:pos x="54" y="256"/>
                  </a:cxn>
                  <a:cxn ang="0">
                    <a:pos x="22" y="294"/>
                  </a:cxn>
                  <a:cxn ang="0">
                    <a:pos x="0" y="332"/>
                  </a:cxn>
                  <a:cxn ang="0">
                    <a:pos x="0" y="332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</p:grpSp>
        <p:sp>
          <p:nvSpPr>
            <p:cNvPr id="5" name="Freeform 9"/>
            <p:cNvSpPr>
              <a:spLocks/>
            </p:cNvSpPr>
            <p:nvPr userDrawn="1"/>
          </p:nvSpPr>
          <p:spPr bwMode="hidden">
            <a:xfrm>
              <a:off x="3322" y="1341"/>
              <a:ext cx="1825" cy="1537"/>
            </a:xfrm>
            <a:custGeom>
              <a:avLst/>
              <a:gdLst/>
              <a:ahLst/>
              <a:cxnLst>
                <a:cxn ang="0">
                  <a:pos x="982" y="1061"/>
                </a:cxn>
                <a:cxn ang="0">
                  <a:pos x="1357" y="1012"/>
                </a:cxn>
                <a:cxn ang="0">
                  <a:pos x="1666" y="957"/>
                </a:cxn>
                <a:cxn ang="0">
                  <a:pos x="1916" y="897"/>
                </a:cxn>
                <a:cxn ang="0">
                  <a:pos x="2100" y="832"/>
                </a:cxn>
                <a:cxn ang="0">
                  <a:pos x="2220" y="756"/>
                </a:cxn>
                <a:cxn ang="0">
                  <a:pos x="2285" y="669"/>
                </a:cxn>
                <a:cxn ang="0">
                  <a:pos x="2290" y="560"/>
                </a:cxn>
                <a:cxn ang="0">
                  <a:pos x="2241" y="457"/>
                </a:cxn>
                <a:cxn ang="0">
                  <a:pos x="2144" y="364"/>
                </a:cxn>
                <a:cxn ang="0">
                  <a:pos x="2008" y="277"/>
                </a:cxn>
                <a:cxn ang="0">
                  <a:pos x="1769" y="157"/>
                </a:cxn>
                <a:cxn ang="0">
                  <a:pos x="1612" y="92"/>
                </a:cxn>
                <a:cxn ang="0">
                  <a:pos x="1476" y="43"/>
                </a:cxn>
                <a:cxn ang="0">
                  <a:pos x="1384" y="10"/>
                </a:cxn>
                <a:cxn ang="0">
                  <a:pos x="1346" y="0"/>
                </a:cxn>
                <a:cxn ang="0">
                  <a:pos x="1655" y="119"/>
                </a:cxn>
                <a:cxn ang="0">
                  <a:pos x="1948" y="255"/>
                </a:cxn>
                <a:cxn ang="0">
                  <a:pos x="2068" y="326"/>
                </a:cxn>
                <a:cxn ang="0">
                  <a:pos x="2171" y="402"/>
                </a:cxn>
                <a:cxn ang="0">
                  <a:pos x="2236" y="478"/>
                </a:cxn>
                <a:cxn ang="0">
                  <a:pos x="2263" y="560"/>
                </a:cxn>
                <a:cxn ang="0">
                  <a:pos x="2241" y="636"/>
                </a:cxn>
                <a:cxn ang="0">
                  <a:pos x="2171" y="702"/>
                </a:cxn>
                <a:cxn ang="0">
                  <a:pos x="2062" y="756"/>
                </a:cxn>
                <a:cxn ang="0">
                  <a:pos x="1921" y="800"/>
                </a:cxn>
                <a:cxn ang="0">
                  <a:pos x="1748" y="843"/>
                </a:cxn>
                <a:cxn ang="0">
                  <a:pos x="1351" y="908"/>
                </a:cxn>
                <a:cxn ang="0">
                  <a:pos x="923" y="968"/>
                </a:cxn>
                <a:cxn ang="0">
                  <a:pos x="521" y="1028"/>
                </a:cxn>
                <a:cxn ang="0">
                  <a:pos x="353" y="1066"/>
                </a:cxn>
                <a:cxn ang="0">
                  <a:pos x="206" y="1104"/>
                </a:cxn>
                <a:cxn ang="0">
                  <a:pos x="92" y="1148"/>
                </a:cxn>
                <a:cxn ang="0">
                  <a:pos x="22" y="1202"/>
                </a:cxn>
                <a:cxn ang="0">
                  <a:pos x="0" y="1262"/>
                </a:cxn>
                <a:cxn ang="0">
                  <a:pos x="27" y="1327"/>
                </a:cxn>
                <a:cxn ang="0">
                  <a:pos x="98" y="1382"/>
                </a:cxn>
                <a:cxn ang="0">
                  <a:pos x="196" y="1425"/>
                </a:cxn>
                <a:cxn ang="0">
                  <a:pos x="326" y="1469"/>
                </a:cxn>
                <a:cxn ang="0">
                  <a:pos x="217" y="1414"/>
                </a:cxn>
                <a:cxn ang="0">
                  <a:pos x="147" y="1360"/>
                </a:cxn>
                <a:cxn ang="0">
                  <a:pos x="120" y="1306"/>
                </a:cxn>
                <a:cxn ang="0">
                  <a:pos x="141" y="1257"/>
                </a:cxn>
                <a:cxn ang="0">
                  <a:pos x="212" y="1208"/>
                </a:cxn>
                <a:cxn ang="0">
                  <a:pos x="342" y="1164"/>
                </a:cxn>
                <a:cxn ang="0">
                  <a:pos x="527" y="1121"/>
                </a:cxn>
                <a:cxn ang="0">
                  <a:pos x="771" y="1088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" name="Freeform 10"/>
            <p:cNvSpPr>
              <a:spLocks/>
            </p:cNvSpPr>
            <p:nvPr userDrawn="1"/>
          </p:nvSpPr>
          <p:spPr bwMode="hidden">
            <a:xfrm>
              <a:off x="0" y="0"/>
              <a:ext cx="5758" cy="17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906"/>
                </a:cxn>
                <a:cxn ang="0">
                  <a:pos x="5740" y="1906"/>
                </a:cxn>
                <a:cxn ang="0">
                  <a:pos x="574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pic>
        <p:nvPicPr>
          <p:cNvPr id="12" name="Picture 26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Line 18"/>
          <p:cNvSpPr>
            <a:spLocks noChangeShapeType="1"/>
          </p:cNvSpPr>
          <p:nvPr userDrawn="1"/>
        </p:nvSpPr>
        <p:spPr bwMode="auto">
          <a:xfrm>
            <a:off x="0" y="6477000"/>
            <a:ext cx="9144000" cy="0"/>
          </a:xfrm>
          <a:prstGeom prst="line">
            <a:avLst/>
          </a:prstGeom>
          <a:noFill/>
          <a:ln w="9525">
            <a:solidFill>
              <a:srgbClr val="00FFFF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" name="AutoShape 19"/>
          <p:cNvSpPr>
            <a:spLocks noChangeArrowheads="1"/>
          </p:cNvSpPr>
          <p:nvPr userDrawn="1"/>
        </p:nvSpPr>
        <p:spPr bwMode="auto">
          <a:xfrm>
            <a:off x="76200" y="6553200"/>
            <a:ext cx="228600" cy="228600"/>
          </a:xfrm>
          <a:prstGeom prst="star16">
            <a:avLst>
              <a:gd name="adj" fmla="val 37500"/>
            </a:avLst>
          </a:prstGeom>
          <a:gradFill rotWithShape="1">
            <a:gsLst>
              <a:gs pos="0">
                <a:srgbClr val="CC99FF">
                  <a:gamma/>
                  <a:shade val="46275"/>
                  <a:invGamma/>
                </a:srgbClr>
              </a:gs>
              <a:gs pos="50000">
                <a:srgbClr val="CC99FF"/>
              </a:gs>
              <a:gs pos="100000">
                <a:srgbClr val="CC99FF">
                  <a:gamma/>
                  <a:shade val="46275"/>
                  <a:invGamma/>
                </a:srgbClr>
              </a:gs>
            </a:gsLst>
            <a:lin ang="2700000" scaled="1"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5" name="Rectangle 29"/>
          <p:cNvSpPr>
            <a:spLocks noChangeArrowheads="1"/>
          </p:cNvSpPr>
          <p:nvPr userDrawn="1"/>
        </p:nvSpPr>
        <p:spPr bwMode="auto">
          <a:xfrm>
            <a:off x="6096000" y="37338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en-US" sz="2000" dirty="0" smtClean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Inst.</a:t>
            </a:r>
            <a:r>
              <a:rPr lang="en-US" sz="2000" baseline="0" dirty="0" smtClean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000" dirty="0" err="1" smtClean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Nguyễn</a:t>
            </a:r>
            <a:r>
              <a:rPr lang="en-US" sz="2000" dirty="0" smtClean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000" dirty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Minh </a:t>
            </a:r>
            <a:r>
              <a:rPr lang="en-US" sz="2000" dirty="0" err="1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Huy</a:t>
            </a:r>
            <a:endParaRPr lang="en-US" sz="2000" dirty="0">
              <a:solidFill>
                <a:srgbClr val="FF99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40971" name="Rectangle 11"/>
          <p:cNvSpPr>
            <a:spLocks noGrp="1" noChangeArrowheads="1"/>
          </p:cNvSpPr>
          <p:nvPr>
            <p:ph type="ctrTitle" sz="quarter"/>
          </p:nvPr>
        </p:nvSpPr>
        <p:spPr>
          <a:xfrm>
            <a:off x="304800" y="1828800"/>
            <a:ext cx="8534400" cy="1676400"/>
          </a:xfrm>
        </p:spPr>
        <p:txBody>
          <a:bodyPr anchor="b"/>
          <a:lstStyle>
            <a:lvl1pPr>
              <a:defRPr sz="5000" b="1">
                <a:solidFill>
                  <a:srgbClr val="FF66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8B7D4-80C2-4EA6-9173-2F584D3BE0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7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914400">
              <a:defRPr sz="2400"/>
            </a:lvl2pPr>
            <a:lvl3pPr marL="1371600">
              <a:buFont typeface="Wingdings" pitchFamily="2" charset="2"/>
              <a:buChar char="Ø"/>
              <a:defRPr sz="2000"/>
            </a:lvl3pPr>
            <a:lvl4pPr>
              <a:defRPr sz="1600"/>
            </a:lvl4pPr>
            <a:lvl5pPr marL="1828800">
              <a:buFont typeface="Wingdings" pitchFamily="2" charset="2"/>
              <a:buChar char="v"/>
              <a:defRPr sz="14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1BC579-D393-41E7-AEB3-0C29AC67CF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1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vi-VN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10600" cy="5181600"/>
          </a:xfrm>
        </p:spPr>
        <p:txBody>
          <a:bodyPr/>
          <a:lstStyle>
            <a:lvl2pPr marL="914400">
              <a:defRPr sz="2400"/>
            </a:lvl2pPr>
            <a:lvl3pPr marL="1371600">
              <a:buFont typeface="Wingdings" pitchFamily="2" charset="2"/>
              <a:buChar char="Ø"/>
              <a:defRPr sz="2000"/>
            </a:lvl3pPr>
            <a:lvl4pPr>
              <a:defRPr sz="1600"/>
            </a:lvl4pPr>
            <a:lvl5pPr marL="1828800">
              <a:buFont typeface="Wingdings" pitchFamily="2" charset="2"/>
              <a:buChar char="v"/>
              <a:defRPr sz="14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5A8E62-1A30-4C97-A711-06E835BB74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pic>
        <p:nvPicPr>
          <p:cNvPr id="7" name="Picture 4" descr="clipboard2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7189788" y="4419600"/>
            <a:ext cx="1725612" cy="1905000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6754813" y="4176713"/>
            <a:ext cx="2160587" cy="2147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vi-VN" dirty="0" smtClean="0"/>
              <a:t>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  <a:lvl2pPr marL="365760" indent="0">
              <a:buNone/>
              <a:defRPr sz="2000"/>
            </a:lvl2pPr>
            <a:lvl3pPr marL="914400">
              <a:defRPr sz="2000"/>
            </a:lvl3pPr>
            <a:lvl4pPr marL="1371600">
              <a:defRPr sz="1600"/>
            </a:lvl4pPr>
            <a:lvl5pPr marL="1828800">
              <a:defRPr sz="1400"/>
            </a:lvl5pPr>
          </a:lstStyle>
          <a:p>
            <a:pPr lvl="0"/>
            <a:r>
              <a:rPr lang="vi-VN" dirty="0" smtClean="0"/>
              <a:t>Practice: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5A8E62-1A30-4C97-A711-06E835BB74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477000"/>
            <a:ext cx="21336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fld id="{96610ADB-B7BD-4F03-9DC2-948229E6AF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1027" name="Group 4"/>
          <p:cNvGrpSpPr>
            <a:grpSpLocks/>
          </p:cNvGrpSpPr>
          <p:nvPr/>
        </p:nvGrpSpPr>
        <p:grpSpPr bwMode="auto"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1038" name="Group 5"/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39942" name="Freeform 6"/>
              <p:cNvSpPr>
                <a:spLocks/>
              </p:cNvSpPr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/>
                <a:ahLst/>
                <a:cxnLst>
                  <a:cxn ang="0">
                    <a:pos x="2740" y="528"/>
                  </a:cxn>
                  <a:cxn ang="0">
                    <a:pos x="2632" y="484"/>
                  </a:cxn>
                  <a:cxn ang="0">
                    <a:pos x="2480" y="424"/>
                  </a:cxn>
                  <a:cxn ang="0">
                    <a:pos x="2203" y="343"/>
                  </a:cxn>
                  <a:cxn ang="0">
                    <a:pos x="1970" y="277"/>
                  </a:cxn>
                  <a:cxn ang="0">
                    <a:pos x="1807" y="212"/>
                  </a:cxn>
                  <a:cxn ang="0">
                    <a:pos x="1693" y="152"/>
                  </a:cxn>
                  <a:cxn ang="0">
                    <a:pos x="1628" y="103"/>
                  </a:cxn>
                  <a:cxn ang="0">
                    <a:pos x="1590" y="60"/>
                  </a:cxn>
                  <a:cxn ang="0">
                    <a:pos x="1579" y="27"/>
                  </a:cxn>
                  <a:cxn ang="0">
                    <a:pos x="1585" y="0"/>
                  </a:cxn>
                  <a:cxn ang="0">
                    <a:pos x="1557" y="49"/>
                  </a:cxn>
                  <a:cxn ang="0">
                    <a:pos x="1568" y="98"/>
                  </a:cxn>
                  <a:cxn ang="0">
                    <a:pos x="1617" y="141"/>
                  </a:cxn>
                  <a:cxn ang="0">
                    <a:pos x="1688" y="185"/>
                  </a:cxn>
                  <a:cxn ang="0">
                    <a:pos x="1791" y="228"/>
                  </a:cxn>
                  <a:cxn ang="0">
                    <a:pos x="2040" y="310"/>
                  </a:cxn>
                  <a:cxn ang="0">
                    <a:pos x="2285" y="381"/>
                  </a:cxn>
                  <a:cxn ang="0">
                    <a:pos x="2464" y="435"/>
                  </a:cxn>
                  <a:cxn ang="0">
                    <a:pos x="2605" y="484"/>
                  </a:cxn>
                  <a:cxn ang="0">
                    <a:pos x="2708" y="528"/>
                  </a:cxn>
                  <a:cxn ang="0">
                    <a:pos x="2768" y="560"/>
                  </a:cxn>
                  <a:cxn ang="0">
                    <a:pos x="2795" y="593"/>
                  </a:cxn>
                  <a:cxn ang="0">
                    <a:pos x="2795" y="642"/>
                  </a:cxn>
                  <a:cxn ang="0">
                    <a:pos x="2762" y="691"/>
                  </a:cxn>
                  <a:cxn ang="0">
                    <a:pos x="2692" y="735"/>
                  </a:cxn>
                  <a:cxn ang="0">
                    <a:pos x="2589" y="778"/>
                  </a:cxn>
                  <a:cxn ang="0">
                    <a:pos x="2458" y="822"/>
                  </a:cxn>
                  <a:cxn ang="0">
                    <a:pos x="2301" y="865"/>
                  </a:cxn>
                  <a:cxn ang="0">
                    <a:pos x="2030" y="930"/>
                  </a:cxn>
                  <a:cxn ang="0">
                    <a:pos x="1606" y="1034"/>
                  </a:cxn>
                  <a:cxn ang="0">
                    <a:pos x="1145" y="1164"/>
                  </a:cxn>
                  <a:cxn ang="0">
                    <a:pos x="673" y="1328"/>
                  </a:cxn>
                  <a:cxn ang="0">
                    <a:pos x="217" y="1545"/>
                  </a:cxn>
                  <a:cxn ang="0">
                    <a:pos x="353" y="1671"/>
                  </a:cxn>
                  <a:cxn ang="0">
                    <a:pos x="754" y="1469"/>
                  </a:cxn>
                  <a:cxn ang="0">
                    <a:pos x="1145" y="1311"/>
                  </a:cxn>
                  <a:cxn ang="0">
                    <a:pos x="1519" y="1186"/>
                  </a:cxn>
                  <a:cxn ang="0">
                    <a:pos x="1861" y="1083"/>
                  </a:cxn>
                  <a:cxn ang="0">
                    <a:pos x="2165" y="1007"/>
                  </a:cxn>
                  <a:cxn ang="0">
                    <a:pos x="2426" y="947"/>
                  </a:cxn>
                  <a:cxn ang="0">
                    <a:pos x="2626" y="892"/>
                  </a:cxn>
                  <a:cxn ang="0">
                    <a:pos x="2762" y="838"/>
                  </a:cxn>
                  <a:cxn ang="0">
                    <a:pos x="2827" y="794"/>
                  </a:cxn>
                  <a:cxn ang="0">
                    <a:pos x="2865" y="745"/>
                  </a:cxn>
                  <a:cxn ang="0">
                    <a:pos x="2882" y="702"/>
                  </a:cxn>
                  <a:cxn ang="0">
                    <a:pos x="2854" y="620"/>
                  </a:cxn>
                  <a:cxn ang="0">
                    <a:pos x="2800" y="560"/>
                  </a:cxn>
                  <a:cxn ang="0">
                    <a:pos x="2773" y="544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9943" name="Freeform 7"/>
              <p:cNvSpPr>
                <a:spLocks/>
              </p:cNvSpPr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/>
                <a:ahLst/>
                <a:cxnLst>
                  <a:cxn ang="0">
                    <a:pos x="1259" y="615"/>
                  </a:cxn>
                  <a:cxn ang="0">
                    <a:pos x="1248" y="588"/>
                  </a:cxn>
                  <a:cxn ang="0">
                    <a:pos x="1237" y="566"/>
                  </a:cxn>
                  <a:cxn ang="0">
                    <a:pos x="1216" y="539"/>
                  </a:cxn>
                  <a:cxn ang="0">
                    <a:pos x="1188" y="517"/>
                  </a:cxn>
                  <a:cxn ang="0">
                    <a:pos x="1123" y="479"/>
                  </a:cxn>
                  <a:cxn ang="0">
                    <a:pos x="1042" y="441"/>
                  </a:cxn>
                  <a:cxn ang="0">
                    <a:pos x="944" y="408"/>
                  </a:cxn>
                  <a:cxn ang="0">
                    <a:pos x="841" y="381"/>
                  </a:cxn>
                  <a:cxn ang="0">
                    <a:pos x="727" y="348"/>
                  </a:cxn>
                  <a:cxn ang="0">
                    <a:pos x="613" y="321"/>
                  </a:cxn>
                  <a:cxn ang="0">
                    <a:pos x="499" y="294"/>
                  </a:cxn>
                  <a:cxn ang="0">
                    <a:pos x="391" y="261"/>
                  </a:cxn>
                  <a:cxn ang="0">
                    <a:pos x="288" y="229"/>
                  </a:cxn>
                  <a:cxn ang="0">
                    <a:pos x="195" y="196"/>
                  </a:cxn>
                  <a:cxn ang="0">
                    <a:pos x="119" y="152"/>
                  </a:cxn>
                  <a:cxn ang="0">
                    <a:pos x="54" y="109"/>
                  </a:cxn>
                  <a:cxn ang="0">
                    <a:pos x="33" y="87"/>
                  </a:cxn>
                  <a:cxn ang="0">
                    <a:pos x="16" y="60"/>
                  </a:cxn>
                  <a:cxn ang="0">
                    <a:pos x="5" y="33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11"/>
                  </a:cxn>
                  <a:cxn ang="0">
                    <a:pos x="0" y="38"/>
                  </a:cxn>
                  <a:cxn ang="0">
                    <a:pos x="5" y="60"/>
                  </a:cxn>
                  <a:cxn ang="0">
                    <a:pos x="16" y="87"/>
                  </a:cxn>
                  <a:cxn ang="0">
                    <a:pos x="33" y="114"/>
                  </a:cxn>
                  <a:cxn ang="0">
                    <a:pos x="54" y="142"/>
                  </a:cxn>
                  <a:cxn ang="0">
                    <a:pos x="87" y="174"/>
                  </a:cxn>
                  <a:cxn ang="0">
                    <a:pos x="125" y="207"/>
                  </a:cxn>
                  <a:cxn ang="0">
                    <a:pos x="179" y="240"/>
                  </a:cxn>
                  <a:cxn ang="0">
                    <a:pos x="244" y="278"/>
                  </a:cxn>
                  <a:cxn ang="0">
                    <a:pos x="326" y="310"/>
                  </a:cxn>
                  <a:cxn ang="0">
                    <a:pos x="418" y="348"/>
                  </a:cxn>
                  <a:cxn ang="0">
                    <a:pos x="526" y="381"/>
                  </a:cxn>
                  <a:cxn ang="0">
                    <a:pos x="657" y="414"/>
                  </a:cxn>
                  <a:cxn ang="0">
                    <a:pos x="749" y="435"/>
                  </a:cxn>
                  <a:cxn ang="0">
                    <a:pos x="830" y="463"/>
                  </a:cxn>
                  <a:cxn ang="0">
                    <a:pos x="901" y="490"/>
                  </a:cxn>
                  <a:cxn ang="0">
                    <a:pos x="966" y="512"/>
                  </a:cxn>
                  <a:cxn ang="0">
                    <a:pos x="1015" y="539"/>
                  </a:cxn>
                  <a:cxn ang="0">
                    <a:pos x="1053" y="566"/>
                  </a:cxn>
                  <a:cxn ang="0">
                    <a:pos x="1080" y="593"/>
                  </a:cxn>
                  <a:cxn ang="0">
                    <a:pos x="1102" y="620"/>
                  </a:cxn>
                  <a:cxn ang="0">
                    <a:pos x="1112" y="648"/>
                  </a:cxn>
                  <a:cxn ang="0">
                    <a:pos x="1118" y="675"/>
                  </a:cxn>
                  <a:cxn ang="0">
                    <a:pos x="1112" y="697"/>
                  </a:cxn>
                  <a:cxn ang="0">
                    <a:pos x="1096" y="724"/>
                  </a:cxn>
                  <a:cxn ang="0">
                    <a:pos x="1080" y="746"/>
                  </a:cxn>
                  <a:cxn ang="0">
                    <a:pos x="1053" y="767"/>
                  </a:cxn>
                  <a:cxn ang="0">
                    <a:pos x="1015" y="789"/>
                  </a:cxn>
                  <a:cxn ang="0">
                    <a:pos x="977" y="811"/>
                  </a:cxn>
                  <a:cxn ang="0">
                    <a:pos x="1047" y="789"/>
                  </a:cxn>
                  <a:cxn ang="0">
                    <a:pos x="1107" y="767"/>
                  </a:cxn>
                  <a:cxn ang="0">
                    <a:pos x="1156" y="746"/>
                  </a:cxn>
                  <a:cxn ang="0">
                    <a:pos x="1199" y="724"/>
                  </a:cxn>
                  <a:cxn ang="0">
                    <a:pos x="1226" y="702"/>
                  </a:cxn>
                  <a:cxn ang="0">
                    <a:pos x="1248" y="675"/>
                  </a:cxn>
                  <a:cxn ang="0">
                    <a:pos x="1259" y="648"/>
                  </a:cxn>
                  <a:cxn ang="0">
                    <a:pos x="1259" y="615"/>
                  </a:cxn>
                  <a:cxn ang="0">
                    <a:pos x="1259" y="615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9944" name="Freeform 8"/>
              <p:cNvSpPr>
                <a:spLocks/>
              </p:cNvSpPr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/>
                <a:ahLst/>
                <a:cxnLst>
                  <a:cxn ang="0">
                    <a:pos x="92" y="958"/>
                  </a:cxn>
                  <a:cxn ang="0">
                    <a:pos x="0" y="969"/>
                  </a:cxn>
                  <a:cxn ang="0">
                    <a:pos x="391" y="969"/>
                  </a:cxn>
                  <a:cxn ang="0">
                    <a:pos x="434" y="947"/>
                  </a:cxn>
                  <a:cxn ang="0">
                    <a:pos x="483" y="914"/>
                  </a:cxn>
                  <a:cxn ang="0">
                    <a:pos x="554" y="876"/>
                  </a:cxn>
                  <a:cxn ang="0">
                    <a:pos x="635" y="838"/>
                  </a:cxn>
                  <a:cxn ang="0">
                    <a:pos x="727" y="794"/>
                  </a:cxn>
                  <a:cxn ang="0">
                    <a:pos x="836" y="745"/>
                  </a:cxn>
                  <a:cxn ang="0">
                    <a:pos x="961" y="696"/>
                  </a:cxn>
                  <a:cxn ang="0">
                    <a:pos x="1102" y="642"/>
                  </a:cxn>
                  <a:cxn ang="0">
                    <a:pos x="1259" y="582"/>
                  </a:cxn>
                  <a:cxn ang="0">
                    <a:pos x="1433" y="522"/>
                  </a:cxn>
                  <a:cxn ang="0">
                    <a:pos x="1623" y="462"/>
                  </a:cxn>
                  <a:cxn ang="0">
                    <a:pos x="1829" y="403"/>
                  </a:cxn>
                  <a:cxn ang="0">
                    <a:pos x="2057" y="343"/>
                  </a:cxn>
                  <a:cxn ang="0">
                    <a:pos x="2301" y="283"/>
                  </a:cxn>
                  <a:cxn ang="0">
                    <a:pos x="2567" y="223"/>
                  </a:cxn>
                  <a:cxn ang="0">
                    <a:pos x="2849" y="163"/>
                  </a:cxn>
                  <a:cxn ang="0">
                    <a:pos x="2849" y="0"/>
                  </a:cxn>
                  <a:cxn ang="0">
                    <a:pos x="2817" y="16"/>
                  </a:cxn>
                  <a:cxn ang="0">
                    <a:pos x="2773" y="33"/>
                  </a:cxn>
                  <a:cxn ang="0">
                    <a:pos x="2719" y="54"/>
                  </a:cxn>
                  <a:cxn ang="0">
                    <a:pos x="2648" y="76"/>
                  </a:cxn>
                  <a:cxn ang="0">
                    <a:pos x="2572" y="98"/>
                  </a:cxn>
                  <a:cxn ang="0">
                    <a:pos x="2491" y="120"/>
                  </a:cxn>
                  <a:cxn ang="0">
                    <a:pos x="2399" y="147"/>
                  </a:cxn>
                  <a:cxn ang="0">
                    <a:pos x="2301" y="169"/>
                  </a:cxn>
                  <a:cxn ang="0">
                    <a:pos x="2095" y="223"/>
                  </a:cxn>
                  <a:cxn ang="0">
                    <a:pos x="1889" y="277"/>
                  </a:cxn>
                  <a:cxn ang="0">
                    <a:pos x="1688" y="326"/>
                  </a:cxn>
                  <a:cxn ang="0">
                    <a:pos x="1590" y="354"/>
                  </a:cxn>
                  <a:cxn ang="0">
                    <a:pos x="1503" y="381"/>
                  </a:cxn>
                  <a:cxn ang="0">
                    <a:pos x="1107" y="506"/>
                  </a:cxn>
                  <a:cxn ang="0">
                    <a:pos x="912" y="577"/>
                  </a:cxn>
                  <a:cxn ang="0">
                    <a:pos x="727" y="647"/>
                  </a:cxn>
                  <a:cxn ang="0">
                    <a:pos x="548" y="718"/>
                  </a:cxn>
                  <a:cxn ang="0">
                    <a:pos x="380" y="794"/>
                  </a:cxn>
                  <a:cxn ang="0">
                    <a:pos x="228" y="876"/>
                  </a:cxn>
                  <a:cxn ang="0">
                    <a:pos x="92" y="958"/>
                  </a:cxn>
                  <a:cxn ang="0">
                    <a:pos x="92" y="958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9945" name="Freeform 9"/>
              <p:cNvSpPr>
                <a:spLocks/>
              </p:cNvSpPr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/>
                <a:ahLst/>
                <a:cxnLst>
                  <a:cxn ang="0">
                    <a:pos x="1433" y="474"/>
                  </a:cxn>
                  <a:cxn ang="0">
                    <a:pos x="1460" y="528"/>
                  </a:cxn>
                  <a:cxn ang="0">
                    <a:pos x="1541" y="593"/>
                  </a:cxn>
                  <a:cxn ang="0">
                    <a:pos x="1715" y="670"/>
                  </a:cxn>
                  <a:cxn ang="0">
                    <a:pos x="1927" y="735"/>
                  </a:cxn>
                  <a:cxn ang="0">
                    <a:pos x="2155" y="789"/>
                  </a:cxn>
                  <a:cxn ang="0">
                    <a:pos x="2372" y="849"/>
                  </a:cxn>
                  <a:cxn ang="0">
                    <a:pos x="2551" y="920"/>
                  </a:cxn>
                  <a:cxn ang="0">
                    <a:pos x="2638" y="980"/>
                  </a:cxn>
                  <a:cxn ang="0">
                    <a:pos x="2676" y="1029"/>
                  </a:cxn>
                  <a:cxn ang="0">
                    <a:pos x="2681" y="1083"/>
                  </a:cxn>
                  <a:cxn ang="0">
                    <a:pos x="2665" y="1127"/>
                  </a:cxn>
                  <a:cxn ang="0">
                    <a:pos x="2616" y="1170"/>
                  </a:cxn>
                  <a:cxn ang="0">
                    <a:pos x="2545" y="1208"/>
                  </a:cxn>
                  <a:cxn ang="0">
                    <a:pos x="2448" y="1241"/>
                  </a:cxn>
                  <a:cxn ang="0">
                    <a:pos x="2328" y="1274"/>
                  </a:cxn>
                  <a:cxn ang="0">
                    <a:pos x="2106" y="1328"/>
                  </a:cxn>
                  <a:cxn ang="0">
                    <a:pos x="1742" y="1421"/>
                  </a:cxn>
                  <a:cxn ang="0">
                    <a:pos x="1308" y="1540"/>
                  </a:cxn>
                  <a:cxn ang="0">
                    <a:pos x="820" y="1709"/>
                  </a:cxn>
                  <a:cxn ang="0">
                    <a:pos x="282" y="1943"/>
                  </a:cxn>
                  <a:cxn ang="0">
                    <a:pos x="152" y="2085"/>
                  </a:cxn>
                  <a:cxn ang="0">
                    <a:pos x="386" y="1992"/>
                  </a:cxn>
                  <a:cxn ang="0">
                    <a:pos x="700" y="1834"/>
                  </a:cxn>
                  <a:cxn ang="0">
                    <a:pos x="1064" y="1693"/>
                  </a:cxn>
                  <a:cxn ang="0">
                    <a:pos x="1661" y="1497"/>
                  </a:cxn>
                  <a:cxn ang="0">
                    <a:pos x="1845" y="1442"/>
                  </a:cxn>
                  <a:cxn ang="0">
                    <a:pos x="2252" y="1339"/>
                  </a:cxn>
                  <a:cxn ang="0">
                    <a:pos x="2551" y="1263"/>
                  </a:cxn>
                  <a:cxn ang="0">
                    <a:pos x="2730" y="1214"/>
                  </a:cxn>
                  <a:cxn ang="0">
                    <a:pos x="2876" y="1170"/>
                  </a:cxn>
                  <a:cxn ang="0">
                    <a:pos x="2974" y="1132"/>
                  </a:cxn>
                  <a:cxn ang="0">
                    <a:pos x="3007" y="871"/>
                  </a:cxn>
                  <a:cxn ang="0">
                    <a:pos x="2860" y="844"/>
                  </a:cxn>
                  <a:cxn ang="0">
                    <a:pos x="2670" y="806"/>
                  </a:cxn>
                  <a:cxn ang="0">
                    <a:pos x="2458" y="757"/>
                  </a:cxn>
                  <a:cxn ang="0">
                    <a:pos x="2138" y="670"/>
                  </a:cxn>
                  <a:cxn ang="0">
                    <a:pos x="1959" y="604"/>
                  </a:cxn>
                  <a:cxn ang="0">
                    <a:pos x="1824" y="534"/>
                  </a:cxn>
                  <a:cxn ang="0">
                    <a:pos x="1769" y="474"/>
                  </a:cxn>
                  <a:cxn ang="0">
                    <a:pos x="1753" y="436"/>
                  </a:cxn>
                  <a:cxn ang="0">
                    <a:pos x="1780" y="381"/>
                  </a:cxn>
                  <a:cxn ang="0">
                    <a:pos x="1862" y="316"/>
                  </a:cxn>
                  <a:cxn ang="0">
                    <a:pos x="1986" y="267"/>
                  </a:cxn>
                  <a:cxn ang="0">
                    <a:pos x="2149" y="229"/>
                  </a:cxn>
                  <a:cxn ang="0">
                    <a:pos x="2431" y="180"/>
                  </a:cxn>
                  <a:cxn ang="0">
                    <a:pos x="2827" y="125"/>
                  </a:cxn>
                  <a:cxn ang="0">
                    <a:pos x="3007" y="87"/>
                  </a:cxn>
                  <a:cxn ang="0">
                    <a:pos x="2909" y="22"/>
                  </a:cxn>
                  <a:cxn ang="0">
                    <a:pos x="2676" y="66"/>
                  </a:cxn>
                  <a:cxn ang="0">
                    <a:pos x="2285" y="120"/>
                  </a:cxn>
                  <a:cxn ang="0">
                    <a:pos x="2030" y="158"/>
                  </a:cxn>
                  <a:cxn ang="0">
                    <a:pos x="1791" y="202"/>
                  </a:cxn>
                  <a:cxn ang="0">
                    <a:pos x="1601" y="261"/>
                  </a:cxn>
                  <a:cxn ang="0">
                    <a:pos x="1471" y="338"/>
                  </a:cxn>
                  <a:cxn ang="0">
                    <a:pos x="1438" y="387"/>
                  </a:cxn>
                  <a:cxn ang="0">
                    <a:pos x="1427" y="441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9946" name="Freeform 10"/>
              <p:cNvSpPr>
                <a:spLocks/>
              </p:cNvSpPr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/>
                <a:ahLst/>
                <a:cxnLst>
                  <a:cxn ang="0">
                    <a:pos x="0" y="332"/>
                  </a:cxn>
                  <a:cxn ang="0">
                    <a:pos x="0" y="360"/>
                  </a:cxn>
                  <a:cxn ang="0">
                    <a:pos x="5" y="387"/>
                  </a:cxn>
                  <a:cxn ang="0">
                    <a:pos x="27" y="414"/>
                  </a:cxn>
                  <a:cxn ang="0">
                    <a:pos x="54" y="436"/>
                  </a:cxn>
                  <a:cxn ang="0">
                    <a:pos x="92" y="463"/>
                  </a:cxn>
                  <a:cxn ang="0">
                    <a:pos x="141" y="490"/>
                  </a:cxn>
                  <a:cxn ang="0">
                    <a:pos x="195" y="512"/>
                  </a:cxn>
                  <a:cxn ang="0">
                    <a:pos x="255" y="539"/>
                  </a:cxn>
                  <a:cxn ang="0">
                    <a:pos x="212" y="517"/>
                  </a:cxn>
                  <a:cxn ang="0">
                    <a:pos x="179" y="490"/>
                  </a:cxn>
                  <a:cxn ang="0">
                    <a:pos x="157" y="468"/>
                  </a:cxn>
                  <a:cxn ang="0">
                    <a:pos x="141" y="447"/>
                  </a:cxn>
                  <a:cxn ang="0">
                    <a:pos x="136" y="425"/>
                  </a:cxn>
                  <a:cxn ang="0">
                    <a:pos x="136" y="403"/>
                  </a:cxn>
                  <a:cxn ang="0">
                    <a:pos x="141" y="381"/>
                  </a:cxn>
                  <a:cxn ang="0">
                    <a:pos x="157" y="365"/>
                  </a:cxn>
                  <a:cxn ang="0">
                    <a:pos x="179" y="343"/>
                  </a:cxn>
                  <a:cxn ang="0">
                    <a:pos x="201" y="327"/>
                  </a:cxn>
                  <a:cxn ang="0">
                    <a:pos x="266" y="294"/>
                  </a:cxn>
                  <a:cxn ang="0">
                    <a:pos x="353" y="262"/>
                  </a:cxn>
                  <a:cxn ang="0">
                    <a:pos x="445" y="234"/>
                  </a:cxn>
                  <a:cxn ang="0">
                    <a:pos x="554" y="213"/>
                  </a:cxn>
                  <a:cxn ang="0">
                    <a:pos x="662" y="191"/>
                  </a:cxn>
                  <a:cxn ang="0">
                    <a:pos x="890" y="153"/>
                  </a:cxn>
                  <a:cxn ang="0">
                    <a:pos x="993" y="136"/>
                  </a:cxn>
                  <a:cxn ang="0">
                    <a:pos x="1091" y="120"/>
                  </a:cxn>
                  <a:cxn ang="0">
                    <a:pos x="1178" y="115"/>
                  </a:cxn>
                  <a:cxn ang="0">
                    <a:pos x="1248" y="104"/>
                  </a:cxn>
                  <a:cxn ang="0">
                    <a:pos x="1248" y="0"/>
                  </a:cxn>
                  <a:cxn ang="0">
                    <a:pos x="1161" y="22"/>
                  </a:cxn>
                  <a:cxn ang="0">
                    <a:pos x="1069" y="38"/>
                  </a:cxn>
                  <a:cxn ang="0">
                    <a:pos x="874" y="71"/>
                  </a:cxn>
                  <a:cxn ang="0">
                    <a:pos x="673" y="93"/>
                  </a:cxn>
                  <a:cxn ang="0">
                    <a:pos x="483" y="126"/>
                  </a:cxn>
                  <a:cxn ang="0">
                    <a:pos x="391" y="142"/>
                  </a:cxn>
                  <a:cxn ang="0">
                    <a:pos x="309" y="158"/>
                  </a:cxn>
                  <a:cxn ang="0">
                    <a:pos x="228" y="180"/>
                  </a:cxn>
                  <a:cxn ang="0">
                    <a:pos x="163" y="202"/>
                  </a:cxn>
                  <a:cxn ang="0">
                    <a:pos x="103" y="229"/>
                  </a:cxn>
                  <a:cxn ang="0">
                    <a:pos x="54" y="256"/>
                  </a:cxn>
                  <a:cxn ang="0">
                    <a:pos x="22" y="294"/>
                  </a:cxn>
                  <a:cxn ang="0">
                    <a:pos x="0" y="332"/>
                  </a:cxn>
                  <a:cxn ang="0">
                    <a:pos x="0" y="332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</p:grpSp>
        <p:sp>
          <p:nvSpPr>
            <p:cNvPr id="39947" name="Freeform 11"/>
            <p:cNvSpPr>
              <a:spLocks/>
            </p:cNvSpPr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/>
              <a:ahLst/>
              <a:cxnLst>
                <a:cxn ang="0">
                  <a:pos x="982" y="1061"/>
                </a:cxn>
                <a:cxn ang="0">
                  <a:pos x="1357" y="1012"/>
                </a:cxn>
                <a:cxn ang="0">
                  <a:pos x="1666" y="957"/>
                </a:cxn>
                <a:cxn ang="0">
                  <a:pos x="1916" y="897"/>
                </a:cxn>
                <a:cxn ang="0">
                  <a:pos x="2100" y="832"/>
                </a:cxn>
                <a:cxn ang="0">
                  <a:pos x="2220" y="756"/>
                </a:cxn>
                <a:cxn ang="0">
                  <a:pos x="2285" y="669"/>
                </a:cxn>
                <a:cxn ang="0">
                  <a:pos x="2290" y="560"/>
                </a:cxn>
                <a:cxn ang="0">
                  <a:pos x="2241" y="457"/>
                </a:cxn>
                <a:cxn ang="0">
                  <a:pos x="2144" y="364"/>
                </a:cxn>
                <a:cxn ang="0">
                  <a:pos x="2008" y="277"/>
                </a:cxn>
                <a:cxn ang="0">
                  <a:pos x="1769" y="157"/>
                </a:cxn>
                <a:cxn ang="0">
                  <a:pos x="1612" y="92"/>
                </a:cxn>
                <a:cxn ang="0">
                  <a:pos x="1476" y="43"/>
                </a:cxn>
                <a:cxn ang="0">
                  <a:pos x="1384" y="10"/>
                </a:cxn>
                <a:cxn ang="0">
                  <a:pos x="1346" y="0"/>
                </a:cxn>
                <a:cxn ang="0">
                  <a:pos x="1655" y="119"/>
                </a:cxn>
                <a:cxn ang="0">
                  <a:pos x="1948" y="255"/>
                </a:cxn>
                <a:cxn ang="0">
                  <a:pos x="2068" y="326"/>
                </a:cxn>
                <a:cxn ang="0">
                  <a:pos x="2171" y="402"/>
                </a:cxn>
                <a:cxn ang="0">
                  <a:pos x="2236" y="478"/>
                </a:cxn>
                <a:cxn ang="0">
                  <a:pos x="2263" y="560"/>
                </a:cxn>
                <a:cxn ang="0">
                  <a:pos x="2241" y="636"/>
                </a:cxn>
                <a:cxn ang="0">
                  <a:pos x="2171" y="702"/>
                </a:cxn>
                <a:cxn ang="0">
                  <a:pos x="2062" y="756"/>
                </a:cxn>
                <a:cxn ang="0">
                  <a:pos x="1921" y="800"/>
                </a:cxn>
                <a:cxn ang="0">
                  <a:pos x="1748" y="843"/>
                </a:cxn>
                <a:cxn ang="0">
                  <a:pos x="1351" y="908"/>
                </a:cxn>
                <a:cxn ang="0">
                  <a:pos x="923" y="968"/>
                </a:cxn>
                <a:cxn ang="0">
                  <a:pos x="521" y="1028"/>
                </a:cxn>
                <a:cxn ang="0">
                  <a:pos x="353" y="1066"/>
                </a:cxn>
                <a:cxn ang="0">
                  <a:pos x="206" y="1104"/>
                </a:cxn>
                <a:cxn ang="0">
                  <a:pos x="92" y="1148"/>
                </a:cxn>
                <a:cxn ang="0">
                  <a:pos x="22" y="1202"/>
                </a:cxn>
                <a:cxn ang="0">
                  <a:pos x="0" y="1262"/>
                </a:cxn>
                <a:cxn ang="0">
                  <a:pos x="27" y="1327"/>
                </a:cxn>
                <a:cxn ang="0">
                  <a:pos x="98" y="1382"/>
                </a:cxn>
                <a:cxn ang="0">
                  <a:pos x="196" y="1425"/>
                </a:cxn>
                <a:cxn ang="0">
                  <a:pos x="326" y="1469"/>
                </a:cxn>
                <a:cxn ang="0">
                  <a:pos x="217" y="1414"/>
                </a:cxn>
                <a:cxn ang="0">
                  <a:pos x="147" y="1360"/>
                </a:cxn>
                <a:cxn ang="0">
                  <a:pos x="120" y="1306"/>
                </a:cxn>
                <a:cxn ang="0">
                  <a:pos x="141" y="1257"/>
                </a:cxn>
                <a:cxn ang="0">
                  <a:pos x="212" y="1208"/>
                </a:cxn>
                <a:cxn ang="0">
                  <a:pos x="342" y="1164"/>
                </a:cxn>
                <a:cxn ang="0">
                  <a:pos x="527" y="1121"/>
                </a:cxn>
                <a:cxn ang="0">
                  <a:pos x="771" y="1088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9948" name="Freeform 12"/>
            <p:cNvSpPr>
              <a:spLocks/>
            </p:cNvSpPr>
            <p:nvPr/>
          </p:nvSpPr>
          <p:spPr bwMode="hidden">
            <a:xfrm>
              <a:off x="0" y="0"/>
              <a:ext cx="5758" cy="17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906"/>
                </a:cxn>
                <a:cxn ang="0">
                  <a:pos x="5740" y="1906"/>
                </a:cxn>
                <a:cxn ang="0">
                  <a:pos x="574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39949" name="Rectangle 13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304800" y="0"/>
            <a:ext cx="86106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39950" name="Rectangle 1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4800" y="6477000"/>
            <a:ext cx="63246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/>
          </a:p>
        </p:txBody>
      </p:sp>
      <p:sp>
        <p:nvSpPr>
          <p:cNvPr id="39951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143000"/>
            <a:ext cx="86106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2"/>
            <a:r>
              <a:rPr lang="en-US" dirty="0" smtClean="0"/>
              <a:t>Second level</a:t>
            </a:r>
          </a:p>
          <a:p>
            <a:pPr lvl="3"/>
            <a:r>
              <a:rPr lang="en-US" dirty="0" smtClean="0"/>
              <a:t>Third level</a:t>
            </a:r>
          </a:p>
          <a:p>
            <a:pPr lvl="4"/>
            <a:r>
              <a:rPr lang="en-US" dirty="0" smtClean="0"/>
              <a:t>Fourth level</a:t>
            </a:r>
          </a:p>
        </p:txBody>
      </p:sp>
      <p:sp>
        <p:nvSpPr>
          <p:cNvPr id="39952" name="Line 16"/>
          <p:cNvSpPr>
            <a:spLocks noChangeShapeType="1"/>
          </p:cNvSpPr>
          <p:nvPr userDrawn="1"/>
        </p:nvSpPr>
        <p:spPr bwMode="auto">
          <a:xfrm>
            <a:off x="0" y="914400"/>
            <a:ext cx="9144000" cy="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grpSp>
        <p:nvGrpSpPr>
          <p:cNvPr id="1032" name="Group 20"/>
          <p:cNvGrpSpPr>
            <a:grpSpLocks/>
          </p:cNvGrpSpPr>
          <p:nvPr userDrawn="1"/>
        </p:nvGrpSpPr>
        <p:grpSpPr bwMode="auto">
          <a:xfrm>
            <a:off x="7848600" y="152400"/>
            <a:ext cx="685800" cy="609600"/>
            <a:chOff x="5088" y="48"/>
            <a:chExt cx="528" cy="480"/>
          </a:xfrm>
        </p:grpSpPr>
        <p:sp>
          <p:nvSpPr>
            <p:cNvPr id="39953" name="AutoShape 17"/>
            <p:cNvSpPr>
              <a:spLocks noChangeArrowheads="1"/>
            </p:cNvSpPr>
            <p:nvPr userDrawn="1"/>
          </p:nvSpPr>
          <p:spPr bwMode="auto">
            <a:xfrm>
              <a:off x="5088" y="144"/>
              <a:ext cx="288" cy="336"/>
            </a:xfrm>
            <a:prstGeom prst="flowChartAlternateProcess">
              <a:avLst/>
            </a:prstGeom>
            <a:noFill/>
            <a:ln w="28575">
              <a:solidFill>
                <a:srgbClr val="FFFF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9954" name="AutoShape 18"/>
            <p:cNvSpPr>
              <a:spLocks noChangeArrowheads="1"/>
            </p:cNvSpPr>
            <p:nvPr userDrawn="1"/>
          </p:nvSpPr>
          <p:spPr bwMode="auto">
            <a:xfrm>
              <a:off x="5185" y="48"/>
              <a:ext cx="385" cy="336"/>
            </a:xfrm>
            <a:prstGeom prst="flowChartAlternateProcess">
              <a:avLst/>
            </a:prstGeom>
            <a:noFill/>
            <a:ln w="9525">
              <a:solidFill>
                <a:srgbClr val="FFFF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9955" name="AutoShape 19"/>
            <p:cNvSpPr>
              <a:spLocks noChangeArrowheads="1"/>
            </p:cNvSpPr>
            <p:nvPr userDrawn="1"/>
          </p:nvSpPr>
          <p:spPr bwMode="auto">
            <a:xfrm>
              <a:off x="5232" y="192"/>
              <a:ext cx="384" cy="336"/>
            </a:xfrm>
            <a:prstGeom prst="flowChartAlternateProcess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39957" name="Line 21"/>
          <p:cNvSpPr>
            <a:spLocks noChangeShapeType="1"/>
          </p:cNvSpPr>
          <p:nvPr userDrawn="1"/>
        </p:nvSpPr>
        <p:spPr bwMode="auto">
          <a:xfrm>
            <a:off x="0" y="6477000"/>
            <a:ext cx="9144000" cy="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9958" name="AutoShape 22"/>
          <p:cNvSpPr>
            <a:spLocks noChangeArrowheads="1"/>
          </p:cNvSpPr>
          <p:nvPr userDrawn="1"/>
        </p:nvSpPr>
        <p:spPr bwMode="auto">
          <a:xfrm>
            <a:off x="76200" y="6553200"/>
            <a:ext cx="228600" cy="228600"/>
          </a:xfrm>
          <a:prstGeom prst="star16">
            <a:avLst>
              <a:gd name="adj" fmla="val 37500"/>
            </a:avLst>
          </a:prstGeom>
          <a:gradFill rotWithShape="1">
            <a:gsLst>
              <a:gs pos="0">
                <a:srgbClr val="CC99FF">
                  <a:gamma/>
                  <a:shade val="46275"/>
                  <a:invGamma/>
                </a:srgbClr>
              </a:gs>
              <a:gs pos="50000">
                <a:srgbClr val="CC99FF"/>
              </a:gs>
              <a:gs pos="100000">
                <a:srgbClr val="CC99FF">
                  <a:gamma/>
                  <a:shade val="46275"/>
                  <a:invGamma/>
                </a:srgbClr>
              </a:gs>
            </a:gsLst>
            <a:lin ang="2700000" scaled="1"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2" r:id="rId3"/>
    <p:sldLayoutId id="2147483731" r:id="rId4"/>
  </p:sldLayoutIdLst>
  <p:timing>
    <p:tnLst>
      <p:par>
        <p:cTn id="1" dur="indefinite" restart="never" nodeType="tmRoot"/>
      </p:par>
    </p:tnLst>
  </p:timing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0000"/>
        <a:buFont typeface="Wingdings" pitchFamily="2" charset="2"/>
        <a:buChar char="Ø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Ø"/>
        <a:defRPr sz="16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Ø"/>
        <a:defRPr sz="16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Ø"/>
        <a:defRPr sz="16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Ø"/>
        <a:defRPr sz="16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Ø"/>
        <a:defRPr sz="16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rPr lang="en-US" dirty="0" smtClean="0"/>
              <a:t>Function and </a:t>
            </a:r>
            <a:r>
              <a:rPr lang="en-US" dirty="0" err="1" smtClean="0"/>
              <a:t>struct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58B7D4-80C2-4EA6-9173-2F584D3BE0ED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Function.</a:t>
            </a:r>
          </a:p>
          <a:p>
            <a:r>
              <a:rPr lang="en-US" dirty="0" smtClean="0"/>
              <a:t>Multiple-file project.</a:t>
            </a:r>
          </a:p>
          <a:p>
            <a:r>
              <a:rPr lang="en-US" dirty="0" err="1" smtClean="0"/>
              <a:t>struct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Problem with repeated code:</a:t>
            </a:r>
          </a:p>
          <a:p>
            <a:pPr lvl="1"/>
            <a:r>
              <a:rPr lang="en-US" dirty="0" smtClean="0"/>
              <a:t>Consider a program:</a:t>
            </a:r>
          </a:p>
          <a:p>
            <a:pPr lvl="2"/>
            <a:r>
              <a:rPr lang="en-US" dirty="0" smtClean="0"/>
              <a:t>Enter 3 positive integers a, b, c &gt;= 0.</a:t>
            </a:r>
          </a:p>
          <a:p>
            <a:pPr lvl="2"/>
            <a:r>
              <a:rPr lang="en-US" dirty="0" smtClean="0"/>
              <a:t>Compute and print S = a! + b! + c!.</a:t>
            </a:r>
          </a:p>
          <a:p>
            <a:pPr lvl="1">
              <a:buNone/>
            </a:pPr>
            <a:r>
              <a:rPr lang="en-US" dirty="0" smtClean="0">
                <a:sym typeface="Wingdings" pitchFamily="2" charset="2"/>
              </a:rPr>
              <a:t>	 Identify repeated code.</a:t>
            </a:r>
          </a:p>
          <a:p>
            <a:pPr lvl="1"/>
            <a:r>
              <a:rPr lang="en-US" dirty="0" smtClean="0"/>
              <a:t>Disadvantages of repeated code:</a:t>
            </a:r>
          </a:p>
          <a:p>
            <a:pPr lvl="2"/>
            <a:r>
              <a:rPr lang="en-US" dirty="0" smtClean="0"/>
              <a:t>Time and cost.</a:t>
            </a:r>
          </a:p>
          <a:p>
            <a:pPr lvl="2"/>
            <a:r>
              <a:rPr lang="en-US" dirty="0" smtClean="0"/>
              <a:t>Changes </a:t>
            </a:r>
            <a:r>
              <a:rPr lang="en-US" dirty="0" smtClean="0">
                <a:sym typeface="Wingdings" pitchFamily="2" charset="2"/>
              </a:rPr>
              <a:t> fix multiple places.</a:t>
            </a:r>
          </a:p>
          <a:p>
            <a:pPr lvl="2">
              <a:buNone/>
            </a:pPr>
            <a:r>
              <a:rPr lang="en-US" dirty="0" smtClean="0">
                <a:sym typeface="Wingdings" pitchFamily="2" charset="2"/>
              </a:rPr>
              <a:t> Write once, reuse everywhere.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Function solution: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sp>
        <p:nvSpPr>
          <p:cNvPr id="68" name="Oval 67"/>
          <p:cNvSpPr/>
          <p:nvPr/>
        </p:nvSpPr>
        <p:spPr bwMode="auto">
          <a:xfrm>
            <a:off x="4127633" y="2209800"/>
            <a:ext cx="304800" cy="3048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accent4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143000" marR="0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69" name="Oval 68"/>
          <p:cNvSpPr/>
          <p:nvPr/>
        </p:nvSpPr>
        <p:spPr bwMode="auto">
          <a:xfrm>
            <a:off x="4086476" y="3733800"/>
            <a:ext cx="381000" cy="381000"/>
          </a:xfrm>
          <a:prstGeom prst="ellipse">
            <a:avLst/>
          </a:prstGeom>
          <a:noFill/>
          <a:ln w="9525" cap="flat" cmpd="sng" algn="ctr">
            <a:solidFill>
              <a:schemeClr val="tx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143000" marR="0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70" name="Oval 69"/>
          <p:cNvSpPr/>
          <p:nvPr/>
        </p:nvSpPr>
        <p:spPr bwMode="auto">
          <a:xfrm>
            <a:off x="4162676" y="3810000"/>
            <a:ext cx="228600" cy="2286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accent4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143000" marR="0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3742412" y="1828800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600" dirty="0" smtClean="0"/>
              <a:t>Define </a:t>
            </a:r>
            <a:r>
              <a:rPr lang="en-US" sz="1600" b="1" dirty="0" smtClean="0">
                <a:solidFill>
                  <a:srgbClr val="FFC000"/>
                </a:solidFill>
              </a:rPr>
              <a:t>F(x)</a:t>
            </a:r>
            <a:endParaRPr lang="en-US" sz="1600" b="1" dirty="0">
              <a:solidFill>
                <a:srgbClr val="FFC000"/>
              </a:solidFill>
            </a:endParaRPr>
          </a:p>
        </p:txBody>
      </p:sp>
      <p:sp>
        <p:nvSpPr>
          <p:cNvPr id="98" name="Diamond 97"/>
          <p:cNvSpPr/>
          <p:nvPr/>
        </p:nvSpPr>
        <p:spPr bwMode="auto">
          <a:xfrm>
            <a:off x="609223" y="2277308"/>
            <a:ext cx="990600" cy="457200"/>
          </a:xfrm>
          <a:prstGeom prst="diamond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accent4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143000" marR="0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837823" y="2319754"/>
            <a:ext cx="6479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600" b="1" dirty="0" smtClean="0">
                <a:solidFill>
                  <a:srgbClr val="FF0000"/>
                </a:solidFill>
              </a:rPr>
              <a:t>a</a:t>
            </a:r>
            <a:r>
              <a:rPr lang="en-US" sz="1600" dirty="0" smtClean="0">
                <a:solidFill>
                  <a:schemeClr val="tx2">
                    <a:lumMod val="50000"/>
                  </a:schemeClr>
                </a:solidFill>
              </a:rPr>
              <a:t> &gt; 0</a:t>
            </a:r>
            <a:endParaRPr lang="en-US" sz="1600" dirty="0">
              <a:solidFill>
                <a:schemeClr val="tx2">
                  <a:lumMod val="50000"/>
                </a:schemeClr>
              </a:solidFill>
            </a:endParaRPr>
          </a:p>
        </p:txBody>
      </p:sp>
      <p:cxnSp>
        <p:nvCxnSpPr>
          <p:cNvPr id="100" name="Straight Arrow Connector 99"/>
          <p:cNvCxnSpPr/>
          <p:nvPr/>
        </p:nvCxnSpPr>
        <p:spPr bwMode="auto">
          <a:xfrm>
            <a:off x="1561723" y="2505908"/>
            <a:ext cx="342900" cy="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sp>
        <p:nvSpPr>
          <p:cNvPr id="101" name="TextBox 100"/>
          <p:cNvSpPr txBox="1"/>
          <p:nvPr/>
        </p:nvSpPr>
        <p:spPr>
          <a:xfrm>
            <a:off x="1340904" y="2124908"/>
            <a:ext cx="5389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600" dirty="0" smtClean="0"/>
              <a:t>true</a:t>
            </a:r>
            <a:endParaRPr lang="en-US" sz="1600" dirty="0"/>
          </a:p>
        </p:txBody>
      </p:sp>
      <p:cxnSp>
        <p:nvCxnSpPr>
          <p:cNvPr id="102" name="Straight Arrow Connector 101"/>
          <p:cNvCxnSpPr/>
          <p:nvPr/>
        </p:nvCxnSpPr>
        <p:spPr bwMode="auto">
          <a:xfrm flipH="1">
            <a:off x="1066423" y="1828800"/>
            <a:ext cx="377" cy="448508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03" name="TextBox 102"/>
          <p:cNvSpPr txBox="1"/>
          <p:nvPr/>
        </p:nvSpPr>
        <p:spPr>
          <a:xfrm>
            <a:off x="533400" y="2633246"/>
            <a:ext cx="6174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600" dirty="0" smtClean="0"/>
              <a:t>false</a:t>
            </a:r>
            <a:endParaRPr lang="en-US" sz="1600" dirty="0"/>
          </a:p>
        </p:txBody>
      </p:sp>
      <p:cxnSp>
        <p:nvCxnSpPr>
          <p:cNvPr id="104" name="Straight Arrow Connector 103"/>
          <p:cNvCxnSpPr/>
          <p:nvPr/>
        </p:nvCxnSpPr>
        <p:spPr bwMode="auto">
          <a:xfrm flipH="1">
            <a:off x="1066423" y="1972508"/>
            <a:ext cx="1371600" cy="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05" name="Straight Arrow Connector 104"/>
          <p:cNvCxnSpPr/>
          <p:nvPr/>
        </p:nvCxnSpPr>
        <p:spPr bwMode="auto">
          <a:xfrm flipV="1">
            <a:off x="2438023" y="1972508"/>
            <a:ext cx="0" cy="2286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sp>
        <p:nvSpPr>
          <p:cNvPr id="106" name="Rectangle 105"/>
          <p:cNvSpPr/>
          <p:nvPr/>
        </p:nvSpPr>
        <p:spPr bwMode="auto">
          <a:xfrm>
            <a:off x="1904622" y="2201108"/>
            <a:ext cx="1219577" cy="609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accent4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143000" marR="0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1904623" y="2234625"/>
            <a:ext cx="12298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600" dirty="0" smtClean="0">
                <a:solidFill>
                  <a:schemeClr val="tx2">
                    <a:lumMod val="50000"/>
                  </a:schemeClr>
                </a:solidFill>
              </a:rPr>
              <a:t>S1 = S1 * </a:t>
            </a:r>
            <a:r>
              <a:rPr lang="en-US" sz="1600" b="1" dirty="0" smtClean="0">
                <a:solidFill>
                  <a:srgbClr val="FF0000"/>
                </a:solidFill>
              </a:rPr>
              <a:t>a</a:t>
            </a:r>
            <a:r>
              <a:rPr lang="en-US" sz="1600" dirty="0">
                <a:solidFill>
                  <a:schemeClr val="tx2">
                    <a:lumMod val="50000"/>
                  </a:schemeClr>
                </a:solidFill>
              </a:rPr>
              <a:t/>
            </a:r>
            <a:br>
              <a:rPr lang="en-US" sz="1600" dirty="0">
                <a:solidFill>
                  <a:schemeClr val="tx2">
                    <a:lumMod val="50000"/>
                  </a:schemeClr>
                </a:solidFill>
              </a:rPr>
            </a:br>
            <a:r>
              <a:rPr lang="en-US" sz="1600" b="1" dirty="0" smtClean="0">
                <a:solidFill>
                  <a:srgbClr val="FF0000"/>
                </a:solidFill>
              </a:rPr>
              <a:t>a</a:t>
            </a:r>
            <a:r>
              <a:rPr lang="en-US" sz="1600" dirty="0" smtClean="0">
                <a:solidFill>
                  <a:schemeClr val="tx2">
                    <a:lumMod val="50000"/>
                  </a:schemeClr>
                </a:solidFill>
              </a:rPr>
              <a:t> = </a:t>
            </a:r>
            <a:r>
              <a:rPr lang="en-US" sz="1600" b="1" dirty="0" smtClean="0">
                <a:solidFill>
                  <a:srgbClr val="FF0000"/>
                </a:solidFill>
              </a:rPr>
              <a:t>a</a:t>
            </a:r>
            <a:r>
              <a:rPr lang="en-US" sz="1600" dirty="0" smtClean="0">
                <a:solidFill>
                  <a:schemeClr val="tx2">
                    <a:lumMod val="50000"/>
                  </a:schemeClr>
                </a:solidFill>
              </a:rPr>
              <a:t> - 1</a:t>
            </a:r>
          </a:p>
        </p:txBody>
      </p:sp>
      <p:sp>
        <p:nvSpPr>
          <p:cNvPr id="132" name="Diamond 131"/>
          <p:cNvSpPr/>
          <p:nvPr/>
        </p:nvSpPr>
        <p:spPr bwMode="auto">
          <a:xfrm>
            <a:off x="609600" y="3352800"/>
            <a:ext cx="990600" cy="457200"/>
          </a:xfrm>
          <a:prstGeom prst="diamond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accent4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143000" marR="0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838200" y="3395246"/>
            <a:ext cx="6591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600" b="1" dirty="0" smtClean="0">
                <a:solidFill>
                  <a:srgbClr val="FF0000"/>
                </a:solidFill>
              </a:rPr>
              <a:t>b</a:t>
            </a:r>
            <a:r>
              <a:rPr lang="en-US" sz="1600" dirty="0" smtClean="0">
                <a:solidFill>
                  <a:schemeClr val="tx2">
                    <a:lumMod val="50000"/>
                  </a:schemeClr>
                </a:solidFill>
              </a:rPr>
              <a:t> &gt; 0</a:t>
            </a:r>
            <a:endParaRPr lang="en-US" sz="1600" dirty="0">
              <a:solidFill>
                <a:schemeClr val="tx2">
                  <a:lumMod val="50000"/>
                </a:schemeClr>
              </a:solidFill>
            </a:endParaRPr>
          </a:p>
        </p:txBody>
      </p:sp>
      <p:cxnSp>
        <p:nvCxnSpPr>
          <p:cNvPr id="134" name="Straight Arrow Connector 133"/>
          <p:cNvCxnSpPr/>
          <p:nvPr/>
        </p:nvCxnSpPr>
        <p:spPr bwMode="auto">
          <a:xfrm>
            <a:off x="1562100" y="3581400"/>
            <a:ext cx="342900" cy="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sp>
        <p:nvSpPr>
          <p:cNvPr id="135" name="TextBox 134"/>
          <p:cNvSpPr txBox="1"/>
          <p:nvPr/>
        </p:nvSpPr>
        <p:spPr>
          <a:xfrm>
            <a:off x="1341281" y="3200400"/>
            <a:ext cx="5389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600" dirty="0" smtClean="0"/>
              <a:t>true</a:t>
            </a:r>
            <a:endParaRPr lang="en-US" sz="1600" dirty="0"/>
          </a:p>
        </p:txBody>
      </p:sp>
      <p:cxnSp>
        <p:nvCxnSpPr>
          <p:cNvPr id="136" name="Straight Arrow Connector 135"/>
          <p:cNvCxnSpPr/>
          <p:nvPr/>
        </p:nvCxnSpPr>
        <p:spPr bwMode="auto">
          <a:xfrm>
            <a:off x="1066800" y="2743200"/>
            <a:ext cx="0" cy="6096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37" name="TextBox 136"/>
          <p:cNvSpPr txBox="1"/>
          <p:nvPr/>
        </p:nvSpPr>
        <p:spPr>
          <a:xfrm>
            <a:off x="533400" y="3700046"/>
            <a:ext cx="6174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600" dirty="0" smtClean="0"/>
              <a:t>false</a:t>
            </a:r>
            <a:endParaRPr lang="en-US" sz="1600" dirty="0"/>
          </a:p>
        </p:txBody>
      </p:sp>
      <p:cxnSp>
        <p:nvCxnSpPr>
          <p:cNvPr id="138" name="Straight Arrow Connector 137"/>
          <p:cNvCxnSpPr/>
          <p:nvPr/>
        </p:nvCxnSpPr>
        <p:spPr bwMode="auto">
          <a:xfrm flipH="1">
            <a:off x="1066800" y="3048000"/>
            <a:ext cx="1371600" cy="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39" name="Straight Arrow Connector 138"/>
          <p:cNvCxnSpPr/>
          <p:nvPr/>
        </p:nvCxnSpPr>
        <p:spPr bwMode="auto">
          <a:xfrm flipV="1">
            <a:off x="2438400" y="3048000"/>
            <a:ext cx="0" cy="2286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sp>
        <p:nvSpPr>
          <p:cNvPr id="140" name="Rectangle 139"/>
          <p:cNvSpPr/>
          <p:nvPr/>
        </p:nvSpPr>
        <p:spPr bwMode="auto">
          <a:xfrm>
            <a:off x="1905000" y="3276600"/>
            <a:ext cx="1219200" cy="609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accent4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143000" marR="0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41" name="TextBox 140"/>
          <p:cNvSpPr txBox="1"/>
          <p:nvPr/>
        </p:nvSpPr>
        <p:spPr>
          <a:xfrm>
            <a:off x="1905000" y="3310117"/>
            <a:ext cx="12298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600" dirty="0" smtClean="0">
                <a:solidFill>
                  <a:schemeClr val="tx2">
                    <a:lumMod val="50000"/>
                  </a:schemeClr>
                </a:solidFill>
              </a:rPr>
              <a:t>S2 = S2 * </a:t>
            </a:r>
            <a:r>
              <a:rPr lang="en-US" sz="1600" b="1" dirty="0" smtClean="0">
                <a:solidFill>
                  <a:srgbClr val="FF0000"/>
                </a:solidFill>
              </a:rPr>
              <a:t>b</a:t>
            </a:r>
            <a:r>
              <a:rPr lang="en-US" sz="1600" dirty="0">
                <a:solidFill>
                  <a:schemeClr val="tx2">
                    <a:lumMod val="50000"/>
                  </a:schemeClr>
                </a:solidFill>
              </a:rPr>
              <a:t/>
            </a:r>
            <a:br>
              <a:rPr lang="en-US" sz="1600" dirty="0">
                <a:solidFill>
                  <a:schemeClr val="tx2">
                    <a:lumMod val="50000"/>
                  </a:schemeClr>
                </a:solidFill>
              </a:rPr>
            </a:br>
            <a:r>
              <a:rPr lang="en-US" sz="1600" b="1" dirty="0" smtClean="0">
                <a:solidFill>
                  <a:srgbClr val="FF0000"/>
                </a:solidFill>
              </a:rPr>
              <a:t>b</a:t>
            </a:r>
            <a:r>
              <a:rPr lang="en-US" sz="1600" dirty="0" smtClean="0">
                <a:solidFill>
                  <a:schemeClr val="tx2">
                    <a:lumMod val="50000"/>
                  </a:schemeClr>
                </a:solidFill>
              </a:rPr>
              <a:t> = </a:t>
            </a:r>
            <a:r>
              <a:rPr lang="en-US" sz="1600" b="1" dirty="0" smtClean="0">
                <a:solidFill>
                  <a:srgbClr val="FF0000"/>
                </a:solidFill>
              </a:rPr>
              <a:t>b</a:t>
            </a:r>
            <a:r>
              <a:rPr lang="en-US" sz="1600" dirty="0" smtClean="0">
                <a:solidFill>
                  <a:schemeClr val="tx2">
                    <a:lumMod val="50000"/>
                  </a:schemeClr>
                </a:solidFill>
              </a:rPr>
              <a:t> - 1</a:t>
            </a:r>
          </a:p>
        </p:txBody>
      </p:sp>
      <p:sp>
        <p:nvSpPr>
          <p:cNvPr id="142" name="Diamond 141"/>
          <p:cNvSpPr/>
          <p:nvPr/>
        </p:nvSpPr>
        <p:spPr bwMode="auto">
          <a:xfrm>
            <a:off x="609600" y="4419600"/>
            <a:ext cx="990600" cy="457200"/>
          </a:xfrm>
          <a:prstGeom prst="diamond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accent4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143000" marR="0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43" name="TextBox 142"/>
          <p:cNvSpPr txBox="1"/>
          <p:nvPr/>
        </p:nvSpPr>
        <p:spPr>
          <a:xfrm>
            <a:off x="838200" y="4462046"/>
            <a:ext cx="6479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600" b="1" dirty="0" smtClean="0">
                <a:solidFill>
                  <a:srgbClr val="FF0000"/>
                </a:solidFill>
              </a:rPr>
              <a:t>c</a:t>
            </a:r>
            <a:r>
              <a:rPr lang="en-US" sz="1600" dirty="0" smtClean="0">
                <a:solidFill>
                  <a:schemeClr val="tx2">
                    <a:lumMod val="50000"/>
                  </a:schemeClr>
                </a:solidFill>
              </a:rPr>
              <a:t> &gt; 0</a:t>
            </a:r>
            <a:endParaRPr lang="en-US" sz="1600" dirty="0">
              <a:solidFill>
                <a:schemeClr val="tx2">
                  <a:lumMod val="50000"/>
                </a:schemeClr>
              </a:solidFill>
            </a:endParaRPr>
          </a:p>
        </p:txBody>
      </p:sp>
      <p:cxnSp>
        <p:nvCxnSpPr>
          <p:cNvPr id="144" name="Straight Arrow Connector 143"/>
          <p:cNvCxnSpPr/>
          <p:nvPr/>
        </p:nvCxnSpPr>
        <p:spPr bwMode="auto">
          <a:xfrm>
            <a:off x="1562100" y="4648200"/>
            <a:ext cx="342900" cy="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sp>
        <p:nvSpPr>
          <p:cNvPr id="145" name="TextBox 144"/>
          <p:cNvSpPr txBox="1"/>
          <p:nvPr/>
        </p:nvSpPr>
        <p:spPr>
          <a:xfrm>
            <a:off x="1341281" y="4267200"/>
            <a:ext cx="5389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600" dirty="0" smtClean="0"/>
              <a:t>true</a:t>
            </a:r>
            <a:endParaRPr lang="en-US" sz="1600" dirty="0"/>
          </a:p>
        </p:txBody>
      </p:sp>
      <p:sp>
        <p:nvSpPr>
          <p:cNvPr id="147" name="TextBox 146"/>
          <p:cNvSpPr txBox="1"/>
          <p:nvPr/>
        </p:nvSpPr>
        <p:spPr>
          <a:xfrm>
            <a:off x="533400" y="4766846"/>
            <a:ext cx="6174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600" dirty="0" smtClean="0"/>
              <a:t>false</a:t>
            </a:r>
            <a:endParaRPr lang="en-US" sz="1600" dirty="0"/>
          </a:p>
        </p:txBody>
      </p:sp>
      <p:cxnSp>
        <p:nvCxnSpPr>
          <p:cNvPr id="148" name="Straight Arrow Connector 147"/>
          <p:cNvCxnSpPr/>
          <p:nvPr/>
        </p:nvCxnSpPr>
        <p:spPr bwMode="auto">
          <a:xfrm flipH="1">
            <a:off x="1066800" y="4114800"/>
            <a:ext cx="1371600" cy="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49" name="Straight Arrow Connector 148"/>
          <p:cNvCxnSpPr/>
          <p:nvPr/>
        </p:nvCxnSpPr>
        <p:spPr bwMode="auto">
          <a:xfrm flipV="1">
            <a:off x="2438400" y="4114800"/>
            <a:ext cx="0" cy="2286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sp>
        <p:nvSpPr>
          <p:cNvPr id="150" name="Rectangle 149"/>
          <p:cNvSpPr/>
          <p:nvPr/>
        </p:nvSpPr>
        <p:spPr bwMode="auto">
          <a:xfrm>
            <a:off x="1905000" y="4343400"/>
            <a:ext cx="1219200" cy="609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accent4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143000" marR="0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51" name="TextBox 150"/>
          <p:cNvSpPr txBox="1"/>
          <p:nvPr/>
        </p:nvSpPr>
        <p:spPr>
          <a:xfrm>
            <a:off x="1905000" y="4376917"/>
            <a:ext cx="12186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600" dirty="0" smtClean="0">
                <a:solidFill>
                  <a:schemeClr val="tx2">
                    <a:lumMod val="50000"/>
                  </a:schemeClr>
                </a:solidFill>
              </a:rPr>
              <a:t>S3 = S3 * </a:t>
            </a:r>
            <a:r>
              <a:rPr lang="en-US" sz="1600" b="1" dirty="0" smtClean="0">
                <a:solidFill>
                  <a:srgbClr val="FF0000"/>
                </a:solidFill>
              </a:rPr>
              <a:t>c</a:t>
            </a:r>
            <a:r>
              <a:rPr lang="en-US" sz="1600" dirty="0">
                <a:solidFill>
                  <a:schemeClr val="tx2">
                    <a:lumMod val="50000"/>
                  </a:schemeClr>
                </a:solidFill>
              </a:rPr>
              <a:t/>
            </a:r>
            <a:br>
              <a:rPr lang="en-US" sz="1600" dirty="0">
                <a:solidFill>
                  <a:schemeClr val="tx2">
                    <a:lumMod val="50000"/>
                  </a:schemeClr>
                </a:solidFill>
              </a:rPr>
            </a:br>
            <a:r>
              <a:rPr lang="en-US" sz="1600" b="1" dirty="0" smtClean="0">
                <a:solidFill>
                  <a:srgbClr val="FF0000"/>
                </a:solidFill>
              </a:rPr>
              <a:t>c</a:t>
            </a:r>
            <a:r>
              <a:rPr lang="en-US" sz="1600" dirty="0" smtClean="0">
                <a:solidFill>
                  <a:schemeClr val="tx2">
                    <a:lumMod val="50000"/>
                  </a:schemeClr>
                </a:solidFill>
              </a:rPr>
              <a:t> = </a:t>
            </a:r>
            <a:r>
              <a:rPr lang="en-US" sz="1600" b="1" dirty="0" smtClean="0">
                <a:solidFill>
                  <a:srgbClr val="FF0000"/>
                </a:solidFill>
              </a:rPr>
              <a:t>c</a:t>
            </a:r>
            <a:r>
              <a:rPr lang="en-US" sz="1600" dirty="0" smtClean="0">
                <a:solidFill>
                  <a:schemeClr val="tx2">
                    <a:lumMod val="50000"/>
                  </a:schemeClr>
                </a:solidFill>
              </a:rPr>
              <a:t> - 1</a:t>
            </a:r>
          </a:p>
        </p:txBody>
      </p:sp>
      <p:cxnSp>
        <p:nvCxnSpPr>
          <p:cNvPr id="160" name="Straight Arrow Connector 159"/>
          <p:cNvCxnSpPr/>
          <p:nvPr/>
        </p:nvCxnSpPr>
        <p:spPr bwMode="auto">
          <a:xfrm>
            <a:off x="1066800" y="3810000"/>
            <a:ext cx="0" cy="6096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61" name="Rectangle 160"/>
          <p:cNvSpPr/>
          <p:nvPr/>
        </p:nvSpPr>
        <p:spPr bwMode="auto">
          <a:xfrm>
            <a:off x="228600" y="5257800"/>
            <a:ext cx="17526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accent4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143000" marR="0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62" name="TextBox 161"/>
          <p:cNvSpPr txBox="1"/>
          <p:nvPr/>
        </p:nvSpPr>
        <p:spPr>
          <a:xfrm>
            <a:off x="228600" y="5300246"/>
            <a:ext cx="17780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600" dirty="0" smtClean="0">
                <a:solidFill>
                  <a:schemeClr val="tx2">
                    <a:lumMod val="50000"/>
                  </a:schemeClr>
                </a:solidFill>
              </a:rPr>
              <a:t>S = S1 + S2 + S3</a:t>
            </a:r>
            <a:endParaRPr lang="en-US" sz="1600" dirty="0">
              <a:solidFill>
                <a:schemeClr val="tx2">
                  <a:lumMod val="50000"/>
                </a:schemeClr>
              </a:solidFill>
            </a:endParaRPr>
          </a:p>
        </p:txBody>
      </p:sp>
      <p:cxnSp>
        <p:nvCxnSpPr>
          <p:cNvPr id="163" name="Straight Arrow Connector 162"/>
          <p:cNvCxnSpPr/>
          <p:nvPr/>
        </p:nvCxnSpPr>
        <p:spPr bwMode="auto">
          <a:xfrm>
            <a:off x="1066800" y="4876800"/>
            <a:ext cx="0" cy="3810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65" name="Straight Arrow Connector 164"/>
          <p:cNvCxnSpPr/>
          <p:nvPr/>
        </p:nvCxnSpPr>
        <p:spPr bwMode="auto">
          <a:xfrm>
            <a:off x="1066800" y="5638800"/>
            <a:ext cx="0" cy="2286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69" name="Rectangle 168"/>
          <p:cNvSpPr/>
          <p:nvPr/>
        </p:nvSpPr>
        <p:spPr bwMode="auto">
          <a:xfrm>
            <a:off x="6984949" y="3962400"/>
            <a:ext cx="17526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accent4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143000" marR="0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70" name="TextBox 169"/>
          <p:cNvSpPr txBox="1"/>
          <p:nvPr/>
        </p:nvSpPr>
        <p:spPr>
          <a:xfrm>
            <a:off x="6984949" y="4004846"/>
            <a:ext cx="17780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600" dirty="0" smtClean="0">
                <a:solidFill>
                  <a:schemeClr val="tx2">
                    <a:lumMod val="50000"/>
                  </a:schemeClr>
                </a:solidFill>
              </a:rPr>
              <a:t>S = S1 + S2 + S3</a:t>
            </a:r>
            <a:endParaRPr lang="en-US" sz="16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71" name="Rectangle 170"/>
          <p:cNvSpPr/>
          <p:nvPr/>
        </p:nvSpPr>
        <p:spPr bwMode="auto">
          <a:xfrm>
            <a:off x="7010400" y="3352800"/>
            <a:ext cx="17526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accent4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143000" marR="0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7334918" y="3395246"/>
            <a:ext cx="10470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600" dirty="0" smtClean="0">
                <a:solidFill>
                  <a:schemeClr val="tx2">
                    <a:lumMod val="50000"/>
                  </a:schemeClr>
                </a:solidFill>
              </a:rPr>
              <a:t>S3 = </a:t>
            </a:r>
            <a:r>
              <a:rPr lang="en-US" sz="1600" b="1" dirty="0" smtClean="0">
                <a:solidFill>
                  <a:srgbClr val="FF0000"/>
                </a:solidFill>
              </a:rPr>
              <a:t>F(c)</a:t>
            </a:r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173" name="Rectangle 172"/>
          <p:cNvSpPr/>
          <p:nvPr/>
        </p:nvSpPr>
        <p:spPr bwMode="auto">
          <a:xfrm>
            <a:off x="7010400" y="2743200"/>
            <a:ext cx="17526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accent4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143000" marR="0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74" name="TextBox 173"/>
          <p:cNvSpPr txBox="1"/>
          <p:nvPr/>
        </p:nvSpPr>
        <p:spPr>
          <a:xfrm>
            <a:off x="7334918" y="2785646"/>
            <a:ext cx="10583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600" dirty="0" smtClean="0">
                <a:solidFill>
                  <a:schemeClr val="tx2">
                    <a:lumMod val="50000"/>
                  </a:schemeClr>
                </a:solidFill>
              </a:rPr>
              <a:t>S2 = </a:t>
            </a:r>
            <a:r>
              <a:rPr lang="en-US" sz="1600" b="1" dirty="0" smtClean="0">
                <a:solidFill>
                  <a:srgbClr val="FF0000"/>
                </a:solidFill>
              </a:rPr>
              <a:t>F(b)</a:t>
            </a:r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175" name="Rectangle 174"/>
          <p:cNvSpPr/>
          <p:nvPr/>
        </p:nvSpPr>
        <p:spPr bwMode="auto">
          <a:xfrm>
            <a:off x="7010400" y="2133600"/>
            <a:ext cx="17526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accent4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143000" marR="0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76" name="TextBox 175"/>
          <p:cNvSpPr txBox="1"/>
          <p:nvPr/>
        </p:nvSpPr>
        <p:spPr>
          <a:xfrm>
            <a:off x="7334918" y="2176046"/>
            <a:ext cx="10470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600" dirty="0" smtClean="0">
                <a:solidFill>
                  <a:schemeClr val="tx2">
                    <a:lumMod val="50000"/>
                  </a:schemeClr>
                </a:solidFill>
              </a:rPr>
              <a:t>S1 = </a:t>
            </a:r>
            <a:r>
              <a:rPr lang="en-US" sz="1600" b="1" dirty="0" smtClean="0">
                <a:solidFill>
                  <a:srgbClr val="FF0000"/>
                </a:solidFill>
              </a:rPr>
              <a:t>F(a)</a:t>
            </a:r>
            <a:endParaRPr lang="en-US" sz="1600" b="1" dirty="0">
              <a:solidFill>
                <a:srgbClr val="FF0000"/>
              </a:solidFill>
            </a:endParaRPr>
          </a:p>
        </p:txBody>
      </p:sp>
      <p:cxnSp>
        <p:nvCxnSpPr>
          <p:cNvPr id="177" name="Straight Arrow Connector 176"/>
          <p:cNvCxnSpPr/>
          <p:nvPr/>
        </p:nvCxnSpPr>
        <p:spPr bwMode="auto">
          <a:xfrm>
            <a:off x="7848600" y="1905000"/>
            <a:ext cx="0" cy="2286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78" name="Straight Arrow Connector 177"/>
          <p:cNvCxnSpPr/>
          <p:nvPr/>
        </p:nvCxnSpPr>
        <p:spPr bwMode="auto">
          <a:xfrm>
            <a:off x="7848600" y="2514600"/>
            <a:ext cx="0" cy="2286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79" name="Straight Arrow Connector 178"/>
          <p:cNvCxnSpPr/>
          <p:nvPr/>
        </p:nvCxnSpPr>
        <p:spPr bwMode="auto">
          <a:xfrm>
            <a:off x="7848600" y="3124200"/>
            <a:ext cx="0" cy="2286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80" name="Straight Arrow Connector 179"/>
          <p:cNvCxnSpPr/>
          <p:nvPr/>
        </p:nvCxnSpPr>
        <p:spPr bwMode="auto">
          <a:xfrm>
            <a:off x="7848600" y="3733800"/>
            <a:ext cx="0" cy="2286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81" name="Straight Arrow Connector 180"/>
          <p:cNvCxnSpPr/>
          <p:nvPr/>
        </p:nvCxnSpPr>
        <p:spPr bwMode="auto">
          <a:xfrm>
            <a:off x="7848600" y="4343400"/>
            <a:ext cx="0" cy="2286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82" name="Diamond 181"/>
          <p:cNvSpPr/>
          <p:nvPr/>
        </p:nvSpPr>
        <p:spPr bwMode="auto">
          <a:xfrm>
            <a:off x="3810000" y="2963108"/>
            <a:ext cx="990600" cy="457200"/>
          </a:xfrm>
          <a:prstGeom prst="diamond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accent4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143000" marR="0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83" name="TextBox 182"/>
          <p:cNvSpPr txBox="1"/>
          <p:nvPr/>
        </p:nvSpPr>
        <p:spPr>
          <a:xfrm>
            <a:off x="4038600" y="3005554"/>
            <a:ext cx="6479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600" b="1" dirty="0" smtClean="0">
                <a:solidFill>
                  <a:srgbClr val="FF0000"/>
                </a:solidFill>
              </a:rPr>
              <a:t>x</a:t>
            </a:r>
            <a:r>
              <a:rPr lang="en-US" sz="1600" dirty="0" smtClean="0">
                <a:solidFill>
                  <a:schemeClr val="tx2">
                    <a:lumMod val="50000"/>
                  </a:schemeClr>
                </a:solidFill>
              </a:rPr>
              <a:t> &gt; 0</a:t>
            </a:r>
            <a:endParaRPr lang="en-US" sz="1600" dirty="0">
              <a:solidFill>
                <a:schemeClr val="tx2">
                  <a:lumMod val="50000"/>
                </a:schemeClr>
              </a:solidFill>
            </a:endParaRPr>
          </a:p>
        </p:txBody>
      </p:sp>
      <p:cxnSp>
        <p:nvCxnSpPr>
          <p:cNvPr id="184" name="Straight Arrow Connector 183"/>
          <p:cNvCxnSpPr/>
          <p:nvPr/>
        </p:nvCxnSpPr>
        <p:spPr bwMode="auto">
          <a:xfrm>
            <a:off x="4762500" y="3191708"/>
            <a:ext cx="342900" cy="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sp>
        <p:nvSpPr>
          <p:cNvPr id="185" name="TextBox 184"/>
          <p:cNvSpPr txBox="1"/>
          <p:nvPr/>
        </p:nvSpPr>
        <p:spPr>
          <a:xfrm>
            <a:off x="4541681" y="2810708"/>
            <a:ext cx="5389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600" dirty="0" smtClean="0"/>
              <a:t>true</a:t>
            </a:r>
            <a:endParaRPr lang="en-US" sz="1600" dirty="0"/>
          </a:p>
        </p:txBody>
      </p:sp>
      <p:cxnSp>
        <p:nvCxnSpPr>
          <p:cNvPr id="186" name="Straight Arrow Connector 185"/>
          <p:cNvCxnSpPr/>
          <p:nvPr/>
        </p:nvCxnSpPr>
        <p:spPr bwMode="auto">
          <a:xfrm flipH="1">
            <a:off x="4267200" y="2514600"/>
            <a:ext cx="377" cy="448508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87" name="Straight Arrow Connector 186"/>
          <p:cNvCxnSpPr/>
          <p:nvPr/>
        </p:nvCxnSpPr>
        <p:spPr bwMode="auto">
          <a:xfrm flipH="1">
            <a:off x="4267200" y="2658308"/>
            <a:ext cx="1371600" cy="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88" name="Straight Arrow Connector 187"/>
          <p:cNvCxnSpPr/>
          <p:nvPr/>
        </p:nvCxnSpPr>
        <p:spPr bwMode="auto">
          <a:xfrm flipV="1">
            <a:off x="5638800" y="2658308"/>
            <a:ext cx="0" cy="2286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sp>
        <p:nvSpPr>
          <p:cNvPr id="189" name="Rectangle 188"/>
          <p:cNvSpPr/>
          <p:nvPr/>
        </p:nvSpPr>
        <p:spPr bwMode="auto">
          <a:xfrm>
            <a:off x="5105399" y="2886908"/>
            <a:ext cx="1219577" cy="609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accent4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143000" marR="0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90" name="TextBox 189"/>
          <p:cNvSpPr txBox="1"/>
          <p:nvPr/>
        </p:nvSpPr>
        <p:spPr>
          <a:xfrm>
            <a:off x="5181976" y="2920425"/>
            <a:ext cx="9685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600" dirty="0" smtClean="0">
                <a:solidFill>
                  <a:schemeClr val="tx2">
                    <a:lumMod val="50000"/>
                  </a:schemeClr>
                </a:solidFill>
              </a:rPr>
              <a:t>T = T * </a:t>
            </a:r>
            <a:r>
              <a:rPr lang="en-US" sz="1600" b="1" dirty="0" smtClean="0">
                <a:solidFill>
                  <a:srgbClr val="FF0000"/>
                </a:solidFill>
              </a:rPr>
              <a:t>x</a:t>
            </a:r>
            <a:r>
              <a:rPr lang="en-US" sz="1600" dirty="0">
                <a:solidFill>
                  <a:schemeClr val="tx2">
                    <a:lumMod val="50000"/>
                  </a:schemeClr>
                </a:solidFill>
              </a:rPr>
              <a:t/>
            </a:r>
            <a:br>
              <a:rPr lang="en-US" sz="1600" dirty="0">
                <a:solidFill>
                  <a:schemeClr val="tx2">
                    <a:lumMod val="50000"/>
                  </a:schemeClr>
                </a:solidFill>
              </a:rPr>
            </a:br>
            <a:r>
              <a:rPr lang="en-US" sz="1600" b="1" dirty="0" smtClean="0">
                <a:solidFill>
                  <a:srgbClr val="FF0000"/>
                </a:solidFill>
              </a:rPr>
              <a:t>x</a:t>
            </a:r>
            <a:r>
              <a:rPr lang="en-US" sz="1600" dirty="0" smtClean="0">
                <a:solidFill>
                  <a:schemeClr val="tx2">
                    <a:lumMod val="50000"/>
                  </a:schemeClr>
                </a:solidFill>
              </a:rPr>
              <a:t> = </a:t>
            </a:r>
            <a:r>
              <a:rPr lang="en-US" sz="1600" b="1" dirty="0" smtClean="0">
                <a:solidFill>
                  <a:srgbClr val="FF0000"/>
                </a:solidFill>
              </a:rPr>
              <a:t>x</a:t>
            </a:r>
            <a:r>
              <a:rPr lang="en-US" sz="1600" dirty="0" smtClean="0">
                <a:solidFill>
                  <a:schemeClr val="tx2">
                    <a:lumMod val="50000"/>
                  </a:schemeClr>
                </a:solidFill>
              </a:rPr>
              <a:t> - 1</a:t>
            </a:r>
          </a:p>
        </p:txBody>
      </p:sp>
      <p:cxnSp>
        <p:nvCxnSpPr>
          <p:cNvPr id="191" name="Straight Arrow Connector 190"/>
          <p:cNvCxnSpPr/>
          <p:nvPr/>
        </p:nvCxnSpPr>
        <p:spPr bwMode="auto">
          <a:xfrm>
            <a:off x="4267576" y="3429000"/>
            <a:ext cx="0" cy="3048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92" name="TextBox 191"/>
          <p:cNvSpPr txBox="1"/>
          <p:nvPr/>
        </p:nvSpPr>
        <p:spPr>
          <a:xfrm>
            <a:off x="3733800" y="3319046"/>
            <a:ext cx="6174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600" dirty="0" smtClean="0"/>
              <a:t>false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nimBg="1"/>
      <p:bldP spid="69" grpId="0" animBg="1"/>
      <p:bldP spid="70" grpId="0" animBg="1"/>
      <p:bldP spid="71" grpId="0"/>
      <p:bldP spid="169" grpId="0" animBg="1"/>
      <p:bldP spid="170" grpId="0"/>
      <p:bldP spid="171" grpId="0" animBg="1"/>
      <p:bldP spid="172" grpId="0"/>
      <p:bldP spid="173" grpId="0" animBg="1"/>
      <p:bldP spid="174" grpId="0"/>
      <p:bldP spid="175" grpId="0" animBg="1"/>
      <p:bldP spid="176" grpId="0"/>
      <p:bldP spid="182" grpId="0" animBg="1"/>
      <p:bldP spid="183" grpId="0"/>
      <p:bldP spid="185" grpId="0"/>
      <p:bldP spid="189" grpId="0" animBg="1"/>
      <p:bldP spid="190" grpId="0"/>
      <p:bldP spid="19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C/C++ function:</a:t>
            </a:r>
          </a:p>
          <a:p>
            <a:pPr lvl="1"/>
            <a:r>
              <a:rPr lang="en-US" dirty="0" smtClean="0"/>
              <a:t>A named block of statements.</a:t>
            </a:r>
          </a:p>
          <a:p>
            <a:pPr lvl="1"/>
            <a:r>
              <a:rPr lang="en-US" dirty="0" smtClean="0"/>
              <a:t>Can be called:</a:t>
            </a:r>
          </a:p>
          <a:p>
            <a:pPr lvl="2"/>
            <a:r>
              <a:rPr lang="en-US" dirty="0" smtClean="0"/>
              <a:t>From anywhere in program.</a:t>
            </a:r>
          </a:p>
          <a:p>
            <a:pPr lvl="2"/>
            <a:r>
              <a:rPr lang="en-US" dirty="0" smtClean="0"/>
              <a:t>With different arguments.</a:t>
            </a:r>
          </a:p>
          <a:p>
            <a:pPr lvl="1"/>
            <a:r>
              <a:rPr lang="en-US" dirty="0" smtClean="0"/>
              <a:t>Function structure:</a:t>
            </a:r>
          </a:p>
          <a:p>
            <a:pPr lvl="2"/>
            <a:r>
              <a:rPr lang="en-US" dirty="0" smtClean="0"/>
              <a:t>Prototype: declaration.</a:t>
            </a:r>
          </a:p>
          <a:p>
            <a:pPr lvl="3"/>
            <a:r>
              <a:rPr lang="en-US" dirty="0" smtClean="0"/>
              <a:t>Function name.</a:t>
            </a:r>
          </a:p>
          <a:p>
            <a:pPr lvl="3"/>
            <a:r>
              <a:rPr lang="en-US" dirty="0" smtClean="0"/>
              <a:t>Arguments.</a:t>
            </a:r>
          </a:p>
          <a:p>
            <a:pPr lvl="3"/>
            <a:r>
              <a:rPr lang="en-US" dirty="0" smtClean="0"/>
              <a:t>Return type.</a:t>
            </a:r>
          </a:p>
          <a:p>
            <a:pPr lvl="3">
              <a:buNone/>
            </a:pPr>
            <a:r>
              <a:rPr lang="en-US" dirty="0" smtClean="0">
                <a:sym typeface="Wingdings" pitchFamily="2" charset="2"/>
              </a:rPr>
              <a:t> Identification.</a:t>
            </a:r>
            <a:endParaRPr lang="en-US" dirty="0" smtClean="0"/>
          </a:p>
          <a:p>
            <a:pPr lvl="2"/>
            <a:r>
              <a:rPr lang="en-US" dirty="0" smtClean="0"/>
              <a:t>Body: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sp>
        <p:nvSpPr>
          <p:cNvPr id="6" name="AutoShape 9"/>
          <p:cNvSpPr>
            <a:spLocks noChangeArrowheads="1"/>
          </p:cNvSpPr>
          <p:nvPr/>
        </p:nvSpPr>
        <p:spPr bwMode="auto">
          <a:xfrm>
            <a:off x="5334000" y="3733800"/>
            <a:ext cx="3429000" cy="12954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45720" rIns="182880" bIns="182880" anchor="t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Prototype</a:t>
            </a:r>
          </a:p>
        </p:txBody>
      </p:sp>
      <p:sp>
        <p:nvSpPr>
          <p:cNvPr id="7" name="AutoShape 9"/>
          <p:cNvSpPr>
            <a:spLocks noChangeArrowheads="1"/>
          </p:cNvSpPr>
          <p:nvPr/>
        </p:nvSpPr>
        <p:spPr bwMode="auto">
          <a:xfrm>
            <a:off x="5334000" y="5105400"/>
            <a:ext cx="3429000" cy="1143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Body</a:t>
            </a:r>
          </a:p>
        </p:txBody>
      </p:sp>
      <p:cxnSp>
        <p:nvCxnSpPr>
          <p:cNvPr id="8" name="Straight Arrow Connector 7"/>
          <p:cNvCxnSpPr/>
          <p:nvPr/>
        </p:nvCxnSpPr>
        <p:spPr bwMode="auto">
          <a:xfrm flipV="1">
            <a:off x="5486400" y="4333320"/>
            <a:ext cx="914400" cy="10080"/>
          </a:xfrm>
          <a:prstGeom prst="straightConnector1">
            <a:avLst/>
          </a:prstGeom>
          <a:noFill/>
          <a:ln w="38100" cap="flat" cmpd="sng" algn="ctr">
            <a:solidFill>
              <a:srgbClr val="33CC33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11" name="Straight Arrow Connector 10"/>
          <p:cNvCxnSpPr/>
          <p:nvPr/>
        </p:nvCxnSpPr>
        <p:spPr bwMode="auto">
          <a:xfrm flipV="1">
            <a:off x="5486400" y="4560332"/>
            <a:ext cx="914400" cy="11668"/>
          </a:xfrm>
          <a:prstGeom prst="straightConnector1">
            <a:avLst/>
          </a:prstGeom>
          <a:noFill/>
          <a:ln w="38100" cap="flat" cmpd="sng" algn="ctr">
            <a:solidFill>
              <a:srgbClr val="33CC33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12" name="Straight Arrow Connector 11"/>
          <p:cNvCxnSpPr/>
          <p:nvPr/>
        </p:nvCxnSpPr>
        <p:spPr bwMode="auto">
          <a:xfrm flipV="1">
            <a:off x="5486400" y="4790520"/>
            <a:ext cx="914400" cy="10080"/>
          </a:xfrm>
          <a:prstGeom prst="straightConnector1">
            <a:avLst/>
          </a:prstGeom>
          <a:noFill/>
          <a:ln w="38100" cap="flat" cmpd="sng" algn="ctr">
            <a:solidFill>
              <a:srgbClr val="33CC33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13" name="Straight Arrow Connector 12"/>
          <p:cNvCxnSpPr/>
          <p:nvPr/>
        </p:nvCxnSpPr>
        <p:spPr bwMode="auto">
          <a:xfrm>
            <a:off x="7696200" y="4572000"/>
            <a:ext cx="990600" cy="1588"/>
          </a:xfrm>
          <a:prstGeom prst="straightConnector1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5530678" y="4004846"/>
            <a:ext cx="6415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600" dirty="0" smtClean="0">
                <a:solidFill>
                  <a:schemeClr val="tx2">
                    <a:lumMod val="50000"/>
                  </a:schemeClr>
                </a:solidFill>
              </a:rPr>
              <a:t>Input</a:t>
            </a:r>
            <a:endParaRPr lang="en-US" sz="16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656377" y="4191000"/>
            <a:ext cx="8018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600" dirty="0" smtClean="0">
                <a:solidFill>
                  <a:schemeClr val="tx2">
                    <a:lumMod val="50000"/>
                  </a:schemeClr>
                </a:solidFill>
              </a:rPr>
              <a:t>Output</a:t>
            </a:r>
            <a:endParaRPr lang="en-US" sz="16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6" name="AutoShape 9"/>
          <p:cNvSpPr>
            <a:spLocks noChangeArrowheads="1"/>
          </p:cNvSpPr>
          <p:nvPr/>
        </p:nvSpPr>
        <p:spPr bwMode="auto">
          <a:xfrm>
            <a:off x="6477000" y="4267200"/>
            <a:ext cx="1066800" cy="6096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600" dirty="0" smtClean="0">
                <a:solidFill>
                  <a:srgbClr val="0000FF"/>
                </a:solidFill>
              </a:rPr>
              <a:t>Name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4" grpId="0"/>
      <p:bldP spid="15" grpId="0"/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C/C++ function:</a:t>
            </a:r>
          </a:p>
          <a:p>
            <a:pPr lvl="1"/>
            <a:r>
              <a:rPr lang="en-US" dirty="0" smtClean="0"/>
              <a:t>Declaration (prototype):</a:t>
            </a:r>
          </a:p>
          <a:p>
            <a:pPr lvl="1">
              <a:buNone/>
            </a:pPr>
            <a:r>
              <a:rPr lang="en-US" sz="1800" i="1" dirty="0" smtClean="0"/>
              <a:t>	&lt;Return type&gt;</a:t>
            </a:r>
            <a:r>
              <a:rPr lang="en-US" sz="1800" dirty="0" smtClean="0"/>
              <a:t> </a:t>
            </a:r>
            <a:r>
              <a:rPr lang="en-US" sz="1800" b="1" dirty="0" smtClean="0">
                <a:solidFill>
                  <a:srgbClr val="FFC000"/>
                </a:solidFill>
              </a:rPr>
              <a:t>&lt;Function name&gt;( </a:t>
            </a:r>
            <a:r>
              <a:rPr lang="en-US" sz="1800" i="1" dirty="0" smtClean="0"/>
              <a:t>&lt;Arguments&gt; </a:t>
            </a:r>
            <a:r>
              <a:rPr lang="en-US" sz="1800" b="1" dirty="0" smtClean="0">
                <a:solidFill>
                  <a:srgbClr val="FFC000"/>
                </a:solidFill>
              </a:rPr>
              <a:t>)</a:t>
            </a:r>
            <a:r>
              <a:rPr lang="en-US" sz="1800" dirty="0" smtClean="0"/>
              <a:t>;</a:t>
            </a:r>
          </a:p>
          <a:p>
            <a:pPr lvl="1">
              <a:buNone/>
            </a:pPr>
            <a:r>
              <a:rPr lang="en-US" sz="1800" dirty="0" smtClean="0"/>
              <a:t>	&lt;Return type&gt;: </a:t>
            </a:r>
            <a:r>
              <a:rPr lang="en-US" sz="1800" dirty="0" err="1" smtClean="0"/>
              <a:t>int</a:t>
            </a:r>
            <a:r>
              <a:rPr lang="en-US" sz="1800" dirty="0" smtClean="0"/>
              <a:t>, float, char, …, </a:t>
            </a:r>
            <a:r>
              <a:rPr lang="en-US" sz="1800" b="1" dirty="0" smtClean="0">
                <a:solidFill>
                  <a:srgbClr val="FFC000"/>
                </a:solidFill>
              </a:rPr>
              <a:t>void</a:t>
            </a:r>
            <a:r>
              <a:rPr lang="en-US" sz="1800" dirty="0" smtClean="0"/>
              <a:t> (</a:t>
            </a:r>
            <a:r>
              <a:rPr lang="en-US" sz="1800" dirty="0" err="1" smtClean="0"/>
              <a:t>không</a:t>
            </a:r>
            <a:r>
              <a:rPr lang="en-US" sz="1800" dirty="0" smtClean="0"/>
              <a:t> </a:t>
            </a:r>
            <a:r>
              <a:rPr lang="en-US" sz="1800" dirty="0" err="1" smtClean="0"/>
              <a:t>trả</a:t>
            </a:r>
            <a:r>
              <a:rPr lang="en-US" sz="1800" dirty="0" smtClean="0"/>
              <a:t> </a:t>
            </a:r>
            <a:r>
              <a:rPr lang="en-US" sz="1800" dirty="0" err="1" smtClean="0"/>
              <a:t>về</a:t>
            </a:r>
            <a:r>
              <a:rPr lang="en-US" sz="1800" dirty="0" smtClean="0"/>
              <a:t>).</a:t>
            </a:r>
          </a:p>
          <a:p>
            <a:pPr lvl="3">
              <a:buNone/>
            </a:pPr>
            <a:r>
              <a:rPr lang="en-US" sz="1800" dirty="0" smtClean="0"/>
              <a:t>float </a:t>
            </a:r>
            <a:r>
              <a:rPr lang="en-US" sz="1800" b="1" dirty="0" err="1" smtClean="0">
                <a:solidFill>
                  <a:srgbClr val="FFC000"/>
                </a:solidFill>
              </a:rPr>
              <a:t>calcGPA</a:t>
            </a:r>
            <a:r>
              <a:rPr lang="en-US" sz="1800" b="1" dirty="0" smtClean="0">
                <a:solidFill>
                  <a:srgbClr val="FFC000"/>
                </a:solidFill>
              </a:rPr>
              <a:t>( </a:t>
            </a:r>
            <a:r>
              <a:rPr lang="en-US" sz="1800" dirty="0" smtClean="0"/>
              <a:t>float literature, float math </a:t>
            </a:r>
            <a:r>
              <a:rPr lang="en-US" sz="1800" b="1" dirty="0" smtClean="0">
                <a:solidFill>
                  <a:srgbClr val="FFC000"/>
                </a:solidFill>
              </a:rPr>
              <a:t>)</a:t>
            </a:r>
            <a:r>
              <a:rPr lang="en-US" sz="1800" dirty="0" smtClean="0"/>
              <a:t>;</a:t>
            </a:r>
          </a:p>
          <a:p>
            <a:pPr lvl="3">
              <a:buNone/>
            </a:pPr>
            <a:r>
              <a:rPr lang="en-US" sz="1800" dirty="0" smtClean="0"/>
              <a:t>void </a:t>
            </a:r>
            <a:r>
              <a:rPr lang="en-US" sz="1800" b="1" dirty="0" err="1" smtClean="0">
                <a:solidFill>
                  <a:srgbClr val="FFC000"/>
                </a:solidFill>
              </a:rPr>
              <a:t>printResult</a:t>
            </a:r>
            <a:r>
              <a:rPr lang="en-US" sz="1800" dirty="0" smtClean="0"/>
              <a:t>( );</a:t>
            </a:r>
          </a:p>
          <a:p>
            <a:pPr lvl="1"/>
            <a:r>
              <a:rPr lang="en-US" dirty="0" smtClean="0"/>
              <a:t>Implementation (body):</a:t>
            </a:r>
          </a:p>
          <a:p>
            <a:pPr lvl="1">
              <a:buNone/>
            </a:pPr>
            <a:r>
              <a:rPr lang="en-US" sz="1800" i="1" dirty="0" smtClean="0"/>
              <a:t>	&lt;Return type&gt;</a:t>
            </a:r>
            <a:r>
              <a:rPr lang="en-US" sz="1800" dirty="0" smtClean="0"/>
              <a:t> </a:t>
            </a:r>
            <a:r>
              <a:rPr lang="en-US" sz="1800" b="1" dirty="0" smtClean="0">
                <a:solidFill>
                  <a:srgbClr val="FFC000"/>
                </a:solidFill>
              </a:rPr>
              <a:t>&lt;Function name&gt;( </a:t>
            </a:r>
            <a:r>
              <a:rPr lang="en-US" sz="1800" i="1" dirty="0" smtClean="0"/>
              <a:t>&lt;Arguments&gt; </a:t>
            </a:r>
            <a:r>
              <a:rPr lang="en-US" sz="1800" b="1" dirty="0" smtClean="0">
                <a:solidFill>
                  <a:srgbClr val="FFC000"/>
                </a:solidFill>
              </a:rPr>
              <a:t>)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b="1" dirty="0" smtClean="0">
                <a:solidFill>
                  <a:srgbClr val="FFC000"/>
                </a:solidFill>
              </a:rPr>
              <a:t>{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	[Statements]</a:t>
            </a:r>
            <a:br>
              <a:rPr lang="en-US" sz="1800" dirty="0" smtClean="0"/>
            </a:br>
            <a:r>
              <a:rPr lang="en-US" sz="1800" dirty="0" smtClean="0"/>
              <a:t>	[</a:t>
            </a:r>
            <a:r>
              <a:rPr lang="en-US" sz="1800" b="1" dirty="0" smtClean="0">
                <a:solidFill>
                  <a:srgbClr val="FFC000"/>
                </a:solidFill>
              </a:rPr>
              <a:t>return</a:t>
            </a:r>
            <a:r>
              <a:rPr lang="en-US" sz="1800" dirty="0" smtClean="0"/>
              <a:t> </a:t>
            </a:r>
            <a:r>
              <a:rPr lang="en-US" sz="1800" i="1" dirty="0" smtClean="0"/>
              <a:t>&lt;value&gt;</a:t>
            </a:r>
            <a:r>
              <a:rPr lang="en-US" sz="1800" dirty="0" smtClean="0"/>
              <a:t>;]</a:t>
            </a:r>
            <a:br>
              <a:rPr lang="en-US" sz="1800" dirty="0" smtClean="0"/>
            </a:br>
            <a:r>
              <a:rPr lang="en-US" sz="1800" b="1" dirty="0" smtClean="0">
                <a:solidFill>
                  <a:srgbClr val="FFC000"/>
                </a:solidFill>
              </a:rPr>
              <a:t>}</a:t>
            </a:r>
          </a:p>
          <a:p>
            <a:pPr lvl="1"/>
            <a:r>
              <a:rPr lang="en-US" dirty="0" smtClean="0"/>
              <a:t>Calling:</a:t>
            </a:r>
          </a:p>
          <a:p>
            <a:pPr lvl="1">
              <a:buNone/>
            </a:pPr>
            <a:r>
              <a:rPr lang="en-US" sz="1800" b="1" dirty="0" smtClean="0">
                <a:solidFill>
                  <a:srgbClr val="FFC000"/>
                </a:solidFill>
              </a:rPr>
              <a:t>	&lt;Function name&gt;( </a:t>
            </a:r>
            <a:r>
              <a:rPr lang="en-US" sz="1800" i="1" dirty="0" smtClean="0"/>
              <a:t>&lt;Arguments&gt; </a:t>
            </a:r>
            <a:r>
              <a:rPr lang="en-US" sz="1800" b="1" dirty="0" smtClean="0">
                <a:solidFill>
                  <a:srgbClr val="FFC000"/>
                </a:solidFill>
              </a:rPr>
              <a:t>)</a:t>
            </a:r>
            <a:r>
              <a:rPr lang="en-US" sz="1800" dirty="0" smtClean="0"/>
              <a:t>;</a:t>
            </a:r>
          </a:p>
          <a:p>
            <a:pPr lvl="1">
              <a:buNone/>
            </a:pPr>
            <a:r>
              <a:rPr lang="en-US" sz="1800" dirty="0" smtClean="0"/>
              <a:t>	float </a:t>
            </a:r>
            <a:r>
              <a:rPr lang="en-US" sz="1800" dirty="0" err="1" smtClean="0"/>
              <a:t>gpa</a:t>
            </a:r>
            <a:r>
              <a:rPr lang="en-US" sz="1800" dirty="0" smtClean="0"/>
              <a:t> = </a:t>
            </a:r>
            <a:r>
              <a:rPr lang="en-US" sz="1800" b="1" dirty="0" err="1" smtClean="0">
                <a:solidFill>
                  <a:srgbClr val="FFC000"/>
                </a:solidFill>
              </a:rPr>
              <a:t>calcGPA</a:t>
            </a:r>
            <a:r>
              <a:rPr lang="en-US" sz="1800" dirty="0" smtClean="0"/>
              <a:t>( 7.0, 8.5 );</a:t>
            </a:r>
          </a:p>
          <a:p>
            <a:pPr lvl="3">
              <a:buNone/>
            </a:pPr>
            <a:endParaRPr lang="en-US" sz="18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C/C++ function:</a:t>
            </a:r>
          </a:p>
          <a:p>
            <a:pPr>
              <a:buNone/>
            </a:pPr>
            <a:r>
              <a:rPr lang="en-US" sz="1800" dirty="0" smtClean="0">
                <a:solidFill>
                  <a:srgbClr val="FFC000"/>
                </a:solidFill>
              </a:rPr>
              <a:t>	// Function declaration.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long </a:t>
            </a:r>
            <a:r>
              <a:rPr lang="en-US" sz="1800" dirty="0" err="1" smtClean="0"/>
              <a:t>long</a:t>
            </a:r>
            <a:r>
              <a:rPr lang="en-US" sz="1800" b="1" dirty="0" smtClean="0">
                <a:solidFill>
                  <a:srgbClr val="FFC000"/>
                </a:solidFill>
              </a:rPr>
              <a:t> factorial</a:t>
            </a:r>
            <a:r>
              <a:rPr lang="en-US" sz="1800" dirty="0" smtClean="0"/>
              <a:t>( </a:t>
            </a:r>
            <a:r>
              <a:rPr lang="en-US" sz="1800" dirty="0" err="1" smtClean="0"/>
              <a:t>int</a:t>
            </a:r>
            <a:r>
              <a:rPr lang="en-US" sz="1800" dirty="0" smtClean="0"/>
              <a:t> n );</a:t>
            </a:r>
            <a:br>
              <a:rPr lang="en-US" sz="1800" dirty="0" smtClean="0"/>
            </a:b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err="1" smtClean="0"/>
              <a:t>int</a:t>
            </a:r>
            <a:r>
              <a:rPr lang="en-US" sz="1800" dirty="0" smtClean="0"/>
              <a:t> </a:t>
            </a:r>
            <a:r>
              <a:rPr lang="en-US" sz="1800" b="1" dirty="0" smtClean="0">
                <a:solidFill>
                  <a:srgbClr val="FFC000"/>
                </a:solidFill>
              </a:rPr>
              <a:t>main</a:t>
            </a:r>
            <a:r>
              <a:rPr lang="en-US" sz="1800" dirty="0" smtClean="0"/>
              <a:t>()</a:t>
            </a:r>
            <a:br>
              <a:rPr lang="en-US" sz="1800" dirty="0" smtClean="0"/>
            </a:br>
            <a:r>
              <a:rPr lang="en-US" sz="1800" dirty="0" smtClean="0"/>
              <a:t>{</a:t>
            </a:r>
            <a:br>
              <a:rPr lang="en-US" sz="1800" dirty="0" smtClean="0"/>
            </a:br>
            <a:r>
              <a:rPr lang="en-US" sz="1800" dirty="0" smtClean="0"/>
              <a:t>	</a:t>
            </a:r>
            <a:r>
              <a:rPr lang="en-US" sz="1800" dirty="0" smtClean="0">
                <a:solidFill>
                  <a:srgbClr val="FFC000"/>
                </a:solidFill>
              </a:rPr>
              <a:t>// Declare and input a, b, c.</a:t>
            </a:r>
            <a:br>
              <a:rPr lang="en-US" sz="1800" dirty="0" smtClean="0">
                <a:solidFill>
                  <a:srgbClr val="FFC000"/>
                </a:solidFill>
              </a:rPr>
            </a:b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>
                <a:solidFill>
                  <a:srgbClr val="FFC000"/>
                </a:solidFill>
              </a:rPr>
              <a:t>	// Function calls.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	S1 = </a:t>
            </a:r>
            <a:r>
              <a:rPr lang="en-US" sz="1800" b="1" dirty="0" smtClean="0">
                <a:solidFill>
                  <a:srgbClr val="FFC000"/>
                </a:solidFill>
              </a:rPr>
              <a:t>factorial( a );</a:t>
            </a:r>
            <a:br>
              <a:rPr lang="en-US" sz="1800" b="1" dirty="0" smtClean="0">
                <a:solidFill>
                  <a:srgbClr val="FFC000"/>
                </a:solidFill>
              </a:rPr>
            </a:br>
            <a:r>
              <a:rPr lang="en-US" sz="1800" dirty="0" smtClean="0"/>
              <a:t>	S2 = </a:t>
            </a:r>
            <a:r>
              <a:rPr lang="en-US" sz="1800" b="1" dirty="0" smtClean="0">
                <a:solidFill>
                  <a:srgbClr val="FFC000"/>
                </a:solidFill>
              </a:rPr>
              <a:t>factorial( b );</a:t>
            </a:r>
            <a:br>
              <a:rPr lang="en-US" sz="1800" b="1" dirty="0" smtClean="0">
                <a:solidFill>
                  <a:srgbClr val="FFC000"/>
                </a:solidFill>
              </a:rPr>
            </a:br>
            <a:r>
              <a:rPr lang="en-US" sz="1800" dirty="0" smtClean="0"/>
              <a:t>	S3 = </a:t>
            </a:r>
            <a:r>
              <a:rPr lang="en-US" sz="1800" b="1" dirty="0" smtClean="0">
                <a:solidFill>
                  <a:srgbClr val="FFC000"/>
                </a:solidFill>
              </a:rPr>
              <a:t>factorial( c );</a:t>
            </a:r>
            <a:br>
              <a:rPr lang="en-US" sz="1800" b="1" dirty="0" smtClean="0">
                <a:solidFill>
                  <a:srgbClr val="FFC000"/>
                </a:solidFill>
              </a:rPr>
            </a:b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	S = S1 + S2 + S3;</a:t>
            </a:r>
            <a:br>
              <a:rPr lang="en-US" sz="1800" dirty="0" smtClean="0"/>
            </a:br>
            <a:r>
              <a:rPr lang="en-US" sz="1800" dirty="0" smtClean="0"/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5638800" y="1676400"/>
            <a:ext cx="3429000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buClr>
                <a:schemeClr val="hlink"/>
              </a:buClr>
              <a:buNone/>
            </a:pPr>
            <a:r>
              <a:rPr lang="en-US" sz="180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// Function implementation.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long </a:t>
            </a: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long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factorial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 </a:t>
            </a: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n )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long </a:t>
            </a: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long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 = 1;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for ( ; n &gt; 0; n--)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       s = s * n;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return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s;	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Passing arguments:</a:t>
            </a:r>
          </a:p>
          <a:p>
            <a:pPr lvl="1"/>
            <a:r>
              <a:rPr lang="en-US" dirty="0" smtClean="0"/>
              <a:t>Pass-by-value:</a:t>
            </a:r>
          </a:p>
          <a:p>
            <a:pPr lvl="2"/>
            <a:r>
              <a:rPr lang="en-US" dirty="0" smtClean="0"/>
              <a:t>Argument values are passed to function.</a:t>
            </a:r>
          </a:p>
          <a:p>
            <a:pPr lvl="2"/>
            <a:r>
              <a:rPr lang="en-US" dirty="0" smtClean="0"/>
              <a:t>Function receives only the COPY.</a:t>
            </a:r>
          </a:p>
          <a:p>
            <a:pPr lvl="2"/>
            <a:r>
              <a:rPr lang="en-US" dirty="0" smtClean="0"/>
              <a:t>Real arguments are UNCHANGED.</a:t>
            </a:r>
          </a:p>
          <a:p>
            <a:pPr lvl="2"/>
            <a:r>
              <a:rPr lang="en-US" dirty="0" smtClean="0"/>
              <a:t>Arguments are: variables, constant, expressions.</a:t>
            </a:r>
          </a:p>
          <a:p>
            <a:pPr>
              <a:buNone/>
            </a:pPr>
            <a:r>
              <a:rPr lang="en-US" sz="1800" dirty="0" smtClean="0"/>
              <a:t>	float </a:t>
            </a:r>
            <a:r>
              <a:rPr lang="en-US" sz="1800" b="1" dirty="0" err="1" smtClean="0">
                <a:solidFill>
                  <a:srgbClr val="FFC000"/>
                </a:solidFill>
              </a:rPr>
              <a:t>calcGPA</a:t>
            </a:r>
            <a:r>
              <a:rPr lang="en-US" sz="1800" dirty="0" smtClean="0"/>
              <a:t>( float lit, float math )</a:t>
            </a:r>
            <a:br>
              <a:rPr lang="en-US" sz="1800" dirty="0" smtClean="0"/>
            </a:br>
            <a:r>
              <a:rPr lang="en-US" sz="1800" dirty="0" smtClean="0"/>
              <a:t>{</a:t>
            </a:r>
            <a:br>
              <a:rPr lang="en-US" sz="1800" dirty="0" smtClean="0"/>
            </a:br>
            <a:r>
              <a:rPr lang="en-US" sz="1800" dirty="0" smtClean="0"/>
              <a:t>	lit = lit * 2;</a:t>
            </a:r>
            <a:br>
              <a:rPr lang="en-US" sz="1800" dirty="0" smtClean="0"/>
            </a:br>
            <a:r>
              <a:rPr lang="en-US" sz="1800" dirty="0" smtClean="0"/>
              <a:t>	math = math * 3;</a:t>
            </a:r>
            <a:br>
              <a:rPr lang="en-US" sz="1800" dirty="0" smtClean="0"/>
            </a:br>
            <a:r>
              <a:rPr lang="en-US" sz="1800" dirty="0" smtClean="0"/>
              <a:t>	</a:t>
            </a:r>
            <a:r>
              <a:rPr lang="en-US" sz="1800" b="1" dirty="0" smtClean="0">
                <a:solidFill>
                  <a:srgbClr val="FFC000"/>
                </a:solidFill>
              </a:rPr>
              <a:t>return</a:t>
            </a:r>
            <a:r>
              <a:rPr lang="en-US" sz="1800" dirty="0" smtClean="0"/>
              <a:t> (lit + math) / 5;</a:t>
            </a:r>
            <a:br>
              <a:rPr lang="en-US" sz="1800" dirty="0" smtClean="0"/>
            </a:br>
            <a:r>
              <a:rPr lang="en-US" sz="1800" dirty="0" smtClean="0"/>
              <a:t>}</a:t>
            </a:r>
          </a:p>
          <a:p>
            <a:pPr lvl="3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4419600" y="3581400"/>
            <a:ext cx="4724400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buClr>
                <a:schemeClr val="hlink"/>
              </a:buClr>
              <a:buNone/>
            </a:pPr>
            <a:r>
              <a:rPr lang="en-US" sz="180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main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float a, b, </a:t>
            </a: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gpa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gpa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</a:t>
            </a:r>
            <a:r>
              <a:rPr lang="en-US" sz="1800" b="1" dirty="0" err="1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calcGPA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 a, b )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gpa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</a:t>
            </a:r>
            <a:r>
              <a:rPr lang="en-US" sz="1800" b="1" dirty="0" err="1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calcGPA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( 6, 8.5 )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gpa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</a:t>
            </a:r>
            <a:r>
              <a:rPr lang="en-US" sz="1800" b="1" dirty="0" err="1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calcGPA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 a + 1, b )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// a, b are UNCHANGED.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Passing arguments:</a:t>
            </a:r>
          </a:p>
          <a:p>
            <a:pPr lvl="1"/>
            <a:r>
              <a:rPr lang="en-US" dirty="0" smtClean="0"/>
              <a:t>Pass-by-reference (C++):</a:t>
            </a:r>
          </a:p>
          <a:p>
            <a:pPr lvl="2"/>
            <a:r>
              <a:rPr lang="en-US" dirty="0" smtClean="0"/>
              <a:t>Real arguments are passed to function.</a:t>
            </a:r>
          </a:p>
          <a:p>
            <a:pPr lvl="2"/>
            <a:r>
              <a:rPr lang="en-US" dirty="0" smtClean="0"/>
              <a:t>Function receives the original ones.</a:t>
            </a:r>
          </a:p>
          <a:p>
            <a:pPr lvl="2"/>
            <a:r>
              <a:rPr lang="en-US" dirty="0" smtClean="0"/>
              <a:t>Real arguments can be CHANGED.</a:t>
            </a:r>
          </a:p>
          <a:p>
            <a:pPr lvl="2"/>
            <a:r>
              <a:rPr lang="en-US" dirty="0" smtClean="0"/>
              <a:t>Arguments are variables only.</a:t>
            </a:r>
          </a:p>
          <a:p>
            <a:pPr lvl="2"/>
            <a:r>
              <a:rPr lang="en-US" dirty="0" smtClean="0"/>
              <a:t>Syntax: </a:t>
            </a:r>
            <a:r>
              <a:rPr lang="en-US" b="1" dirty="0" smtClean="0">
                <a:solidFill>
                  <a:srgbClr val="FFC000"/>
                </a:solidFill>
              </a:rPr>
              <a:t>&amp;</a:t>
            </a:r>
            <a:r>
              <a:rPr lang="en-US" dirty="0" smtClean="0"/>
              <a:t>&lt;argument&gt;.</a:t>
            </a:r>
          </a:p>
          <a:p>
            <a:pPr>
              <a:buNone/>
            </a:pPr>
            <a:r>
              <a:rPr lang="en-US" sz="1800" dirty="0" smtClean="0"/>
              <a:t>	float </a:t>
            </a:r>
            <a:r>
              <a:rPr lang="en-US" sz="1800" b="1" dirty="0" err="1" smtClean="0">
                <a:solidFill>
                  <a:srgbClr val="FFC000"/>
                </a:solidFill>
              </a:rPr>
              <a:t>calcGPA</a:t>
            </a:r>
            <a:r>
              <a:rPr lang="en-US" sz="1800" dirty="0" smtClean="0"/>
              <a:t>( float </a:t>
            </a:r>
            <a:r>
              <a:rPr lang="en-US" sz="1800" b="1" dirty="0" smtClean="0">
                <a:solidFill>
                  <a:srgbClr val="FFC000"/>
                </a:solidFill>
              </a:rPr>
              <a:t>&amp;lit</a:t>
            </a:r>
            <a:r>
              <a:rPr lang="en-US" sz="1800" dirty="0" smtClean="0"/>
              <a:t>, float math )</a:t>
            </a:r>
            <a:br>
              <a:rPr lang="en-US" sz="1800" dirty="0" smtClean="0"/>
            </a:br>
            <a:r>
              <a:rPr lang="en-US" sz="1800" dirty="0" smtClean="0"/>
              <a:t>{</a:t>
            </a:r>
            <a:br>
              <a:rPr lang="en-US" sz="1800" dirty="0" smtClean="0"/>
            </a:br>
            <a:r>
              <a:rPr lang="en-US" sz="1800" dirty="0" smtClean="0"/>
              <a:t>	lit = lit * 2;</a:t>
            </a:r>
            <a:br>
              <a:rPr lang="en-US" sz="1800" dirty="0" smtClean="0"/>
            </a:br>
            <a:r>
              <a:rPr lang="en-US" sz="1800" dirty="0" smtClean="0"/>
              <a:t>	math = math * 3;</a:t>
            </a:r>
            <a:br>
              <a:rPr lang="en-US" sz="1800" dirty="0" smtClean="0"/>
            </a:br>
            <a:r>
              <a:rPr lang="en-US" sz="1800" dirty="0" smtClean="0"/>
              <a:t>	</a:t>
            </a:r>
            <a:r>
              <a:rPr lang="en-US" sz="1800" b="1" dirty="0" smtClean="0">
                <a:solidFill>
                  <a:srgbClr val="FFC000"/>
                </a:solidFill>
              </a:rPr>
              <a:t>return</a:t>
            </a:r>
            <a:r>
              <a:rPr lang="en-US" sz="1800" dirty="0" smtClean="0"/>
              <a:t> (lit + math) / 5;</a:t>
            </a:r>
            <a:br>
              <a:rPr lang="en-US" sz="1800" dirty="0" smtClean="0"/>
            </a:br>
            <a:r>
              <a:rPr lang="en-US" sz="1800" dirty="0" smtClean="0"/>
              <a:t>}</a:t>
            </a: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4419600" y="3938650"/>
            <a:ext cx="4724400" cy="253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buClr>
                <a:schemeClr val="hlink"/>
              </a:buClr>
              <a:buNone/>
            </a:pPr>
            <a:r>
              <a:rPr lang="en-US" sz="180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main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float a, b, </a:t>
            </a: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gpa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</a:t>
            </a: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gpa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</a:t>
            </a:r>
            <a:r>
              <a:rPr lang="en-US" sz="1800" b="1" dirty="0" err="1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calcGPA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 a, b)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</a:t>
            </a:r>
            <a:r>
              <a:rPr lang="en-US" sz="180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// a is CHANGED.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</a:t>
            </a: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gpa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</a:t>
            </a:r>
            <a:r>
              <a:rPr lang="en-US" sz="1800" b="1" dirty="0" err="1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calcGPA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( 6, 8.5 )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      //wrong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</a:t>
            </a: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gpa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</a:t>
            </a:r>
            <a:r>
              <a:rPr lang="en-US" sz="1800" b="1" dirty="0" err="1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calcGPA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(a + 1, b)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     //wrong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Passing arguments:</a:t>
            </a:r>
          </a:p>
          <a:p>
            <a:pPr lvl="1"/>
            <a:r>
              <a:rPr lang="en-US" dirty="0" smtClean="0"/>
              <a:t>Notes:</a:t>
            </a:r>
          </a:p>
          <a:p>
            <a:pPr lvl="2"/>
            <a:r>
              <a:rPr lang="en-US" dirty="0" smtClean="0"/>
              <a:t>Use pass-by-reference to return values.</a:t>
            </a:r>
          </a:p>
          <a:p>
            <a:pPr lvl="2">
              <a:buNone/>
            </a:pPr>
            <a:r>
              <a:rPr lang="en-US" dirty="0" smtClean="0"/>
              <a:t>	</a:t>
            </a:r>
            <a:r>
              <a:rPr lang="en-US" dirty="0" smtClean="0">
                <a:sym typeface="Wingdings" pitchFamily="2" charset="2"/>
              </a:rPr>
              <a:t> Function with multiple return values.</a:t>
            </a:r>
          </a:p>
          <a:p>
            <a:pPr>
              <a:buNone/>
            </a:pPr>
            <a:r>
              <a:rPr lang="en-US" sz="1800" dirty="0" smtClean="0"/>
              <a:t>	void </a:t>
            </a:r>
            <a:r>
              <a:rPr lang="en-US" sz="1800" b="1" dirty="0" smtClean="0">
                <a:solidFill>
                  <a:srgbClr val="FFC000"/>
                </a:solidFill>
              </a:rPr>
              <a:t>input</a:t>
            </a:r>
            <a:r>
              <a:rPr lang="en-US" sz="1800" dirty="0" smtClean="0"/>
              <a:t>( float </a:t>
            </a:r>
            <a:r>
              <a:rPr lang="en-US" sz="1800" b="1" dirty="0" smtClean="0">
                <a:solidFill>
                  <a:srgbClr val="FFC000"/>
                </a:solidFill>
              </a:rPr>
              <a:t>&amp;lit</a:t>
            </a:r>
            <a:r>
              <a:rPr lang="en-US" sz="1800" dirty="0" smtClean="0"/>
              <a:t>, float </a:t>
            </a:r>
            <a:r>
              <a:rPr lang="en-US" sz="1800" b="1" dirty="0" smtClean="0">
                <a:solidFill>
                  <a:srgbClr val="FFC000"/>
                </a:solidFill>
              </a:rPr>
              <a:t>&amp;math </a:t>
            </a:r>
            <a:r>
              <a:rPr lang="en-US" sz="1800" dirty="0" smtClean="0"/>
              <a:t>)</a:t>
            </a:r>
            <a:br>
              <a:rPr lang="en-US" sz="1800" dirty="0" smtClean="0"/>
            </a:br>
            <a:r>
              <a:rPr lang="en-US" sz="1800" dirty="0" smtClean="0"/>
              <a:t>{</a:t>
            </a:r>
            <a:br>
              <a:rPr lang="en-US" sz="1800" dirty="0" smtClean="0"/>
            </a:br>
            <a:r>
              <a:rPr lang="en-US" sz="1800" dirty="0" smtClean="0"/>
              <a:t>	</a:t>
            </a:r>
            <a:r>
              <a:rPr lang="en-US" sz="1800" dirty="0" err="1" smtClean="0"/>
              <a:t>printf</a:t>
            </a:r>
            <a:r>
              <a:rPr lang="en-US" sz="1800" dirty="0" smtClean="0"/>
              <a:t>(“Enter literature = “);</a:t>
            </a:r>
            <a:br>
              <a:rPr lang="en-US" sz="1800" dirty="0" smtClean="0"/>
            </a:br>
            <a:r>
              <a:rPr lang="en-US" sz="1800" dirty="0" smtClean="0"/>
              <a:t>	</a:t>
            </a:r>
            <a:r>
              <a:rPr lang="en-US" sz="1800" dirty="0" err="1" smtClean="0"/>
              <a:t>scanf</a:t>
            </a:r>
            <a:r>
              <a:rPr lang="en-US" sz="1800" dirty="0" smtClean="0"/>
              <a:t>(“%f”, &amp;</a:t>
            </a:r>
            <a:r>
              <a:rPr lang="en-US" sz="1800" b="1" dirty="0" smtClean="0">
                <a:solidFill>
                  <a:srgbClr val="FFC000"/>
                </a:solidFill>
              </a:rPr>
              <a:t>lit</a:t>
            </a:r>
            <a:r>
              <a:rPr lang="en-US" sz="1800" dirty="0" smtClean="0"/>
              <a:t>);</a:t>
            </a:r>
            <a:br>
              <a:rPr lang="en-US" sz="1800" dirty="0" smtClean="0"/>
            </a:br>
            <a:r>
              <a:rPr lang="en-US" sz="1800" dirty="0" smtClean="0"/>
              <a:t>	</a:t>
            </a:r>
            <a:r>
              <a:rPr lang="en-US" sz="1800" dirty="0" err="1" smtClean="0"/>
              <a:t>printf</a:t>
            </a:r>
            <a:r>
              <a:rPr lang="en-US" sz="1800" dirty="0" smtClean="0"/>
              <a:t>(“Enter math = “);</a:t>
            </a:r>
            <a:br>
              <a:rPr lang="en-US" sz="1800" dirty="0" smtClean="0"/>
            </a:br>
            <a:r>
              <a:rPr lang="en-US" sz="1800" dirty="0" smtClean="0"/>
              <a:t>	</a:t>
            </a:r>
            <a:r>
              <a:rPr lang="en-US" sz="1800" dirty="0" err="1" smtClean="0"/>
              <a:t>scanf</a:t>
            </a:r>
            <a:r>
              <a:rPr lang="en-US" sz="1800" dirty="0" smtClean="0"/>
              <a:t>(“%f”, &amp;</a:t>
            </a:r>
            <a:r>
              <a:rPr lang="en-US" sz="1800" b="1" dirty="0" smtClean="0">
                <a:solidFill>
                  <a:srgbClr val="FFC000"/>
                </a:solidFill>
              </a:rPr>
              <a:t>math</a:t>
            </a:r>
            <a:r>
              <a:rPr lang="en-US" sz="1800" dirty="0" smtClean="0"/>
              <a:t>);</a:t>
            </a:r>
            <a:br>
              <a:rPr lang="en-US" sz="1800" dirty="0" smtClean="0"/>
            </a:br>
            <a:r>
              <a:rPr lang="en-US" sz="1800" dirty="0" smtClean="0"/>
              <a:t>}</a:t>
            </a:r>
          </a:p>
          <a:p>
            <a:pPr>
              <a:buNone/>
            </a:pPr>
            <a:r>
              <a:rPr lang="en-US" sz="1800" dirty="0" smtClean="0"/>
              <a:t>	void </a:t>
            </a:r>
            <a:r>
              <a:rPr lang="en-US" sz="1800" b="1" dirty="0" err="1" smtClean="0">
                <a:solidFill>
                  <a:srgbClr val="FFC000"/>
                </a:solidFill>
              </a:rPr>
              <a:t>calcGPA</a:t>
            </a:r>
            <a:r>
              <a:rPr lang="en-US" sz="1800" dirty="0" smtClean="0"/>
              <a:t>( float lit, float math, float </a:t>
            </a:r>
            <a:r>
              <a:rPr lang="en-US" sz="1800" b="1" dirty="0" smtClean="0">
                <a:solidFill>
                  <a:srgbClr val="FFC000"/>
                </a:solidFill>
              </a:rPr>
              <a:t>&amp;</a:t>
            </a:r>
            <a:r>
              <a:rPr lang="en-US" sz="1800" b="1" dirty="0" err="1" smtClean="0">
                <a:solidFill>
                  <a:srgbClr val="FFC000"/>
                </a:solidFill>
              </a:rPr>
              <a:t>gpa</a:t>
            </a:r>
            <a:r>
              <a:rPr lang="en-US" sz="1800" b="1" dirty="0" smtClean="0">
                <a:solidFill>
                  <a:srgbClr val="FFC000"/>
                </a:solidFill>
              </a:rPr>
              <a:t> </a:t>
            </a:r>
            <a:r>
              <a:rPr lang="en-US" sz="1800" dirty="0" smtClean="0"/>
              <a:t>)</a:t>
            </a:r>
            <a:br>
              <a:rPr lang="en-US" sz="1800" dirty="0" smtClean="0"/>
            </a:br>
            <a:r>
              <a:rPr lang="en-US" sz="1800" dirty="0" smtClean="0"/>
              <a:t>{</a:t>
            </a:r>
            <a:br>
              <a:rPr lang="en-US" sz="1800" dirty="0" smtClean="0"/>
            </a:br>
            <a:r>
              <a:rPr lang="en-US" sz="1800" dirty="0" smtClean="0"/>
              <a:t>	lit = lit * 2;</a:t>
            </a:r>
            <a:br>
              <a:rPr lang="en-US" sz="1800" dirty="0" smtClean="0"/>
            </a:br>
            <a:r>
              <a:rPr lang="en-US" sz="1800" dirty="0" smtClean="0"/>
              <a:t>	math = math * 3;</a:t>
            </a:r>
            <a:br>
              <a:rPr lang="en-US" sz="1800" dirty="0" smtClean="0"/>
            </a:br>
            <a:r>
              <a:rPr lang="en-US" sz="1800" dirty="0" smtClean="0"/>
              <a:t>	</a:t>
            </a:r>
            <a:r>
              <a:rPr lang="en-US" sz="1800" b="1" dirty="0" err="1" smtClean="0">
                <a:solidFill>
                  <a:srgbClr val="FFC000"/>
                </a:solidFill>
              </a:rPr>
              <a:t>gpa</a:t>
            </a:r>
            <a:r>
              <a:rPr lang="en-US" sz="1800" b="1" dirty="0" smtClean="0">
                <a:solidFill>
                  <a:srgbClr val="FFC000"/>
                </a:solidFill>
              </a:rPr>
              <a:t> </a:t>
            </a:r>
            <a:r>
              <a:rPr lang="en-US" sz="1800" dirty="0" smtClean="0"/>
              <a:t>= (lit + math) / 5;</a:t>
            </a:r>
            <a:br>
              <a:rPr lang="en-US" sz="1800" dirty="0" smtClean="0"/>
            </a:br>
            <a:r>
              <a:rPr lang="en-US" sz="1800" dirty="0" smtClean="0"/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5334000" y="2855024"/>
            <a:ext cx="3810000" cy="316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buClr>
                <a:schemeClr val="hlink"/>
              </a:buClr>
              <a:buNone/>
            </a:pPr>
            <a:r>
              <a:rPr lang="en-US" sz="180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main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float  a, b;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float  </a:t>
            </a: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gpa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// a, b are UPDATED.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input(a, 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b);</a:t>
            </a:r>
            <a:b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// </a:t>
            </a:r>
            <a:r>
              <a:rPr lang="en-US" sz="1800" dirty="0" err="1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gpa</a:t>
            </a:r>
            <a:r>
              <a:rPr lang="en-US" sz="180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are UPDATED.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1800" b="1" dirty="0" err="1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calcGPA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(a, b, </a:t>
            </a:r>
            <a:r>
              <a:rPr lang="en-US" sz="1800" b="1" dirty="0" err="1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gpa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);</a:t>
            </a:r>
            <a:b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Scope:</a:t>
            </a:r>
          </a:p>
          <a:p>
            <a:pPr lvl="1"/>
            <a:r>
              <a:rPr lang="en-US" dirty="0" smtClean="0"/>
              <a:t>Existing area of variables and functions.</a:t>
            </a:r>
          </a:p>
          <a:p>
            <a:pPr lvl="2"/>
            <a:r>
              <a:rPr lang="en-US" dirty="0" smtClean="0"/>
              <a:t>Global scope: across program.</a:t>
            </a:r>
          </a:p>
          <a:p>
            <a:pPr lvl="2"/>
            <a:r>
              <a:rPr lang="en-US" dirty="0" smtClean="0"/>
              <a:t>Local scope: only in declaration block.</a:t>
            </a:r>
          </a:p>
          <a:p>
            <a:pPr lvl="1"/>
            <a:r>
              <a:rPr lang="en-US" dirty="0" smtClean="0"/>
              <a:t>Function has global scope.</a:t>
            </a:r>
          </a:p>
          <a:p>
            <a:pPr lvl="1"/>
            <a:r>
              <a:rPr lang="en-US" dirty="0" smtClean="0"/>
              <a:t>Variable:</a:t>
            </a:r>
          </a:p>
          <a:p>
            <a:pPr lvl="2"/>
            <a:r>
              <a:rPr lang="en-US" dirty="0" smtClean="0"/>
              <a:t>Global variable: declared outside functions (includes main() ).</a:t>
            </a:r>
          </a:p>
          <a:p>
            <a:pPr lvl="2">
              <a:buNone/>
            </a:pPr>
            <a:r>
              <a:rPr lang="en-US" dirty="0" smtClean="0"/>
              <a:t>	</a:t>
            </a:r>
            <a:r>
              <a:rPr lang="en-US" dirty="0" smtClean="0">
                <a:sym typeface="Wingdings" pitchFamily="2" charset="2"/>
              </a:rPr>
              <a:t> Can be used across program.</a:t>
            </a:r>
            <a:endParaRPr lang="en-US" dirty="0" smtClean="0"/>
          </a:p>
          <a:p>
            <a:pPr lvl="2"/>
            <a:r>
              <a:rPr lang="en-US" dirty="0" smtClean="0"/>
              <a:t>Local variable: declared inside a block.</a:t>
            </a:r>
          </a:p>
          <a:p>
            <a:pPr lvl="2">
              <a:buNone/>
            </a:pPr>
            <a:r>
              <a:rPr lang="en-US" dirty="0" smtClean="0"/>
              <a:t>	</a:t>
            </a:r>
            <a:r>
              <a:rPr lang="en-US" dirty="0" smtClean="0">
                <a:sym typeface="Wingdings" pitchFamily="2" charset="2"/>
              </a:rPr>
              <a:t> Can be used only in the block.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Scope: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62000" y="1676400"/>
          <a:ext cx="7620000" cy="47244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7620000"/>
              </a:tblGrid>
              <a:tr h="4724400">
                <a:tc>
                  <a:txBody>
                    <a:bodyPr/>
                    <a:lstStyle/>
                    <a:p>
                      <a:pPr lvl="0"/>
                      <a:r>
                        <a:rPr lang="en-US" dirty="0" smtClean="0"/>
                        <a:t>   float</a:t>
                      </a:r>
                      <a:r>
                        <a:rPr lang="en-US" baseline="0" dirty="0" smtClean="0"/>
                        <a:t>  </a:t>
                      </a:r>
                      <a:r>
                        <a:rPr lang="en-US" b="1" baseline="0" dirty="0" smtClean="0">
                          <a:solidFill>
                            <a:srgbClr val="FF0000"/>
                          </a:solidFill>
                        </a:rPr>
                        <a:t>S</a:t>
                      </a:r>
                      <a:r>
                        <a:rPr lang="en-US" baseline="0" dirty="0" smtClean="0"/>
                        <a:t>;			// Global declarations.</a:t>
                      </a:r>
                    </a:p>
                    <a:p>
                      <a:r>
                        <a:rPr lang="en-US" dirty="0" smtClean="0"/>
                        <a:t>   </a:t>
                      </a:r>
                      <a:r>
                        <a:rPr lang="en-US" dirty="0" err="1" smtClean="0"/>
                        <a:t>int</a:t>
                      </a:r>
                      <a:r>
                        <a:rPr lang="en-US" dirty="0" smtClean="0"/>
                        <a:t> </a:t>
                      </a:r>
                      <a:r>
                        <a:rPr lang="en-US" b="1" dirty="0" smtClean="0">
                          <a:solidFill>
                            <a:srgbClr val="FF0000"/>
                          </a:solidFill>
                        </a:rPr>
                        <a:t>compute(</a:t>
                      </a:r>
                      <a:r>
                        <a:rPr lang="en-US" b="1" baseline="0" dirty="0" smtClean="0">
                          <a:solidFill>
                            <a:srgbClr val="FF0000"/>
                          </a:solidFill>
                        </a:rPr>
                        <a:t>)</a:t>
                      </a:r>
                      <a:r>
                        <a:rPr lang="en-US" baseline="0" dirty="0" smtClean="0"/>
                        <a:t>;</a:t>
                      </a:r>
                    </a:p>
                    <a:p>
                      <a:endParaRPr lang="en-US" baseline="0" dirty="0" smtClean="0"/>
                    </a:p>
                    <a:p>
                      <a:r>
                        <a:rPr lang="en-US" baseline="0" dirty="0" smtClean="0"/>
                        <a:t>   </a:t>
                      </a:r>
                      <a:r>
                        <a:rPr lang="en-US" baseline="0" dirty="0" err="1" smtClean="0"/>
                        <a:t>int</a:t>
                      </a:r>
                      <a:r>
                        <a:rPr lang="en-US" baseline="0" dirty="0" smtClean="0"/>
                        <a:t> main()</a:t>
                      </a:r>
                    </a:p>
                    <a:p>
                      <a:endParaRPr lang="en-US" baseline="0" dirty="0" smtClean="0"/>
                    </a:p>
                    <a:p>
                      <a:endParaRPr lang="en-US" baseline="0" dirty="0" smtClean="0"/>
                    </a:p>
                    <a:p>
                      <a:endParaRPr lang="en-US" baseline="0" dirty="0" smtClean="0"/>
                    </a:p>
                    <a:p>
                      <a:endParaRPr lang="en-US" baseline="0" dirty="0" smtClean="0"/>
                    </a:p>
                    <a:p>
                      <a:endParaRPr lang="en-US" baseline="0" dirty="0" smtClean="0"/>
                    </a:p>
                    <a:p>
                      <a:endParaRPr lang="en-US" baseline="0" dirty="0" smtClean="0"/>
                    </a:p>
                    <a:p>
                      <a:endParaRPr lang="en-US" baseline="0" dirty="0" smtClean="0"/>
                    </a:p>
                    <a:p>
                      <a:endParaRPr lang="en-US" baseline="0" dirty="0" smtClean="0"/>
                    </a:p>
                    <a:p>
                      <a:r>
                        <a:rPr lang="en-US" baseline="0" dirty="0" smtClean="0"/>
                        <a:t>   </a:t>
                      </a:r>
                      <a:r>
                        <a:rPr lang="en-US" baseline="0" dirty="0" err="1" smtClean="0"/>
                        <a:t>int</a:t>
                      </a:r>
                      <a:r>
                        <a:rPr lang="en-US" baseline="0" dirty="0" smtClean="0"/>
                        <a:t> compute()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90600" y="5257800"/>
          <a:ext cx="7162800" cy="914400"/>
        </p:xfrm>
        <a:graphic>
          <a:graphicData uri="http://schemas.openxmlformats.org/drawingml/2006/table">
            <a:tbl>
              <a:tblPr bandRow="1">
                <a:tableStyleId>{3C2FFA5D-87B4-456A-9821-1D502468CF0F}</a:tableStyleId>
              </a:tblPr>
              <a:tblGrid>
                <a:gridCol w="7162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{</a:t>
                      </a:r>
                    </a:p>
                    <a:p>
                      <a:pPr lvl="1"/>
                      <a:r>
                        <a:rPr lang="en-US" dirty="0" err="1" smtClean="0"/>
                        <a:t>int</a:t>
                      </a:r>
                      <a:r>
                        <a:rPr lang="en-US" dirty="0" smtClean="0"/>
                        <a:t>  y</a:t>
                      </a:r>
                      <a:r>
                        <a:rPr lang="en-US" baseline="0" dirty="0" smtClean="0"/>
                        <a:t> = </a:t>
                      </a:r>
                      <a:r>
                        <a:rPr lang="en-US" b="1" baseline="0" dirty="0" smtClean="0">
                          <a:solidFill>
                            <a:srgbClr val="FF0000"/>
                          </a:solidFill>
                        </a:rPr>
                        <a:t>S</a:t>
                      </a:r>
                      <a:r>
                        <a:rPr lang="en-US" baseline="0" dirty="0" smtClean="0"/>
                        <a:t> * 2;		          // Local variable in function.</a:t>
                      </a:r>
                      <a:endParaRPr lang="en-US" dirty="0" smtClean="0"/>
                    </a:p>
                    <a:p>
                      <a:r>
                        <a:rPr lang="en-US" dirty="0" smtClean="0"/>
                        <a:t>}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990600" y="2819400"/>
          <a:ext cx="7162800" cy="2011680"/>
        </p:xfrm>
        <a:graphic>
          <a:graphicData uri="http://schemas.openxmlformats.org/drawingml/2006/table">
            <a:tbl>
              <a:tblPr bandRow="1">
                <a:tableStyleId>{3C2FFA5D-87B4-456A-9821-1D502468CF0F}</a:tableStyleId>
              </a:tblPr>
              <a:tblGrid>
                <a:gridCol w="7162800"/>
              </a:tblGrid>
              <a:tr h="1996440">
                <a:tc>
                  <a:txBody>
                    <a:bodyPr/>
                    <a:lstStyle/>
                    <a:p>
                      <a:r>
                        <a:rPr lang="en-US" dirty="0" smtClean="0"/>
                        <a:t>{</a:t>
                      </a:r>
                    </a:p>
                    <a:p>
                      <a:pPr lvl="1"/>
                      <a:r>
                        <a:rPr lang="en-US" dirty="0" err="1" smtClean="0"/>
                        <a:t>int</a:t>
                      </a:r>
                      <a:r>
                        <a:rPr lang="en-US" baseline="0" dirty="0" smtClean="0"/>
                        <a:t>  a = </a:t>
                      </a:r>
                      <a:r>
                        <a:rPr lang="en-US" b="1" baseline="0" dirty="0" smtClean="0">
                          <a:solidFill>
                            <a:srgbClr val="FF0000"/>
                          </a:solidFill>
                        </a:rPr>
                        <a:t>S</a:t>
                      </a:r>
                      <a:r>
                        <a:rPr lang="en-US" dirty="0" smtClean="0"/>
                        <a:t> + </a:t>
                      </a:r>
                      <a:r>
                        <a:rPr lang="en-US" b="1" dirty="0" smtClean="0">
                          <a:solidFill>
                            <a:srgbClr val="FF0000"/>
                          </a:solidFill>
                        </a:rPr>
                        <a:t>compute()</a:t>
                      </a:r>
                      <a:r>
                        <a:rPr lang="en-US" dirty="0" smtClean="0"/>
                        <a:t>;</a:t>
                      </a:r>
                      <a:r>
                        <a:rPr lang="en-US" baseline="0" dirty="0" smtClean="0"/>
                        <a:t>          </a:t>
                      </a:r>
                      <a:r>
                        <a:rPr lang="en-US" dirty="0" smtClean="0"/>
                        <a:t>//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Local variable in</a:t>
                      </a:r>
                      <a:r>
                        <a:rPr lang="en-US" baseline="0" dirty="0" smtClean="0"/>
                        <a:t> main.</a:t>
                      </a:r>
                      <a:endParaRPr lang="en-US" dirty="0" smtClean="0"/>
                    </a:p>
                    <a:p>
                      <a:pPr lvl="1"/>
                      <a:r>
                        <a:rPr lang="en-US" dirty="0" smtClean="0"/>
                        <a:t>while</a:t>
                      </a:r>
                      <a:r>
                        <a:rPr lang="en-US" baseline="0" dirty="0" smtClean="0"/>
                        <a:t> (a &gt; 0)</a:t>
                      </a:r>
                    </a:p>
                    <a:p>
                      <a:pPr lvl="1"/>
                      <a:endParaRPr lang="en-US" baseline="0" dirty="0" smtClean="0"/>
                    </a:p>
                    <a:p>
                      <a:pPr lvl="1"/>
                      <a:endParaRPr lang="en-US" baseline="0" dirty="0" smtClean="0"/>
                    </a:p>
                    <a:p>
                      <a:pPr lvl="1"/>
                      <a:endParaRPr lang="en-US" baseline="0" dirty="0" smtClean="0"/>
                    </a:p>
                    <a:p>
                      <a:r>
                        <a:rPr lang="en-US" dirty="0" smtClean="0"/>
                        <a:t>}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447800" y="3657600"/>
          <a:ext cx="6477000" cy="914400"/>
        </p:xfrm>
        <a:graphic>
          <a:graphicData uri="http://schemas.openxmlformats.org/drawingml/2006/table">
            <a:tbl>
              <a:tblPr bandRow="1">
                <a:tableStyleId>{284E427A-3D55-4303-BF80-6455036E1DE7}</a:tableStyleId>
              </a:tblPr>
              <a:tblGrid>
                <a:gridCol w="6477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{</a:t>
                      </a:r>
                    </a:p>
                    <a:p>
                      <a:pPr lvl="1"/>
                      <a:r>
                        <a:rPr lang="en-US" dirty="0" err="1" smtClean="0"/>
                        <a:t>int</a:t>
                      </a:r>
                      <a:r>
                        <a:rPr lang="en-US" dirty="0" smtClean="0"/>
                        <a:t>  b</a:t>
                      </a:r>
                      <a:r>
                        <a:rPr lang="en-US" baseline="0" dirty="0" smtClean="0"/>
                        <a:t> = </a:t>
                      </a:r>
                      <a:r>
                        <a:rPr lang="en-US" b="1" baseline="0" dirty="0" smtClean="0">
                          <a:solidFill>
                            <a:srgbClr val="FF0000"/>
                          </a:solidFill>
                        </a:rPr>
                        <a:t>S</a:t>
                      </a:r>
                      <a:r>
                        <a:rPr lang="en-US" baseline="0" dirty="0" smtClean="0"/>
                        <a:t> + </a:t>
                      </a:r>
                      <a:r>
                        <a:rPr lang="en-US" b="1" baseline="0" dirty="0" smtClean="0">
                          <a:solidFill>
                            <a:srgbClr val="FF0000"/>
                          </a:solidFill>
                        </a:rPr>
                        <a:t>compute</a:t>
                      </a:r>
                      <a:r>
                        <a:rPr lang="en-US" b="1" baseline="0" dirty="0" smtClean="0"/>
                        <a:t>()</a:t>
                      </a:r>
                      <a:r>
                        <a:rPr lang="en-US" baseline="0" dirty="0" smtClean="0"/>
                        <a:t>;   // Local variable in loop.</a:t>
                      </a:r>
                      <a:endParaRPr lang="en-US" dirty="0" smtClean="0"/>
                    </a:p>
                    <a:p>
                      <a:r>
                        <a:rPr lang="en-US" dirty="0" smtClean="0"/>
                        <a:t>}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Function.</a:t>
            </a:r>
          </a:p>
          <a:p>
            <a:r>
              <a:rPr lang="en-US" b="1" dirty="0" smtClean="0">
                <a:solidFill>
                  <a:srgbClr val="FFC000"/>
                </a:solidFill>
              </a:rPr>
              <a:t>Multiple-file project.</a:t>
            </a:r>
          </a:p>
          <a:p>
            <a:r>
              <a:rPr lang="en-US" dirty="0" err="1" smtClean="0"/>
              <a:t>struct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Multiple-file project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How do we organize a book?</a:t>
            </a:r>
          </a:p>
          <a:p>
            <a:pPr lvl="1"/>
            <a:r>
              <a:rPr lang="en-US" dirty="0" smtClean="0"/>
              <a:t>Cannot write in one paper!!</a:t>
            </a:r>
          </a:p>
          <a:p>
            <a:pPr lvl="1">
              <a:buNone/>
            </a:pPr>
            <a:r>
              <a:rPr lang="en-US" dirty="0" smtClean="0"/>
              <a:t>	</a:t>
            </a:r>
            <a:r>
              <a:rPr lang="en-US" dirty="0" smtClean="0">
                <a:sym typeface="Wingdings" pitchFamily="2" charset="2"/>
              </a:rPr>
              <a:t> </a:t>
            </a:r>
            <a:r>
              <a:rPr lang="en-US" dirty="0" smtClean="0"/>
              <a:t>Split into chapters.</a:t>
            </a:r>
          </a:p>
          <a:p>
            <a:pPr lvl="1">
              <a:buNone/>
            </a:pPr>
            <a:r>
              <a:rPr lang="en-US" dirty="0" smtClean="0">
                <a:sym typeface="Wingdings" pitchFamily="2" charset="2"/>
              </a:rPr>
              <a:t>	 Summary at first.</a:t>
            </a:r>
          </a:p>
          <a:p>
            <a:pPr lvl="1">
              <a:buNone/>
            </a:pPr>
            <a:r>
              <a:rPr lang="en-US" dirty="0" smtClean="0">
                <a:sym typeface="Wingdings" pitchFamily="2" charset="2"/>
              </a:rPr>
              <a:t>	 Chapter contents follow.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Multiple-file project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Organize C/C++ project:</a:t>
            </a:r>
          </a:p>
          <a:p>
            <a:pPr lvl="1"/>
            <a:r>
              <a:rPr lang="en-US" dirty="0" smtClean="0"/>
              <a:t>Like a book:</a:t>
            </a:r>
          </a:p>
          <a:p>
            <a:pPr lvl="2"/>
            <a:r>
              <a:rPr lang="en-US" dirty="0" smtClean="0"/>
              <a:t>Chapters ~ source code files.</a:t>
            </a:r>
          </a:p>
          <a:p>
            <a:pPr lvl="2"/>
            <a:r>
              <a:rPr lang="en-US" dirty="0" smtClean="0"/>
              <a:t>Summary ~ main() function.</a:t>
            </a:r>
          </a:p>
          <a:p>
            <a:pPr lvl="1">
              <a:buNone/>
            </a:pPr>
            <a:r>
              <a:rPr lang="en-US" dirty="0" smtClean="0"/>
              <a:t>	</a:t>
            </a:r>
            <a:r>
              <a:rPr lang="en-US" dirty="0" smtClean="0">
                <a:sym typeface="Wingdings" pitchFamily="2" charset="2"/>
              </a:rPr>
              <a:t> How to connect multiple source code files?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sp>
        <p:nvSpPr>
          <p:cNvPr id="6" name="AutoShape 9"/>
          <p:cNvSpPr>
            <a:spLocks noChangeArrowheads="1"/>
          </p:cNvSpPr>
          <p:nvPr/>
        </p:nvSpPr>
        <p:spPr bwMode="auto">
          <a:xfrm>
            <a:off x="457200" y="3581400"/>
            <a:ext cx="2438400" cy="25146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91440" tIns="91440" rIns="91440" bIns="91440" anchor="t"/>
          <a:lstStyle/>
          <a:p>
            <a:pPr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// File </a:t>
            </a:r>
            <a:r>
              <a:rPr lang="en-US" sz="1800" b="1" dirty="0" smtClean="0">
                <a:solidFill>
                  <a:srgbClr val="FF0000"/>
                </a:solidFill>
              </a:rPr>
              <a:t>main.cpp</a:t>
            </a:r>
          </a:p>
          <a:p>
            <a:pPr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err="1" smtClean="0">
                <a:solidFill>
                  <a:srgbClr val="0000FF"/>
                </a:solidFill>
              </a:rPr>
              <a:t>int</a:t>
            </a:r>
            <a:r>
              <a:rPr lang="en-US" sz="1800" dirty="0" smtClean="0">
                <a:solidFill>
                  <a:srgbClr val="0000FF"/>
                </a:solidFill>
              </a:rPr>
              <a:t> main()</a:t>
            </a:r>
            <a:br>
              <a:rPr lang="en-US" sz="1800" dirty="0" smtClean="0">
                <a:solidFill>
                  <a:srgbClr val="0000FF"/>
                </a:solidFill>
              </a:rPr>
            </a:br>
            <a:r>
              <a:rPr lang="en-US" sz="1800" dirty="0" smtClean="0">
                <a:solidFill>
                  <a:srgbClr val="0000FF"/>
                </a:solidFill>
              </a:rPr>
              <a:t>{</a:t>
            </a:r>
            <a:br>
              <a:rPr lang="en-US" sz="1800" dirty="0" smtClean="0">
                <a:solidFill>
                  <a:srgbClr val="0000FF"/>
                </a:solidFill>
              </a:rPr>
            </a:br>
            <a:r>
              <a:rPr lang="en-US" sz="1800" dirty="0" smtClean="0">
                <a:solidFill>
                  <a:srgbClr val="0000FF"/>
                </a:solidFill>
              </a:rPr>
              <a:t>	input();</a:t>
            </a:r>
            <a:br>
              <a:rPr lang="en-US" sz="1800" dirty="0" smtClean="0">
                <a:solidFill>
                  <a:srgbClr val="0000FF"/>
                </a:solidFill>
              </a:rPr>
            </a:br>
            <a:r>
              <a:rPr lang="en-US" sz="1800" dirty="0" smtClean="0">
                <a:solidFill>
                  <a:srgbClr val="0000FF"/>
                </a:solidFill>
              </a:rPr>
              <a:t>	compute1();</a:t>
            </a:r>
            <a:br>
              <a:rPr lang="en-US" sz="1800" dirty="0" smtClean="0">
                <a:solidFill>
                  <a:srgbClr val="0000FF"/>
                </a:solidFill>
              </a:rPr>
            </a:br>
            <a:r>
              <a:rPr lang="en-US" sz="1800" dirty="0" smtClean="0">
                <a:solidFill>
                  <a:srgbClr val="0000FF"/>
                </a:solidFill>
              </a:rPr>
              <a:t>	compute2();</a:t>
            </a:r>
            <a:br>
              <a:rPr lang="en-US" sz="1800" dirty="0" smtClean="0">
                <a:solidFill>
                  <a:srgbClr val="0000FF"/>
                </a:solidFill>
              </a:rPr>
            </a:br>
            <a:r>
              <a:rPr lang="en-US" sz="1800" dirty="0" smtClean="0">
                <a:solidFill>
                  <a:srgbClr val="0000FF"/>
                </a:solidFill>
              </a:rPr>
              <a:t>	output();</a:t>
            </a:r>
            <a:br>
              <a:rPr lang="en-US" sz="1800" dirty="0" smtClean="0">
                <a:solidFill>
                  <a:srgbClr val="0000FF"/>
                </a:solidFill>
              </a:rPr>
            </a:br>
            <a:r>
              <a:rPr lang="en-US" sz="1800" dirty="0" smtClean="0">
                <a:solidFill>
                  <a:srgbClr val="0000FF"/>
                </a:solidFill>
              </a:rPr>
              <a:t>}</a:t>
            </a:r>
          </a:p>
        </p:txBody>
      </p:sp>
      <p:sp>
        <p:nvSpPr>
          <p:cNvPr id="7" name="AutoShape 9"/>
          <p:cNvSpPr>
            <a:spLocks noChangeArrowheads="1"/>
          </p:cNvSpPr>
          <p:nvPr/>
        </p:nvSpPr>
        <p:spPr bwMode="auto">
          <a:xfrm>
            <a:off x="3352800" y="3581400"/>
            <a:ext cx="2438400" cy="25146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91440" tIns="91440" rIns="91440" bIns="91440" anchor="t"/>
          <a:lstStyle/>
          <a:p>
            <a:pPr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// File </a:t>
            </a:r>
            <a:r>
              <a:rPr lang="en-US" sz="1800" b="1" dirty="0" smtClean="0">
                <a:solidFill>
                  <a:srgbClr val="FF0000"/>
                </a:solidFill>
              </a:rPr>
              <a:t>io.cpp</a:t>
            </a:r>
          </a:p>
          <a:p>
            <a:pPr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void input()</a:t>
            </a:r>
            <a:br>
              <a:rPr lang="en-US" sz="1800" dirty="0" smtClean="0">
                <a:solidFill>
                  <a:srgbClr val="0000FF"/>
                </a:solidFill>
              </a:rPr>
            </a:br>
            <a:r>
              <a:rPr lang="en-US" sz="1800" dirty="0" smtClean="0">
                <a:solidFill>
                  <a:srgbClr val="0000FF"/>
                </a:solidFill>
              </a:rPr>
              <a:t>{</a:t>
            </a:r>
            <a:br>
              <a:rPr lang="en-US" sz="1800" dirty="0" smtClean="0">
                <a:solidFill>
                  <a:srgbClr val="0000FF"/>
                </a:solidFill>
              </a:rPr>
            </a:br>
            <a:r>
              <a:rPr lang="en-US" sz="1800" dirty="0" smtClean="0">
                <a:solidFill>
                  <a:srgbClr val="0000FF"/>
                </a:solidFill>
              </a:rPr>
              <a:t>}</a:t>
            </a:r>
            <a:br>
              <a:rPr lang="en-US" sz="1800" dirty="0" smtClean="0">
                <a:solidFill>
                  <a:srgbClr val="0000FF"/>
                </a:solidFill>
              </a:rPr>
            </a:br>
            <a:r>
              <a:rPr lang="en-US" sz="1800" dirty="0" smtClean="0">
                <a:solidFill>
                  <a:srgbClr val="0000FF"/>
                </a:solidFill>
              </a:rPr>
              <a:t/>
            </a:r>
            <a:br>
              <a:rPr lang="en-US" sz="1800" dirty="0" smtClean="0">
                <a:solidFill>
                  <a:srgbClr val="0000FF"/>
                </a:solidFill>
              </a:rPr>
            </a:br>
            <a:r>
              <a:rPr lang="en-US" sz="1800" dirty="0" smtClean="0">
                <a:solidFill>
                  <a:srgbClr val="0000FF"/>
                </a:solidFill>
              </a:rPr>
              <a:t>void output()</a:t>
            </a:r>
            <a:br>
              <a:rPr lang="en-US" sz="1800" dirty="0" smtClean="0">
                <a:solidFill>
                  <a:srgbClr val="0000FF"/>
                </a:solidFill>
              </a:rPr>
            </a:br>
            <a:r>
              <a:rPr lang="en-US" sz="1800" dirty="0" smtClean="0">
                <a:solidFill>
                  <a:srgbClr val="0000FF"/>
                </a:solidFill>
              </a:rPr>
              <a:t>{</a:t>
            </a:r>
            <a:br>
              <a:rPr lang="en-US" sz="1800" dirty="0" smtClean="0">
                <a:solidFill>
                  <a:srgbClr val="0000FF"/>
                </a:solidFill>
              </a:rPr>
            </a:br>
            <a:r>
              <a:rPr lang="en-US" sz="1800" dirty="0" smtClean="0">
                <a:solidFill>
                  <a:srgbClr val="0000FF"/>
                </a:solidFill>
              </a:rPr>
              <a:t>}</a:t>
            </a:r>
          </a:p>
        </p:txBody>
      </p:sp>
      <p:sp>
        <p:nvSpPr>
          <p:cNvPr id="8" name="AutoShape 9"/>
          <p:cNvSpPr>
            <a:spLocks noChangeArrowheads="1"/>
          </p:cNvSpPr>
          <p:nvPr/>
        </p:nvSpPr>
        <p:spPr bwMode="auto">
          <a:xfrm>
            <a:off x="6248400" y="3581400"/>
            <a:ext cx="2438400" cy="25146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91440" tIns="91440" rIns="91440" bIns="91440" anchor="t"/>
          <a:lstStyle/>
          <a:p>
            <a:pPr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// File </a:t>
            </a:r>
            <a:r>
              <a:rPr lang="en-US" sz="1800" b="1" dirty="0" smtClean="0">
                <a:solidFill>
                  <a:srgbClr val="FF0000"/>
                </a:solidFill>
              </a:rPr>
              <a:t>compute.cpp</a:t>
            </a:r>
          </a:p>
          <a:p>
            <a:pPr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err="1" smtClean="0">
                <a:solidFill>
                  <a:srgbClr val="0000FF"/>
                </a:solidFill>
              </a:rPr>
              <a:t>int</a:t>
            </a:r>
            <a:r>
              <a:rPr lang="en-US" sz="1800" dirty="0" smtClean="0">
                <a:solidFill>
                  <a:srgbClr val="0000FF"/>
                </a:solidFill>
              </a:rPr>
              <a:t> compute1()</a:t>
            </a:r>
            <a:br>
              <a:rPr lang="en-US" sz="1800" dirty="0" smtClean="0">
                <a:solidFill>
                  <a:srgbClr val="0000FF"/>
                </a:solidFill>
              </a:rPr>
            </a:br>
            <a:r>
              <a:rPr lang="en-US" sz="1800" dirty="0" smtClean="0">
                <a:solidFill>
                  <a:srgbClr val="0000FF"/>
                </a:solidFill>
              </a:rPr>
              <a:t>{</a:t>
            </a:r>
            <a:br>
              <a:rPr lang="en-US" sz="1800" dirty="0" smtClean="0">
                <a:solidFill>
                  <a:srgbClr val="0000FF"/>
                </a:solidFill>
              </a:rPr>
            </a:br>
            <a:r>
              <a:rPr lang="en-US" sz="1800" dirty="0" smtClean="0">
                <a:solidFill>
                  <a:srgbClr val="0000FF"/>
                </a:solidFill>
              </a:rPr>
              <a:t>}</a:t>
            </a:r>
            <a:br>
              <a:rPr lang="en-US" sz="1800" dirty="0" smtClean="0">
                <a:solidFill>
                  <a:srgbClr val="0000FF"/>
                </a:solidFill>
              </a:rPr>
            </a:br>
            <a:r>
              <a:rPr lang="en-US" sz="1800" dirty="0" smtClean="0">
                <a:solidFill>
                  <a:srgbClr val="0000FF"/>
                </a:solidFill>
              </a:rPr>
              <a:t/>
            </a:r>
            <a:br>
              <a:rPr lang="en-US" sz="1800" dirty="0" smtClean="0">
                <a:solidFill>
                  <a:srgbClr val="0000FF"/>
                </a:solidFill>
              </a:rPr>
            </a:br>
            <a:r>
              <a:rPr lang="en-US" sz="1800" dirty="0" err="1" smtClean="0">
                <a:solidFill>
                  <a:srgbClr val="0000FF"/>
                </a:solidFill>
              </a:rPr>
              <a:t>int</a:t>
            </a:r>
            <a:r>
              <a:rPr lang="en-US" sz="1800" dirty="0" smtClean="0">
                <a:solidFill>
                  <a:srgbClr val="0000FF"/>
                </a:solidFill>
              </a:rPr>
              <a:t> compute2()</a:t>
            </a:r>
            <a:br>
              <a:rPr lang="en-US" sz="1800" dirty="0" smtClean="0">
                <a:solidFill>
                  <a:srgbClr val="0000FF"/>
                </a:solidFill>
              </a:rPr>
            </a:br>
            <a:r>
              <a:rPr lang="en-US" sz="1800" dirty="0" smtClean="0">
                <a:solidFill>
                  <a:srgbClr val="0000FF"/>
                </a:solidFill>
              </a:rPr>
              <a:t>{</a:t>
            </a:r>
            <a:br>
              <a:rPr lang="en-US" sz="1800" dirty="0" smtClean="0">
                <a:solidFill>
                  <a:srgbClr val="0000FF"/>
                </a:solidFill>
              </a:rPr>
            </a:br>
            <a:r>
              <a:rPr lang="en-US" sz="1800" dirty="0" smtClean="0">
                <a:solidFill>
                  <a:srgbClr val="0000FF"/>
                </a:solidFill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Multiple-file project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Header file:</a:t>
            </a:r>
          </a:p>
          <a:p>
            <a:pPr lvl="1"/>
            <a:r>
              <a:rPr lang="en-US" dirty="0" smtClean="0"/>
              <a:t>Connect source files across project.</a:t>
            </a:r>
          </a:p>
          <a:p>
            <a:pPr lvl="1"/>
            <a:r>
              <a:rPr lang="en-US" dirty="0" smtClean="0"/>
              <a:t>Make code on a file “see” code on another file.</a:t>
            </a:r>
          </a:p>
          <a:p>
            <a:pPr lvl="1"/>
            <a:r>
              <a:rPr lang="en-US" dirty="0" smtClean="0"/>
              <a:t>File extension </a:t>
            </a:r>
            <a:r>
              <a:rPr lang="en-US" b="1" dirty="0" smtClean="0">
                <a:solidFill>
                  <a:srgbClr val="FFC000"/>
                </a:solidFill>
              </a:rPr>
              <a:t>.h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Usage:</a:t>
            </a:r>
          </a:p>
          <a:p>
            <a:pPr lvl="2"/>
            <a:r>
              <a:rPr lang="en-US" dirty="0" smtClean="0"/>
              <a:t>Create header file </a:t>
            </a:r>
            <a:r>
              <a:rPr lang="en-US" b="1" dirty="0" smtClean="0">
                <a:solidFill>
                  <a:srgbClr val="FFC000"/>
                </a:solidFill>
              </a:rPr>
              <a:t>.h</a:t>
            </a:r>
            <a:r>
              <a:rPr lang="en-US" dirty="0" smtClean="0"/>
              <a:t> for source file </a:t>
            </a:r>
            <a:r>
              <a:rPr lang="en-US" b="1" dirty="0" smtClean="0">
                <a:solidFill>
                  <a:srgbClr val="FFC000"/>
                </a:solidFill>
              </a:rPr>
              <a:t>.</a:t>
            </a:r>
            <a:r>
              <a:rPr lang="en-US" b="1" dirty="0" err="1" smtClean="0">
                <a:solidFill>
                  <a:srgbClr val="FFC000"/>
                </a:solidFill>
              </a:rPr>
              <a:t>cpp</a:t>
            </a:r>
            <a:r>
              <a:rPr lang="en-US" dirty="0" smtClean="0"/>
              <a:t>.</a:t>
            </a:r>
          </a:p>
          <a:p>
            <a:pPr lvl="2"/>
            <a:r>
              <a:rPr lang="en-US" dirty="0" smtClean="0"/>
              <a:t>File </a:t>
            </a:r>
            <a:r>
              <a:rPr lang="en-US" b="1" dirty="0" smtClean="0">
                <a:solidFill>
                  <a:srgbClr val="FFC000"/>
                </a:solidFill>
              </a:rPr>
              <a:t>.h</a:t>
            </a:r>
            <a:r>
              <a:rPr lang="en-US" dirty="0" smtClean="0"/>
              <a:t> contains only </a:t>
            </a:r>
            <a:r>
              <a:rPr lang="en-US" b="1" dirty="0" smtClean="0">
                <a:solidFill>
                  <a:srgbClr val="FFC000"/>
                </a:solidFill>
              </a:rPr>
              <a:t>declaration </a:t>
            </a:r>
            <a:r>
              <a:rPr lang="en-US" dirty="0" smtClean="0"/>
              <a:t>(global variables/functions).</a:t>
            </a:r>
          </a:p>
          <a:p>
            <a:pPr lvl="2"/>
            <a:r>
              <a:rPr lang="en-US" dirty="0" smtClean="0"/>
              <a:t>File </a:t>
            </a:r>
            <a:r>
              <a:rPr lang="en-US" b="1" dirty="0" smtClean="0">
                <a:solidFill>
                  <a:srgbClr val="FFC000"/>
                </a:solidFill>
              </a:rPr>
              <a:t>.</a:t>
            </a:r>
            <a:r>
              <a:rPr lang="en-US" b="1" dirty="0" err="1" smtClean="0">
                <a:solidFill>
                  <a:srgbClr val="FFC000"/>
                </a:solidFill>
              </a:rPr>
              <a:t>cpp</a:t>
            </a:r>
            <a:r>
              <a:rPr lang="en-US" dirty="0" smtClean="0"/>
              <a:t> contains </a:t>
            </a:r>
            <a:r>
              <a:rPr lang="en-US" b="1" dirty="0" smtClean="0">
                <a:solidFill>
                  <a:srgbClr val="FFC000"/>
                </a:solidFill>
              </a:rPr>
              <a:t>implementation</a:t>
            </a:r>
            <a:r>
              <a:rPr lang="en-US" dirty="0" smtClean="0"/>
              <a:t> of functions.</a:t>
            </a:r>
          </a:p>
          <a:p>
            <a:pPr lvl="2"/>
            <a:r>
              <a:rPr lang="en-US" dirty="0" smtClean="0"/>
              <a:t>To let A.cpp “see” code in B.cpp</a:t>
            </a:r>
          </a:p>
          <a:p>
            <a:pPr lvl="2">
              <a:buNone/>
            </a:pPr>
            <a:r>
              <a:rPr lang="en-US" dirty="0" smtClean="0"/>
              <a:t>	</a:t>
            </a:r>
            <a:r>
              <a:rPr lang="en-US" dirty="0" smtClean="0">
                <a:sym typeface="Wingdings" pitchFamily="2" charset="2"/>
              </a:rPr>
              <a:t> A.cpp </a:t>
            </a:r>
            <a:r>
              <a:rPr lang="en-US" b="1" dirty="0" smtClean="0">
                <a:solidFill>
                  <a:srgbClr val="FFC000"/>
                </a:solidFill>
                <a:sym typeface="Wingdings" pitchFamily="2" charset="2"/>
              </a:rPr>
              <a:t>#include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b="1" dirty="0" smtClean="0">
                <a:solidFill>
                  <a:srgbClr val="FFC000"/>
                </a:solidFill>
                <a:sym typeface="Wingdings" pitchFamily="2" charset="2"/>
              </a:rPr>
              <a:t>“</a:t>
            </a:r>
            <a:r>
              <a:rPr lang="en-US" dirty="0" err="1" smtClean="0">
                <a:sym typeface="Wingdings" pitchFamily="2" charset="2"/>
              </a:rPr>
              <a:t>B.h</a:t>
            </a:r>
            <a:r>
              <a:rPr lang="en-US" b="1" dirty="0" smtClean="0">
                <a:solidFill>
                  <a:srgbClr val="FFC000"/>
                </a:solidFill>
                <a:sym typeface="Wingdings" pitchFamily="2" charset="2"/>
              </a:rPr>
              <a:t>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Multiple-file project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Header file:</a:t>
            </a:r>
          </a:p>
          <a:p>
            <a:pPr lvl="2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sp>
        <p:nvSpPr>
          <p:cNvPr id="6" name="AutoShape 9"/>
          <p:cNvSpPr>
            <a:spLocks noChangeArrowheads="1"/>
          </p:cNvSpPr>
          <p:nvPr/>
        </p:nvSpPr>
        <p:spPr bwMode="auto">
          <a:xfrm>
            <a:off x="381000" y="1752600"/>
            <a:ext cx="2590800" cy="44958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91440" tIns="91440" rIns="91440" bIns="91440" anchor="t"/>
          <a:lstStyle/>
          <a:p>
            <a:pPr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// File </a:t>
            </a:r>
            <a:r>
              <a:rPr lang="en-US" sz="1800" b="1" dirty="0" smtClean="0">
                <a:solidFill>
                  <a:srgbClr val="FF0000"/>
                </a:solidFill>
              </a:rPr>
              <a:t>main.cpp</a:t>
            </a:r>
          </a:p>
          <a:p>
            <a:pPr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b="1" dirty="0" smtClean="0">
                <a:solidFill>
                  <a:srgbClr val="FF0000"/>
                </a:solidFill>
              </a:rPr>
              <a:t>#include</a:t>
            </a:r>
            <a:r>
              <a:rPr lang="en-US" sz="1800" dirty="0" smtClean="0">
                <a:solidFill>
                  <a:srgbClr val="0000FF"/>
                </a:solidFill>
              </a:rPr>
              <a:t> “</a:t>
            </a:r>
            <a:r>
              <a:rPr lang="en-US" sz="1800" dirty="0" err="1" smtClean="0">
                <a:solidFill>
                  <a:srgbClr val="0000FF"/>
                </a:solidFill>
              </a:rPr>
              <a:t>io.h</a:t>
            </a:r>
            <a:r>
              <a:rPr lang="en-US" sz="1800" dirty="0" smtClean="0">
                <a:solidFill>
                  <a:srgbClr val="0000FF"/>
                </a:solidFill>
              </a:rPr>
              <a:t>”</a:t>
            </a:r>
          </a:p>
          <a:p>
            <a:pPr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b="1" dirty="0" smtClean="0">
                <a:solidFill>
                  <a:srgbClr val="FF0000"/>
                </a:solidFill>
              </a:rPr>
              <a:t>#include</a:t>
            </a:r>
            <a:r>
              <a:rPr lang="en-US" sz="1800" dirty="0" smtClean="0">
                <a:solidFill>
                  <a:srgbClr val="0000FF"/>
                </a:solidFill>
              </a:rPr>
              <a:t> “</a:t>
            </a:r>
            <a:r>
              <a:rPr lang="en-US" sz="1800" dirty="0" err="1" smtClean="0">
                <a:solidFill>
                  <a:srgbClr val="0000FF"/>
                </a:solidFill>
              </a:rPr>
              <a:t>compute.h</a:t>
            </a:r>
            <a:r>
              <a:rPr lang="en-US" sz="1800" dirty="0" smtClean="0">
                <a:solidFill>
                  <a:srgbClr val="0000FF"/>
                </a:solidFill>
              </a:rPr>
              <a:t>”</a:t>
            </a:r>
          </a:p>
          <a:p>
            <a:pPr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/>
            </a:r>
            <a:br>
              <a:rPr lang="en-US" sz="1800" dirty="0" smtClean="0">
                <a:solidFill>
                  <a:srgbClr val="0000FF"/>
                </a:solidFill>
              </a:rPr>
            </a:br>
            <a:r>
              <a:rPr lang="en-US" sz="1800" dirty="0" err="1" smtClean="0">
                <a:solidFill>
                  <a:srgbClr val="0000FF"/>
                </a:solidFill>
              </a:rPr>
              <a:t>int</a:t>
            </a:r>
            <a:r>
              <a:rPr lang="en-US" sz="1800" dirty="0" smtClean="0">
                <a:solidFill>
                  <a:srgbClr val="0000FF"/>
                </a:solidFill>
              </a:rPr>
              <a:t> main()</a:t>
            </a:r>
            <a:br>
              <a:rPr lang="en-US" sz="1800" dirty="0" smtClean="0">
                <a:solidFill>
                  <a:srgbClr val="0000FF"/>
                </a:solidFill>
              </a:rPr>
            </a:br>
            <a:r>
              <a:rPr lang="en-US" sz="1800" dirty="0" smtClean="0">
                <a:solidFill>
                  <a:srgbClr val="0000FF"/>
                </a:solidFill>
              </a:rPr>
              <a:t>{</a:t>
            </a:r>
            <a:br>
              <a:rPr lang="en-US" sz="1800" dirty="0" smtClean="0">
                <a:solidFill>
                  <a:srgbClr val="0000FF"/>
                </a:solidFill>
              </a:rPr>
            </a:br>
            <a:r>
              <a:rPr lang="en-US" sz="1800" dirty="0" smtClean="0">
                <a:solidFill>
                  <a:srgbClr val="0000FF"/>
                </a:solidFill>
              </a:rPr>
              <a:t>	input();</a:t>
            </a:r>
            <a:br>
              <a:rPr lang="en-US" sz="1800" dirty="0" smtClean="0">
                <a:solidFill>
                  <a:srgbClr val="0000FF"/>
                </a:solidFill>
              </a:rPr>
            </a:br>
            <a:r>
              <a:rPr lang="en-US" sz="1800" dirty="0" smtClean="0">
                <a:solidFill>
                  <a:srgbClr val="0000FF"/>
                </a:solidFill>
              </a:rPr>
              <a:t>	compute1();</a:t>
            </a:r>
            <a:br>
              <a:rPr lang="en-US" sz="1800" dirty="0" smtClean="0">
                <a:solidFill>
                  <a:srgbClr val="0000FF"/>
                </a:solidFill>
              </a:rPr>
            </a:br>
            <a:r>
              <a:rPr lang="en-US" sz="1800" dirty="0" smtClean="0">
                <a:solidFill>
                  <a:srgbClr val="0000FF"/>
                </a:solidFill>
              </a:rPr>
              <a:t>	compute2();</a:t>
            </a:r>
            <a:br>
              <a:rPr lang="en-US" sz="1800" dirty="0" smtClean="0">
                <a:solidFill>
                  <a:srgbClr val="0000FF"/>
                </a:solidFill>
              </a:rPr>
            </a:br>
            <a:r>
              <a:rPr lang="en-US" sz="1800" dirty="0" smtClean="0">
                <a:solidFill>
                  <a:srgbClr val="0000FF"/>
                </a:solidFill>
              </a:rPr>
              <a:t>	output();</a:t>
            </a:r>
            <a:br>
              <a:rPr lang="en-US" sz="1800" dirty="0" smtClean="0">
                <a:solidFill>
                  <a:srgbClr val="0000FF"/>
                </a:solidFill>
              </a:rPr>
            </a:br>
            <a:r>
              <a:rPr lang="en-US" sz="1800" dirty="0" smtClean="0">
                <a:solidFill>
                  <a:srgbClr val="0000FF"/>
                </a:solidFill>
              </a:rPr>
              <a:t>}</a:t>
            </a:r>
          </a:p>
        </p:txBody>
      </p:sp>
      <p:sp>
        <p:nvSpPr>
          <p:cNvPr id="7" name="AutoShape 9"/>
          <p:cNvSpPr>
            <a:spLocks noChangeArrowheads="1"/>
          </p:cNvSpPr>
          <p:nvPr/>
        </p:nvSpPr>
        <p:spPr bwMode="auto">
          <a:xfrm>
            <a:off x="3581400" y="3733800"/>
            <a:ext cx="2590800" cy="25146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91440" tIns="91440" rIns="91440" bIns="91440" anchor="t"/>
          <a:lstStyle/>
          <a:p>
            <a:pPr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// File </a:t>
            </a:r>
            <a:r>
              <a:rPr lang="en-US" sz="1800" b="1" dirty="0" smtClean="0">
                <a:solidFill>
                  <a:srgbClr val="FF0000"/>
                </a:solidFill>
              </a:rPr>
              <a:t>io.cpp</a:t>
            </a:r>
          </a:p>
          <a:p>
            <a:pPr defTabSz="457200">
              <a:buClr>
                <a:schemeClr val="bg2"/>
              </a:buClr>
              <a:buNone/>
              <a:tabLst>
                <a:tab pos="457200" algn="l"/>
              </a:tabLst>
            </a:pPr>
            <a:r>
              <a:rPr lang="en-US" sz="1800" b="1" dirty="0" smtClean="0">
                <a:solidFill>
                  <a:srgbClr val="FF0000"/>
                </a:solidFill>
              </a:rPr>
              <a:t>#include</a:t>
            </a:r>
            <a:r>
              <a:rPr lang="en-US" sz="1800" dirty="0" smtClean="0">
                <a:solidFill>
                  <a:srgbClr val="0000FF"/>
                </a:solidFill>
              </a:rPr>
              <a:t> “</a:t>
            </a:r>
            <a:r>
              <a:rPr lang="en-US" sz="1800" dirty="0" err="1" smtClean="0">
                <a:solidFill>
                  <a:srgbClr val="0000FF"/>
                </a:solidFill>
              </a:rPr>
              <a:t>io.h</a:t>
            </a:r>
            <a:r>
              <a:rPr lang="en-US" sz="1800" dirty="0" smtClean="0">
                <a:solidFill>
                  <a:srgbClr val="0000FF"/>
                </a:solidFill>
              </a:rPr>
              <a:t>”</a:t>
            </a:r>
          </a:p>
          <a:p>
            <a:pPr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void input()</a:t>
            </a:r>
            <a:br>
              <a:rPr lang="en-US" sz="1800" dirty="0" smtClean="0">
                <a:solidFill>
                  <a:srgbClr val="0000FF"/>
                </a:solidFill>
              </a:rPr>
            </a:br>
            <a:r>
              <a:rPr lang="en-US" sz="1800" dirty="0" smtClean="0">
                <a:solidFill>
                  <a:srgbClr val="0000FF"/>
                </a:solidFill>
              </a:rPr>
              <a:t>{</a:t>
            </a:r>
            <a:br>
              <a:rPr lang="en-US" sz="1800" dirty="0" smtClean="0">
                <a:solidFill>
                  <a:srgbClr val="0000FF"/>
                </a:solidFill>
              </a:rPr>
            </a:br>
            <a:r>
              <a:rPr lang="en-US" sz="1800" dirty="0" smtClean="0">
                <a:solidFill>
                  <a:srgbClr val="0000FF"/>
                </a:solidFill>
              </a:rPr>
              <a:t>}</a:t>
            </a:r>
            <a:br>
              <a:rPr lang="en-US" sz="1800" dirty="0" smtClean="0">
                <a:solidFill>
                  <a:srgbClr val="0000FF"/>
                </a:solidFill>
              </a:rPr>
            </a:br>
            <a:r>
              <a:rPr lang="en-US" sz="1800" dirty="0" smtClean="0">
                <a:solidFill>
                  <a:srgbClr val="0000FF"/>
                </a:solidFill>
              </a:rPr>
              <a:t>void output()</a:t>
            </a:r>
            <a:br>
              <a:rPr lang="en-US" sz="1800" dirty="0" smtClean="0">
                <a:solidFill>
                  <a:srgbClr val="0000FF"/>
                </a:solidFill>
              </a:rPr>
            </a:br>
            <a:r>
              <a:rPr lang="en-US" sz="1800" dirty="0" smtClean="0">
                <a:solidFill>
                  <a:srgbClr val="0000FF"/>
                </a:solidFill>
              </a:rPr>
              <a:t>{</a:t>
            </a:r>
            <a:br>
              <a:rPr lang="en-US" sz="1800" dirty="0" smtClean="0">
                <a:solidFill>
                  <a:srgbClr val="0000FF"/>
                </a:solidFill>
              </a:rPr>
            </a:br>
            <a:r>
              <a:rPr lang="en-US" sz="1800" dirty="0" smtClean="0">
                <a:solidFill>
                  <a:srgbClr val="0000FF"/>
                </a:solidFill>
              </a:rPr>
              <a:t>}</a:t>
            </a:r>
          </a:p>
        </p:txBody>
      </p:sp>
      <p:sp>
        <p:nvSpPr>
          <p:cNvPr id="8" name="AutoShape 9"/>
          <p:cNvSpPr>
            <a:spLocks noChangeArrowheads="1"/>
          </p:cNvSpPr>
          <p:nvPr/>
        </p:nvSpPr>
        <p:spPr bwMode="auto">
          <a:xfrm>
            <a:off x="6248400" y="3733800"/>
            <a:ext cx="2590800" cy="25146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91440" tIns="91440" rIns="91440" bIns="91440" anchor="t"/>
          <a:lstStyle/>
          <a:p>
            <a:pPr defTabSz="457200">
              <a:buClr>
                <a:schemeClr val="bg2"/>
              </a:buClr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// File </a:t>
            </a:r>
            <a:r>
              <a:rPr lang="en-US" sz="1800" b="1" dirty="0" smtClean="0">
                <a:solidFill>
                  <a:srgbClr val="FF0000"/>
                </a:solidFill>
              </a:rPr>
              <a:t>compute.cpp</a:t>
            </a:r>
            <a:br>
              <a:rPr lang="en-US" sz="1800" b="1" dirty="0" smtClean="0">
                <a:solidFill>
                  <a:srgbClr val="FF0000"/>
                </a:solidFill>
              </a:rPr>
            </a:br>
            <a:r>
              <a:rPr lang="en-US" sz="1800" b="1" dirty="0" smtClean="0">
                <a:solidFill>
                  <a:srgbClr val="FF0000"/>
                </a:solidFill>
              </a:rPr>
              <a:t>#include</a:t>
            </a:r>
            <a:r>
              <a:rPr lang="en-US" sz="1800" dirty="0" smtClean="0">
                <a:solidFill>
                  <a:srgbClr val="0000FF"/>
                </a:solidFill>
              </a:rPr>
              <a:t> “</a:t>
            </a:r>
            <a:r>
              <a:rPr lang="en-US" sz="1800" dirty="0" err="1" smtClean="0">
                <a:solidFill>
                  <a:srgbClr val="0000FF"/>
                </a:solidFill>
              </a:rPr>
              <a:t>compute.h</a:t>
            </a:r>
            <a:r>
              <a:rPr lang="en-US" sz="1800" dirty="0" smtClean="0">
                <a:solidFill>
                  <a:srgbClr val="0000FF"/>
                </a:solidFill>
              </a:rPr>
              <a:t>”</a:t>
            </a:r>
          </a:p>
          <a:p>
            <a:pPr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err="1" smtClean="0">
                <a:solidFill>
                  <a:srgbClr val="0000FF"/>
                </a:solidFill>
              </a:rPr>
              <a:t>int</a:t>
            </a:r>
            <a:r>
              <a:rPr lang="en-US" sz="1800" dirty="0" smtClean="0">
                <a:solidFill>
                  <a:srgbClr val="0000FF"/>
                </a:solidFill>
              </a:rPr>
              <a:t> compute1()</a:t>
            </a:r>
            <a:br>
              <a:rPr lang="en-US" sz="1800" dirty="0" smtClean="0">
                <a:solidFill>
                  <a:srgbClr val="0000FF"/>
                </a:solidFill>
              </a:rPr>
            </a:br>
            <a:r>
              <a:rPr lang="en-US" sz="1800" dirty="0" smtClean="0">
                <a:solidFill>
                  <a:srgbClr val="0000FF"/>
                </a:solidFill>
              </a:rPr>
              <a:t>{</a:t>
            </a:r>
            <a:br>
              <a:rPr lang="en-US" sz="1800" dirty="0" smtClean="0">
                <a:solidFill>
                  <a:srgbClr val="0000FF"/>
                </a:solidFill>
              </a:rPr>
            </a:br>
            <a:r>
              <a:rPr lang="en-US" sz="1800" dirty="0" smtClean="0">
                <a:solidFill>
                  <a:srgbClr val="0000FF"/>
                </a:solidFill>
              </a:rPr>
              <a:t>}</a:t>
            </a:r>
            <a:br>
              <a:rPr lang="en-US" sz="1800" dirty="0" smtClean="0">
                <a:solidFill>
                  <a:srgbClr val="0000FF"/>
                </a:solidFill>
              </a:rPr>
            </a:br>
            <a:r>
              <a:rPr lang="en-US" sz="1800" dirty="0" err="1" smtClean="0">
                <a:solidFill>
                  <a:srgbClr val="0000FF"/>
                </a:solidFill>
              </a:rPr>
              <a:t>int</a:t>
            </a:r>
            <a:r>
              <a:rPr lang="en-US" sz="1800" dirty="0" smtClean="0">
                <a:solidFill>
                  <a:srgbClr val="0000FF"/>
                </a:solidFill>
              </a:rPr>
              <a:t> compute2()</a:t>
            </a:r>
            <a:br>
              <a:rPr lang="en-US" sz="1800" dirty="0" smtClean="0">
                <a:solidFill>
                  <a:srgbClr val="0000FF"/>
                </a:solidFill>
              </a:rPr>
            </a:br>
            <a:r>
              <a:rPr lang="en-US" sz="1800" dirty="0" smtClean="0">
                <a:solidFill>
                  <a:srgbClr val="0000FF"/>
                </a:solidFill>
              </a:rPr>
              <a:t>{</a:t>
            </a:r>
            <a:br>
              <a:rPr lang="en-US" sz="1800" dirty="0" smtClean="0">
                <a:solidFill>
                  <a:srgbClr val="0000FF"/>
                </a:solidFill>
              </a:rPr>
            </a:br>
            <a:r>
              <a:rPr lang="en-US" sz="1800" dirty="0" smtClean="0">
                <a:solidFill>
                  <a:srgbClr val="0000FF"/>
                </a:solidFill>
              </a:rPr>
              <a:t>}</a:t>
            </a:r>
          </a:p>
        </p:txBody>
      </p:sp>
      <p:sp>
        <p:nvSpPr>
          <p:cNvPr id="9" name="AutoShape 9"/>
          <p:cNvSpPr>
            <a:spLocks noChangeArrowheads="1"/>
          </p:cNvSpPr>
          <p:nvPr/>
        </p:nvSpPr>
        <p:spPr bwMode="auto">
          <a:xfrm>
            <a:off x="3581400" y="1752600"/>
            <a:ext cx="2514600" cy="14478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91440" tIns="91440" rIns="91440" bIns="91440" anchor="t"/>
          <a:lstStyle/>
          <a:p>
            <a:pPr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// File </a:t>
            </a:r>
            <a:r>
              <a:rPr lang="en-US" sz="1800" b="1" dirty="0" err="1" smtClean="0">
                <a:solidFill>
                  <a:srgbClr val="FF0000"/>
                </a:solidFill>
              </a:rPr>
              <a:t>io.h</a:t>
            </a:r>
            <a:endParaRPr lang="en-US" sz="1800" b="1" dirty="0" smtClean="0">
              <a:solidFill>
                <a:srgbClr val="FF0000"/>
              </a:solidFill>
            </a:endParaRPr>
          </a:p>
          <a:p>
            <a:pPr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// Function declaration</a:t>
            </a:r>
          </a:p>
          <a:p>
            <a:pPr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void </a:t>
            </a:r>
            <a:r>
              <a:rPr lang="en-US" sz="1800" dirty="0" smtClean="0">
                <a:solidFill>
                  <a:srgbClr val="0000FF"/>
                </a:solidFill>
              </a:rPr>
              <a:t>input();</a:t>
            </a:r>
            <a:r>
              <a:rPr lang="en-US" sz="1800" dirty="0" smtClean="0">
                <a:solidFill>
                  <a:srgbClr val="0000FF"/>
                </a:solidFill>
              </a:rPr>
              <a:t/>
            </a:r>
            <a:br>
              <a:rPr lang="en-US" sz="1800" dirty="0" smtClean="0">
                <a:solidFill>
                  <a:srgbClr val="0000FF"/>
                </a:solidFill>
              </a:rPr>
            </a:br>
            <a:r>
              <a:rPr lang="en-US" sz="1800" dirty="0" smtClean="0">
                <a:solidFill>
                  <a:srgbClr val="0000FF"/>
                </a:solidFill>
              </a:rPr>
              <a:t>void </a:t>
            </a:r>
            <a:r>
              <a:rPr lang="en-US" sz="1800" dirty="0" smtClean="0">
                <a:solidFill>
                  <a:srgbClr val="0000FF"/>
                </a:solidFill>
              </a:rPr>
              <a:t>output();</a:t>
            </a:r>
            <a:endParaRPr lang="en-US" sz="1800" dirty="0" smtClean="0">
              <a:solidFill>
                <a:srgbClr val="0000FF"/>
              </a:solidFill>
            </a:endParaRPr>
          </a:p>
        </p:txBody>
      </p:sp>
      <p:sp>
        <p:nvSpPr>
          <p:cNvPr id="10" name="AutoShape 9"/>
          <p:cNvSpPr>
            <a:spLocks noChangeArrowheads="1"/>
          </p:cNvSpPr>
          <p:nvPr/>
        </p:nvSpPr>
        <p:spPr bwMode="auto">
          <a:xfrm>
            <a:off x="6248400" y="1752600"/>
            <a:ext cx="2590800" cy="14478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91440" tIns="91440" rIns="91440" bIns="91440" anchor="t"/>
          <a:lstStyle/>
          <a:p>
            <a:pPr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// File </a:t>
            </a:r>
            <a:r>
              <a:rPr lang="en-US" sz="1800" b="1" dirty="0" err="1" smtClean="0">
                <a:solidFill>
                  <a:srgbClr val="FF0000"/>
                </a:solidFill>
              </a:rPr>
              <a:t>compute.h</a:t>
            </a:r>
            <a:endParaRPr lang="en-US" sz="1800" b="1" dirty="0" smtClean="0">
              <a:solidFill>
                <a:srgbClr val="FF0000"/>
              </a:solidFill>
            </a:endParaRPr>
          </a:p>
          <a:p>
            <a:pPr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// Function declaration</a:t>
            </a:r>
          </a:p>
          <a:p>
            <a:pPr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err="1" smtClean="0">
                <a:solidFill>
                  <a:srgbClr val="0000FF"/>
                </a:solidFill>
              </a:rPr>
              <a:t>int</a:t>
            </a:r>
            <a:r>
              <a:rPr lang="en-US" sz="1800" dirty="0" smtClean="0">
                <a:solidFill>
                  <a:srgbClr val="0000FF"/>
                </a:solidFill>
              </a:rPr>
              <a:t> </a:t>
            </a:r>
            <a:r>
              <a:rPr lang="en-US" sz="1800" dirty="0" smtClean="0">
                <a:solidFill>
                  <a:srgbClr val="0000FF"/>
                </a:solidFill>
              </a:rPr>
              <a:t>compute1();</a:t>
            </a:r>
            <a:r>
              <a:rPr lang="en-US" sz="1800" dirty="0" smtClean="0">
                <a:solidFill>
                  <a:srgbClr val="0000FF"/>
                </a:solidFill>
              </a:rPr>
              <a:t/>
            </a:r>
            <a:br>
              <a:rPr lang="en-US" sz="1800" dirty="0" smtClean="0">
                <a:solidFill>
                  <a:srgbClr val="0000FF"/>
                </a:solidFill>
              </a:rPr>
            </a:br>
            <a:r>
              <a:rPr lang="en-US" sz="1800" dirty="0" err="1" smtClean="0">
                <a:solidFill>
                  <a:srgbClr val="0000FF"/>
                </a:solidFill>
              </a:rPr>
              <a:t>int</a:t>
            </a:r>
            <a:r>
              <a:rPr lang="en-US" sz="1800" dirty="0" smtClean="0">
                <a:solidFill>
                  <a:srgbClr val="0000FF"/>
                </a:solidFill>
              </a:rPr>
              <a:t> </a:t>
            </a:r>
            <a:r>
              <a:rPr lang="en-US" sz="1800" dirty="0" smtClean="0">
                <a:solidFill>
                  <a:srgbClr val="0000FF"/>
                </a:solidFill>
              </a:rPr>
              <a:t>compute</a:t>
            </a:r>
            <a:r>
              <a:rPr lang="en-US" sz="1800" dirty="0" smtClean="0">
                <a:solidFill>
                  <a:srgbClr val="0000FF"/>
                </a:solidFill>
              </a:rPr>
              <a:t>2</a:t>
            </a:r>
            <a:r>
              <a:rPr lang="en-US" sz="1800" dirty="0" smtClean="0">
                <a:solidFill>
                  <a:srgbClr val="0000FF"/>
                </a:solidFill>
              </a:rPr>
              <a:t>();</a:t>
            </a:r>
          </a:p>
        </p:txBody>
      </p:sp>
      <p:cxnSp>
        <p:nvCxnSpPr>
          <p:cNvPr id="12" name="Straight Arrow Connector 11"/>
          <p:cNvCxnSpPr/>
          <p:nvPr/>
        </p:nvCxnSpPr>
        <p:spPr bwMode="auto">
          <a:xfrm rot="5400000">
            <a:off x="4609306" y="3466306"/>
            <a:ext cx="533400" cy="1588"/>
          </a:xfrm>
          <a:prstGeom prst="straightConnector1">
            <a:avLst/>
          </a:prstGeom>
          <a:noFill/>
          <a:ln w="50800" cap="flat" cmpd="sng" algn="ctr">
            <a:solidFill>
              <a:srgbClr val="92D050"/>
            </a:solidFill>
            <a:prstDash val="solid"/>
            <a:round/>
            <a:headEnd type="arrow" w="sm" len="sm"/>
            <a:tailEnd type="arrow" w="sm" len="sm"/>
          </a:ln>
          <a:effectLst/>
        </p:spPr>
      </p:cxnSp>
      <p:cxnSp>
        <p:nvCxnSpPr>
          <p:cNvPr id="15" name="Straight Arrow Connector 14"/>
          <p:cNvCxnSpPr/>
          <p:nvPr/>
        </p:nvCxnSpPr>
        <p:spPr bwMode="auto">
          <a:xfrm rot="5400000">
            <a:off x="7200106" y="3466306"/>
            <a:ext cx="533400" cy="1588"/>
          </a:xfrm>
          <a:prstGeom prst="straightConnector1">
            <a:avLst/>
          </a:prstGeom>
          <a:noFill/>
          <a:ln w="50800" cap="flat" cmpd="sng" algn="ctr">
            <a:solidFill>
              <a:srgbClr val="92D050"/>
            </a:solidFill>
            <a:prstDash val="solid"/>
            <a:round/>
            <a:headEnd type="arrow" w="sm" len="sm"/>
            <a:tailEnd type="arrow" w="sm" len="sm"/>
          </a:ln>
          <a:effectLst/>
        </p:spPr>
      </p:cxnSp>
      <p:cxnSp>
        <p:nvCxnSpPr>
          <p:cNvPr id="16" name="Straight Arrow Connector 15"/>
          <p:cNvCxnSpPr/>
          <p:nvPr/>
        </p:nvCxnSpPr>
        <p:spPr bwMode="auto">
          <a:xfrm>
            <a:off x="2971800" y="2590800"/>
            <a:ext cx="609600" cy="1588"/>
          </a:xfrm>
          <a:prstGeom prst="straightConnector1">
            <a:avLst/>
          </a:prstGeom>
          <a:noFill/>
          <a:ln w="50800" cap="flat" cmpd="sng" algn="ctr">
            <a:solidFill>
              <a:srgbClr val="92D050"/>
            </a:solidFill>
            <a:prstDash val="solid"/>
            <a:round/>
            <a:headEnd type="arrow" w="sm" len="sm"/>
            <a:tailEnd type="arrow" w="sm" len="sm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Multiple-file project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Divide-conquer a project:</a:t>
            </a:r>
          </a:p>
          <a:p>
            <a:pPr lvl="1"/>
            <a:r>
              <a:rPr lang="en-US" dirty="0" smtClean="0"/>
              <a:t>How to eat a cow?</a:t>
            </a:r>
          </a:p>
          <a:p>
            <a:pPr lvl="1">
              <a:buNone/>
            </a:pPr>
            <a:r>
              <a:rPr lang="en-US" dirty="0" smtClean="0"/>
              <a:t>	</a:t>
            </a:r>
            <a:r>
              <a:rPr lang="en-US" dirty="0" smtClean="0">
                <a:sym typeface="Wingdings" pitchFamily="2" charset="2"/>
              </a:rPr>
              <a:t> Split into small parts.</a:t>
            </a:r>
          </a:p>
          <a:p>
            <a:pPr lvl="1">
              <a:buNone/>
            </a:pPr>
            <a:r>
              <a:rPr lang="en-US" dirty="0" smtClean="0">
                <a:sym typeface="Wingdings" pitchFamily="2" charset="2"/>
              </a:rPr>
              <a:t>	 Eat each parts.</a:t>
            </a:r>
          </a:p>
          <a:p>
            <a:pPr lvl="1"/>
            <a:r>
              <a:rPr lang="en-US" dirty="0" smtClean="0">
                <a:sym typeface="Wingdings" pitchFamily="2" charset="2"/>
              </a:rPr>
              <a:t>How small is small?</a:t>
            </a:r>
          </a:p>
          <a:p>
            <a:pPr lvl="1">
              <a:buNone/>
            </a:pPr>
            <a:r>
              <a:rPr lang="en-US" dirty="0" smtClean="0">
                <a:sym typeface="Wingdings" pitchFamily="2" charset="2"/>
              </a:rPr>
              <a:t>	 Can be chewed.</a:t>
            </a:r>
          </a:p>
          <a:p>
            <a:pPr lvl="1"/>
            <a:r>
              <a:rPr lang="en-US" dirty="0" smtClean="0"/>
              <a:t>Organize a project:</a:t>
            </a:r>
          </a:p>
          <a:p>
            <a:pPr lvl="2"/>
            <a:r>
              <a:rPr lang="en-US" dirty="0" smtClean="0"/>
              <a:t>Split into functions and files.</a:t>
            </a:r>
          </a:p>
          <a:p>
            <a:pPr lvl="2"/>
            <a:r>
              <a:rPr lang="en-US" dirty="0" smtClean="0"/>
              <a:t>Implement each function.</a:t>
            </a:r>
          </a:p>
          <a:p>
            <a:pPr lvl="2"/>
            <a:r>
              <a:rPr lang="en-US" dirty="0" smtClean="0"/>
              <a:t>Should be &lt; 30 statements.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pic>
        <p:nvPicPr>
          <p:cNvPr id="18436" name="Picture 4" descr="http://t2.gstatic.com/images?q=tbn:ANd9GcT9WimsldxuO0hkatoiHbpQ96e1CXYHiaHPW9ecn-WSxDKP9ADFVQ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72225" y="4333875"/>
            <a:ext cx="2390775" cy="1914525"/>
          </a:xfrm>
          <a:prstGeom prst="rect">
            <a:avLst/>
          </a:prstGeom>
          <a:noFill/>
        </p:spPr>
      </p:pic>
      <p:pic>
        <p:nvPicPr>
          <p:cNvPr id="12290" name="Picture 2" descr="https://external-content.duckduckgo.com/iu/?u=https%3A%2F%2Ftse4.mm.bing.net%2Fth%3Fid%3DOIP.z-T7dS70XhGg6Rr5m8Z5xQHaEi%26pid%3DApi&amp;f=1&amp;ipt=e99c8b803b8ac0eef7200c12388375302831b8e1faf59282a7f812991ea7e110&amp;ipo=images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24600" y="2699150"/>
            <a:ext cx="2438400" cy="1491849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Multiple-file project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Program breakdown tree:</a:t>
            </a:r>
          </a:p>
          <a:p>
            <a:pPr lvl="1"/>
            <a:r>
              <a:rPr lang="en-US" dirty="0" smtClean="0"/>
              <a:t>Enter 3 positive integers a, b, c &gt;= 0.</a:t>
            </a:r>
          </a:p>
          <a:p>
            <a:pPr lvl="1"/>
            <a:r>
              <a:rPr lang="en-US" dirty="0" smtClean="0"/>
              <a:t>Compute and print S = a! + (b + 1)! + (c + 2)!.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sp>
        <p:nvSpPr>
          <p:cNvPr id="6" name="AutoShape 9"/>
          <p:cNvSpPr>
            <a:spLocks noChangeArrowheads="1"/>
          </p:cNvSpPr>
          <p:nvPr/>
        </p:nvSpPr>
        <p:spPr bwMode="auto">
          <a:xfrm>
            <a:off x="3733800" y="2667000"/>
            <a:ext cx="1676400" cy="6858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91440" tIns="91440" rIns="91440" bIns="9144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Program</a:t>
            </a:r>
          </a:p>
        </p:txBody>
      </p:sp>
      <p:sp>
        <p:nvSpPr>
          <p:cNvPr id="7" name="AutoShape 9"/>
          <p:cNvSpPr>
            <a:spLocks noChangeArrowheads="1"/>
          </p:cNvSpPr>
          <p:nvPr/>
        </p:nvSpPr>
        <p:spPr bwMode="auto">
          <a:xfrm>
            <a:off x="838200" y="4038600"/>
            <a:ext cx="1447800" cy="6858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91440" tIns="91440" rIns="91440" bIns="9144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Input</a:t>
            </a:r>
          </a:p>
        </p:txBody>
      </p:sp>
      <p:sp>
        <p:nvSpPr>
          <p:cNvPr id="8" name="AutoShape 9"/>
          <p:cNvSpPr>
            <a:spLocks noChangeArrowheads="1"/>
          </p:cNvSpPr>
          <p:nvPr/>
        </p:nvSpPr>
        <p:spPr bwMode="auto">
          <a:xfrm>
            <a:off x="3657600" y="4038600"/>
            <a:ext cx="1828800" cy="6858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91440" tIns="91440" rIns="91440" bIns="9144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Compute</a:t>
            </a:r>
          </a:p>
        </p:txBody>
      </p:sp>
      <p:sp>
        <p:nvSpPr>
          <p:cNvPr id="9" name="AutoShape 9"/>
          <p:cNvSpPr>
            <a:spLocks noChangeArrowheads="1"/>
          </p:cNvSpPr>
          <p:nvPr/>
        </p:nvSpPr>
        <p:spPr bwMode="auto">
          <a:xfrm>
            <a:off x="6858000" y="4038600"/>
            <a:ext cx="1600200" cy="6858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91440" tIns="91440" rIns="91440" bIns="9144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Output</a:t>
            </a:r>
          </a:p>
        </p:txBody>
      </p:sp>
      <p:sp>
        <p:nvSpPr>
          <p:cNvPr id="12" name="AutoShape 9"/>
          <p:cNvSpPr>
            <a:spLocks noChangeArrowheads="1"/>
          </p:cNvSpPr>
          <p:nvPr/>
        </p:nvSpPr>
        <p:spPr bwMode="auto">
          <a:xfrm>
            <a:off x="882804" y="5334000"/>
            <a:ext cx="1326996" cy="6858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91440" tIns="91440" rIns="91440" bIns="9144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Input positive </a:t>
            </a:r>
            <a:r>
              <a:rPr lang="en-US" sz="1800" dirty="0" err="1" smtClean="0">
                <a:solidFill>
                  <a:srgbClr val="0000FF"/>
                </a:solidFill>
              </a:rPr>
              <a:t>int</a:t>
            </a:r>
            <a:endParaRPr lang="en-US" sz="1800" dirty="0" smtClean="0">
              <a:solidFill>
                <a:srgbClr val="0000FF"/>
              </a:solidFill>
            </a:endParaRPr>
          </a:p>
        </p:txBody>
      </p:sp>
      <p:sp>
        <p:nvSpPr>
          <p:cNvPr id="15" name="AutoShape 9"/>
          <p:cNvSpPr>
            <a:spLocks noChangeArrowheads="1"/>
          </p:cNvSpPr>
          <p:nvPr/>
        </p:nvSpPr>
        <p:spPr bwMode="auto">
          <a:xfrm>
            <a:off x="3962400" y="5334000"/>
            <a:ext cx="1219200" cy="6858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91440" tIns="91440" rIns="91440" bIns="9144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Factorial</a:t>
            </a:r>
          </a:p>
        </p:txBody>
      </p:sp>
      <p:cxnSp>
        <p:nvCxnSpPr>
          <p:cNvPr id="18" name="Straight Arrow Connector 17"/>
          <p:cNvCxnSpPr>
            <a:stCxn id="6" idx="2"/>
            <a:endCxn id="7" idx="0"/>
          </p:cNvCxnSpPr>
          <p:nvPr/>
        </p:nvCxnSpPr>
        <p:spPr bwMode="auto">
          <a:xfrm rot="5400000">
            <a:off x="2724150" y="2190750"/>
            <a:ext cx="685800" cy="3009900"/>
          </a:xfrm>
          <a:prstGeom prst="straightConnector1">
            <a:avLst/>
          </a:prstGeom>
          <a:noFill/>
          <a:ln w="38100" cap="flat" cmpd="sng" algn="ctr">
            <a:solidFill>
              <a:srgbClr val="33CC33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21" name="Straight Arrow Connector 20"/>
          <p:cNvCxnSpPr>
            <a:stCxn id="6" idx="2"/>
            <a:endCxn id="8" idx="0"/>
          </p:cNvCxnSpPr>
          <p:nvPr/>
        </p:nvCxnSpPr>
        <p:spPr bwMode="auto">
          <a:xfrm rot="5400000">
            <a:off x="4229100" y="3695700"/>
            <a:ext cx="685800" cy="1588"/>
          </a:xfrm>
          <a:prstGeom prst="straightConnector1">
            <a:avLst/>
          </a:prstGeom>
          <a:noFill/>
          <a:ln w="38100" cap="flat" cmpd="sng" algn="ctr">
            <a:solidFill>
              <a:srgbClr val="33CC33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24" name="Straight Arrow Connector 23"/>
          <p:cNvCxnSpPr>
            <a:stCxn id="6" idx="2"/>
            <a:endCxn id="9" idx="0"/>
          </p:cNvCxnSpPr>
          <p:nvPr/>
        </p:nvCxnSpPr>
        <p:spPr bwMode="auto">
          <a:xfrm rot="16200000" flipH="1">
            <a:off x="5772150" y="2152650"/>
            <a:ext cx="685800" cy="3086100"/>
          </a:xfrm>
          <a:prstGeom prst="straightConnector1">
            <a:avLst/>
          </a:prstGeom>
          <a:noFill/>
          <a:ln w="38100" cap="flat" cmpd="sng" algn="ctr">
            <a:solidFill>
              <a:srgbClr val="33CC33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27" name="Straight Arrow Connector 26"/>
          <p:cNvCxnSpPr>
            <a:stCxn id="7" idx="2"/>
            <a:endCxn id="12" idx="0"/>
          </p:cNvCxnSpPr>
          <p:nvPr/>
        </p:nvCxnSpPr>
        <p:spPr bwMode="auto">
          <a:xfrm rot="5400000">
            <a:off x="1249401" y="5021301"/>
            <a:ext cx="609600" cy="15798"/>
          </a:xfrm>
          <a:prstGeom prst="straightConnector1">
            <a:avLst/>
          </a:prstGeom>
          <a:noFill/>
          <a:ln w="38100" cap="flat" cmpd="sng" algn="ctr">
            <a:solidFill>
              <a:srgbClr val="33CC33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36" name="Straight Arrow Connector 35"/>
          <p:cNvCxnSpPr>
            <a:stCxn id="8" idx="2"/>
            <a:endCxn id="15" idx="0"/>
          </p:cNvCxnSpPr>
          <p:nvPr/>
        </p:nvCxnSpPr>
        <p:spPr bwMode="auto">
          <a:xfrm rot="5400000">
            <a:off x="4267200" y="5029200"/>
            <a:ext cx="609600" cy="1588"/>
          </a:xfrm>
          <a:prstGeom prst="straightConnector1">
            <a:avLst/>
          </a:prstGeom>
          <a:noFill/>
          <a:ln w="38100" cap="flat" cmpd="sng" algn="ctr">
            <a:solidFill>
              <a:srgbClr val="33CC33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Multiple-file project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sp>
        <p:nvSpPr>
          <p:cNvPr id="6" name="AutoShape 9"/>
          <p:cNvSpPr>
            <a:spLocks noChangeArrowheads="1"/>
          </p:cNvSpPr>
          <p:nvPr/>
        </p:nvSpPr>
        <p:spPr bwMode="auto">
          <a:xfrm>
            <a:off x="0" y="1905000"/>
            <a:ext cx="2895600" cy="31242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45720" tIns="45720" rIns="45720" bIns="45720" anchor="t"/>
          <a:lstStyle/>
          <a:p>
            <a:pPr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600" dirty="0" smtClean="0">
                <a:solidFill>
                  <a:srgbClr val="0000FF"/>
                </a:solidFill>
              </a:rPr>
              <a:t>// File </a:t>
            </a:r>
            <a:r>
              <a:rPr lang="en-US" sz="1600" b="1" dirty="0" smtClean="0">
                <a:solidFill>
                  <a:srgbClr val="FF0000"/>
                </a:solidFill>
              </a:rPr>
              <a:t>main.cpp</a:t>
            </a:r>
            <a:br>
              <a:rPr lang="en-US" sz="1600" b="1" dirty="0" smtClean="0">
                <a:solidFill>
                  <a:srgbClr val="FF0000"/>
                </a:solidFill>
              </a:rPr>
            </a:br>
            <a:r>
              <a:rPr lang="en-US" sz="1600" b="1" dirty="0" smtClean="0">
                <a:solidFill>
                  <a:srgbClr val="FF0000"/>
                </a:solidFill>
              </a:rPr>
              <a:t>#include</a:t>
            </a:r>
            <a:r>
              <a:rPr lang="en-US" sz="1600" dirty="0" smtClean="0">
                <a:solidFill>
                  <a:srgbClr val="0000FF"/>
                </a:solidFill>
              </a:rPr>
              <a:t> “process1.h”</a:t>
            </a:r>
            <a:br>
              <a:rPr lang="en-US" sz="1600" dirty="0" smtClean="0">
                <a:solidFill>
                  <a:srgbClr val="0000FF"/>
                </a:solidFill>
              </a:rPr>
            </a:br>
            <a:r>
              <a:rPr lang="en-US" sz="1600" dirty="0" smtClean="0">
                <a:solidFill>
                  <a:srgbClr val="0000FF"/>
                </a:solidFill>
              </a:rPr>
              <a:t/>
            </a:r>
            <a:br>
              <a:rPr lang="en-US" sz="1600" dirty="0" smtClean="0">
                <a:solidFill>
                  <a:srgbClr val="0000FF"/>
                </a:solidFill>
              </a:rPr>
            </a:br>
            <a:r>
              <a:rPr lang="en-US" sz="1600" dirty="0" err="1" smtClean="0">
                <a:solidFill>
                  <a:srgbClr val="0000FF"/>
                </a:solidFill>
              </a:rPr>
              <a:t>int</a:t>
            </a:r>
            <a:r>
              <a:rPr lang="en-US" sz="1600" dirty="0" smtClean="0">
                <a:solidFill>
                  <a:srgbClr val="0000FF"/>
                </a:solidFill>
              </a:rPr>
              <a:t> </a:t>
            </a:r>
            <a:r>
              <a:rPr lang="en-US" sz="1600" b="1" dirty="0" smtClean="0">
                <a:solidFill>
                  <a:srgbClr val="FF0000"/>
                </a:solidFill>
              </a:rPr>
              <a:t>main</a:t>
            </a:r>
            <a:r>
              <a:rPr lang="en-US" sz="1600" dirty="0" smtClean="0">
                <a:solidFill>
                  <a:srgbClr val="0000FF"/>
                </a:solidFill>
              </a:rPr>
              <a:t>()</a:t>
            </a:r>
            <a:br>
              <a:rPr lang="en-US" sz="1600" dirty="0" smtClean="0">
                <a:solidFill>
                  <a:srgbClr val="0000FF"/>
                </a:solidFill>
              </a:rPr>
            </a:br>
            <a:r>
              <a:rPr lang="en-US" sz="1600" dirty="0" smtClean="0">
                <a:solidFill>
                  <a:srgbClr val="0000FF"/>
                </a:solidFill>
              </a:rPr>
              <a:t>{</a:t>
            </a:r>
            <a:br>
              <a:rPr lang="en-US" sz="1600" dirty="0" smtClean="0">
                <a:solidFill>
                  <a:srgbClr val="0000FF"/>
                </a:solidFill>
              </a:rPr>
            </a:br>
            <a:r>
              <a:rPr lang="en-US" sz="1600" dirty="0" smtClean="0">
                <a:solidFill>
                  <a:srgbClr val="0000FF"/>
                </a:solidFill>
              </a:rPr>
              <a:t>	</a:t>
            </a:r>
            <a:r>
              <a:rPr lang="en-US" sz="1600" dirty="0" err="1" smtClean="0">
                <a:solidFill>
                  <a:srgbClr val="0000FF"/>
                </a:solidFill>
              </a:rPr>
              <a:t>int</a:t>
            </a:r>
            <a:r>
              <a:rPr lang="en-US" sz="1600" dirty="0" smtClean="0">
                <a:solidFill>
                  <a:srgbClr val="0000FF"/>
                </a:solidFill>
              </a:rPr>
              <a:t>    	a, b, c;</a:t>
            </a:r>
            <a:br>
              <a:rPr lang="en-US" sz="1600" dirty="0" smtClean="0">
                <a:solidFill>
                  <a:srgbClr val="0000FF"/>
                </a:solidFill>
              </a:rPr>
            </a:br>
            <a:r>
              <a:rPr lang="en-US" sz="1600" dirty="0" smtClean="0">
                <a:solidFill>
                  <a:srgbClr val="0000FF"/>
                </a:solidFill>
              </a:rPr>
              <a:t>	long S;</a:t>
            </a:r>
            <a:br>
              <a:rPr lang="en-US" sz="1600" dirty="0" smtClean="0">
                <a:solidFill>
                  <a:srgbClr val="0000FF"/>
                </a:solidFill>
              </a:rPr>
            </a:br>
            <a:r>
              <a:rPr lang="en-US" sz="1600" dirty="0" smtClean="0">
                <a:solidFill>
                  <a:srgbClr val="0000FF"/>
                </a:solidFill>
              </a:rPr>
              <a:t/>
            </a:r>
            <a:br>
              <a:rPr lang="en-US" sz="1600" dirty="0" smtClean="0">
                <a:solidFill>
                  <a:srgbClr val="0000FF"/>
                </a:solidFill>
              </a:rPr>
            </a:br>
            <a:r>
              <a:rPr lang="en-US" sz="1600" dirty="0" smtClean="0">
                <a:solidFill>
                  <a:srgbClr val="0000FF"/>
                </a:solidFill>
              </a:rPr>
              <a:t>	input(a, b, c);</a:t>
            </a:r>
            <a:br>
              <a:rPr lang="en-US" sz="1600" dirty="0" smtClean="0">
                <a:solidFill>
                  <a:srgbClr val="0000FF"/>
                </a:solidFill>
              </a:rPr>
            </a:br>
            <a:r>
              <a:rPr lang="en-US" sz="1600" dirty="0" smtClean="0">
                <a:solidFill>
                  <a:srgbClr val="0000FF"/>
                </a:solidFill>
              </a:rPr>
              <a:t>	S = compute(a, b, c);</a:t>
            </a:r>
            <a:br>
              <a:rPr lang="en-US" sz="1600" dirty="0" smtClean="0">
                <a:solidFill>
                  <a:srgbClr val="0000FF"/>
                </a:solidFill>
              </a:rPr>
            </a:br>
            <a:r>
              <a:rPr lang="en-US" sz="1600" dirty="0" smtClean="0">
                <a:solidFill>
                  <a:srgbClr val="0000FF"/>
                </a:solidFill>
              </a:rPr>
              <a:t>	output(S);</a:t>
            </a:r>
            <a:br>
              <a:rPr lang="en-US" sz="1600" dirty="0" smtClean="0">
                <a:solidFill>
                  <a:srgbClr val="0000FF"/>
                </a:solidFill>
              </a:rPr>
            </a:br>
            <a:r>
              <a:rPr lang="en-US" sz="1600" dirty="0" smtClean="0">
                <a:solidFill>
                  <a:srgbClr val="0000FF"/>
                </a:solidFill>
              </a:rPr>
              <a:t>}</a:t>
            </a:r>
          </a:p>
        </p:txBody>
      </p:sp>
      <p:sp>
        <p:nvSpPr>
          <p:cNvPr id="7" name="AutoShape 9"/>
          <p:cNvSpPr>
            <a:spLocks noChangeArrowheads="1"/>
          </p:cNvSpPr>
          <p:nvPr/>
        </p:nvSpPr>
        <p:spPr bwMode="auto">
          <a:xfrm>
            <a:off x="2971800" y="1905000"/>
            <a:ext cx="2971800" cy="4572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45720" tIns="45720" rIns="45720" bIns="45720" anchor="t"/>
          <a:lstStyle/>
          <a:p>
            <a:pPr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600" dirty="0" smtClean="0">
                <a:solidFill>
                  <a:srgbClr val="0000FF"/>
                </a:solidFill>
              </a:rPr>
              <a:t>// File </a:t>
            </a:r>
            <a:r>
              <a:rPr lang="en-US" sz="1600" b="1" dirty="0" smtClean="0">
                <a:solidFill>
                  <a:srgbClr val="FF0000"/>
                </a:solidFill>
              </a:rPr>
              <a:t>process1.cpp</a:t>
            </a:r>
            <a:br>
              <a:rPr lang="en-US" sz="1600" b="1" dirty="0" smtClean="0">
                <a:solidFill>
                  <a:srgbClr val="FF0000"/>
                </a:solidFill>
              </a:rPr>
            </a:br>
            <a:r>
              <a:rPr lang="en-US" sz="1600" b="1" dirty="0" smtClean="0">
                <a:solidFill>
                  <a:srgbClr val="FF0000"/>
                </a:solidFill>
              </a:rPr>
              <a:t>#include</a:t>
            </a:r>
            <a:r>
              <a:rPr lang="en-US" sz="1600" dirty="0" smtClean="0">
                <a:solidFill>
                  <a:schemeClr val="tx2">
                    <a:lumMod val="50000"/>
                  </a:schemeClr>
                </a:solidFill>
              </a:rPr>
              <a:t> “process1.h” </a:t>
            </a:r>
            <a:r>
              <a:rPr lang="en-US" sz="1600" b="1" dirty="0" smtClean="0">
                <a:solidFill>
                  <a:srgbClr val="FF0000"/>
                </a:solidFill>
              </a:rPr>
              <a:t/>
            </a:r>
            <a:br>
              <a:rPr lang="en-US" sz="1600" b="1" dirty="0" smtClean="0">
                <a:solidFill>
                  <a:srgbClr val="FF0000"/>
                </a:solidFill>
              </a:rPr>
            </a:br>
            <a:r>
              <a:rPr lang="en-US" sz="1600" b="1" dirty="0" smtClean="0">
                <a:solidFill>
                  <a:srgbClr val="FF0000"/>
                </a:solidFill>
              </a:rPr>
              <a:t>#include</a:t>
            </a:r>
            <a:r>
              <a:rPr lang="en-US" sz="1600" dirty="0" smtClean="0">
                <a:solidFill>
                  <a:schemeClr val="tx2">
                    <a:lumMod val="50000"/>
                  </a:schemeClr>
                </a:solidFill>
              </a:rPr>
              <a:t> “process2.h”</a:t>
            </a:r>
            <a:r>
              <a:rPr lang="en-US" sz="1600" b="1" dirty="0" smtClean="0">
                <a:solidFill>
                  <a:srgbClr val="FF0000"/>
                </a:solidFill>
              </a:rPr>
              <a:t/>
            </a:r>
            <a:br>
              <a:rPr lang="en-US" sz="1600" b="1" dirty="0" smtClean="0">
                <a:solidFill>
                  <a:srgbClr val="FF0000"/>
                </a:solidFill>
              </a:rPr>
            </a:br>
            <a:r>
              <a:rPr lang="en-US" sz="1600" dirty="0" smtClean="0">
                <a:solidFill>
                  <a:srgbClr val="0000FF"/>
                </a:solidFill>
              </a:rPr>
              <a:t>void input(</a:t>
            </a:r>
            <a:r>
              <a:rPr lang="en-US" sz="1600" dirty="0" err="1" smtClean="0">
                <a:solidFill>
                  <a:srgbClr val="0000FF"/>
                </a:solidFill>
              </a:rPr>
              <a:t>int</a:t>
            </a:r>
            <a:r>
              <a:rPr lang="en-US" sz="1600" dirty="0" smtClean="0">
                <a:solidFill>
                  <a:srgbClr val="0000FF"/>
                </a:solidFill>
              </a:rPr>
              <a:t> &amp;a, </a:t>
            </a:r>
            <a:r>
              <a:rPr lang="en-US" sz="1600" dirty="0" err="1" smtClean="0">
                <a:solidFill>
                  <a:srgbClr val="0000FF"/>
                </a:solidFill>
              </a:rPr>
              <a:t>int</a:t>
            </a:r>
            <a:r>
              <a:rPr lang="en-US" sz="1600" dirty="0" smtClean="0">
                <a:solidFill>
                  <a:srgbClr val="0000FF"/>
                </a:solidFill>
              </a:rPr>
              <a:t> &amp;</a:t>
            </a:r>
            <a:r>
              <a:rPr lang="en-US" sz="1600" dirty="0" err="1" smtClean="0">
                <a:solidFill>
                  <a:srgbClr val="0000FF"/>
                </a:solidFill>
              </a:rPr>
              <a:t>b,int</a:t>
            </a:r>
            <a:r>
              <a:rPr lang="en-US" sz="1600" dirty="0" smtClean="0">
                <a:solidFill>
                  <a:srgbClr val="0000FF"/>
                </a:solidFill>
              </a:rPr>
              <a:t> &amp;c)</a:t>
            </a:r>
            <a:br>
              <a:rPr lang="en-US" sz="1600" dirty="0" smtClean="0">
                <a:solidFill>
                  <a:srgbClr val="0000FF"/>
                </a:solidFill>
              </a:rPr>
            </a:br>
            <a:r>
              <a:rPr lang="en-US" sz="1600" dirty="0" smtClean="0">
                <a:solidFill>
                  <a:srgbClr val="0000FF"/>
                </a:solidFill>
              </a:rPr>
              <a:t>{</a:t>
            </a:r>
            <a:br>
              <a:rPr lang="en-US" sz="1600" dirty="0" smtClean="0">
                <a:solidFill>
                  <a:srgbClr val="0000FF"/>
                </a:solidFill>
              </a:rPr>
            </a:br>
            <a:r>
              <a:rPr lang="en-US" sz="1600" dirty="0" smtClean="0">
                <a:solidFill>
                  <a:srgbClr val="0000FF"/>
                </a:solidFill>
              </a:rPr>
              <a:t>	</a:t>
            </a:r>
            <a:r>
              <a:rPr lang="en-US" sz="1600" dirty="0" err="1" smtClean="0">
                <a:solidFill>
                  <a:srgbClr val="0000FF"/>
                </a:solidFill>
              </a:rPr>
              <a:t>input_num</a:t>
            </a:r>
            <a:r>
              <a:rPr lang="en-US" sz="1600" dirty="0" smtClean="0">
                <a:solidFill>
                  <a:srgbClr val="0000FF"/>
                </a:solidFill>
              </a:rPr>
              <a:t>(a);</a:t>
            </a:r>
            <a:br>
              <a:rPr lang="en-US" sz="1600" dirty="0" smtClean="0">
                <a:solidFill>
                  <a:srgbClr val="0000FF"/>
                </a:solidFill>
              </a:rPr>
            </a:br>
            <a:r>
              <a:rPr lang="en-US" sz="1600" dirty="0" smtClean="0">
                <a:solidFill>
                  <a:srgbClr val="0000FF"/>
                </a:solidFill>
              </a:rPr>
              <a:t>	</a:t>
            </a:r>
            <a:r>
              <a:rPr lang="en-US" sz="1600" dirty="0" err="1" smtClean="0">
                <a:solidFill>
                  <a:srgbClr val="0000FF"/>
                </a:solidFill>
              </a:rPr>
              <a:t>input_num</a:t>
            </a:r>
            <a:r>
              <a:rPr lang="en-US" sz="1600" dirty="0" smtClean="0">
                <a:solidFill>
                  <a:srgbClr val="0000FF"/>
                </a:solidFill>
              </a:rPr>
              <a:t>(b);</a:t>
            </a:r>
            <a:br>
              <a:rPr lang="en-US" sz="1600" dirty="0" smtClean="0">
                <a:solidFill>
                  <a:srgbClr val="0000FF"/>
                </a:solidFill>
              </a:rPr>
            </a:br>
            <a:r>
              <a:rPr lang="en-US" sz="1600" dirty="0" smtClean="0">
                <a:solidFill>
                  <a:srgbClr val="0000FF"/>
                </a:solidFill>
              </a:rPr>
              <a:t>	</a:t>
            </a:r>
            <a:r>
              <a:rPr lang="en-US" sz="1600" dirty="0" err="1" smtClean="0">
                <a:solidFill>
                  <a:srgbClr val="0000FF"/>
                </a:solidFill>
              </a:rPr>
              <a:t>input_num</a:t>
            </a:r>
            <a:r>
              <a:rPr lang="en-US" sz="1600" dirty="0" smtClean="0">
                <a:solidFill>
                  <a:srgbClr val="0000FF"/>
                </a:solidFill>
              </a:rPr>
              <a:t>(c);</a:t>
            </a:r>
            <a:br>
              <a:rPr lang="en-US" sz="1600" dirty="0" smtClean="0">
                <a:solidFill>
                  <a:srgbClr val="0000FF"/>
                </a:solidFill>
              </a:rPr>
            </a:br>
            <a:r>
              <a:rPr lang="en-US" sz="1600" dirty="0" smtClean="0">
                <a:solidFill>
                  <a:srgbClr val="0000FF"/>
                </a:solidFill>
              </a:rPr>
              <a:t>}</a:t>
            </a:r>
            <a:br>
              <a:rPr lang="en-US" sz="1600" dirty="0" smtClean="0">
                <a:solidFill>
                  <a:srgbClr val="0000FF"/>
                </a:solidFill>
              </a:rPr>
            </a:br>
            <a:r>
              <a:rPr lang="en-US" sz="1600" dirty="0" smtClean="0">
                <a:solidFill>
                  <a:srgbClr val="0000FF"/>
                </a:solidFill>
              </a:rPr>
              <a:t>long compute(</a:t>
            </a:r>
            <a:r>
              <a:rPr lang="en-US" sz="1600" dirty="0" err="1" smtClean="0">
                <a:solidFill>
                  <a:srgbClr val="0000FF"/>
                </a:solidFill>
              </a:rPr>
              <a:t>int</a:t>
            </a:r>
            <a:r>
              <a:rPr lang="en-US" sz="1600" dirty="0" smtClean="0">
                <a:solidFill>
                  <a:srgbClr val="0000FF"/>
                </a:solidFill>
              </a:rPr>
              <a:t> a, </a:t>
            </a:r>
            <a:r>
              <a:rPr lang="en-US" sz="1600" dirty="0" err="1" smtClean="0">
                <a:solidFill>
                  <a:srgbClr val="0000FF"/>
                </a:solidFill>
              </a:rPr>
              <a:t>int</a:t>
            </a:r>
            <a:r>
              <a:rPr lang="en-US" sz="1600" dirty="0" smtClean="0">
                <a:solidFill>
                  <a:srgbClr val="0000FF"/>
                </a:solidFill>
              </a:rPr>
              <a:t> b, </a:t>
            </a:r>
            <a:r>
              <a:rPr lang="en-US" sz="1600" dirty="0" err="1" smtClean="0">
                <a:solidFill>
                  <a:srgbClr val="0000FF"/>
                </a:solidFill>
              </a:rPr>
              <a:t>int</a:t>
            </a:r>
            <a:r>
              <a:rPr lang="en-US" sz="1600" dirty="0" smtClean="0">
                <a:solidFill>
                  <a:srgbClr val="0000FF"/>
                </a:solidFill>
              </a:rPr>
              <a:t> c)</a:t>
            </a:r>
            <a:br>
              <a:rPr lang="en-US" sz="1600" dirty="0" smtClean="0">
                <a:solidFill>
                  <a:srgbClr val="0000FF"/>
                </a:solidFill>
              </a:rPr>
            </a:br>
            <a:r>
              <a:rPr lang="en-US" sz="1600" dirty="0" smtClean="0">
                <a:solidFill>
                  <a:srgbClr val="0000FF"/>
                </a:solidFill>
              </a:rPr>
              <a:t>{</a:t>
            </a:r>
            <a:br>
              <a:rPr lang="en-US" sz="1600" dirty="0" smtClean="0">
                <a:solidFill>
                  <a:srgbClr val="0000FF"/>
                </a:solidFill>
              </a:rPr>
            </a:br>
            <a:r>
              <a:rPr lang="en-US" sz="1600" dirty="0" smtClean="0">
                <a:solidFill>
                  <a:srgbClr val="0000FF"/>
                </a:solidFill>
              </a:rPr>
              <a:t>	return factorial(a) + </a:t>
            </a:r>
            <a:br>
              <a:rPr lang="en-US" sz="1600" dirty="0" smtClean="0">
                <a:solidFill>
                  <a:srgbClr val="0000FF"/>
                </a:solidFill>
              </a:rPr>
            </a:br>
            <a:r>
              <a:rPr lang="en-US" sz="1600" dirty="0" smtClean="0">
                <a:solidFill>
                  <a:srgbClr val="0000FF"/>
                </a:solidFill>
              </a:rPr>
              <a:t>factorial(b+1) + factorial(c+ 2);</a:t>
            </a:r>
            <a:br>
              <a:rPr lang="en-US" sz="1600" dirty="0" smtClean="0">
                <a:solidFill>
                  <a:srgbClr val="0000FF"/>
                </a:solidFill>
              </a:rPr>
            </a:br>
            <a:r>
              <a:rPr lang="en-US" sz="1600" dirty="0" smtClean="0">
                <a:solidFill>
                  <a:srgbClr val="0000FF"/>
                </a:solidFill>
              </a:rPr>
              <a:t>}</a:t>
            </a:r>
            <a:br>
              <a:rPr lang="en-US" sz="1600" dirty="0" smtClean="0">
                <a:solidFill>
                  <a:srgbClr val="0000FF"/>
                </a:solidFill>
              </a:rPr>
            </a:br>
            <a:r>
              <a:rPr lang="en-US" sz="1600" dirty="0" smtClean="0">
                <a:solidFill>
                  <a:srgbClr val="0000FF"/>
                </a:solidFill>
              </a:rPr>
              <a:t>void output(long result)</a:t>
            </a:r>
            <a:br>
              <a:rPr lang="en-US" sz="1600" dirty="0" smtClean="0">
                <a:solidFill>
                  <a:srgbClr val="0000FF"/>
                </a:solidFill>
              </a:rPr>
            </a:br>
            <a:r>
              <a:rPr lang="en-US" sz="1600" dirty="0" smtClean="0">
                <a:solidFill>
                  <a:srgbClr val="0000FF"/>
                </a:solidFill>
              </a:rPr>
              <a:t>{</a:t>
            </a:r>
            <a:br>
              <a:rPr lang="en-US" sz="1600" dirty="0" smtClean="0">
                <a:solidFill>
                  <a:srgbClr val="0000FF"/>
                </a:solidFill>
              </a:rPr>
            </a:br>
            <a:r>
              <a:rPr lang="en-US" sz="1600" dirty="0" smtClean="0">
                <a:solidFill>
                  <a:srgbClr val="0000FF"/>
                </a:solidFill>
              </a:rPr>
              <a:t>	</a:t>
            </a:r>
            <a:r>
              <a:rPr lang="en-US" sz="1600" dirty="0" err="1" smtClean="0">
                <a:solidFill>
                  <a:srgbClr val="0000FF"/>
                </a:solidFill>
              </a:rPr>
              <a:t>printf</a:t>
            </a:r>
            <a:r>
              <a:rPr lang="en-US" sz="1600" dirty="0" smtClean="0">
                <a:solidFill>
                  <a:srgbClr val="0000FF"/>
                </a:solidFill>
              </a:rPr>
              <a:t>(“S = %ld”, result);</a:t>
            </a:r>
            <a:br>
              <a:rPr lang="en-US" sz="1600" dirty="0" smtClean="0">
                <a:solidFill>
                  <a:srgbClr val="0000FF"/>
                </a:solidFill>
              </a:rPr>
            </a:br>
            <a:r>
              <a:rPr lang="en-US" sz="1600" dirty="0" smtClean="0">
                <a:solidFill>
                  <a:srgbClr val="0000FF"/>
                </a:solidFill>
              </a:rPr>
              <a:t>}</a:t>
            </a:r>
          </a:p>
        </p:txBody>
      </p:sp>
      <p:sp>
        <p:nvSpPr>
          <p:cNvPr id="8" name="AutoShape 9"/>
          <p:cNvSpPr>
            <a:spLocks noChangeArrowheads="1"/>
          </p:cNvSpPr>
          <p:nvPr/>
        </p:nvSpPr>
        <p:spPr bwMode="auto">
          <a:xfrm>
            <a:off x="2971800" y="838200"/>
            <a:ext cx="2971800" cy="10668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45720" tIns="45720" rIns="45720" bIns="45720" anchor="t"/>
          <a:lstStyle/>
          <a:p>
            <a:pPr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600" dirty="0" smtClean="0">
                <a:solidFill>
                  <a:srgbClr val="0000FF"/>
                </a:solidFill>
              </a:rPr>
              <a:t>// File </a:t>
            </a:r>
            <a:r>
              <a:rPr lang="en-US" sz="1600" b="1" dirty="0" smtClean="0">
                <a:solidFill>
                  <a:srgbClr val="FF0000"/>
                </a:solidFill>
              </a:rPr>
              <a:t>process1.h</a:t>
            </a:r>
            <a:br>
              <a:rPr lang="en-US" sz="1600" b="1" dirty="0" smtClean="0">
                <a:solidFill>
                  <a:srgbClr val="FF0000"/>
                </a:solidFill>
              </a:rPr>
            </a:br>
            <a:r>
              <a:rPr lang="en-US" sz="1600" dirty="0" smtClean="0">
                <a:solidFill>
                  <a:srgbClr val="0000FF"/>
                </a:solidFill>
              </a:rPr>
              <a:t>void input(</a:t>
            </a:r>
            <a:r>
              <a:rPr lang="en-US" sz="1600" dirty="0" err="1" smtClean="0">
                <a:solidFill>
                  <a:srgbClr val="0000FF"/>
                </a:solidFill>
              </a:rPr>
              <a:t>int</a:t>
            </a:r>
            <a:r>
              <a:rPr lang="en-US" sz="1600" dirty="0" smtClean="0">
                <a:solidFill>
                  <a:srgbClr val="0000FF"/>
                </a:solidFill>
              </a:rPr>
              <a:t> &amp;a, </a:t>
            </a:r>
            <a:r>
              <a:rPr lang="en-US" sz="1600" dirty="0" err="1" smtClean="0">
                <a:solidFill>
                  <a:srgbClr val="0000FF"/>
                </a:solidFill>
              </a:rPr>
              <a:t>int</a:t>
            </a:r>
            <a:r>
              <a:rPr lang="en-US" sz="1600" dirty="0" smtClean="0">
                <a:solidFill>
                  <a:srgbClr val="0000FF"/>
                </a:solidFill>
              </a:rPr>
              <a:t> &amp;</a:t>
            </a:r>
            <a:r>
              <a:rPr lang="en-US" sz="1600" dirty="0" err="1" smtClean="0">
                <a:solidFill>
                  <a:srgbClr val="0000FF"/>
                </a:solidFill>
              </a:rPr>
              <a:t>b,int</a:t>
            </a:r>
            <a:r>
              <a:rPr lang="en-US" sz="1600" dirty="0" smtClean="0">
                <a:solidFill>
                  <a:srgbClr val="0000FF"/>
                </a:solidFill>
              </a:rPr>
              <a:t> &amp;c);</a:t>
            </a:r>
            <a:br>
              <a:rPr lang="en-US" sz="1600" dirty="0" smtClean="0">
                <a:solidFill>
                  <a:srgbClr val="0000FF"/>
                </a:solidFill>
              </a:rPr>
            </a:br>
            <a:r>
              <a:rPr lang="en-US" sz="1600" dirty="0" smtClean="0">
                <a:solidFill>
                  <a:srgbClr val="0000FF"/>
                </a:solidFill>
              </a:rPr>
              <a:t>long compute(</a:t>
            </a:r>
            <a:r>
              <a:rPr lang="en-US" sz="1600" dirty="0" err="1" smtClean="0">
                <a:solidFill>
                  <a:srgbClr val="0000FF"/>
                </a:solidFill>
              </a:rPr>
              <a:t>int</a:t>
            </a:r>
            <a:r>
              <a:rPr lang="en-US" sz="1600" dirty="0" smtClean="0">
                <a:solidFill>
                  <a:srgbClr val="0000FF"/>
                </a:solidFill>
              </a:rPr>
              <a:t> a, </a:t>
            </a:r>
            <a:r>
              <a:rPr lang="en-US" sz="1600" dirty="0" err="1" smtClean="0">
                <a:solidFill>
                  <a:srgbClr val="0000FF"/>
                </a:solidFill>
              </a:rPr>
              <a:t>int</a:t>
            </a:r>
            <a:r>
              <a:rPr lang="en-US" sz="1600" dirty="0" smtClean="0">
                <a:solidFill>
                  <a:srgbClr val="0000FF"/>
                </a:solidFill>
              </a:rPr>
              <a:t> b, </a:t>
            </a:r>
            <a:r>
              <a:rPr lang="en-US" sz="1600" dirty="0" err="1" smtClean="0">
                <a:solidFill>
                  <a:srgbClr val="0000FF"/>
                </a:solidFill>
              </a:rPr>
              <a:t>int</a:t>
            </a:r>
            <a:r>
              <a:rPr lang="en-US" sz="1600" dirty="0" smtClean="0">
                <a:solidFill>
                  <a:srgbClr val="0000FF"/>
                </a:solidFill>
              </a:rPr>
              <a:t> c);</a:t>
            </a:r>
            <a:br>
              <a:rPr lang="en-US" sz="1600" dirty="0" smtClean="0">
                <a:solidFill>
                  <a:srgbClr val="0000FF"/>
                </a:solidFill>
              </a:rPr>
            </a:br>
            <a:r>
              <a:rPr lang="en-US" sz="1600" dirty="0" smtClean="0">
                <a:solidFill>
                  <a:srgbClr val="0000FF"/>
                </a:solidFill>
              </a:rPr>
              <a:t>void output(long result);</a:t>
            </a:r>
          </a:p>
        </p:txBody>
      </p:sp>
      <p:sp>
        <p:nvSpPr>
          <p:cNvPr id="9" name="AutoShape 9"/>
          <p:cNvSpPr>
            <a:spLocks noChangeArrowheads="1"/>
          </p:cNvSpPr>
          <p:nvPr/>
        </p:nvSpPr>
        <p:spPr bwMode="auto">
          <a:xfrm>
            <a:off x="6019800" y="1905000"/>
            <a:ext cx="3124200" cy="4572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45720" tIns="45720" rIns="45720" bIns="45720" anchor="t"/>
          <a:lstStyle/>
          <a:p>
            <a:pPr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600" dirty="0" smtClean="0">
                <a:solidFill>
                  <a:srgbClr val="0000FF"/>
                </a:solidFill>
              </a:rPr>
              <a:t>// File </a:t>
            </a:r>
            <a:r>
              <a:rPr lang="en-US" sz="1600" b="1" dirty="0" smtClean="0">
                <a:solidFill>
                  <a:srgbClr val="FF0000"/>
                </a:solidFill>
              </a:rPr>
              <a:t>process2.cpp</a:t>
            </a:r>
            <a:br>
              <a:rPr lang="en-US" sz="1600" b="1" dirty="0" smtClean="0">
                <a:solidFill>
                  <a:srgbClr val="FF0000"/>
                </a:solidFill>
              </a:rPr>
            </a:br>
            <a:r>
              <a:rPr lang="en-US" sz="1600" b="1" dirty="0" smtClean="0">
                <a:solidFill>
                  <a:srgbClr val="FF0000"/>
                </a:solidFill>
              </a:rPr>
              <a:t>#include </a:t>
            </a:r>
            <a:r>
              <a:rPr lang="en-US" sz="1600" dirty="0" smtClean="0">
                <a:solidFill>
                  <a:schemeClr val="tx2">
                    <a:lumMod val="50000"/>
                  </a:schemeClr>
                </a:solidFill>
              </a:rPr>
              <a:t>“process2.h” </a:t>
            </a:r>
            <a:r>
              <a:rPr lang="en-US" sz="1600" b="1" dirty="0" smtClean="0">
                <a:solidFill>
                  <a:srgbClr val="FF0000"/>
                </a:solidFill>
              </a:rPr>
              <a:t/>
            </a:r>
            <a:br>
              <a:rPr lang="en-US" sz="1600" b="1" dirty="0" smtClean="0">
                <a:solidFill>
                  <a:srgbClr val="FF0000"/>
                </a:solidFill>
              </a:rPr>
            </a:br>
            <a:r>
              <a:rPr lang="en-US" sz="1600" b="1" dirty="0" smtClean="0">
                <a:solidFill>
                  <a:srgbClr val="FF0000"/>
                </a:solidFill>
              </a:rPr>
              <a:t>#include</a:t>
            </a:r>
            <a:r>
              <a:rPr lang="en-US" sz="1600" dirty="0" smtClean="0">
                <a:solidFill>
                  <a:schemeClr val="tx2">
                    <a:lumMod val="50000"/>
                  </a:schemeClr>
                </a:solidFill>
              </a:rPr>
              <a:t> &lt;</a:t>
            </a:r>
            <a:r>
              <a:rPr lang="en-US" sz="1600" dirty="0" err="1" smtClean="0">
                <a:solidFill>
                  <a:schemeClr val="tx2">
                    <a:lumMod val="50000"/>
                  </a:schemeClr>
                </a:solidFill>
              </a:rPr>
              <a:t>stdio.h</a:t>
            </a:r>
            <a:r>
              <a:rPr lang="en-US" sz="1600" dirty="0" smtClean="0">
                <a:solidFill>
                  <a:schemeClr val="tx2">
                    <a:lumMod val="50000"/>
                  </a:schemeClr>
                </a:solidFill>
              </a:rPr>
              <a:t>&gt;</a:t>
            </a:r>
            <a:br>
              <a:rPr lang="en-US" sz="1600" dirty="0" smtClean="0">
                <a:solidFill>
                  <a:schemeClr val="tx2">
                    <a:lumMod val="50000"/>
                  </a:schemeClr>
                </a:solidFill>
              </a:rPr>
            </a:br>
            <a:r>
              <a:rPr lang="en-US" sz="1600" dirty="0" smtClean="0">
                <a:solidFill>
                  <a:srgbClr val="0000FF"/>
                </a:solidFill>
              </a:rPr>
              <a:t>void </a:t>
            </a:r>
            <a:r>
              <a:rPr lang="en-US" sz="1600" dirty="0" err="1" smtClean="0">
                <a:solidFill>
                  <a:srgbClr val="0000FF"/>
                </a:solidFill>
              </a:rPr>
              <a:t>input_num</a:t>
            </a:r>
            <a:r>
              <a:rPr lang="en-US" sz="1600" dirty="0" smtClean="0">
                <a:solidFill>
                  <a:srgbClr val="0000FF"/>
                </a:solidFill>
              </a:rPr>
              <a:t>(</a:t>
            </a:r>
            <a:r>
              <a:rPr lang="en-US" sz="1600" dirty="0" err="1" smtClean="0">
                <a:solidFill>
                  <a:srgbClr val="0000FF"/>
                </a:solidFill>
              </a:rPr>
              <a:t>int</a:t>
            </a:r>
            <a:r>
              <a:rPr lang="en-US" sz="1600" dirty="0" smtClean="0">
                <a:solidFill>
                  <a:srgbClr val="0000FF"/>
                </a:solidFill>
              </a:rPr>
              <a:t> &amp;x)</a:t>
            </a:r>
            <a:br>
              <a:rPr lang="en-US" sz="1600" dirty="0" smtClean="0">
                <a:solidFill>
                  <a:srgbClr val="0000FF"/>
                </a:solidFill>
              </a:rPr>
            </a:br>
            <a:r>
              <a:rPr lang="en-US" sz="1600" dirty="0" smtClean="0">
                <a:solidFill>
                  <a:srgbClr val="0000FF"/>
                </a:solidFill>
              </a:rPr>
              <a:t>{</a:t>
            </a:r>
            <a:br>
              <a:rPr lang="en-US" sz="1600" dirty="0" smtClean="0">
                <a:solidFill>
                  <a:srgbClr val="0000FF"/>
                </a:solidFill>
              </a:rPr>
            </a:br>
            <a:r>
              <a:rPr lang="en-US" sz="1600" dirty="0" smtClean="0">
                <a:solidFill>
                  <a:srgbClr val="0000FF"/>
                </a:solidFill>
              </a:rPr>
              <a:t>    do {</a:t>
            </a:r>
            <a:br>
              <a:rPr lang="en-US" sz="1600" dirty="0" smtClean="0">
                <a:solidFill>
                  <a:srgbClr val="0000FF"/>
                </a:solidFill>
              </a:rPr>
            </a:br>
            <a:r>
              <a:rPr lang="en-US" sz="1600" dirty="0" smtClean="0">
                <a:solidFill>
                  <a:srgbClr val="0000FF"/>
                </a:solidFill>
              </a:rPr>
              <a:t>	</a:t>
            </a:r>
            <a:r>
              <a:rPr lang="en-US" sz="1600" dirty="0" err="1" smtClean="0">
                <a:solidFill>
                  <a:srgbClr val="0000FF"/>
                </a:solidFill>
              </a:rPr>
              <a:t>printf</a:t>
            </a:r>
            <a:r>
              <a:rPr lang="en-US" sz="1600" dirty="0" smtClean="0">
                <a:solidFill>
                  <a:srgbClr val="0000FF"/>
                </a:solidFill>
              </a:rPr>
              <a:t>(“Positive integer = “);</a:t>
            </a:r>
            <a:br>
              <a:rPr lang="en-US" sz="1600" dirty="0" smtClean="0">
                <a:solidFill>
                  <a:srgbClr val="0000FF"/>
                </a:solidFill>
              </a:rPr>
            </a:br>
            <a:r>
              <a:rPr lang="en-US" sz="1600" dirty="0" smtClean="0">
                <a:solidFill>
                  <a:srgbClr val="0000FF"/>
                </a:solidFill>
              </a:rPr>
              <a:t>	</a:t>
            </a:r>
            <a:r>
              <a:rPr lang="en-US" sz="1600" dirty="0" err="1" smtClean="0">
                <a:solidFill>
                  <a:srgbClr val="0000FF"/>
                </a:solidFill>
              </a:rPr>
              <a:t>scanf</a:t>
            </a:r>
            <a:r>
              <a:rPr lang="en-US" sz="1600" dirty="0" smtClean="0">
                <a:solidFill>
                  <a:srgbClr val="0000FF"/>
                </a:solidFill>
              </a:rPr>
              <a:t>(“%d”, &amp;x);</a:t>
            </a:r>
            <a:br>
              <a:rPr lang="en-US" sz="1600" dirty="0" smtClean="0">
                <a:solidFill>
                  <a:srgbClr val="0000FF"/>
                </a:solidFill>
              </a:rPr>
            </a:br>
            <a:r>
              <a:rPr lang="en-US" sz="1600" dirty="0" smtClean="0">
                <a:solidFill>
                  <a:srgbClr val="0000FF"/>
                </a:solidFill>
              </a:rPr>
              <a:t>    } while (x &lt; 0);</a:t>
            </a:r>
            <a:br>
              <a:rPr lang="en-US" sz="1600" dirty="0" smtClean="0">
                <a:solidFill>
                  <a:srgbClr val="0000FF"/>
                </a:solidFill>
              </a:rPr>
            </a:br>
            <a:r>
              <a:rPr lang="en-US" sz="1600" dirty="0" smtClean="0">
                <a:solidFill>
                  <a:srgbClr val="0000FF"/>
                </a:solidFill>
              </a:rPr>
              <a:t>}</a:t>
            </a:r>
            <a:br>
              <a:rPr lang="en-US" sz="1600" dirty="0" smtClean="0">
                <a:solidFill>
                  <a:srgbClr val="0000FF"/>
                </a:solidFill>
              </a:rPr>
            </a:br>
            <a:r>
              <a:rPr lang="en-US" sz="1600" dirty="0" smtClean="0">
                <a:solidFill>
                  <a:srgbClr val="0000FF"/>
                </a:solidFill>
              </a:rPr>
              <a:t/>
            </a:r>
            <a:br>
              <a:rPr lang="en-US" sz="1600" dirty="0" smtClean="0">
                <a:solidFill>
                  <a:srgbClr val="0000FF"/>
                </a:solidFill>
              </a:rPr>
            </a:br>
            <a:r>
              <a:rPr lang="en-US" sz="1600" dirty="0" smtClean="0">
                <a:solidFill>
                  <a:srgbClr val="0000FF"/>
                </a:solidFill>
              </a:rPr>
              <a:t>long factorial(</a:t>
            </a:r>
            <a:r>
              <a:rPr lang="en-US" sz="1600" dirty="0" err="1" smtClean="0">
                <a:solidFill>
                  <a:srgbClr val="0000FF"/>
                </a:solidFill>
              </a:rPr>
              <a:t>int</a:t>
            </a:r>
            <a:r>
              <a:rPr lang="en-US" sz="1600" dirty="0" smtClean="0">
                <a:solidFill>
                  <a:srgbClr val="0000FF"/>
                </a:solidFill>
              </a:rPr>
              <a:t> n)</a:t>
            </a:r>
            <a:br>
              <a:rPr lang="en-US" sz="1600" dirty="0" smtClean="0">
                <a:solidFill>
                  <a:srgbClr val="0000FF"/>
                </a:solidFill>
              </a:rPr>
            </a:br>
            <a:r>
              <a:rPr lang="en-US" sz="1600" dirty="0" smtClean="0">
                <a:solidFill>
                  <a:srgbClr val="0000FF"/>
                </a:solidFill>
              </a:rPr>
              <a:t>{</a:t>
            </a:r>
            <a:br>
              <a:rPr lang="en-US" sz="1600" dirty="0" smtClean="0">
                <a:solidFill>
                  <a:srgbClr val="0000FF"/>
                </a:solidFill>
              </a:rPr>
            </a:br>
            <a:r>
              <a:rPr lang="en-US" sz="1600" dirty="0" smtClean="0">
                <a:solidFill>
                  <a:srgbClr val="0000FF"/>
                </a:solidFill>
              </a:rPr>
              <a:t>	long S = 1;</a:t>
            </a:r>
            <a:br>
              <a:rPr lang="en-US" sz="1600" dirty="0" smtClean="0">
                <a:solidFill>
                  <a:srgbClr val="0000FF"/>
                </a:solidFill>
              </a:rPr>
            </a:br>
            <a:r>
              <a:rPr lang="en-US" sz="1600" dirty="0" smtClean="0">
                <a:solidFill>
                  <a:srgbClr val="0000FF"/>
                </a:solidFill>
              </a:rPr>
              <a:t>	for ( ; n &gt; 0; n--)</a:t>
            </a:r>
            <a:br>
              <a:rPr lang="en-US" sz="1600" dirty="0" smtClean="0">
                <a:solidFill>
                  <a:srgbClr val="0000FF"/>
                </a:solidFill>
              </a:rPr>
            </a:br>
            <a:r>
              <a:rPr lang="en-US" sz="1600" dirty="0" smtClean="0">
                <a:solidFill>
                  <a:srgbClr val="0000FF"/>
                </a:solidFill>
              </a:rPr>
              <a:t>		S = S * n;</a:t>
            </a:r>
            <a:br>
              <a:rPr lang="en-US" sz="1600" dirty="0" smtClean="0">
                <a:solidFill>
                  <a:srgbClr val="0000FF"/>
                </a:solidFill>
              </a:rPr>
            </a:br>
            <a:r>
              <a:rPr lang="en-US" sz="1600" dirty="0" smtClean="0">
                <a:solidFill>
                  <a:srgbClr val="0000FF"/>
                </a:solidFill>
              </a:rPr>
              <a:t>	return S;</a:t>
            </a:r>
            <a:br>
              <a:rPr lang="en-US" sz="1600" dirty="0" smtClean="0">
                <a:solidFill>
                  <a:srgbClr val="0000FF"/>
                </a:solidFill>
              </a:rPr>
            </a:br>
            <a:r>
              <a:rPr lang="en-US" sz="1600" dirty="0" smtClean="0">
                <a:solidFill>
                  <a:srgbClr val="0000FF"/>
                </a:solidFill>
              </a:rPr>
              <a:t>}</a:t>
            </a:r>
          </a:p>
        </p:txBody>
      </p:sp>
      <p:sp>
        <p:nvSpPr>
          <p:cNvPr id="10" name="AutoShape 9"/>
          <p:cNvSpPr>
            <a:spLocks noChangeArrowheads="1"/>
          </p:cNvSpPr>
          <p:nvPr/>
        </p:nvSpPr>
        <p:spPr bwMode="auto">
          <a:xfrm>
            <a:off x="6019800" y="838200"/>
            <a:ext cx="3124200" cy="10668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45720" tIns="45720" rIns="45720" bIns="45720" anchor="t"/>
          <a:lstStyle/>
          <a:p>
            <a:pPr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600" dirty="0" smtClean="0">
                <a:solidFill>
                  <a:srgbClr val="0000FF"/>
                </a:solidFill>
              </a:rPr>
              <a:t>// File </a:t>
            </a:r>
            <a:r>
              <a:rPr lang="en-US" sz="1600" b="1" dirty="0" smtClean="0">
                <a:solidFill>
                  <a:srgbClr val="FF0000"/>
                </a:solidFill>
              </a:rPr>
              <a:t>process2.h</a:t>
            </a:r>
            <a:br>
              <a:rPr lang="en-US" sz="1600" b="1" dirty="0" smtClean="0">
                <a:solidFill>
                  <a:srgbClr val="FF0000"/>
                </a:solidFill>
              </a:rPr>
            </a:br>
            <a:r>
              <a:rPr lang="en-US" sz="1600" dirty="0" smtClean="0">
                <a:solidFill>
                  <a:srgbClr val="0000FF"/>
                </a:solidFill>
              </a:rPr>
              <a:t>void </a:t>
            </a:r>
            <a:r>
              <a:rPr lang="en-US" sz="1600" dirty="0" err="1" smtClean="0">
                <a:solidFill>
                  <a:srgbClr val="0000FF"/>
                </a:solidFill>
              </a:rPr>
              <a:t>input_num</a:t>
            </a:r>
            <a:r>
              <a:rPr lang="en-US" sz="1600" dirty="0" smtClean="0">
                <a:solidFill>
                  <a:srgbClr val="0000FF"/>
                </a:solidFill>
              </a:rPr>
              <a:t>(</a:t>
            </a:r>
            <a:r>
              <a:rPr lang="en-US" sz="1600" dirty="0" err="1" smtClean="0">
                <a:solidFill>
                  <a:srgbClr val="0000FF"/>
                </a:solidFill>
              </a:rPr>
              <a:t>int</a:t>
            </a:r>
            <a:r>
              <a:rPr lang="en-US" sz="1600" dirty="0" smtClean="0">
                <a:solidFill>
                  <a:srgbClr val="0000FF"/>
                </a:solidFill>
              </a:rPr>
              <a:t> x);</a:t>
            </a:r>
            <a:br>
              <a:rPr lang="en-US" sz="1600" dirty="0" smtClean="0">
                <a:solidFill>
                  <a:srgbClr val="0000FF"/>
                </a:solidFill>
              </a:rPr>
            </a:br>
            <a:r>
              <a:rPr lang="en-US" sz="1600" dirty="0" smtClean="0">
                <a:solidFill>
                  <a:srgbClr val="0000FF"/>
                </a:solidFill>
              </a:rPr>
              <a:t>long factorial(</a:t>
            </a:r>
            <a:r>
              <a:rPr lang="en-US" sz="1600" dirty="0" err="1" smtClean="0">
                <a:solidFill>
                  <a:srgbClr val="0000FF"/>
                </a:solidFill>
              </a:rPr>
              <a:t>int</a:t>
            </a:r>
            <a:r>
              <a:rPr lang="en-US" sz="1600" dirty="0" smtClean="0">
                <a:solidFill>
                  <a:srgbClr val="0000FF"/>
                </a:solidFill>
              </a:rPr>
              <a:t> n);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Function.</a:t>
            </a:r>
          </a:p>
          <a:p>
            <a:r>
              <a:rPr lang="en-US" dirty="0" smtClean="0"/>
              <a:t>Multiple-file project.</a:t>
            </a:r>
          </a:p>
          <a:p>
            <a:r>
              <a:rPr lang="en-US" b="1" dirty="0" err="1" smtClean="0">
                <a:solidFill>
                  <a:srgbClr val="FFC000"/>
                </a:solidFill>
              </a:rPr>
              <a:t>struct</a:t>
            </a:r>
            <a:r>
              <a:rPr lang="en-US" b="1" dirty="0" smtClean="0">
                <a:solidFill>
                  <a:srgbClr val="FFC000"/>
                </a:solidFill>
              </a:rPr>
              <a:t>.</a:t>
            </a:r>
            <a:endParaRPr lang="en-US" b="1" dirty="0">
              <a:solidFill>
                <a:srgbClr val="FFC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struct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Organize program data:</a:t>
            </a:r>
          </a:p>
          <a:p>
            <a:pPr lvl="1"/>
            <a:r>
              <a:rPr lang="en-US" dirty="0" smtClean="0"/>
              <a:t>Student information:</a:t>
            </a:r>
          </a:p>
          <a:p>
            <a:pPr lvl="2"/>
            <a:r>
              <a:rPr lang="en-US" dirty="0" smtClean="0"/>
              <a:t>Student id.</a:t>
            </a:r>
          </a:p>
          <a:p>
            <a:pPr lvl="2"/>
            <a:r>
              <a:rPr lang="en-US" dirty="0" smtClean="0"/>
              <a:t>Student name.</a:t>
            </a:r>
          </a:p>
          <a:p>
            <a:pPr lvl="2"/>
            <a:r>
              <a:rPr lang="en-US" dirty="0" smtClean="0"/>
              <a:t>Literature, math.</a:t>
            </a:r>
          </a:p>
          <a:p>
            <a:pPr lvl="1"/>
            <a:r>
              <a:rPr lang="en-US" dirty="0" smtClean="0"/>
              <a:t>Write program:</a:t>
            </a:r>
          </a:p>
          <a:p>
            <a:pPr lvl="2"/>
            <a:r>
              <a:rPr lang="en-US" dirty="0" smtClean="0"/>
              <a:t>Enter information of a student.</a:t>
            </a:r>
          </a:p>
          <a:p>
            <a:pPr lvl="2"/>
            <a:r>
              <a:rPr lang="en-US" dirty="0" smtClean="0"/>
              <a:t>Print student information with computed </a:t>
            </a:r>
            <a:r>
              <a:rPr lang="en-US" dirty="0" err="1" smtClean="0"/>
              <a:t>gpa</a:t>
            </a:r>
            <a:r>
              <a:rPr lang="en-US" dirty="0" smtClean="0"/>
              <a:t>.</a:t>
            </a:r>
          </a:p>
          <a:p>
            <a:pPr lvl="1">
              <a:buNone/>
            </a:pPr>
            <a:r>
              <a:rPr lang="en-US" dirty="0" smtClean="0"/>
              <a:t>	</a:t>
            </a:r>
            <a:r>
              <a:rPr lang="en-US" dirty="0" smtClean="0">
                <a:sym typeface="Wingdings" pitchFamily="2" charset="2"/>
              </a:rPr>
              <a:t> What is the inconvenience?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struct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C/C++ </a:t>
            </a:r>
            <a:r>
              <a:rPr lang="en-US" dirty="0" err="1" smtClean="0"/>
              <a:t>struct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Combine data into one place.</a:t>
            </a:r>
          </a:p>
          <a:p>
            <a:pPr lvl="1"/>
            <a:r>
              <a:rPr lang="en-US" dirty="0" smtClean="0"/>
              <a:t>Compound data-type.</a:t>
            </a:r>
          </a:p>
          <a:p>
            <a:pPr lvl="1"/>
            <a:r>
              <a:rPr lang="en-US" dirty="0" smtClean="0"/>
              <a:t>Declaration:</a:t>
            </a:r>
          </a:p>
          <a:p>
            <a:pPr lvl="1">
              <a:buNone/>
            </a:pPr>
            <a:r>
              <a:rPr lang="en-US" sz="2000" dirty="0" smtClean="0"/>
              <a:t>	</a:t>
            </a:r>
            <a:r>
              <a:rPr lang="en-US" sz="1800" i="1" dirty="0" smtClean="0">
                <a:solidFill>
                  <a:srgbClr val="FFC000"/>
                </a:solidFill>
              </a:rPr>
              <a:t>// Syntax 1: 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b="1" dirty="0" err="1" smtClean="0">
                <a:solidFill>
                  <a:srgbClr val="FFC000"/>
                </a:solidFill>
              </a:rPr>
              <a:t>struct</a:t>
            </a:r>
            <a:r>
              <a:rPr lang="en-US" sz="1800" b="1" dirty="0" smtClean="0">
                <a:solidFill>
                  <a:srgbClr val="FFC000"/>
                </a:solidFill>
              </a:rPr>
              <a:t> </a:t>
            </a:r>
            <a:r>
              <a:rPr lang="en-US" sz="1800" dirty="0" smtClean="0"/>
              <a:t>&lt;</a:t>
            </a:r>
            <a:r>
              <a:rPr lang="en-US" sz="1800" dirty="0" err="1" smtClean="0"/>
              <a:t>struct</a:t>
            </a:r>
            <a:r>
              <a:rPr lang="en-US" sz="1800" dirty="0" smtClean="0"/>
              <a:t> name&gt;</a:t>
            </a:r>
            <a:br>
              <a:rPr lang="en-US" sz="1800" dirty="0" smtClean="0"/>
            </a:br>
            <a:r>
              <a:rPr lang="en-US" sz="1800" dirty="0" smtClean="0"/>
              <a:t>{</a:t>
            </a:r>
            <a:br>
              <a:rPr lang="en-US" sz="1800" dirty="0" smtClean="0"/>
            </a:br>
            <a:r>
              <a:rPr lang="en-US" sz="1800" dirty="0" smtClean="0"/>
              <a:t>	&lt;</a:t>
            </a:r>
            <a:r>
              <a:rPr lang="en-US" sz="1800" dirty="0" err="1" smtClean="0"/>
              <a:t>struct</a:t>
            </a:r>
            <a:r>
              <a:rPr lang="en-US" sz="1800" dirty="0" smtClean="0"/>
              <a:t> member 1&gt;;</a:t>
            </a:r>
            <a:br>
              <a:rPr lang="en-US" sz="1800" dirty="0" smtClean="0"/>
            </a:br>
            <a:r>
              <a:rPr lang="en-US" sz="1800" dirty="0" smtClean="0"/>
              <a:t>	&lt;</a:t>
            </a:r>
            <a:r>
              <a:rPr lang="en-US" sz="1800" dirty="0" err="1" smtClean="0"/>
              <a:t>struct</a:t>
            </a:r>
            <a:r>
              <a:rPr lang="en-US" sz="1800" dirty="0" smtClean="0"/>
              <a:t> member 2&gt;;</a:t>
            </a:r>
            <a:br>
              <a:rPr lang="en-US" sz="1800" dirty="0" smtClean="0"/>
            </a:br>
            <a:r>
              <a:rPr lang="en-US" sz="1800" dirty="0" smtClean="0"/>
              <a:t>	…</a:t>
            </a:r>
            <a:br>
              <a:rPr lang="en-US" sz="1800" dirty="0" smtClean="0"/>
            </a:br>
            <a:r>
              <a:rPr lang="en-US" sz="1800" dirty="0" smtClean="0"/>
              <a:t>};</a:t>
            </a:r>
            <a:endParaRPr lang="en-US" sz="2000" dirty="0" smtClean="0"/>
          </a:p>
          <a:p>
            <a:pPr lvl="2">
              <a:buNone/>
            </a:pPr>
            <a:r>
              <a:rPr lang="en-US" sz="1800" b="1" dirty="0" smtClean="0">
                <a:solidFill>
                  <a:srgbClr val="FFC000"/>
                </a:solidFill>
              </a:rPr>
              <a:t>	</a:t>
            </a:r>
            <a:endParaRPr lang="en-US" sz="1800" dirty="0" smtClean="0"/>
          </a:p>
          <a:p>
            <a:pPr lvl="2">
              <a:buNone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5105400" y="3048000"/>
            <a:ext cx="3962400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buClr>
                <a:schemeClr val="hlink"/>
              </a:buClr>
              <a:buNone/>
            </a:pPr>
            <a:r>
              <a:rPr lang="en-US" sz="1800" b="1" dirty="0" smtClean="0">
                <a:solidFill>
                  <a:srgbClr val="FFC000"/>
                </a:solidFill>
              </a:rPr>
              <a:t>	</a:t>
            </a:r>
            <a:r>
              <a:rPr lang="en-US" sz="1800" i="1" dirty="0" smtClean="0">
                <a:solidFill>
                  <a:srgbClr val="FFC000"/>
                </a:solidFill>
              </a:rPr>
              <a:t>// Syntax 2:</a:t>
            </a:r>
            <a:r>
              <a:rPr lang="en-US" sz="1800" b="1" dirty="0" smtClean="0">
                <a:solidFill>
                  <a:srgbClr val="FFC000"/>
                </a:solidFill>
              </a:rPr>
              <a:t/>
            </a:r>
            <a:br>
              <a:rPr lang="en-US" sz="1800" b="1" dirty="0" smtClean="0">
                <a:solidFill>
                  <a:srgbClr val="FFC000"/>
                </a:solidFill>
              </a:rPr>
            </a:br>
            <a:r>
              <a:rPr lang="en-US" sz="1800" b="1" dirty="0" err="1" smtClean="0">
                <a:solidFill>
                  <a:srgbClr val="FFC000"/>
                </a:solidFill>
              </a:rPr>
              <a:t>typedef</a:t>
            </a:r>
            <a:r>
              <a:rPr lang="en-US" sz="1800" b="1" dirty="0" smtClean="0">
                <a:solidFill>
                  <a:srgbClr val="FFC000"/>
                </a:solidFill>
              </a:rPr>
              <a:t> </a:t>
            </a:r>
            <a:r>
              <a:rPr lang="en-US" sz="1800" b="1" dirty="0" err="1" smtClean="0">
                <a:solidFill>
                  <a:srgbClr val="FFC000"/>
                </a:solidFill>
              </a:rPr>
              <a:t>struct</a:t>
            </a:r>
            <a:r>
              <a:rPr lang="en-US" sz="1800" b="1" dirty="0" smtClean="0">
                <a:solidFill>
                  <a:srgbClr val="FFC000"/>
                </a:solidFill>
              </a:rPr>
              <a:t> 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{</a:t>
            </a:r>
            <a:br>
              <a:rPr lang="en-US" sz="1800" dirty="0" smtClean="0"/>
            </a:br>
            <a:r>
              <a:rPr lang="en-US" sz="1800" dirty="0" smtClean="0"/>
              <a:t>	&lt;</a:t>
            </a:r>
            <a:r>
              <a:rPr lang="en-US" sz="1800" dirty="0" err="1" smtClean="0"/>
              <a:t>struct</a:t>
            </a:r>
            <a:r>
              <a:rPr lang="en-US" sz="1800" dirty="0" smtClean="0"/>
              <a:t> member 1&gt;;</a:t>
            </a:r>
            <a:br>
              <a:rPr lang="en-US" sz="1800" dirty="0" smtClean="0"/>
            </a:br>
            <a:r>
              <a:rPr lang="en-US" sz="1800" dirty="0" smtClean="0"/>
              <a:t>	&lt;</a:t>
            </a:r>
            <a:r>
              <a:rPr lang="en-US" sz="1800" dirty="0" err="1" smtClean="0"/>
              <a:t>struct</a:t>
            </a:r>
            <a:r>
              <a:rPr lang="en-US" sz="1800" dirty="0" smtClean="0"/>
              <a:t> member 2&gt;;</a:t>
            </a:r>
            <a:br>
              <a:rPr lang="en-US" sz="1800" dirty="0" smtClean="0"/>
            </a:br>
            <a:r>
              <a:rPr lang="en-US" sz="1800" dirty="0" smtClean="0"/>
              <a:t>	…</a:t>
            </a:r>
            <a:br>
              <a:rPr lang="en-US" sz="1800" dirty="0" smtClean="0"/>
            </a:br>
            <a:r>
              <a:rPr lang="en-US" sz="1800" dirty="0" smtClean="0"/>
              <a:t>} &lt;</a:t>
            </a:r>
            <a:r>
              <a:rPr lang="en-US" sz="1800" dirty="0" err="1" smtClean="0"/>
              <a:t>struct</a:t>
            </a:r>
            <a:r>
              <a:rPr lang="en-US" sz="1800" dirty="0" smtClean="0"/>
              <a:t> name&gt;; 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/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/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endParaRPr lang="en-US" sz="1800" i="1" dirty="0"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struct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C/C++ </a:t>
            </a:r>
            <a:r>
              <a:rPr lang="en-US" dirty="0" err="1" smtClean="0"/>
              <a:t>struct</a:t>
            </a:r>
            <a:r>
              <a:rPr lang="en-US" dirty="0" smtClean="0"/>
              <a:t>:</a:t>
            </a:r>
          </a:p>
          <a:p>
            <a:pPr lvl="1"/>
            <a:r>
              <a:rPr lang="en-US" dirty="0" err="1" smtClean="0"/>
              <a:t>struct</a:t>
            </a:r>
            <a:r>
              <a:rPr lang="en-US" dirty="0" smtClean="0"/>
              <a:t> variable:</a:t>
            </a:r>
          </a:p>
          <a:p>
            <a:pPr lvl="1">
              <a:buNone/>
            </a:pPr>
            <a:r>
              <a:rPr lang="en-US" sz="2400" b="1" dirty="0" smtClean="0">
                <a:solidFill>
                  <a:srgbClr val="FFC000"/>
                </a:solidFill>
              </a:rPr>
              <a:t>	</a:t>
            </a:r>
            <a:r>
              <a:rPr lang="en-US" sz="1800" b="1" dirty="0" err="1" smtClean="0">
                <a:solidFill>
                  <a:srgbClr val="FFC000"/>
                </a:solidFill>
              </a:rPr>
              <a:t>struct</a:t>
            </a:r>
            <a:r>
              <a:rPr lang="en-US" sz="1800" b="1" dirty="0" smtClean="0">
                <a:solidFill>
                  <a:srgbClr val="FFC000"/>
                </a:solidFill>
              </a:rPr>
              <a:t> &lt;</a:t>
            </a:r>
            <a:r>
              <a:rPr lang="en-US" sz="1800" b="1" dirty="0" err="1" smtClean="0">
                <a:solidFill>
                  <a:srgbClr val="FFC000"/>
                </a:solidFill>
              </a:rPr>
              <a:t>struct</a:t>
            </a:r>
            <a:r>
              <a:rPr lang="en-US" sz="1800" b="1" dirty="0" smtClean="0">
                <a:solidFill>
                  <a:srgbClr val="FFC000"/>
                </a:solidFill>
              </a:rPr>
              <a:t> name&gt;</a:t>
            </a:r>
            <a:r>
              <a:rPr lang="en-US" sz="1800" dirty="0" smtClean="0"/>
              <a:t>  &lt;variable&gt;;</a:t>
            </a:r>
          </a:p>
          <a:p>
            <a:pPr lvl="1">
              <a:buNone/>
            </a:pPr>
            <a:r>
              <a:rPr lang="en-US" sz="1800" b="1" dirty="0" smtClean="0">
                <a:solidFill>
                  <a:srgbClr val="FFC000"/>
                </a:solidFill>
              </a:rPr>
              <a:t>	</a:t>
            </a:r>
            <a:br>
              <a:rPr lang="en-US" sz="1800" b="1" dirty="0" smtClean="0">
                <a:solidFill>
                  <a:srgbClr val="FFC000"/>
                </a:solidFill>
              </a:rPr>
            </a:br>
            <a:r>
              <a:rPr lang="en-US" sz="1800" i="1" dirty="0" smtClean="0">
                <a:solidFill>
                  <a:srgbClr val="FFC000"/>
                </a:solidFill>
              </a:rPr>
              <a:t>// With </a:t>
            </a:r>
            <a:r>
              <a:rPr lang="en-US" sz="1800" i="1" dirty="0" err="1" smtClean="0">
                <a:solidFill>
                  <a:srgbClr val="FFC000"/>
                </a:solidFill>
              </a:rPr>
              <a:t>typedef</a:t>
            </a:r>
            <a:r>
              <a:rPr lang="en-US" sz="1800" i="1" dirty="0" smtClean="0">
                <a:solidFill>
                  <a:srgbClr val="FFC000"/>
                </a:solidFill>
              </a:rPr>
              <a:t> </a:t>
            </a:r>
            <a:r>
              <a:rPr lang="en-US" sz="1800" i="1" dirty="0" err="1" smtClean="0">
                <a:solidFill>
                  <a:srgbClr val="FFC000"/>
                </a:solidFill>
              </a:rPr>
              <a:t>struct</a:t>
            </a:r>
            <a:r>
              <a:rPr lang="en-US" sz="1800" i="1" dirty="0" smtClean="0">
                <a:solidFill>
                  <a:srgbClr val="FFC000"/>
                </a:solidFill>
              </a:rPr>
              <a:t> or C++</a:t>
            </a:r>
            <a:r>
              <a:rPr lang="en-US" sz="1800" b="1" dirty="0" smtClean="0">
                <a:solidFill>
                  <a:srgbClr val="FFC000"/>
                </a:solidFill>
              </a:rPr>
              <a:t/>
            </a:r>
            <a:br>
              <a:rPr lang="en-US" sz="1800" b="1" dirty="0" smtClean="0">
                <a:solidFill>
                  <a:srgbClr val="FFC000"/>
                </a:solidFill>
              </a:rPr>
            </a:br>
            <a:r>
              <a:rPr lang="en-US" sz="1800" b="1" dirty="0" smtClean="0">
                <a:solidFill>
                  <a:srgbClr val="FFC000"/>
                </a:solidFill>
              </a:rPr>
              <a:t>&lt;</a:t>
            </a:r>
            <a:r>
              <a:rPr lang="en-US" sz="1800" b="1" dirty="0" err="1" smtClean="0">
                <a:solidFill>
                  <a:srgbClr val="FFC000"/>
                </a:solidFill>
              </a:rPr>
              <a:t>struct</a:t>
            </a:r>
            <a:r>
              <a:rPr lang="en-US" sz="1800" b="1" dirty="0" smtClean="0">
                <a:solidFill>
                  <a:srgbClr val="FFC000"/>
                </a:solidFill>
              </a:rPr>
              <a:t> name&gt;</a:t>
            </a:r>
            <a:r>
              <a:rPr lang="en-US" sz="1800" dirty="0" smtClean="0"/>
              <a:t>  &lt;variable&gt;;</a:t>
            </a:r>
          </a:p>
          <a:p>
            <a:pPr lvl="3"/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5715000" y="1905000"/>
            <a:ext cx="3124200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buClr>
                <a:schemeClr val="hlink"/>
              </a:buClr>
              <a:buNone/>
            </a:pPr>
            <a:r>
              <a:rPr lang="en-US" sz="1800" i="1" dirty="0" smtClean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</a:t>
            </a:r>
            <a:r>
              <a:rPr lang="en-US" sz="1800" b="1" dirty="0" err="1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struct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Student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{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   char  id[9];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   char  name[50];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   float  literature;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   float  math;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};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/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err="1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int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main()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{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  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1800" b="1" dirty="0" err="1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struct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Student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 s1;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 Student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 s2;  // C++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  <a:endParaRPr lang="en-US" sz="1800" i="1" dirty="0"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struct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C/C++ </a:t>
            </a:r>
            <a:r>
              <a:rPr lang="en-US" dirty="0" err="1" smtClean="0"/>
              <a:t>struct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Initialization:</a:t>
            </a:r>
          </a:p>
          <a:p>
            <a:pPr lvl="1">
              <a:buNone/>
            </a:pPr>
            <a:r>
              <a:rPr lang="en-US" sz="2400" b="1" dirty="0" smtClean="0">
                <a:solidFill>
                  <a:srgbClr val="FFC000"/>
                </a:solidFill>
              </a:rPr>
              <a:t>	</a:t>
            </a:r>
            <a:r>
              <a:rPr lang="en-US" sz="1800" b="1" dirty="0" err="1" smtClean="0">
                <a:solidFill>
                  <a:srgbClr val="FFC000"/>
                </a:solidFill>
              </a:rPr>
              <a:t>struct</a:t>
            </a:r>
            <a:r>
              <a:rPr lang="en-US" sz="1800" b="1" dirty="0" smtClean="0">
                <a:solidFill>
                  <a:srgbClr val="FFC000"/>
                </a:solidFill>
              </a:rPr>
              <a:t> &lt;</a:t>
            </a:r>
            <a:r>
              <a:rPr lang="en-US" sz="1800" b="1" dirty="0" err="1" smtClean="0">
                <a:solidFill>
                  <a:srgbClr val="FFC000"/>
                </a:solidFill>
              </a:rPr>
              <a:t>struct</a:t>
            </a:r>
            <a:r>
              <a:rPr lang="en-US" sz="1800" b="1" dirty="0" smtClean="0">
                <a:solidFill>
                  <a:srgbClr val="FFC000"/>
                </a:solidFill>
              </a:rPr>
              <a:t> name&gt;</a:t>
            </a:r>
            <a:r>
              <a:rPr lang="en-US" sz="1800" dirty="0" smtClean="0"/>
              <a:t> &lt;variable&gt; = </a:t>
            </a:r>
            <a:br>
              <a:rPr lang="en-US" sz="1800" dirty="0" smtClean="0"/>
            </a:br>
            <a:r>
              <a:rPr lang="en-US" sz="1800" dirty="0" smtClean="0"/>
              <a:t>{    </a:t>
            </a:r>
            <a:r>
              <a:rPr lang="en-US" sz="1800" dirty="0" smtClean="0">
                <a:solidFill>
                  <a:srgbClr val="FFC000"/>
                </a:solidFill>
              </a:rPr>
              <a:t>// In declaration order.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    &lt;member 1 value&gt;,</a:t>
            </a:r>
            <a:br>
              <a:rPr lang="en-US" sz="1800" dirty="0" smtClean="0"/>
            </a:br>
            <a:r>
              <a:rPr lang="en-US" sz="1800" dirty="0" smtClean="0"/>
              <a:t>    &lt;member 2 value&gt;,</a:t>
            </a:r>
            <a:br>
              <a:rPr lang="en-US" sz="1800" dirty="0" smtClean="0"/>
            </a:br>
            <a:r>
              <a:rPr lang="en-US" sz="1800" dirty="0" smtClean="0"/>
              <a:t>	…</a:t>
            </a:r>
            <a:br>
              <a:rPr lang="en-US" sz="1800" dirty="0" smtClean="0"/>
            </a:br>
            <a:r>
              <a:rPr lang="en-US" sz="1800" dirty="0" smtClean="0"/>
              <a:t>};</a:t>
            </a:r>
          </a:p>
          <a:p>
            <a:pPr lvl="1">
              <a:buNone/>
            </a:pPr>
            <a:r>
              <a:rPr lang="en-US" sz="1800" b="1" dirty="0" smtClean="0">
                <a:solidFill>
                  <a:srgbClr val="FFC000"/>
                </a:solidFill>
              </a:rPr>
              <a:t>	</a:t>
            </a:r>
            <a:r>
              <a:rPr lang="en-US" sz="1800" b="1" dirty="0" err="1" smtClean="0">
                <a:solidFill>
                  <a:srgbClr val="FFC000"/>
                </a:solidFill>
              </a:rPr>
              <a:t>struct</a:t>
            </a:r>
            <a:r>
              <a:rPr lang="en-US" sz="1800" b="1" dirty="0" smtClean="0">
                <a:solidFill>
                  <a:srgbClr val="FFC000"/>
                </a:solidFill>
              </a:rPr>
              <a:t> &lt;</a:t>
            </a:r>
            <a:r>
              <a:rPr lang="en-US" sz="1800" b="1" dirty="0" err="1" smtClean="0">
                <a:solidFill>
                  <a:srgbClr val="FFC000"/>
                </a:solidFill>
              </a:rPr>
              <a:t>struct</a:t>
            </a:r>
            <a:r>
              <a:rPr lang="en-US" sz="1800" b="1" dirty="0" smtClean="0">
                <a:solidFill>
                  <a:srgbClr val="FFC000"/>
                </a:solidFill>
              </a:rPr>
              <a:t> name&gt;</a:t>
            </a:r>
            <a:r>
              <a:rPr lang="en-US" sz="1800" dirty="0" smtClean="0"/>
              <a:t> &lt;variable&gt; = </a:t>
            </a:r>
            <a:br>
              <a:rPr lang="en-US" sz="1800" dirty="0" smtClean="0"/>
            </a:br>
            <a:r>
              <a:rPr lang="en-US" sz="1800" dirty="0" smtClean="0"/>
              <a:t>{    </a:t>
            </a:r>
            <a:r>
              <a:rPr lang="en-US" sz="1800" dirty="0" smtClean="0">
                <a:solidFill>
                  <a:srgbClr val="FFC000"/>
                </a:solidFill>
              </a:rPr>
              <a:t>// C99 standard.</a:t>
            </a:r>
            <a:r>
              <a:rPr lang="en-US" sz="1800" dirty="0" smtClean="0"/>
              <a:t> 	</a:t>
            </a:r>
            <a:br>
              <a:rPr lang="en-US" sz="1800" dirty="0" smtClean="0"/>
            </a:br>
            <a:r>
              <a:rPr lang="en-US" sz="1800" dirty="0" smtClean="0"/>
              <a:t>    .&lt;member name&gt; = &lt;value&gt;,</a:t>
            </a:r>
            <a:br>
              <a:rPr lang="en-US" sz="1800" dirty="0" smtClean="0"/>
            </a:br>
            <a:r>
              <a:rPr lang="en-US" sz="1800" dirty="0" smtClean="0"/>
              <a:t>    …</a:t>
            </a:r>
            <a:br>
              <a:rPr lang="en-US" sz="1800" dirty="0" smtClean="0"/>
            </a:br>
            <a:r>
              <a:rPr lang="en-US" sz="1800" dirty="0" smtClean="0"/>
              <a:t>};</a:t>
            </a:r>
          </a:p>
          <a:p>
            <a:pPr lvl="1"/>
            <a:r>
              <a:rPr lang="en-US" dirty="0" smtClean="0"/>
              <a:t>Access </a:t>
            </a:r>
            <a:r>
              <a:rPr lang="en-US" dirty="0" err="1" smtClean="0"/>
              <a:t>struct</a:t>
            </a:r>
            <a:r>
              <a:rPr lang="en-US" dirty="0" smtClean="0"/>
              <a:t> member:</a:t>
            </a:r>
          </a:p>
          <a:p>
            <a:pPr lvl="1">
              <a:buNone/>
            </a:pPr>
            <a:r>
              <a:rPr lang="en-US" dirty="0" smtClean="0"/>
              <a:t>	</a:t>
            </a:r>
            <a:r>
              <a:rPr lang="en-US" sz="1800" dirty="0" smtClean="0"/>
              <a:t>&lt;variable&gt; </a:t>
            </a:r>
            <a:r>
              <a:rPr lang="en-US" sz="1800" b="1" dirty="0" smtClean="0">
                <a:solidFill>
                  <a:srgbClr val="FFC000"/>
                </a:solidFill>
              </a:rPr>
              <a:t>.</a:t>
            </a:r>
            <a:r>
              <a:rPr lang="en-US" sz="1800" dirty="0" smtClean="0"/>
              <a:t> </a:t>
            </a:r>
            <a:r>
              <a:rPr lang="en-US" sz="1800" b="1" dirty="0" smtClean="0">
                <a:solidFill>
                  <a:srgbClr val="FFC000"/>
                </a:solidFill>
              </a:rPr>
              <a:t>&lt;member name&gt;</a:t>
            </a:r>
            <a:r>
              <a:rPr lang="en-US" sz="1800" dirty="0" smtClean="0"/>
              <a:t>.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5715000" y="2133600"/>
            <a:ext cx="3352800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buClr>
                <a:schemeClr val="hlink"/>
              </a:buClr>
              <a:buNone/>
            </a:pPr>
            <a:r>
              <a:rPr lang="en-US" sz="1800" i="1" dirty="0" smtClean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</a:t>
            </a:r>
            <a:r>
              <a:rPr lang="en-US" sz="1800" dirty="0" err="1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int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main()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{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   </a:t>
            </a:r>
            <a:r>
              <a:rPr lang="en-US" sz="1800" b="1" dirty="0" err="1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struct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Student s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= 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   {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	“24127001”,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	“Nguyen Van A”,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	7.5,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	8.0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   };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/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   </a:t>
            </a:r>
            <a:r>
              <a:rPr lang="en-US" sz="1800" dirty="0" err="1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s</a:t>
            </a:r>
            <a:r>
              <a:rPr lang="en-US" sz="1800" b="1" dirty="0" err="1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.literature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= 5.5;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  <a:endParaRPr lang="en-US" sz="1800" i="1" dirty="0"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struct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C/C++ </a:t>
            </a:r>
            <a:r>
              <a:rPr lang="en-US" dirty="0" err="1" smtClean="0"/>
              <a:t>struct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Passing arguments:</a:t>
            </a:r>
          </a:p>
          <a:p>
            <a:pPr lvl="2"/>
            <a:r>
              <a:rPr lang="en-US" dirty="0" smtClean="0"/>
              <a:t>Pass-by-value:</a:t>
            </a:r>
          </a:p>
          <a:p>
            <a:pPr lvl="2">
              <a:buNone/>
            </a:pPr>
            <a:r>
              <a:rPr lang="en-US" dirty="0" smtClean="0">
                <a:sym typeface="Wingdings" pitchFamily="2" charset="2"/>
              </a:rPr>
              <a:t>	 Pass a copy.</a:t>
            </a:r>
          </a:p>
          <a:p>
            <a:pPr lvl="2">
              <a:buNone/>
            </a:pPr>
            <a:r>
              <a:rPr lang="en-US" dirty="0" smtClean="0">
                <a:sym typeface="Wingdings" pitchFamily="2" charset="2"/>
              </a:rPr>
              <a:t>	 Unchanged.</a:t>
            </a:r>
            <a:endParaRPr lang="en-US" dirty="0" smtClean="0"/>
          </a:p>
          <a:p>
            <a:pPr lvl="2"/>
            <a:r>
              <a:rPr lang="en-US" dirty="0" smtClean="0"/>
              <a:t>Pass-by-reference (C++).</a:t>
            </a:r>
          </a:p>
          <a:p>
            <a:pPr lvl="2">
              <a:buNone/>
            </a:pPr>
            <a:r>
              <a:rPr lang="en-US" dirty="0" smtClean="0">
                <a:sym typeface="Wingdings" pitchFamily="2" charset="2"/>
              </a:rPr>
              <a:t>	 Pass the real one.</a:t>
            </a:r>
          </a:p>
          <a:p>
            <a:pPr lvl="2">
              <a:buNone/>
            </a:pPr>
            <a:r>
              <a:rPr lang="en-US" dirty="0" smtClean="0">
                <a:sym typeface="Wingdings" pitchFamily="2" charset="2"/>
              </a:rPr>
              <a:t>	 Can be 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5334000" y="1295400"/>
            <a:ext cx="40386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buClr>
                <a:schemeClr val="hlink"/>
              </a:buClr>
              <a:buNone/>
            </a:pPr>
            <a:r>
              <a:rPr lang="en-US" sz="1800" i="1" dirty="0" smtClean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void  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add1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( </a:t>
            </a:r>
            <a:r>
              <a:rPr lang="en-US" sz="1800" dirty="0" err="1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struct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Student 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 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)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{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	</a:t>
            </a:r>
            <a:r>
              <a:rPr lang="en-US" sz="1800" dirty="0" err="1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s.literature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++;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	</a:t>
            </a:r>
            <a:r>
              <a:rPr lang="en-US" sz="1800" dirty="0" err="1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s.math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++;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void  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add2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( Student 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&amp;s 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)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{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	</a:t>
            </a:r>
            <a:r>
              <a:rPr lang="en-US" sz="1800" dirty="0" err="1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s.literature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++;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	</a:t>
            </a:r>
            <a:r>
              <a:rPr lang="en-US" sz="1800" dirty="0" err="1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s.math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++;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err="1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int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main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()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{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	</a:t>
            </a:r>
            <a:r>
              <a:rPr lang="en-US" sz="1800" dirty="0" err="1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struct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Student  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s1, s2;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/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add1( s1 );</a:t>
            </a:r>
            <a:b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add2( s2 );</a:t>
            </a:r>
            <a:b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</a:t>
            </a:r>
            <a:r>
              <a:rPr lang="en-US" sz="180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// s1 unchanged.</a:t>
            </a:r>
            <a:br>
              <a:rPr lang="en-US" sz="180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// s2 changed.</a:t>
            </a:r>
            <a:br>
              <a:rPr lang="en-US" sz="180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  <a:endParaRPr lang="en-US" sz="1800" i="1" dirty="0"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struct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C/C++ </a:t>
            </a:r>
            <a:r>
              <a:rPr lang="en-US" dirty="0" err="1" smtClean="0"/>
              <a:t>struct</a:t>
            </a:r>
            <a:r>
              <a:rPr lang="en-US" dirty="0" smtClean="0"/>
              <a:t>:</a:t>
            </a:r>
          </a:p>
          <a:p>
            <a:pPr lvl="1"/>
            <a:r>
              <a:rPr lang="en-US" dirty="0" err="1" smtClean="0"/>
              <a:t>struct</a:t>
            </a:r>
            <a:r>
              <a:rPr lang="en-US" dirty="0" smtClean="0"/>
              <a:t> assignment:</a:t>
            </a:r>
          </a:p>
          <a:p>
            <a:pPr lvl="2"/>
            <a:r>
              <a:rPr lang="en-US" dirty="0" smtClean="0"/>
              <a:t>All </a:t>
            </a:r>
            <a:r>
              <a:rPr lang="en-US" dirty="0" err="1" smtClean="0"/>
              <a:t>struct</a:t>
            </a:r>
            <a:r>
              <a:rPr lang="en-US" dirty="0" smtClean="0"/>
              <a:t> members are copied.</a:t>
            </a:r>
          </a:p>
          <a:p>
            <a:pPr lvl="2"/>
            <a:r>
              <a:rPr lang="en-US" dirty="0" smtClean="0"/>
              <a:t>Array members are copied too!</a:t>
            </a:r>
            <a:endParaRPr lang="en-US" sz="2200" dirty="0" smtClean="0"/>
          </a:p>
          <a:p>
            <a:pPr lvl="3">
              <a:buNone/>
            </a:pPr>
            <a:r>
              <a:rPr lang="en-US" sz="1800" b="1" dirty="0" err="1" smtClean="0">
                <a:solidFill>
                  <a:srgbClr val="FFC000"/>
                </a:solidFill>
              </a:rPr>
              <a:t>struct</a:t>
            </a:r>
            <a:r>
              <a:rPr lang="en-US" sz="1800" b="1" dirty="0" smtClean="0">
                <a:solidFill>
                  <a:srgbClr val="FFC000"/>
                </a:solidFill>
              </a:rPr>
              <a:t> Student  </a:t>
            </a:r>
            <a:r>
              <a:rPr lang="en-US" sz="1800" dirty="0" smtClean="0"/>
              <a:t>s1 = { .name = “minh”, .literature = 8.0 };</a:t>
            </a:r>
          </a:p>
          <a:p>
            <a:pPr lvl="3">
              <a:buNone/>
            </a:pPr>
            <a:r>
              <a:rPr lang="en-US" sz="1800" b="1" dirty="0" err="1" smtClean="0">
                <a:solidFill>
                  <a:srgbClr val="FFC000"/>
                </a:solidFill>
              </a:rPr>
              <a:t>struct</a:t>
            </a:r>
            <a:r>
              <a:rPr lang="en-US" sz="1800" b="1" dirty="0" smtClean="0">
                <a:solidFill>
                  <a:srgbClr val="FFC000"/>
                </a:solidFill>
              </a:rPr>
              <a:t> Student </a:t>
            </a:r>
            <a:r>
              <a:rPr lang="en-US" sz="1800" dirty="0" smtClean="0"/>
              <a:t> s2 = s1;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sp>
        <p:nvSpPr>
          <p:cNvPr id="6" name="AutoShape 4"/>
          <p:cNvSpPr>
            <a:spLocks noChangeArrowheads="1"/>
          </p:cNvSpPr>
          <p:nvPr/>
        </p:nvSpPr>
        <p:spPr bwMode="auto">
          <a:xfrm>
            <a:off x="1219200" y="3810000"/>
            <a:ext cx="2362200" cy="20574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tIns="0" bIns="0"/>
          <a:lstStyle/>
          <a:p>
            <a:pPr algn="ctr" defTabSz="457200">
              <a:buClr>
                <a:schemeClr val="bg2"/>
              </a:buClr>
              <a:buFont typeface="Wingdings" pitchFamily="2" charset="2"/>
              <a:buNone/>
              <a:tabLst>
                <a:tab pos="457200" algn="l"/>
              </a:tabLst>
            </a:pPr>
            <a:r>
              <a:rPr lang="en-US" b="1" dirty="0" smtClean="0">
                <a:solidFill>
                  <a:srgbClr val="0000FF"/>
                </a:solidFill>
              </a:rPr>
              <a:t>s2: Student</a:t>
            </a:r>
            <a:endParaRPr lang="en-US" b="1" dirty="0">
              <a:solidFill>
                <a:srgbClr val="0000FF"/>
              </a:solidFill>
            </a:endParaRPr>
          </a:p>
          <a:p>
            <a:pPr defTabSz="457200">
              <a:buClr>
                <a:schemeClr val="bg2"/>
              </a:buClr>
              <a:buFont typeface="Wingdings" pitchFamily="2" charset="2"/>
              <a:buChar char="§"/>
              <a:tabLst>
                <a:tab pos="457200" algn="l"/>
              </a:tabLst>
            </a:pPr>
            <a:r>
              <a:rPr lang="en-US" sz="2000" b="1" dirty="0" smtClean="0">
                <a:solidFill>
                  <a:srgbClr val="0000FF"/>
                </a:solidFill>
              </a:rPr>
              <a:t>name</a:t>
            </a:r>
          </a:p>
          <a:p>
            <a:pPr defTabSz="457200">
              <a:buClr>
                <a:schemeClr val="bg2"/>
              </a:buClr>
              <a:buFont typeface="Wingdings" pitchFamily="2" charset="2"/>
              <a:buChar char="§"/>
              <a:tabLst>
                <a:tab pos="457200" algn="l"/>
              </a:tabLst>
            </a:pPr>
            <a:endParaRPr lang="en-US" sz="2000" b="1" dirty="0" smtClean="0">
              <a:solidFill>
                <a:srgbClr val="0000FF"/>
              </a:solidFill>
            </a:endParaRPr>
          </a:p>
          <a:p>
            <a:pPr defTabSz="457200">
              <a:buClr>
                <a:schemeClr val="bg2"/>
              </a:buClr>
              <a:buFont typeface="Wingdings" pitchFamily="2" charset="2"/>
              <a:buChar char="§"/>
              <a:tabLst>
                <a:tab pos="457200" algn="l"/>
              </a:tabLst>
            </a:pPr>
            <a:r>
              <a:rPr lang="en-US" sz="2000" b="1" dirty="0" smtClean="0">
                <a:solidFill>
                  <a:srgbClr val="0000FF"/>
                </a:solidFill>
              </a:rPr>
              <a:t>literature</a:t>
            </a:r>
            <a:endParaRPr lang="en-US" sz="2000" b="1" dirty="0">
              <a:solidFill>
                <a:srgbClr val="0000FF"/>
              </a:solidFill>
            </a:endParaRPr>
          </a:p>
        </p:txBody>
      </p:sp>
      <p:grpSp>
        <p:nvGrpSpPr>
          <p:cNvPr id="7" name="Group 6"/>
          <p:cNvGrpSpPr>
            <a:grpSpLocks/>
          </p:cNvGrpSpPr>
          <p:nvPr/>
        </p:nvGrpSpPr>
        <p:grpSpPr bwMode="auto">
          <a:xfrm>
            <a:off x="1447800" y="4572000"/>
            <a:ext cx="1905000" cy="381000"/>
            <a:chOff x="2544" y="2256"/>
            <a:chExt cx="1200" cy="240"/>
          </a:xfrm>
        </p:grpSpPr>
        <p:sp>
          <p:nvSpPr>
            <p:cNvPr id="23" name="AutoShape 7"/>
            <p:cNvSpPr>
              <a:spLocks noChangeArrowheads="1"/>
            </p:cNvSpPr>
            <p:nvPr/>
          </p:nvSpPr>
          <p:spPr bwMode="auto">
            <a:xfrm>
              <a:off x="2544" y="2256"/>
              <a:ext cx="240" cy="240"/>
            </a:xfrm>
            <a:prstGeom prst="roundRect">
              <a:avLst>
                <a:gd name="adj" fmla="val 7093"/>
              </a:avLst>
            </a:prstGeom>
            <a:solidFill>
              <a:srgbClr val="F5E5FF"/>
            </a:solidFill>
            <a:ln w="9525" algn="ctr">
              <a:solidFill>
                <a:srgbClr val="808080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anchor="ctr"/>
            <a:lstStyle/>
            <a:p>
              <a:pPr algn="ctr" defTabSz="457200">
                <a:buClr>
                  <a:schemeClr val="bg2"/>
                </a:buClr>
                <a:buFont typeface="Wingdings" pitchFamily="2" charset="2"/>
                <a:buNone/>
                <a:tabLst>
                  <a:tab pos="457200" algn="l"/>
                </a:tabLst>
              </a:pPr>
              <a:r>
                <a:rPr lang="en-US" sz="2000" dirty="0" smtClean="0">
                  <a:solidFill>
                    <a:srgbClr val="0000FF"/>
                  </a:solidFill>
                </a:rPr>
                <a:t>m</a:t>
              </a:r>
              <a:endParaRPr lang="en-US" sz="2000" dirty="0">
                <a:solidFill>
                  <a:srgbClr val="0000FF"/>
                </a:solidFill>
              </a:endParaRPr>
            </a:p>
          </p:txBody>
        </p:sp>
        <p:sp>
          <p:nvSpPr>
            <p:cNvPr id="24" name="AutoShape 8"/>
            <p:cNvSpPr>
              <a:spLocks noChangeArrowheads="1"/>
            </p:cNvSpPr>
            <p:nvPr/>
          </p:nvSpPr>
          <p:spPr bwMode="auto">
            <a:xfrm>
              <a:off x="2784" y="2256"/>
              <a:ext cx="240" cy="240"/>
            </a:xfrm>
            <a:prstGeom prst="roundRect">
              <a:avLst>
                <a:gd name="adj" fmla="val 7093"/>
              </a:avLst>
            </a:prstGeom>
            <a:solidFill>
              <a:srgbClr val="F5E5FF"/>
            </a:solidFill>
            <a:ln w="9525" algn="ctr">
              <a:solidFill>
                <a:srgbClr val="808080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anchor="ctr"/>
            <a:lstStyle/>
            <a:p>
              <a:pPr algn="ctr" defTabSz="457200">
                <a:buClr>
                  <a:schemeClr val="bg2"/>
                </a:buClr>
                <a:buFont typeface="Wingdings" pitchFamily="2" charset="2"/>
                <a:buNone/>
                <a:tabLst>
                  <a:tab pos="457200" algn="l"/>
                </a:tabLst>
              </a:pPr>
              <a:r>
                <a:rPr lang="en-US" sz="2000" dirty="0" smtClean="0">
                  <a:solidFill>
                    <a:srgbClr val="0000FF"/>
                  </a:solidFill>
                </a:rPr>
                <a:t>i</a:t>
              </a:r>
              <a:endParaRPr lang="en-US" sz="2000" dirty="0">
                <a:solidFill>
                  <a:srgbClr val="0000FF"/>
                </a:solidFill>
              </a:endParaRPr>
            </a:p>
          </p:txBody>
        </p:sp>
        <p:sp>
          <p:nvSpPr>
            <p:cNvPr id="25" name="AutoShape 9"/>
            <p:cNvSpPr>
              <a:spLocks noChangeArrowheads="1"/>
            </p:cNvSpPr>
            <p:nvPr/>
          </p:nvSpPr>
          <p:spPr bwMode="auto">
            <a:xfrm>
              <a:off x="3024" y="2256"/>
              <a:ext cx="240" cy="240"/>
            </a:xfrm>
            <a:prstGeom prst="roundRect">
              <a:avLst>
                <a:gd name="adj" fmla="val 7093"/>
              </a:avLst>
            </a:prstGeom>
            <a:solidFill>
              <a:srgbClr val="F5E5FF"/>
            </a:solidFill>
            <a:ln w="9525" algn="ctr">
              <a:solidFill>
                <a:srgbClr val="808080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anchor="ctr"/>
            <a:lstStyle/>
            <a:p>
              <a:pPr algn="ctr" defTabSz="457200">
                <a:buClr>
                  <a:schemeClr val="bg2"/>
                </a:buClr>
                <a:buFont typeface="Wingdings" pitchFamily="2" charset="2"/>
                <a:buNone/>
                <a:tabLst>
                  <a:tab pos="457200" algn="l"/>
                </a:tabLst>
              </a:pPr>
              <a:r>
                <a:rPr lang="en-US" sz="2000" dirty="0" smtClean="0">
                  <a:solidFill>
                    <a:srgbClr val="0000FF"/>
                  </a:solidFill>
                </a:rPr>
                <a:t>n</a:t>
              </a:r>
              <a:endParaRPr lang="en-US" sz="2000" dirty="0">
                <a:solidFill>
                  <a:srgbClr val="0000FF"/>
                </a:solidFill>
              </a:endParaRPr>
            </a:p>
          </p:txBody>
        </p:sp>
        <p:sp>
          <p:nvSpPr>
            <p:cNvPr id="26" name="AutoShape 10"/>
            <p:cNvSpPr>
              <a:spLocks noChangeArrowheads="1"/>
            </p:cNvSpPr>
            <p:nvPr/>
          </p:nvSpPr>
          <p:spPr bwMode="auto">
            <a:xfrm>
              <a:off x="3264" y="2256"/>
              <a:ext cx="240" cy="240"/>
            </a:xfrm>
            <a:prstGeom prst="roundRect">
              <a:avLst>
                <a:gd name="adj" fmla="val 7093"/>
              </a:avLst>
            </a:prstGeom>
            <a:solidFill>
              <a:srgbClr val="F5E5FF"/>
            </a:solidFill>
            <a:ln w="9525" algn="ctr">
              <a:solidFill>
                <a:srgbClr val="808080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anchor="ctr"/>
            <a:lstStyle/>
            <a:p>
              <a:pPr algn="ctr" defTabSz="457200">
                <a:buClr>
                  <a:schemeClr val="bg2"/>
                </a:buClr>
                <a:buFont typeface="Wingdings" pitchFamily="2" charset="2"/>
                <a:buNone/>
                <a:tabLst>
                  <a:tab pos="457200" algn="l"/>
                </a:tabLst>
              </a:pPr>
              <a:r>
                <a:rPr lang="en-US" sz="2000" dirty="0" smtClean="0">
                  <a:solidFill>
                    <a:srgbClr val="0000FF"/>
                  </a:solidFill>
                </a:rPr>
                <a:t>h</a:t>
              </a:r>
              <a:endParaRPr lang="en-US" sz="2000" dirty="0">
                <a:solidFill>
                  <a:srgbClr val="0000FF"/>
                </a:solidFill>
              </a:endParaRPr>
            </a:p>
          </p:txBody>
        </p:sp>
        <p:sp>
          <p:nvSpPr>
            <p:cNvPr id="27" name="AutoShape 11"/>
            <p:cNvSpPr>
              <a:spLocks noChangeArrowheads="1"/>
            </p:cNvSpPr>
            <p:nvPr/>
          </p:nvSpPr>
          <p:spPr bwMode="auto">
            <a:xfrm>
              <a:off x="3504" y="2256"/>
              <a:ext cx="240" cy="240"/>
            </a:xfrm>
            <a:prstGeom prst="roundRect">
              <a:avLst>
                <a:gd name="adj" fmla="val 7093"/>
              </a:avLst>
            </a:prstGeom>
            <a:solidFill>
              <a:srgbClr val="F5E5FF"/>
            </a:solidFill>
            <a:ln w="9525" algn="ctr">
              <a:solidFill>
                <a:srgbClr val="808080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anchor="ctr"/>
            <a:lstStyle/>
            <a:p>
              <a:pPr algn="ctr" defTabSz="457200">
                <a:buClr>
                  <a:schemeClr val="bg2"/>
                </a:buClr>
                <a:buFont typeface="Wingdings" pitchFamily="2" charset="2"/>
                <a:buNone/>
                <a:tabLst>
                  <a:tab pos="457200" algn="l"/>
                </a:tabLst>
              </a:pPr>
              <a:r>
                <a:rPr lang="en-US" sz="1600" dirty="0" smtClean="0">
                  <a:solidFill>
                    <a:srgbClr val="0000FF"/>
                  </a:solidFill>
                </a:rPr>
                <a:t>\0</a:t>
              </a:r>
              <a:endParaRPr lang="en-US" sz="1600" dirty="0">
                <a:solidFill>
                  <a:srgbClr val="0000FF"/>
                </a:solidFill>
              </a:endParaRPr>
            </a:p>
          </p:txBody>
        </p:sp>
      </p:grpSp>
      <p:sp>
        <p:nvSpPr>
          <p:cNvPr id="28" name="AutoShape 18"/>
          <p:cNvSpPr>
            <a:spLocks noChangeArrowheads="1"/>
          </p:cNvSpPr>
          <p:nvPr/>
        </p:nvSpPr>
        <p:spPr bwMode="auto">
          <a:xfrm>
            <a:off x="1447800" y="53340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algn="ctr" defTabSz="457200">
              <a:buClr>
                <a:schemeClr val="bg2"/>
              </a:buClr>
              <a:buFont typeface="Wingdings" pitchFamily="2" charset="2"/>
              <a:buNone/>
              <a:tabLst>
                <a:tab pos="457200" algn="l"/>
              </a:tabLst>
            </a:pPr>
            <a:r>
              <a:rPr lang="en-US" sz="2000" dirty="0">
                <a:solidFill>
                  <a:srgbClr val="0000FF"/>
                </a:solidFill>
              </a:rPr>
              <a:t>8</a:t>
            </a:r>
          </a:p>
        </p:txBody>
      </p:sp>
      <p:sp>
        <p:nvSpPr>
          <p:cNvPr id="29" name="AutoShape 4"/>
          <p:cNvSpPr>
            <a:spLocks noChangeArrowheads="1"/>
          </p:cNvSpPr>
          <p:nvPr/>
        </p:nvSpPr>
        <p:spPr bwMode="auto">
          <a:xfrm>
            <a:off x="5638800" y="3810000"/>
            <a:ext cx="2362200" cy="20574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tIns="0" bIns="0"/>
          <a:lstStyle/>
          <a:p>
            <a:pPr algn="ctr" defTabSz="457200">
              <a:buClr>
                <a:schemeClr val="bg2"/>
              </a:buClr>
              <a:buFont typeface="Wingdings" pitchFamily="2" charset="2"/>
              <a:buNone/>
              <a:tabLst>
                <a:tab pos="457200" algn="l"/>
              </a:tabLst>
            </a:pPr>
            <a:r>
              <a:rPr lang="en-US" b="1" dirty="0" smtClean="0">
                <a:solidFill>
                  <a:srgbClr val="0000FF"/>
                </a:solidFill>
              </a:rPr>
              <a:t>s1: Student</a:t>
            </a:r>
            <a:endParaRPr lang="en-US" b="1" dirty="0">
              <a:solidFill>
                <a:srgbClr val="0000FF"/>
              </a:solidFill>
            </a:endParaRPr>
          </a:p>
          <a:p>
            <a:pPr defTabSz="457200">
              <a:buClr>
                <a:schemeClr val="bg2"/>
              </a:buClr>
              <a:buFont typeface="Wingdings" pitchFamily="2" charset="2"/>
              <a:buChar char="§"/>
              <a:tabLst>
                <a:tab pos="457200" algn="l"/>
              </a:tabLst>
            </a:pPr>
            <a:r>
              <a:rPr lang="en-US" sz="2000" b="1" dirty="0" smtClean="0">
                <a:solidFill>
                  <a:srgbClr val="0000FF"/>
                </a:solidFill>
              </a:rPr>
              <a:t>name</a:t>
            </a:r>
          </a:p>
          <a:p>
            <a:pPr defTabSz="457200">
              <a:buClr>
                <a:schemeClr val="bg2"/>
              </a:buClr>
              <a:buFont typeface="Wingdings" pitchFamily="2" charset="2"/>
              <a:buChar char="§"/>
              <a:tabLst>
                <a:tab pos="457200" algn="l"/>
              </a:tabLst>
            </a:pPr>
            <a:endParaRPr lang="en-US" sz="2000" b="1" dirty="0" smtClean="0">
              <a:solidFill>
                <a:srgbClr val="0000FF"/>
              </a:solidFill>
            </a:endParaRPr>
          </a:p>
          <a:p>
            <a:pPr defTabSz="457200">
              <a:buClr>
                <a:schemeClr val="bg2"/>
              </a:buClr>
              <a:buFont typeface="Wingdings" pitchFamily="2" charset="2"/>
              <a:buChar char="§"/>
              <a:tabLst>
                <a:tab pos="457200" algn="l"/>
              </a:tabLst>
            </a:pPr>
            <a:r>
              <a:rPr lang="en-US" sz="2000" b="1" dirty="0" smtClean="0">
                <a:solidFill>
                  <a:srgbClr val="0000FF"/>
                </a:solidFill>
              </a:rPr>
              <a:t>literature</a:t>
            </a:r>
            <a:endParaRPr lang="en-US" sz="2000" b="1" dirty="0">
              <a:solidFill>
                <a:srgbClr val="0000FF"/>
              </a:solidFill>
            </a:endParaRPr>
          </a:p>
        </p:txBody>
      </p:sp>
      <p:grpSp>
        <p:nvGrpSpPr>
          <p:cNvPr id="8" name="Group 6"/>
          <p:cNvGrpSpPr>
            <a:grpSpLocks/>
          </p:cNvGrpSpPr>
          <p:nvPr/>
        </p:nvGrpSpPr>
        <p:grpSpPr bwMode="auto">
          <a:xfrm>
            <a:off x="5867400" y="4572000"/>
            <a:ext cx="1905000" cy="381000"/>
            <a:chOff x="2544" y="2256"/>
            <a:chExt cx="1200" cy="240"/>
          </a:xfrm>
        </p:grpSpPr>
        <p:sp>
          <p:nvSpPr>
            <p:cNvPr id="31" name="AutoShape 7"/>
            <p:cNvSpPr>
              <a:spLocks noChangeArrowheads="1"/>
            </p:cNvSpPr>
            <p:nvPr/>
          </p:nvSpPr>
          <p:spPr bwMode="auto">
            <a:xfrm>
              <a:off x="2544" y="2256"/>
              <a:ext cx="240" cy="240"/>
            </a:xfrm>
            <a:prstGeom prst="roundRect">
              <a:avLst>
                <a:gd name="adj" fmla="val 7093"/>
              </a:avLst>
            </a:prstGeom>
            <a:solidFill>
              <a:srgbClr val="F5E5FF"/>
            </a:solidFill>
            <a:ln w="9525" algn="ctr">
              <a:solidFill>
                <a:srgbClr val="808080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anchor="ctr"/>
            <a:lstStyle/>
            <a:p>
              <a:pPr algn="ctr" defTabSz="457200">
                <a:buClr>
                  <a:schemeClr val="bg2"/>
                </a:buClr>
                <a:buFont typeface="Wingdings" pitchFamily="2" charset="2"/>
                <a:buNone/>
                <a:tabLst>
                  <a:tab pos="457200" algn="l"/>
                </a:tabLst>
              </a:pPr>
              <a:r>
                <a:rPr lang="en-US" sz="2000" dirty="0" smtClean="0">
                  <a:solidFill>
                    <a:srgbClr val="0000FF"/>
                  </a:solidFill>
                </a:rPr>
                <a:t>m</a:t>
              </a:r>
              <a:endParaRPr lang="en-US" sz="2000" dirty="0">
                <a:solidFill>
                  <a:srgbClr val="0000FF"/>
                </a:solidFill>
              </a:endParaRPr>
            </a:p>
          </p:txBody>
        </p:sp>
        <p:sp>
          <p:nvSpPr>
            <p:cNvPr id="32" name="AutoShape 8"/>
            <p:cNvSpPr>
              <a:spLocks noChangeArrowheads="1"/>
            </p:cNvSpPr>
            <p:nvPr/>
          </p:nvSpPr>
          <p:spPr bwMode="auto">
            <a:xfrm>
              <a:off x="2784" y="2256"/>
              <a:ext cx="240" cy="240"/>
            </a:xfrm>
            <a:prstGeom prst="roundRect">
              <a:avLst>
                <a:gd name="adj" fmla="val 7093"/>
              </a:avLst>
            </a:prstGeom>
            <a:solidFill>
              <a:srgbClr val="F5E5FF"/>
            </a:solidFill>
            <a:ln w="9525" algn="ctr">
              <a:solidFill>
                <a:srgbClr val="808080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anchor="ctr"/>
            <a:lstStyle/>
            <a:p>
              <a:pPr algn="ctr" defTabSz="457200">
                <a:buClr>
                  <a:schemeClr val="bg2"/>
                </a:buClr>
                <a:buFont typeface="Wingdings" pitchFamily="2" charset="2"/>
                <a:buNone/>
                <a:tabLst>
                  <a:tab pos="457200" algn="l"/>
                </a:tabLst>
              </a:pPr>
              <a:r>
                <a:rPr lang="en-US" sz="2000" dirty="0" smtClean="0">
                  <a:solidFill>
                    <a:srgbClr val="0000FF"/>
                  </a:solidFill>
                </a:rPr>
                <a:t>i</a:t>
              </a:r>
              <a:endParaRPr lang="en-US" sz="2000" dirty="0">
                <a:solidFill>
                  <a:srgbClr val="0000FF"/>
                </a:solidFill>
              </a:endParaRPr>
            </a:p>
          </p:txBody>
        </p:sp>
        <p:sp>
          <p:nvSpPr>
            <p:cNvPr id="33" name="AutoShape 9"/>
            <p:cNvSpPr>
              <a:spLocks noChangeArrowheads="1"/>
            </p:cNvSpPr>
            <p:nvPr/>
          </p:nvSpPr>
          <p:spPr bwMode="auto">
            <a:xfrm>
              <a:off x="3024" y="2256"/>
              <a:ext cx="240" cy="240"/>
            </a:xfrm>
            <a:prstGeom prst="roundRect">
              <a:avLst>
                <a:gd name="adj" fmla="val 7093"/>
              </a:avLst>
            </a:prstGeom>
            <a:solidFill>
              <a:srgbClr val="F5E5FF"/>
            </a:solidFill>
            <a:ln w="9525" algn="ctr">
              <a:solidFill>
                <a:srgbClr val="808080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anchor="ctr"/>
            <a:lstStyle/>
            <a:p>
              <a:pPr algn="ctr" defTabSz="457200">
                <a:buClr>
                  <a:schemeClr val="bg2"/>
                </a:buClr>
                <a:buFont typeface="Wingdings" pitchFamily="2" charset="2"/>
                <a:buNone/>
                <a:tabLst>
                  <a:tab pos="457200" algn="l"/>
                </a:tabLst>
              </a:pPr>
              <a:r>
                <a:rPr lang="en-US" sz="2000" dirty="0" smtClean="0">
                  <a:solidFill>
                    <a:srgbClr val="0000FF"/>
                  </a:solidFill>
                </a:rPr>
                <a:t>n</a:t>
              </a:r>
              <a:endParaRPr lang="en-US" sz="2000" dirty="0">
                <a:solidFill>
                  <a:srgbClr val="0000FF"/>
                </a:solidFill>
              </a:endParaRPr>
            </a:p>
          </p:txBody>
        </p:sp>
        <p:sp>
          <p:nvSpPr>
            <p:cNvPr id="34" name="AutoShape 10"/>
            <p:cNvSpPr>
              <a:spLocks noChangeArrowheads="1"/>
            </p:cNvSpPr>
            <p:nvPr/>
          </p:nvSpPr>
          <p:spPr bwMode="auto">
            <a:xfrm>
              <a:off x="3264" y="2256"/>
              <a:ext cx="240" cy="240"/>
            </a:xfrm>
            <a:prstGeom prst="roundRect">
              <a:avLst>
                <a:gd name="adj" fmla="val 7093"/>
              </a:avLst>
            </a:prstGeom>
            <a:solidFill>
              <a:srgbClr val="F5E5FF"/>
            </a:solidFill>
            <a:ln w="9525" algn="ctr">
              <a:solidFill>
                <a:srgbClr val="808080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anchor="ctr"/>
            <a:lstStyle/>
            <a:p>
              <a:pPr algn="ctr" defTabSz="457200">
                <a:buClr>
                  <a:schemeClr val="bg2"/>
                </a:buClr>
                <a:buFont typeface="Wingdings" pitchFamily="2" charset="2"/>
                <a:buNone/>
                <a:tabLst>
                  <a:tab pos="457200" algn="l"/>
                </a:tabLst>
              </a:pPr>
              <a:r>
                <a:rPr lang="en-US" sz="2000" dirty="0" smtClean="0">
                  <a:solidFill>
                    <a:srgbClr val="0000FF"/>
                  </a:solidFill>
                </a:rPr>
                <a:t>h</a:t>
              </a:r>
              <a:endParaRPr lang="en-US" sz="2000" dirty="0">
                <a:solidFill>
                  <a:srgbClr val="0000FF"/>
                </a:solidFill>
              </a:endParaRPr>
            </a:p>
          </p:txBody>
        </p:sp>
        <p:sp>
          <p:nvSpPr>
            <p:cNvPr id="35" name="AutoShape 11"/>
            <p:cNvSpPr>
              <a:spLocks noChangeArrowheads="1"/>
            </p:cNvSpPr>
            <p:nvPr/>
          </p:nvSpPr>
          <p:spPr bwMode="auto">
            <a:xfrm>
              <a:off x="3504" y="2256"/>
              <a:ext cx="240" cy="240"/>
            </a:xfrm>
            <a:prstGeom prst="roundRect">
              <a:avLst>
                <a:gd name="adj" fmla="val 7093"/>
              </a:avLst>
            </a:prstGeom>
            <a:solidFill>
              <a:srgbClr val="F5E5FF"/>
            </a:solidFill>
            <a:ln w="9525" algn="ctr">
              <a:solidFill>
                <a:srgbClr val="808080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anchor="ctr"/>
            <a:lstStyle/>
            <a:p>
              <a:pPr algn="ctr" defTabSz="457200">
                <a:buClr>
                  <a:schemeClr val="bg2"/>
                </a:buClr>
                <a:buFont typeface="Wingdings" pitchFamily="2" charset="2"/>
                <a:buNone/>
                <a:tabLst>
                  <a:tab pos="457200" algn="l"/>
                </a:tabLst>
              </a:pPr>
              <a:r>
                <a:rPr lang="en-US" sz="1600" dirty="0" smtClean="0">
                  <a:solidFill>
                    <a:srgbClr val="0000FF"/>
                  </a:solidFill>
                </a:rPr>
                <a:t>\0</a:t>
              </a:r>
              <a:endParaRPr lang="en-US" sz="1600" dirty="0">
                <a:solidFill>
                  <a:srgbClr val="0000FF"/>
                </a:solidFill>
              </a:endParaRPr>
            </a:p>
          </p:txBody>
        </p:sp>
      </p:grpSp>
      <p:sp>
        <p:nvSpPr>
          <p:cNvPr id="36" name="AutoShape 18"/>
          <p:cNvSpPr>
            <a:spLocks noChangeArrowheads="1"/>
          </p:cNvSpPr>
          <p:nvPr/>
        </p:nvSpPr>
        <p:spPr bwMode="auto">
          <a:xfrm>
            <a:off x="5867400" y="53340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algn="ctr" defTabSz="457200">
              <a:buClr>
                <a:schemeClr val="bg2"/>
              </a:buClr>
              <a:buFont typeface="Wingdings" pitchFamily="2" charset="2"/>
              <a:buNone/>
              <a:tabLst>
                <a:tab pos="457200" algn="l"/>
              </a:tabLst>
            </a:pPr>
            <a:r>
              <a:rPr lang="en-US" sz="2000" dirty="0">
                <a:solidFill>
                  <a:srgbClr val="0000FF"/>
                </a:solidFill>
              </a:rPr>
              <a:t>8</a:t>
            </a:r>
          </a:p>
        </p:txBody>
      </p:sp>
      <p:cxnSp>
        <p:nvCxnSpPr>
          <p:cNvPr id="39" name="Straight Arrow Connector 38"/>
          <p:cNvCxnSpPr/>
          <p:nvPr/>
        </p:nvCxnSpPr>
        <p:spPr bwMode="auto">
          <a:xfrm rot="10800000">
            <a:off x="3886200" y="4724400"/>
            <a:ext cx="1447800" cy="1588"/>
          </a:xfrm>
          <a:prstGeom prst="straightConnector1">
            <a:avLst/>
          </a:prstGeom>
          <a:noFill/>
          <a:ln w="38100" cap="flat" cmpd="sng" algn="ctr">
            <a:solidFill>
              <a:srgbClr val="33CC33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0" name="Straight Arrow Connector 39"/>
          <p:cNvCxnSpPr/>
          <p:nvPr/>
        </p:nvCxnSpPr>
        <p:spPr bwMode="auto">
          <a:xfrm rot="10800000">
            <a:off x="3886201" y="5486400"/>
            <a:ext cx="1447800" cy="1588"/>
          </a:xfrm>
          <a:prstGeom prst="straightConnector1">
            <a:avLst/>
          </a:prstGeom>
          <a:noFill/>
          <a:ln w="38100" cap="flat" cmpd="sng" algn="ctr">
            <a:solidFill>
              <a:srgbClr val="33CC33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1" name="Text Box 9"/>
          <p:cNvSpPr txBox="1">
            <a:spLocks noChangeArrowheads="1"/>
          </p:cNvSpPr>
          <p:nvPr/>
        </p:nvSpPr>
        <p:spPr bwMode="auto">
          <a:xfrm>
            <a:off x="3886200" y="4343400"/>
            <a:ext cx="1428596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 smtClean="0"/>
              <a:t>Copy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sz="1800" dirty="0"/>
          </a:p>
        </p:txBody>
      </p:sp>
      <p:sp>
        <p:nvSpPr>
          <p:cNvPr id="42" name="Text Box 9"/>
          <p:cNvSpPr txBox="1">
            <a:spLocks noChangeArrowheads="1"/>
          </p:cNvSpPr>
          <p:nvPr/>
        </p:nvSpPr>
        <p:spPr bwMode="auto">
          <a:xfrm>
            <a:off x="3886200" y="5144869"/>
            <a:ext cx="1428596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 smtClean="0"/>
              <a:t>Copy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8" grpId="0" animBg="1"/>
      <p:bldP spid="29" grpId="0" animBg="1"/>
      <p:bldP spid="36" grpId="0" animBg="1"/>
      <p:bldP spid="41" grpId="0"/>
      <p:bldP spid="4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Function</a:t>
            </a:r>
            <a:r>
              <a:rPr lang="vi-VN" dirty="0" smtClean="0"/>
              <a:t>:</a:t>
            </a:r>
            <a:endParaRPr lang="en-US" dirty="0" smtClean="0"/>
          </a:p>
          <a:p>
            <a:pPr lvl="1"/>
            <a:r>
              <a:rPr lang="en-US" dirty="0" smtClean="0"/>
              <a:t>A named block of statement can be called anywhere.</a:t>
            </a:r>
          </a:p>
          <a:p>
            <a:pPr lvl="1"/>
            <a:r>
              <a:rPr lang="en-US" dirty="0" smtClean="0"/>
              <a:t>Function structure:</a:t>
            </a:r>
          </a:p>
          <a:p>
            <a:pPr lvl="2"/>
            <a:r>
              <a:rPr lang="en-US" dirty="0" smtClean="0"/>
              <a:t>Prototype: name, arguments, return type.</a:t>
            </a:r>
          </a:p>
          <a:p>
            <a:pPr lvl="2"/>
            <a:r>
              <a:rPr lang="en-US" dirty="0" smtClean="0"/>
              <a:t>Body: implementation.</a:t>
            </a:r>
          </a:p>
          <a:p>
            <a:pPr lvl="1"/>
            <a:r>
              <a:rPr lang="en-US" dirty="0" smtClean="0"/>
              <a:t>Passing arguments:</a:t>
            </a:r>
          </a:p>
          <a:p>
            <a:pPr lvl="2"/>
            <a:r>
              <a:rPr lang="en-US" dirty="0" smtClean="0"/>
              <a:t>pass-by-value.</a:t>
            </a:r>
          </a:p>
          <a:p>
            <a:pPr lvl="2"/>
            <a:r>
              <a:rPr lang="en-US" dirty="0" smtClean="0"/>
              <a:t>pass-by-reference (C++).</a:t>
            </a:r>
          </a:p>
          <a:p>
            <a:r>
              <a:rPr lang="en-US" dirty="0" smtClean="0"/>
              <a:t>Multiple-file project:</a:t>
            </a:r>
          </a:p>
          <a:p>
            <a:pPr lvl="1"/>
            <a:r>
              <a:rPr lang="en-US" dirty="0" smtClean="0"/>
              <a:t>Program ~ book:</a:t>
            </a:r>
          </a:p>
          <a:p>
            <a:pPr lvl="2"/>
            <a:r>
              <a:rPr lang="en-US" dirty="0" smtClean="0"/>
              <a:t>main() ~ summary.</a:t>
            </a:r>
          </a:p>
          <a:p>
            <a:pPr lvl="2"/>
            <a:r>
              <a:rPr lang="en-US" dirty="0" smtClean="0"/>
              <a:t>source files ~ chapters.</a:t>
            </a:r>
          </a:p>
          <a:p>
            <a:pPr lvl="2"/>
            <a:endParaRPr lang="en-US" dirty="0" smtClean="0"/>
          </a:p>
          <a:p>
            <a:pPr lvl="1"/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5A8E62-1A30-4C97-A711-06E835BB7495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Multiple-file project:</a:t>
            </a:r>
          </a:p>
          <a:p>
            <a:pPr lvl="1"/>
            <a:r>
              <a:rPr lang="en-US" dirty="0" smtClean="0"/>
              <a:t>Header file .h: connect code across source files. </a:t>
            </a:r>
          </a:p>
          <a:p>
            <a:pPr lvl="1"/>
            <a:r>
              <a:rPr lang="en-US" dirty="0" smtClean="0"/>
              <a:t>Program breakdown tree:</a:t>
            </a:r>
          </a:p>
          <a:p>
            <a:pPr lvl="2"/>
            <a:r>
              <a:rPr lang="en-US" dirty="0" smtClean="0"/>
              <a:t>Split program into files and functions.</a:t>
            </a:r>
          </a:p>
          <a:p>
            <a:pPr lvl="2"/>
            <a:r>
              <a:rPr lang="en-US" dirty="0" smtClean="0"/>
              <a:t>Based on levels of abstraction and reusability.</a:t>
            </a:r>
          </a:p>
          <a:p>
            <a:r>
              <a:rPr lang="en-US" dirty="0" err="1" smtClean="0"/>
              <a:t>struct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Compound data-type.</a:t>
            </a:r>
          </a:p>
          <a:p>
            <a:pPr lvl="1"/>
            <a:r>
              <a:rPr lang="en-US" dirty="0" smtClean="0"/>
              <a:t>Combine data into one place.</a:t>
            </a:r>
          </a:p>
          <a:p>
            <a:pPr lvl="1"/>
            <a:r>
              <a:rPr lang="en-US" dirty="0" smtClean="0"/>
              <a:t>Assignment: all members are copied.</a:t>
            </a:r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5A8E62-1A30-4C97-A711-06E835BB7495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Practice 4.1:</a:t>
            </a:r>
          </a:p>
          <a:p>
            <a:pPr>
              <a:buNone/>
            </a:pPr>
            <a:r>
              <a:rPr lang="en-US" sz="2000" dirty="0" smtClean="0"/>
              <a:t>	Write C/C++ program to find prime numbers:</a:t>
            </a:r>
          </a:p>
          <a:p>
            <a:pPr>
              <a:buNone/>
            </a:pPr>
            <a:r>
              <a:rPr lang="en-US" sz="2000" dirty="0" smtClean="0"/>
              <a:t>	(organize in functions and multiple-file project)</a:t>
            </a:r>
          </a:p>
          <a:p>
            <a:pPr>
              <a:buNone/>
            </a:pPr>
            <a:r>
              <a:rPr lang="en-US" sz="2000" dirty="0" smtClean="0"/>
              <a:t>		- Enter a positive integer N (re-enter if invalid).</a:t>
            </a:r>
          </a:p>
          <a:p>
            <a:pPr>
              <a:buNone/>
            </a:pPr>
            <a:r>
              <a:rPr lang="en-US" sz="2000" dirty="0" smtClean="0"/>
              <a:t>		- Print all prime numbers &lt;= N.</a:t>
            </a:r>
          </a:p>
          <a:p>
            <a:pPr>
              <a:buNone/>
            </a:pPr>
            <a:r>
              <a:rPr lang="en-US" sz="2000" i="1" dirty="0" smtClean="0"/>
              <a:t>	Input format:</a:t>
            </a:r>
          </a:p>
          <a:p>
            <a:pPr>
              <a:buNone/>
            </a:pPr>
            <a:r>
              <a:rPr lang="en-US" sz="2000" i="1" dirty="0" smtClean="0"/>
              <a:t>		Enter a positive integer = 11</a:t>
            </a:r>
          </a:p>
          <a:p>
            <a:pPr>
              <a:buNone/>
            </a:pPr>
            <a:r>
              <a:rPr lang="en-US" sz="2000" i="1" dirty="0" smtClean="0"/>
              <a:t>	Output format:</a:t>
            </a:r>
          </a:p>
          <a:p>
            <a:pPr>
              <a:buNone/>
            </a:pPr>
            <a:r>
              <a:rPr lang="en-US" sz="2000" i="1" dirty="0" smtClean="0"/>
              <a:t>		#1 = 2</a:t>
            </a:r>
          </a:p>
          <a:p>
            <a:pPr>
              <a:buNone/>
            </a:pPr>
            <a:r>
              <a:rPr lang="en-US" sz="2000" i="1" dirty="0" smtClean="0"/>
              <a:t>		#2 = 3</a:t>
            </a:r>
          </a:p>
          <a:p>
            <a:pPr>
              <a:buNone/>
            </a:pPr>
            <a:r>
              <a:rPr lang="en-US" sz="2000" i="1" dirty="0" smtClean="0"/>
              <a:t>		#3 = 5</a:t>
            </a:r>
          </a:p>
          <a:p>
            <a:pPr>
              <a:buNone/>
            </a:pPr>
            <a:r>
              <a:rPr lang="en-US" sz="2000" i="1" dirty="0" smtClean="0"/>
              <a:t>		#4 = 7</a:t>
            </a:r>
          </a:p>
          <a:p>
            <a:pPr>
              <a:buNone/>
            </a:pPr>
            <a:r>
              <a:rPr lang="en-US" sz="2000" i="1" dirty="0" smtClean="0"/>
              <a:t>		#5 = 11</a:t>
            </a:r>
          </a:p>
          <a:p>
            <a:pPr>
              <a:buNone/>
            </a:pPr>
            <a:r>
              <a:rPr lang="en-US" sz="2000" i="1" dirty="0" smtClean="0"/>
              <a:t>		There are 5 prime numbers.</a:t>
            </a:r>
            <a:endParaRPr lang="en-US" sz="2000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5A8E62-1A30-4C97-A711-06E835BB7495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Practice 4.2:</a:t>
            </a:r>
          </a:p>
          <a:p>
            <a:pPr>
              <a:buNone/>
            </a:pPr>
            <a:r>
              <a:rPr lang="en-US" sz="2000" dirty="0" smtClean="0"/>
              <a:t>	Write C/C++ program to simulate a calculator as follow:</a:t>
            </a:r>
          </a:p>
          <a:p>
            <a:pPr>
              <a:buNone/>
            </a:pPr>
            <a:r>
              <a:rPr lang="en-US" sz="2000" dirty="0" smtClean="0"/>
              <a:t>		- Enter two integers.</a:t>
            </a:r>
          </a:p>
          <a:p>
            <a:pPr>
              <a:buNone/>
            </a:pPr>
            <a:r>
              <a:rPr lang="en-US" sz="2000" dirty="0" smtClean="0"/>
              <a:t>		- Enter an operator (+, -, *, /, %).</a:t>
            </a:r>
          </a:p>
          <a:p>
            <a:pPr>
              <a:buNone/>
            </a:pPr>
            <a:r>
              <a:rPr lang="en-US" sz="2000" dirty="0" smtClean="0"/>
              <a:t>		- Perform the operator on two integers and print result.</a:t>
            </a:r>
          </a:p>
          <a:p>
            <a:pPr>
              <a:buNone/>
            </a:pPr>
            <a:r>
              <a:rPr lang="en-US" sz="2000" i="1" dirty="0" smtClean="0"/>
              <a:t>	</a:t>
            </a:r>
            <a:r>
              <a:rPr lang="en-US" sz="2000" dirty="0" smtClean="0"/>
              <a:t>Notes: flush the standard input stream after each input.</a:t>
            </a:r>
          </a:p>
          <a:p>
            <a:pPr>
              <a:buNone/>
            </a:pPr>
            <a:r>
              <a:rPr lang="en-US" sz="2000" i="1" dirty="0" smtClean="0"/>
              <a:t>		</a:t>
            </a:r>
            <a:r>
              <a:rPr lang="en-US" sz="2000" dirty="0" smtClean="0"/>
              <a:t>- C: </a:t>
            </a:r>
            <a:r>
              <a:rPr lang="en-US" sz="2000" dirty="0" err="1" smtClean="0"/>
              <a:t>fgets</a:t>
            </a:r>
            <a:r>
              <a:rPr lang="en-US" sz="2000" dirty="0" smtClean="0"/>
              <a:t>, or while </a:t>
            </a:r>
            <a:r>
              <a:rPr lang="en-US" sz="2000" dirty="0" err="1" smtClean="0"/>
              <a:t>getchar</a:t>
            </a:r>
            <a:r>
              <a:rPr lang="en-US" sz="2000" dirty="0" smtClean="0"/>
              <a:t>, C++: </a:t>
            </a:r>
            <a:r>
              <a:rPr lang="en-US" sz="2000" dirty="0" err="1" smtClean="0"/>
              <a:t>cin.getline</a:t>
            </a:r>
            <a:r>
              <a:rPr lang="en-US" sz="2000" dirty="0" smtClean="0"/>
              <a:t>, or </a:t>
            </a:r>
            <a:r>
              <a:rPr lang="en-US" sz="2000" dirty="0" err="1" smtClean="0"/>
              <a:t>cin.ignore</a:t>
            </a:r>
            <a:r>
              <a:rPr lang="en-US" sz="2000" dirty="0" smtClean="0"/>
              <a:t>.</a:t>
            </a:r>
            <a:endParaRPr lang="en-US" sz="2000" i="1" dirty="0" smtClean="0"/>
          </a:p>
          <a:p>
            <a:pPr>
              <a:buNone/>
            </a:pPr>
            <a:r>
              <a:rPr lang="en-US" sz="2000" i="1" dirty="0" smtClean="0"/>
              <a:t>	Input format:</a:t>
            </a:r>
          </a:p>
          <a:p>
            <a:pPr>
              <a:buNone/>
            </a:pPr>
            <a:r>
              <a:rPr lang="en-US" sz="2000" i="1" dirty="0" smtClean="0"/>
              <a:t>		Enter two integers = 7  5</a:t>
            </a:r>
          </a:p>
          <a:p>
            <a:pPr>
              <a:buNone/>
            </a:pPr>
            <a:r>
              <a:rPr lang="en-US" sz="2000" i="1" dirty="0" smtClean="0"/>
              <a:t>		Enter an </a:t>
            </a:r>
            <a:r>
              <a:rPr lang="en-US" sz="2000" i="1" dirty="0" err="1" smtClean="0"/>
              <a:t>opertor</a:t>
            </a:r>
            <a:r>
              <a:rPr lang="en-US" sz="2000" i="1" dirty="0" smtClean="0"/>
              <a:t> (+, -, *, /, %) = +</a:t>
            </a:r>
          </a:p>
          <a:p>
            <a:pPr>
              <a:buNone/>
            </a:pPr>
            <a:r>
              <a:rPr lang="en-US" sz="2000" i="1" dirty="0" smtClean="0"/>
              <a:t>	Output format (no error):</a:t>
            </a:r>
          </a:p>
          <a:p>
            <a:pPr>
              <a:buNone/>
            </a:pPr>
            <a:r>
              <a:rPr lang="en-US" sz="2000" i="1" dirty="0" smtClean="0"/>
              <a:t>		Result = 12</a:t>
            </a:r>
          </a:p>
          <a:p>
            <a:pPr>
              <a:buNone/>
            </a:pPr>
            <a:r>
              <a:rPr lang="en-US" sz="2000" i="1" dirty="0" smtClean="0"/>
              <a:t>	Output format (divided-by-zero error):</a:t>
            </a:r>
          </a:p>
          <a:p>
            <a:pPr>
              <a:buNone/>
            </a:pPr>
            <a:r>
              <a:rPr lang="en-US" sz="2000" i="1" dirty="0" smtClean="0"/>
              <a:t>		Error: divided by zero.</a:t>
            </a:r>
            <a:endParaRPr lang="en-US" sz="2000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5A8E62-1A30-4C97-A711-06E835BB7495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Practice 4.3:</a:t>
            </a:r>
          </a:p>
          <a:p>
            <a:pPr>
              <a:buNone/>
            </a:pPr>
            <a:r>
              <a:rPr lang="en-US" sz="2000" dirty="0" smtClean="0"/>
              <a:t>	Write C/C++ program to classify a triangle:</a:t>
            </a:r>
          </a:p>
          <a:p>
            <a:pPr>
              <a:buNone/>
            </a:pPr>
            <a:r>
              <a:rPr lang="en-US" sz="2000" dirty="0" smtClean="0"/>
              <a:t>	(organize in functions and multiple-file project)</a:t>
            </a:r>
          </a:p>
          <a:p>
            <a:pPr>
              <a:buNone/>
            </a:pPr>
            <a:r>
              <a:rPr lang="en-US" sz="2000" dirty="0" smtClean="0"/>
              <a:t>		- Enter 3 positive real numbers a, b, c (re-enter if invalid).</a:t>
            </a:r>
          </a:p>
          <a:p>
            <a:pPr>
              <a:buNone/>
            </a:pPr>
            <a:r>
              <a:rPr lang="en-US" sz="2000" dirty="0" smtClean="0"/>
              <a:t>		- Check if a, b, c can forms a triangle.</a:t>
            </a:r>
          </a:p>
          <a:p>
            <a:pPr>
              <a:buNone/>
            </a:pPr>
            <a:r>
              <a:rPr lang="en-US" sz="2000" dirty="0" smtClean="0"/>
              <a:t>		- If yes, print the triangle type.</a:t>
            </a:r>
            <a:br>
              <a:rPr lang="en-US" sz="2000" dirty="0" smtClean="0"/>
            </a:br>
            <a:r>
              <a:rPr lang="en-US" sz="2000" dirty="0" smtClean="0"/>
              <a:t>	(normal, right, isosceles, right-isosceles, equilateral).</a:t>
            </a:r>
          </a:p>
          <a:p>
            <a:pPr>
              <a:buNone/>
            </a:pPr>
            <a:r>
              <a:rPr lang="en-US" sz="2000" i="1" dirty="0" smtClean="0"/>
              <a:t>	Input format:</a:t>
            </a:r>
          </a:p>
          <a:p>
            <a:pPr>
              <a:buNone/>
            </a:pPr>
            <a:r>
              <a:rPr lang="en-US" sz="2000" i="1" dirty="0" smtClean="0"/>
              <a:t>		Enter 3 positive real numbers = 3  4  5</a:t>
            </a:r>
          </a:p>
          <a:p>
            <a:pPr>
              <a:buNone/>
            </a:pPr>
            <a:r>
              <a:rPr lang="en-US" sz="2000" i="1" dirty="0" smtClean="0"/>
              <a:t>	Output format (can form a triangle):</a:t>
            </a:r>
          </a:p>
          <a:p>
            <a:pPr>
              <a:buNone/>
            </a:pPr>
            <a:r>
              <a:rPr lang="en-US" sz="2000" i="1" dirty="0" smtClean="0"/>
              <a:t>		Can form a triangle.</a:t>
            </a:r>
          </a:p>
          <a:p>
            <a:pPr>
              <a:buNone/>
            </a:pPr>
            <a:r>
              <a:rPr lang="en-US" sz="2000" i="1" dirty="0" smtClean="0"/>
              <a:t>		Right triangle.</a:t>
            </a:r>
          </a:p>
          <a:p>
            <a:pPr>
              <a:buNone/>
            </a:pPr>
            <a:r>
              <a:rPr lang="en-US" sz="2000" i="1" dirty="0" smtClean="0"/>
              <a:t>	Output format (cannot form a triangle):</a:t>
            </a:r>
          </a:p>
          <a:p>
            <a:pPr>
              <a:buNone/>
            </a:pPr>
            <a:r>
              <a:rPr lang="en-US" sz="2000" i="1" dirty="0" smtClean="0"/>
              <a:t>		Cannot form a triangle!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5A8E62-1A30-4C97-A711-06E835BB7495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Practice 4.4:</a:t>
            </a:r>
          </a:p>
          <a:p>
            <a:pPr>
              <a:buNone/>
            </a:pPr>
            <a:r>
              <a:rPr lang="en-US" sz="2000" dirty="0" smtClean="0"/>
              <a:t>	Write C/C++ program to simulate a menu as follow:</a:t>
            </a:r>
          </a:p>
          <a:p>
            <a:pPr>
              <a:buNone/>
            </a:pPr>
            <a:r>
              <a:rPr lang="en-US" sz="2000" dirty="0" smtClean="0"/>
              <a:t>	(organize in functions and multiple-file project):</a:t>
            </a:r>
          </a:p>
          <a:p>
            <a:pPr>
              <a:buNone/>
            </a:pPr>
            <a:r>
              <a:rPr lang="en-US" sz="2000" dirty="0" smtClean="0"/>
              <a:t>		- Print the menu:</a:t>
            </a:r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endParaRPr lang="en-US" sz="1100" dirty="0" smtClean="0"/>
          </a:p>
          <a:p>
            <a:pPr>
              <a:buNone/>
            </a:pPr>
            <a:r>
              <a:rPr lang="en-US" sz="2000" dirty="0" smtClean="0"/>
              <a:t>		- Enter an integer for your selection.</a:t>
            </a:r>
          </a:p>
          <a:p>
            <a:pPr>
              <a:buNone/>
            </a:pPr>
            <a:r>
              <a:rPr lang="en-US" sz="2000" dirty="0" smtClean="0"/>
              <a:t>		- Selection 1-3:</a:t>
            </a:r>
          </a:p>
          <a:p>
            <a:pPr>
              <a:buNone/>
            </a:pPr>
            <a:r>
              <a:rPr lang="en-US" sz="2000" dirty="0" smtClean="0"/>
              <a:t>			+ Execute the selected practice.</a:t>
            </a:r>
          </a:p>
          <a:p>
            <a:pPr>
              <a:buNone/>
            </a:pPr>
            <a:r>
              <a:rPr lang="en-US" sz="2000" dirty="0" smtClean="0"/>
              <a:t>			+ Go back to menu.</a:t>
            </a:r>
          </a:p>
          <a:p>
            <a:pPr>
              <a:buNone/>
            </a:pPr>
            <a:r>
              <a:rPr lang="en-US" sz="2000" dirty="0" smtClean="0"/>
              <a:t>		- Selection 4: exit program.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5A8E62-1A30-4C97-A711-06E835BB7495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447800" y="2890520"/>
          <a:ext cx="2743200" cy="14376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43200"/>
              </a:tblGrid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1" dirty="0" smtClean="0">
                          <a:solidFill>
                            <a:schemeClr val="tx1"/>
                          </a:solidFill>
                        </a:rPr>
                        <a:t>1. Practice 4.1.</a:t>
                      </a:r>
                    </a:p>
                    <a:p>
                      <a:pPr lvl="0">
                        <a:buNone/>
                      </a:pPr>
                      <a:r>
                        <a:rPr lang="en-US" sz="1600" b="0" i="1" dirty="0" smtClean="0">
                          <a:solidFill>
                            <a:schemeClr val="tx1"/>
                          </a:solidFill>
                        </a:rPr>
                        <a:t>2. Practice 4.2.</a:t>
                      </a:r>
                    </a:p>
                    <a:p>
                      <a:pPr lvl="0">
                        <a:buNone/>
                      </a:pPr>
                      <a:r>
                        <a:rPr lang="en-US" sz="1600" b="0" i="1" dirty="0" smtClean="0">
                          <a:solidFill>
                            <a:schemeClr val="tx1"/>
                          </a:solidFill>
                        </a:rPr>
                        <a:t>3. Practice 4.3.</a:t>
                      </a:r>
                    </a:p>
                    <a:p>
                      <a:pPr lvl="0">
                        <a:buNone/>
                      </a:pPr>
                      <a:r>
                        <a:rPr lang="en-US" sz="1600" b="0" i="1" dirty="0" smtClean="0">
                          <a:solidFill>
                            <a:schemeClr val="tx1"/>
                          </a:solidFill>
                        </a:rPr>
                        <a:t>4.</a:t>
                      </a:r>
                      <a:r>
                        <a:rPr lang="en-US" sz="1600" b="0" i="1" baseline="0" dirty="0" smtClean="0">
                          <a:solidFill>
                            <a:schemeClr val="tx1"/>
                          </a:solidFill>
                        </a:rPr>
                        <a:t> Exit.</a:t>
                      </a: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1" dirty="0" smtClean="0">
                          <a:solidFill>
                            <a:schemeClr val="tx1"/>
                          </a:solidFill>
                        </a:rPr>
                        <a:t>Selection</a:t>
                      </a:r>
                      <a:r>
                        <a:rPr lang="en-US" sz="1600" b="0" i="1" baseline="0" dirty="0" smtClean="0">
                          <a:solidFill>
                            <a:schemeClr val="tx1"/>
                          </a:solidFill>
                        </a:rPr>
                        <a:t> (1-4):</a:t>
                      </a:r>
                      <a:endParaRPr lang="en-US" sz="1600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Practice 4.5:</a:t>
            </a:r>
          </a:p>
          <a:p>
            <a:pPr>
              <a:buNone/>
            </a:pPr>
            <a:r>
              <a:rPr lang="en-US" sz="2000" dirty="0" smtClean="0"/>
              <a:t>	Write C/C++ program to operate on fractions:</a:t>
            </a:r>
          </a:p>
          <a:p>
            <a:pPr>
              <a:buNone/>
            </a:pPr>
            <a:r>
              <a:rPr lang="en-US" sz="2000" dirty="0" smtClean="0"/>
              <a:t>	(organize in functions and multiple-file project):</a:t>
            </a:r>
          </a:p>
          <a:p>
            <a:pPr>
              <a:buNone/>
            </a:pPr>
            <a:r>
              <a:rPr lang="en-US" sz="2000" dirty="0" smtClean="0"/>
              <a:t>		- Declare </a:t>
            </a:r>
            <a:r>
              <a:rPr lang="en-US" sz="2000" dirty="0" err="1" smtClean="0"/>
              <a:t>struct</a:t>
            </a:r>
            <a:r>
              <a:rPr lang="en-US" sz="2000" dirty="0" smtClean="0"/>
              <a:t> to represent a fraction.</a:t>
            </a:r>
          </a:p>
          <a:p>
            <a:pPr>
              <a:buNone/>
            </a:pPr>
            <a:r>
              <a:rPr lang="en-US" sz="2000" dirty="0" smtClean="0"/>
              <a:t>		- Enter 2 fractions.</a:t>
            </a:r>
          </a:p>
          <a:p>
            <a:pPr>
              <a:buNone/>
            </a:pPr>
            <a:r>
              <a:rPr lang="en-US" sz="2000" dirty="0" smtClean="0"/>
              <a:t>		- Perform the following operations on 2 fractions and print result:	add, multiply, inverse, reduce.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5A8E62-1A30-4C97-A711-06E835BB7495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Practice 4.6:</a:t>
            </a:r>
          </a:p>
          <a:p>
            <a:pPr>
              <a:buNone/>
            </a:pPr>
            <a:r>
              <a:rPr lang="en-US" sz="2000" dirty="0" smtClean="0"/>
              <a:t>	Write C/C++ program to operate on students:</a:t>
            </a:r>
          </a:p>
          <a:p>
            <a:pPr>
              <a:buNone/>
            </a:pPr>
            <a:r>
              <a:rPr lang="en-US" sz="2000" dirty="0" smtClean="0"/>
              <a:t>	(organize in functions and multiple-file project):</a:t>
            </a:r>
          </a:p>
          <a:p>
            <a:pPr>
              <a:buNone/>
            </a:pPr>
            <a:r>
              <a:rPr lang="en-US" sz="2000" dirty="0" smtClean="0"/>
              <a:t>		- Declare </a:t>
            </a:r>
            <a:r>
              <a:rPr lang="en-US" sz="2000" dirty="0" err="1" smtClean="0"/>
              <a:t>struct</a:t>
            </a:r>
            <a:r>
              <a:rPr lang="en-US" sz="2000" dirty="0" smtClean="0"/>
              <a:t> to represent a student (stated in the lesson).</a:t>
            </a:r>
            <a:endParaRPr lang="en-US" sz="2000" dirty="0"/>
          </a:p>
          <a:p>
            <a:pPr>
              <a:buNone/>
            </a:pPr>
            <a:r>
              <a:rPr lang="en-US" sz="2000" dirty="0" smtClean="0"/>
              <a:t>		- Enter a students.</a:t>
            </a:r>
          </a:p>
          <a:p>
            <a:pPr>
              <a:buNone/>
            </a:pPr>
            <a:r>
              <a:rPr lang="en-US" sz="2000" dirty="0" smtClean="0"/>
              <a:t>		- Print GPA and their rank:</a:t>
            </a:r>
          </a:p>
          <a:p>
            <a:pPr>
              <a:buNone/>
            </a:pPr>
            <a:r>
              <a:rPr lang="en-US" sz="2000" dirty="0" smtClean="0"/>
              <a:t>			+ Excellent: GPA &gt;= 8.5.</a:t>
            </a:r>
          </a:p>
          <a:p>
            <a:pPr>
              <a:buNone/>
            </a:pPr>
            <a:r>
              <a:rPr lang="en-US" sz="2000" dirty="0" smtClean="0"/>
              <a:t>			+ Good: GPA &gt;= 7.0.</a:t>
            </a:r>
          </a:p>
          <a:p>
            <a:pPr>
              <a:buNone/>
            </a:pPr>
            <a:r>
              <a:rPr lang="en-US" sz="2000" dirty="0" smtClean="0"/>
              <a:t>			+ Fair: GPA &gt;= 5.0.</a:t>
            </a:r>
          </a:p>
          <a:p>
            <a:pPr>
              <a:buNone/>
            </a:pPr>
            <a:r>
              <a:rPr lang="en-US" sz="2000" dirty="0" smtClean="0"/>
              <a:t>			+ Failed: GPA &lt; 5.0.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5A8E62-1A30-4C97-A711-06E835BB7495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Practice 4.7:</a:t>
            </a:r>
          </a:p>
          <a:p>
            <a:pPr>
              <a:buNone/>
            </a:pPr>
            <a:r>
              <a:rPr lang="en-US" sz="2000" dirty="0" smtClean="0"/>
              <a:t>	Write C/C++ program to operate on triangle:</a:t>
            </a:r>
          </a:p>
          <a:p>
            <a:pPr>
              <a:buNone/>
            </a:pPr>
            <a:r>
              <a:rPr lang="en-US" sz="2000" dirty="0" smtClean="0"/>
              <a:t>	(organize in functions and multiple-file project):</a:t>
            </a:r>
          </a:p>
          <a:p>
            <a:pPr>
              <a:buNone/>
            </a:pPr>
            <a:r>
              <a:rPr lang="en-US" sz="2000" dirty="0" smtClean="0"/>
              <a:t>		- Declare </a:t>
            </a:r>
            <a:r>
              <a:rPr lang="en-US" sz="2000" dirty="0" err="1" smtClean="0"/>
              <a:t>structs</a:t>
            </a:r>
            <a:r>
              <a:rPr lang="en-US" sz="2000" dirty="0" smtClean="0"/>
              <a:t> to represent point (x, y) and triangle (3 points).</a:t>
            </a:r>
            <a:endParaRPr lang="en-US" sz="2000" dirty="0"/>
          </a:p>
          <a:p>
            <a:pPr>
              <a:buNone/>
            </a:pPr>
            <a:r>
              <a:rPr lang="en-US" sz="2000" dirty="0" smtClean="0"/>
              <a:t>		- Enter information of a triangle.</a:t>
            </a:r>
          </a:p>
          <a:p>
            <a:pPr>
              <a:buNone/>
            </a:pPr>
            <a:r>
              <a:rPr lang="en-US" sz="2000" dirty="0" smtClean="0"/>
              <a:t>		- Compute and print triangle perimeter.</a:t>
            </a:r>
          </a:p>
          <a:p>
            <a:pPr>
              <a:buNone/>
            </a:pPr>
            <a:r>
              <a:rPr lang="en-US" sz="2000" dirty="0" smtClean="0"/>
              <a:t>		- Find and print triangle </a:t>
            </a:r>
            <a:r>
              <a:rPr lang="en-US" sz="2000" dirty="0" err="1" smtClean="0"/>
              <a:t>centroid</a:t>
            </a:r>
            <a:r>
              <a:rPr lang="en-US" sz="2000" dirty="0" smtClean="0"/>
              <a:t>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5A8E62-1A30-4C97-A711-06E835BB7495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Practice 4.8:</a:t>
            </a:r>
          </a:p>
          <a:p>
            <a:pPr>
              <a:buNone/>
            </a:pPr>
            <a:r>
              <a:rPr lang="en-US" sz="2000" dirty="0" smtClean="0"/>
              <a:t>	Write C/C++ program to operate on date:</a:t>
            </a:r>
          </a:p>
          <a:p>
            <a:pPr>
              <a:buNone/>
            </a:pPr>
            <a:r>
              <a:rPr lang="en-US" sz="2000" dirty="0" smtClean="0"/>
              <a:t>	(organize in functions and multiple-file project):</a:t>
            </a:r>
          </a:p>
          <a:p>
            <a:pPr>
              <a:buNone/>
            </a:pPr>
            <a:r>
              <a:rPr lang="en-US" sz="2000" dirty="0" smtClean="0"/>
              <a:t>		- Declare </a:t>
            </a:r>
            <a:r>
              <a:rPr lang="en-US" sz="2000" dirty="0" err="1" smtClean="0"/>
              <a:t>struct</a:t>
            </a:r>
            <a:r>
              <a:rPr lang="en-US" sz="2000" dirty="0" smtClean="0"/>
              <a:t> to represent date (day, month, year).</a:t>
            </a:r>
            <a:endParaRPr lang="en-US" sz="2000" dirty="0"/>
          </a:p>
          <a:p>
            <a:pPr>
              <a:buNone/>
            </a:pPr>
            <a:r>
              <a:rPr lang="en-US" sz="2000" dirty="0" smtClean="0"/>
              <a:t>		- Enter two date d1 and d2.</a:t>
            </a:r>
          </a:p>
          <a:p>
            <a:pPr>
              <a:buNone/>
            </a:pPr>
            <a:r>
              <a:rPr lang="en-US" sz="2000" dirty="0" smtClean="0"/>
              <a:t>		- Check if d1 is latest than d2 and print result.</a:t>
            </a:r>
          </a:p>
          <a:p>
            <a:pPr>
              <a:buNone/>
            </a:pPr>
            <a:r>
              <a:rPr lang="en-US" sz="2000" dirty="0" smtClean="0"/>
              <a:t>		- Print tomorrow date of d1.</a:t>
            </a:r>
          </a:p>
          <a:p>
            <a:pPr>
              <a:buNone/>
            </a:pPr>
            <a:r>
              <a:rPr lang="en-US" sz="2000" dirty="0" smtClean="0"/>
              <a:t>		- Print yesterday date of d2.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5A8E62-1A30-4C97-A711-06E835BB7495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Practice 4.9 (*):</a:t>
            </a:r>
          </a:p>
          <a:p>
            <a:pPr>
              <a:buNone/>
            </a:pPr>
            <a:r>
              <a:rPr lang="en-US" sz="2000" dirty="0" smtClean="0"/>
              <a:t>	Write compile command for the following projects:</a:t>
            </a:r>
          </a:p>
          <a:p>
            <a:pPr>
              <a:buNone/>
            </a:pPr>
            <a:endParaRPr lang="en-US" sz="20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5A8E62-1A30-4C97-A711-06E835BB7495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04800" y="2209800"/>
          <a:ext cx="85344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800"/>
                <a:gridCol w="2844800"/>
                <a:gridCol w="2844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Simple project</a:t>
                      </a:r>
                    </a:p>
                    <a:p>
                      <a:r>
                        <a:rPr lang="en-US" dirty="0" smtClean="0"/>
                        <a:t>with multiple folders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Simple project</a:t>
                      </a:r>
                    </a:p>
                    <a:p>
                      <a:r>
                        <a:rPr lang="en-US" dirty="0" smtClean="0"/>
                        <a:t>with external libraries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Complex project</a:t>
                      </a:r>
                      <a:endParaRPr lang="en-US" baseline="0" dirty="0" smtClean="0"/>
                    </a:p>
                    <a:p>
                      <a:r>
                        <a:rPr lang="en-US" baseline="0" dirty="0" smtClean="0"/>
                        <a:t>project 1 uses project 2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project/</a:t>
                      </a:r>
                    </a:p>
                    <a:p>
                      <a:r>
                        <a:rPr lang="en-US" dirty="0" smtClean="0"/>
                        <a:t>     bin/</a:t>
                      </a:r>
                    </a:p>
                    <a:p>
                      <a:r>
                        <a:rPr lang="en-US" dirty="0" smtClean="0"/>
                        <a:t>     </a:t>
                      </a:r>
                      <a:r>
                        <a:rPr lang="en-US" dirty="0" err="1" smtClean="0"/>
                        <a:t>src</a:t>
                      </a:r>
                      <a:r>
                        <a:rPr lang="en-US" dirty="0" smtClean="0"/>
                        <a:t>/</a:t>
                      </a:r>
                    </a:p>
                    <a:p>
                      <a:r>
                        <a:rPr lang="en-US" dirty="0" smtClean="0"/>
                        <a:t>          subfolder/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project/</a:t>
                      </a:r>
                    </a:p>
                    <a:p>
                      <a:r>
                        <a:rPr lang="en-US" dirty="0" smtClean="0"/>
                        <a:t>     bin/</a:t>
                      </a:r>
                    </a:p>
                    <a:p>
                      <a:r>
                        <a:rPr lang="en-US" dirty="0" smtClean="0"/>
                        <a:t>     lib/</a:t>
                      </a:r>
                    </a:p>
                    <a:p>
                      <a:r>
                        <a:rPr lang="en-US" dirty="0" smtClean="0"/>
                        <a:t>          </a:t>
                      </a:r>
                      <a:r>
                        <a:rPr lang="en-US" dirty="0" err="1" smtClean="0"/>
                        <a:t>libA</a:t>
                      </a:r>
                      <a:r>
                        <a:rPr lang="en-US" dirty="0" smtClean="0"/>
                        <a:t>/</a:t>
                      </a:r>
                    </a:p>
                    <a:p>
                      <a:r>
                        <a:rPr lang="en-US" baseline="0" dirty="0" smtClean="0"/>
                        <a:t>          </a:t>
                      </a:r>
                      <a:r>
                        <a:rPr lang="en-US" baseline="0" dirty="0" err="1" smtClean="0"/>
                        <a:t>libB</a:t>
                      </a:r>
                      <a:r>
                        <a:rPr lang="en-US" baseline="0" dirty="0" smtClean="0"/>
                        <a:t>/</a:t>
                      </a:r>
                      <a:endParaRPr lang="en-US" dirty="0" smtClean="0"/>
                    </a:p>
                    <a:p>
                      <a:r>
                        <a:rPr lang="en-US" dirty="0" smtClean="0"/>
                        <a:t>     </a:t>
                      </a:r>
                      <a:r>
                        <a:rPr lang="en-US" dirty="0" err="1" smtClean="0"/>
                        <a:t>src</a:t>
                      </a:r>
                      <a:r>
                        <a:rPr lang="en-US" dirty="0" smtClean="0"/>
                        <a:t>/</a:t>
                      </a:r>
                    </a:p>
                    <a:p>
                      <a:r>
                        <a:rPr lang="en-US" dirty="0" smtClean="0"/>
                        <a:t>          subfolder/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project/</a:t>
                      </a:r>
                    </a:p>
                    <a:p>
                      <a:r>
                        <a:rPr lang="en-US" dirty="0" smtClean="0"/>
                        <a:t>     lib/</a:t>
                      </a:r>
                    </a:p>
                    <a:p>
                      <a:r>
                        <a:rPr lang="en-US" dirty="0" smtClean="0"/>
                        <a:t>          </a:t>
                      </a:r>
                      <a:r>
                        <a:rPr lang="en-US" dirty="0" err="1" smtClean="0"/>
                        <a:t>libA</a:t>
                      </a:r>
                      <a:r>
                        <a:rPr lang="en-US" dirty="0" smtClean="0"/>
                        <a:t>/</a:t>
                      </a:r>
                    </a:p>
                    <a:p>
                      <a:r>
                        <a:rPr lang="en-US" dirty="0" smtClean="0"/>
                        <a:t>          </a:t>
                      </a:r>
                      <a:r>
                        <a:rPr lang="en-US" dirty="0" err="1" smtClean="0"/>
                        <a:t>libB</a:t>
                      </a:r>
                      <a:r>
                        <a:rPr lang="en-US" dirty="0" smtClean="0"/>
                        <a:t>/</a:t>
                      </a:r>
                    </a:p>
                    <a:p>
                      <a:r>
                        <a:rPr lang="en-US" dirty="0" smtClean="0"/>
                        <a:t>     subproject1/</a:t>
                      </a:r>
                    </a:p>
                    <a:p>
                      <a:r>
                        <a:rPr lang="en-US" dirty="0" smtClean="0"/>
                        <a:t>      </a:t>
                      </a:r>
                      <a:r>
                        <a:rPr lang="en-US" baseline="0" dirty="0" smtClean="0"/>
                        <a:t>    bin/</a:t>
                      </a:r>
                      <a:endParaRPr lang="en-US" dirty="0" smtClean="0"/>
                    </a:p>
                    <a:p>
                      <a:r>
                        <a:rPr lang="en-US" dirty="0" smtClean="0"/>
                        <a:t>          </a:t>
                      </a:r>
                      <a:r>
                        <a:rPr lang="en-US" dirty="0" err="1" smtClean="0"/>
                        <a:t>src</a:t>
                      </a:r>
                      <a:r>
                        <a:rPr lang="en-US" dirty="0" smtClean="0"/>
                        <a:t>/</a:t>
                      </a:r>
                    </a:p>
                    <a:p>
                      <a:r>
                        <a:rPr lang="en-US" dirty="0" smtClean="0"/>
                        <a:t>               subfolder1/</a:t>
                      </a:r>
                    </a:p>
                    <a:p>
                      <a:r>
                        <a:rPr lang="en-US" dirty="0" smtClean="0"/>
                        <a:t>     subproject2/</a:t>
                      </a:r>
                    </a:p>
                    <a:p>
                      <a:r>
                        <a:rPr lang="en-US" dirty="0" smtClean="0"/>
                        <a:t>          bin/</a:t>
                      </a:r>
                    </a:p>
                    <a:p>
                      <a:r>
                        <a:rPr lang="en-US" dirty="0" smtClean="0"/>
                        <a:t>          </a:t>
                      </a:r>
                      <a:r>
                        <a:rPr lang="en-US" dirty="0" err="1" smtClean="0"/>
                        <a:t>src</a:t>
                      </a:r>
                      <a:r>
                        <a:rPr lang="en-US" dirty="0" smtClean="0"/>
                        <a:t>/</a:t>
                      </a:r>
                    </a:p>
                    <a:p>
                      <a:r>
                        <a:rPr lang="en-US" smtClean="0"/>
                        <a:t>               </a:t>
                      </a:r>
                      <a:r>
                        <a:rPr lang="en-US" dirty="0" smtClean="0"/>
                        <a:t>subfolder2/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tream">
  <a:themeElements>
    <a:clrScheme name="Stream 1">
      <a:dk1>
        <a:srgbClr val="000514"/>
      </a:dk1>
      <a:lt1>
        <a:srgbClr val="FFFFFF"/>
      </a:lt1>
      <a:dk2>
        <a:srgbClr val="003399"/>
      </a:dk2>
      <a:lt2>
        <a:srgbClr val="E5E5FF"/>
      </a:lt2>
      <a:accent1>
        <a:srgbClr val="0099CC"/>
      </a:accent1>
      <a:accent2>
        <a:srgbClr val="A886E0"/>
      </a:accent2>
      <a:accent3>
        <a:srgbClr val="AAADCA"/>
      </a:accent3>
      <a:accent4>
        <a:srgbClr val="DADADA"/>
      </a:accent4>
      <a:accent5>
        <a:srgbClr val="AACAE2"/>
      </a:accent5>
      <a:accent6>
        <a:srgbClr val="9879CB"/>
      </a:accent6>
      <a:hlink>
        <a:srgbClr val="FFCC00"/>
      </a:hlink>
      <a:folHlink>
        <a:srgbClr val="FFFFCC"/>
      </a:folHlink>
    </a:clrScheme>
    <a:fontScheme name="Stream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1143000" marR="0" indent="-2286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tx2"/>
          </a:buClr>
          <a:buSzPct val="70000"/>
          <a:buFont typeface="Wingdings" pitchFamily="2" charset="2"/>
          <a:buChar char="n"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1143000" marR="0" indent="-2286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tx2"/>
          </a:buClr>
          <a:buSzPct val="70000"/>
          <a:buFont typeface="Wingdings" pitchFamily="2" charset="2"/>
          <a:buChar char="n"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Stream 1">
        <a:dk1>
          <a:srgbClr val="000514"/>
        </a:dk1>
        <a:lt1>
          <a:srgbClr val="FFFFFF"/>
        </a:lt1>
        <a:dk2>
          <a:srgbClr val="003399"/>
        </a:dk2>
        <a:lt2>
          <a:srgbClr val="E5E5FF"/>
        </a:lt2>
        <a:accent1>
          <a:srgbClr val="0099CC"/>
        </a:accent1>
        <a:accent2>
          <a:srgbClr val="A886E0"/>
        </a:accent2>
        <a:accent3>
          <a:srgbClr val="AAADCA"/>
        </a:accent3>
        <a:accent4>
          <a:srgbClr val="DADADA"/>
        </a:accent4>
        <a:accent5>
          <a:srgbClr val="AACAE2"/>
        </a:accent5>
        <a:accent6>
          <a:srgbClr val="9879CB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2">
        <a:dk1>
          <a:srgbClr val="3E3E5C"/>
        </a:dk1>
        <a:lt1>
          <a:srgbClr val="FFFFFF"/>
        </a:lt1>
        <a:dk2>
          <a:srgbClr val="666699"/>
        </a:dk2>
        <a:lt2>
          <a:srgbClr val="DFDFE9"/>
        </a:lt2>
        <a:accent1>
          <a:srgbClr val="CC66FF"/>
        </a:accent1>
        <a:accent2>
          <a:srgbClr val="679ACD"/>
        </a:accent2>
        <a:accent3>
          <a:srgbClr val="B8B8CA"/>
        </a:accent3>
        <a:accent4>
          <a:srgbClr val="DADADA"/>
        </a:accent4>
        <a:accent5>
          <a:srgbClr val="E2B8FF"/>
        </a:accent5>
        <a:accent6>
          <a:srgbClr val="5D8BBA"/>
        </a:accent6>
        <a:hlink>
          <a:srgbClr val="CCEC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3">
        <a:dk1>
          <a:srgbClr val="2A5400"/>
        </a:dk1>
        <a:lt1>
          <a:srgbClr val="FFFFFF"/>
        </a:lt1>
        <a:dk2>
          <a:srgbClr val="4A9400"/>
        </a:dk2>
        <a:lt2>
          <a:srgbClr val="BAE8BA"/>
        </a:lt2>
        <a:accent1>
          <a:srgbClr val="33CC33"/>
        </a:accent1>
        <a:accent2>
          <a:srgbClr val="99CC00"/>
        </a:accent2>
        <a:accent3>
          <a:srgbClr val="B1C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99FF33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4">
        <a:dk1>
          <a:srgbClr val="000000"/>
        </a:dk1>
        <a:lt1>
          <a:srgbClr val="FFFFFF"/>
        </a:lt1>
        <a:dk2>
          <a:srgbClr val="51596D"/>
        </a:dk2>
        <a:lt2>
          <a:srgbClr val="DDDDDD"/>
        </a:lt2>
        <a:accent1>
          <a:srgbClr val="787E8A"/>
        </a:accent1>
        <a:accent2>
          <a:srgbClr val="339966"/>
        </a:accent2>
        <a:accent3>
          <a:srgbClr val="B3B5BA"/>
        </a:accent3>
        <a:accent4>
          <a:srgbClr val="DADADA"/>
        </a:accent4>
        <a:accent5>
          <a:srgbClr val="BEC0C4"/>
        </a:accent5>
        <a:accent6>
          <a:srgbClr val="2D8A5C"/>
        </a:accent6>
        <a:hlink>
          <a:srgbClr val="00FFFF"/>
        </a:hlink>
        <a:folHlink>
          <a:srgbClr val="74B6D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5">
        <a:dk1>
          <a:srgbClr val="5C1F00"/>
        </a:dk1>
        <a:lt1>
          <a:srgbClr val="FFFFFF"/>
        </a:lt1>
        <a:dk2>
          <a:srgbClr val="8C0000"/>
        </a:dk2>
        <a:lt2>
          <a:srgbClr val="DFD293"/>
        </a:lt2>
        <a:accent1>
          <a:srgbClr val="FF6845"/>
        </a:accent1>
        <a:accent2>
          <a:srgbClr val="BE7960"/>
        </a:accent2>
        <a:accent3>
          <a:srgbClr val="C5AAAA"/>
        </a:accent3>
        <a:accent4>
          <a:srgbClr val="DADADA"/>
        </a:accent4>
        <a:accent5>
          <a:srgbClr val="FFB9B0"/>
        </a:accent5>
        <a:accent6>
          <a:srgbClr val="AC6D56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6">
        <a:dk1>
          <a:srgbClr val="5E4444"/>
        </a:dk1>
        <a:lt1>
          <a:srgbClr val="F7F3F3"/>
        </a:lt1>
        <a:dk2>
          <a:srgbClr val="8A6362"/>
        </a:dk2>
        <a:lt2>
          <a:srgbClr val="D8C1BA"/>
        </a:lt2>
        <a:accent1>
          <a:srgbClr val="CC6600"/>
        </a:accent1>
        <a:accent2>
          <a:srgbClr val="C16059"/>
        </a:accent2>
        <a:accent3>
          <a:srgbClr val="C4B7B7"/>
        </a:accent3>
        <a:accent4>
          <a:srgbClr val="D3D0D0"/>
        </a:accent4>
        <a:accent5>
          <a:srgbClr val="E2B8AA"/>
        </a:accent5>
        <a:accent6>
          <a:srgbClr val="AF5650"/>
        </a:accent6>
        <a:hlink>
          <a:srgbClr val="FFCC00"/>
        </a:hlink>
        <a:folHlink>
          <a:srgbClr val="CBB55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7">
        <a:dk1>
          <a:srgbClr val="7F6737"/>
        </a:dk1>
        <a:lt1>
          <a:srgbClr val="FFFFFF"/>
        </a:lt1>
        <a:dk2>
          <a:srgbClr val="BFA673"/>
        </a:dk2>
        <a:lt2>
          <a:srgbClr val="E6E3AA"/>
        </a:lt2>
        <a:accent1>
          <a:srgbClr val="FFCC00"/>
        </a:accent1>
        <a:accent2>
          <a:srgbClr val="808000"/>
        </a:accent2>
        <a:accent3>
          <a:srgbClr val="DCD0BC"/>
        </a:accent3>
        <a:accent4>
          <a:srgbClr val="DADADA"/>
        </a:accent4>
        <a:accent5>
          <a:srgbClr val="FFE2AA"/>
        </a:accent5>
        <a:accent6>
          <a:srgbClr val="737300"/>
        </a:accent6>
        <a:hlink>
          <a:srgbClr val="784700"/>
        </a:hlink>
        <a:folHlink>
          <a:srgbClr val="9A7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8">
        <a:dk1>
          <a:srgbClr val="4B2500"/>
        </a:dk1>
        <a:lt1>
          <a:srgbClr val="F9F0D3"/>
        </a:lt1>
        <a:dk2>
          <a:srgbClr val="A69564"/>
        </a:dk2>
        <a:lt2>
          <a:srgbClr val="EFDEAF"/>
        </a:lt2>
        <a:accent1>
          <a:srgbClr val="FFFFE3"/>
        </a:accent1>
        <a:accent2>
          <a:srgbClr val="BFBFA7"/>
        </a:accent2>
        <a:accent3>
          <a:srgbClr val="FBF6E6"/>
        </a:accent3>
        <a:accent4>
          <a:srgbClr val="3F1E00"/>
        </a:accent4>
        <a:accent5>
          <a:srgbClr val="FFFFEF"/>
        </a:accent5>
        <a:accent6>
          <a:srgbClr val="ADAD97"/>
        </a:accent6>
        <a:hlink>
          <a:srgbClr val="7B6D47"/>
        </a:hlink>
        <a:folHlink>
          <a:srgbClr val="A99D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eam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EC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2D2D8A"/>
        </a:accent6>
        <a:hlink>
          <a:srgbClr val="6600FF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Stream</Template>
  <TotalTime>23462</TotalTime>
  <Words>1328</Words>
  <Application>Microsoft Office PowerPoint</Application>
  <PresentationFormat>On-screen Show (4:3)</PresentationFormat>
  <Paragraphs>529</Paragraphs>
  <Slides>38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39" baseType="lpstr">
      <vt:lpstr>Stream</vt:lpstr>
      <vt:lpstr>Function and struct</vt:lpstr>
      <vt:lpstr>Contents</vt:lpstr>
      <vt:lpstr>Function</vt:lpstr>
      <vt:lpstr>Function</vt:lpstr>
      <vt:lpstr>Function</vt:lpstr>
      <vt:lpstr>Function</vt:lpstr>
      <vt:lpstr>Function</vt:lpstr>
      <vt:lpstr>Function</vt:lpstr>
      <vt:lpstr>Function</vt:lpstr>
      <vt:lpstr>Function</vt:lpstr>
      <vt:lpstr>Function</vt:lpstr>
      <vt:lpstr>Function</vt:lpstr>
      <vt:lpstr>Contents</vt:lpstr>
      <vt:lpstr>Multiple-file project</vt:lpstr>
      <vt:lpstr>Multiple-file project</vt:lpstr>
      <vt:lpstr>Multiple-file project</vt:lpstr>
      <vt:lpstr>Multiple-file project</vt:lpstr>
      <vt:lpstr>Multiple-file project</vt:lpstr>
      <vt:lpstr>Multiple-file project</vt:lpstr>
      <vt:lpstr>Multiple-file project</vt:lpstr>
      <vt:lpstr>Contents</vt:lpstr>
      <vt:lpstr>struct</vt:lpstr>
      <vt:lpstr>struct</vt:lpstr>
      <vt:lpstr>struct</vt:lpstr>
      <vt:lpstr>struct</vt:lpstr>
      <vt:lpstr>struct</vt:lpstr>
      <vt:lpstr>struct</vt:lpstr>
      <vt:lpstr>Summary</vt:lpstr>
      <vt:lpstr>Summary</vt:lpstr>
      <vt:lpstr>Practice</vt:lpstr>
      <vt:lpstr>Practice</vt:lpstr>
      <vt:lpstr>Practice</vt:lpstr>
      <vt:lpstr>Practice</vt:lpstr>
      <vt:lpstr>Practice</vt:lpstr>
      <vt:lpstr>Practice</vt:lpstr>
      <vt:lpstr>Practice</vt:lpstr>
      <vt:lpstr>Practice</vt:lpstr>
      <vt:lpstr>Practice</vt:lpstr>
    </vt:vector>
  </TitlesOfParts>
  <Company>HCMC University of Natural Sciences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Các nguyên</dc:title>
  <dc:creator>Nguyen Minh Huy</dc:creator>
  <cp:lastModifiedBy>TchyA</cp:lastModifiedBy>
  <cp:revision>1209</cp:revision>
  <dcterms:created xsi:type="dcterms:W3CDTF">2005-11-21T10:16:26Z</dcterms:created>
  <dcterms:modified xsi:type="dcterms:W3CDTF">2024-09-03T08:16:59Z</dcterms:modified>
</cp:coreProperties>
</file>