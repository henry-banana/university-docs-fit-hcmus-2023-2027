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2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Linked List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Linked List Concepts.</a:t>
            </a:r>
          </a:p>
          <a:p>
            <a:r>
              <a:rPr lang="en-US" dirty="0" smtClean="0"/>
              <a:t>Linked List Operations.</a:t>
            </a:r>
          </a:p>
          <a:p>
            <a:r>
              <a:rPr lang="en-US" dirty="0" smtClean="0"/>
              <a:t>Linked List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Linked List Concepts.</a:t>
            </a:r>
          </a:p>
          <a:p>
            <a:r>
              <a:rPr lang="en-US" dirty="0" smtClean="0"/>
              <a:t>Linked List Operations.</a:t>
            </a:r>
          </a:p>
          <a:p>
            <a:r>
              <a:rPr lang="en-US" dirty="0" smtClean="0"/>
              <a:t>Linked List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Limitations of Array:</a:t>
            </a:r>
          </a:p>
          <a:p>
            <a:pPr lvl="1"/>
            <a:r>
              <a:rPr lang="en-US" dirty="0" smtClean="0"/>
              <a:t>Characteristics:</a:t>
            </a:r>
          </a:p>
          <a:p>
            <a:pPr lvl="2"/>
            <a:r>
              <a:rPr lang="en-US" dirty="0" smtClean="0"/>
              <a:t>Continuous memory storage.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r>
              <a:rPr lang="en-US" dirty="0" smtClean="0"/>
              <a:t>Advantages:</a:t>
            </a:r>
          </a:p>
          <a:p>
            <a:pPr lvl="2"/>
            <a:r>
              <a:rPr lang="en-US" dirty="0" smtClean="0"/>
              <a:t>Random element access by indexing.</a:t>
            </a:r>
          </a:p>
          <a:p>
            <a:pPr lvl="2"/>
            <a:r>
              <a:rPr lang="en-US" dirty="0" smtClean="0"/>
              <a:t>Very efficient for fix-sized storage.</a:t>
            </a:r>
          </a:p>
          <a:p>
            <a:pPr lvl="1"/>
            <a:r>
              <a:rPr lang="en-US" dirty="0" smtClean="0"/>
              <a:t>Disadvantages:</a:t>
            </a:r>
          </a:p>
          <a:p>
            <a:pPr lvl="2"/>
            <a:r>
              <a:rPr lang="en-US" dirty="0" smtClean="0"/>
              <a:t>Resize array requires memory reallocation.</a:t>
            </a:r>
          </a:p>
          <a:p>
            <a:pPr lvl="2"/>
            <a:r>
              <a:rPr lang="en-US" dirty="0" smtClean="0"/>
              <a:t>Add or remove element need element shifted.</a:t>
            </a:r>
          </a:p>
          <a:p>
            <a:pPr lvl="2"/>
            <a:r>
              <a:rPr lang="en-US" dirty="0" smtClean="0"/>
              <a:t>Allocate large continuous memory is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2590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2971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352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3733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09800" y="2819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114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4495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4876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257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514600" y="2450068"/>
            <a:ext cx="403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a</a:t>
            </a:r>
            <a:r>
              <a:rPr lang="en-US" sz="1800" baseline="-250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5638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60198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/>
      <p:bldP spid="6" grpId="0" animBg="1"/>
      <p:bldP spid="7" grpId="0" animBg="1"/>
      <p:bldP spid="8" grpId="0" animBg="1"/>
      <p:bldP spid="9" grpId="0" animBg="1"/>
      <p:bldP spid="15" grpId="0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Linked list solution:</a:t>
            </a:r>
          </a:p>
          <a:p>
            <a:pPr lvl="1"/>
            <a:r>
              <a:rPr lang="en-US" dirty="0" smtClean="0"/>
              <a:t>Locker renting problem:</a:t>
            </a:r>
          </a:p>
          <a:p>
            <a:pPr lvl="2"/>
            <a:r>
              <a:rPr lang="en-US" dirty="0" smtClean="0"/>
              <a:t>Need to rent lockers to store N items.</a:t>
            </a:r>
          </a:p>
          <a:p>
            <a:pPr lvl="2"/>
            <a:r>
              <a:rPr lang="en-US" dirty="0" smtClean="0"/>
              <a:t>Each locker keeps only 1 item.</a:t>
            </a:r>
          </a:p>
          <a:p>
            <a:pPr lvl="1"/>
            <a:r>
              <a:rPr lang="en-US" dirty="0" smtClean="0"/>
              <a:t>Continuous solution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Array.</a:t>
            </a:r>
          </a:p>
          <a:p>
            <a:pPr lvl="1"/>
            <a:r>
              <a:rPr lang="en-US" dirty="0" err="1" smtClean="0"/>
              <a:t>Dis</a:t>
            </a:r>
            <a:r>
              <a:rPr lang="en-US" dirty="0" smtClean="0"/>
              <a:t>-continuous solution</a:t>
            </a:r>
            <a:r>
              <a:rPr lang="en-US" dirty="0" smtClean="0">
                <a:sym typeface="Wingdings" pitchFamily="2" charset="2"/>
              </a:rPr>
              <a:t>:</a:t>
            </a:r>
            <a:endParaRPr lang="en-US" dirty="0" smtClean="0"/>
          </a:p>
          <a:p>
            <a:pPr lvl="2"/>
            <a:r>
              <a:rPr lang="en-US" dirty="0" smtClean="0"/>
              <a:t>Rent N arbitrary lockers.</a:t>
            </a:r>
          </a:p>
          <a:p>
            <a:pPr lvl="2"/>
            <a:r>
              <a:rPr lang="en-US" dirty="0" smtClean="0"/>
              <a:t>Each locker keeps:</a:t>
            </a:r>
          </a:p>
          <a:p>
            <a:pPr lvl="3"/>
            <a:r>
              <a:rPr lang="en-US" dirty="0" smtClean="0"/>
              <a:t>1 items.</a:t>
            </a:r>
          </a:p>
          <a:p>
            <a:pPr lvl="3"/>
            <a:r>
              <a:rPr lang="en-US" dirty="0" smtClean="0"/>
              <a:t>Address of next locker.</a:t>
            </a:r>
          </a:p>
          <a:p>
            <a:pPr lvl="2"/>
            <a:r>
              <a:rPr lang="en-US" dirty="0" smtClean="0"/>
              <a:t>Only keep address of first locker.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239000" y="19050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800" dirty="0" smtClean="0"/>
              <a:t>Lockers</a:t>
            </a:r>
            <a:endParaRPr lang="en-US" sz="18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53200" y="2301240"/>
          <a:ext cx="2286000" cy="272796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285750"/>
                <a:gridCol w="285750"/>
                <a:gridCol w="285750"/>
                <a:gridCol w="285750"/>
                <a:gridCol w="285750"/>
                <a:gridCol w="285750"/>
                <a:gridCol w="285750"/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  <a:tr h="272796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 bwMode="auto">
          <a:xfrm>
            <a:off x="7010400" y="3810000"/>
            <a:ext cx="457200" cy="1588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7667500" y="3810000"/>
            <a:ext cx="333500" cy="1588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rot="5400000">
            <a:off x="8497094" y="4000500"/>
            <a:ext cx="381000" cy="1588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rot="10800000" flipV="1">
            <a:off x="8229600" y="4648993"/>
            <a:ext cx="457200" cy="1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229600" y="3810000"/>
            <a:ext cx="457994" cy="794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38" name="Straight Arrow Connector 37"/>
          <p:cNvCxnSpPr/>
          <p:nvPr/>
        </p:nvCxnSpPr>
        <p:spPr bwMode="auto">
          <a:xfrm>
            <a:off x="7010400" y="3810000"/>
            <a:ext cx="0" cy="152400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48" name="Straight Arrow Connector 47"/>
          <p:cNvCxnSpPr/>
          <p:nvPr/>
        </p:nvCxnSpPr>
        <p:spPr bwMode="auto">
          <a:xfrm rot="5400000">
            <a:off x="8610600" y="4571206"/>
            <a:ext cx="152400" cy="1588"/>
          </a:xfrm>
          <a:prstGeom prst="straightConnector1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35240" y="2851404"/>
          <a:ext cx="1428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  <a:gridCol w="285750"/>
                <a:gridCol w="285750"/>
                <a:gridCol w="285750"/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48272" y="3942944"/>
          <a:ext cx="285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20178" y="3670148"/>
          <a:ext cx="285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990866" y="3657600"/>
          <a:ext cx="285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563178" y="4213276"/>
          <a:ext cx="285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982762" y="4486072"/>
          <a:ext cx="285750" cy="272796"/>
        </p:xfrm>
        <a:graphic>
          <a:graphicData uri="http://schemas.openxmlformats.org/drawingml/2006/table">
            <a:tbl>
              <a:tblPr bandRow="1">
                <a:effectLst/>
                <a:tableStyleId>{3C2FFA5D-87B4-456A-9821-1D502468CF0F}</a:tableStyleId>
              </a:tblPr>
              <a:tblGrid>
                <a:gridCol w="285750"/>
              </a:tblGrid>
              <a:tr h="272796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Singly linked list:</a:t>
            </a:r>
          </a:p>
          <a:p>
            <a:pPr lvl="1"/>
            <a:r>
              <a:rPr lang="en-US" dirty="0" smtClean="0"/>
              <a:t>A discontinuous data structure.</a:t>
            </a:r>
          </a:p>
          <a:p>
            <a:pPr lvl="1"/>
            <a:r>
              <a:rPr lang="en-US" dirty="0" smtClean="0"/>
              <a:t>Element = Data + Link to next element.</a:t>
            </a:r>
          </a:p>
          <a:p>
            <a:pPr lvl="1"/>
            <a:r>
              <a:rPr lang="en-US" dirty="0" smtClean="0"/>
              <a:t>Last element link to NULL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  <a:p>
            <a:pPr lvl="1"/>
            <a:r>
              <a:rPr lang="en-US" dirty="0" smtClean="0"/>
              <a:t>Head: link to first element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C declaration:</a:t>
            </a:r>
          </a:p>
          <a:p>
            <a:pPr lvl="1">
              <a:buNone/>
            </a:pPr>
            <a:r>
              <a:rPr lang="en-US" sz="2200" dirty="0" smtClean="0"/>
              <a:t>	</a:t>
            </a:r>
            <a:r>
              <a:rPr lang="en-US" sz="1800" dirty="0" err="1" smtClean="0"/>
              <a:t>struct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Node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	data;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Node</a:t>
            </a:r>
            <a:r>
              <a:rPr lang="en-US" sz="1800" dirty="0" smtClean="0"/>
              <a:t> 	*next;</a:t>
            </a:r>
            <a:br>
              <a:rPr lang="en-US" sz="1800" dirty="0" smtClean="0"/>
            </a:br>
            <a:r>
              <a:rPr lang="en-US" sz="1800" dirty="0" smtClean="0"/>
              <a:t>};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200400" y="36576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7400" y="38100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267200" y="36576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5334000" y="36576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3810000" y="40386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876800" y="40386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5943600" y="40386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324600" y="3810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2743200" y="40386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4753584"/>
            <a:ext cx="4267200" cy="172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kern="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struct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 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List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{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Node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*head;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};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Linked List Concepts.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Linked List Operations.</a:t>
            </a:r>
          </a:p>
          <a:p>
            <a:r>
              <a:rPr lang="en-US" dirty="0" smtClean="0"/>
              <a:t>Linked List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on linked list:</a:t>
            </a:r>
          </a:p>
          <a:p>
            <a:pPr lvl="1"/>
            <a:r>
              <a:rPr lang="en-US" dirty="0" smtClean="0"/>
              <a:t>Initialize.</a:t>
            </a:r>
            <a:endParaRPr lang="en-US" sz="2200" dirty="0" smtClean="0"/>
          </a:p>
          <a:p>
            <a:pPr lvl="1"/>
            <a:r>
              <a:rPr lang="en-US" dirty="0" smtClean="0"/>
              <a:t>Check empty.</a:t>
            </a:r>
            <a:endParaRPr lang="en-US" sz="2200" dirty="0" smtClean="0"/>
          </a:p>
          <a:p>
            <a:pPr lvl="1"/>
            <a:r>
              <a:rPr lang="en-US" dirty="0" smtClean="0"/>
              <a:t>Find element.</a:t>
            </a:r>
            <a:endParaRPr lang="en-US" sz="2200" dirty="0" smtClean="0"/>
          </a:p>
          <a:p>
            <a:pPr lvl="1"/>
            <a:r>
              <a:rPr lang="en-US" dirty="0" smtClean="0"/>
              <a:t>Add element.</a:t>
            </a:r>
            <a:endParaRPr lang="en-US" sz="2200" dirty="0" smtClean="0"/>
          </a:p>
          <a:p>
            <a:pPr lvl="1"/>
            <a:r>
              <a:rPr lang="en-US" dirty="0" smtClean="0"/>
              <a:t>Remove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2766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133600" y="51054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657600" y="5334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553200" y="51054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2819400" y="5334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4114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49530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4495800" y="5334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5334000" y="5334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3200400" y="4419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Find</a:t>
            </a:r>
          </a:p>
        </p:txBody>
      </p:sp>
      <p:sp>
        <p:nvSpPr>
          <p:cNvPr id="53" name="Down Arrow 52"/>
          <p:cNvSpPr/>
          <p:nvPr/>
        </p:nvSpPr>
        <p:spPr bwMode="auto">
          <a:xfrm>
            <a:off x="3372256" y="4724400"/>
            <a:ext cx="2286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4" name="Down Arrow 53"/>
          <p:cNvSpPr/>
          <p:nvPr/>
        </p:nvSpPr>
        <p:spPr bwMode="auto">
          <a:xfrm>
            <a:off x="4591456" y="4876800"/>
            <a:ext cx="2286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5" name="AutoShape 9"/>
          <p:cNvSpPr>
            <a:spLocks noChangeArrowheads="1"/>
          </p:cNvSpPr>
          <p:nvPr/>
        </p:nvSpPr>
        <p:spPr bwMode="auto">
          <a:xfrm>
            <a:off x="57912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 bwMode="auto">
          <a:xfrm>
            <a:off x="6172200" y="5334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4343400" y="41148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5496128" y="4648200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Remove</a:t>
            </a:r>
          </a:p>
        </p:txBody>
      </p:sp>
      <p:sp>
        <p:nvSpPr>
          <p:cNvPr id="59" name="AutoShape 9"/>
          <p:cNvSpPr>
            <a:spLocks noChangeArrowheads="1"/>
          </p:cNvSpPr>
          <p:nvPr/>
        </p:nvSpPr>
        <p:spPr bwMode="auto">
          <a:xfrm>
            <a:off x="4495800" y="4419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61" name="Straight Connector 60"/>
          <p:cNvCxnSpPr/>
          <p:nvPr/>
        </p:nvCxnSpPr>
        <p:spPr bwMode="auto">
          <a:xfrm rot="5400000">
            <a:off x="5715000" y="5029200"/>
            <a:ext cx="533400" cy="533400"/>
          </a:xfrm>
          <a:prstGeom prst="line">
            <a:avLst/>
          </a:prstGeom>
          <a:noFill/>
          <a:ln w="889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/>
          <p:nvPr/>
        </p:nvCxnSpPr>
        <p:spPr bwMode="auto">
          <a:xfrm rot="16200000" flipH="1">
            <a:off x="5715000" y="5029200"/>
            <a:ext cx="533400" cy="533400"/>
          </a:xfrm>
          <a:prstGeom prst="line">
            <a:avLst/>
          </a:prstGeom>
          <a:noFill/>
          <a:ln w="889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Initialize list:</a:t>
            </a:r>
          </a:p>
          <a:p>
            <a:pPr lvl="1"/>
            <a:r>
              <a:rPr lang="en-US" dirty="0" smtClean="0"/>
              <a:t>At first, list has no element.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Check empty list:</a:t>
            </a:r>
          </a:p>
          <a:p>
            <a:pPr lvl="1"/>
            <a:r>
              <a:rPr lang="en-US" dirty="0" smtClean="0"/>
              <a:t>An empty list has no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828800" y="22860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2895600" y="2286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>
            <a:off x="2514600" y="25146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1828800" y="38862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2514600" y="41148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2895600" y="3897868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 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element:</a:t>
            </a:r>
          </a:p>
          <a:p>
            <a:pPr lvl="1"/>
            <a:r>
              <a:rPr lang="en-US" dirty="0" smtClean="0"/>
              <a:t>Find #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element.</a:t>
            </a:r>
          </a:p>
          <a:p>
            <a:pPr lvl="1"/>
            <a:r>
              <a:rPr lang="en-US" dirty="0" smtClean="0"/>
              <a:t>Find element has data x.</a:t>
            </a:r>
          </a:p>
          <a:p>
            <a:pPr lvl="1"/>
            <a:r>
              <a:rPr lang="en-US" dirty="0" smtClean="0"/>
              <a:t>Find last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2667000" y="42672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4419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733800" y="42672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867400" y="42672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3276600" y="4648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4343400" y="4648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6477000" y="4648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858000" y="4419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4" name="Straight Connector 13"/>
          <p:cNvCxnSpPr/>
          <p:nvPr/>
        </p:nvCxnSpPr>
        <p:spPr bwMode="auto">
          <a:xfrm>
            <a:off x="2209800" y="4648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4800600" y="42672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5410200" y="4648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810000" y="3440668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</a:t>
            </a:r>
            <a:r>
              <a:rPr lang="en-US" sz="16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1600" b="1" baseline="3000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</a:t>
            </a:r>
            <a:endParaRPr lang="en-US" sz="1600" b="1" baseline="30000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3962400" y="38100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648200" y="3440875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data = x</a:t>
            </a:r>
          </a:p>
        </p:txBody>
      </p:sp>
      <p:sp>
        <p:nvSpPr>
          <p:cNvPr id="20" name="Down Arrow 19"/>
          <p:cNvSpPr/>
          <p:nvPr/>
        </p:nvSpPr>
        <p:spPr bwMode="auto">
          <a:xfrm>
            <a:off x="5029200" y="3798332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715000" y="34290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last element</a:t>
            </a:r>
          </a:p>
        </p:txBody>
      </p:sp>
      <p:sp>
        <p:nvSpPr>
          <p:cNvPr id="22" name="Down Arrow 21"/>
          <p:cNvSpPr/>
          <p:nvPr/>
        </p:nvSpPr>
        <p:spPr bwMode="auto">
          <a:xfrm>
            <a:off x="6096000" y="3786457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3" grpId="0"/>
      <p:bldP spid="15" grpId="0" animBg="1"/>
      <p:bldP spid="17" grpId="0"/>
      <p:bldP spid="18" grpId="0" animBg="1"/>
      <p:bldP spid="19" grpId="0"/>
      <p:bldP spid="20" grpId="0" animBg="1"/>
      <p:bldP spid="21" grpId="0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element:</a:t>
            </a:r>
          </a:p>
          <a:p>
            <a:pPr lvl="1"/>
            <a:r>
              <a:rPr lang="en-US" dirty="0" smtClean="0"/>
              <a:t>Add head.</a:t>
            </a:r>
          </a:p>
          <a:p>
            <a:pPr lvl="1"/>
            <a:r>
              <a:rPr lang="en-US" dirty="0" smtClean="0"/>
              <a:t>Add tail.</a:t>
            </a:r>
          </a:p>
          <a:p>
            <a:pPr lvl="1"/>
            <a:r>
              <a:rPr lang="en-US" dirty="0" smtClean="0"/>
              <a:t>Add middle:</a:t>
            </a:r>
          </a:p>
          <a:p>
            <a:pPr lvl="2"/>
            <a:r>
              <a:rPr lang="en-US" dirty="0" smtClean="0"/>
              <a:t>After #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element.</a:t>
            </a:r>
          </a:p>
          <a:p>
            <a:pPr lvl="2"/>
            <a:r>
              <a:rPr lang="en-US" dirty="0" smtClean="0"/>
              <a:t>Keep order (ascending).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2133600" y="4431268"/>
            <a:ext cx="685800" cy="521732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1905000" y="41148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 head</a:t>
            </a:r>
          </a:p>
        </p:txBody>
      </p:sp>
      <p:sp>
        <p:nvSpPr>
          <p:cNvPr id="41" name="Down Arrow 40"/>
          <p:cNvSpPr/>
          <p:nvPr/>
        </p:nvSpPr>
        <p:spPr bwMode="auto">
          <a:xfrm>
            <a:off x="2286000" y="5029200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5" name="AutoShape 9"/>
          <p:cNvSpPr>
            <a:spLocks noChangeArrowheads="1"/>
          </p:cNvSpPr>
          <p:nvPr/>
        </p:nvSpPr>
        <p:spPr bwMode="auto">
          <a:xfrm>
            <a:off x="2667000" y="51054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1524000" y="52578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47" name="AutoShape 9"/>
          <p:cNvSpPr>
            <a:spLocks noChangeArrowheads="1"/>
          </p:cNvSpPr>
          <p:nvPr/>
        </p:nvSpPr>
        <p:spPr bwMode="auto">
          <a:xfrm>
            <a:off x="3733800" y="51054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5867400" y="51054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3276600" y="5486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4343400" y="5486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>
            <a:off x="6477000" y="5486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858000" y="52578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53" name="Straight Connector 52"/>
          <p:cNvCxnSpPr/>
          <p:nvPr/>
        </p:nvCxnSpPr>
        <p:spPr bwMode="auto">
          <a:xfrm>
            <a:off x="2209800" y="5486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66" name="AutoShape 9"/>
          <p:cNvSpPr>
            <a:spLocks noChangeArrowheads="1"/>
          </p:cNvSpPr>
          <p:nvPr/>
        </p:nvSpPr>
        <p:spPr bwMode="auto">
          <a:xfrm>
            <a:off x="6477000" y="4407932"/>
            <a:ext cx="685800" cy="521732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68" name="Down Arrow 67"/>
          <p:cNvSpPr/>
          <p:nvPr/>
        </p:nvSpPr>
        <p:spPr bwMode="auto">
          <a:xfrm>
            <a:off x="6629400" y="5005864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248400" y="41148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 tail</a:t>
            </a:r>
          </a:p>
        </p:txBody>
      </p:sp>
      <p:sp>
        <p:nvSpPr>
          <p:cNvPr id="74" name="AutoShape 9"/>
          <p:cNvSpPr>
            <a:spLocks noChangeArrowheads="1"/>
          </p:cNvSpPr>
          <p:nvPr/>
        </p:nvSpPr>
        <p:spPr bwMode="auto">
          <a:xfrm>
            <a:off x="4800600" y="51054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 bwMode="auto">
          <a:xfrm>
            <a:off x="5410200" y="5486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76" name="AutoShape 9"/>
          <p:cNvSpPr>
            <a:spLocks noChangeArrowheads="1"/>
          </p:cNvSpPr>
          <p:nvPr/>
        </p:nvSpPr>
        <p:spPr bwMode="auto">
          <a:xfrm>
            <a:off x="4343400" y="4407932"/>
            <a:ext cx="685800" cy="521732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77" name="Down Arrow 76"/>
          <p:cNvSpPr/>
          <p:nvPr/>
        </p:nvSpPr>
        <p:spPr bwMode="auto">
          <a:xfrm>
            <a:off x="4495800" y="5005864"/>
            <a:ext cx="304800" cy="381000"/>
          </a:xfrm>
          <a:prstGeom prst="downArrow">
            <a:avLst/>
          </a:prstGeom>
          <a:solidFill>
            <a:srgbClr val="33CC3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43000" marR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4114800" y="41148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Add middle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/>
      <p:bldP spid="41" grpId="0" animBg="1"/>
      <p:bldP spid="45" grpId="0" animBg="1"/>
      <p:bldP spid="46" grpId="0"/>
      <p:bldP spid="47" grpId="0" animBg="1"/>
      <p:bldP spid="48" grpId="0" animBg="1"/>
      <p:bldP spid="52" grpId="0"/>
      <p:bldP spid="66" grpId="0" animBg="1"/>
      <p:bldP spid="68" grpId="0" animBg="1"/>
      <p:bldP spid="69" grpId="0"/>
      <p:bldP spid="74" grpId="0" animBg="1"/>
      <p:bldP spid="76" grpId="0" animBg="1"/>
      <p:bldP spid="77" grpId="0" animBg="1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Remove element:</a:t>
            </a:r>
          </a:p>
          <a:p>
            <a:pPr lvl="1"/>
            <a:r>
              <a:rPr lang="en-US" dirty="0" smtClean="0"/>
              <a:t>Remove head.</a:t>
            </a:r>
          </a:p>
          <a:p>
            <a:pPr lvl="1"/>
            <a:r>
              <a:rPr lang="en-US" dirty="0" smtClean="0"/>
              <a:t>Remove tail.</a:t>
            </a:r>
          </a:p>
          <a:p>
            <a:pPr lvl="1"/>
            <a:r>
              <a:rPr lang="en-US" dirty="0" smtClean="0"/>
              <a:t>Remove middle:</a:t>
            </a:r>
          </a:p>
          <a:p>
            <a:pPr lvl="2"/>
            <a:r>
              <a:rPr lang="en-US" dirty="0" smtClean="0"/>
              <a:t>#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element.</a:t>
            </a:r>
          </a:p>
          <a:p>
            <a:pPr lvl="2"/>
            <a:r>
              <a:rPr lang="en-US" dirty="0" smtClean="0"/>
              <a:t>Element has data x.</a:t>
            </a:r>
          </a:p>
          <a:p>
            <a:pPr lvl="1"/>
            <a:r>
              <a:rPr lang="en-US" dirty="0" smtClean="0"/>
              <a:t>Remove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2667000" y="4572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47244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733800" y="4572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867400" y="4572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3276600" y="4953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4343400" y="4953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6477000" y="4953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858000" y="47244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4" name="Straight Connector 13"/>
          <p:cNvCxnSpPr/>
          <p:nvPr/>
        </p:nvCxnSpPr>
        <p:spPr bwMode="auto">
          <a:xfrm>
            <a:off x="2209800" y="4953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4800600" y="4572000"/>
            <a:ext cx="685800" cy="533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5410200" y="4953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25908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25908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57912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flipH="1">
            <a:off x="57912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47244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flipH="1">
            <a:off x="4724400" y="4495800"/>
            <a:ext cx="838200" cy="685800"/>
          </a:xfrm>
          <a:prstGeom prst="line">
            <a:avLst/>
          </a:prstGeom>
          <a:noFill/>
          <a:ln w="127000" cap="flat" cmpd="sng" algn="ctr">
            <a:solidFill>
              <a:srgbClr val="FF0000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3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Linked List Concepts.</a:t>
            </a:r>
          </a:p>
          <a:p>
            <a:r>
              <a:rPr lang="en-US" dirty="0" smtClean="0"/>
              <a:t>Linked List Operations.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Linked List Improvement.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Singly linked list vs. Dynamic array: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 Efficient way to store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sequential</a:t>
            </a:r>
            <a:r>
              <a:rPr lang="en-US" sz="2000" dirty="0" smtClean="0">
                <a:sym typeface="Wingdings" pitchFamily="2" charset="2"/>
              </a:rPr>
              <a:t> and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variable-size</a:t>
            </a:r>
            <a:r>
              <a:rPr lang="en-US" sz="2000" dirty="0" smtClean="0">
                <a:sym typeface="Wingdings" pitchFamily="2" charset="2"/>
              </a:rPr>
              <a:t> data.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752600"/>
          <a:ext cx="84582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819400"/>
                <a:gridCol w="32004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Dynamic 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Singly linked List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Organization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</a:t>
                      </a:r>
                      <a:r>
                        <a:rPr lang="en-US" dirty="0" smtClean="0"/>
                        <a:t>-continuous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Require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No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Access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Random access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Sequential access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bg2"/>
                          </a:solidFill>
                        </a:rPr>
                        <a:t>Forward/Backward</a:t>
                      </a:r>
                    </a:p>
                    <a:p>
                      <a:r>
                        <a:rPr lang="en-US" b="0" dirty="0" smtClean="0">
                          <a:solidFill>
                            <a:schemeClr val="bg2"/>
                          </a:solidFill>
                        </a:rPr>
                        <a:t>Complexity:</a:t>
                      </a:r>
                      <a:r>
                        <a:rPr lang="en-US" b="0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bg2"/>
                          </a:solidFill>
                        </a:rPr>
                        <a:t>Forward</a:t>
                      </a:r>
                      <a:r>
                        <a:rPr lang="en-US" b="0" baseline="0" dirty="0" smtClean="0">
                          <a:solidFill>
                            <a:schemeClr val="bg2"/>
                          </a:solidFill>
                        </a:rPr>
                        <a:t> only</a:t>
                      </a:r>
                    </a:p>
                    <a:p>
                      <a:r>
                        <a:rPr lang="en-US" b="0" baseline="0" dirty="0" smtClean="0">
                          <a:solidFill>
                            <a:schemeClr val="bg2"/>
                          </a:solidFill>
                        </a:rPr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 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Add/Remove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element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Memory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extra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extra memory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Cost: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8 * n bytes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Doubly linked list:</a:t>
            </a:r>
          </a:p>
          <a:p>
            <a:pPr lvl="1"/>
            <a:r>
              <a:rPr lang="en-US" dirty="0" smtClean="0"/>
              <a:t>Element = Data + Link to next + Link to previous.</a:t>
            </a:r>
          </a:p>
          <a:p>
            <a:pPr lvl="1"/>
            <a:r>
              <a:rPr lang="en-US" dirty="0" smtClean="0"/>
              <a:t>Head: forward traverse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Tail: backward traverse.</a:t>
            </a:r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endParaRPr lang="en-US" sz="3200" dirty="0" smtClean="0"/>
          </a:p>
          <a:p>
            <a:pPr lvl="1"/>
            <a:r>
              <a:rPr lang="en-US" dirty="0" smtClean="0"/>
              <a:t>C declaration:</a:t>
            </a:r>
          </a:p>
          <a:p>
            <a:pPr lvl="1">
              <a:buNone/>
            </a:pPr>
            <a:r>
              <a:rPr lang="en-US" sz="2200" dirty="0" smtClean="0"/>
              <a:t>	</a:t>
            </a:r>
            <a:r>
              <a:rPr lang="en-US" sz="1800" dirty="0" err="1" smtClean="0"/>
              <a:t>struct</a:t>
            </a:r>
            <a:r>
              <a:rPr lang="en-US" sz="1800" dirty="0" smtClean="0"/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DNode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	data;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DNode</a:t>
            </a:r>
            <a:r>
              <a:rPr lang="en-US" sz="1800" dirty="0" smtClean="0"/>
              <a:t> 	*next;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DNode</a:t>
            </a:r>
            <a:r>
              <a:rPr lang="en-US" sz="1800" dirty="0" smtClean="0"/>
              <a:t>	*</a:t>
            </a:r>
            <a:r>
              <a:rPr lang="en-US" sz="1800" dirty="0" err="1" smtClean="0"/>
              <a:t>prev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};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76800" y="4448784"/>
            <a:ext cx="4267200" cy="172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kern="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struct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 </a:t>
            </a:r>
            <a:r>
              <a:rPr lang="en-US" sz="1800" b="1" kern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DList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/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{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DNode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*head;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</a:t>
            </a:r>
            <a:r>
              <a:rPr lang="en-US" sz="1800" b="1" kern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DNode</a:t>
            </a: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	*tail;</a:t>
            </a:r>
            <a:b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</a:br>
            <a:r>
              <a:rPr lang="en-US" sz="1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cs typeface="Arial"/>
              </a:rPr>
              <a:t>};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3200400" y="3124200"/>
            <a:ext cx="685800" cy="8382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</a:p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err="1" smtClean="0">
                <a:solidFill>
                  <a:srgbClr val="0000FF"/>
                </a:solidFill>
              </a:rPr>
              <a:t>prev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7400" y="327660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head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267200" y="3124200"/>
            <a:ext cx="685800" cy="8382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</a:p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err="1" smtClean="0">
                <a:solidFill>
                  <a:srgbClr val="0000FF"/>
                </a:solidFill>
              </a:rPr>
              <a:t>prev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5334000" y="3124200"/>
            <a:ext cx="685800" cy="8382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smtClean="0">
                <a:solidFill>
                  <a:srgbClr val="0000FF"/>
                </a:solidFill>
              </a:rPr>
              <a:t>data</a:t>
            </a:r>
            <a:br>
              <a:rPr lang="en-US" sz="1600" dirty="0" smtClean="0">
                <a:solidFill>
                  <a:srgbClr val="0000FF"/>
                </a:solidFill>
              </a:rPr>
            </a:br>
            <a:r>
              <a:rPr lang="en-US" sz="1600" dirty="0" smtClean="0">
                <a:solidFill>
                  <a:srgbClr val="0000FF"/>
                </a:solidFill>
              </a:rPr>
              <a:t>next</a:t>
            </a:r>
          </a:p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600" dirty="0" err="1" smtClean="0">
                <a:solidFill>
                  <a:srgbClr val="0000FF"/>
                </a:solidFill>
              </a:rPr>
              <a:t>prev</a:t>
            </a:r>
            <a:endParaRPr lang="en-US" sz="1600" dirty="0">
              <a:solidFill>
                <a:srgbClr val="0000FF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3810000" y="3505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876800" y="3505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5943600" y="3505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324600" y="3276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2743200" y="35052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477000" y="366926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tail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057400" y="3657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NULL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 rot="10800000">
            <a:off x="4953000" y="3810000"/>
            <a:ext cx="4572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 rot="10800000">
            <a:off x="3886200" y="3810000"/>
            <a:ext cx="4572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rot="10800000">
            <a:off x="2743201" y="3810000"/>
            <a:ext cx="4572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rot="10800000">
            <a:off x="6019800" y="3810001"/>
            <a:ext cx="4572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 animBg="1"/>
      <p:bldP spid="14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Doubly linked list vs. Dynamic array: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 Good for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two-directional traverse</a:t>
            </a:r>
            <a:r>
              <a:rPr lang="en-US" sz="2000" dirty="0" smtClean="0">
                <a:sym typeface="Wingdings" pitchFamily="2" charset="2"/>
              </a:rPr>
              <a:t>,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variable-size</a:t>
            </a:r>
            <a:r>
              <a:rPr lang="en-US" sz="2000" dirty="0" smtClean="0">
                <a:sym typeface="Wingdings" pitchFamily="2" charset="2"/>
              </a:rPr>
              <a:t> data.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752600"/>
          <a:ext cx="84582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819400"/>
                <a:gridCol w="32004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Dynamic</a:t>
                      </a:r>
                      <a:r>
                        <a:rPr lang="en-US" baseline="0" dirty="0" smtClean="0"/>
                        <a:t> a</a:t>
                      </a:r>
                      <a:r>
                        <a:rPr lang="en-US" dirty="0" smtClean="0"/>
                        <a:t>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Doubly linked list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Organization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</a:t>
                      </a:r>
                      <a:r>
                        <a:rPr lang="en-US" dirty="0" smtClean="0"/>
                        <a:t>-continuous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Require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No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Access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Random access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Sequential access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1" dirty="0" smtClean="0"/>
                        <a:t>Search</a:t>
                      </a:r>
                      <a:endParaRPr lang="en-US" b="0" i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Forward/Backward</a:t>
                      </a:r>
                    </a:p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Complexity:</a:t>
                      </a:r>
                      <a:r>
                        <a:rPr lang="en-US" b="0" i="1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Forward/Backward</a:t>
                      </a:r>
                      <a:endParaRPr lang="en-US" b="0" i="1" baseline="0" dirty="0" smtClean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en-US" b="0" i="1" baseline="0" dirty="0" smtClean="0">
                          <a:solidFill>
                            <a:schemeClr val="bg2"/>
                          </a:solidFill>
                        </a:rPr>
                        <a:t>Complexity: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 ( n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Add/Remove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element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i="1" dirty="0" smtClean="0"/>
                        <a:t>Memory cost</a:t>
                      </a:r>
                      <a:endParaRPr lang="en-US" b="0" i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/>
                        <a:t>No extra memory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/>
                        <a:t>Require extra</a:t>
                      </a:r>
                      <a:r>
                        <a:rPr lang="en-US" b="0" i="1" baseline="0" dirty="0" smtClean="0"/>
                        <a:t> </a:t>
                      </a:r>
                      <a:r>
                        <a:rPr lang="en-US" b="0" i="1" dirty="0" smtClean="0"/>
                        <a:t>memory</a:t>
                      </a:r>
                      <a:endParaRPr lang="en-US" b="0" i="1" baseline="0" dirty="0" smtClean="0"/>
                    </a:p>
                    <a:p>
                      <a:r>
                        <a:rPr lang="en-US" b="0" i="1" baseline="0" dirty="0" smtClean="0"/>
                        <a:t>Cost: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16 * n bytes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Skip list: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Set of singly linked lists organized in layers.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Lower layer: fine-grained nodes, slower “lane”.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Higher layer: coarse-grained nodes, faster “lane”.</a:t>
            </a:r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1034" name="Picture 10" descr="Figure 1: Perfect Skip List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3187020"/>
            <a:ext cx="6160904" cy="298518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List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Skip list vs. Ordered array: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 Efficient way to store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variable-size</a:t>
            </a:r>
            <a:r>
              <a:rPr lang="en-US" sz="2000" dirty="0" smtClean="0">
                <a:sym typeface="Wingdings" pitchFamily="2" charset="2"/>
              </a:rPr>
              <a:t> and </a:t>
            </a:r>
            <a:r>
              <a:rPr lang="en-US" sz="2000" b="1" i="1" dirty="0" smtClean="0">
                <a:solidFill>
                  <a:srgbClr val="FFC000"/>
                </a:solidFill>
                <a:sym typeface="Wingdings" pitchFamily="2" charset="2"/>
              </a:rPr>
              <a:t>ordered</a:t>
            </a:r>
            <a:r>
              <a:rPr lang="en-US" sz="2000" dirty="0" smtClean="0">
                <a:sym typeface="Wingdings" pitchFamily="2" charset="2"/>
              </a:rPr>
              <a:t> data.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752600"/>
          <a:ext cx="84582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819400"/>
                <a:gridCol w="32004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Ordered 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Skip List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Organization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</a:t>
                      </a:r>
                      <a:r>
                        <a:rPr lang="en-US" dirty="0" smtClean="0"/>
                        <a:t>-continuous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Require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No re-allocation</a:t>
                      </a:r>
                    </a:p>
                    <a:p>
                      <a:r>
                        <a:rPr lang="en-US" baseline="0" dirty="0" smtClean="0"/>
                        <a:t>Complexity: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 smtClean="0"/>
                        <a:t>Access element</a:t>
                      </a:r>
                      <a:endParaRPr lang="en-US" i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baseline="0" dirty="0" smtClean="0"/>
                        <a:t>Random access</a:t>
                      </a:r>
                    </a:p>
                    <a:p>
                      <a:r>
                        <a:rPr lang="en-US" i="1" baseline="0" dirty="0" smtClean="0"/>
                        <a:t>Complexity: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Sequential access</a:t>
                      </a:r>
                      <a:endParaRPr lang="en-US" i="1" baseline="0" dirty="0" smtClean="0"/>
                    </a:p>
                    <a:p>
                      <a:r>
                        <a:rPr lang="en-US" i="1" baseline="0" dirty="0" smtClean="0"/>
                        <a:t>Complexity: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O( log(n)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 smtClean="0"/>
                        <a:t>Binary search</a:t>
                      </a:r>
                      <a:endParaRPr lang="en-US" i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Forward/Backward</a:t>
                      </a:r>
                    </a:p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Complexity:</a:t>
                      </a:r>
                      <a:r>
                        <a:rPr lang="en-US" b="0" i="1" baseline="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O( n*log(n)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i="1" dirty="0" smtClean="0">
                          <a:solidFill>
                            <a:schemeClr val="bg2"/>
                          </a:solidFill>
                        </a:rPr>
                        <a:t>Forward</a:t>
                      </a:r>
                      <a:r>
                        <a:rPr lang="en-US" b="0" i="1" baseline="0" dirty="0" smtClean="0">
                          <a:solidFill>
                            <a:schemeClr val="bg2"/>
                          </a:solidFill>
                        </a:rPr>
                        <a:t> only</a:t>
                      </a:r>
                    </a:p>
                    <a:p>
                      <a:r>
                        <a:rPr lang="en-US" b="0" i="1" baseline="0" dirty="0" smtClean="0">
                          <a:solidFill>
                            <a:schemeClr val="bg2"/>
                          </a:solidFill>
                        </a:rPr>
                        <a:t>Complexity: </a:t>
                      </a:r>
                      <a:r>
                        <a:rPr lang="en-US" b="1" i="1" baseline="0" dirty="0" smtClean="0">
                          <a:solidFill>
                            <a:srgbClr val="FF0000"/>
                          </a:solidFill>
                        </a:rPr>
                        <a:t>O ( n*log(n) )</a:t>
                      </a:r>
                      <a:endParaRPr lang="en-US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Add/Remove 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element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O( n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shifting</a:t>
                      </a:r>
                    </a:p>
                    <a:p>
                      <a:r>
                        <a:rPr lang="en-US" dirty="0" smtClean="0"/>
                        <a:t>Complexity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O( 1 )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Memory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extra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Require extra memory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Cost: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log( n ) * 4 * n bytes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Singly linked list concepts:</a:t>
            </a:r>
          </a:p>
          <a:p>
            <a:pPr lvl="1"/>
            <a:r>
              <a:rPr lang="en-US" dirty="0" err="1" smtClean="0"/>
              <a:t>Dis</a:t>
            </a:r>
            <a:r>
              <a:rPr lang="en-US" dirty="0" smtClean="0"/>
              <a:t>-contiguous storage.</a:t>
            </a:r>
          </a:p>
          <a:p>
            <a:pPr lvl="1"/>
            <a:r>
              <a:rPr lang="en-US" dirty="0" smtClean="0"/>
              <a:t>Node = data + next.</a:t>
            </a:r>
          </a:p>
          <a:p>
            <a:pPr lvl="1"/>
            <a:r>
              <a:rPr lang="en-US" dirty="0" smtClean="0"/>
              <a:t>Last node points to NULL.</a:t>
            </a:r>
          </a:p>
          <a:p>
            <a:r>
              <a:rPr lang="en-US" dirty="0" smtClean="0"/>
              <a:t>Singly linked list operations:</a:t>
            </a:r>
          </a:p>
          <a:p>
            <a:pPr lvl="1"/>
            <a:r>
              <a:rPr lang="en-US" dirty="0" smtClean="0"/>
              <a:t>Initialize, check empty.</a:t>
            </a:r>
          </a:p>
          <a:p>
            <a:pPr lvl="1"/>
            <a:r>
              <a:rPr lang="en-US" dirty="0" smtClean="0"/>
              <a:t>Find, add, remove.</a:t>
            </a:r>
          </a:p>
          <a:p>
            <a:r>
              <a:rPr lang="en-US" dirty="0" smtClean="0"/>
              <a:t>Singly linked list improvements:</a:t>
            </a:r>
          </a:p>
          <a:p>
            <a:pPr lvl="1"/>
            <a:r>
              <a:rPr lang="en-US" dirty="0" smtClean="0"/>
              <a:t>Doubly linked list.</a:t>
            </a:r>
          </a:p>
          <a:p>
            <a:pPr lvl="1"/>
            <a:r>
              <a:rPr lang="en-US" dirty="0" smtClean="0"/>
              <a:t>Skip 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10.1:</a:t>
            </a:r>
          </a:p>
          <a:p>
            <a:pPr>
              <a:buNone/>
            </a:pPr>
            <a:r>
              <a:rPr lang="en-US" sz="2000" dirty="0" smtClean="0"/>
              <a:t>	Write C/C++ program to implement operations on Doubly linked list.</a:t>
            </a:r>
          </a:p>
          <a:p>
            <a:pPr lvl="2"/>
            <a:endParaRPr lang="en-US" sz="20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10.2:</a:t>
            </a:r>
          </a:p>
          <a:p>
            <a:pPr>
              <a:buNone/>
            </a:pPr>
            <a:r>
              <a:rPr lang="en-US" sz="2000" dirty="0" smtClean="0"/>
              <a:t>	Write C/C++ program to do the following on Singly linked list:</a:t>
            </a:r>
          </a:p>
          <a:p>
            <a:pPr lvl="2"/>
            <a:r>
              <a:rPr lang="en-US" dirty="0" smtClean="0"/>
              <a:t>Add new node (keep order</a:t>
            </a:r>
            <a:r>
              <a:rPr lang="en-US" dirty="0" smtClean="0"/>
              <a:t>).</a:t>
            </a:r>
            <a:endParaRPr lang="en-US" sz="2000" dirty="0" smtClean="0"/>
          </a:p>
          <a:p>
            <a:pPr lvl="2"/>
            <a:r>
              <a:rPr lang="en-US" sz="2000" dirty="0" smtClean="0"/>
              <a:t>Reverse </a:t>
            </a:r>
            <a:r>
              <a:rPr lang="en-US" sz="2000" dirty="0" smtClean="0"/>
              <a:t>list.</a:t>
            </a:r>
          </a:p>
          <a:p>
            <a:pPr lvl="2"/>
            <a:r>
              <a:rPr lang="en-US" dirty="0" smtClean="0"/>
              <a:t>Remove </a:t>
            </a:r>
            <a:r>
              <a:rPr lang="en-US" dirty="0" smtClean="0"/>
              <a:t>duplicated nodes (keep one node).</a:t>
            </a:r>
          </a:p>
          <a:p>
            <a:pPr lvl="2"/>
            <a:r>
              <a:rPr lang="en-US" dirty="0" smtClean="0"/>
              <a:t>Remove </a:t>
            </a:r>
            <a:r>
              <a:rPr lang="en-US" dirty="0" err="1" smtClean="0"/>
              <a:t>k</a:t>
            </a:r>
            <a:r>
              <a:rPr lang="en-US" baseline="30000" dirty="0" err="1" smtClean="0"/>
              <a:t>th</a:t>
            </a:r>
            <a:r>
              <a:rPr lang="en-US" dirty="0" smtClean="0"/>
              <a:t> node from tail</a:t>
            </a:r>
            <a:r>
              <a:rPr lang="en-US" sz="2000" dirty="0" smtClean="0"/>
              <a:t>.</a:t>
            </a:r>
          </a:p>
          <a:p>
            <a:pPr lvl="2"/>
            <a:r>
              <a:rPr lang="en-US" sz="2000" dirty="0" smtClean="0"/>
              <a:t>Check if list is symmetric.</a:t>
            </a:r>
          </a:p>
          <a:p>
            <a:pPr lvl="2"/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23415</TotalTime>
  <Words>1038</Words>
  <Application>Microsoft Office PowerPoint</Application>
  <PresentationFormat>On-screen Show (4:3)</PresentationFormat>
  <Paragraphs>349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Stream</vt:lpstr>
      <vt:lpstr>Linked List</vt:lpstr>
      <vt:lpstr>Contents</vt:lpstr>
      <vt:lpstr>Contents</vt:lpstr>
      <vt:lpstr>Linked List Concepts</vt:lpstr>
      <vt:lpstr>Linked List Concepts</vt:lpstr>
      <vt:lpstr>Linked List Concepts</vt:lpstr>
      <vt:lpstr>Contents</vt:lpstr>
      <vt:lpstr>Linked List Operations</vt:lpstr>
      <vt:lpstr>Linked List Operations</vt:lpstr>
      <vt:lpstr>Linked List Operations</vt:lpstr>
      <vt:lpstr>Linked List Operations</vt:lpstr>
      <vt:lpstr>Linked List Operations</vt:lpstr>
      <vt:lpstr>Contents</vt:lpstr>
      <vt:lpstr>Linked List Improvement</vt:lpstr>
      <vt:lpstr>Linked List Improvement</vt:lpstr>
      <vt:lpstr>Linked List Improvement</vt:lpstr>
      <vt:lpstr>Linked List Improvement</vt:lpstr>
      <vt:lpstr>Linked List Improvement</vt:lpstr>
      <vt:lpstr>Summary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1207</cp:revision>
  <dcterms:created xsi:type="dcterms:W3CDTF">2005-11-21T10:16:26Z</dcterms:created>
  <dcterms:modified xsi:type="dcterms:W3CDTF">2024-09-02T08:44:26Z</dcterms:modified>
</cp:coreProperties>
</file>