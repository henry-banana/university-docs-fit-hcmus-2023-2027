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</p:sldIdLst>
  <p:sldSz cy="5143500" cx="9144000"/>
  <p:notesSz cx="6858000" cy="9144000"/>
  <p:embeddedFontLst>
    <p:embeddedFont>
      <p:font typeface="Roboto"/>
      <p:regular r:id="rId88"/>
      <p:bold r:id="rId89"/>
      <p:italic r:id="rId90"/>
      <p:boldItalic r:id="rId9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42" Type="http://schemas.openxmlformats.org/officeDocument/2006/relationships/slide" Target="slides/slide37.xml"/><Relationship Id="rId86" Type="http://schemas.openxmlformats.org/officeDocument/2006/relationships/slide" Target="slides/slide81.xml"/><Relationship Id="rId41" Type="http://schemas.openxmlformats.org/officeDocument/2006/relationships/slide" Target="slides/slide36.xml"/><Relationship Id="rId85" Type="http://schemas.openxmlformats.org/officeDocument/2006/relationships/slide" Target="slides/slide80.xml"/><Relationship Id="rId44" Type="http://schemas.openxmlformats.org/officeDocument/2006/relationships/slide" Target="slides/slide39.xml"/><Relationship Id="rId88" Type="http://schemas.openxmlformats.org/officeDocument/2006/relationships/font" Target="fonts/Roboto-regular.fntdata"/><Relationship Id="rId43" Type="http://schemas.openxmlformats.org/officeDocument/2006/relationships/slide" Target="slides/slide38.xml"/><Relationship Id="rId87" Type="http://schemas.openxmlformats.org/officeDocument/2006/relationships/slide" Target="slides/slide8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Roboto-bold.fntdata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schemas.openxmlformats.org/officeDocument/2006/relationships/font" Target="fonts/Roboto-boldItalic.fntdata"/><Relationship Id="rId90" Type="http://schemas.openxmlformats.org/officeDocument/2006/relationships/font" Target="fonts/Roboto-italic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/>
          <p:nvPr>
            <p:ph idx="1" type="body"/>
          </p:nvPr>
        </p:nvSpPr>
        <p:spPr>
          <a:xfrm>
            <a:off x="685800" y="4400551"/>
            <a:ext cx="5486400" cy="3600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p1:notes"/>
          <p:cNvSpPr/>
          <p:nvPr>
            <p:ph idx="2" type="sldImg"/>
          </p:nvPr>
        </p:nvSpPr>
        <p:spPr>
          <a:xfrm>
            <a:off x="1885950" y="1143000"/>
            <a:ext cx="3086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6bd472a13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6bd472a13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71773b8e6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71773b8e6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87332fa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87332fa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cab6dfb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cab6dfb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cab6dfba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cab6dfba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cab6dfba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cab6dfba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cab6dfba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cab6dfba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cab6dfba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cab6dfba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cab6dfba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cab6dfba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cab6dfba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cab6dfba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cab6dfba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cab6dfba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cab6dfba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cab6dfba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cab6dfba2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acab6dfba2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cab6dfba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cab6dfba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cab6dfba2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cab6dfba2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cab6dfba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cab6dfba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cab6dfba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cab6dfba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cab6dfba2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cab6dfba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cab6dfba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cab6dfba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cab6dfba2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cab6dfba2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cab6dfba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cab6dfba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cab6dfba2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cab6dfba2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acab6dfba2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acab6dfba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cab6dfba2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acab6dfba2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cab6dfba2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cab6dfba2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cab6dfba2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cab6dfba2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cab6dfba2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cab6dfba2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cab6dfba2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cab6dfba2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cab6dfba2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acab6dfba2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cab6dfba2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cab6dfba2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cab6dfba2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cab6dfba2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cab6dfba2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acab6dfba2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cab6dfba2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acab6dfba2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cab6dfba2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acab6dfba2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cab6dfba2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cab6dfba2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cab6dfba2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acab6dfba2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acab6dfba2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acab6dfba2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cab6dfba2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acab6dfba2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cab6dfba2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acab6dfba2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acab6dfba2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acab6dfba2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acab6dfba2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acab6dfba2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cab6dfba2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acab6dfba2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acab6dfba2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acab6dfba2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acab6dfba2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acab6dfba2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acab6dfba2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acab6dfba2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cab6dfba2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acab6dfba2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acab6dfba2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acab6dfba2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acab6dfba2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acab6dfba2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acab6dfba2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acab6dfba2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acab6dfba2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acab6dfba2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acab6dfba2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acab6dfba2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acab6dfba2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acab6dfba2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acab6dfba2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acab6dfba2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acab6dfba2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acab6dfba2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acab6dfba2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acab6dfba2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acab6dfba2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acab6dfba2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acab6dfba2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acab6dfba2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acab6dfba2_0_3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acab6dfba2_0_3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acab6dfba2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acab6dfba2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acab6dfba2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acab6dfba2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acab6dfba2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acab6dfba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acab6dfba2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acab6dfba2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acab6dfba2_0_3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acab6dfba2_0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acab6dfba2_0_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acab6dfba2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acab6dfba2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3acab6dfba2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acab6dfba2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acab6dfba2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acab6dfba2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acab6dfba2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7178741a1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7178741a1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7178741a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7178741a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7178741a1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7178741a1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7178741a1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7178741a1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7178741a1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37178741a1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7178741a1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7178741a1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94c4cd03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94c4cd03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94c4cd03e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94c4cd03e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94c4cd03e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94c4cd03e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94c4cd03e5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8" name="Google Shape;578;g394c4cd03e5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94c4cd03e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94c4cd03e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94c4cd03e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94c4cd03e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394c4cd03e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394c4cd03e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94c4cd03e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94c4cd03e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me2019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907425"/>
            <a:ext cx="9144000" cy="1392900"/>
          </a:xfrm>
          <a:prstGeom prst="rect">
            <a:avLst/>
          </a:prstGeom>
          <a:solidFill>
            <a:srgbClr val="171E27">
              <a:alpha val="20784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-20250" y="-21600"/>
            <a:ext cx="9184500" cy="785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Char char="❏"/>
              <a:defRPr sz="2600">
                <a:solidFill>
                  <a:srgbClr val="000000"/>
                </a:solidFill>
              </a:defRPr>
            </a:lvl1pPr>
            <a:lvl2pPr indent="-355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❏"/>
              <a:defRPr sz="2000">
                <a:solidFill>
                  <a:srgbClr val="000000"/>
                </a:solidFill>
              </a:defRPr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❏"/>
              <a:defRPr sz="1800"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❏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540000" y="1281775"/>
            <a:ext cx="8064000" cy="22407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MAIN_POINT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0" name="Google Shape;4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43950" y="2559800"/>
            <a:ext cx="1981149" cy="1981149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 1">
  <p:cSld name="MAIN_POINT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44" name="Google Shape;44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54225" y="2887900"/>
            <a:ext cx="1683875" cy="168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1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  <a:defRPr>
                <a:solidFill>
                  <a:srgbClr val="000000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2196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0700" y="1624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Roboto"/>
              <a:buNone/>
              <a:defRPr b="0" i="0" sz="2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0825" y="863550"/>
            <a:ext cx="9053100" cy="42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3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hyperlink" Target="http://draw.io" TargetMode="Externa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5.jpg"/><Relationship Id="rId4" Type="http://schemas.openxmlformats.org/officeDocument/2006/relationships/hyperlink" Target="https://www.workbreakdownstructure.com" TargetMode="Externa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4.png"/><Relationship Id="rId4" Type="http://schemas.openxmlformats.org/officeDocument/2006/relationships/hyperlink" Target="https://www.workbreakdownstructure.com/work-breakdown-structure-examples" TargetMode="External"/><Relationship Id="rId5" Type="http://schemas.openxmlformats.org/officeDocument/2006/relationships/hyperlink" Target="http://workbreakdownstructur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ctrTitle"/>
          </p:nvPr>
        </p:nvSpPr>
        <p:spPr>
          <a:xfrm>
            <a:off x="0" y="1907525"/>
            <a:ext cx="9144000" cy="139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Quattrocento Sans"/>
              <a:buNone/>
            </a:pPr>
            <a:r>
              <a:rPr lang="en" sz="4400"/>
              <a:t>Decomposition</a:t>
            </a:r>
            <a:endParaRPr sz="4400"/>
          </a:p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311700" y="3764663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Introduction to </a:t>
            </a:r>
            <a:r>
              <a:rPr lang="en" sz="2000"/>
              <a:t>computational</a:t>
            </a:r>
            <a:r>
              <a:rPr lang="en" sz="2000"/>
              <a:t> thinking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What is decomposition?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141300" y="914000"/>
            <a:ext cx="89322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“Decomposition is the </a:t>
            </a:r>
            <a:r>
              <a:rPr lang="en">
                <a:solidFill>
                  <a:schemeClr val="dk1"/>
                </a:solidFill>
              </a:rPr>
              <a:t>process </a:t>
            </a:r>
            <a:r>
              <a:rPr lang="en"/>
              <a:t>of </a:t>
            </a:r>
            <a:r>
              <a:rPr b="1" lang="en">
                <a:solidFill>
                  <a:schemeClr val="dk1"/>
                </a:solidFill>
              </a:rPr>
              <a:t>breaking down data</a:t>
            </a:r>
            <a:r>
              <a:rPr lang="en"/>
              <a:t>. It can include a number of </a:t>
            </a:r>
            <a:r>
              <a:rPr b="1" lang="en">
                <a:solidFill>
                  <a:srgbClr val="0000FF"/>
                </a:solidFill>
              </a:rPr>
              <a:t>processes </a:t>
            </a:r>
            <a:r>
              <a:rPr lang="en"/>
              <a:t>or </a:t>
            </a:r>
            <a:r>
              <a:rPr b="1" lang="en">
                <a:solidFill>
                  <a:srgbClr val="0000FF"/>
                </a:solidFill>
              </a:rPr>
              <a:t>steps </a:t>
            </a:r>
            <a:r>
              <a:rPr lang="en"/>
              <a:t>necessary in order </a:t>
            </a:r>
            <a:r>
              <a:rPr lang="en">
                <a:solidFill>
                  <a:srgbClr val="38761D"/>
                </a:solidFill>
              </a:rPr>
              <a:t>to solve the problem</a:t>
            </a:r>
            <a:r>
              <a:rPr lang="en"/>
              <a:t>. By decomposing the problem, we can identify the </a:t>
            </a:r>
            <a:r>
              <a:rPr b="1" lang="en">
                <a:solidFill>
                  <a:srgbClr val="FF0000"/>
                </a:solidFill>
              </a:rPr>
              <a:t>components</a:t>
            </a:r>
            <a:r>
              <a:rPr lang="en"/>
              <a:t>, or smaller parts, of the problem before we generalize the pattern.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Through decomposition, we can identify and solve one case in order to then </a:t>
            </a:r>
            <a:r>
              <a:rPr b="1" lang="en">
                <a:solidFill>
                  <a:srgbClr val="FF9900"/>
                </a:solidFill>
              </a:rPr>
              <a:t>generalize </a:t>
            </a:r>
            <a:r>
              <a:rPr lang="en"/>
              <a:t>those steps to all possible instances of the problem”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i="1" lang="en" sz="2400">
                <a:solidFill>
                  <a:schemeClr val="dk2"/>
                </a:solidFill>
              </a:rPr>
              <a:t>- Applied Computational Thinking with Python, Packt, 2020, p. 33</a:t>
            </a:r>
            <a:endParaRPr sz="2400">
              <a:solidFill>
                <a:schemeClr val="dk2"/>
              </a:solidFill>
            </a:endParaRPr>
          </a:p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Academic research paper</a:t>
            </a:r>
            <a:r>
              <a:rPr lang="en"/>
              <a:t> includes: literature review, data collection, analysis, drafting, and editing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Programming a robot to navigate a maze:</a:t>
            </a:r>
            <a:r>
              <a:rPr lang="en"/>
              <a:t> sensing the environment, deciding a direction, moving forward, and handling obstacles</a:t>
            </a:r>
            <a:endParaRPr/>
          </a:p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(cont.)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Prepare for a party</a:t>
            </a:r>
            <a:r>
              <a:rPr lang="en"/>
              <a:t>: buy food, cooking, make table, invite guests…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b="1" lang="en"/>
              <a:t>Travel plan</a:t>
            </a:r>
            <a:r>
              <a:rPr lang="en"/>
              <a:t>: buy plane tickets, booking, prepare luggage, find restaurants…</a:t>
            </a:r>
            <a:endParaRPr/>
          </a:p>
        </p:txBody>
      </p:sp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 of decomposition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Break problems into meaningful, functional parts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Each part should represent a logical unit of work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Avoid over-decomposition (too many trivial subtasks) and under-decomposition (tasks too large)</a:t>
            </a:r>
            <a:endParaRPr/>
          </a:p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2. Clear inputs and outputs</a:t>
            </a:r>
            <a:endParaRPr sz="2900"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 subproblem must specify what data it receives and what it produces.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This supports modularity and independent implementation.</a:t>
            </a:r>
            <a:endParaRPr/>
          </a:p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Maintain independence and loose coupling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Subtasks should minimize unnecessary dependencies.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Highly coupled tasks increase complexity and error propagation.</a:t>
            </a:r>
            <a:endParaRPr/>
          </a:p>
        </p:txBody>
      </p:sp>
      <p:sp>
        <p:nvSpPr>
          <p:cNvPr id="107" name="Google Shape;10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Preserve coherence and single responsibility</a:t>
            </a:r>
            <a:endParaRPr/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Each subtask should do exactly one thing well.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Ensures clarity, maintainability, and easier debugging.</a:t>
            </a:r>
            <a:endParaRPr/>
          </a:p>
        </p:txBody>
      </p:sp>
      <p:sp>
        <p:nvSpPr>
          <p:cNvPr id="114" name="Google Shape;11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Optimize for reuse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Components should be general enough to be reused across similar problems or contexts.</a:t>
            </a:r>
            <a:endParaRPr/>
          </a:p>
        </p:txBody>
      </p:sp>
      <p:sp>
        <p:nvSpPr>
          <p:cNvPr id="121" name="Google Shape;12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Align with user needs and problem goals</a:t>
            </a:r>
            <a:endParaRPr/>
          </a:p>
        </p:txBody>
      </p:sp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Every subtask must contribute directly to solving a real requirement or pain point.</a:t>
            </a:r>
            <a:endParaRPr/>
          </a:p>
        </p:txBody>
      </p:sp>
      <p:sp>
        <p:nvSpPr>
          <p:cNvPr id="128" name="Google Shape;12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Keep decomposition flexible</a:t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Problems evolve → decomposition must be revisited and refined.</a:t>
            </a:r>
            <a:endParaRPr/>
          </a:p>
        </p:txBody>
      </p:sp>
      <p:sp>
        <p:nvSpPr>
          <p:cNvPr id="135" name="Google Shape;13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Methods of decomposition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ideas</a:t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105900" y="827425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Top-down design</a:t>
            </a:r>
            <a:endParaRPr b="1" sz="2500"/>
          </a:p>
          <a:p>
            <a:pPr indent="-387350" lvl="0" marL="914400" rtl="0" algn="l">
              <a:spcBef>
                <a:spcPts val="0"/>
              </a:spcBef>
              <a:spcAft>
                <a:spcPts val="0"/>
              </a:spcAft>
              <a:buSzPts val="2500"/>
              <a:buChar char="❏"/>
            </a:pPr>
            <a:r>
              <a:rPr lang="en" sz="2500"/>
              <a:t>Start from the high-level goal → divide into modules → divide into functions → divide into steps.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Modularization</a:t>
            </a:r>
            <a:endParaRPr b="1" sz="25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Split the system into independent modules: input, processing, output…</a:t>
            </a:r>
            <a:endParaRPr sz="19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Workflow mapping</a:t>
            </a:r>
            <a:endParaRPr b="1" sz="25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Draw workflow diagrams (flowchart, BPMN) to clarify each step.</a:t>
            </a:r>
            <a:endParaRPr sz="19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b="1" lang="en" sz="2500"/>
              <a:t>Divide-and-Conquer</a:t>
            </a:r>
            <a:endParaRPr b="1" sz="25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Algorithm strategy: break into smaller parts → solve each part → combine results.</a:t>
            </a:r>
            <a:endParaRPr sz="1900"/>
          </a:p>
        </p:txBody>
      </p:sp>
      <p:sp>
        <p:nvSpPr>
          <p:cNvPr id="147" name="Google Shape;14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Functional decomposition</a:t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Break the problem along functional boundaries: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Input processing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Transformation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Output generation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Common in software engineering and algorithm design.</a:t>
            </a:r>
            <a:endParaRPr/>
          </a:p>
        </p:txBody>
      </p:sp>
      <p:sp>
        <p:nvSpPr>
          <p:cNvPr id="154" name="Google Shape;15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Data-flow decomposition</a:t>
            </a:r>
            <a:endParaRPr/>
          </a:p>
        </p:txBody>
      </p:sp>
      <p:sp>
        <p:nvSpPr>
          <p:cNvPr id="160" name="Google Shape;160;p2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Split based on how data moves through the system.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Identify stages of data transformation.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Great for pipelines (ETL, ML workflows, compiler design).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Goal-oriented (top-down) decomposition</a:t>
            </a:r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Start with high-level goals and break them into subgoals → actions.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Similar to task analysis and hierarchical planning.</a:t>
            </a:r>
            <a:endParaRPr/>
          </a:p>
        </p:txBody>
      </p:sp>
      <p:sp>
        <p:nvSpPr>
          <p:cNvPr id="168" name="Google Shape;16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Bottom-up decomposition</a:t>
            </a:r>
            <a:endParaRPr/>
          </a:p>
        </p:txBody>
      </p:sp>
      <p:sp>
        <p:nvSpPr>
          <p:cNvPr id="174" name="Google Shape;174;p3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Identify reusable building blocks first.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Assemble them into larger components.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Useful when existing modules or libraries shape the architecture.</a:t>
            </a:r>
            <a:endParaRPr/>
          </a:p>
        </p:txBody>
      </p:sp>
      <p:sp>
        <p:nvSpPr>
          <p:cNvPr id="175" name="Google Shape;17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Event-based decomposition</a:t>
            </a:r>
            <a:endParaRPr/>
          </a:p>
        </p:txBody>
      </p:sp>
      <p:sp>
        <p:nvSpPr>
          <p:cNvPr id="181" name="Google Shape;181;p3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Break by events and reactions.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Common in GUI systems, agents, robotics, and real-time applications.</a:t>
            </a:r>
            <a:endParaRPr/>
          </a:p>
        </p:txBody>
      </p:sp>
      <p:sp>
        <p:nvSpPr>
          <p:cNvPr id="182" name="Google Shape;18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Object-oriented decomposition</a:t>
            </a:r>
            <a:endParaRPr/>
          </a:p>
        </p:txBody>
      </p:sp>
      <p:sp>
        <p:nvSpPr>
          <p:cNvPr id="188" name="Google Shape;188;p3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Identify objects, responsibilities, and interactions.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Break tasks around class behavior and domain entities.</a:t>
            </a:r>
            <a:endParaRPr/>
          </a:p>
        </p:txBody>
      </p:sp>
      <p:sp>
        <p:nvSpPr>
          <p:cNvPr id="189" name="Google Shape;18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Scenario-based decomposition</a:t>
            </a:r>
            <a:endParaRPr/>
          </a:p>
        </p:txBody>
      </p:sp>
      <p:sp>
        <p:nvSpPr>
          <p:cNvPr id="195" name="Google Shape;195;p3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Use user stories, use cases, or scenarios.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Decompose tasks based on workflows users actually perform.</a:t>
            </a:r>
            <a:endParaRPr/>
          </a:p>
        </p:txBody>
      </p:sp>
      <p:sp>
        <p:nvSpPr>
          <p:cNvPr id="196" name="Google Shape;19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 Constraint-driven decomposition</a:t>
            </a:r>
            <a:endParaRPr/>
          </a:p>
        </p:txBody>
      </p:sp>
      <p:sp>
        <p:nvSpPr>
          <p:cNvPr id="202" name="Google Shape;202;p3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Break problem according to constraints: timing, resources, safety, performance.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Typical in embedded systems, hardware design, optimization problems.</a:t>
            </a:r>
            <a:endParaRPr/>
          </a:p>
        </p:txBody>
      </p:sp>
      <p:sp>
        <p:nvSpPr>
          <p:cNvPr id="203" name="Google Shape;20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for decomposition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Diagramming Tools</a:t>
            </a:r>
            <a:endParaRPr/>
          </a:p>
        </p:txBody>
      </p:sp>
      <p:sp>
        <p:nvSpPr>
          <p:cNvPr id="214" name="Google Shape;214;p3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Flowcharts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Data Flow Diagrams (DFD)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UML: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Activity diagrams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Sequence diagrams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Component/Class diagrams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Block diagrams: Helps visualize structure, dependencies, and responsibilities.</a:t>
            </a:r>
            <a:endParaRPr/>
          </a:p>
        </p:txBody>
      </p:sp>
      <p:sp>
        <p:nvSpPr>
          <p:cNvPr id="215" name="Google Shape;215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Analysis Tools</a:t>
            </a:r>
            <a:endParaRPr/>
          </a:p>
        </p:txBody>
      </p:sp>
      <p:sp>
        <p:nvSpPr>
          <p:cNvPr id="221" name="Google Shape;221;p3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Dependency graph / DAG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Input–Output tables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Functional hierarchy charts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Task and subtask matrices: Used to validate correctness, order, and interfaces.</a:t>
            </a:r>
            <a:endParaRPr/>
          </a:p>
        </p:txBody>
      </p:sp>
      <p:sp>
        <p:nvSpPr>
          <p:cNvPr id="222" name="Google Shape;22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Knowledge Engineering Tools</a:t>
            </a:r>
            <a:endParaRPr/>
          </a:p>
        </p:txBody>
      </p:sp>
      <p:sp>
        <p:nvSpPr>
          <p:cNvPr id="228" name="Google Shape;228;p3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Problem frames: Goal models (KAOS, i Framework)*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Use case maps: Helps ensure decomposition matches real requirements.</a:t>
            </a:r>
            <a:endParaRPr/>
          </a:p>
        </p:txBody>
      </p:sp>
      <p:sp>
        <p:nvSpPr>
          <p:cNvPr id="229" name="Google Shape;229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Software Engineering Tools</a:t>
            </a:r>
            <a:endParaRPr/>
          </a:p>
        </p:txBody>
      </p:sp>
      <p:sp>
        <p:nvSpPr>
          <p:cNvPr id="235" name="Google Shape;235;p4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Issue trackers / Kanban boards (Jira, Trello, GitHub Projects)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Modularization tools (package managers, build systems)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Code analysis tools (to inspect coupling, cohesion)</a:t>
            </a:r>
            <a:endParaRPr/>
          </a:p>
        </p:txBody>
      </p:sp>
      <p:sp>
        <p:nvSpPr>
          <p:cNvPr id="236" name="Google Shape;236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Computation Tools</a:t>
            </a:r>
            <a:endParaRPr/>
          </a:p>
        </p:txBody>
      </p:sp>
      <p:sp>
        <p:nvSpPr>
          <p:cNvPr id="242" name="Google Shape;242;p4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Pseudo-code editors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Algorithm design tools (VisuAlgo, draw.io, Mermaid)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Notebooks (Jupyter, Colab) for prototyping modular algorithms.</a:t>
            </a:r>
            <a:endParaRPr/>
          </a:p>
        </p:txBody>
      </p:sp>
      <p:sp>
        <p:nvSpPr>
          <p:cNvPr id="243" name="Google Shape;24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Collaboration Tools</a:t>
            </a:r>
            <a:endParaRPr/>
          </a:p>
        </p:txBody>
      </p:sp>
      <p:sp>
        <p:nvSpPr>
          <p:cNvPr id="249" name="Google Shape;249;p4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Shared diagrams (Miro, FigJam)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Documentation systems (Notion, Confluence, Obsidian)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Version control (Git) for managing modular codebases.</a:t>
            </a:r>
            <a:endParaRPr/>
          </a:p>
        </p:txBody>
      </p:sp>
      <p:sp>
        <p:nvSpPr>
          <p:cNvPr id="250" name="Google Shape;25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type="title"/>
          </p:nvPr>
        </p:nvSpPr>
        <p:spPr>
          <a:xfrm>
            <a:off x="221050" y="2115450"/>
            <a:ext cx="4045200" cy="91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checklist</a:t>
            </a:r>
            <a:endParaRPr/>
          </a:p>
        </p:txBody>
      </p:sp>
      <p:sp>
        <p:nvSpPr>
          <p:cNvPr id="256" name="Google Shape;256;p43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Decompose along function, data flow, or user goals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Define input/output for each subproblem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Maintain loose coupling, high cohesion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Visualize using diagrams and dependency graphs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Validate each subtask with testable criteria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Prioritize decomposition based on pain points and constraints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Continuously iterate and refine as requirements evolve</a:t>
            </a:r>
            <a:endParaRPr sz="1900"/>
          </a:p>
        </p:txBody>
      </p:sp>
      <p:sp>
        <p:nvSpPr>
          <p:cNvPr id="257" name="Google Shape;257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Artifacts of decomposition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Problem Statement (Refined)</a:t>
            </a:r>
            <a:endParaRPr/>
          </a:p>
        </p:txBody>
      </p:sp>
      <p:sp>
        <p:nvSpPr>
          <p:cNvPr id="268" name="Google Shape;268;p4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 clearer, structured restatement of the original problem after initial analysis.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Includes constraints, goals, assumptions, and success criteria.</a:t>
            </a:r>
            <a:endParaRPr/>
          </a:p>
        </p:txBody>
      </p:sp>
      <p:sp>
        <p:nvSpPr>
          <p:cNvPr id="269" name="Google Shape;269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2. Functional Breakdown / Work Breakdown Structure (WBS)</a:t>
            </a:r>
            <a:endParaRPr sz="2600"/>
          </a:p>
        </p:txBody>
      </p:sp>
      <p:sp>
        <p:nvSpPr>
          <p:cNvPr id="275" name="Google Shape;275;p4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 hierarchical representation of the problem split into: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Systems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Subsystems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Functions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Tasks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Subtasks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Often visualized as a tree.</a:t>
            </a:r>
            <a:endParaRPr/>
          </a:p>
        </p:txBody>
      </p:sp>
      <p:sp>
        <p:nvSpPr>
          <p:cNvPr id="276" name="Google Shape;276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Input–Output Specification for Each Subtask</a:t>
            </a:r>
            <a:endParaRPr/>
          </a:p>
        </p:txBody>
      </p:sp>
      <p:sp>
        <p:nvSpPr>
          <p:cNvPr id="282" name="Google Shape;282;p4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Document that defines: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Input(s)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Output(s)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Preconditions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Postconditions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Data formats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Critical for making tasks independently implementable.</a:t>
            </a:r>
            <a:endParaRPr/>
          </a:p>
        </p:txBody>
      </p:sp>
      <p:sp>
        <p:nvSpPr>
          <p:cNvPr id="283" name="Google Shape;283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Decomposition Tree / Hierarchy Diagram</a:t>
            </a:r>
            <a:endParaRPr/>
          </a:p>
        </p:txBody>
      </p:sp>
      <p:sp>
        <p:nvSpPr>
          <p:cNvPr id="289" name="Google Shape;289;p4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Functional decomposition tree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Task hierarchy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Subproblem tree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Shows how high-level tasks map to smaller chunks.</a:t>
            </a:r>
            <a:endParaRPr/>
          </a:p>
        </p:txBody>
      </p:sp>
      <p:sp>
        <p:nvSpPr>
          <p:cNvPr id="290" name="Google Shape;290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Data Flow Diagram (DFD) or Pipeline Diagram</a:t>
            </a:r>
            <a:endParaRPr/>
          </a:p>
        </p:txBody>
      </p:sp>
      <p:sp>
        <p:nvSpPr>
          <p:cNvPr id="296" name="Google Shape;296;p4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Visualizes how data moves through each component: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Inputs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Processing stages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Outputs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Stores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Useful for computational and ML pipeline decomposition.</a:t>
            </a:r>
            <a:endParaRPr/>
          </a:p>
        </p:txBody>
      </p:sp>
      <p:sp>
        <p:nvSpPr>
          <p:cNvPr id="297" name="Google Shape;297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Dependency Graph</a:t>
            </a:r>
            <a:endParaRPr/>
          </a:p>
        </p:txBody>
      </p:sp>
      <p:sp>
        <p:nvSpPr>
          <p:cNvPr id="303" name="Google Shape;303;p5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 Directed Acyclic Graph (DAG) showing: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Which subtask depends on which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Execution order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Parallelizable tasks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Prevents wrong-order design or circular dependencies.</a:t>
            </a:r>
            <a:endParaRPr/>
          </a:p>
        </p:txBody>
      </p:sp>
      <p:sp>
        <p:nvSpPr>
          <p:cNvPr id="304" name="Google Shape;304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5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System Architecture Sketch</a:t>
            </a:r>
            <a:endParaRPr/>
          </a:p>
        </p:txBody>
      </p:sp>
      <p:sp>
        <p:nvSpPr>
          <p:cNvPr id="310" name="Google Shape;310;p5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 lightweight architectural overview after decomposition: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Modules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Boundaries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Interfaces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Communication patterns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May be drawn as UML, block diagrams, or simple boxes &amp; arrows.</a:t>
            </a:r>
            <a:endParaRPr/>
          </a:p>
        </p:txBody>
      </p:sp>
      <p:sp>
        <p:nvSpPr>
          <p:cNvPr id="311" name="Google Shape;311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 Interface Contracts / API Specs</a:t>
            </a:r>
            <a:endParaRPr/>
          </a:p>
        </p:txBody>
      </p:sp>
      <p:sp>
        <p:nvSpPr>
          <p:cNvPr id="317" name="Google Shape;317;p5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Clear definitions of: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F</a:t>
            </a:r>
            <a:r>
              <a:rPr lang="en"/>
              <a:t>unction signatures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REST endpoints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Class boundaries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Message formats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These ensure subtasks integrate properly.</a:t>
            </a:r>
            <a:endParaRPr/>
          </a:p>
        </p:txBody>
      </p:sp>
      <p:sp>
        <p:nvSpPr>
          <p:cNvPr id="318" name="Google Shape;318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9. Solution Outline / Pseudocode</a:t>
            </a:r>
            <a:endParaRPr/>
          </a:p>
        </p:txBody>
      </p:sp>
      <p:sp>
        <p:nvSpPr>
          <p:cNvPr id="324" name="Google Shape;324;p5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 high-level algorithm that uses the decomposed subtasks in sequence.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Acts as a bridge between decomposition and implementation.</a:t>
            </a:r>
            <a:endParaRPr/>
          </a:p>
        </p:txBody>
      </p:sp>
      <p:sp>
        <p:nvSpPr>
          <p:cNvPr id="325" name="Google Shape;325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10. Validation &amp; Test Plan Per Subtask</a:t>
            </a:r>
            <a:endParaRPr/>
          </a:p>
        </p:txBody>
      </p:sp>
      <p:sp>
        <p:nvSpPr>
          <p:cNvPr id="331" name="Google Shape;331;p5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Includes: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Unit tests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Success criteria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Error conditions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Acceptance tests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Ensures each piece is independently testable.</a:t>
            </a:r>
            <a:endParaRPr/>
          </a:p>
        </p:txBody>
      </p:sp>
      <p:sp>
        <p:nvSpPr>
          <p:cNvPr id="332" name="Google Shape;332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11. Assumptions, Constraints, and Trade-off Notes</a:t>
            </a:r>
            <a:endParaRPr/>
          </a:p>
        </p:txBody>
      </p:sp>
      <p:sp>
        <p:nvSpPr>
          <p:cNvPr id="338" name="Google Shape;338;p5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Documentation of: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What assumptions each subtask relies 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Constraints (time, performance, resources, API limits)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Trade-offs made during decomposition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Useful for review and future revisions.</a:t>
            </a:r>
            <a:endParaRPr/>
          </a:p>
        </p:txBody>
      </p:sp>
      <p:sp>
        <p:nvSpPr>
          <p:cNvPr id="339" name="Google Shape;339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12. Mapping to User Requirements / Pain Points</a:t>
            </a:r>
            <a:endParaRPr/>
          </a:p>
        </p:txBody>
      </p:sp>
      <p:sp>
        <p:nvSpPr>
          <p:cNvPr id="345" name="Google Shape;345;p5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traceability table: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Subtask	Requirement - Pain Point	- Value Delivered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Ensures all decomposed parts serve a real purpose.</a:t>
            </a:r>
            <a:endParaRPr/>
          </a:p>
        </p:txBody>
      </p:sp>
      <p:sp>
        <p:nvSpPr>
          <p:cNvPr id="346" name="Google Shape;346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13. Activity Diagrams</a:t>
            </a:r>
            <a:endParaRPr/>
          </a:p>
        </p:txBody>
      </p:sp>
      <p:sp>
        <p:nvSpPr>
          <p:cNvPr id="352" name="Google Shape;352;p5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modeling workflow logic.</a:t>
            </a:r>
            <a:endParaRPr/>
          </a:p>
        </p:txBody>
      </p:sp>
      <p:sp>
        <p:nvSpPr>
          <p:cNvPr id="353" name="Google Shape;353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14. Sequence Diagrams</a:t>
            </a:r>
            <a:endParaRPr/>
          </a:p>
        </p:txBody>
      </p:sp>
      <p:sp>
        <p:nvSpPr>
          <p:cNvPr id="359" name="Google Shape;359;p5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modeling interaction between subtasks or objects.</a:t>
            </a:r>
            <a:endParaRPr/>
          </a:p>
        </p:txBody>
      </p:sp>
      <p:sp>
        <p:nvSpPr>
          <p:cNvPr id="360" name="Google Shape;360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15. Prototype Modules</a:t>
            </a:r>
            <a:endParaRPr/>
          </a:p>
        </p:txBody>
      </p:sp>
      <p:sp>
        <p:nvSpPr>
          <p:cNvPr id="366" name="Google Shape;366;p5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 prototype implementations for risky or unclear components.</a:t>
            </a:r>
            <a:endParaRPr/>
          </a:p>
        </p:txBody>
      </p:sp>
      <p:sp>
        <p:nvSpPr>
          <p:cNvPr id="367" name="Google Shape;367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6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16. Decomposition Review Checklist</a:t>
            </a:r>
            <a:endParaRPr/>
          </a:p>
        </p:txBody>
      </p:sp>
      <p:sp>
        <p:nvSpPr>
          <p:cNvPr id="373" name="Google Shape;373;p6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list used by teams to evaluate whether the decomposition is sound.</a:t>
            </a:r>
            <a:endParaRPr/>
          </a:p>
        </p:txBody>
      </p:sp>
      <p:sp>
        <p:nvSpPr>
          <p:cNvPr id="374" name="Google Shape;374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61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of decomposition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Over-decomposition</a:t>
            </a:r>
            <a:endParaRPr/>
          </a:p>
        </p:txBody>
      </p:sp>
      <p:sp>
        <p:nvSpPr>
          <p:cNvPr id="385" name="Google Shape;385;p62"/>
          <p:cNvSpPr txBox="1"/>
          <p:nvPr>
            <p:ph idx="1" type="body"/>
          </p:nvPr>
        </p:nvSpPr>
        <p:spPr>
          <a:xfrm>
            <a:off x="105900" y="827425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❏"/>
            </a:pPr>
            <a:r>
              <a:rPr lang="en" sz="2500"/>
              <a:t>Splitting the problem into too many tiny parts → losing control and making the system more complicated instead of simpler.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❏"/>
            </a:pPr>
            <a:r>
              <a:rPr lang="en" sz="2500"/>
              <a:t>Example: in a Smart Travel System, breaking “Create itinerary” into 20 micro-subtasks (create day 1, pick spot 1, pick spot 2, …) makes management difficult.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❏"/>
            </a:pPr>
            <a:r>
              <a:rPr lang="en" sz="2500"/>
              <a:t>Symptoms:</a:t>
            </a:r>
            <a:endParaRPr sz="25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Easy to lose track of dependencies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Integration takes too much time</a:t>
            </a:r>
            <a:endParaRPr sz="1900"/>
          </a:p>
          <a:p>
            <a:pPr indent="-349250" lvl="1" marL="914400" rtl="0" algn="l">
              <a:spcBef>
                <a:spcPts val="0"/>
              </a:spcBef>
              <a:spcAft>
                <a:spcPts val="0"/>
              </a:spcAft>
              <a:buSzPts val="1900"/>
              <a:buChar char="❏"/>
            </a:pPr>
            <a:r>
              <a:rPr lang="en" sz="1900"/>
              <a:t>Documentation becomes lengthy and confusing</a:t>
            </a:r>
            <a:endParaRPr sz="1900"/>
          </a:p>
        </p:txBody>
      </p:sp>
      <p:sp>
        <p:nvSpPr>
          <p:cNvPr id="386" name="Google Shape;386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Under-decomposition</a:t>
            </a:r>
            <a:endParaRPr/>
          </a:p>
        </p:txBody>
      </p:sp>
      <p:sp>
        <p:nvSpPr>
          <p:cNvPr id="392" name="Google Shape;392;p6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Keeping the problem at too high a level → difficult to implement and debug.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Example: only writing “Optimize itinerary” without splitting it into subtasks such as: route optimization, cost optimization, travel time optimization.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Consequences: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Complex code/algorithm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Hard to test each part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Risk of slow development or going in the wrong direction</a:t>
            </a:r>
            <a:endParaRPr/>
          </a:p>
        </p:txBody>
      </p:sp>
      <p:sp>
        <p:nvSpPr>
          <p:cNvPr id="393" name="Google Shape;393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Undefined input-output for subtasks</a:t>
            </a:r>
            <a:endParaRPr/>
          </a:p>
        </p:txBody>
      </p:sp>
      <p:sp>
        <p:nvSpPr>
          <p:cNvPr id="399" name="Google Shape;399;p6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Each small part must have clear input and output.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Without them, subtasks depend on each other in unclear ways, making independent implementation difficult.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Example: “Optimize route” without specifying that the input is the list of destinations and travel date, and the output is the ordered list → ambiguity.</a:t>
            </a:r>
            <a:endParaRPr/>
          </a:p>
        </p:txBody>
      </p:sp>
      <p:sp>
        <p:nvSpPr>
          <p:cNvPr id="400" name="Google Shape;400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Illogical / non-functional decomposition</a:t>
            </a:r>
            <a:endParaRPr/>
          </a:p>
        </p:txBody>
      </p:sp>
      <p:sp>
        <p:nvSpPr>
          <p:cNvPr id="406" name="Google Shape;406;p6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Splitting based on random ideas instead of functional logic / data flow / features.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Consequence: disconnected subtasks that are hard to integrate.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Example: dividing “Create itinerary” by “each developer handles one day” instead of by task logic → messy code, hard to maintain.</a:t>
            </a:r>
            <a:endParaRPr/>
          </a:p>
        </p:txBody>
      </p:sp>
      <p:sp>
        <p:nvSpPr>
          <p:cNvPr id="407" name="Google Shape;407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6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Poor dependency / execution order management</a:t>
            </a:r>
            <a:endParaRPr/>
          </a:p>
        </p:txBody>
      </p:sp>
      <p:sp>
        <p:nvSpPr>
          <p:cNvPr id="413" name="Google Shape;413;p6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Subtasks often depend on each other.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Without a dependency graph, it’s easy to build in the wrong order or work on a subtask before its required output exists.</a:t>
            </a:r>
            <a:endParaRPr/>
          </a:p>
        </p:txBody>
      </p:sp>
      <p:sp>
        <p:nvSpPr>
          <p:cNvPr id="414" name="Google Shape;414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6. Ignoring non-functional requirements / constraints during decomposition</a:t>
            </a:r>
            <a:endParaRPr sz="2000"/>
          </a:p>
        </p:txBody>
      </p:sp>
      <p:sp>
        <p:nvSpPr>
          <p:cNvPr id="420" name="Google Shape;420;p6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Focusing too much on logic/function → forgetting performance, scalability, UX.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Example: “itinerary suggestion” doesn’t consider load time or API limits → fast prototype but problematic in real deployment.</a:t>
            </a:r>
            <a:endParaRPr/>
          </a:p>
        </p:txBody>
      </p:sp>
      <p:sp>
        <p:nvSpPr>
          <p:cNvPr id="421" name="Google Shape;421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 Forgetting validation / testing when decomposing</a:t>
            </a:r>
            <a:endParaRPr/>
          </a:p>
        </p:txBody>
      </p:sp>
      <p:sp>
        <p:nvSpPr>
          <p:cNvPr id="427" name="Google Shape;427;p6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Splitting tasks without defining success criteria for each subtask → difficult to test them independently.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Example: “calculate tour cost” without specifying ±5% accuracy threshold → ineffective testing.</a:t>
            </a:r>
            <a:endParaRPr/>
          </a:p>
        </p:txBody>
      </p:sp>
      <p:sp>
        <p:nvSpPr>
          <p:cNvPr id="428" name="Google Shape;428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8. Subtasks not linked to pain points / user needs</a:t>
            </a:r>
            <a:endParaRPr/>
          </a:p>
        </p:txBody>
      </p:sp>
      <p:sp>
        <p:nvSpPr>
          <p:cNvPr id="434" name="Google Shape;434;p6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Subtasks are created but no one knows which pain point each one solves → may build unnecessary features.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Example: generating a “beautiful itinerary” but not reducing the time users spend planning → doesn’t solve any pain point.</a:t>
            </a:r>
            <a:endParaRPr/>
          </a:p>
        </p:txBody>
      </p:sp>
      <p:sp>
        <p:nvSpPr>
          <p:cNvPr id="435" name="Google Shape;435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9. Poor communication / documentation</a:t>
            </a:r>
            <a:endParaRPr/>
          </a:p>
        </p:txBody>
      </p:sp>
      <p:sp>
        <p:nvSpPr>
          <p:cNvPr id="441" name="Google Shape;441;p7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When decomposing tasks for the team, lacking diagrams, checklists, flowcharts leads to different interpretations → logic errors, duplicate work.</a:t>
            </a:r>
            <a:endParaRPr/>
          </a:p>
        </p:txBody>
      </p:sp>
      <p:sp>
        <p:nvSpPr>
          <p:cNvPr id="442" name="Google Shape;442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1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10. Not adjusting decomposition when the project changes</a:t>
            </a:r>
            <a:endParaRPr sz="2600"/>
          </a:p>
        </p:txBody>
      </p:sp>
      <p:sp>
        <p:nvSpPr>
          <p:cNvPr id="448" name="Google Shape;448;p71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Problems or requirements can change → rigid decomposition becomes outdated.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Always keep decomposition flexible and updatable.</a:t>
            </a:r>
            <a:endParaRPr/>
          </a:p>
        </p:txBody>
      </p:sp>
      <p:sp>
        <p:nvSpPr>
          <p:cNvPr id="449" name="Google Shape;449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72"/>
          <p:cNvSpPr txBox="1"/>
          <p:nvPr>
            <p:ph type="title"/>
          </p:nvPr>
        </p:nvSpPr>
        <p:spPr>
          <a:xfrm>
            <a:off x="287725" y="183060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Tips to avoid decomposition issues</a:t>
            </a:r>
            <a:endParaRPr/>
          </a:p>
        </p:txBody>
      </p:sp>
      <p:sp>
        <p:nvSpPr>
          <p:cNvPr id="455" name="Google Shape;455;p72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Split by logical / functional modules, not by days or by people.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Ensure each subtask has clear input–output.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Keep decomposition at a balanced level: not too small, not too large.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Draw a dependency graph / data flow before implementation.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Link subtask ↔ pain point ↔ requirement.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Define success criteria / testability for every subtask.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en" sz="1700"/>
              <a:t>Continuously review &amp; refactor the decomposition as requirements evolve.</a:t>
            </a:r>
            <a:endParaRPr sz="1700"/>
          </a:p>
        </p:txBody>
      </p:sp>
      <p:sp>
        <p:nvSpPr>
          <p:cNvPr id="456" name="Google Shape;456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3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travel system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User Management</a:t>
            </a:r>
            <a:endParaRPr/>
          </a:p>
        </p:txBody>
      </p:sp>
      <p:sp>
        <p:nvSpPr>
          <p:cNvPr id="467" name="Google Shape;467;p7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Login / Signup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Profile Management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Preferences / Interests</a:t>
            </a:r>
            <a:endParaRPr/>
          </a:p>
        </p:txBody>
      </p:sp>
      <p:sp>
        <p:nvSpPr>
          <p:cNvPr id="468" name="Google Shape;468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Travel Planning</a:t>
            </a:r>
            <a:endParaRPr/>
          </a:p>
        </p:txBody>
      </p:sp>
      <p:sp>
        <p:nvSpPr>
          <p:cNvPr id="474" name="Google Shape;474;p75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Input Preferences &amp; Dates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Generate Itinerary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Select Destinations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Optimize Route  &lt;-- (Dependency: Select Destinations)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Suggest Hotels &amp; Tours  &lt;-- (Dependency: Destinations)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Budget Estimation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Share / Save Itinerary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Booking Services</a:t>
            </a:r>
            <a:endParaRPr/>
          </a:p>
        </p:txBody>
      </p:sp>
      <p:sp>
        <p:nvSpPr>
          <p:cNvPr id="481" name="Google Shape;481;p7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Hotel Booking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Flight Booking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Tour Booking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Payment Gateway Integration</a:t>
            </a:r>
            <a:endParaRPr/>
          </a:p>
        </p:txBody>
      </p:sp>
      <p:sp>
        <p:nvSpPr>
          <p:cNvPr id="482" name="Google Shape;482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Map &amp; Navigation</a:t>
            </a:r>
            <a:endParaRPr/>
          </a:p>
        </p:txBody>
      </p:sp>
      <p:sp>
        <p:nvSpPr>
          <p:cNvPr id="488" name="Google Shape;488;p7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Route Visualization  &lt;-- (Dependency: Optimize Route)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Offline Maps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Real-time Traffic Updates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8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Admin / Backend</a:t>
            </a:r>
            <a:endParaRPr/>
          </a:p>
        </p:txBody>
      </p:sp>
      <p:sp>
        <p:nvSpPr>
          <p:cNvPr id="495" name="Google Shape;495;p78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Destination Data Management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Tour / Service Management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Analytics &amp; Reporting</a:t>
            </a:r>
            <a:endParaRPr/>
          </a:p>
        </p:txBody>
      </p:sp>
      <p:sp>
        <p:nvSpPr>
          <p:cNvPr id="496" name="Google Shape;496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7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6. External APIs</a:t>
            </a:r>
            <a:endParaRPr/>
          </a:p>
        </p:txBody>
      </p:sp>
      <p:sp>
        <p:nvSpPr>
          <p:cNvPr id="502" name="Google Shape;502;p7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Maps API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Weather API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Booking APIs</a:t>
            </a:r>
            <a:endParaRPr/>
          </a:p>
        </p:txBody>
      </p:sp>
      <p:sp>
        <p:nvSpPr>
          <p:cNvPr id="503" name="Google Shape;503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problems</a:t>
            </a:r>
            <a:endParaRPr/>
          </a:p>
        </p:txBody>
      </p:sp>
      <p:sp>
        <p:nvSpPr>
          <p:cNvPr id="509" name="Google Shape;509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10" name="Google Shape;510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950" y="906025"/>
            <a:ext cx="7761703" cy="4096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1"/>
          <p:cNvSpPr txBox="1"/>
          <p:nvPr>
            <p:ph type="title"/>
          </p:nvPr>
        </p:nvSpPr>
        <p:spPr>
          <a:xfrm>
            <a:off x="243275" y="15553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Tips</a:t>
            </a:r>
            <a:endParaRPr sz="5000"/>
          </a:p>
        </p:txBody>
      </p:sp>
      <p:sp>
        <p:nvSpPr>
          <p:cNvPr id="516" name="Google Shape;516;p81"/>
          <p:cNvSpPr txBox="1"/>
          <p:nvPr>
            <p:ph idx="2" type="body"/>
          </p:nvPr>
        </p:nvSpPr>
        <p:spPr>
          <a:xfrm>
            <a:off x="4834400" y="403700"/>
            <a:ext cx="4107600" cy="435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Each submodule → include Input – Output labels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Use dependency arrows to show which subtask depends on which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Attach pain point references to each subtask → ensure every module addresses real user problems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eriod"/>
            </a:pPr>
            <a:r>
              <a:rPr lang="en" sz="1900"/>
              <a:t>Mark risks / constraints directly on the diagram</a:t>
            </a:r>
            <a:endParaRPr sz="1900"/>
          </a:p>
        </p:txBody>
      </p:sp>
      <p:sp>
        <p:nvSpPr>
          <p:cNvPr id="517" name="Google Shape;517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82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8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</a:t>
            </a:r>
            <a:endParaRPr/>
          </a:p>
        </p:txBody>
      </p:sp>
      <p:sp>
        <p:nvSpPr>
          <p:cNvPr id="528" name="Google Shape;528;p8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Imagine a team of students developing a simple game: </a:t>
            </a:r>
            <a:r>
              <a:rPr b="1" lang="en"/>
              <a:t>Caro</a:t>
            </a:r>
            <a:r>
              <a:rPr lang="en"/>
              <a:t>.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How could the project be decomposed into parts?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Criteria: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Clarity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Independence of components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Missing components?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❏"/>
            </a:pPr>
            <a:r>
              <a:rPr lang="en"/>
              <a:t>Overlapping components?</a:t>
            </a:r>
            <a:endParaRPr/>
          </a:p>
        </p:txBody>
      </p:sp>
      <p:sp>
        <p:nvSpPr>
          <p:cNvPr id="529" name="Google Shape;529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8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Suggestion</a:t>
            </a:r>
            <a:endParaRPr/>
          </a:p>
        </p:txBody>
      </p:sp>
      <p:sp>
        <p:nvSpPr>
          <p:cNvPr id="535" name="Google Shape;535;p84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They can decompose the project into parts: game logic, graphics, user input, and testing.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Each team member takes ownership of one part</a:t>
            </a:r>
            <a:endParaRPr/>
          </a:p>
        </p:txBody>
      </p:sp>
      <p:sp>
        <p:nvSpPr>
          <p:cNvPr id="536" name="Google Shape;536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85"/>
          <p:cNvSpPr txBox="1"/>
          <p:nvPr>
            <p:ph type="title"/>
          </p:nvPr>
        </p:nvSpPr>
        <p:spPr>
          <a:xfrm>
            <a:off x="540000" y="1281775"/>
            <a:ext cx="8064000" cy="224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Exercise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86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Decomposition </a:t>
            </a:r>
            <a:endParaRPr/>
          </a:p>
        </p:txBody>
      </p:sp>
      <p:sp>
        <p:nvSpPr>
          <p:cNvPr id="547" name="Google Shape;547;p86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sub-problems or components for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A course registration system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87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Suggested answer</a:t>
            </a:r>
            <a:endParaRPr/>
          </a:p>
        </p:txBody>
      </p:sp>
      <p:sp>
        <p:nvSpPr>
          <p:cNvPr id="554" name="Google Shape;554;p87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</a:t>
            </a:r>
            <a:r>
              <a:rPr lang="en"/>
              <a:t>tudent authentication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Course search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Schedule conflict checking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Enrollment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/>
              <a:t>Waitlist management</a:t>
            </a:r>
            <a:endParaRPr/>
          </a:p>
        </p:txBody>
      </p:sp>
      <p:sp>
        <p:nvSpPr>
          <p:cNvPr id="555" name="Google Shape;555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8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</a:t>
            </a:r>
            <a:endParaRPr/>
          </a:p>
        </p:txBody>
      </p:sp>
      <p:sp>
        <p:nvSpPr>
          <p:cNvPr id="561" name="Google Shape;561;p8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89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Diagrams</a:t>
            </a:r>
            <a:endParaRPr/>
          </a:p>
        </p:txBody>
      </p:sp>
      <p:sp>
        <p:nvSpPr>
          <p:cNvPr id="567" name="Google Shape;567;p89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UML Class diagram: classes, attributes, methods, relationship (agrregation, composition, inheritance)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UML Package diagram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Architecture diagram: frontend, backend, db, services…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en"/>
              <a:t>C4 diagram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b="1" lang="en"/>
              <a:t>Context</a:t>
            </a:r>
            <a:r>
              <a:rPr lang="en"/>
              <a:t>: system &amp; related users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b="1" lang="en"/>
              <a:t>Container</a:t>
            </a:r>
            <a:r>
              <a:rPr lang="en"/>
              <a:t>: application &amp; main services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b="1" lang="en"/>
              <a:t>Component</a:t>
            </a:r>
            <a:r>
              <a:rPr lang="en"/>
              <a:t>: modules insides each container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AutoNum type="alphaLcPeriod"/>
            </a:pPr>
            <a:r>
              <a:rPr b="1" lang="en"/>
              <a:t>Code</a:t>
            </a:r>
            <a:r>
              <a:rPr lang="en"/>
              <a:t>: classes, file</a:t>
            </a:r>
            <a:endParaRPr/>
          </a:p>
        </p:txBody>
      </p:sp>
      <p:sp>
        <p:nvSpPr>
          <p:cNvPr id="568" name="Google Shape;568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90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Suggested tools to create diagram</a:t>
            </a:r>
            <a:endParaRPr/>
          </a:p>
        </p:txBody>
      </p:sp>
      <p:sp>
        <p:nvSpPr>
          <p:cNvPr id="574" name="Google Shape;574;p90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❏"/>
            </a:pPr>
            <a:r>
              <a:rPr lang="en">
                <a:solidFill>
                  <a:schemeClr val="dk1"/>
                </a:solidFill>
              </a:rPr>
              <a:t>mermaid.live 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❏"/>
            </a:pPr>
            <a:r>
              <a:rPr lang="en" u="sng">
                <a:solidFill>
                  <a:schemeClr val="hlink"/>
                </a:solidFill>
                <a:hlinkClick r:id="rId3"/>
              </a:rPr>
              <a:t>draw.io</a:t>
            </a:r>
            <a:r>
              <a:rPr lang="en"/>
              <a:t> </a:t>
            </a:r>
            <a:endParaRPr/>
          </a:p>
        </p:txBody>
      </p:sp>
      <p:sp>
        <p:nvSpPr>
          <p:cNvPr id="575" name="Google Shape;575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9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decomposition </a:t>
            </a:r>
            <a:br>
              <a:rPr lang="en"/>
            </a:br>
            <a:r>
              <a:rPr lang="en"/>
              <a:t>Work breakdown structrure</a:t>
            </a:r>
            <a:endParaRPr/>
          </a:p>
        </p:txBody>
      </p:sp>
      <p:sp>
        <p:nvSpPr>
          <p:cNvPr id="581" name="Google Shape;581;p9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92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WBS: what to do &amp; how the work is organized</a:t>
            </a:r>
            <a:endParaRPr/>
          </a:p>
        </p:txBody>
      </p:sp>
      <p:sp>
        <p:nvSpPr>
          <p:cNvPr id="587" name="Google Shape;587;p92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Level 1 – Project: Smart Parking System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Level 2 – Major Deliverables:</a:t>
            </a:r>
            <a:endParaRPr b="1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Requirements Analysis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System Design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Implementation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Testing</a:t>
            </a:r>
            <a:endParaRPr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-"/>
            </a:pPr>
            <a:r>
              <a:rPr lang="en"/>
              <a:t>Deployment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9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93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 3 – Subtasks</a:t>
            </a:r>
            <a:endParaRPr/>
          </a:p>
        </p:txBody>
      </p:sp>
      <p:sp>
        <p:nvSpPr>
          <p:cNvPr id="594" name="Google Shape;594;p93"/>
          <p:cNvSpPr txBox="1"/>
          <p:nvPr>
            <p:ph idx="1" type="body"/>
          </p:nvPr>
        </p:nvSpPr>
        <p:spPr>
          <a:xfrm>
            <a:off x="141300" y="914000"/>
            <a:ext cx="8932200" cy="422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Under System Design:</a:t>
            </a:r>
            <a:endParaRPr b="1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-"/>
            </a:pPr>
            <a:r>
              <a:rPr lang="en">
                <a:solidFill>
                  <a:schemeClr val="dk1"/>
                </a:solidFill>
              </a:rPr>
              <a:t>UI/UX Design</a:t>
            </a:r>
            <a:endParaRPr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-"/>
            </a:pPr>
            <a:r>
              <a:rPr lang="en">
                <a:solidFill>
                  <a:schemeClr val="dk1"/>
                </a:solidFill>
              </a:rPr>
              <a:t>Database Schema Design</a:t>
            </a:r>
            <a:endParaRPr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-"/>
            </a:pPr>
            <a:r>
              <a:rPr lang="en">
                <a:solidFill>
                  <a:schemeClr val="dk1"/>
                </a:solidFill>
              </a:rPr>
              <a:t>API Specification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Under Testing:</a:t>
            </a:r>
            <a:endParaRPr b="1"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-"/>
            </a:pPr>
            <a:r>
              <a:rPr lang="en">
                <a:solidFill>
                  <a:schemeClr val="dk1"/>
                </a:solidFill>
              </a:rPr>
              <a:t>Unit Testing</a:t>
            </a:r>
            <a:endParaRPr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-"/>
            </a:pPr>
            <a:r>
              <a:rPr lang="en">
                <a:solidFill>
                  <a:schemeClr val="dk1"/>
                </a:solidFill>
              </a:rPr>
              <a:t>Integration Testing</a:t>
            </a:r>
            <a:endParaRPr>
              <a:solidFill>
                <a:schemeClr val="dk1"/>
              </a:solidFill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-"/>
            </a:pPr>
            <a:r>
              <a:rPr lang="en">
                <a:solidFill>
                  <a:schemeClr val="dk1"/>
                </a:solidFill>
              </a:rPr>
              <a:t>User Acceptance Testing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9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94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Phase-Based Work Breakdown Structure</a:t>
            </a:r>
            <a:endParaRPr/>
          </a:p>
        </p:txBody>
      </p:sp>
      <p:sp>
        <p:nvSpPr>
          <p:cNvPr id="601" name="Google Shape;601;p9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2" name="Google Shape;602;p94" title="phase-based-wb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00" y="993388"/>
            <a:ext cx="8743950" cy="2790825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94"/>
          <p:cNvSpPr txBox="1"/>
          <p:nvPr/>
        </p:nvSpPr>
        <p:spPr>
          <a:xfrm>
            <a:off x="2460550" y="4583950"/>
            <a:ext cx="476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https://www.workbreakdownstructure.com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95"/>
          <p:cNvSpPr txBox="1"/>
          <p:nvPr>
            <p:ph type="title"/>
          </p:nvPr>
        </p:nvSpPr>
        <p:spPr>
          <a:xfrm>
            <a:off x="141300" y="0"/>
            <a:ext cx="90120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Market research</a:t>
            </a:r>
            <a:endParaRPr/>
          </a:p>
        </p:txBody>
      </p:sp>
      <p:sp>
        <p:nvSpPr>
          <p:cNvPr id="609" name="Google Shape;609;p9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0" name="Google Shape;610;p95" title="market-research-wb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453" y="857925"/>
            <a:ext cx="4514400" cy="3805301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95"/>
          <p:cNvSpPr txBox="1"/>
          <p:nvPr/>
        </p:nvSpPr>
        <p:spPr>
          <a:xfrm>
            <a:off x="1111925" y="4702825"/>
            <a:ext cx="670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WBS Examples &amp; Templates | </a:t>
            </a:r>
            <a:r>
              <a:rPr lang="en" u="sng">
                <a:solidFill>
                  <a:schemeClr val="dk1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workbreakdownstructure.com</a:t>
            </a:r>
            <a:r>
              <a:rPr lang="en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(&amp; a lot of examples)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