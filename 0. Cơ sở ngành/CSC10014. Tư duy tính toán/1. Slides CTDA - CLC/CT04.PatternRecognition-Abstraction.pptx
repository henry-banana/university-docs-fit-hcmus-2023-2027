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5143500" cx="9144000"/>
  <p:notesSz cx="6858000" cy="9144000"/>
  <p:embeddedFontLst>
    <p:embeddedFont>
      <p:font typeface="Roboto"/>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bold.fntdata"/><Relationship Id="rId61" Type="http://schemas.openxmlformats.org/officeDocument/2006/relationships/font" Target="fonts/Roboto-regular.fntdata"/><Relationship Id="rId20" Type="http://schemas.openxmlformats.org/officeDocument/2006/relationships/slide" Target="slides/slide15.xml"/><Relationship Id="rId64" Type="http://schemas.openxmlformats.org/officeDocument/2006/relationships/font" Target="fonts/Roboto-boldItalic.fntdata"/><Relationship Id="rId63" Type="http://schemas.openxmlformats.org/officeDocument/2006/relationships/font" Target="fonts/Roboto-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txBox="1"/>
          <p:nvPr>
            <p:ph idx="1" type="body"/>
          </p:nvPr>
        </p:nvSpPr>
        <p:spPr>
          <a:xfrm>
            <a:off x="685800" y="4400551"/>
            <a:ext cx="5486400" cy="360044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 name="Google Shape;58;p1: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6bd472a13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g36bd472a139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71776790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71776790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714d6fc4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714d6fc4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9b483c66e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9b483c66e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6f9da2534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6f9da253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6f9da2534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6f9da2534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9b483c66e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9b483c66e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6f9da2534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6f9da2534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f9da2534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6f9da2534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6f9da2534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6f9da2534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7243c04f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7243c04f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7243c04ff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37243c04ff7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7243c04ff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7243c04ff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a1b3e4c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a1b3e4c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cae745e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cae745e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cae745e6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cae745e6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cae745e6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cae745e6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cae745e6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acae745e6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cae745e6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cae745e6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cae745e6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acae745e6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cae745e67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acae745e6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cae745e6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cae745e6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cae745e67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acae745e67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cae745e6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acae745e6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cae745e6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cae745e6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cae745e67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acae745e67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acae745e67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acae745e67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acae745e6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acae745e6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acae745e6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acae745e6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cae745e6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acae745e6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cae745e67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acae745e67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cae745e67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acae745e67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acae745e67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acae745e67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acae745e67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acae745e67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acae745e67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acae745e67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acae745e67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acae745e67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acae745e67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acae745e67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7243c04ff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7243c04ff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7243c04ff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7243c04ff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7243c04ff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7243c04ff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9ba0a7cd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9ba0a7cd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9ba0a7cdd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9ba0a7cdd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9ba0a7cdd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9ba0a7cdd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951f8fa5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951f8fa5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9ba0a7cdd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9ba0a7cdd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953b695ff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953b695ff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953b695ff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953b695ff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953b695ff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953b695ff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953b695ff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953b695ff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9ba0a7cdd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9ba0a7cdd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953b695ff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953b695ff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953b695ff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953b695ff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953b695ffb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953b695ffb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9ba0a7cdd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9ba0a7cdd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2019" type="title">
  <p:cSld name="TITLE">
    <p:spTree>
      <p:nvGrpSpPr>
        <p:cNvPr id="9" name="Shape 9"/>
        <p:cNvGrpSpPr/>
        <p:nvPr/>
      </p:nvGrpSpPr>
      <p:grpSpPr>
        <a:xfrm>
          <a:off x="0" y="0"/>
          <a:ext cx="0" cy="0"/>
          <a:chOff x="0" y="0"/>
          <a:chExt cx="0" cy="0"/>
        </a:xfrm>
      </p:grpSpPr>
      <p:sp>
        <p:nvSpPr>
          <p:cNvPr id="10" name="Google Shape;10;p2"/>
          <p:cNvSpPr/>
          <p:nvPr/>
        </p:nvSpPr>
        <p:spPr>
          <a:xfrm>
            <a:off x="0" y="1907425"/>
            <a:ext cx="9144000" cy="1392900"/>
          </a:xfrm>
          <a:prstGeom prst="rect">
            <a:avLst/>
          </a:prstGeom>
          <a:solidFill>
            <a:srgbClr val="171E27">
              <a:alpha val="2078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txBox="1"/>
          <p:nvPr>
            <p:ph type="ctrTitle"/>
          </p:nvPr>
        </p:nvSpPr>
        <p:spPr>
          <a:xfrm>
            <a:off x="0" y="1907525"/>
            <a:ext cx="9144000" cy="1392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FF"/>
              </a:buClr>
              <a:buSzPts val="5200"/>
              <a:buNone/>
              <a:defRPr sz="5200">
                <a:solidFill>
                  <a:srgbClr val="FFFFFF"/>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
          <p:cNvSpPr txBox="1"/>
          <p:nvPr>
            <p:ph idx="1" type="subTitle"/>
          </p:nvPr>
        </p:nvSpPr>
        <p:spPr>
          <a:xfrm>
            <a:off x="311700" y="3764663"/>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FFFFFF"/>
              </a:buClr>
              <a:buSzPts val="2800"/>
              <a:buNone/>
              <a:defRPr sz="2800">
                <a:solidFill>
                  <a:srgbClr val="FFFFFF"/>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p:nvPr/>
        </p:nvSpPr>
        <p:spPr>
          <a:xfrm flipH="1" rot="10800000">
            <a:off x="615650" y="2959437"/>
            <a:ext cx="7856700" cy="153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18" name="Shape 18"/>
        <p:cNvGrpSpPr/>
        <p:nvPr/>
      </p:nvGrpSpPr>
      <p:grpSpPr>
        <a:xfrm>
          <a:off x="0" y="0"/>
          <a:ext cx="0" cy="0"/>
          <a:chOff x="0" y="0"/>
          <a:chExt cx="0" cy="0"/>
        </a:xfrm>
      </p:grpSpPr>
      <p:sp>
        <p:nvSpPr>
          <p:cNvPr id="19" name="Google Shape;19;p4"/>
          <p:cNvSpPr/>
          <p:nvPr/>
        </p:nvSpPr>
        <p:spPr>
          <a:xfrm>
            <a:off x="-20250" y="-21600"/>
            <a:ext cx="9184500" cy="785700"/>
          </a:xfrm>
          <a:prstGeom prst="rect">
            <a:avLst/>
          </a:prstGeom>
          <a:solidFill>
            <a:srgbClr val="2196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141300" y="0"/>
            <a:ext cx="9012000" cy="742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4"/>
          <p:cNvSpPr txBox="1"/>
          <p:nvPr>
            <p:ph idx="1" type="body"/>
          </p:nvPr>
        </p:nvSpPr>
        <p:spPr>
          <a:xfrm>
            <a:off x="141300" y="914000"/>
            <a:ext cx="8932200" cy="42294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rgbClr val="000000"/>
              </a:buClr>
              <a:buSzPts val="2600"/>
              <a:buChar char="❏"/>
              <a:defRPr sz="2600">
                <a:solidFill>
                  <a:srgbClr val="000000"/>
                </a:solidFill>
              </a:defRPr>
            </a:lvl1pPr>
            <a:lvl2pPr indent="-355600" lvl="1" marL="914400" algn="l">
              <a:lnSpc>
                <a:spcPct val="115000"/>
              </a:lnSpc>
              <a:spcBef>
                <a:spcPts val="1600"/>
              </a:spcBef>
              <a:spcAft>
                <a:spcPts val="0"/>
              </a:spcAft>
              <a:buClr>
                <a:srgbClr val="000000"/>
              </a:buClr>
              <a:buSzPts val="2000"/>
              <a:buChar char="❏"/>
              <a:defRPr sz="2000">
                <a:solidFill>
                  <a:srgbClr val="000000"/>
                </a:solidFill>
              </a:defRPr>
            </a:lvl2pPr>
            <a:lvl3pPr indent="-342900" lvl="2" marL="1371600" algn="l">
              <a:lnSpc>
                <a:spcPct val="115000"/>
              </a:lnSpc>
              <a:spcBef>
                <a:spcPts val="1600"/>
              </a:spcBef>
              <a:spcAft>
                <a:spcPts val="0"/>
              </a:spcAft>
              <a:buClr>
                <a:srgbClr val="000000"/>
              </a:buClr>
              <a:buSzPts val="1800"/>
              <a:buChar char="❏"/>
              <a:defRPr sz="1800">
                <a:solidFill>
                  <a:srgbClr val="000000"/>
                </a:solidFill>
              </a:defRPr>
            </a:lvl3pPr>
            <a:lvl4pPr indent="-317500" lvl="3" marL="1828800" algn="l">
              <a:lnSpc>
                <a:spcPct val="115000"/>
              </a:lnSpc>
              <a:spcBef>
                <a:spcPts val="1600"/>
              </a:spcBef>
              <a:spcAft>
                <a:spcPts val="0"/>
              </a:spcAft>
              <a:buClr>
                <a:srgbClr val="000000"/>
              </a:buClr>
              <a:buSzPts val="1400"/>
              <a:buChar char="❏"/>
              <a:defRPr>
                <a:solidFill>
                  <a:srgbClr val="000000"/>
                </a:solidFill>
              </a:defRPr>
            </a:lvl4pPr>
            <a:lvl5pPr indent="-317500" lvl="4" marL="2286000" algn="l">
              <a:lnSpc>
                <a:spcPct val="115000"/>
              </a:lnSpc>
              <a:spcBef>
                <a:spcPts val="1600"/>
              </a:spcBef>
              <a:spcAft>
                <a:spcPts val="0"/>
              </a:spcAft>
              <a:buClr>
                <a:srgbClr val="000000"/>
              </a:buClr>
              <a:buSzPts val="1400"/>
              <a:buChar char="❏"/>
              <a:defRPr>
                <a:solidFill>
                  <a:srgbClr val="000000"/>
                </a:solidFill>
              </a:defRPr>
            </a:lvl5pPr>
            <a:lvl6pPr indent="-317500" lvl="5" marL="2743200" algn="l">
              <a:lnSpc>
                <a:spcPct val="115000"/>
              </a:lnSpc>
              <a:spcBef>
                <a:spcPts val="1600"/>
              </a:spcBef>
              <a:spcAft>
                <a:spcPts val="0"/>
              </a:spcAft>
              <a:buClr>
                <a:srgbClr val="000000"/>
              </a:buClr>
              <a:buSzPts val="1400"/>
              <a:buChar char="❏"/>
              <a:defRPr>
                <a:solidFill>
                  <a:srgbClr val="000000"/>
                </a:solidFill>
              </a:defRPr>
            </a:lvl6pPr>
            <a:lvl7pPr indent="-317500" lvl="6" marL="3200400" algn="l">
              <a:lnSpc>
                <a:spcPct val="115000"/>
              </a:lnSpc>
              <a:spcBef>
                <a:spcPts val="1600"/>
              </a:spcBef>
              <a:spcAft>
                <a:spcPts val="0"/>
              </a:spcAft>
              <a:buClr>
                <a:srgbClr val="000000"/>
              </a:buClr>
              <a:buSzPts val="1400"/>
              <a:buChar char="❏"/>
              <a:defRPr>
                <a:solidFill>
                  <a:srgbClr val="000000"/>
                </a:solidFill>
              </a:defRPr>
            </a:lvl7pPr>
            <a:lvl8pPr indent="-317500" lvl="7" marL="3657600" algn="l">
              <a:lnSpc>
                <a:spcPct val="115000"/>
              </a:lnSpc>
              <a:spcBef>
                <a:spcPts val="1600"/>
              </a:spcBef>
              <a:spcAft>
                <a:spcPts val="0"/>
              </a:spcAft>
              <a:buClr>
                <a:srgbClr val="000000"/>
              </a:buClr>
              <a:buSzPts val="1400"/>
              <a:buChar char="❏"/>
              <a:defRPr>
                <a:solidFill>
                  <a:srgbClr val="000000"/>
                </a:solidFill>
              </a:defRPr>
            </a:lvl8pPr>
            <a:lvl9pPr indent="-317500" lvl="8" marL="4114800" algn="l">
              <a:lnSpc>
                <a:spcPct val="115000"/>
              </a:lnSpc>
              <a:spcBef>
                <a:spcPts val="1600"/>
              </a:spcBef>
              <a:spcAft>
                <a:spcPts val="1600"/>
              </a:spcAft>
              <a:buClr>
                <a:srgbClr val="000000"/>
              </a:buClr>
              <a:buSzPts val="1400"/>
              <a:buChar char="❏"/>
              <a:defRPr>
                <a:solidFill>
                  <a:srgbClr val="000000"/>
                </a:solidFill>
              </a:defRPr>
            </a:lvl9pPr>
          </a:lstStyle>
          <a:p/>
        </p:txBody>
      </p:sp>
      <p:sp>
        <p:nvSpPr>
          <p:cNvPr id="22" name="Google Shape;22;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3" name="Shape 23"/>
        <p:cNvGrpSpPr/>
        <p:nvPr/>
      </p:nvGrpSpPr>
      <p:grpSpPr>
        <a:xfrm>
          <a:off x="0" y="0"/>
          <a:ext cx="0" cy="0"/>
          <a:chOff x="0" y="0"/>
          <a:chExt cx="0" cy="0"/>
        </a:xfrm>
      </p:grpSpPr>
      <p:sp>
        <p:nvSpPr>
          <p:cNvPr id="24" name="Google Shape;24;p5"/>
          <p:cNvSpPr/>
          <p:nvPr/>
        </p:nvSpPr>
        <p:spPr>
          <a:xfrm>
            <a:off x="540000" y="1281775"/>
            <a:ext cx="8064000" cy="2240700"/>
          </a:xfrm>
          <a:prstGeom prst="rect">
            <a:avLst/>
          </a:prstGeom>
          <a:solidFill>
            <a:srgbClr val="2196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5"/>
          <p:cNvSpPr txBox="1"/>
          <p:nvPr>
            <p:ph type="title"/>
          </p:nvPr>
        </p:nvSpPr>
        <p:spPr>
          <a:xfrm>
            <a:off x="540000" y="1281775"/>
            <a:ext cx="8064000" cy="2240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4800"/>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bg>
      <p:bgPr>
        <a:solidFill>
          <a:srgbClr val="FFFFFF"/>
        </a:solidFill>
      </p:bgPr>
    </p:bg>
    <p:spTree>
      <p:nvGrpSpPr>
        <p:cNvPr id="26" name="Shape 26"/>
        <p:cNvGrpSpPr/>
        <p:nvPr/>
      </p:nvGrpSpPr>
      <p:grpSpPr>
        <a:xfrm>
          <a:off x="0" y="0"/>
          <a:ext cx="0" cy="0"/>
          <a:chOff x="0" y="0"/>
          <a:chExt cx="0" cy="0"/>
        </a:xfrm>
      </p:grpSpPr>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7"/>
          <p:cNvSpPr txBox="1"/>
          <p:nvPr>
            <p:ph type="title"/>
          </p:nvPr>
        </p:nvSpPr>
        <p:spPr>
          <a:xfrm>
            <a:off x="200700" y="1624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8"/>
          <p:cNvSpPr txBox="1"/>
          <p:nvPr>
            <p:ph type="title"/>
          </p:nvPr>
        </p:nvSpPr>
        <p:spPr>
          <a:xfrm>
            <a:off x="200700" y="1624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39" name="Shape 39"/>
        <p:cNvGrpSpPr/>
        <p:nvPr/>
      </p:nvGrpSpPr>
      <p:grpSpPr>
        <a:xfrm>
          <a:off x="0" y="0"/>
          <a:ext cx="0" cy="0"/>
          <a:chOff x="0" y="0"/>
          <a:chExt cx="0" cy="0"/>
        </a:xfrm>
      </p:grpSpPr>
      <p:sp>
        <p:nvSpPr>
          <p:cNvPr id="40" name="Google Shape;40;p1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pic>
        <p:nvPicPr>
          <p:cNvPr id="41" name="Google Shape;41;p10"/>
          <p:cNvPicPr preferRelativeResize="0"/>
          <p:nvPr/>
        </p:nvPicPr>
        <p:blipFill rotWithShape="1">
          <a:blip r:embed="rId2">
            <a:alphaModFix/>
          </a:blip>
          <a:srcRect b="0" l="0" r="0" t="0"/>
          <a:stretch/>
        </p:blipFill>
        <p:spPr>
          <a:xfrm>
            <a:off x="6043950" y="2559800"/>
            <a:ext cx="1981149" cy="1981149"/>
          </a:xfrm>
          <a:prstGeom prst="rect">
            <a:avLst/>
          </a:prstGeom>
          <a:noFill/>
          <a:ln>
            <a:noFill/>
          </a:ln>
        </p:spPr>
      </p:pic>
      <p:sp>
        <p:nvSpPr>
          <p:cNvPr id="42" name="Google Shape;42;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1">
  <p:cSld name="MAIN_POINT_1_1">
    <p:spTree>
      <p:nvGrpSpPr>
        <p:cNvPr id="43" name="Shape 43"/>
        <p:cNvGrpSpPr/>
        <p:nvPr/>
      </p:nvGrpSpPr>
      <p:grpSpPr>
        <a:xfrm>
          <a:off x="0" y="0"/>
          <a:ext cx="0" cy="0"/>
          <a:chOff x="0" y="0"/>
          <a:chExt cx="0" cy="0"/>
        </a:xfrm>
      </p:grpSpPr>
      <p:sp>
        <p:nvSpPr>
          <p:cNvPr id="44" name="Google Shape;44;p1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pic>
        <p:nvPicPr>
          <p:cNvPr id="45" name="Google Shape;45;p11"/>
          <p:cNvPicPr preferRelativeResize="0"/>
          <p:nvPr/>
        </p:nvPicPr>
        <p:blipFill rotWithShape="1">
          <a:blip r:embed="rId2">
            <a:alphaModFix/>
          </a:blip>
          <a:srcRect b="0" l="0" r="0" t="0"/>
          <a:stretch/>
        </p:blipFill>
        <p:spPr>
          <a:xfrm>
            <a:off x="6654225" y="2887900"/>
            <a:ext cx="1683875" cy="1683875"/>
          </a:xfrm>
          <a:prstGeom prst="rect">
            <a:avLst/>
          </a:prstGeom>
          <a:noFill/>
          <a:ln>
            <a:noFill/>
          </a:ln>
        </p:spPr>
      </p:pic>
      <p:sp>
        <p:nvSpPr>
          <p:cNvPr id="46" name="Google Shape;46;p1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12"/>
          <p:cNvSpPr/>
          <p:nvPr/>
        </p:nvSpPr>
        <p:spPr>
          <a:xfrm>
            <a:off x="4572000" y="-125"/>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0" name="Google Shape;50;p1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1" name="Google Shape;51;p12"/>
          <p:cNvSpPr txBox="1"/>
          <p:nvPr>
            <p:ph idx="2" type="body"/>
          </p:nvPr>
        </p:nvSpPr>
        <p:spPr>
          <a:xfrm>
            <a:off x="4834400" y="403700"/>
            <a:ext cx="4107600" cy="4359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rgbClr val="000000"/>
              </a:buClr>
              <a:buSzPts val="1800"/>
              <a:buChar char="●"/>
              <a:defRPr>
                <a:solidFill>
                  <a:srgbClr val="000000"/>
                </a:solidFill>
              </a:defRPr>
            </a:lvl1pPr>
            <a:lvl2pPr indent="-317500" lvl="1" marL="914400" algn="l">
              <a:lnSpc>
                <a:spcPct val="115000"/>
              </a:lnSpc>
              <a:spcBef>
                <a:spcPts val="1600"/>
              </a:spcBef>
              <a:spcAft>
                <a:spcPts val="0"/>
              </a:spcAft>
              <a:buClr>
                <a:srgbClr val="000000"/>
              </a:buClr>
              <a:buSzPts val="1400"/>
              <a:buChar char="○"/>
              <a:defRPr>
                <a:solidFill>
                  <a:srgbClr val="000000"/>
                </a:solidFill>
              </a:defRPr>
            </a:lvl2pPr>
            <a:lvl3pPr indent="-317500" lvl="2" marL="1371600" algn="l">
              <a:lnSpc>
                <a:spcPct val="115000"/>
              </a:lnSpc>
              <a:spcBef>
                <a:spcPts val="1600"/>
              </a:spcBef>
              <a:spcAft>
                <a:spcPts val="0"/>
              </a:spcAft>
              <a:buClr>
                <a:srgbClr val="000000"/>
              </a:buClr>
              <a:buSzPts val="1400"/>
              <a:buChar char="■"/>
              <a:defRPr>
                <a:solidFill>
                  <a:srgbClr val="000000"/>
                </a:solidFill>
              </a:defRPr>
            </a:lvl3pPr>
            <a:lvl4pPr indent="-317500" lvl="3" marL="1828800" algn="l">
              <a:lnSpc>
                <a:spcPct val="115000"/>
              </a:lnSpc>
              <a:spcBef>
                <a:spcPts val="1600"/>
              </a:spcBef>
              <a:spcAft>
                <a:spcPts val="0"/>
              </a:spcAft>
              <a:buClr>
                <a:srgbClr val="000000"/>
              </a:buClr>
              <a:buSzPts val="1400"/>
              <a:buChar char="●"/>
              <a:defRPr>
                <a:solidFill>
                  <a:srgbClr val="000000"/>
                </a:solidFill>
              </a:defRPr>
            </a:lvl4pPr>
            <a:lvl5pPr indent="-317500" lvl="4" marL="2286000" algn="l">
              <a:lnSpc>
                <a:spcPct val="115000"/>
              </a:lnSpc>
              <a:spcBef>
                <a:spcPts val="1600"/>
              </a:spcBef>
              <a:spcAft>
                <a:spcPts val="0"/>
              </a:spcAft>
              <a:buClr>
                <a:srgbClr val="000000"/>
              </a:buClr>
              <a:buSzPts val="1400"/>
              <a:buChar char="○"/>
              <a:defRPr>
                <a:solidFill>
                  <a:srgbClr val="000000"/>
                </a:solidFill>
              </a:defRPr>
            </a:lvl5pPr>
            <a:lvl6pPr indent="-317500" lvl="5" marL="2743200" algn="l">
              <a:lnSpc>
                <a:spcPct val="115000"/>
              </a:lnSpc>
              <a:spcBef>
                <a:spcPts val="1600"/>
              </a:spcBef>
              <a:spcAft>
                <a:spcPts val="0"/>
              </a:spcAft>
              <a:buClr>
                <a:srgbClr val="000000"/>
              </a:buClr>
              <a:buSzPts val="1400"/>
              <a:buChar char="■"/>
              <a:defRPr>
                <a:solidFill>
                  <a:srgbClr val="000000"/>
                </a:solidFill>
              </a:defRPr>
            </a:lvl6pPr>
            <a:lvl7pPr indent="-317500" lvl="6" marL="3200400" algn="l">
              <a:lnSpc>
                <a:spcPct val="115000"/>
              </a:lnSpc>
              <a:spcBef>
                <a:spcPts val="1600"/>
              </a:spcBef>
              <a:spcAft>
                <a:spcPts val="0"/>
              </a:spcAft>
              <a:buClr>
                <a:srgbClr val="000000"/>
              </a:buClr>
              <a:buSzPts val="1400"/>
              <a:buChar char="●"/>
              <a:defRPr>
                <a:solidFill>
                  <a:srgbClr val="000000"/>
                </a:solidFill>
              </a:defRPr>
            </a:lvl7pPr>
            <a:lvl8pPr indent="-317500" lvl="7" marL="3657600" algn="l">
              <a:lnSpc>
                <a:spcPct val="115000"/>
              </a:lnSpc>
              <a:spcBef>
                <a:spcPts val="1600"/>
              </a:spcBef>
              <a:spcAft>
                <a:spcPts val="0"/>
              </a:spcAft>
              <a:buClr>
                <a:srgbClr val="000000"/>
              </a:buClr>
              <a:buSzPts val="1400"/>
              <a:buChar char="○"/>
              <a:defRPr>
                <a:solidFill>
                  <a:srgbClr val="000000"/>
                </a:solidFill>
              </a:defRPr>
            </a:lvl8pPr>
            <a:lvl9pPr indent="-317500" lvl="8" marL="4114800" algn="l">
              <a:lnSpc>
                <a:spcPct val="115000"/>
              </a:lnSpc>
              <a:spcBef>
                <a:spcPts val="1600"/>
              </a:spcBef>
              <a:spcAft>
                <a:spcPts val="1600"/>
              </a:spcAft>
              <a:buClr>
                <a:srgbClr val="000000"/>
              </a:buClr>
              <a:buSzPts val="1400"/>
              <a:buChar char="■"/>
              <a:defRPr>
                <a:solidFill>
                  <a:srgbClr val="000000"/>
                </a:solidFill>
              </a:defRPr>
            </a:lvl9pPr>
          </a:lstStyle>
          <a:p/>
        </p:txBody>
      </p:sp>
      <p:sp>
        <p:nvSpPr>
          <p:cNvPr id="52" name="Google Shape;52;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55" name="Google Shape;55;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196F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00700" y="1624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FFFFFF"/>
              </a:buClr>
              <a:buSzPts val="2800"/>
              <a:buFont typeface="Roboto"/>
              <a:buNone/>
              <a:defRPr b="0" i="0" sz="2800" u="none" cap="none" strike="noStrike">
                <a:solidFill>
                  <a:srgbClr val="FFFFFF"/>
                </a:solidFill>
                <a:latin typeface="Roboto"/>
                <a:ea typeface="Roboto"/>
                <a:cs typeface="Roboto"/>
                <a:sym typeface="Roboto"/>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90825" y="863550"/>
            <a:ext cx="9053100" cy="42798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FFFFFF"/>
              </a:buClr>
              <a:buSzPts val="1800"/>
              <a:buFont typeface="Roboto"/>
              <a:buChar char="●"/>
              <a:defRPr b="0" i="0" sz="1800" u="none" cap="none" strike="noStrike">
                <a:solidFill>
                  <a:srgbClr val="FFFFFF"/>
                </a:solidFill>
                <a:latin typeface="Roboto"/>
                <a:ea typeface="Roboto"/>
                <a:cs typeface="Roboto"/>
                <a:sym typeface="Roboto"/>
              </a:defRPr>
            </a:lvl1pPr>
            <a:lvl2pPr indent="-317500" lvl="1" marL="9144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2pPr>
            <a:lvl3pPr indent="-317500" lvl="2" marL="13716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3pPr>
            <a:lvl4pPr indent="-317500" lvl="3" marL="18288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4pPr>
            <a:lvl5pPr indent="-317500" lvl="4" marL="22860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5pPr>
            <a:lvl6pPr indent="-317500" lvl="5" marL="27432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6pPr>
            <a:lvl7pPr indent="-317500" lvl="6" marL="32004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7pPr>
            <a:lvl8pPr indent="-317500" lvl="7" marL="36576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8pPr>
            <a:lvl9pPr indent="-317500" lvl="8" marL="4114800" marR="0" rtl="0" algn="l">
              <a:lnSpc>
                <a:spcPct val="115000"/>
              </a:lnSpc>
              <a:spcBef>
                <a:spcPts val="1600"/>
              </a:spcBef>
              <a:spcAft>
                <a:spcPts val="1600"/>
              </a:spcAft>
              <a:buClr>
                <a:srgbClr val="FFFFFF"/>
              </a:buClr>
              <a:buSzPts val="1400"/>
              <a:buFont typeface="Roboto"/>
              <a:buChar char="■"/>
              <a:defRPr b="0" i="0" sz="1400" u="none" cap="none" strike="noStrike">
                <a:solidFill>
                  <a:srgbClr val="FFFFFF"/>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en.wikipedia.org/wiki/1854_Broad_Street_cholera_outbreak"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s://www.kaggle.com/datasets/jainpooja/fake-news-detection" TargetMode="External"/><Relationship Id="rId4"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www.kaggle.com/code/tdquang/fake-news-detectio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s://www.kaggle.com/datasets/ziya07/smarttourrouteplanner-tourism-route-dataset" TargetMode="External"/><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www.kaggle.com/code/tdquang/smarttravel-tourism-route-dataset"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0" y="1907525"/>
            <a:ext cx="9144000" cy="1392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6600"/>
              <a:buFont typeface="Quattrocento Sans"/>
              <a:buNone/>
            </a:pPr>
            <a:r>
              <a:rPr lang="en" sz="4400"/>
              <a:t>Pattern recognition</a:t>
            </a:r>
            <a:endParaRPr sz="4400"/>
          </a:p>
        </p:txBody>
      </p:sp>
      <p:sp>
        <p:nvSpPr>
          <p:cNvPr id="61" name="Google Shape;61;p14"/>
          <p:cNvSpPr txBox="1"/>
          <p:nvPr>
            <p:ph idx="1" type="subTitle"/>
          </p:nvPr>
        </p:nvSpPr>
        <p:spPr>
          <a:xfrm>
            <a:off x="311700" y="3764663"/>
            <a:ext cx="85206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2000"/>
              <a:t>Introduction to computational thinking</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141300" y="0"/>
            <a:ext cx="9012000" cy="742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What is pattern recognition?</a:t>
            </a:r>
            <a:endParaRPr/>
          </a:p>
        </p:txBody>
      </p:sp>
      <p:sp>
        <p:nvSpPr>
          <p:cNvPr id="67" name="Google Shape;67;p15"/>
          <p:cNvSpPr txBox="1"/>
          <p:nvPr>
            <p:ph idx="1" type="body"/>
          </p:nvPr>
        </p:nvSpPr>
        <p:spPr>
          <a:xfrm>
            <a:off x="141300" y="914000"/>
            <a:ext cx="8932200" cy="422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600"/>
              <a:buNone/>
            </a:pPr>
            <a:r>
              <a:rPr lang="en"/>
              <a:t>“Pattern recognition is the process of finding </a:t>
            </a:r>
            <a:r>
              <a:rPr b="1" lang="en">
                <a:solidFill>
                  <a:srgbClr val="38761D"/>
                </a:solidFill>
              </a:rPr>
              <a:t>similarities</a:t>
            </a:r>
            <a:r>
              <a:rPr lang="en"/>
              <a:t>, or </a:t>
            </a:r>
            <a:r>
              <a:rPr b="1" lang="en">
                <a:solidFill>
                  <a:srgbClr val="38761D"/>
                </a:solidFill>
              </a:rPr>
              <a:t>patterns</a:t>
            </a:r>
            <a:r>
              <a:rPr lang="en"/>
              <a:t>, once we go through the decomposition of problems”</a:t>
            </a:r>
            <a:endParaRPr/>
          </a:p>
          <a:p>
            <a:pPr indent="0" lvl="0" marL="0" rtl="0" algn="l">
              <a:spcBef>
                <a:spcPts val="0"/>
              </a:spcBef>
              <a:spcAft>
                <a:spcPts val="0"/>
              </a:spcAft>
              <a:buClr>
                <a:schemeClr val="dk1"/>
              </a:buClr>
              <a:buSzPts val="2600"/>
              <a:buFont typeface="Arial"/>
              <a:buNone/>
            </a:pPr>
            <a:r>
              <a:rPr i="1" lang="en" sz="2400">
                <a:solidFill>
                  <a:schemeClr val="dk2"/>
                </a:solidFill>
              </a:rPr>
              <a:t>- Applied Computational Thinking with Python, Packt, 2020, p. 33</a:t>
            </a:r>
            <a:endParaRPr sz="2400">
              <a:solidFill>
                <a:schemeClr val="dk2"/>
              </a:solidFill>
            </a:endParaRPr>
          </a:p>
          <a:p>
            <a:pPr indent="0" lvl="0" marL="0" rtl="0" algn="l">
              <a:lnSpc>
                <a:spcPct val="115000"/>
              </a:lnSpc>
              <a:spcBef>
                <a:spcPts val="0"/>
              </a:spcBef>
              <a:spcAft>
                <a:spcPts val="0"/>
              </a:spcAft>
              <a:buNone/>
            </a:pPr>
            <a:r>
              <a:t/>
            </a:r>
            <a:endParaRPr/>
          </a:p>
        </p:txBody>
      </p:sp>
      <p:sp>
        <p:nvSpPr>
          <p:cNvPr id="68" name="Google Shape;6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Examples</a:t>
            </a:r>
            <a:endParaRPr/>
          </a:p>
        </p:txBody>
      </p:sp>
      <p:sp>
        <p:nvSpPr>
          <p:cNvPr id="74" name="Google Shape;74;p16"/>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b="1" lang="en">
                <a:solidFill>
                  <a:srgbClr val="0000FF"/>
                </a:solidFill>
              </a:rPr>
              <a:t>Data analyst</a:t>
            </a:r>
            <a:r>
              <a:rPr lang="en"/>
              <a:t> identifies </a:t>
            </a:r>
            <a:r>
              <a:rPr lang="en">
                <a:solidFill>
                  <a:srgbClr val="FF0000"/>
                </a:solidFill>
              </a:rPr>
              <a:t>seasonal patterns</a:t>
            </a:r>
            <a:r>
              <a:rPr lang="en"/>
              <a:t> (peaks every December) =&gt; </a:t>
            </a:r>
            <a:r>
              <a:rPr b="1" lang="en">
                <a:solidFill>
                  <a:srgbClr val="38761D"/>
                </a:solidFill>
              </a:rPr>
              <a:t>predict </a:t>
            </a:r>
            <a:r>
              <a:rPr lang="en"/>
              <a:t>future trends &amp; inform decision making</a:t>
            </a:r>
            <a:endParaRPr/>
          </a:p>
          <a:p>
            <a:pPr indent="-393700" lvl="0" marL="457200" rtl="0" algn="l">
              <a:spcBef>
                <a:spcPts val="0"/>
              </a:spcBef>
              <a:spcAft>
                <a:spcPts val="0"/>
              </a:spcAft>
              <a:buSzPts val="2600"/>
              <a:buChar char="❏"/>
            </a:pPr>
            <a:r>
              <a:rPr b="1" lang="en">
                <a:solidFill>
                  <a:srgbClr val="0000FF"/>
                </a:solidFill>
              </a:rPr>
              <a:t>Teacher </a:t>
            </a:r>
            <a:r>
              <a:rPr lang="en"/>
              <a:t>grading exams: students making the </a:t>
            </a:r>
            <a:r>
              <a:rPr lang="en">
                <a:solidFill>
                  <a:srgbClr val="FF0000"/>
                </a:solidFill>
              </a:rPr>
              <a:t>same mistake</a:t>
            </a:r>
            <a:r>
              <a:rPr lang="en"/>
              <a:t> on a particular question =&gt; </a:t>
            </a:r>
            <a:r>
              <a:rPr b="1" lang="en">
                <a:solidFill>
                  <a:srgbClr val="38761D"/>
                </a:solidFill>
              </a:rPr>
              <a:t>address </a:t>
            </a:r>
            <a:r>
              <a:rPr lang="en"/>
              <a:t>common misunderstanding in class, improve learning outcomes</a:t>
            </a:r>
            <a:endParaRPr/>
          </a:p>
        </p:txBody>
      </p:sp>
      <p:sp>
        <p:nvSpPr>
          <p:cNvPr id="75" name="Google Shape;75;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What comes next? Pattern generalization &amp; Reuse</a:t>
            </a:r>
            <a:endParaRPr/>
          </a:p>
        </p:txBody>
      </p:sp>
      <p:sp>
        <p:nvSpPr>
          <p:cNvPr id="81" name="Google Shape;81;p17"/>
          <p:cNvSpPr txBox="1"/>
          <p:nvPr>
            <p:ph idx="1" type="body"/>
          </p:nvPr>
        </p:nvSpPr>
        <p:spPr>
          <a:xfrm>
            <a:off x="141300" y="829800"/>
            <a:ext cx="8932200" cy="43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sorting algorithm for numbers =&gt; sort words / other items by defining a comparison rule</a:t>
            </a:r>
            <a:endParaRPr/>
          </a:p>
          <a:p>
            <a:pPr indent="0" lvl="0" marL="0" rtl="0" algn="l">
              <a:spcBef>
                <a:spcPts val="0"/>
              </a:spcBef>
              <a:spcAft>
                <a:spcPts val="0"/>
              </a:spcAft>
              <a:buNone/>
            </a:pPr>
            <a:r>
              <a:rPr lang="en"/>
              <a:t>Let’s have a look at a sort function in Python:</a:t>
            </a:r>
            <a:endParaRPr/>
          </a:p>
        </p:txBody>
      </p:sp>
      <p:sp>
        <p:nvSpPr>
          <p:cNvPr id="82" name="Google Shape;82;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83" name="Google Shape;83;p17"/>
          <p:cNvPicPr preferRelativeResize="0"/>
          <p:nvPr/>
        </p:nvPicPr>
        <p:blipFill>
          <a:blip r:embed="rId3">
            <a:alphaModFix/>
          </a:blip>
          <a:stretch>
            <a:fillRect/>
          </a:stretch>
        </p:blipFill>
        <p:spPr>
          <a:xfrm>
            <a:off x="1550575" y="2389825"/>
            <a:ext cx="5753100" cy="2667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Usage for comparison</a:t>
            </a:r>
            <a:endParaRPr/>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90" name="Google Shape;90;p18"/>
          <p:cNvPicPr preferRelativeResize="0"/>
          <p:nvPr/>
        </p:nvPicPr>
        <p:blipFill>
          <a:blip r:embed="rId3">
            <a:alphaModFix/>
          </a:blip>
          <a:stretch>
            <a:fillRect/>
          </a:stretch>
        </p:blipFill>
        <p:spPr>
          <a:xfrm>
            <a:off x="152400" y="894900"/>
            <a:ext cx="4600575" cy="1762125"/>
          </a:xfrm>
          <a:prstGeom prst="rect">
            <a:avLst/>
          </a:prstGeom>
          <a:noFill/>
          <a:ln>
            <a:noFill/>
          </a:ln>
        </p:spPr>
      </p:pic>
      <p:pic>
        <p:nvPicPr>
          <p:cNvPr id="91" name="Google Shape;91;p18"/>
          <p:cNvPicPr preferRelativeResize="0"/>
          <p:nvPr/>
        </p:nvPicPr>
        <p:blipFill>
          <a:blip r:embed="rId4">
            <a:alphaModFix/>
          </a:blip>
          <a:stretch>
            <a:fillRect/>
          </a:stretch>
        </p:blipFill>
        <p:spPr>
          <a:xfrm>
            <a:off x="152400" y="2809425"/>
            <a:ext cx="3028950" cy="1733550"/>
          </a:xfrm>
          <a:prstGeom prst="rect">
            <a:avLst/>
          </a:prstGeom>
          <a:noFill/>
          <a:ln>
            <a:noFill/>
          </a:ln>
        </p:spPr>
      </p:pic>
      <p:pic>
        <p:nvPicPr>
          <p:cNvPr id="92" name="Google Shape;92;p18"/>
          <p:cNvPicPr preferRelativeResize="0"/>
          <p:nvPr/>
        </p:nvPicPr>
        <p:blipFill>
          <a:blip r:embed="rId5">
            <a:alphaModFix/>
          </a:blip>
          <a:stretch>
            <a:fillRect/>
          </a:stretch>
        </p:blipFill>
        <p:spPr>
          <a:xfrm>
            <a:off x="5364000" y="904875"/>
            <a:ext cx="3314700" cy="3333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a:t>
            </a:r>
            <a:r>
              <a:rPr lang="en"/>
              <a:t>rray bounds</a:t>
            </a:r>
            <a:endParaRPr/>
          </a:p>
        </p:txBody>
      </p:sp>
      <p:sp>
        <p:nvSpPr>
          <p:cNvPr id="98" name="Google Shape;98;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99" name="Google Shape;99;p19"/>
          <p:cNvSpPr txBox="1"/>
          <p:nvPr>
            <p:ph idx="1" type="body"/>
          </p:nvPr>
        </p:nvSpPr>
        <p:spPr>
          <a:xfrm>
            <a:off x="221100" y="3178250"/>
            <a:ext cx="8932200" cy="104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Pattern of bug: Fail to check array bounds</a:t>
            </a:r>
            <a:endParaRPr/>
          </a:p>
          <a:p>
            <a:pPr indent="0" lvl="0" marL="0" rtl="0" algn="l">
              <a:spcBef>
                <a:spcPts val="0"/>
              </a:spcBef>
              <a:spcAft>
                <a:spcPts val="0"/>
              </a:spcAft>
              <a:buNone/>
            </a:pPr>
            <a:r>
              <a:rPr lang="en"/>
              <a:t>Generalized rule: </a:t>
            </a:r>
            <a:r>
              <a:rPr b="1" lang="en">
                <a:solidFill>
                  <a:srgbClr val="38761D"/>
                </a:solidFill>
              </a:rPr>
              <a:t>Always validate indices before access</a:t>
            </a:r>
            <a:endParaRPr b="1">
              <a:solidFill>
                <a:srgbClr val="38761D"/>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00" name="Google Shape;100;p19"/>
          <p:cNvPicPr preferRelativeResize="0"/>
          <p:nvPr/>
        </p:nvPicPr>
        <p:blipFill>
          <a:blip r:embed="rId3">
            <a:alphaModFix/>
          </a:blip>
          <a:stretch>
            <a:fillRect/>
          </a:stretch>
        </p:blipFill>
        <p:spPr>
          <a:xfrm>
            <a:off x="152400" y="894900"/>
            <a:ext cx="2838450" cy="1390650"/>
          </a:xfrm>
          <a:prstGeom prst="rect">
            <a:avLst/>
          </a:prstGeom>
          <a:noFill/>
          <a:ln>
            <a:noFill/>
          </a:ln>
        </p:spPr>
      </p:pic>
      <p:pic>
        <p:nvPicPr>
          <p:cNvPr id="101" name="Google Shape;101;p19"/>
          <p:cNvPicPr preferRelativeResize="0"/>
          <p:nvPr/>
        </p:nvPicPr>
        <p:blipFill>
          <a:blip r:embed="rId4">
            <a:alphaModFix/>
          </a:blip>
          <a:stretch>
            <a:fillRect/>
          </a:stretch>
        </p:blipFill>
        <p:spPr>
          <a:xfrm>
            <a:off x="3143250" y="894900"/>
            <a:ext cx="5848350" cy="183878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Finding optima</a:t>
            </a:r>
            <a:endParaRPr/>
          </a:p>
        </p:txBody>
      </p:sp>
      <p:sp>
        <p:nvSpPr>
          <p:cNvPr id="107" name="Google Shape;107;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08" name="Google Shape;108;p20"/>
          <p:cNvPicPr preferRelativeResize="0"/>
          <p:nvPr/>
        </p:nvPicPr>
        <p:blipFill>
          <a:blip r:embed="rId3">
            <a:alphaModFix/>
          </a:blip>
          <a:stretch>
            <a:fillRect/>
          </a:stretch>
        </p:blipFill>
        <p:spPr>
          <a:xfrm>
            <a:off x="251200" y="1129975"/>
            <a:ext cx="1943100" cy="3048000"/>
          </a:xfrm>
          <a:prstGeom prst="rect">
            <a:avLst/>
          </a:prstGeom>
          <a:noFill/>
          <a:ln>
            <a:noFill/>
          </a:ln>
        </p:spPr>
      </p:pic>
      <p:pic>
        <p:nvPicPr>
          <p:cNvPr id="109" name="Google Shape;109;p20"/>
          <p:cNvPicPr preferRelativeResize="0"/>
          <p:nvPr/>
        </p:nvPicPr>
        <p:blipFill>
          <a:blip r:embed="rId4">
            <a:alphaModFix/>
          </a:blip>
          <a:stretch>
            <a:fillRect/>
          </a:stretch>
        </p:blipFill>
        <p:spPr>
          <a:xfrm>
            <a:off x="3723125" y="941000"/>
            <a:ext cx="2733675" cy="1790700"/>
          </a:xfrm>
          <a:prstGeom prst="rect">
            <a:avLst/>
          </a:prstGeom>
          <a:noFill/>
          <a:ln>
            <a:noFill/>
          </a:ln>
        </p:spPr>
      </p:pic>
      <p:pic>
        <p:nvPicPr>
          <p:cNvPr id="110" name="Google Shape;110;p20"/>
          <p:cNvPicPr preferRelativeResize="0"/>
          <p:nvPr/>
        </p:nvPicPr>
        <p:blipFill>
          <a:blip r:embed="rId5">
            <a:alphaModFix/>
          </a:blip>
          <a:stretch>
            <a:fillRect/>
          </a:stretch>
        </p:blipFill>
        <p:spPr>
          <a:xfrm>
            <a:off x="3723125" y="2930200"/>
            <a:ext cx="4324350" cy="1247775"/>
          </a:xfrm>
          <a:prstGeom prst="rect">
            <a:avLst/>
          </a:prstGeom>
          <a:noFill/>
          <a:ln>
            <a:noFill/>
          </a:ln>
        </p:spPr>
      </p:pic>
      <p:sp>
        <p:nvSpPr>
          <p:cNvPr id="111" name="Google Shape;111;p20"/>
          <p:cNvSpPr/>
          <p:nvPr/>
        </p:nvSpPr>
        <p:spPr>
          <a:xfrm>
            <a:off x="2706750" y="2430150"/>
            <a:ext cx="625800" cy="434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Filter condition</a:t>
            </a:r>
            <a:endParaRPr/>
          </a:p>
        </p:txBody>
      </p:sp>
      <p:sp>
        <p:nvSpPr>
          <p:cNvPr id="117" name="Google Shape;117;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18" name="Google Shape;118;p21"/>
          <p:cNvPicPr preferRelativeResize="0"/>
          <p:nvPr/>
        </p:nvPicPr>
        <p:blipFill>
          <a:blip r:embed="rId3">
            <a:alphaModFix/>
          </a:blip>
          <a:stretch>
            <a:fillRect/>
          </a:stretch>
        </p:blipFill>
        <p:spPr>
          <a:xfrm>
            <a:off x="4946875" y="835650"/>
            <a:ext cx="4140175" cy="2253100"/>
          </a:xfrm>
          <a:prstGeom prst="rect">
            <a:avLst/>
          </a:prstGeom>
          <a:noFill/>
          <a:ln>
            <a:noFill/>
          </a:ln>
        </p:spPr>
      </p:pic>
      <p:pic>
        <p:nvPicPr>
          <p:cNvPr id="119" name="Google Shape;119;p21"/>
          <p:cNvPicPr preferRelativeResize="0"/>
          <p:nvPr/>
        </p:nvPicPr>
        <p:blipFill>
          <a:blip r:embed="rId4">
            <a:alphaModFix/>
          </a:blip>
          <a:stretch>
            <a:fillRect/>
          </a:stretch>
        </p:blipFill>
        <p:spPr>
          <a:xfrm>
            <a:off x="73375" y="2322475"/>
            <a:ext cx="4292550" cy="1011575"/>
          </a:xfrm>
          <a:prstGeom prst="rect">
            <a:avLst/>
          </a:prstGeom>
          <a:noFill/>
          <a:ln>
            <a:noFill/>
          </a:ln>
        </p:spPr>
      </p:pic>
      <p:pic>
        <p:nvPicPr>
          <p:cNvPr id="120" name="Google Shape;120;p21"/>
          <p:cNvPicPr preferRelativeResize="0"/>
          <p:nvPr/>
        </p:nvPicPr>
        <p:blipFill>
          <a:blip r:embed="rId5">
            <a:alphaModFix/>
          </a:blip>
          <a:stretch>
            <a:fillRect/>
          </a:stretch>
        </p:blipFill>
        <p:spPr>
          <a:xfrm>
            <a:off x="73375" y="3447100"/>
            <a:ext cx="5581650" cy="1609725"/>
          </a:xfrm>
          <a:prstGeom prst="rect">
            <a:avLst/>
          </a:prstGeom>
          <a:noFill/>
          <a:ln>
            <a:noFill/>
          </a:ln>
        </p:spPr>
      </p:pic>
      <p:sp>
        <p:nvSpPr>
          <p:cNvPr id="121" name="Google Shape;121;p21"/>
          <p:cNvSpPr/>
          <p:nvPr/>
        </p:nvSpPr>
        <p:spPr>
          <a:xfrm rot="-2119599">
            <a:off x="4420047" y="2867322"/>
            <a:ext cx="454485" cy="493858"/>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540000" y="1281775"/>
            <a:ext cx="8064000" cy="224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Exercise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Finding patterns</a:t>
            </a:r>
            <a:endParaRPr/>
          </a:p>
        </p:txBody>
      </p:sp>
      <p:sp>
        <p:nvSpPr>
          <p:cNvPr id="132" name="Google Shape;132;p23"/>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 similarities or patterns between </a:t>
            </a:r>
            <a:r>
              <a:rPr lang="en"/>
              <a:t>components</a:t>
            </a:r>
            <a:r>
              <a:rPr lang="en"/>
              <a:t> for</a:t>
            </a:r>
            <a:endParaRPr/>
          </a:p>
          <a:p>
            <a:pPr indent="-393700" lvl="0" marL="457200" rtl="0" algn="l">
              <a:spcBef>
                <a:spcPts val="0"/>
              </a:spcBef>
              <a:spcAft>
                <a:spcPts val="0"/>
              </a:spcAft>
              <a:buSzPts val="2600"/>
              <a:buChar char="❏"/>
            </a:pPr>
            <a:r>
              <a:rPr lang="en"/>
              <a:t>A course registration system</a:t>
            </a:r>
            <a:endParaRPr/>
          </a:p>
          <a:p>
            <a:pPr indent="0" lvl="0" marL="0" rtl="0" algn="l">
              <a:spcBef>
                <a:spcPts val="0"/>
              </a:spcBef>
              <a:spcAft>
                <a:spcPts val="0"/>
              </a:spcAft>
              <a:buNone/>
            </a:pPr>
            <a:r>
              <a:t/>
            </a:r>
            <a:endParaRPr/>
          </a:p>
        </p:txBody>
      </p:sp>
      <p:sp>
        <p:nvSpPr>
          <p:cNvPr id="133" name="Google Shape;133;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Suggested</a:t>
            </a:r>
            <a:endParaRPr/>
          </a:p>
        </p:txBody>
      </p:sp>
      <p:sp>
        <p:nvSpPr>
          <p:cNvPr id="139" name="Google Shape;139;p24"/>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C</a:t>
            </a:r>
            <a:r>
              <a:rPr lang="en"/>
              <a:t>onflict checking might resemble a scheduling problem </a:t>
            </a:r>
            <a:endParaRPr/>
          </a:p>
          <a:p>
            <a:pPr indent="-393700" lvl="0" marL="457200" rtl="0" algn="l">
              <a:spcBef>
                <a:spcPts val="0"/>
              </a:spcBef>
              <a:spcAft>
                <a:spcPts val="0"/>
              </a:spcAft>
              <a:buSzPts val="2600"/>
              <a:buChar char="❏"/>
            </a:pPr>
            <a:r>
              <a:rPr lang="en"/>
              <a:t>Managing a waitlist has a pattern similar to a queue data structure</a:t>
            </a:r>
            <a:endParaRPr/>
          </a:p>
        </p:txBody>
      </p:sp>
      <p:sp>
        <p:nvSpPr>
          <p:cNvPr id="140" name="Google Shape;140;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540000" y="1281775"/>
            <a:ext cx="8064000" cy="224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Abstraction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141300" y="0"/>
            <a:ext cx="9012000" cy="742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What is abstraction?</a:t>
            </a:r>
            <a:endParaRPr/>
          </a:p>
        </p:txBody>
      </p:sp>
      <p:sp>
        <p:nvSpPr>
          <p:cNvPr id="151" name="Google Shape;151;p26"/>
          <p:cNvSpPr txBox="1"/>
          <p:nvPr>
            <p:ph idx="1" type="body"/>
          </p:nvPr>
        </p:nvSpPr>
        <p:spPr>
          <a:xfrm>
            <a:off x="141300" y="914000"/>
            <a:ext cx="8932200" cy="422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600"/>
              <a:buNone/>
            </a:pPr>
            <a:r>
              <a:rPr lang="en"/>
              <a:t>“Abstraction lets us </a:t>
            </a:r>
            <a:r>
              <a:rPr b="1" lang="en">
                <a:solidFill>
                  <a:srgbClr val="38761D"/>
                </a:solidFill>
              </a:rPr>
              <a:t>focus </a:t>
            </a:r>
            <a:r>
              <a:rPr lang="en"/>
              <a:t>on the things we </a:t>
            </a:r>
            <a:r>
              <a:rPr b="1" lang="en">
                <a:solidFill>
                  <a:srgbClr val="38761D"/>
                </a:solidFill>
              </a:rPr>
              <a:t>need </a:t>
            </a:r>
            <a:r>
              <a:rPr lang="en"/>
              <a:t>and </a:t>
            </a:r>
            <a:r>
              <a:rPr b="1" lang="en">
                <a:solidFill>
                  <a:srgbClr val="FF0000"/>
                </a:solidFill>
              </a:rPr>
              <a:t>discard </a:t>
            </a:r>
            <a:r>
              <a:rPr lang="en"/>
              <a:t>things we do not need in order to create the </a:t>
            </a:r>
            <a:r>
              <a:rPr b="1" lang="en">
                <a:solidFill>
                  <a:srgbClr val="9900FF"/>
                </a:solidFill>
              </a:rPr>
              <a:t>best algorithm</a:t>
            </a:r>
            <a:r>
              <a:rPr lang="en"/>
              <a:t> for our problem. Now, depending on what we decide we need, we can </a:t>
            </a:r>
            <a:r>
              <a:rPr b="1" lang="en" u="sng">
                <a:solidFill>
                  <a:srgbClr val="0000FF"/>
                </a:solidFill>
              </a:rPr>
              <a:t>add </a:t>
            </a:r>
            <a:r>
              <a:rPr lang="en"/>
              <a:t>or </a:t>
            </a:r>
            <a:r>
              <a:rPr b="1" lang="en" u="sng">
                <a:solidFill>
                  <a:srgbClr val="0000FF"/>
                </a:solidFill>
              </a:rPr>
              <a:t>remove </a:t>
            </a:r>
            <a:r>
              <a:rPr lang="en"/>
              <a:t>some </a:t>
            </a:r>
            <a:r>
              <a:rPr b="1" lang="en"/>
              <a:t>conditions</a:t>
            </a:r>
            <a:r>
              <a:rPr lang="en"/>
              <a:t>.”</a:t>
            </a:r>
            <a:endParaRPr/>
          </a:p>
          <a:p>
            <a:pPr indent="0" lvl="0" marL="0" rtl="0" algn="l">
              <a:spcBef>
                <a:spcPts val="0"/>
              </a:spcBef>
              <a:spcAft>
                <a:spcPts val="0"/>
              </a:spcAft>
              <a:buClr>
                <a:schemeClr val="dk1"/>
              </a:buClr>
              <a:buSzPts val="1100"/>
              <a:buFont typeface="Arial"/>
              <a:buNone/>
            </a:pPr>
            <a:r>
              <a:rPr i="1" lang="en" sz="2400">
                <a:solidFill>
                  <a:schemeClr val="dk2"/>
                </a:solidFill>
              </a:rPr>
              <a:t>- Applied Computational Thinking with Python, Packt, 2020, p. 35</a:t>
            </a:r>
            <a:endParaRPr sz="2400">
              <a:solidFill>
                <a:schemeClr val="dk2"/>
              </a:solidFill>
            </a:endParaRPr>
          </a:p>
          <a:p>
            <a:pPr indent="0" lvl="0" marL="0" rtl="0" algn="l">
              <a:lnSpc>
                <a:spcPct val="115000"/>
              </a:lnSpc>
              <a:spcBef>
                <a:spcPts val="0"/>
              </a:spcBef>
              <a:spcAft>
                <a:spcPts val="0"/>
              </a:spcAft>
              <a:buSzPts val="2600"/>
              <a:buNone/>
            </a:pPr>
            <a:r>
              <a:t/>
            </a:r>
            <a:endParaRPr/>
          </a:p>
        </p:txBody>
      </p:sp>
      <p:sp>
        <p:nvSpPr>
          <p:cNvPr id="152" name="Google Shape;152;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Examples</a:t>
            </a:r>
            <a:endParaRPr/>
          </a:p>
        </p:txBody>
      </p:sp>
      <p:sp>
        <p:nvSpPr>
          <p:cNvPr id="158" name="Google Shape;158;p27"/>
          <p:cNvSpPr txBox="1"/>
          <p:nvPr>
            <p:ph idx="1" type="body"/>
          </p:nvPr>
        </p:nvSpPr>
        <p:spPr>
          <a:xfrm>
            <a:off x="105900" y="827425"/>
            <a:ext cx="8932200" cy="4229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b="1" lang="en" sz="2400">
                <a:solidFill>
                  <a:srgbClr val="0000FF"/>
                </a:solidFill>
              </a:rPr>
              <a:t>OOP</a:t>
            </a:r>
            <a:r>
              <a:rPr lang="en" sz="2400"/>
              <a:t>: a class represent a concept (Student / Account) abstracting away low-level implementation details</a:t>
            </a:r>
            <a:endParaRPr sz="2400"/>
          </a:p>
          <a:p>
            <a:pPr indent="-342900" lvl="1" marL="914400" rtl="0" algn="l">
              <a:spcBef>
                <a:spcPts val="0"/>
              </a:spcBef>
              <a:spcAft>
                <a:spcPts val="0"/>
              </a:spcAft>
              <a:buSzPts val="1800"/>
              <a:buChar char="❏"/>
            </a:pPr>
            <a:r>
              <a:rPr lang="en" sz="1800"/>
              <a:t>Users of the class call high-level methods without needing to know how they work internally</a:t>
            </a:r>
            <a:endParaRPr sz="1800"/>
          </a:p>
          <a:p>
            <a:pPr indent="-381000" lvl="0" marL="457200" rtl="0" algn="l">
              <a:spcBef>
                <a:spcPts val="0"/>
              </a:spcBef>
              <a:spcAft>
                <a:spcPts val="0"/>
              </a:spcAft>
              <a:buSzPts val="2400"/>
              <a:buChar char="❏"/>
            </a:pPr>
            <a:r>
              <a:rPr b="1" lang="en" sz="2400">
                <a:solidFill>
                  <a:srgbClr val="0000FF"/>
                </a:solidFill>
              </a:rPr>
              <a:t>Robot simulation</a:t>
            </a:r>
            <a:r>
              <a:rPr lang="en" sz="2400"/>
              <a:t>: 2D grid map abstracts a real room; the robot’s sensors are abstracted as simple inputs like “distance to obstacle.” This model ignores irrelevant details (like wall color or minor irregularities on the floor) to let the algorithm focus on key information for navigation.</a:t>
            </a:r>
            <a:endParaRPr sz="2400"/>
          </a:p>
        </p:txBody>
      </p:sp>
      <p:sp>
        <p:nvSpPr>
          <p:cNvPr id="159" name="Google Shape;159;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Abstraction with map</a:t>
            </a:r>
            <a:endParaRPr/>
          </a:p>
        </p:txBody>
      </p:sp>
      <p:sp>
        <p:nvSpPr>
          <p:cNvPr id="165" name="Google Shape;165;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66" name="Google Shape;166;p28"/>
          <p:cNvPicPr preferRelativeResize="0"/>
          <p:nvPr/>
        </p:nvPicPr>
        <p:blipFill>
          <a:blip r:embed="rId3">
            <a:alphaModFix/>
          </a:blip>
          <a:stretch>
            <a:fillRect/>
          </a:stretch>
        </p:blipFill>
        <p:spPr>
          <a:xfrm>
            <a:off x="141300" y="1258000"/>
            <a:ext cx="4270336" cy="3252825"/>
          </a:xfrm>
          <a:prstGeom prst="rect">
            <a:avLst/>
          </a:prstGeom>
          <a:noFill/>
          <a:ln cap="flat" cmpd="sng" w="9525">
            <a:solidFill>
              <a:schemeClr val="dk2"/>
            </a:solidFill>
            <a:prstDash val="solid"/>
            <a:round/>
            <a:headEnd len="sm" w="sm" type="none"/>
            <a:tailEnd len="sm" w="sm" type="none"/>
          </a:ln>
        </p:spPr>
      </p:pic>
      <p:pic>
        <p:nvPicPr>
          <p:cNvPr id="167" name="Google Shape;167;p28"/>
          <p:cNvPicPr preferRelativeResize="0"/>
          <p:nvPr/>
        </p:nvPicPr>
        <p:blipFill>
          <a:blip r:embed="rId4">
            <a:alphaModFix/>
          </a:blip>
          <a:stretch>
            <a:fillRect/>
          </a:stretch>
        </p:blipFill>
        <p:spPr>
          <a:xfrm>
            <a:off x="4702251" y="1257999"/>
            <a:ext cx="4220976" cy="3252824"/>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540000" y="1281775"/>
            <a:ext cx="8064000" cy="224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Methods of pattern recognition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Core ideas</a:t>
            </a:r>
            <a:endParaRPr/>
          </a:p>
        </p:txBody>
      </p:sp>
      <p:sp>
        <p:nvSpPr>
          <p:cNvPr id="178" name="Google Shape;178;p30"/>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AutoNum type="arabicPeriod"/>
            </a:pPr>
            <a:r>
              <a:rPr b="1" lang="en"/>
              <a:t>Compare cases</a:t>
            </a:r>
            <a:endParaRPr b="1"/>
          </a:p>
          <a:p>
            <a:pPr indent="-355600" lvl="1" marL="914400" rtl="0" algn="l">
              <a:spcBef>
                <a:spcPts val="0"/>
              </a:spcBef>
              <a:spcAft>
                <a:spcPts val="0"/>
              </a:spcAft>
              <a:buSzPts val="2000"/>
              <a:buChar char="❏"/>
            </a:pPr>
            <a:r>
              <a:rPr lang="en"/>
              <a:t>Identify common points in the data or requirements.</a:t>
            </a:r>
            <a:endParaRPr/>
          </a:p>
          <a:p>
            <a:pPr indent="-393700" lvl="0" marL="457200" rtl="0" algn="l">
              <a:spcBef>
                <a:spcPts val="0"/>
              </a:spcBef>
              <a:spcAft>
                <a:spcPts val="0"/>
              </a:spcAft>
              <a:buSzPts val="2600"/>
              <a:buAutoNum type="arabicPeriod"/>
            </a:pPr>
            <a:r>
              <a:rPr b="1" lang="en"/>
              <a:t>Data grouping (clustering concept)</a:t>
            </a:r>
            <a:endParaRPr b="1"/>
          </a:p>
          <a:p>
            <a:pPr indent="-355600" lvl="1" marL="914400" rtl="0" algn="l">
              <a:spcBef>
                <a:spcPts val="0"/>
              </a:spcBef>
              <a:spcAft>
                <a:spcPts val="0"/>
              </a:spcAft>
              <a:buSzPts val="2000"/>
              <a:buChar char="❏"/>
            </a:pPr>
            <a:r>
              <a:rPr lang="en"/>
              <a:t>Group similar elements together.</a:t>
            </a:r>
            <a:endParaRPr/>
          </a:p>
          <a:p>
            <a:pPr indent="-393700" lvl="0" marL="457200" rtl="0" algn="l">
              <a:spcBef>
                <a:spcPts val="0"/>
              </a:spcBef>
              <a:spcAft>
                <a:spcPts val="0"/>
              </a:spcAft>
              <a:buSzPts val="2600"/>
              <a:buAutoNum type="arabicPeriod"/>
            </a:pPr>
            <a:r>
              <a:rPr b="1" lang="en"/>
              <a:t>Frequency and repetition analysis</a:t>
            </a:r>
            <a:endParaRPr b="1"/>
          </a:p>
          <a:p>
            <a:pPr indent="-355600" lvl="1" marL="914400" rtl="0" algn="l">
              <a:spcBef>
                <a:spcPts val="0"/>
              </a:spcBef>
              <a:spcAft>
                <a:spcPts val="0"/>
              </a:spcAft>
              <a:buSzPts val="2000"/>
              <a:buChar char="❏"/>
            </a:pPr>
            <a:r>
              <a:rPr lang="en"/>
              <a:t>Identify activities or behaviors that occur frequently.</a:t>
            </a:r>
            <a:endParaRPr/>
          </a:p>
          <a:p>
            <a:pPr indent="-393700" lvl="0" marL="457200" rtl="0" algn="l">
              <a:spcBef>
                <a:spcPts val="0"/>
              </a:spcBef>
              <a:spcAft>
                <a:spcPts val="0"/>
              </a:spcAft>
              <a:buSzPts val="2600"/>
              <a:buAutoNum type="arabicPeriod"/>
            </a:pPr>
            <a:r>
              <a:rPr b="1" lang="en"/>
              <a:t>Generate test cases</a:t>
            </a:r>
            <a:endParaRPr b="1"/>
          </a:p>
          <a:p>
            <a:pPr indent="-355600" lvl="1" marL="914400" rtl="0" algn="l">
              <a:spcBef>
                <a:spcPts val="0"/>
              </a:spcBef>
              <a:spcAft>
                <a:spcPts val="0"/>
              </a:spcAft>
              <a:buSzPts val="2000"/>
              <a:buChar char="❏"/>
            </a:pPr>
            <a:r>
              <a:rPr lang="en"/>
              <a:t>Determine input types with similar structures.</a:t>
            </a:r>
            <a:endParaRPr/>
          </a:p>
        </p:txBody>
      </p:sp>
      <p:sp>
        <p:nvSpPr>
          <p:cNvPr id="179" name="Google Shape;179;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title"/>
          </p:nvPr>
        </p:nvSpPr>
        <p:spPr>
          <a:xfrm>
            <a:off x="540000" y="1281775"/>
            <a:ext cx="8064000" cy="224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Problems of abstraction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 Over-abstraction</a:t>
            </a:r>
            <a:endParaRPr/>
          </a:p>
        </p:txBody>
      </p:sp>
      <p:sp>
        <p:nvSpPr>
          <p:cNvPr id="190" name="Google Shape;190;p32"/>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Abstracting too much → losing essential information needed to solve the real problem.</a:t>
            </a:r>
            <a:endParaRPr/>
          </a:p>
          <a:p>
            <a:pPr indent="-393700" lvl="0" marL="457200" rtl="0" algn="l">
              <a:spcBef>
                <a:spcPts val="0"/>
              </a:spcBef>
              <a:spcAft>
                <a:spcPts val="0"/>
              </a:spcAft>
              <a:buSzPts val="2600"/>
              <a:buChar char="❏"/>
            </a:pPr>
            <a:r>
              <a:rPr lang="en"/>
              <a:t>Example: Treating “Travel Planning” as a black box without knowing required inputs or outputs → impossible to implement or test.</a:t>
            </a:r>
            <a:endParaRPr/>
          </a:p>
          <a:p>
            <a:pPr indent="-393700" lvl="0" marL="457200" rtl="0" algn="l">
              <a:spcBef>
                <a:spcPts val="0"/>
              </a:spcBef>
              <a:spcAft>
                <a:spcPts val="0"/>
              </a:spcAft>
              <a:buSzPts val="2600"/>
              <a:buChar char="❏"/>
            </a:pPr>
            <a:r>
              <a:rPr lang="en"/>
              <a:t>Consequences: difficult to implement, hard to validate, and hard to optimize performance.</a:t>
            </a:r>
            <a:endParaRPr/>
          </a:p>
        </p:txBody>
      </p:sp>
      <p:sp>
        <p:nvSpPr>
          <p:cNvPr id="191" name="Google Shape;191;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 Under-abstraction</a:t>
            </a:r>
            <a:endParaRPr/>
          </a:p>
        </p:txBody>
      </p:sp>
      <p:sp>
        <p:nvSpPr>
          <p:cNvPr id="197" name="Google Shape;197;p33"/>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Not separating important logic → keeping too many details → making the problem more complex.</a:t>
            </a:r>
            <a:endParaRPr/>
          </a:p>
          <a:p>
            <a:pPr indent="0" lvl="0" marL="457200" rtl="0" algn="l">
              <a:spcBef>
                <a:spcPts val="0"/>
              </a:spcBef>
              <a:spcAft>
                <a:spcPts val="0"/>
              </a:spcAft>
              <a:buNone/>
            </a:pPr>
            <a:r>
              <a:t/>
            </a:r>
            <a:endParaRPr/>
          </a:p>
          <a:p>
            <a:pPr indent="-393700" lvl="0" marL="457200" rtl="0" algn="l">
              <a:spcBef>
                <a:spcPts val="0"/>
              </a:spcBef>
              <a:spcAft>
                <a:spcPts val="0"/>
              </a:spcAft>
              <a:buSzPts val="2600"/>
              <a:buChar char="❏"/>
            </a:pPr>
            <a:r>
              <a:rPr lang="en"/>
              <a:t>Example: splitting steps like “Select Destination → Optimize Route → Suggest Hotels” but still writing all logic in a single function → complex and hard to maintain.</a:t>
            </a:r>
            <a:endParaRPr/>
          </a:p>
        </p:txBody>
      </p:sp>
      <p:sp>
        <p:nvSpPr>
          <p:cNvPr id="198" name="Google Shape;198;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 Undefined level of abstraction</a:t>
            </a:r>
            <a:endParaRPr/>
          </a:p>
        </p:txBody>
      </p:sp>
      <p:sp>
        <p:nvSpPr>
          <p:cNvPr id="204" name="Google Shape;204;p34"/>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Not knowing how far to abstract: level too high or too low.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Example: “User Management” is too abstract → missing sub-features like login, profile, preferences.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Or “Optimize Route” becomes too detailed → losing reusability as a module.</a:t>
            </a:r>
            <a:endParaRPr/>
          </a:p>
        </p:txBody>
      </p:sp>
      <p:sp>
        <p:nvSpPr>
          <p:cNvPr id="205" name="Google Shape;205;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5"/>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4. Mixing abstraction and implementation</a:t>
            </a:r>
            <a:endParaRPr/>
          </a:p>
        </p:txBody>
      </p:sp>
      <p:sp>
        <p:nvSpPr>
          <p:cNvPr id="211" name="Google Shape;211;p35"/>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Abstraction should describe logic, interface, and data flow, not implementation details.</a:t>
            </a:r>
            <a:endParaRPr/>
          </a:p>
          <a:p>
            <a:pPr indent="-393700" lvl="0" marL="457200" rtl="0" algn="l">
              <a:spcBef>
                <a:spcPts val="0"/>
              </a:spcBef>
              <a:spcAft>
                <a:spcPts val="0"/>
              </a:spcAft>
              <a:buSzPts val="2600"/>
              <a:buChar char="❏"/>
            </a:pPr>
            <a:r>
              <a:rPr lang="en"/>
              <a:t>Example: defining an abstract module “Optimize Route” but including specifics of the A* algorithm → reduces flexibility and makes it harder to replace algorithms.</a:t>
            </a:r>
            <a:endParaRPr/>
          </a:p>
        </p:txBody>
      </p:sp>
      <p:sp>
        <p:nvSpPr>
          <p:cNvPr id="212" name="Google Shape;212;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900"/>
              <a:t>5. Abstraction not linked to pain points / requirements</a:t>
            </a:r>
            <a:endParaRPr sz="2900"/>
          </a:p>
        </p:txBody>
      </p:sp>
      <p:sp>
        <p:nvSpPr>
          <p:cNvPr id="218" name="Google Shape;218;p36"/>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Modules are abstracted but nobody knows what pain point they solve.</a:t>
            </a:r>
            <a:endParaRPr/>
          </a:p>
          <a:p>
            <a:pPr indent="0" lvl="0" marL="457200" rtl="0" algn="l">
              <a:spcBef>
                <a:spcPts val="0"/>
              </a:spcBef>
              <a:spcAft>
                <a:spcPts val="0"/>
              </a:spcAft>
              <a:buNone/>
            </a:pPr>
            <a:r>
              <a:t/>
            </a:r>
            <a:endParaRPr/>
          </a:p>
          <a:p>
            <a:pPr indent="-393700" lvl="0" marL="457200" rtl="0" algn="l">
              <a:spcBef>
                <a:spcPts val="0"/>
              </a:spcBef>
              <a:spcAft>
                <a:spcPts val="0"/>
              </a:spcAft>
              <a:buSzPts val="2600"/>
              <a:buChar char="❏"/>
            </a:pPr>
            <a:r>
              <a:rPr lang="en"/>
              <a:t>Consequence: abstract modules that do not address real user problems.</a:t>
            </a:r>
            <a:endParaRPr/>
          </a:p>
        </p:txBody>
      </p:sp>
      <p:sp>
        <p:nvSpPr>
          <p:cNvPr id="219" name="Google Shape;219;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7"/>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6. Abstraction not reusable / not generalizable</a:t>
            </a:r>
            <a:endParaRPr/>
          </a:p>
        </p:txBody>
      </p:sp>
      <p:sp>
        <p:nvSpPr>
          <p:cNvPr id="225" name="Google Shape;225;p37"/>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Abstract module only works for one use case → defeats the purpose of abstraction.</a:t>
            </a:r>
            <a:endParaRPr/>
          </a:p>
          <a:p>
            <a:pPr indent="0" lvl="0" marL="457200" rtl="0" algn="l">
              <a:spcBef>
                <a:spcPts val="0"/>
              </a:spcBef>
              <a:spcAft>
                <a:spcPts val="0"/>
              </a:spcAft>
              <a:buNone/>
            </a:pPr>
            <a:r>
              <a:t/>
            </a:r>
            <a:endParaRPr/>
          </a:p>
          <a:p>
            <a:pPr indent="-393700" lvl="0" marL="457200" rtl="0" algn="l">
              <a:spcBef>
                <a:spcPts val="0"/>
              </a:spcBef>
              <a:spcAft>
                <a:spcPts val="0"/>
              </a:spcAft>
              <a:buSzPts val="2600"/>
              <a:buChar char="❏"/>
            </a:pPr>
            <a:r>
              <a:rPr lang="en"/>
              <a:t>Example: “Suggest Hotels for Hanoi Trip” → cannot be reused for Ho Chi Minh City or other destinations.</a:t>
            </a:r>
            <a:endParaRPr/>
          </a:p>
        </p:txBody>
      </p:sp>
      <p:sp>
        <p:nvSpPr>
          <p:cNvPr id="226" name="Google Shape;226;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800"/>
              <a:t>7. Premature abstraction before validating the problem</a:t>
            </a:r>
            <a:endParaRPr sz="2800"/>
          </a:p>
        </p:txBody>
      </p:sp>
      <p:sp>
        <p:nvSpPr>
          <p:cNvPr id="232" name="Google Shape;232;p38"/>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Abstraction built on assumptions → if the problem is not well defined, abstraction may go in the wrong direction.</a:t>
            </a:r>
            <a:endParaRPr/>
          </a:p>
          <a:p>
            <a:pPr indent="0" lvl="0" marL="457200" rtl="0" algn="l">
              <a:spcBef>
                <a:spcPts val="0"/>
              </a:spcBef>
              <a:spcAft>
                <a:spcPts val="0"/>
              </a:spcAft>
              <a:buNone/>
            </a:pPr>
            <a:r>
              <a:t/>
            </a:r>
            <a:endParaRPr/>
          </a:p>
          <a:p>
            <a:pPr indent="-393700" lvl="0" marL="457200" rtl="0" algn="l">
              <a:spcBef>
                <a:spcPts val="0"/>
              </a:spcBef>
              <a:spcAft>
                <a:spcPts val="0"/>
              </a:spcAft>
              <a:buSzPts val="2600"/>
              <a:buChar char="❏"/>
            </a:pPr>
            <a:r>
              <a:rPr lang="en"/>
              <a:t>Example: creating an abstract module “AI Tour Recommendation” before validating that users actually need “minimizing travel time” → module may become unnecessary.</a:t>
            </a:r>
            <a:endParaRPr/>
          </a:p>
        </p:txBody>
      </p:sp>
      <p:sp>
        <p:nvSpPr>
          <p:cNvPr id="233" name="Google Shape;233;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9"/>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8. Abstraction not synchronized across the team</a:t>
            </a:r>
            <a:endParaRPr/>
          </a:p>
        </p:txBody>
      </p:sp>
      <p:sp>
        <p:nvSpPr>
          <p:cNvPr id="239" name="Google Shape;239;p39"/>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Different team members interpret the abstraction differently → conflicts during implementation.</a:t>
            </a:r>
            <a:endParaRPr/>
          </a:p>
          <a:p>
            <a:pPr indent="0" lvl="0" marL="457200" rtl="0" algn="l">
              <a:spcBef>
                <a:spcPts val="0"/>
              </a:spcBef>
              <a:spcAft>
                <a:spcPts val="0"/>
              </a:spcAft>
              <a:buNone/>
            </a:pPr>
            <a:r>
              <a:t/>
            </a:r>
            <a:endParaRPr/>
          </a:p>
          <a:p>
            <a:pPr indent="-393700" lvl="0" marL="457200" rtl="0" algn="l">
              <a:spcBef>
                <a:spcPts val="0"/>
              </a:spcBef>
              <a:spcAft>
                <a:spcPts val="0"/>
              </a:spcAft>
              <a:buSzPts val="2600"/>
              <a:buChar char="❏"/>
            </a:pPr>
            <a:r>
              <a:rPr lang="en"/>
              <a:t>Example: Developer interprets “Optimize Route” as minimizing time; Designer interprets it as minimizing cost → mismatch.</a:t>
            </a:r>
            <a:endParaRPr/>
          </a:p>
        </p:txBody>
      </p:sp>
      <p:sp>
        <p:nvSpPr>
          <p:cNvPr id="240" name="Google Shape;240;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900"/>
              <a:t>9. Ignoring non-functional requirements in abstraction</a:t>
            </a:r>
            <a:endParaRPr sz="2900"/>
          </a:p>
        </p:txBody>
      </p:sp>
      <p:sp>
        <p:nvSpPr>
          <p:cNvPr id="246" name="Google Shape;246;p40"/>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Focusing too much on logic → forgetting performance, scalability, reliability.</a:t>
            </a:r>
            <a:endParaRPr/>
          </a:p>
          <a:p>
            <a:pPr indent="0" lvl="0" marL="457200" rtl="0" algn="l">
              <a:spcBef>
                <a:spcPts val="0"/>
              </a:spcBef>
              <a:spcAft>
                <a:spcPts val="0"/>
              </a:spcAft>
              <a:buNone/>
            </a:pPr>
            <a:r>
              <a:t/>
            </a:r>
            <a:endParaRPr/>
          </a:p>
          <a:p>
            <a:pPr indent="-393700" lvl="0" marL="457200" rtl="0" algn="l">
              <a:spcBef>
                <a:spcPts val="0"/>
              </a:spcBef>
              <a:spcAft>
                <a:spcPts val="0"/>
              </a:spcAft>
              <a:buSzPts val="2600"/>
              <a:buChar char="❏"/>
            </a:pPr>
            <a:r>
              <a:rPr lang="en"/>
              <a:t>Example: abstract “Route Optimization” without considering load time → becomes hard to deploy in real applications.</a:t>
            </a:r>
            <a:endParaRPr/>
          </a:p>
        </p:txBody>
      </p:sp>
      <p:sp>
        <p:nvSpPr>
          <p:cNvPr id="247" name="Google Shape;247;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1"/>
          <p:cNvSpPr txBox="1"/>
          <p:nvPr>
            <p:ph type="title"/>
          </p:nvPr>
        </p:nvSpPr>
        <p:spPr>
          <a:xfrm>
            <a:off x="287725" y="1830600"/>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Tips to avoid abstraction issues</a:t>
            </a:r>
            <a:endParaRPr/>
          </a:p>
        </p:txBody>
      </p:sp>
      <p:sp>
        <p:nvSpPr>
          <p:cNvPr id="253" name="Google Shape;253;p41"/>
          <p:cNvSpPr txBox="1"/>
          <p:nvPr>
            <p:ph idx="2" type="body"/>
          </p:nvPr>
        </p:nvSpPr>
        <p:spPr>
          <a:xfrm>
            <a:off x="4734400" y="448150"/>
            <a:ext cx="4107600" cy="4359900"/>
          </a:xfrm>
          <a:prstGeom prst="rect">
            <a:avLst/>
          </a:prstGeom>
        </p:spPr>
        <p:txBody>
          <a:bodyPr anchorCtr="0" anchor="ctr" bIns="91425" lIns="91425" spcFirstLastPara="1" rIns="91425" wrap="square" tIns="91425">
            <a:noAutofit/>
          </a:bodyPr>
          <a:lstStyle/>
          <a:p>
            <a:pPr indent="-323850" lvl="0" marL="457200" rtl="0" algn="l">
              <a:spcBef>
                <a:spcPts val="0"/>
              </a:spcBef>
              <a:spcAft>
                <a:spcPts val="0"/>
              </a:spcAft>
              <a:buSzPts val="1500"/>
              <a:buAutoNum type="arabicPeriod"/>
            </a:pPr>
            <a:r>
              <a:rPr lang="en" sz="1500"/>
              <a:t>Define the appropriate level of abstraction: high enough to be generalizable, detailed enough to implement.</a:t>
            </a:r>
            <a:endParaRPr sz="1500"/>
          </a:p>
          <a:p>
            <a:pPr indent="-323850" lvl="0" marL="457200" rtl="0" algn="l">
              <a:spcBef>
                <a:spcPts val="0"/>
              </a:spcBef>
              <a:spcAft>
                <a:spcPts val="0"/>
              </a:spcAft>
              <a:buSzPts val="1500"/>
              <a:buAutoNum type="arabicPeriod"/>
            </a:pPr>
            <a:r>
              <a:rPr lang="en" sz="1500"/>
              <a:t>Keep clear input/output for each abstract module.</a:t>
            </a:r>
            <a:endParaRPr sz="1500"/>
          </a:p>
          <a:p>
            <a:pPr indent="-323850" lvl="0" marL="457200" rtl="0" algn="l">
              <a:spcBef>
                <a:spcPts val="0"/>
              </a:spcBef>
              <a:spcAft>
                <a:spcPts val="0"/>
              </a:spcAft>
              <a:buSzPts val="1500"/>
              <a:buAutoNum type="arabicPeriod"/>
            </a:pPr>
            <a:r>
              <a:rPr lang="en" sz="1500"/>
              <a:t>Separate logic from implementation: abstraction = interface &amp; behavior; implementation = algorithm / code.</a:t>
            </a:r>
            <a:endParaRPr sz="1500"/>
          </a:p>
          <a:p>
            <a:pPr indent="-323850" lvl="0" marL="457200" rtl="0" algn="l">
              <a:spcBef>
                <a:spcPts val="0"/>
              </a:spcBef>
              <a:spcAft>
                <a:spcPts val="0"/>
              </a:spcAft>
              <a:buSzPts val="1500"/>
              <a:buAutoNum type="arabicPeriod"/>
            </a:pPr>
            <a:r>
              <a:rPr lang="en" sz="1500"/>
              <a:t>Always link abstraction to pain points, functional and non-functional requirements.</a:t>
            </a:r>
            <a:endParaRPr sz="1500"/>
          </a:p>
          <a:p>
            <a:pPr indent="-323850" lvl="0" marL="457200" rtl="0" algn="l">
              <a:spcBef>
                <a:spcPts val="0"/>
              </a:spcBef>
              <a:spcAft>
                <a:spcPts val="0"/>
              </a:spcAft>
              <a:buSzPts val="1500"/>
              <a:buAutoNum type="arabicPeriod"/>
            </a:pPr>
            <a:r>
              <a:rPr lang="en" sz="1500"/>
              <a:t>Validate the abstraction with the team &amp; users before implementation.</a:t>
            </a:r>
            <a:endParaRPr sz="1500"/>
          </a:p>
          <a:p>
            <a:pPr indent="-323850" lvl="0" marL="457200" rtl="0" algn="l">
              <a:spcBef>
                <a:spcPts val="0"/>
              </a:spcBef>
              <a:spcAft>
                <a:spcPts val="0"/>
              </a:spcAft>
              <a:buSzPts val="1500"/>
              <a:buAutoNum type="arabicPeriod"/>
            </a:pPr>
            <a:r>
              <a:rPr lang="en" sz="1500"/>
              <a:t>Document clearly: module name, responsibility, input, output, constraints.</a:t>
            </a:r>
            <a:endParaRPr sz="1500"/>
          </a:p>
          <a:p>
            <a:pPr indent="-323850" lvl="0" marL="457200" rtl="0" algn="l">
              <a:spcBef>
                <a:spcPts val="0"/>
              </a:spcBef>
              <a:spcAft>
                <a:spcPts val="0"/>
              </a:spcAft>
              <a:buSzPts val="1500"/>
              <a:buAutoNum type="arabicPeriod"/>
            </a:pPr>
            <a:r>
              <a:rPr lang="en" sz="1500"/>
              <a:t>Maintain flexibility to refactor abstraction when requirements change.</a:t>
            </a:r>
            <a:endParaRPr sz="1500"/>
          </a:p>
        </p:txBody>
      </p:sp>
      <p:sp>
        <p:nvSpPr>
          <p:cNvPr id="254" name="Google Shape;254;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2"/>
          <p:cNvSpPr txBox="1"/>
          <p:nvPr>
            <p:ph type="title"/>
          </p:nvPr>
        </p:nvSpPr>
        <p:spPr>
          <a:xfrm>
            <a:off x="540000" y="1281775"/>
            <a:ext cx="8064000" cy="224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Smart travel system</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3"/>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 User Management (Abstract Module)</a:t>
            </a:r>
            <a:endParaRPr/>
          </a:p>
        </p:txBody>
      </p:sp>
      <p:sp>
        <p:nvSpPr>
          <p:cNvPr id="265" name="Google Shape;265;p43"/>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Responsibility: manage user information, authentication, preferences</a:t>
            </a:r>
            <a:endParaRPr/>
          </a:p>
          <a:p>
            <a:pPr indent="-393700" lvl="0" marL="457200" rtl="0" algn="l">
              <a:spcBef>
                <a:spcPts val="0"/>
              </a:spcBef>
              <a:spcAft>
                <a:spcPts val="0"/>
              </a:spcAft>
              <a:buSzPts val="2600"/>
              <a:buChar char="❏"/>
            </a:pPr>
            <a:r>
              <a:rPr lang="en"/>
              <a:t>Input: user info, login credentials, preferences</a:t>
            </a:r>
            <a:endParaRPr/>
          </a:p>
          <a:p>
            <a:pPr indent="-393700" lvl="0" marL="457200" rtl="0" algn="l">
              <a:spcBef>
                <a:spcPts val="0"/>
              </a:spcBef>
              <a:spcAft>
                <a:spcPts val="0"/>
              </a:spcAft>
              <a:buSzPts val="2600"/>
              <a:buChar char="❏"/>
            </a:pPr>
            <a:r>
              <a:rPr lang="en"/>
              <a:t>Output: user profile object, auth token</a:t>
            </a:r>
            <a:endParaRPr/>
          </a:p>
          <a:p>
            <a:pPr indent="-393700" lvl="0" marL="457200" rtl="0" algn="l">
              <a:spcBef>
                <a:spcPts val="0"/>
              </a:spcBef>
              <a:spcAft>
                <a:spcPts val="0"/>
              </a:spcAft>
              <a:buSzPts val="2600"/>
              <a:buChar char="❏"/>
            </a:pPr>
            <a:r>
              <a:rPr lang="en"/>
              <a:t>Pain Points: simplify account setup &amp; personal preference configuration</a:t>
            </a:r>
            <a:endParaRPr/>
          </a:p>
        </p:txBody>
      </p:sp>
      <p:sp>
        <p:nvSpPr>
          <p:cNvPr id="266" name="Google Shape;266;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4"/>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 Travel Planning (Abstract Module)</a:t>
            </a:r>
            <a:endParaRPr/>
          </a:p>
        </p:txBody>
      </p:sp>
      <p:sp>
        <p:nvSpPr>
          <p:cNvPr id="272" name="Google Shape;272;p44"/>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Responsibility: generate itineraries based on user requirements</a:t>
            </a:r>
            <a:endParaRPr sz="1400"/>
          </a:p>
          <a:p>
            <a:pPr indent="-317500" lvl="0" marL="457200" rtl="0" algn="l">
              <a:spcBef>
                <a:spcPts val="0"/>
              </a:spcBef>
              <a:spcAft>
                <a:spcPts val="0"/>
              </a:spcAft>
              <a:buSzPts val="1400"/>
              <a:buChar char="❏"/>
            </a:pPr>
            <a:r>
              <a:rPr lang="en" sz="1400"/>
              <a:t>Input: destinations, dates, preferences, budget</a:t>
            </a:r>
            <a:endParaRPr sz="1400"/>
          </a:p>
          <a:p>
            <a:pPr indent="-317500" lvl="0" marL="457200" rtl="0" algn="l">
              <a:spcBef>
                <a:spcPts val="0"/>
              </a:spcBef>
              <a:spcAft>
                <a:spcPts val="0"/>
              </a:spcAft>
              <a:buSzPts val="1400"/>
              <a:buChar char="❏"/>
            </a:pPr>
            <a:r>
              <a:rPr lang="en" sz="1400"/>
              <a:t>Output: itinerary object, optimized route, recommended hotels/tours</a:t>
            </a:r>
            <a:endParaRPr sz="1400"/>
          </a:p>
          <a:p>
            <a:pPr indent="-317500" lvl="1" marL="914400" rtl="0" algn="l">
              <a:spcBef>
                <a:spcPts val="0"/>
              </a:spcBef>
              <a:spcAft>
                <a:spcPts val="0"/>
              </a:spcAft>
              <a:buSzPts val="1400"/>
              <a:buChar char="❏"/>
            </a:pPr>
            <a:r>
              <a:t/>
            </a:r>
            <a:endParaRPr sz="1400"/>
          </a:p>
        </p:txBody>
      </p:sp>
      <p:sp>
        <p:nvSpPr>
          <p:cNvPr id="273" name="Google Shape;273;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5"/>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Sub-abstractions</a:t>
            </a:r>
            <a:endParaRPr/>
          </a:p>
        </p:txBody>
      </p:sp>
      <p:sp>
        <p:nvSpPr>
          <p:cNvPr id="279" name="Google Shape;279;p45"/>
          <p:cNvSpPr txBox="1"/>
          <p:nvPr>
            <p:ph idx="1" type="body"/>
          </p:nvPr>
        </p:nvSpPr>
        <p:spPr>
          <a:xfrm>
            <a:off x="105900" y="827425"/>
            <a:ext cx="8932200" cy="4229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AutoNum type="arabicPeriod"/>
            </a:pPr>
            <a:r>
              <a:rPr b="1" lang="en" sz="2000">
                <a:solidFill>
                  <a:schemeClr val="dk1"/>
                </a:solidFill>
              </a:rPr>
              <a:t>Destination Selection</a:t>
            </a:r>
            <a:endParaRPr b="1" sz="2000">
              <a:solidFill>
                <a:schemeClr val="dk1"/>
              </a:solidFill>
            </a:endParaRPr>
          </a:p>
          <a:p>
            <a:pPr indent="-355600" lvl="1" marL="914400" rtl="0" algn="l">
              <a:spcBef>
                <a:spcPts val="0"/>
              </a:spcBef>
              <a:spcAft>
                <a:spcPts val="0"/>
              </a:spcAft>
              <a:buClr>
                <a:schemeClr val="dk1"/>
              </a:buClr>
              <a:buSzPts val="2000"/>
              <a:buChar char="❏"/>
            </a:pPr>
            <a:r>
              <a:rPr lang="en">
                <a:solidFill>
                  <a:schemeClr val="dk1"/>
                </a:solidFill>
              </a:rPr>
              <a:t>Input: preferences, available destinations</a:t>
            </a:r>
            <a:endParaRPr>
              <a:solidFill>
                <a:schemeClr val="dk1"/>
              </a:solidFill>
            </a:endParaRPr>
          </a:p>
          <a:p>
            <a:pPr indent="-355600" lvl="1" marL="914400" rtl="0" algn="l">
              <a:spcBef>
                <a:spcPts val="0"/>
              </a:spcBef>
              <a:spcAft>
                <a:spcPts val="0"/>
              </a:spcAft>
              <a:buClr>
                <a:schemeClr val="dk1"/>
              </a:buClr>
              <a:buSzPts val="2000"/>
              <a:buChar char="❏"/>
            </a:pPr>
            <a:r>
              <a:rPr lang="en">
                <a:solidFill>
                  <a:schemeClr val="dk1"/>
                </a:solidFill>
              </a:rPr>
              <a:t>Output: selected destinations</a:t>
            </a:r>
            <a:endParaRPr>
              <a:solidFill>
                <a:schemeClr val="dk1"/>
              </a:solidFill>
            </a:endParaRPr>
          </a:p>
          <a:p>
            <a:pPr indent="-355600" lvl="1" marL="914400" rtl="0" algn="l">
              <a:spcBef>
                <a:spcPts val="0"/>
              </a:spcBef>
              <a:spcAft>
                <a:spcPts val="0"/>
              </a:spcAft>
              <a:buClr>
                <a:schemeClr val="dk1"/>
              </a:buClr>
              <a:buSzPts val="2000"/>
              <a:buChar char="❏"/>
            </a:pPr>
            <a:r>
              <a:rPr lang="en">
                <a:solidFill>
                  <a:schemeClr val="dk1"/>
                </a:solidFill>
              </a:rPr>
              <a:t>Pain Point: too many choices, difficult decision-making</a:t>
            </a:r>
            <a:endParaRPr>
              <a:solidFill>
                <a:schemeClr val="dk1"/>
              </a:solidFill>
            </a:endParaRPr>
          </a:p>
          <a:p>
            <a:pPr indent="-355600" lvl="0" marL="457200" rtl="0" algn="l">
              <a:spcBef>
                <a:spcPts val="0"/>
              </a:spcBef>
              <a:spcAft>
                <a:spcPts val="0"/>
              </a:spcAft>
              <a:buClr>
                <a:schemeClr val="dk1"/>
              </a:buClr>
              <a:buSzPts val="2000"/>
              <a:buAutoNum type="arabicPeriod"/>
            </a:pPr>
            <a:r>
              <a:rPr b="1" lang="en" sz="2000">
                <a:solidFill>
                  <a:schemeClr val="dk1"/>
                </a:solidFill>
              </a:rPr>
              <a:t>Route Optimization</a:t>
            </a:r>
            <a:endParaRPr b="1" sz="2000">
              <a:solidFill>
                <a:schemeClr val="dk1"/>
              </a:solidFill>
            </a:endParaRPr>
          </a:p>
          <a:p>
            <a:pPr indent="-355600" lvl="1" marL="914400" rtl="0" algn="l">
              <a:spcBef>
                <a:spcPts val="0"/>
              </a:spcBef>
              <a:spcAft>
                <a:spcPts val="0"/>
              </a:spcAft>
              <a:buClr>
                <a:schemeClr val="dk1"/>
              </a:buClr>
              <a:buSzPts val="2000"/>
              <a:buChar char="❏"/>
            </a:pPr>
            <a:r>
              <a:rPr lang="en">
                <a:solidFill>
                  <a:schemeClr val="dk1"/>
                </a:solidFill>
              </a:rPr>
              <a:t>Input: selected destinations</a:t>
            </a:r>
            <a:endParaRPr>
              <a:solidFill>
                <a:schemeClr val="dk1"/>
              </a:solidFill>
            </a:endParaRPr>
          </a:p>
          <a:p>
            <a:pPr indent="-355600" lvl="1" marL="914400" rtl="0" algn="l">
              <a:spcBef>
                <a:spcPts val="0"/>
              </a:spcBef>
              <a:spcAft>
                <a:spcPts val="0"/>
              </a:spcAft>
              <a:buClr>
                <a:schemeClr val="dk1"/>
              </a:buClr>
              <a:buSzPts val="2000"/>
              <a:buChar char="❏"/>
            </a:pPr>
            <a:r>
              <a:rPr lang="en">
                <a:solidFill>
                  <a:schemeClr val="dk1"/>
                </a:solidFill>
              </a:rPr>
              <a:t>Output: ordered route</a:t>
            </a:r>
            <a:endParaRPr>
              <a:solidFill>
                <a:schemeClr val="dk1"/>
              </a:solidFill>
            </a:endParaRPr>
          </a:p>
          <a:p>
            <a:pPr indent="-355600" lvl="1" marL="914400" rtl="0" algn="l">
              <a:spcBef>
                <a:spcPts val="0"/>
              </a:spcBef>
              <a:spcAft>
                <a:spcPts val="0"/>
              </a:spcAft>
              <a:buClr>
                <a:schemeClr val="dk1"/>
              </a:buClr>
              <a:buSzPts val="2000"/>
              <a:buChar char="❏"/>
            </a:pPr>
            <a:r>
              <a:rPr lang="en">
                <a:solidFill>
                  <a:schemeClr val="dk1"/>
                </a:solidFill>
              </a:rPr>
              <a:t>Pain Point: minimize travel time</a:t>
            </a:r>
            <a:endParaRPr>
              <a:solidFill>
                <a:schemeClr val="dk1"/>
              </a:solidFill>
            </a:endParaRPr>
          </a:p>
          <a:p>
            <a:pPr indent="-355600" lvl="0" marL="457200" rtl="0" algn="l">
              <a:spcBef>
                <a:spcPts val="0"/>
              </a:spcBef>
              <a:spcAft>
                <a:spcPts val="0"/>
              </a:spcAft>
              <a:buClr>
                <a:schemeClr val="dk1"/>
              </a:buClr>
              <a:buSzPts val="2000"/>
              <a:buAutoNum type="arabicPeriod"/>
            </a:pPr>
            <a:r>
              <a:rPr b="1" lang="en" sz="2000">
                <a:solidFill>
                  <a:schemeClr val="dk1"/>
                </a:solidFill>
              </a:rPr>
              <a:t>Suggest Hotels &amp; Tours</a:t>
            </a:r>
            <a:endParaRPr b="1" sz="2000">
              <a:solidFill>
                <a:schemeClr val="dk1"/>
              </a:solidFill>
            </a:endParaRPr>
          </a:p>
          <a:p>
            <a:pPr indent="-355600" lvl="1" marL="914400" rtl="0" algn="l">
              <a:spcBef>
                <a:spcPts val="0"/>
              </a:spcBef>
              <a:spcAft>
                <a:spcPts val="0"/>
              </a:spcAft>
              <a:buClr>
                <a:schemeClr val="dk1"/>
              </a:buClr>
              <a:buSzPts val="2000"/>
              <a:buChar char="❏"/>
            </a:pPr>
            <a:r>
              <a:rPr lang="en">
                <a:solidFill>
                  <a:schemeClr val="dk1"/>
                </a:solidFill>
              </a:rPr>
              <a:t>Input: selected destinations, user budget</a:t>
            </a:r>
            <a:endParaRPr>
              <a:solidFill>
                <a:schemeClr val="dk1"/>
              </a:solidFill>
            </a:endParaRPr>
          </a:p>
          <a:p>
            <a:pPr indent="-355600" lvl="1" marL="914400" rtl="0" algn="l">
              <a:spcBef>
                <a:spcPts val="0"/>
              </a:spcBef>
              <a:spcAft>
                <a:spcPts val="0"/>
              </a:spcAft>
              <a:buClr>
                <a:schemeClr val="dk1"/>
              </a:buClr>
              <a:buSzPts val="2000"/>
              <a:buChar char="❏"/>
            </a:pPr>
            <a:r>
              <a:rPr lang="en">
                <a:solidFill>
                  <a:schemeClr val="dk1"/>
                </a:solidFill>
              </a:rPr>
              <a:t>Output: recommended hotels/tours</a:t>
            </a:r>
            <a:endParaRPr>
              <a:solidFill>
                <a:schemeClr val="dk1"/>
              </a:solidFill>
            </a:endParaRPr>
          </a:p>
          <a:p>
            <a:pPr indent="-355600" lvl="1" marL="914400" rtl="0" algn="l">
              <a:spcBef>
                <a:spcPts val="0"/>
              </a:spcBef>
              <a:spcAft>
                <a:spcPts val="0"/>
              </a:spcAft>
              <a:buClr>
                <a:schemeClr val="dk1"/>
              </a:buClr>
              <a:buSzPts val="2000"/>
              <a:buChar char="❏"/>
            </a:pPr>
            <a:r>
              <a:rPr lang="en">
                <a:solidFill>
                  <a:schemeClr val="dk1"/>
                </a:solidFill>
              </a:rPr>
              <a:t>Pain Point: comparing prices and reviews is time-consuming</a:t>
            </a:r>
            <a:endParaRPr sz="2600"/>
          </a:p>
        </p:txBody>
      </p:sp>
      <p:sp>
        <p:nvSpPr>
          <p:cNvPr id="280" name="Google Shape;280;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6"/>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 Booking Services (Abstract Module)</a:t>
            </a:r>
            <a:endParaRPr/>
          </a:p>
        </p:txBody>
      </p:sp>
      <p:sp>
        <p:nvSpPr>
          <p:cNvPr id="286" name="Google Shape;286;p46"/>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Responsibility: handle service bookings</a:t>
            </a:r>
            <a:endParaRPr/>
          </a:p>
          <a:p>
            <a:pPr indent="-393700" lvl="0" marL="457200" rtl="0" algn="l">
              <a:spcBef>
                <a:spcPts val="0"/>
              </a:spcBef>
              <a:spcAft>
                <a:spcPts val="0"/>
              </a:spcAft>
              <a:buSzPts val="2600"/>
              <a:buChar char="❏"/>
            </a:pPr>
            <a:r>
              <a:rPr lang="en"/>
              <a:t>Input: selected hotels/tours/flights</a:t>
            </a:r>
            <a:endParaRPr/>
          </a:p>
          <a:p>
            <a:pPr indent="-393700" lvl="0" marL="457200" rtl="0" algn="l">
              <a:spcBef>
                <a:spcPts val="0"/>
              </a:spcBef>
              <a:spcAft>
                <a:spcPts val="0"/>
              </a:spcAft>
              <a:buSzPts val="2600"/>
              <a:buChar char="❏"/>
            </a:pPr>
            <a:r>
              <a:rPr lang="en"/>
              <a:t>Output: booking confirmation, payment token</a:t>
            </a:r>
            <a:endParaRPr/>
          </a:p>
          <a:p>
            <a:pPr indent="-393700" lvl="0" marL="457200" rtl="0" algn="l">
              <a:spcBef>
                <a:spcPts val="0"/>
              </a:spcBef>
              <a:spcAft>
                <a:spcPts val="0"/>
              </a:spcAft>
              <a:buSzPts val="2600"/>
              <a:buChar char="❏"/>
            </a:pPr>
            <a:r>
              <a:rPr lang="en"/>
              <a:t>Pain Point: seamless connection, fewer manual steps</a:t>
            </a:r>
            <a:endParaRPr/>
          </a:p>
        </p:txBody>
      </p:sp>
      <p:sp>
        <p:nvSpPr>
          <p:cNvPr id="287" name="Google Shape;287;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4. Map &amp; Navigation (Abstract Module)</a:t>
            </a:r>
            <a:endParaRPr/>
          </a:p>
        </p:txBody>
      </p:sp>
      <p:sp>
        <p:nvSpPr>
          <p:cNvPr id="293" name="Google Shape;293;p47"/>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Responsibility: display routes &amp; provide navigation support</a:t>
            </a:r>
            <a:endParaRPr/>
          </a:p>
          <a:p>
            <a:pPr indent="-393700" lvl="0" marL="457200" rtl="0" algn="l">
              <a:spcBef>
                <a:spcPts val="0"/>
              </a:spcBef>
              <a:spcAft>
                <a:spcPts val="0"/>
              </a:spcAft>
              <a:buSzPts val="2600"/>
              <a:buChar char="❏"/>
            </a:pPr>
            <a:r>
              <a:rPr lang="en"/>
              <a:t>Input: optimized route</a:t>
            </a:r>
            <a:endParaRPr/>
          </a:p>
          <a:p>
            <a:pPr indent="-393700" lvl="0" marL="457200" rtl="0" algn="l">
              <a:spcBef>
                <a:spcPts val="0"/>
              </a:spcBef>
              <a:spcAft>
                <a:spcPts val="0"/>
              </a:spcAft>
              <a:buSzPts val="2600"/>
              <a:buChar char="❏"/>
            </a:pPr>
            <a:r>
              <a:rPr lang="en"/>
              <a:t>Output: map visualization, directions</a:t>
            </a:r>
            <a:endParaRPr/>
          </a:p>
          <a:p>
            <a:pPr indent="-393700" lvl="0" marL="457200" rtl="0" algn="l">
              <a:spcBef>
                <a:spcPts val="0"/>
              </a:spcBef>
              <a:spcAft>
                <a:spcPts val="0"/>
              </a:spcAft>
              <a:buSzPts val="2600"/>
              <a:buChar char="❏"/>
            </a:pPr>
            <a:r>
              <a:rPr lang="en"/>
              <a:t>Pain Point: clarity, intuitiveness; offline &amp; real-time traffic</a:t>
            </a:r>
            <a:endParaRPr/>
          </a:p>
        </p:txBody>
      </p:sp>
      <p:sp>
        <p:nvSpPr>
          <p:cNvPr id="294" name="Google Shape;294;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8"/>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5. Admin / Backend (Abstract Module)</a:t>
            </a:r>
            <a:endParaRPr/>
          </a:p>
        </p:txBody>
      </p:sp>
      <p:sp>
        <p:nvSpPr>
          <p:cNvPr id="300" name="Google Shape;300;p48"/>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Responsibility: manage data, analyze user behavior</a:t>
            </a:r>
            <a:endParaRPr/>
          </a:p>
          <a:p>
            <a:pPr indent="-393700" lvl="0" marL="457200" rtl="0" algn="l">
              <a:spcBef>
                <a:spcPts val="0"/>
              </a:spcBef>
              <a:spcAft>
                <a:spcPts val="0"/>
              </a:spcAft>
              <a:buSzPts val="2600"/>
              <a:buChar char="❏"/>
            </a:pPr>
            <a:r>
              <a:rPr lang="en"/>
              <a:t>Input: data from system &amp; users</a:t>
            </a:r>
            <a:endParaRPr/>
          </a:p>
          <a:p>
            <a:pPr indent="-393700" lvl="0" marL="457200" rtl="0" algn="l">
              <a:spcBef>
                <a:spcPts val="0"/>
              </a:spcBef>
              <a:spcAft>
                <a:spcPts val="0"/>
              </a:spcAft>
              <a:buSzPts val="2600"/>
              <a:buChar char="❏"/>
            </a:pPr>
            <a:r>
              <a:rPr lang="en"/>
              <a:t>Output: analytics, reports, updated data</a:t>
            </a:r>
            <a:endParaRPr/>
          </a:p>
          <a:p>
            <a:pPr indent="-393700" lvl="0" marL="457200" rtl="0" algn="l">
              <a:spcBef>
                <a:spcPts val="0"/>
              </a:spcBef>
              <a:spcAft>
                <a:spcPts val="0"/>
              </a:spcAft>
              <a:buSzPts val="2600"/>
              <a:buChar char="❏"/>
            </a:pPr>
            <a:r>
              <a:rPr lang="en"/>
              <a:t>Pain Point: managing large datasets, avoiding manual errors</a:t>
            </a:r>
            <a:endParaRPr/>
          </a:p>
        </p:txBody>
      </p:sp>
      <p:sp>
        <p:nvSpPr>
          <p:cNvPr id="301" name="Google Shape;301;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9"/>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6. External APIs (Abstract Module)</a:t>
            </a:r>
            <a:endParaRPr/>
          </a:p>
        </p:txBody>
      </p:sp>
      <p:sp>
        <p:nvSpPr>
          <p:cNvPr id="307" name="Google Shape;307;p49"/>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Responsibility: provide external data (maps, weather, booking)</a:t>
            </a:r>
            <a:endParaRPr/>
          </a:p>
          <a:p>
            <a:pPr indent="-393700" lvl="0" marL="457200" rtl="0" algn="l">
              <a:spcBef>
                <a:spcPts val="0"/>
              </a:spcBef>
              <a:spcAft>
                <a:spcPts val="0"/>
              </a:spcAft>
              <a:buSzPts val="2600"/>
              <a:buChar char="❏"/>
            </a:pPr>
            <a:r>
              <a:rPr lang="en"/>
              <a:t>Input: </a:t>
            </a:r>
            <a:r>
              <a:rPr lang="en"/>
              <a:t>API requests</a:t>
            </a:r>
            <a:endParaRPr/>
          </a:p>
          <a:p>
            <a:pPr indent="-393700" lvl="0" marL="457200" rtl="0" algn="l">
              <a:spcBef>
                <a:spcPts val="0"/>
              </a:spcBef>
              <a:spcAft>
                <a:spcPts val="0"/>
              </a:spcAft>
              <a:buSzPts val="2600"/>
              <a:buChar char="❏"/>
            </a:pPr>
            <a:r>
              <a:rPr lang="en"/>
              <a:t>Output: </a:t>
            </a:r>
            <a:r>
              <a:rPr lang="en"/>
              <a:t>API responses</a:t>
            </a:r>
            <a:endParaRPr/>
          </a:p>
          <a:p>
            <a:pPr indent="-393700" lvl="0" marL="457200" rtl="0" algn="l">
              <a:spcBef>
                <a:spcPts val="0"/>
              </a:spcBef>
              <a:spcAft>
                <a:spcPts val="0"/>
              </a:spcAft>
              <a:buSzPts val="2600"/>
              <a:buChar char="❏"/>
            </a:pPr>
            <a:r>
              <a:rPr lang="en"/>
              <a:t>Pain Point: </a:t>
            </a:r>
            <a:r>
              <a:rPr lang="en"/>
              <a:t>ensuring reliability, handling API rate limits</a:t>
            </a:r>
            <a:endParaRPr/>
          </a:p>
        </p:txBody>
      </p:sp>
      <p:sp>
        <p:nvSpPr>
          <p:cNvPr id="308" name="Google Shape;308;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0"/>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Common problems</a:t>
            </a:r>
            <a:endParaRPr/>
          </a:p>
        </p:txBody>
      </p:sp>
      <p:sp>
        <p:nvSpPr>
          <p:cNvPr id="314" name="Google Shape;314;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315" name="Google Shape;315;p50"/>
          <p:cNvPicPr preferRelativeResize="0"/>
          <p:nvPr/>
        </p:nvPicPr>
        <p:blipFill>
          <a:blip r:embed="rId3">
            <a:alphaModFix/>
          </a:blip>
          <a:stretch>
            <a:fillRect/>
          </a:stretch>
        </p:blipFill>
        <p:spPr>
          <a:xfrm>
            <a:off x="152400" y="894900"/>
            <a:ext cx="8608673" cy="37683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1"/>
          <p:cNvSpPr txBox="1"/>
          <p:nvPr>
            <p:ph type="title"/>
          </p:nvPr>
        </p:nvSpPr>
        <p:spPr>
          <a:xfrm>
            <a:off x="209950" y="14553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500"/>
              <a:t>Tips</a:t>
            </a:r>
            <a:endParaRPr sz="5500"/>
          </a:p>
        </p:txBody>
      </p:sp>
      <p:sp>
        <p:nvSpPr>
          <p:cNvPr id="321" name="Google Shape;321;p51"/>
          <p:cNvSpPr txBox="1"/>
          <p:nvPr>
            <p:ph idx="2" type="body"/>
          </p:nvPr>
        </p:nvSpPr>
        <p:spPr>
          <a:xfrm>
            <a:off x="4834400" y="403700"/>
            <a:ext cx="4107600" cy="43599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AutoNum type="arabicPeriod"/>
            </a:pPr>
            <a:r>
              <a:rPr lang="en"/>
              <a:t>For each abstract module → clearly specify responsibility, input, output, and related pain points.</a:t>
            </a:r>
            <a:endParaRPr/>
          </a:p>
          <a:p>
            <a:pPr indent="-342900" lvl="0" marL="457200" rtl="0" algn="l">
              <a:spcBef>
                <a:spcPts val="0"/>
              </a:spcBef>
              <a:spcAft>
                <a:spcPts val="0"/>
              </a:spcAft>
              <a:buSzPts val="1800"/>
              <a:buAutoNum type="arabicPeriod"/>
            </a:pPr>
            <a:r>
              <a:rPr lang="en"/>
              <a:t>Avoid writing algorithm details in the abstraction → keep the logic at a high-level.</a:t>
            </a:r>
            <a:endParaRPr/>
          </a:p>
          <a:p>
            <a:pPr indent="-342900" lvl="0" marL="457200" rtl="0" algn="l">
              <a:spcBef>
                <a:spcPts val="0"/>
              </a:spcBef>
              <a:spcAft>
                <a:spcPts val="0"/>
              </a:spcAft>
              <a:buSzPts val="1800"/>
              <a:buAutoNum type="arabicPeriod"/>
            </a:pPr>
            <a:r>
              <a:rPr lang="en"/>
              <a:t>Draw dependency arrows: which module depends on which (e.g., Travel Planning → Map &amp; Navigation).</a:t>
            </a:r>
            <a:endParaRPr/>
          </a:p>
          <a:p>
            <a:pPr indent="-342900" lvl="0" marL="457200" rtl="0" algn="l">
              <a:spcBef>
                <a:spcPts val="0"/>
              </a:spcBef>
              <a:spcAft>
                <a:spcPts val="0"/>
              </a:spcAft>
              <a:buSzPts val="1800"/>
              <a:buAutoNum type="arabicPeriod"/>
            </a:pPr>
            <a:r>
              <a:rPr lang="en"/>
              <a:t>Maintain general and reusable abstractions to allow future expansion.</a:t>
            </a:r>
            <a:endParaRPr/>
          </a:p>
        </p:txBody>
      </p:sp>
      <p:sp>
        <p:nvSpPr>
          <p:cNvPr id="322" name="Google Shape;322;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2"/>
          <p:cNvSpPr txBox="1"/>
          <p:nvPr>
            <p:ph type="title"/>
          </p:nvPr>
        </p:nvSpPr>
        <p:spPr>
          <a:xfrm>
            <a:off x="540000" y="1281775"/>
            <a:ext cx="8064000" cy="224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Discussion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3"/>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Discussion</a:t>
            </a:r>
            <a:endParaRPr/>
          </a:p>
        </p:txBody>
      </p:sp>
      <p:sp>
        <p:nvSpPr>
          <p:cNvPr id="333" name="Google Shape;333;p53"/>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Model a smart home thermostat system. </a:t>
            </a:r>
            <a:endParaRPr/>
          </a:p>
          <a:p>
            <a:pPr indent="-393700" lvl="0" marL="457200" rtl="0" algn="l">
              <a:spcBef>
                <a:spcPts val="0"/>
              </a:spcBef>
              <a:spcAft>
                <a:spcPts val="0"/>
              </a:spcAft>
              <a:buSzPts val="2600"/>
              <a:buChar char="❏"/>
            </a:pPr>
            <a:r>
              <a:rPr lang="en"/>
              <a:t>What details matter for the model and what details can be ignored?</a:t>
            </a:r>
            <a:endParaRPr/>
          </a:p>
        </p:txBody>
      </p:sp>
      <p:sp>
        <p:nvSpPr>
          <p:cNvPr id="334" name="Google Shape;334;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4"/>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Suggested solution</a:t>
            </a:r>
            <a:endParaRPr/>
          </a:p>
        </p:txBody>
      </p:sp>
      <p:sp>
        <p:nvSpPr>
          <p:cNvPr id="340" name="Google Shape;340;p54"/>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What details matter for the model?</a:t>
            </a:r>
            <a:endParaRPr/>
          </a:p>
          <a:p>
            <a:pPr indent="457200" lvl="0" marL="0" rtl="0" algn="l">
              <a:spcBef>
                <a:spcPts val="0"/>
              </a:spcBef>
              <a:spcAft>
                <a:spcPts val="0"/>
              </a:spcAft>
              <a:buNone/>
            </a:pPr>
            <a:r>
              <a:rPr lang="en"/>
              <a:t>-&gt; </a:t>
            </a:r>
            <a:r>
              <a:rPr lang="en"/>
              <a:t>current temperature</a:t>
            </a:r>
            <a:endParaRPr/>
          </a:p>
          <a:p>
            <a:pPr indent="457200" lvl="0" marL="0" rtl="0" algn="l">
              <a:spcBef>
                <a:spcPts val="0"/>
              </a:spcBef>
              <a:spcAft>
                <a:spcPts val="0"/>
              </a:spcAft>
              <a:buNone/>
            </a:pPr>
            <a:r>
              <a:rPr lang="en"/>
              <a:t>-&gt; target temperature</a:t>
            </a:r>
            <a:endParaRPr/>
          </a:p>
          <a:p>
            <a:pPr indent="457200" lvl="0" marL="0" rtl="0" algn="l">
              <a:spcBef>
                <a:spcPts val="0"/>
              </a:spcBef>
              <a:spcAft>
                <a:spcPts val="0"/>
              </a:spcAft>
              <a:buNone/>
            </a:pPr>
            <a:r>
              <a:rPr lang="en"/>
              <a:t>-&gt; time of day</a:t>
            </a:r>
            <a:endParaRPr/>
          </a:p>
          <a:p>
            <a:pPr indent="-393700" lvl="0" marL="457200" rtl="0" algn="l">
              <a:spcBef>
                <a:spcPts val="0"/>
              </a:spcBef>
              <a:spcAft>
                <a:spcPts val="0"/>
              </a:spcAft>
              <a:buSzPts val="2600"/>
              <a:buChar char="❏"/>
            </a:pPr>
            <a:r>
              <a:rPr lang="en"/>
              <a:t>What details can be ignored?</a:t>
            </a:r>
            <a:endParaRPr/>
          </a:p>
          <a:p>
            <a:pPr indent="457200" lvl="0" marL="0" rtl="0" algn="l">
              <a:spcBef>
                <a:spcPts val="0"/>
              </a:spcBef>
              <a:spcAft>
                <a:spcPts val="0"/>
              </a:spcAft>
              <a:buNone/>
            </a:pPr>
            <a:r>
              <a:rPr lang="en"/>
              <a:t>-&gt; the color of the thermostat</a:t>
            </a:r>
            <a:endParaRPr/>
          </a:p>
        </p:txBody>
      </p:sp>
      <p:sp>
        <p:nvSpPr>
          <p:cNvPr id="341" name="Google Shape;341;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5"/>
          <p:cNvSpPr txBox="1"/>
          <p:nvPr>
            <p:ph type="ctrTitle"/>
          </p:nvPr>
        </p:nvSpPr>
        <p:spPr>
          <a:xfrm>
            <a:off x="0" y="1907525"/>
            <a:ext cx="9144000" cy="139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Case study</a:t>
            </a:r>
            <a:endParaRPr/>
          </a:p>
        </p:txBody>
      </p:sp>
      <p:sp>
        <p:nvSpPr>
          <p:cNvPr id="347" name="Google Shape;347;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348" name="Google Shape;348;p55"/>
          <p:cNvSpPr txBox="1"/>
          <p:nvPr>
            <p:ph idx="1" type="subTitle"/>
          </p:nvPr>
        </p:nvSpPr>
        <p:spPr>
          <a:xfrm>
            <a:off x="311700" y="3764663"/>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John Snow solved 1854 cholera outbreak in London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6"/>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a:t>
            </a:r>
            <a:r>
              <a:rPr lang="en"/>
              <a:t>Golden Square outbreak</a:t>
            </a:r>
            <a:endParaRPr/>
          </a:p>
        </p:txBody>
      </p:sp>
      <p:sp>
        <p:nvSpPr>
          <p:cNvPr id="354" name="Google Shape;354;p56"/>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W</a:t>
            </a:r>
            <a:r>
              <a:rPr lang="en"/>
              <a:t>orldwide 1846–1860: cholera pandemic</a:t>
            </a:r>
            <a:endParaRPr/>
          </a:p>
          <a:p>
            <a:pPr indent="-393700" lvl="0" marL="457200" rtl="0" algn="l">
              <a:spcBef>
                <a:spcPts val="0"/>
              </a:spcBef>
              <a:spcAft>
                <a:spcPts val="0"/>
              </a:spcAft>
              <a:buSzPts val="2600"/>
              <a:buChar char="❏"/>
            </a:pPr>
            <a:r>
              <a:rPr lang="en"/>
              <a:t>Killed 616 people</a:t>
            </a:r>
            <a:endParaRPr/>
          </a:p>
          <a:p>
            <a:pPr indent="-393700" lvl="0" marL="457200" rtl="0" algn="l">
              <a:spcBef>
                <a:spcPts val="0"/>
              </a:spcBef>
              <a:spcAft>
                <a:spcPts val="0"/>
              </a:spcAft>
              <a:buSzPts val="2600"/>
              <a:buChar char="❏"/>
            </a:pPr>
            <a:r>
              <a:rPr lang="en"/>
              <a:t>John Snow's study: </a:t>
            </a:r>
            <a:endParaRPr/>
          </a:p>
          <a:p>
            <a:pPr indent="-355600" lvl="1" marL="914400" rtl="0" algn="l">
              <a:spcBef>
                <a:spcPts val="0"/>
              </a:spcBef>
              <a:spcAft>
                <a:spcPts val="0"/>
              </a:spcAft>
              <a:buSzPts val="2000"/>
              <a:buChar char="❏"/>
            </a:pPr>
            <a:r>
              <a:rPr lang="en"/>
              <a:t>The cause: germ-contaminated water </a:t>
            </a:r>
            <a:endParaRPr/>
          </a:p>
          <a:p>
            <a:pPr indent="-355600" lvl="1" marL="914400" rtl="0" algn="l">
              <a:spcBef>
                <a:spcPts val="0"/>
              </a:spcBef>
              <a:spcAft>
                <a:spcPts val="0"/>
              </a:spcAft>
              <a:buSzPts val="2000"/>
              <a:buChar char="❏"/>
            </a:pPr>
            <a:r>
              <a:rPr lang="en"/>
              <a:t>Not "miasma" in the air</a:t>
            </a:r>
            <a:endParaRPr/>
          </a:p>
          <a:p>
            <a:pPr indent="-393700" lvl="0" marL="457200" rtl="0" algn="l">
              <a:spcBef>
                <a:spcPts val="0"/>
              </a:spcBef>
              <a:spcAft>
                <a:spcPts val="0"/>
              </a:spcAft>
              <a:buSzPts val="2600"/>
              <a:buChar char="❏"/>
            </a:pPr>
            <a:r>
              <a:rPr lang="en"/>
              <a:t>Influence to today: construction &amp; improved sanitation facilities</a:t>
            </a:r>
            <a:endParaRPr/>
          </a:p>
        </p:txBody>
      </p:sp>
      <p:sp>
        <p:nvSpPr>
          <p:cNvPr id="355" name="Google Shape;355;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356" name="Google Shape;356;p56"/>
          <p:cNvSpPr txBox="1"/>
          <p:nvPr/>
        </p:nvSpPr>
        <p:spPr>
          <a:xfrm>
            <a:off x="408325" y="4636400"/>
            <a:ext cx="3793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3"/>
              </a:rPr>
              <a:t>1854 Broad Street cholera outbreak - Wikipedia</a:t>
            </a:r>
            <a:endParaRPr sz="1800">
              <a:solidFill>
                <a:srgbClr val="FFFFFF"/>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7"/>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1. </a:t>
            </a:r>
            <a:r>
              <a:rPr b="1" lang="en" sz="2100">
                <a:solidFill>
                  <a:srgbClr val="0000FF"/>
                </a:solidFill>
              </a:rPr>
              <a:t>Decomposition</a:t>
            </a:r>
            <a:r>
              <a:rPr lang="en" sz="2100"/>
              <a:t>: dividing the city into zones and working on each zone individually</a:t>
            </a:r>
            <a:endParaRPr sz="2100"/>
          </a:p>
          <a:p>
            <a:pPr indent="0" lvl="0" marL="0" rtl="0" algn="l">
              <a:spcBef>
                <a:spcPts val="0"/>
              </a:spcBef>
              <a:spcAft>
                <a:spcPts val="0"/>
              </a:spcAft>
              <a:buNone/>
            </a:pPr>
            <a:r>
              <a:rPr lang="en" sz="2100"/>
              <a:t>2. </a:t>
            </a:r>
            <a:r>
              <a:rPr b="1" lang="en" sz="2100">
                <a:solidFill>
                  <a:srgbClr val="0000FF"/>
                </a:solidFill>
              </a:rPr>
              <a:t>Pattern recognition</a:t>
            </a:r>
            <a:r>
              <a:rPr lang="en" sz="2100"/>
              <a:t>: </a:t>
            </a:r>
            <a:endParaRPr sz="2100"/>
          </a:p>
          <a:p>
            <a:pPr indent="-361950" lvl="0" marL="457200" rtl="0" algn="l">
              <a:spcBef>
                <a:spcPts val="0"/>
              </a:spcBef>
              <a:spcAft>
                <a:spcPts val="0"/>
              </a:spcAft>
              <a:buSzPts val="2100"/>
              <a:buChar char="❏"/>
            </a:pPr>
            <a:r>
              <a:rPr lang="en" sz="2100"/>
              <a:t>Narrow down the origin of the infection to the zone with the earliest cases </a:t>
            </a:r>
            <a:endParaRPr sz="2100"/>
          </a:p>
          <a:p>
            <a:pPr indent="-361950" lvl="0" marL="457200" rtl="0" algn="l">
              <a:spcBef>
                <a:spcPts val="0"/>
              </a:spcBef>
              <a:spcAft>
                <a:spcPts val="0"/>
              </a:spcAft>
              <a:buSzPts val="2100"/>
              <a:buChar char="❏"/>
            </a:pPr>
            <a:r>
              <a:rPr lang="en" sz="2100"/>
              <a:t>Find the areas with the highest density of the infected populace</a:t>
            </a:r>
            <a:endParaRPr sz="2100"/>
          </a:p>
          <a:p>
            <a:pPr indent="0" lvl="0" marL="0" rtl="0" algn="l">
              <a:spcBef>
                <a:spcPts val="0"/>
              </a:spcBef>
              <a:spcAft>
                <a:spcPts val="0"/>
              </a:spcAft>
              <a:buNone/>
            </a:pPr>
            <a:r>
              <a:rPr lang="en" sz="2100"/>
              <a:t>3. </a:t>
            </a:r>
            <a:r>
              <a:rPr b="1" lang="en" sz="2100">
                <a:solidFill>
                  <a:srgbClr val="0000FF"/>
                </a:solidFill>
              </a:rPr>
              <a:t>Abstraction</a:t>
            </a:r>
            <a:r>
              <a:rPr lang="en" sz="2100"/>
              <a:t>: interviews to eliminate people who were not infected from breathing the same air =&gt; the mode of infection wasn’t airborne</a:t>
            </a:r>
            <a:endParaRPr sz="2100"/>
          </a:p>
          <a:p>
            <a:pPr indent="0" lvl="0" marL="0" rtl="0" algn="l">
              <a:spcBef>
                <a:spcPts val="0"/>
              </a:spcBef>
              <a:spcAft>
                <a:spcPts val="0"/>
              </a:spcAft>
              <a:buNone/>
            </a:pPr>
            <a:r>
              <a:rPr lang="en" sz="2100"/>
              <a:t>4. </a:t>
            </a:r>
            <a:r>
              <a:rPr b="1" lang="en" sz="2100">
                <a:solidFill>
                  <a:srgbClr val="0000FF"/>
                </a:solidFill>
              </a:rPr>
              <a:t>Algorithm</a:t>
            </a:r>
            <a:r>
              <a:rPr lang="en" sz="2100"/>
              <a:t>: Use calculations &amp; diagrams to pin down the point of origin</a:t>
            </a:r>
            <a:endParaRPr sz="2100"/>
          </a:p>
        </p:txBody>
      </p:sp>
      <p:sp>
        <p:nvSpPr>
          <p:cNvPr id="362" name="Google Shape;362;p57"/>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How John Snow solved the problem? </a:t>
            </a:r>
            <a:endParaRPr/>
          </a:p>
        </p:txBody>
      </p:sp>
      <p:sp>
        <p:nvSpPr>
          <p:cNvPr id="363" name="Google Shape;363;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8"/>
          <p:cNvSpPr txBox="1"/>
          <p:nvPr>
            <p:ph type="ctrTitle"/>
          </p:nvPr>
        </p:nvSpPr>
        <p:spPr>
          <a:xfrm>
            <a:off x="0" y="1907525"/>
            <a:ext cx="9144000" cy="139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Case study</a:t>
            </a:r>
            <a:endParaRPr/>
          </a:p>
        </p:txBody>
      </p:sp>
      <p:sp>
        <p:nvSpPr>
          <p:cNvPr id="369" name="Google Shape;369;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370" name="Google Shape;370;p58"/>
          <p:cNvSpPr txBox="1"/>
          <p:nvPr>
            <p:ph idx="1" type="subTitle"/>
          </p:nvPr>
        </p:nvSpPr>
        <p:spPr>
          <a:xfrm>
            <a:off x="311700" y="3764663"/>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Fake news detection</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9"/>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Dataset from Kaggle </a:t>
            </a:r>
            <a:endParaRPr/>
          </a:p>
        </p:txBody>
      </p:sp>
      <p:sp>
        <p:nvSpPr>
          <p:cNvPr id="376" name="Google Shape;376;p59"/>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u="sng">
                <a:solidFill>
                  <a:schemeClr val="hlink"/>
                </a:solidFill>
                <a:hlinkClick r:id="rId3"/>
              </a:rPr>
              <a:t>https://www.kaggle.com/datasets/jainpooja/fake-news-detection</a:t>
            </a:r>
            <a:r>
              <a:rPr lang="en" sz="2300"/>
              <a:t> </a:t>
            </a:r>
            <a:endParaRPr sz="2300"/>
          </a:p>
        </p:txBody>
      </p:sp>
      <p:sp>
        <p:nvSpPr>
          <p:cNvPr id="377" name="Google Shape;377;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378" name="Google Shape;378;p59"/>
          <p:cNvPicPr preferRelativeResize="0"/>
          <p:nvPr/>
        </p:nvPicPr>
        <p:blipFill>
          <a:blip r:embed="rId4">
            <a:alphaModFix/>
          </a:blip>
          <a:stretch>
            <a:fillRect/>
          </a:stretch>
        </p:blipFill>
        <p:spPr>
          <a:xfrm>
            <a:off x="1563950" y="1477275"/>
            <a:ext cx="5252351" cy="35015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Sample source code</a:t>
            </a:r>
            <a:endParaRPr/>
          </a:p>
        </p:txBody>
      </p:sp>
      <p:sp>
        <p:nvSpPr>
          <p:cNvPr id="384" name="Google Shape;384;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385" name="Google Shape;385;p60"/>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u="sng">
                <a:solidFill>
                  <a:schemeClr val="hlink"/>
                </a:solidFill>
                <a:hlinkClick r:id="rId3"/>
              </a:rPr>
              <a:t>https://www.kaggle.com/code/tdquang/fake-news-detection</a:t>
            </a:r>
            <a:r>
              <a:rPr lang="en" sz="1900"/>
              <a:t>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 sz="1900"/>
              <a:t>What should we do when we have the data?</a:t>
            </a:r>
            <a:endParaRPr sz="1900"/>
          </a:p>
          <a:p>
            <a:pPr indent="457200" lvl="0" marL="0" rtl="0" algn="l">
              <a:spcBef>
                <a:spcPts val="0"/>
              </a:spcBef>
              <a:spcAft>
                <a:spcPts val="0"/>
              </a:spcAft>
              <a:buNone/>
            </a:pPr>
            <a:r>
              <a:rPr lang="en" sz="1900"/>
              <a:t>=&gt; 1. Inspect</a:t>
            </a:r>
            <a:endParaRPr sz="1900"/>
          </a:p>
          <a:p>
            <a:pPr indent="457200" lvl="0" marL="0" rtl="0" algn="l">
              <a:spcBef>
                <a:spcPts val="0"/>
              </a:spcBef>
              <a:spcAft>
                <a:spcPts val="0"/>
              </a:spcAft>
              <a:buNone/>
            </a:pPr>
            <a:r>
              <a:rPr lang="en" sz="1900"/>
              <a:t>=&gt; 2. Read into DataFrame</a:t>
            </a:r>
            <a:endParaRPr sz="1900"/>
          </a:p>
          <a:p>
            <a:pPr indent="457200" lvl="0" marL="0" rtl="0" algn="l">
              <a:spcBef>
                <a:spcPts val="0"/>
              </a:spcBef>
              <a:spcAft>
                <a:spcPts val="0"/>
              </a:spcAft>
              <a:buNone/>
            </a:pPr>
            <a:r>
              <a:rPr lang="en" sz="1900"/>
              <a:t>=&gt; 3. Restructuring (add columns, remove unwanted columns)</a:t>
            </a:r>
            <a:endParaRPr sz="1900"/>
          </a:p>
          <a:p>
            <a:pPr indent="457200" lvl="0" marL="0" rtl="0" algn="l">
              <a:spcBef>
                <a:spcPts val="0"/>
              </a:spcBef>
              <a:spcAft>
                <a:spcPts val="0"/>
              </a:spcAft>
              <a:buNone/>
            </a:pPr>
            <a:r>
              <a:rPr lang="en" sz="1900"/>
              <a:t>=&gt; 4. Reserve some data for testing later</a:t>
            </a:r>
            <a:endParaRPr sz="1900"/>
          </a:p>
          <a:p>
            <a:pPr indent="457200" lvl="0" marL="0" rtl="0" algn="l">
              <a:spcBef>
                <a:spcPts val="0"/>
              </a:spcBef>
              <a:spcAft>
                <a:spcPts val="0"/>
              </a:spcAft>
              <a:buNone/>
            </a:pPr>
            <a:r>
              <a:rPr lang="en" sz="1900"/>
              <a:t>=&gt; 5. Shuffle the data for training</a:t>
            </a:r>
            <a:endParaRPr sz="1900"/>
          </a:p>
          <a:p>
            <a:pPr indent="457200" lvl="0" marL="0" rtl="0" algn="l">
              <a:spcBef>
                <a:spcPts val="0"/>
              </a:spcBef>
              <a:spcAft>
                <a:spcPts val="0"/>
              </a:spcAft>
              <a:buNone/>
            </a:pPr>
            <a:r>
              <a:rPr lang="en" sz="1900"/>
              <a:t>=&gt; 6. Remove unwanted special characters</a:t>
            </a:r>
            <a:endParaRPr sz="1900"/>
          </a:p>
          <a:p>
            <a:pPr indent="0" lvl="0" marL="0" rtl="0" algn="l">
              <a:spcBef>
                <a:spcPts val="0"/>
              </a:spcBef>
              <a:spcAft>
                <a:spcPts val="0"/>
              </a:spcAft>
              <a:buNone/>
            </a:pPr>
            <a:r>
              <a:t/>
            </a:r>
            <a:endParaRPr sz="19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1"/>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Do the training</a:t>
            </a:r>
            <a:endParaRPr/>
          </a:p>
        </p:txBody>
      </p:sp>
      <p:sp>
        <p:nvSpPr>
          <p:cNvPr id="391" name="Google Shape;391;p61"/>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a:t>
            </a:r>
            <a:r>
              <a:rPr lang="en"/>
              <a:t>Split into train &amp; test</a:t>
            </a:r>
            <a:endParaRPr/>
          </a:p>
          <a:p>
            <a:pPr indent="0" lvl="0" marL="0" rtl="0" algn="l">
              <a:spcBef>
                <a:spcPts val="0"/>
              </a:spcBef>
              <a:spcAft>
                <a:spcPts val="0"/>
              </a:spcAft>
              <a:buNone/>
            </a:pPr>
            <a:r>
              <a:rPr lang="en"/>
              <a:t>2. Convert to vectors</a:t>
            </a:r>
            <a:endParaRPr/>
          </a:p>
          <a:p>
            <a:pPr indent="0" lvl="0" marL="0" rtl="0" algn="l">
              <a:spcBef>
                <a:spcPts val="0"/>
              </a:spcBef>
              <a:spcAft>
                <a:spcPts val="0"/>
              </a:spcAft>
              <a:buNone/>
            </a:pPr>
            <a:r>
              <a:rPr lang="en"/>
              <a:t>3. Train</a:t>
            </a:r>
            <a:endParaRPr/>
          </a:p>
          <a:p>
            <a:pPr indent="0" lvl="0" marL="0" rtl="0" algn="l">
              <a:spcBef>
                <a:spcPts val="0"/>
              </a:spcBef>
              <a:spcAft>
                <a:spcPts val="0"/>
              </a:spcAft>
              <a:buNone/>
            </a:pPr>
            <a:r>
              <a:rPr lang="en"/>
              <a:t>	Logistic regression</a:t>
            </a:r>
            <a:endParaRPr/>
          </a:p>
          <a:p>
            <a:pPr indent="0" lvl="0" marL="0" rtl="0" algn="l">
              <a:spcBef>
                <a:spcPts val="0"/>
              </a:spcBef>
              <a:spcAft>
                <a:spcPts val="0"/>
              </a:spcAft>
              <a:buNone/>
            </a:pPr>
            <a:r>
              <a:rPr lang="en"/>
              <a:t>	Decision tree</a:t>
            </a:r>
            <a:endParaRPr/>
          </a:p>
          <a:p>
            <a:pPr indent="0" lvl="0" marL="0" rtl="0" algn="l">
              <a:spcBef>
                <a:spcPts val="0"/>
              </a:spcBef>
              <a:spcAft>
                <a:spcPts val="0"/>
              </a:spcAft>
              <a:buNone/>
            </a:pPr>
            <a:r>
              <a:rPr lang="en"/>
              <a:t>	Gradient Boost</a:t>
            </a:r>
            <a:endParaRPr/>
          </a:p>
          <a:p>
            <a:pPr indent="0" lvl="0" marL="0" rtl="0" algn="l">
              <a:spcBef>
                <a:spcPts val="0"/>
              </a:spcBef>
              <a:spcAft>
                <a:spcPts val="0"/>
              </a:spcAft>
              <a:buNone/>
            </a:pPr>
            <a:r>
              <a:rPr lang="en"/>
              <a:t>	Random Forest</a:t>
            </a:r>
            <a:endParaRPr/>
          </a:p>
          <a:p>
            <a:pPr indent="0" lvl="0" marL="0" rtl="0" algn="l">
              <a:spcBef>
                <a:spcPts val="0"/>
              </a:spcBef>
              <a:spcAft>
                <a:spcPts val="0"/>
              </a:spcAft>
              <a:buNone/>
            </a:pPr>
            <a:r>
              <a:t/>
            </a:r>
            <a:endParaRPr/>
          </a:p>
        </p:txBody>
      </p:sp>
      <p:sp>
        <p:nvSpPr>
          <p:cNvPr id="392" name="Google Shape;392;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2"/>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Evaluation</a:t>
            </a:r>
            <a:endParaRPr/>
          </a:p>
        </p:txBody>
      </p:sp>
      <p:sp>
        <p:nvSpPr>
          <p:cNvPr id="398" name="Google Shape;398;p62"/>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Precision</a:t>
            </a:r>
            <a:endParaRPr/>
          </a:p>
          <a:p>
            <a:pPr indent="-393700" lvl="0" marL="457200" rtl="0" algn="l">
              <a:spcBef>
                <a:spcPts val="0"/>
              </a:spcBef>
              <a:spcAft>
                <a:spcPts val="0"/>
              </a:spcAft>
              <a:buSzPts val="2600"/>
              <a:buChar char="❏"/>
            </a:pPr>
            <a:r>
              <a:rPr lang="en"/>
              <a:t>Recall</a:t>
            </a:r>
            <a:endParaRPr/>
          </a:p>
          <a:p>
            <a:pPr indent="-393700" lvl="0" marL="457200" rtl="0" algn="l">
              <a:spcBef>
                <a:spcPts val="0"/>
              </a:spcBef>
              <a:spcAft>
                <a:spcPts val="0"/>
              </a:spcAft>
              <a:buSzPts val="2600"/>
              <a:buChar char="❏"/>
            </a:pPr>
            <a:r>
              <a:rPr lang="en"/>
              <a:t>F1-Score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Manual testing</a:t>
            </a:r>
            <a:endParaRPr/>
          </a:p>
          <a:p>
            <a:pPr indent="0" lvl="0" marL="0" rtl="0" algn="l">
              <a:spcBef>
                <a:spcPts val="0"/>
              </a:spcBef>
              <a:spcAft>
                <a:spcPts val="0"/>
              </a:spcAft>
              <a:buNone/>
            </a:pPr>
            <a:r>
              <a:rPr lang="en"/>
              <a:t>Other types of data?</a:t>
            </a:r>
            <a:endParaRPr/>
          </a:p>
        </p:txBody>
      </p:sp>
      <p:sp>
        <p:nvSpPr>
          <p:cNvPr id="399" name="Google Shape;399;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3"/>
          <p:cNvSpPr txBox="1"/>
          <p:nvPr>
            <p:ph type="ctrTitle"/>
          </p:nvPr>
        </p:nvSpPr>
        <p:spPr>
          <a:xfrm>
            <a:off x="0" y="1907525"/>
            <a:ext cx="9144000" cy="139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Case study</a:t>
            </a:r>
            <a:endParaRPr/>
          </a:p>
        </p:txBody>
      </p:sp>
      <p:sp>
        <p:nvSpPr>
          <p:cNvPr id="405" name="Google Shape;405;p63"/>
          <p:cNvSpPr txBox="1"/>
          <p:nvPr>
            <p:ph idx="1" type="subTitle"/>
          </p:nvPr>
        </p:nvSpPr>
        <p:spPr>
          <a:xfrm>
            <a:off x="311700" y="3764663"/>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SmartTourRoutePlanner: Tourism Route Dataset</a:t>
            </a:r>
            <a:endParaRPr/>
          </a:p>
        </p:txBody>
      </p:sp>
      <p:sp>
        <p:nvSpPr>
          <p:cNvPr id="406" name="Google Shape;406;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4"/>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 set from Kaggle</a:t>
            </a:r>
            <a:endParaRPr/>
          </a:p>
        </p:txBody>
      </p:sp>
      <p:sp>
        <p:nvSpPr>
          <p:cNvPr id="412" name="Google Shape;412;p64"/>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u="sng">
                <a:solidFill>
                  <a:schemeClr val="hlink"/>
                </a:solidFill>
                <a:hlinkClick r:id="rId3"/>
              </a:rPr>
              <a:t>https://www.kaggle.com/datasets/ziya07/smarttourrouteplanner-tourism-route-dataset</a:t>
            </a:r>
            <a:r>
              <a:rPr lang="en" sz="1700"/>
              <a:t> </a:t>
            </a:r>
            <a:endParaRPr sz="1700"/>
          </a:p>
        </p:txBody>
      </p:sp>
      <p:sp>
        <p:nvSpPr>
          <p:cNvPr id="413" name="Google Shape;413;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414" name="Google Shape;414;p64"/>
          <p:cNvPicPr preferRelativeResize="0"/>
          <p:nvPr/>
        </p:nvPicPr>
        <p:blipFill>
          <a:blip r:embed="rId4">
            <a:alphaModFix/>
          </a:blip>
          <a:stretch>
            <a:fillRect/>
          </a:stretch>
        </p:blipFill>
        <p:spPr>
          <a:xfrm>
            <a:off x="941775" y="1393700"/>
            <a:ext cx="7191701" cy="355117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5"/>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Sample source code</a:t>
            </a:r>
            <a:endParaRPr/>
          </a:p>
        </p:txBody>
      </p:sp>
      <p:sp>
        <p:nvSpPr>
          <p:cNvPr id="420" name="Google Shape;420;p65"/>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u="sng">
                <a:solidFill>
                  <a:schemeClr val="hlink"/>
                </a:solidFill>
                <a:hlinkClick r:id="rId3"/>
              </a:rPr>
              <a:t>https://www.kaggle.com/code/tdquang/smarttravel-tourism-route-dataset</a:t>
            </a:r>
            <a:r>
              <a:rPr lang="en" sz="2000"/>
              <a:t> </a:t>
            </a:r>
            <a:endParaRPr sz="2000"/>
          </a:p>
        </p:txBody>
      </p:sp>
      <p:sp>
        <p:nvSpPr>
          <p:cNvPr id="421" name="Google Shape;421;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6"/>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Possible followup</a:t>
            </a:r>
            <a:endParaRPr/>
          </a:p>
        </p:txBody>
      </p:sp>
      <p:sp>
        <p:nvSpPr>
          <p:cNvPr id="427" name="Google Shape;427;p66"/>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87350" lvl="0" marL="457200" rtl="0" algn="l">
              <a:spcBef>
                <a:spcPts val="0"/>
              </a:spcBef>
              <a:spcAft>
                <a:spcPts val="0"/>
              </a:spcAft>
              <a:buSzPts val="2500"/>
              <a:buChar char="❏"/>
            </a:pPr>
            <a:r>
              <a:rPr lang="en" sz="2500"/>
              <a:t>F</a:t>
            </a:r>
            <a:r>
              <a:rPr lang="en" sz="2500"/>
              <a:t>ind an optimal journey: use cost, time, distance, … as the objective function</a:t>
            </a:r>
            <a:endParaRPr sz="2500"/>
          </a:p>
          <a:p>
            <a:pPr indent="-387350" lvl="0" marL="457200" rtl="0" algn="l">
              <a:spcBef>
                <a:spcPts val="0"/>
              </a:spcBef>
              <a:spcAft>
                <a:spcPts val="0"/>
              </a:spcAft>
              <a:buSzPts val="2500"/>
              <a:buChar char="❏"/>
            </a:pPr>
            <a:r>
              <a:rPr lang="en" sz="2500"/>
              <a:t>Apply </a:t>
            </a:r>
            <a:r>
              <a:rPr b="1" lang="en" sz="2500"/>
              <a:t>optimization algorithms </a:t>
            </a:r>
            <a:r>
              <a:rPr lang="en" sz="2500"/>
              <a:t>such as A* search, Dijkstra’s algorithm or heuristics to find the route between points of interest (POIs) </a:t>
            </a:r>
            <a:endParaRPr sz="2500"/>
          </a:p>
          <a:p>
            <a:pPr indent="-387350" lvl="0" marL="457200" rtl="0" algn="l">
              <a:spcBef>
                <a:spcPts val="0"/>
              </a:spcBef>
              <a:spcAft>
                <a:spcPts val="0"/>
              </a:spcAft>
              <a:buSzPts val="2500"/>
              <a:buChar char="❏"/>
            </a:pPr>
            <a:r>
              <a:rPr b="1" lang="en" sz="2500"/>
              <a:t>Classification / user recommendation</a:t>
            </a:r>
            <a:r>
              <a:rPr lang="en" sz="2500"/>
              <a:t>: build a classification model to predict “should the user choose route A or route B” based on the user profile (preferences, budget) and the route data</a:t>
            </a:r>
            <a:endParaRPr sz="2500"/>
          </a:p>
        </p:txBody>
      </p:sp>
      <p:sp>
        <p:nvSpPr>
          <p:cNvPr id="428" name="Google Shape;428;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7"/>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Activity</a:t>
            </a:r>
            <a:endParaRPr/>
          </a:p>
        </p:txBody>
      </p:sp>
      <p:sp>
        <p:nvSpPr>
          <p:cNvPr id="434" name="Google Shape;434;p67"/>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AutoNum type="arabicPeriod"/>
            </a:pPr>
            <a:r>
              <a:rPr lang="en"/>
              <a:t>Find one travel dataset on Kaggle</a:t>
            </a:r>
            <a:endParaRPr/>
          </a:p>
          <a:p>
            <a:pPr indent="-393700" lvl="0" marL="457200" rtl="0" algn="l">
              <a:spcBef>
                <a:spcPts val="0"/>
              </a:spcBef>
              <a:spcAft>
                <a:spcPts val="0"/>
              </a:spcAft>
              <a:buSzPts val="2600"/>
              <a:buAutoNum type="arabicPeriod"/>
            </a:pPr>
            <a:r>
              <a:rPr lang="en"/>
              <a:t>Inspect &amp; extract meaningful data on it</a:t>
            </a:r>
            <a:endParaRPr/>
          </a:p>
        </p:txBody>
      </p:sp>
      <p:sp>
        <p:nvSpPr>
          <p:cNvPr id="435" name="Google Shape;435;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8"/>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Ideas - Weekend activities</a:t>
            </a:r>
            <a:endParaRPr/>
          </a:p>
        </p:txBody>
      </p:sp>
      <p:sp>
        <p:nvSpPr>
          <p:cNvPr id="441" name="Google Shape;441;p68"/>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Coffee? </a:t>
            </a:r>
            <a:endParaRPr/>
          </a:p>
          <a:p>
            <a:pPr indent="457200" lvl="0" marL="0" rtl="0" algn="l">
              <a:spcBef>
                <a:spcPts val="0"/>
              </a:spcBef>
              <a:spcAft>
                <a:spcPts val="0"/>
              </a:spcAft>
              <a:buNone/>
            </a:pPr>
            <a:r>
              <a:rPr lang="en"/>
              <a:t>Tiktok / Facebook? </a:t>
            </a:r>
            <a:endParaRPr/>
          </a:p>
          <a:p>
            <a:pPr indent="457200" lvl="0" marL="0" rtl="0" algn="l">
              <a:spcBef>
                <a:spcPts val="0"/>
              </a:spcBef>
              <a:spcAft>
                <a:spcPts val="0"/>
              </a:spcAft>
              <a:buNone/>
            </a:pPr>
            <a:r>
              <a:rPr lang="en"/>
              <a:t>Info?</a:t>
            </a:r>
            <a:endParaRPr/>
          </a:p>
          <a:p>
            <a:pPr indent="0" lvl="0" marL="457200" rtl="0" algn="l">
              <a:spcBef>
                <a:spcPts val="0"/>
              </a:spcBef>
              <a:spcAft>
                <a:spcPts val="0"/>
              </a:spcAft>
              <a:buNone/>
            </a:pPr>
            <a:r>
              <a:rPr lang="en"/>
              <a:t>Review? </a:t>
            </a:r>
            <a:endParaRPr/>
          </a:p>
          <a:p>
            <a:pPr indent="0" lvl="0" marL="0" rtl="0" algn="l">
              <a:spcBef>
                <a:spcPts val="0"/>
              </a:spcBef>
              <a:spcAft>
                <a:spcPts val="0"/>
              </a:spcAft>
              <a:buNone/>
            </a:pPr>
            <a:r>
              <a:rPr lang="en"/>
              <a:t>Suggest image pose?</a:t>
            </a:r>
            <a:endParaRPr/>
          </a:p>
          <a:p>
            <a:pPr indent="0" lvl="0" marL="0" rtl="0" algn="l">
              <a:spcBef>
                <a:spcPts val="0"/>
              </a:spcBef>
              <a:spcAft>
                <a:spcPts val="0"/>
              </a:spcAft>
              <a:buNone/>
            </a:pPr>
            <a:r>
              <a:t/>
            </a:r>
            <a:endParaRPr/>
          </a:p>
        </p:txBody>
      </p:sp>
      <p:sp>
        <p:nvSpPr>
          <p:cNvPr id="442" name="Google Shape;442;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