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embeddedFontLst>
    <p:embeddedFont>
      <p:font typeface="Robot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-italic.fntdata"/><Relationship Id="rId12" Type="http://schemas.openxmlformats.org/officeDocument/2006/relationships/slide" Target="slides/slide7.xml"/><Relationship Id="rId56" Type="http://schemas.openxmlformats.org/officeDocument/2006/relationships/font" Target="fonts/Robo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83dbef99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283dbef99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3f1067531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3f1067531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3f106753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3f106753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3f1067531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3f1067531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3f106753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3f106753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3f1067531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3f1067531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3f106753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3f106753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3f1067531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3f1067531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3f106753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3f106753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3f1067531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3f1067531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3f106753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3f106753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3f1067531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3f1067531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3f1067531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3f1067531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3f1067531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3f1067531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3f1067531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3f1067531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f1067531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3f1067531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3f1067531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3f1067531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3f1067531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3f1067531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bd472a1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6bd472a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bd472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6bd472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"/>
              <a:buChar char="❏"/>
            </a:pPr>
            <a:r>
              <a:rPr lang="en" sz="2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2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symptotics = tiệm cận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3f10675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3f10675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3f106753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3f106753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3f106753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3f106753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3f106753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3f106753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3f106753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3f106753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3f106753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3f106753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3f106753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3f106753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3f106753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3f106753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3f106753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3f106753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3f106753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3f106753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3f106753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3f106753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3f106753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3f106753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3f106753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3f106753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3f106753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3f106753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3f106753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3f106753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3f106753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3f106753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3f106753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3f106753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3f106753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3f106753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3f106753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3f106753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3f106753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3f106753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3f106753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3f106753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3f106753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3f106753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3f106753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a3f106753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3f106753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a3f106753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3f1067531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3f106753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3f106753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3f106753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3f106753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3f106753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3f1067531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a3f1067531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Impementation</a:t>
            </a:r>
            <a:endParaRPr sz="4400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/>
              <a:t>turning an algorithm into actual running code</a:t>
            </a:r>
            <a:endParaRPr/>
          </a:p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implementation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Clarifying the Procedure (Precise Procedure)</a:t>
            </a:r>
            <a:endParaRPr/>
          </a:p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105900" y="8274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Principle</a:t>
            </a:r>
            <a:r>
              <a:rPr lang="en"/>
              <a:t>:  Implementation must rely on a clear, unambiguous set of instructions—detailed enough for a computer to execute.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 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Teaching students to write an algorithm for making coffee: every step must be explicit, no “add a bit”.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Writing code with explicit logic instead of relying on “implicit understanding”.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Meaning:  This is the foundation of programming: </a:t>
            </a:r>
            <a:r>
              <a:rPr b="1" lang="en">
                <a:solidFill>
                  <a:srgbClr val="FF0000"/>
                </a:solidFill>
              </a:rPr>
              <a:t>no ambiguity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precise procedure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unambiguous, step-by-step instructions that a computer can execute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practices: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Write explicit, deterministic steps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Avoid vague instructions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Represent the process clearly using pseudocode or flowcharts</a:t>
            </a:r>
            <a:endParaRPr/>
          </a:p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2. Converting Ideas into Data Structures and Actions </a:t>
            </a:r>
            <a:endParaRPr sz="26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Principle: Every idea must be converted into: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data → variables, structures, states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processing → functions, operations, rules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Problem: “library management”: books, borrowers, borrowing history → classes/structs.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Input must be parsed → Output must be clearly formatted.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Meaning: Understanding how to represent a problem in a machine-understandable form.</a:t>
            </a:r>
            <a:endParaRPr/>
          </a:p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data &amp; operation mapping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conceptual ideas into </a:t>
            </a:r>
            <a:r>
              <a:rPr b="1" lang="en">
                <a:solidFill>
                  <a:srgbClr val="FF0000"/>
                </a:solidFill>
              </a:rPr>
              <a:t>data structures</a:t>
            </a:r>
            <a:r>
              <a:rPr lang="en"/>
              <a:t> and </a:t>
            </a:r>
            <a:r>
              <a:rPr b="1" lang="en">
                <a:solidFill>
                  <a:srgbClr val="0000FF"/>
                </a:solidFill>
              </a:rPr>
              <a:t>actions </a:t>
            </a:r>
            <a:r>
              <a:rPr lang="en"/>
              <a:t>the machine can manipulate.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practices: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Identify </a:t>
            </a:r>
            <a:r>
              <a:rPr b="1" lang="en">
                <a:solidFill>
                  <a:srgbClr val="FF9900"/>
                </a:solidFill>
              </a:rPr>
              <a:t>entities </a:t>
            </a:r>
            <a:r>
              <a:rPr lang="en"/>
              <a:t>→ variables, objects, records.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Identify </a:t>
            </a:r>
            <a:r>
              <a:rPr b="1" lang="en">
                <a:solidFill>
                  <a:srgbClr val="9900FF"/>
                </a:solidFill>
              </a:rPr>
              <a:t>operations </a:t>
            </a:r>
            <a:r>
              <a:rPr lang="en"/>
              <a:t>→ functions, methods, rules.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Model </a:t>
            </a:r>
            <a:r>
              <a:rPr b="1" lang="en">
                <a:solidFill>
                  <a:srgbClr val="38761D"/>
                </a:solidFill>
              </a:rPr>
              <a:t>states </a:t>
            </a:r>
            <a:r>
              <a:rPr lang="en"/>
              <a:t>and </a:t>
            </a:r>
            <a:r>
              <a:rPr b="1" lang="en">
                <a:solidFill>
                  <a:srgbClr val="0000FF"/>
                </a:solidFill>
              </a:rPr>
              <a:t>transitions</a:t>
            </a:r>
            <a:r>
              <a:rPr lang="en"/>
              <a:t>.</a:t>
            </a:r>
            <a:endParaRPr/>
          </a:p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3. Breaking the Problem into Implementable Parts</a:t>
            </a:r>
            <a:endParaRPr sz="2600"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(Modularization)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Principle</a:t>
            </a:r>
            <a:r>
              <a:rPr lang="en"/>
              <a:t>: Never implement one giant block. Always split into modules or functions.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 BMI calculation → split into: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Input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Computation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Classification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Display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Meaning</a:t>
            </a:r>
            <a:r>
              <a:rPr lang="en"/>
              <a:t>: Fewer bugs, more reusability, easier testing.</a:t>
            </a:r>
            <a:endParaRPr/>
          </a:p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modularization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a large problem into </a:t>
            </a:r>
            <a:r>
              <a:rPr b="1" lang="en">
                <a:solidFill>
                  <a:srgbClr val="FF0000"/>
                </a:solidFill>
              </a:rPr>
              <a:t>smaller</a:t>
            </a:r>
            <a:r>
              <a:rPr lang="en"/>
              <a:t>, </a:t>
            </a:r>
            <a:r>
              <a:rPr b="1" lang="en">
                <a:solidFill>
                  <a:srgbClr val="38761D"/>
                </a:solidFill>
              </a:rPr>
              <a:t>reusable</a:t>
            </a:r>
            <a:r>
              <a:rPr lang="en"/>
              <a:t>, </a:t>
            </a:r>
            <a:r>
              <a:rPr b="1" lang="en">
                <a:solidFill>
                  <a:srgbClr val="0000FF"/>
                </a:solidFill>
              </a:rPr>
              <a:t>testable </a:t>
            </a:r>
            <a:r>
              <a:rPr lang="en"/>
              <a:t>components.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practices: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Organize functions, classes, and modules.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Encapsulate logic.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Apply </a:t>
            </a:r>
            <a:r>
              <a:rPr b="1" lang="en">
                <a:solidFill>
                  <a:srgbClr val="FF9900"/>
                </a:solidFill>
              </a:rPr>
              <a:t>separation of concerns</a:t>
            </a:r>
            <a:r>
              <a:rPr lang="en"/>
              <a:t> and </a:t>
            </a:r>
            <a:r>
              <a:rPr b="1" lang="en">
                <a:solidFill>
                  <a:srgbClr val="9900FF"/>
                </a:solidFill>
              </a:rPr>
              <a:t>single responsibility </a:t>
            </a:r>
            <a:r>
              <a:rPr lang="en"/>
              <a:t>principles.</a:t>
            </a:r>
            <a:endParaRPr/>
          </a:p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4. Turning Algorithms into Control Structures</a:t>
            </a:r>
            <a:endParaRPr sz="2800"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Principle</a:t>
            </a:r>
            <a:r>
              <a:rPr lang="en"/>
              <a:t>: An idea becomes real only when expressed as: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Sequence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selection (if/else)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iteration (loops)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function calls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  Algorithm to find the maximum number → use loops and comparisons.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Meaning</a:t>
            </a:r>
            <a:r>
              <a:rPr lang="en"/>
              <a:t>: This is the “operational language” of a computer.</a:t>
            </a:r>
            <a:endParaRPr/>
          </a:p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Control Flow Realization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Translate logic into the basic control structures used by programs.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elements: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Sequence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Selection (if/else)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Iteration (loops)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Function calls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Recursion (where appropriate)</a:t>
            </a:r>
            <a:endParaRPr/>
          </a:p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Handling Edge Cases (Edge Cases Awareness)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Principle</a:t>
            </a:r>
            <a:r>
              <a:rPr lang="en"/>
              <a:t>:  You must anticipate when a program can “break”.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Empty or null input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Negative numbers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Overflow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API not responding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Meaning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Implementation = idea + defensive system.</a:t>
            </a:r>
            <a:endParaRPr/>
          </a:p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Edge-Case &amp; Error Handling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Anticipate abnormal or boundary conditions and design defensive behavior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Empty input, null values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Negative or extreme numbers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Overflow / underflow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Missing resources or API failures</a:t>
            </a:r>
            <a:endParaRPr/>
          </a:p>
        </p:txBody>
      </p:sp>
      <p:sp>
        <p:nvSpPr>
          <p:cNvPr id="141" name="Google Shape;14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Continuous Testing and Verification 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Principle</a:t>
            </a:r>
            <a:r>
              <a:rPr lang="en"/>
              <a:t>: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">
                <a:solidFill>
                  <a:srgbClr val="FF00FF"/>
                </a:solidFill>
              </a:rPr>
              <a:t>No implementation is correct on the first try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You must run → test → fix → repeat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Unit testing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Step-by-step debugging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Testing with small examples before large ones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Meaning</a:t>
            </a:r>
            <a:r>
              <a:rPr lang="en"/>
              <a:t>: Implementation is a </a:t>
            </a:r>
            <a:r>
              <a:rPr b="1" lang="en">
                <a:solidFill>
                  <a:srgbClr val="FF0000"/>
                </a:solidFill>
              </a:rPr>
              <a:t>process of discovering errors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8" name="Google Shape;14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Iterative Testing &amp; Verification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early, test often, refine continuously.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 include: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Unit tests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Debugging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Test-driven development (TDD)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Checking small examples → scaling to larger ones</a:t>
            </a:r>
            <a:endParaRPr/>
          </a:p>
        </p:txBody>
      </p:sp>
      <p:sp>
        <p:nvSpPr>
          <p:cNvPr id="155" name="Google Shape;15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Optimizing Resources (Efficiency Consideration)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Principle</a:t>
            </a:r>
            <a:r>
              <a:rPr lang="en"/>
              <a:t>: A solution must be reasonable in terms of: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runtime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memory usage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number of iterations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Using O(n log n) sorting instead of O(n²).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Avoiding unnecessary data copying.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Meaning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Good implementation = good algorithm + efficient execution.</a:t>
            </a:r>
            <a:endParaRPr/>
          </a:p>
        </p:txBody>
      </p:sp>
      <p:sp>
        <p:nvSpPr>
          <p:cNvPr id="162" name="Google Shape;16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Efficiency Optimization</a:t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Ensure the implementation makes good use of computational resources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Considerations: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Time complexity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Space complexity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Reducing redundant computations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Choosing optimal algorithms and data structures</a:t>
            </a:r>
            <a:endParaRPr/>
          </a:p>
        </p:txBody>
      </p:sp>
      <p:sp>
        <p:nvSpPr>
          <p:cNvPr id="169" name="Google Shape;16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Connecting to Real Systems (System Integration)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Principle</a:t>
            </a:r>
            <a:r>
              <a:rPr lang="en"/>
              <a:t>: An implementation does not exist in isolation. It must integrate with: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runtime environment, APIs, Databases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UI, users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Example</a:t>
            </a:r>
            <a:r>
              <a:rPr lang="en"/>
              <a:t>: Building a chatbot: AI model → backend → UI → database → logging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Meaning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Implementation = building a component that works within a larger system</a:t>
            </a:r>
            <a:endParaRPr/>
          </a:p>
        </p:txBody>
      </p:sp>
      <p:sp>
        <p:nvSpPr>
          <p:cNvPr id="176" name="Google Shape;17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system integration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the implemented solution work within a real environment or ecosystem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Integrating with APIs, databases, UI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Ensuring compatibility with runtime constraints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Handling interactions with other modules or services</a:t>
            </a:r>
            <a:endParaRPr/>
          </a:p>
        </p:txBody>
      </p:sp>
      <p:sp>
        <p:nvSpPr>
          <p:cNvPr id="183" name="Google Shape;18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Common issues in implementation</a:t>
            </a:r>
            <a:endParaRPr/>
          </a:p>
        </p:txBody>
      </p:sp>
      <p:sp>
        <p:nvSpPr>
          <p:cNvPr id="189" name="Google Shape;189;p33"/>
          <p:cNvSpPr txBox="1"/>
          <p:nvPr>
            <p:ph idx="429496729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1. Theoretical vs Real-World Performance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Big-O is only accurate for very large n.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For small or moderate inputs, </a:t>
            </a:r>
            <a:r>
              <a:rPr b="1" lang="en">
                <a:solidFill>
                  <a:srgbClr val="FF0000"/>
                </a:solidFill>
              </a:rPr>
              <a:t>hidden constants</a:t>
            </a:r>
            <a:r>
              <a:rPr lang="en"/>
              <a:t>, </a:t>
            </a:r>
            <a:r>
              <a:rPr b="1" lang="en">
                <a:solidFill>
                  <a:srgbClr val="0000FF"/>
                </a:solidFill>
              </a:rPr>
              <a:t>cache effects</a:t>
            </a:r>
            <a:r>
              <a:rPr lang="en"/>
              <a:t>, and </a:t>
            </a:r>
            <a:r>
              <a:rPr b="1" lang="en">
                <a:solidFill>
                  <a:srgbClr val="9900FF"/>
                </a:solidFill>
              </a:rPr>
              <a:t>hardware </a:t>
            </a:r>
            <a:r>
              <a:rPr lang="en"/>
              <a:t>matter far more than asymptotics.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Quicksort is O(n log n) on average but O(n²) in the worst case → easily attacked unless you use random pivots or Introsort.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96" name="Google Shape;19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Integer Overflow &amp; Floating-Point Precision Errors</a:t>
            </a:r>
            <a:endParaRPr/>
          </a:p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common in C/C++, Java (int/long), older Python.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Fibonacci &gt; 2³¹ → negative or wrong results.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- 0.1 + 0.2 ≠ 0.3 → never use == for floats.</a:t>
            </a:r>
            <a:endParaRPr/>
          </a:p>
        </p:txBody>
      </p:sp>
      <p:sp>
        <p:nvSpPr>
          <p:cNvPr id="203" name="Google Shape;20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Off-by-One Errors</a:t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Loops with `i </a:t>
            </a:r>
            <a:r>
              <a:rPr b="1" lang="en">
                <a:solidFill>
                  <a:srgbClr val="FF0000"/>
                </a:solidFill>
              </a:rPr>
              <a:t>&lt;=</a:t>
            </a:r>
            <a:r>
              <a:rPr lang="en"/>
              <a:t> n` instead of `i </a:t>
            </a:r>
            <a:r>
              <a:rPr b="1" lang="en">
                <a:solidFill>
                  <a:srgbClr val="0000FF"/>
                </a:solidFill>
              </a:rPr>
              <a:t>&lt;</a:t>
            </a:r>
            <a:r>
              <a:rPr lang="en"/>
              <a:t> n`,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Accessing `array</a:t>
            </a:r>
            <a:r>
              <a:rPr b="1" lang="en">
                <a:solidFill>
                  <a:srgbClr val="FF0000"/>
                </a:solidFill>
              </a:rPr>
              <a:t>[n]</a:t>
            </a:r>
            <a:r>
              <a:rPr lang="en"/>
              <a:t>` instead of `array[</a:t>
            </a:r>
            <a:r>
              <a:rPr b="1" lang="en">
                <a:solidFill>
                  <a:srgbClr val="0000FF"/>
                </a:solidFill>
              </a:rPr>
              <a:t>n-1</a:t>
            </a:r>
            <a:r>
              <a:rPr lang="en"/>
              <a:t>]`.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#1 cause of segmentation faults / index-out-of-bounds exceptions.</a:t>
            </a:r>
            <a:endParaRPr/>
          </a:p>
        </p:txBody>
      </p:sp>
      <p:sp>
        <p:nvSpPr>
          <p:cNvPr id="210" name="Google Shape;21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Missing Edge / Corner Cases</a:t>
            </a:r>
            <a:endParaRPr/>
          </a:p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Empty lists, n=0, n=1, negative numbers, MAX_INT, empty strings, disconnected graphs, degenerate trees (linked-list shape), etc.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90% of failing test cases come from forgotten edge cases.</a:t>
            </a:r>
            <a:endParaRPr/>
          </a:p>
        </p:txBody>
      </p:sp>
      <p:sp>
        <p:nvSpPr>
          <p:cNvPr id="217" name="Google Shape;21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Incorrect Order of Operations &amp; Side Effects</a:t>
            </a:r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Expressions like i = ++i + i++ (undefined behavior in C/C++), modifying global/state variables deep in recursion.</a:t>
            </a:r>
            <a:endParaRPr/>
          </a:p>
        </p:txBody>
      </p:sp>
      <p:sp>
        <p:nvSpPr>
          <p:cNvPr id="224" name="Google Shape;22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Stack Overflow from Deep Recursion</a:t>
            </a:r>
            <a:endParaRPr/>
          </a:p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10⁵ recursive calls → crash (Python default limit ~1000).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Fixes: increase stack size, convert to iterative with explicit stack, or use tail recursion (if supported).</a:t>
            </a:r>
            <a:endParaRPr/>
          </a:p>
        </p:txBody>
      </p:sp>
      <p:sp>
        <p:nvSpPr>
          <p:cNvPr id="231" name="Google Shape;23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7. Concurrency Bugs (in parallel/distributed algorithms)</a:t>
            </a:r>
            <a:endParaRPr sz="2700"/>
          </a:p>
        </p:txBody>
      </p:sp>
      <p:sp>
        <p:nvSpPr>
          <p:cNvPr id="237" name="Google Shape;237;p4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conditions, deadlocks, livelocks, priority inversion, missing locks, atomicity violations.</a:t>
            </a:r>
            <a:endParaRPr/>
          </a:p>
        </p:txBody>
      </p:sp>
      <p:sp>
        <p:nvSpPr>
          <p:cNvPr id="238" name="Google Shape;23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Memory Leaks &amp; Dangling Pointers</a:t>
            </a:r>
            <a:endParaRPr/>
          </a:p>
        </p:txBody>
      </p:sp>
      <p:sp>
        <p:nvSpPr>
          <p:cNvPr id="244" name="Google Shape;244;p4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Forgetting free() / delete, cyclic references in garbage-collected languages → slow degradation or crash.</a:t>
            </a:r>
            <a:endParaRPr/>
          </a:p>
        </p:txBody>
      </p:sp>
      <p:sp>
        <p:nvSpPr>
          <p:cNvPr id="245" name="Google Shape;24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Wrong Assumptions about Input</a:t>
            </a:r>
            <a:endParaRPr/>
          </a:p>
        </p:txBody>
      </p:sp>
      <p:sp>
        <p:nvSpPr>
          <p:cNvPr id="251" name="Google Shape;251;p4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Assuming input is sorted, no negative cycles, unique elements, etc. → wrong algorithm choice (e.g., Dijkstra on negative weights).</a:t>
            </a:r>
            <a:endParaRPr/>
          </a:p>
        </p:txBody>
      </p:sp>
      <p:sp>
        <p:nvSpPr>
          <p:cNvPr id="252" name="Google Shape;25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10. Rounding &amp; Accumulation Errors in Numerical Algorithms</a:t>
            </a:r>
            <a:endParaRPr sz="2500"/>
          </a:p>
        </p:txBody>
      </p:sp>
      <p:sp>
        <p:nvSpPr>
          <p:cNvPr id="258" name="Google Shape;258;p4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Summing 10,000 small floats → significant error; iterative methods (Newton, gradient descent) diverge due to bad step size.</a:t>
            </a:r>
            <a:endParaRPr/>
          </a:p>
        </p:txBody>
      </p:sp>
      <p:sp>
        <p:nvSpPr>
          <p:cNvPr id="259" name="Google Shape;25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Wrong Language/Library Behavior</a:t>
            </a:r>
            <a:endParaRPr/>
          </a:p>
        </p:txBody>
      </p:sp>
      <p:sp>
        <p:nvSpPr>
          <p:cNvPr id="265" name="Google Shape;265;p4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Using unstable sort when stability is required, float instead of Decimal for money, language-specific quirks.</a:t>
            </a:r>
            <a:endParaRPr/>
          </a:p>
        </p:txBody>
      </p:sp>
      <p:sp>
        <p:nvSpPr>
          <p:cNvPr id="266" name="Google Shape;266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 Poor Exception / Error Handling</a:t>
            </a:r>
            <a:endParaRPr/>
          </a:p>
        </p:txBody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Division by zero, file not found, network timeout → program crashes instead of graceful failure.</a:t>
            </a:r>
            <a:endParaRPr/>
          </a:p>
        </p:txBody>
      </p:sp>
      <p:sp>
        <p:nvSpPr>
          <p:cNvPr id="273" name="Google Shape;27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13. Hard-Coding Values</a:t>
            </a:r>
            <a:endParaRPr/>
          </a:p>
        </p:txBody>
      </p:sp>
      <p:sp>
        <p:nvSpPr>
          <p:cNvPr id="279" name="Google Shape;279;p4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Assuming max array size = 1000, fixed constants instead of parameters → fails on real data.</a:t>
            </a:r>
            <a:endParaRPr/>
          </a:p>
        </p:txBody>
      </p:sp>
      <p:sp>
        <p:nvSpPr>
          <p:cNvPr id="280" name="Google Shape;28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14. Unreadable / Unmaintainable Code → Hard to Debug</a:t>
            </a:r>
            <a:endParaRPr sz="2700"/>
          </a:p>
        </p:txBody>
      </p:sp>
      <p:sp>
        <p:nvSpPr>
          <p:cNvPr id="286" name="Google Shape;286;p4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Meaningless variable names (i, j, k)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500-line functions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No comments on tricky parts.</a:t>
            </a:r>
            <a:endParaRPr/>
          </a:p>
        </p:txBody>
      </p:sp>
      <p:sp>
        <p:nvSpPr>
          <p:cNvPr id="287" name="Google Shape;28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>
            <p:ph type="title"/>
          </p:nvPr>
        </p:nvSpPr>
        <p:spPr>
          <a:xfrm>
            <a:off x="254400" y="18425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Production Checklist</a:t>
            </a:r>
            <a:endParaRPr/>
          </a:p>
        </p:txBody>
      </p:sp>
      <p:sp>
        <p:nvSpPr>
          <p:cNvPr id="293" name="Google Shape;29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48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Tested all edge cases? (n=0,1,max, negative, empty…)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Checked for overflow / precision issues?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Measured actual time &amp; memory (not just Big-O)?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Runs correctly on large inputs (10⁵–10⁶+)?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Proper error handling and user-friendly messages?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Removed hard-coding and debug prints?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C++ errors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C++ errors (1)</a:t>
            </a:r>
            <a:endParaRPr/>
          </a:p>
        </p:txBody>
      </p:sp>
      <p:sp>
        <p:nvSpPr>
          <p:cNvPr id="305" name="Google Shape;305;p5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Undefined Behavior due to out-of-bounds array/vector access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vector&lt;int&gt; v(10); cout &lt;&lt; v[10]; → out-of-bound; no immediate error, may crash unpredictably.</a:t>
            </a:r>
            <a:endParaRPr sz="15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Memory leak / double free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Using new without delete, or calling delete twice on an already freed pointer.</a:t>
            </a:r>
            <a:endParaRPr sz="15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Dangling pointer / reference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Returning a reference or pointer to a local variable that is destroyed after the function ends.</a:t>
            </a:r>
            <a:endParaRPr sz="15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Buffer overflow with C-style arrays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char s[10]; strcpy(s, "this is too long");</a:t>
            </a:r>
            <a:endParaRPr sz="15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Iterator invalidation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Adding/removing elements in a vector/map while iterating over it with an iterator → crash.</a:t>
            </a:r>
            <a:endParaRPr sz="1500"/>
          </a:p>
        </p:txBody>
      </p:sp>
      <p:sp>
        <p:nvSpPr>
          <p:cNvPr id="306" name="Google Shape;306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C++ errors (2)</a:t>
            </a:r>
            <a:endParaRPr/>
          </a:p>
        </p:txBody>
      </p:sp>
      <p:sp>
        <p:nvSpPr>
          <p:cNvPr id="312" name="Google Shape;312;p5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Missing copy constructor / assignment operator (Rule of Three/Five)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A class holds raw pointers → shallow copy → double free during destruction.</a:t>
            </a:r>
            <a:endParaRPr sz="15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Uninitialized variables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int x; if (x == 5) ... → garbage value, undefined behavior.</a:t>
            </a:r>
            <a:endParaRPr sz="15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Signed/unsigned mismatch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for (int i = v.size()-1; i &gt;= 0; i--) → i is always ≥ 0 because size() returns size_t (unsigned) → infinite loop.</a:t>
            </a:r>
            <a:endParaRPr sz="15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Multiple definition / ODR violation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Defining a global variable or inline function incorrectly in multiple .cpp files.</a:t>
            </a:r>
            <a:endParaRPr sz="15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Wrong virtual destructor</a:t>
            </a:r>
            <a:endParaRPr sz="21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Base class missing virtual ~Base() → deleting through a Base pointer only calls Base’s destructor, causing leaks.</a:t>
            </a:r>
            <a:endParaRPr sz="1500"/>
          </a:p>
        </p:txBody>
      </p:sp>
      <p:sp>
        <p:nvSpPr>
          <p:cNvPr id="313" name="Google Shape;31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2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Python errors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Modifying list/dict while iterating</a:t>
            </a:r>
            <a:endParaRPr/>
          </a:p>
        </p:txBody>
      </p:sp>
      <p:sp>
        <p:nvSpPr>
          <p:cNvPr id="324" name="Google Shape;324;p5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x in lst: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lst.remove(x)  # bỏ qua phần tử hoặc lỗi</a:t>
            </a:r>
            <a:endParaRPr/>
          </a:p>
        </p:txBody>
      </p:sp>
      <p:sp>
        <p:nvSpPr>
          <p:cNvPr id="325" name="Google Shape;32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Mutable default arguments</a:t>
            </a:r>
            <a:endParaRPr/>
          </a:p>
        </p:txBody>
      </p:sp>
      <p:sp>
        <p:nvSpPr>
          <p:cNvPr id="331" name="Google Shape;331;p5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 func(a=[]):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a.append(1)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return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tất cả các lần gọi không truyền a đều dùng cùng một list!</a:t>
            </a:r>
            <a:endParaRPr/>
          </a:p>
        </p:txBody>
      </p:sp>
      <p:sp>
        <p:nvSpPr>
          <p:cNvPr id="332" name="Google Shape;33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Late binding closures in list comprehension / lambda</a:t>
            </a:r>
            <a:endParaRPr sz="2700"/>
          </a:p>
        </p:txBody>
      </p:sp>
      <p:sp>
        <p:nvSpPr>
          <p:cNvPr id="338" name="Google Shape;338;p5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funcs = [lambda: i for i in range(5)]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print(funcs[0]())  # → 4 (không phải 0)</a:t>
            </a:r>
            <a:endParaRPr/>
          </a:p>
        </p:txBody>
      </p:sp>
      <p:sp>
        <p:nvSpPr>
          <p:cNvPr id="339" name="Google Shape;339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shadowing / unintended global</a:t>
            </a:r>
            <a:endParaRPr/>
          </a:p>
        </p:txBody>
      </p:sp>
      <p:sp>
        <p:nvSpPr>
          <p:cNvPr id="345" name="Google Shape;345;p5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Forget </a:t>
            </a:r>
            <a:r>
              <a:rPr b="1" lang="en">
                <a:solidFill>
                  <a:srgbClr val="FF0000"/>
                </a:solidFill>
              </a:rPr>
              <a:t>nonlocal </a:t>
            </a:r>
            <a:r>
              <a:rPr lang="en"/>
              <a:t>in nested function</a:t>
            </a:r>
            <a:endParaRPr/>
          </a:p>
        </p:txBody>
      </p:sp>
      <p:sp>
        <p:nvSpPr>
          <p:cNvPr id="346" name="Google Shape;34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</a:t>
            </a:r>
            <a:r>
              <a:rPr lang="en"/>
              <a:t>Off-by-one </a:t>
            </a:r>
            <a:r>
              <a:rPr lang="en"/>
              <a:t>with</a:t>
            </a:r>
            <a:r>
              <a:rPr lang="en"/>
              <a:t> range()</a:t>
            </a:r>
            <a:endParaRPr/>
          </a:p>
        </p:txBody>
      </p:sp>
      <p:sp>
        <p:nvSpPr>
          <p:cNvPr id="352" name="Google Shape;352;p5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range(len(arr)) and then arr[i:i+2] at the end of the list → still run with empty slice</a:t>
            </a:r>
            <a:endParaRPr/>
          </a:p>
        </p:txBody>
      </p:sp>
      <p:sp>
        <p:nvSpPr>
          <p:cNvPr id="353" name="Google Shape;35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Old Python 2 integer division</a:t>
            </a:r>
            <a:endParaRPr/>
          </a:p>
        </p:txBody>
      </p:sp>
      <p:sp>
        <p:nvSpPr>
          <p:cNvPr id="359" name="Google Shape;359;p5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Expect </a:t>
            </a:r>
            <a:r>
              <a:rPr lang="en"/>
              <a:t>1/2</a:t>
            </a:r>
            <a:r>
              <a:rPr lang="en"/>
              <a:t> = 0, actual result is 0.5 (Python 3)</a:t>
            </a:r>
            <a:endParaRPr/>
          </a:p>
        </p:txBody>
      </p:sp>
      <p:sp>
        <p:nvSpPr>
          <p:cNvPr id="360" name="Google Shape;360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</a:t>
            </a:r>
            <a:r>
              <a:rPr lang="en"/>
              <a:t>Exception swallowing</a:t>
            </a:r>
            <a:endParaRPr/>
          </a:p>
        </p:txBody>
      </p:sp>
      <p:sp>
        <p:nvSpPr>
          <p:cNvPr id="366" name="Google Shape;366;p5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something()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   # lỗi bị nuốt hoàn toàn, debug cực khó</a:t>
            </a:r>
            <a:endParaRPr/>
          </a:p>
        </p:txBody>
      </p:sp>
      <p:sp>
        <p:nvSpPr>
          <p:cNvPr id="367" name="Google Shape;36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</a:t>
            </a:r>
            <a:r>
              <a:rPr lang="en"/>
              <a:t>Wrong indentation after continue/break/return</a:t>
            </a:r>
            <a:endParaRPr/>
          </a:p>
        </p:txBody>
      </p:sp>
      <p:sp>
        <p:nvSpPr>
          <p:cNvPr id="373" name="Google Shape;373;p6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Copy/paste error</a:t>
            </a:r>
            <a:endParaRPr/>
          </a:p>
        </p:txBody>
      </p:sp>
      <p:sp>
        <p:nvSpPr>
          <p:cNvPr id="374" name="Google Shape;37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Circular imports</a:t>
            </a:r>
            <a:endParaRPr/>
          </a:p>
        </p:txBody>
      </p:sp>
      <p:sp>
        <p:nvSpPr>
          <p:cNvPr id="380" name="Google Shape;380;p6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module A import B, module B import A → cannot load</a:t>
            </a:r>
            <a:endParaRPr/>
          </a:p>
        </p:txBody>
      </p:sp>
      <p:sp>
        <p:nvSpPr>
          <p:cNvPr id="381" name="Google Shape;381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Misunderstanding of variable scoping</a:t>
            </a:r>
            <a:endParaRPr/>
          </a:p>
        </p:txBody>
      </p:sp>
      <p:sp>
        <p:nvSpPr>
          <p:cNvPr id="387" name="Google Shape;387;p6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=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[x for x in range(5)]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print(x)  # Python 2 → 10, Python 3 → 4 (leak biến x ra ngoài)</a:t>
            </a:r>
            <a:endParaRPr/>
          </a:p>
        </p:txBody>
      </p:sp>
      <p:sp>
        <p:nvSpPr>
          <p:cNvPr id="388" name="Google Shape;388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