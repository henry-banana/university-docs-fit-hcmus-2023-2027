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51435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-bold.fntdata"/><Relationship Id="rId14" Type="http://schemas.openxmlformats.org/officeDocument/2006/relationships/slide" Target="slides/slide9.xml"/><Relationship Id="rId58" Type="http://schemas.openxmlformats.org/officeDocument/2006/relationships/font" Target="fonts/Robot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e6d4d82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9e6d4d82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bbe2ca57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bbe2ca57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e6d4d82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9e6d4d82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be2ca57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be2ca57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bbe2ca57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abbe2ca57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bbe2ca57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bbe2ca57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be2ca57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be2ca57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bbe2ca57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bbe2ca57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flowchart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64969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endParaRPr sz="1050">
              <a:solidFill>
                <a:srgbClr val="649696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([Start])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[/Input a, b/]</a:t>
            </a:r>
            <a:endParaRPr sz="105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CheckA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{ a = 0 }</a:t>
            </a:r>
            <a:endParaRPr sz="105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CheckA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|Yes|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CheckB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{ b = 0}</a:t>
            </a:r>
            <a:endParaRPr sz="105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CheckB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|Yes|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Infinite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[/Print Infinite solutions/]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05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CheckB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|No|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NoSol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[/Print no solution/]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05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CheckA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|No|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FindX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[x = -b / a]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[/Print x/]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05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" sz="105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([End])</a:t>
            </a:r>
            <a:endParaRPr sz="105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3d9a045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3d9a045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bbe2ca57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bbe2ca57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be2ca57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be2ca57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fb5e9a9d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fb5e9a9d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bbe2ca57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bbe2ca57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be2ca57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bbe2ca57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bbe2ca57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bbe2ca57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bbe2ca57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bbe2ca57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be2ca57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be2ca57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e6d4d82b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e6d4d82b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e6d4d82b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e6d4d82b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9bc7c83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a9bc7c83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e6d4d82b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e6d4d82b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9bc7c8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a9bc7c8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a9bc7c83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a9bc7c83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e6d4d82b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e6d4d82b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a9bc7c83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a9bc7c83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a9bc7c83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a9bc7c83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bbe2ca57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bbe2ca57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bbe2ca57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bbe2ca57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bbe2ca573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bbe2ca57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bbe2ca57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bbe2ca57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bbe2ca57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bbe2ca57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bbe2ca57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bbe2ca57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bbe2ca57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bbe2ca57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bbe2ca57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bbe2ca57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bbe2ca573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bbe2ca573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bbe2ca57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bbe2ca57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bbe2ca573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bbe2ca57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bbe2ca57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bbe2ca57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bbe2ca573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bbe2ca57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bbe2ca573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bbe2ca573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bbe2ca57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bbe2ca57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e6d4d82b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9e6d4d82b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e6d4d82b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9e6d4d82b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a9bc7c8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a9bc7c8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bbe2ca5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bbe2ca5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bbe2ca5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abbe2ca5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bbe2ca5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bbe2ca5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e6d4d82bc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9e6d4d82bc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9fb5e9a9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9fb5e9a9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fb5e9a9d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fb5e9a9d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fb5e9a9d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fb5e9a9d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Algorithm design</a:t>
            </a:r>
            <a:endParaRPr sz="4400"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Introduction to 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an algorithm?</a:t>
            </a:r>
            <a:endParaRPr/>
          </a:p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The algorithm is a </a:t>
            </a:r>
            <a:r>
              <a:rPr b="1" lang="en">
                <a:solidFill>
                  <a:srgbClr val="0000FF"/>
                </a:solidFill>
              </a:rPr>
              <a:t>set of instructions</a:t>
            </a:r>
            <a:r>
              <a:rPr lang="en"/>
              <a:t> given to the computer so it can provide a </a:t>
            </a:r>
            <a:r>
              <a:rPr b="1" lang="en">
                <a:solidFill>
                  <a:srgbClr val="FF00FF"/>
                </a:solidFill>
              </a:rPr>
              <a:t>solution </a:t>
            </a:r>
            <a:r>
              <a:rPr lang="en"/>
              <a:t>to a posted </a:t>
            </a:r>
            <a:r>
              <a:rPr b="1" lang="en">
                <a:solidFill>
                  <a:srgbClr val="FF9900"/>
                </a:solidFill>
              </a:rPr>
              <a:t>problem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400">
                <a:solidFill>
                  <a:schemeClr val="dk2"/>
                </a:solidFill>
              </a:rPr>
              <a:t>- Applied Computational Thinking with Python, Packt, 2020, p. 35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of the algorithm design process</a:t>
            </a:r>
            <a:endParaRPr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ne or more clear algorithms that can be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0000FF"/>
                </a:solidFill>
              </a:rPr>
              <a:t>implemented</a:t>
            </a:r>
            <a:r>
              <a:rPr lang="en"/>
              <a:t>,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FF00FF"/>
                </a:solidFill>
              </a:rPr>
              <a:t>tested</a:t>
            </a:r>
            <a:r>
              <a:rPr lang="en"/>
              <a:t>,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and </a:t>
            </a:r>
            <a:r>
              <a:rPr b="1" lang="en">
                <a:solidFill>
                  <a:srgbClr val="38761D"/>
                </a:solidFill>
              </a:rPr>
              <a:t>solve </a:t>
            </a:r>
            <a:r>
              <a:rPr lang="en"/>
              <a:t>a specific problem</a:t>
            </a:r>
            <a:endParaRPr/>
          </a:p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Driving directions</a:t>
            </a:r>
            <a:r>
              <a:rPr lang="en"/>
              <a:t>: given a start and end location, the directions list step-by-steps actions (turn-by-turn navigation) using GPS to find an optimal route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Designing a machine learning pipeline</a:t>
            </a:r>
            <a:r>
              <a:rPr lang="en"/>
              <a:t>: steps to preprocess data (cleaning, normalization) </a:t>
            </a:r>
            <a:endParaRPr/>
          </a:p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5524500" y="2695575"/>
            <a:ext cx="3219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Solve </a:t>
            </a:r>
            <a:endParaRPr sz="3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ax + b = 0</a:t>
            </a:r>
            <a:endParaRPr sz="3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5524500" y="1257300"/>
            <a:ext cx="3514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SAMPLE</a:t>
            </a:r>
            <a:endParaRPr b="1"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ALGORITHM</a:t>
            </a:r>
            <a:endParaRPr b="1"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Algorithm representation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Natural language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Pseudo code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Flow chart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Activity diagram</a:t>
            </a:r>
            <a:endParaRPr/>
          </a:p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Algorithm - Natural language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167100" y="1069350"/>
            <a:ext cx="8526900" cy="3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2029"/>
              <a:t>Input</a:t>
            </a:r>
            <a:r>
              <a:rPr lang="en" sz="2029"/>
              <a:t>: Two real number a, b</a:t>
            </a:r>
            <a:endParaRPr sz="20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2029"/>
              <a:t>Output</a:t>
            </a:r>
            <a:r>
              <a:rPr lang="en" sz="2029"/>
              <a:t>: Solution of the equation ax + b = 0</a:t>
            </a:r>
            <a:endParaRPr sz="2029"/>
          </a:p>
          <a:p>
            <a:pPr indent="-357505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30"/>
              <a:buAutoNum type="arabicPeriod"/>
            </a:pPr>
            <a:r>
              <a:rPr lang="en" sz="2029"/>
              <a:t>Input two real numbers a and b</a:t>
            </a:r>
            <a:endParaRPr sz="2029"/>
          </a:p>
          <a:p>
            <a:pPr indent="-357505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30"/>
              <a:buAutoNum type="arabicPeriod"/>
            </a:pPr>
            <a:r>
              <a:rPr lang="en" sz="2029"/>
              <a:t>If a = 0 then</a:t>
            </a:r>
            <a:endParaRPr sz="2029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2.1. If b = 0 then </a:t>
            </a:r>
            <a:endParaRPr sz="2029"/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	2.1.1. The equation has an infinite number of solutions</a:t>
            </a:r>
            <a:endParaRPr sz="2029"/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	2.1.2. End the algorithm</a:t>
            </a:r>
            <a:endParaRPr sz="2029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2.2. On the contrary, if b is not equal to 0 then</a:t>
            </a:r>
            <a:endParaRPr sz="2029"/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	2.2.1. The equation has no solution.</a:t>
            </a:r>
            <a:endParaRPr sz="2029"/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	2.2.2. End the algorithm</a:t>
            </a:r>
            <a:endParaRPr sz="2029"/>
          </a:p>
          <a:p>
            <a:pPr indent="-357505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30"/>
              <a:buAutoNum type="arabicPeriod"/>
            </a:pPr>
            <a:r>
              <a:rPr lang="en" sz="2029"/>
              <a:t>On the contrary, if a is not equal to 0 then</a:t>
            </a:r>
            <a:endParaRPr sz="20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	3.1. The equation has one solution, x = -b / a</a:t>
            </a:r>
            <a:endParaRPr sz="20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29"/>
              <a:t>	3.2. End the algorithm</a:t>
            </a:r>
            <a:endParaRPr sz="2029"/>
          </a:p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Algorithm - Pseudo code</a:t>
            </a:r>
            <a:endParaRPr/>
          </a:p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167100" y="1174125"/>
            <a:ext cx="8526900" cy="3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2130"/>
              <a:t>Input</a:t>
            </a:r>
            <a:r>
              <a:rPr lang="en" sz="2130"/>
              <a:t>: Two real number a, b</a:t>
            </a:r>
            <a:endParaRPr sz="213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2130"/>
              <a:t>Output</a:t>
            </a:r>
            <a:r>
              <a:rPr lang="en" sz="2130"/>
              <a:t>: Solution of the equation ax + b = 0</a:t>
            </a:r>
            <a:endParaRPr sz="213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30"/>
              <a:t>Input real number a, input real number b</a:t>
            </a:r>
            <a:endParaRPr sz="213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30"/>
              <a:t>If a = 0:</a:t>
            </a:r>
            <a:endParaRPr sz="2130"/>
          </a:p>
          <a:p>
            <a:pPr indent="45720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" sz="2130"/>
              <a:t>If b = 0:</a:t>
            </a:r>
            <a:endParaRPr sz="2130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" sz="2130"/>
              <a:t>print “The equation has an infinite number of solutions”</a:t>
            </a:r>
            <a:endParaRPr sz="2130"/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30"/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130"/>
              <a:t>Else: </a:t>
            </a:r>
            <a:endParaRPr sz="2130"/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130"/>
              <a:t>print “The equation has no solution”</a:t>
            </a:r>
            <a:endParaRPr sz="213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130"/>
              <a:t>Else:</a:t>
            </a:r>
            <a:endParaRPr sz="2130"/>
          </a:p>
          <a:p>
            <a:pPr indent="45720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" sz="2130"/>
              <a:t>print “The equation has one solution: x = “, -b / a</a:t>
            </a:r>
            <a:endParaRPr sz="213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Algorithm - Flowchart</a:t>
            </a:r>
            <a:endParaRPr/>
          </a:p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850" y="1053450"/>
            <a:ext cx="3704173" cy="39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265500" y="15665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Tips</a:t>
            </a:r>
            <a:endParaRPr sz="5000"/>
          </a:p>
        </p:txBody>
      </p:sp>
      <p:sp>
        <p:nvSpPr>
          <p:cNvPr id="126" name="Google Shape;126;p24"/>
          <p:cNvSpPr txBox="1"/>
          <p:nvPr>
            <p:ph idx="2" type="body"/>
          </p:nvPr>
        </p:nvSpPr>
        <p:spPr>
          <a:xfrm>
            <a:off x="4644275" y="403700"/>
            <a:ext cx="42978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Define clear objectives</a:t>
            </a:r>
            <a:r>
              <a:rPr lang="en" sz="1500"/>
              <a:t>: algorithm, process, or UX flow.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Follow standard notation</a:t>
            </a:r>
            <a:r>
              <a:rPr lang="en" sz="1500"/>
              <a:t> and maintain consistency throughout the flowchart.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Maintain a balance of detail</a:t>
            </a:r>
            <a:r>
              <a:rPr lang="en" sz="1500"/>
              <a:t>: enough to understand the logic, not overly detailed.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Clearly define input/output </a:t>
            </a:r>
            <a:r>
              <a:rPr lang="en" sz="1500"/>
              <a:t>for each module or step.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Use clean arrows, avoid overlaps</a:t>
            </a:r>
            <a:r>
              <a:rPr lang="en" sz="1500"/>
              <a:t> → makes the flow easy to follow.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Consider edge cases</a:t>
            </a:r>
            <a:r>
              <a:rPr lang="en" sz="1500"/>
              <a:t> and exception paths.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Modularize</a:t>
            </a:r>
            <a:r>
              <a:rPr lang="en" sz="1500"/>
              <a:t>: split large sections into sub-flowcharts.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Link to pain points / requirements</a:t>
            </a:r>
            <a:r>
              <a:rPr lang="en" sz="1500"/>
              <a:t> → ensure the flowchart addresses real problems.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Continuously update the flowchart</a:t>
            </a:r>
            <a:r>
              <a:rPr lang="en" sz="1500"/>
              <a:t> when requirements or code change.</a:t>
            </a:r>
            <a:endParaRPr sz="1500"/>
          </a:p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Algorithm - Activity diagram</a:t>
            </a:r>
            <a:endParaRPr/>
          </a:p>
        </p:txBody>
      </p:sp>
      <p:sp>
        <p:nvSpPr>
          <p:cNvPr id="133" name="Google Shape;13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075" y="932175"/>
            <a:ext cx="4529700" cy="380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Mermaid.live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Notion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VS Code + Markdown with Mermaid support extension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an algorithm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Clear &amp; unambiguous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Well-defined inputs &amp; outputs, must define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Input: data, parameters, constraints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Output: desired results, success criteria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Constraints and Assumptions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Algorithm limitations to consider: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Performance (time, memory)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Data constraints (missing, incomplete)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External constraints (API limits, network latency)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Assumptions must be explicitly stated (e.g., user has Internet connection, location data is valid)</a:t>
            </a:r>
            <a:endParaRPr/>
          </a:p>
        </p:txBody>
      </p:sp>
      <p:sp>
        <p:nvSpPr>
          <p:cNvPr id="148" name="Google Shape;14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artifacts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&amp; Test Cases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Unit tests / example input-output to verify the algorithm.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Confirm that the algorithm: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Produces correct results (correctness)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Is efficient (efficiency)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Handles edge cases</a:t>
            </a:r>
            <a:endParaRPr/>
          </a:p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Complexity / Performance Analysis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Assess complexity: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Time Complexity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Space Complexity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Scalability</a:t>
            </a:r>
            <a:endParaRPr/>
          </a:p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Explain the algorithm, logic, design decisions, and trade-offs.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Helps other team members understand, maintain, and reuse the algorithm.</a:t>
            </a:r>
            <a:endParaRPr/>
          </a:p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206225" y="17337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Summary</a:t>
            </a:r>
            <a:endParaRPr sz="6000"/>
          </a:p>
        </p:txBody>
      </p:sp>
      <p:sp>
        <p:nvSpPr>
          <p:cNvPr id="180" name="Google Shape;180;p3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Algorithm design output = {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Clear Algorithm 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+ Input/Output 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+ Constraints/Assumptions 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+ Pseudocode/Diagram 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+ Validation/Test Cases 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+ Performance Analysis 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+ Documentation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}</a:t>
            </a:r>
            <a:endParaRPr sz="2200"/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in algorithm design</a:t>
            </a:r>
            <a:endParaRPr/>
          </a:p>
        </p:txBody>
      </p:sp>
      <p:sp>
        <p:nvSpPr>
          <p:cNvPr id="187" name="Google Shape;18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. </a:t>
            </a:r>
            <a:r>
              <a:rPr lang="en"/>
              <a:t>Problem Formulation </a:t>
            </a:r>
            <a:endParaRPr/>
          </a:p>
        </p:txBody>
      </p:sp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T</a:t>
            </a:r>
            <a:r>
              <a:rPr b="1" lang="en" sz="2200">
                <a:solidFill>
                  <a:srgbClr val="FF0000"/>
                </a:solidFill>
              </a:rPr>
              <a:t>he problem itself is misunderstood</a:t>
            </a:r>
            <a:endParaRPr b="1"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Unclear input/output definitions</a:t>
            </a:r>
            <a:r>
              <a:rPr b="1" lang="en" sz="2200"/>
              <a:t> </a:t>
            </a:r>
            <a:r>
              <a:rPr lang="en" sz="2200"/>
              <a:t>→ the algorithm lacks a concrete goal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Ignoring constraints</a:t>
            </a:r>
            <a:r>
              <a:rPr lang="en" sz="2200"/>
              <a:t> such as time, memory, or limits on input size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Failure to model</a:t>
            </a:r>
            <a:r>
              <a:rPr lang="en" sz="2200"/>
              <a:t> the real-world problem into a </a:t>
            </a:r>
            <a:r>
              <a:rPr b="1" lang="en" sz="2200">
                <a:solidFill>
                  <a:srgbClr val="9900FF"/>
                </a:solidFill>
              </a:rPr>
              <a:t>computable form </a:t>
            </a:r>
            <a:r>
              <a:rPr lang="en" sz="2200"/>
              <a:t>(e.g., not converting to a graph or search problem)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No estimation of acceptable complexity</a:t>
            </a:r>
            <a:r>
              <a:rPr lang="en" sz="2200"/>
              <a:t> → the algorithm may be theoretically correct but practically unusable.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Misunderstanding optimization goals</a:t>
            </a:r>
            <a:r>
              <a:rPr lang="en" sz="2200"/>
              <a:t> (e.g., minimizing cost vs maximizing performance)</a:t>
            </a:r>
            <a:endParaRPr sz="2200"/>
          </a:p>
        </p:txBody>
      </p:sp>
      <p:sp>
        <p:nvSpPr>
          <p:cNvPr id="194" name="Google Shape;19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oes not address the correct problem / pain point</a:t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algorithm may run “fine” but does not solve the user’s real problem.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designing a “route optimization” algorithm that only optimizes the number of waypoints, not travel time → does not reduce the user’s planning time.</a:t>
            </a:r>
            <a:endParaRPr/>
          </a:p>
        </p:txBody>
      </p:sp>
      <p:sp>
        <p:nvSpPr>
          <p:cNvPr id="201" name="Google Shape;20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Algorithm Structure Design</a:t>
            </a:r>
            <a:endParaRPr/>
          </a:p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P</a:t>
            </a:r>
            <a:r>
              <a:rPr b="1" lang="en" sz="2200">
                <a:solidFill>
                  <a:srgbClr val="FF0000"/>
                </a:solidFill>
              </a:rPr>
              <a:t>oor structural design often leads to inefficiency or logical errors</a:t>
            </a:r>
            <a:endParaRPr b="1"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Choosing the wrong algorithmic paradigm</a:t>
            </a:r>
            <a:r>
              <a:rPr lang="en" sz="2200"/>
              <a:t> (e.g., using greedy instead of dynamic programming).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Failure to decompose the problem into subproblems</a:t>
            </a:r>
            <a:r>
              <a:rPr lang="en" sz="2200"/>
              <a:t>, missing opportunities for divide-and-conquer or DP.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Undefined termination condition</a:t>
            </a:r>
            <a:r>
              <a:rPr lang="en" sz="2200"/>
              <a:t> in </a:t>
            </a:r>
            <a:r>
              <a:rPr b="1" lang="en" sz="2200" u="sng"/>
              <a:t>recursion </a:t>
            </a:r>
            <a:r>
              <a:rPr lang="en" sz="2200"/>
              <a:t>or </a:t>
            </a:r>
            <a:r>
              <a:rPr b="1" lang="en" sz="2200" u="sng"/>
              <a:t>iteration</a:t>
            </a:r>
            <a:r>
              <a:rPr lang="en" sz="2200"/>
              <a:t>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Lack of </a:t>
            </a:r>
            <a:r>
              <a:rPr b="1" lang="en" sz="2200">
                <a:solidFill>
                  <a:srgbClr val="9900FF"/>
                </a:solidFill>
              </a:rPr>
              <a:t>generality</a:t>
            </a:r>
            <a:r>
              <a:rPr lang="en" sz="2200"/>
              <a:t>, solving only a special case.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>
                <a:solidFill>
                  <a:srgbClr val="9900FF"/>
                </a:solidFill>
              </a:rPr>
              <a:t>No formal reasoning or proof of correctness</a:t>
            </a:r>
            <a:r>
              <a:rPr lang="en" sz="2200"/>
              <a:t> → the algorithm might “seem to work” but fails under edge conditions.</a:t>
            </a:r>
            <a:endParaRPr sz="2200"/>
          </a:p>
        </p:txBody>
      </p:sp>
      <p:sp>
        <p:nvSpPr>
          <p:cNvPr id="208" name="Google Shape;20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Overly complex / over-engineering</a:t>
            </a:r>
            <a:endParaRPr/>
          </a:p>
        </p:txBody>
      </p:sp>
      <p:sp>
        <p:nvSpPr>
          <p:cNvPr id="214" name="Google Shape;214;p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Designing an algorithm that is too elaborate or over-optimized for all cases leads to: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Hard to understand, hard to maintain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Longer development time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using complex AI/heuristics in a Smart Travel System when a simple greedy approach is sufficient</a:t>
            </a:r>
            <a:endParaRPr/>
          </a:p>
        </p:txBody>
      </p:sp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simple / under-engineering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algorithm is too basic and ignores edge cases → produces incorrect or unstable results.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a route optimization algorithm that ignores opening-hour constraints of destinations.</a:t>
            </a:r>
            <a:endParaRPr/>
          </a:p>
        </p:txBody>
      </p:sp>
      <p:sp>
        <p:nvSpPr>
          <p:cNvPr id="222" name="Google Shape;22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 Algorithm Analysis and Evaluation</a:t>
            </a:r>
            <a:endParaRPr/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1059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>
                <a:solidFill>
                  <a:srgbClr val="9900FF"/>
                </a:solidFill>
              </a:rPr>
              <a:t>No estimation</a:t>
            </a:r>
            <a:r>
              <a:rPr lang="en" sz="2500"/>
              <a:t> of </a:t>
            </a:r>
            <a:r>
              <a:rPr b="1" lang="en" sz="2500" u="sng"/>
              <a:t>time </a:t>
            </a:r>
            <a:r>
              <a:rPr lang="en" sz="2500"/>
              <a:t>or </a:t>
            </a:r>
            <a:r>
              <a:rPr b="1" lang="en" sz="2500" u="sng"/>
              <a:t>space </a:t>
            </a:r>
            <a:r>
              <a:rPr lang="en" sz="2500"/>
              <a:t>complexity </a:t>
            </a:r>
            <a:endParaRPr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E.g. (O(n), O(log n), etc.).</a:t>
            </a:r>
            <a:endParaRPr sz="19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>
                <a:solidFill>
                  <a:srgbClr val="9900FF"/>
                </a:solidFill>
              </a:rPr>
              <a:t>Failure to compare</a:t>
            </a:r>
            <a:r>
              <a:rPr lang="en" sz="2500"/>
              <a:t> multiple solution approaches.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>
                <a:solidFill>
                  <a:srgbClr val="9900FF"/>
                </a:solidFill>
              </a:rPr>
              <a:t>Confusing </a:t>
            </a:r>
            <a:r>
              <a:rPr lang="en" sz="2500" u="sng"/>
              <a:t>average</a:t>
            </a:r>
            <a:r>
              <a:rPr lang="en" sz="2500"/>
              <a:t>-case with </a:t>
            </a:r>
            <a:r>
              <a:rPr lang="en" sz="2500" u="sng"/>
              <a:t>worst</a:t>
            </a:r>
            <a:r>
              <a:rPr lang="en" sz="2500"/>
              <a:t>-case analysis.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>
                <a:solidFill>
                  <a:srgbClr val="9900FF"/>
                </a:solidFill>
              </a:rPr>
              <a:t>Ignoring edge cases</a:t>
            </a:r>
            <a:r>
              <a:rPr lang="en" sz="2500"/>
              <a:t> during testing, leading to instability or crashes.</a:t>
            </a:r>
            <a:endParaRPr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The algorithm only covers “ideal” cases → easily fails with real-world data.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Example: user selects a travel date that falls on a holiday, or a destination lacks data → the algorithm crashes or returns incorrect results.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29" name="Google Shape;22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considering performance / scalability</a:t>
            </a:r>
            <a:endParaRPr/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An algorithm may work well on small datasets but does not scale to large data or many concurrent users.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route optimization O(n!) → works for 5–6 points but becomes slow or crashes for 10–15 points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Ignoring constraints / non-functional requirements</a:t>
            </a:r>
            <a:endParaRPr/>
          </a:p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algorithm must consider: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Execution time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API/resource limits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Memory usage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UX (time-on-task, latency)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a route calculation algorithm is too slow → users abandon the app.</a:t>
            </a:r>
            <a:endParaRPr/>
          </a:p>
        </p:txBody>
      </p:sp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algorithm analysis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254" name="Google Shape;254;p4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ind the top-k smallest elements in an unsorted array in C++</a:t>
            </a:r>
            <a:endParaRPr/>
          </a:p>
        </p:txBody>
      </p:sp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Sort the whole array and take the first k elements</a:t>
            </a:r>
            <a:endParaRPr/>
          </a:p>
        </p:txBody>
      </p:sp>
      <p:sp>
        <p:nvSpPr>
          <p:cNvPr id="261" name="Google Shape;261;p44"/>
          <p:cNvSpPr txBox="1"/>
          <p:nvPr>
            <p:ph idx="1" type="body"/>
          </p:nvPr>
        </p:nvSpPr>
        <p:spPr>
          <a:xfrm>
            <a:off x="141300" y="2752850"/>
            <a:ext cx="8932200" cy="23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Time complexity: O(n log n)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Pros: Simple and easy to implement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Cons: Sorting the entire array is unnecessary if k &lt;&lt; n</a:t>
            </a:r>
            <a:endParaRPr/>
          </a:p>
        </p:txBody>
      </p:sp>
      <p:sp>
        <p:nvSpPr>
          <p:cNvPr id="262" name="Google Shape;26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3" name="Google Shape;2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4286250" cy="1476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2.1. </a:t>
            </a:r>
            <a:r>
              <a:rPr lang="en"/>
              <a:t>Min-heap (priority_queue) of the whole array</a:t>
            </a:r>
            <a:r>
              <a:rPr lang="en"/>
              <a:t> </a:t>
            </a:r>
            <a:endParaRPr/>
          </a:p>
        </p:txBody>
      </p:sp>
      <p:sp>
        <p:nvSpPr>
          <p:cNvPr id="269" name="Google Shape;269;p45"/>
          <p:cNvSpPr txBox="1"/>
          <p:nvPr>
            <p:ph idx="1" type="body"/>
          </p:nvPr>
        </p:nvSpPr>
        <p:spPr>
          <a:xfrm>
            <a:off x="141300" y="3483875"/>
            <a:ext cx="89322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Time complexity: O(n + k log n) ~ O(n) if k &lt;&lt; 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Pros: No need to sort the whole array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Cons: Uses O(n) extra memory</a:t>
            </a:r>
            <a:endParaRPr/>
          </a:p>
        </p:txBody>
      </p:sp>
      <p:sp>
        <p:nvSpPr>
          <p:cNvPr id="270" name="Google Shape;27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236904" cy="2436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2.2. Max-heap of size k</a:t>
            </a:r>
            <a:endParaRPr/>
          </a:p>
        </p:txBody>
      </p:sp>
      <p:sp>
        <p:nvSpPr>
          <p:cNvPr id="277" name="Google Shape;277;p4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Iterate through the array, maintain a heap of size k. If a new element is smaller than the max of the heap, replace it.</a:t>
            </a:r>
            <a:endParaRPr/>
          </a:p>
        </p:txBody>
      </p:sp>
      <p:sp>
        <p:nvSpPr>
          <p:cNvPr id="278" name="Google Shape;27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9" name="Google Shape;2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200" y="1966825"/>
            <a:ext cx="3874050" cy="309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QuickSelect (k-th element selection)</a:t>
            </a:r>
            <a:endParaRPr/>
          </a:p>
        </p:txBody>
      </p:sp>
      <p:sp>
        <p:nvSpPr>
          <p:cNvPr id="285" name="Google Shape;285;p4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Based on QuickSort partition, select the k-th smallest element, then take all elements ≤ pivot.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Time complexity: O(n) on average, O(n²) worst case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Pros: No need to sort the whole array, in-place O(1) memory if using the original array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Suitable when </a:t>
            </a:r>
            <a:r>
              <a:rPr b="1" lang="en">
                <a:solidFill>
                  <a:srgbClr val="9900FF"/>
                </a:solidFill>
              </a:rPr>
              <a:t>n is large and k is small</a:t>
            </a:r>
            <a:r>
              <a:rPr lang="en"/>
              <a:t>, aiming for </a:t>
            </a:r>
            <a:r>
              <a:rPr b="1" lang="en">
                <a:solidFill>
                  <a:srgbClr val="38761D"/>
                </a:solidFill>
              </a:rPr>
              <a:t>O(n)</a:t>
            </a:r>
            <a:r>
              <a:rPr lang="en"/>
              <a:t> average time</a:t>
            </a:r>
            <a:endParaRPr/>
          </a:p>
        </p:txBody>
      </p:sp>
      <p:sp>
        <p:nvSpPr>
          <p:cNvPr id="286" name="Google Shape;2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source code</a:t>
            </a:r>
            <a:endParaRPr/>
          </a:p>
        </p:txBody>
      </p:sp>
      <p:sp>
        <p:nvSpPr>
          <p:cNvPr id="292" name="Google Shape;29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75" y="913988"/>
            <a:ext cx="4229100" cy="2562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4" name="Google Shape;29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663" y="1994900"/>
            <a:ext cx="4752975" cy="293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Dry run</a:t>
            </a:r>
            <a:endParaRPr/>
          </a:p>
        </p:txBody>
      </p:sp>
      <p:sp>
        <p:nvSpPr>
          <p:cNvPr id="300" name="Google Shape;30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[7, 2, 1, 8, 6, 3, 5, 9, 4, 0] (10 elements, top k = 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= 0, right = 9, target index k-1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 — partition (left=0, right=9)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pivot = arr[9] = 0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Scan j = 0..8: no element ≤ 0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Swap pivot with arr[i] (i = 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becomes: [</a:t>
            </a:r>
            <a:r>
              <a:rPr b="1" lang="en">
                <a:solidFill>
                  <a:srgbClr val="FF0000"/>
                </a:solidFill>
              </a:rPr>
              <a:t>0</a:t>
            </a:r>
            <a:r>
              <a:rPr lang="en"/>
              <a:t>, 2, 1, 8, 6, 3, 5, 9, 4, </a:t>
            </a:r>
            <a:r>
              <a:rPr b="1" lang="en">
                <a:solidFill>
                  <a:srgbClr val="FF0000"/>
                </a:solidFill>
              </a:rPr>
              <a:t>7</a:t>
            </a:r>
            <a:r>
              <a:rPr lang="en"/>
              <a:t>]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is [0, 2, 1, 8, 6, 3, 5, 9, 4, 7] </a:t>
            </a:r>
            <a:endParaRPr/>
          </a:p>
        </p:txBody>
      </p:sp>
      <p:sp>
        <p:nvSpPr>
          <p:cNvPr id="307" name="Google Shape;307;p5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 — partition (left=1, right=9)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Subarray: [2,1,8,6,3,5,9,4,7]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= 7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= 1</a:t>
            </a:r>
            <a:endParaRPr/>
          </a:p>
        </p:txBody>
      </p:sp>
      <p:sp>
        <p:nvSpPr>
          <p:cNvPr id="308" name="Google Shape;30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9" name="Google Shape;3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713" y="1623550"/>
            <a:ext cx="2657475" cy="320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[0,2,1,6,3,5,4,9,8,7]</a:t>
            </a:r>
            <a:endParaRPr/>
          </a:p>
        </p:txBody>
      </p:sp>
      <p:sp>
        <p:nvSpPr>
          <p:cNvPr id="315" name="Google Shape;315;p5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swap pivot 7 with arr[7]: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[0,2,1,6,3,5,4,7,8,9]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index pi =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Compare: pi = 7 &gt; 3 ⇒ go left side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with left = 1, right = 6.</a:t>
            </a:r>
            <a:endParaRPr/>
          </a:p>
        </p:txBody>
      </p:sp>
      <p:sp>
        <p:nvSpPr>
          <p:cNvPr id="316" name="Google Shape;31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 — partition (left=1, right=6)</a:t>
            </a:r>
            <a:endParaRPr/>
          </a:p>
        </p:txBody>
      </p:sp>
      <p:sp>
        <p:nvSpPr>
          <p:cNvPr id="322" name="Google Shape;322;p5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Subarray: [2,1,6,3,5,4]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=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= 1</a:t>
            </a:r>
            <a:endParaRPr/>
          </a:p>
        </p:txBody>
      </p:sp>
      <p:sp>
        <p:nvSpPr>
          <p:cNvPr id="323" name="Google Shape;32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555" y="1639430"/>
            <a:ext cx="3207800" cy="256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[0,2,1,3,6,5,4,7,8,9]</a:t>
            </a:r>
            <a:endParaRPr/>
          </a:p>
        </p:txBody>
      </p:sp>
      <p:sp>
        <p:nvSpPr>
          <p:cNvPr id="330" name="Google Shape;330;p5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 pivot (4) with arr[4]: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[0,2,1,3,4,5,6,7,8,9]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index pi =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Compare: pi = 4 &gt; 3 ⇒ continue left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Next: left = 1, right =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 — partition (left=1, right=3)</a:t>
            </a:r>
            <a:endParaRPr/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Subarray: [2,1,3]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=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[0,2,1,3,4,5,6,7,8,9]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index pi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Compare: pi == 3 ⇒ target found</a:t>
            </a:r>
            <a:endParaRPr/>
          </a:p>
        </p:txBody>
      </p:sp>
      <p:sp>
        <p:nvSpPr>
          <p:cNvPr id="338" name="Google Shape;33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9" name="Google Shape;33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52" y="2381725"/>
            <a:ext cx="2024025" cy="884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Result from the Trace</a:t>
            </a:r>
            <a:endParaRPr/>
          </a:p>
        </p:txBody>
      </p:sp>
      <p:sp>
        <p:nvSpPr>
          <p:cNvPr id="345" name="Google Shape;345;p5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pi == k-1, we 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[0,2,1,3,4,5,6,7,8,9]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4 elements of the array now contain the 4 smallest values (not necessarily sorted yet):</a:t>
            </a:r>
            <a:endParaRPr/>
          </a:p>
        </p:txBody>
      </p:sp>
      <p:sp>
        <p:nvSpPr>
          <p:cNvPr id="346" name="Google Shape;34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52" name="Google Shape;35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method based on the scenario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223" y="1783075"/>
            <a:ext cx="4297900" cy="16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 </a:t>
            </a:r>
            <a:r>
              <a:rPr lang="en"/>
              <a:t>Abstraction and Generalization</a:t>
            </a:r>
            <a:endParaRPr/>
          </a:p>
        </p:txBody>
      </p:sp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9900FF"/>
                </a:solidFill>
              </a:rPr>
              <a:t>Not separating </a:t>
            </a:r>
            <a:r>
              <a:rPr lang="en"/>
              <a:t>essential </a:t>
            </a:r>
            <a:r>
              <a:rPr b="1" lang="en" u="sng"/>
              <a:t>logic </a:t>
            </a:r>
            <a:r>
              <a:rPr lang="en"/>
              <a:t>from </a:t>
            </a:r>
            <a:r>
              <a:rPr b="1" lang="en" u="sng"/>
              <a:t>contextual details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9900FF"/>
                </a:solidFill>
              </a:rPr>
              <a:t>Low reusability</a:t>
            </a:r>
            <a:r>
              <a:rPr lang="en"/>
              <a:t> → the algorithm works only in one scenario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Failure to </a:t>
            </a:r>
            <a:r>
              <a:rPr b="1" lang="en">
                <a:solidFill>
                  <a:srgbClr val="9900FF"/>
                </a:solidFill>
              </a:rPr>
              <a:t>recognize recurring patterns</a:t>
            </a:r>
            <a:r>
              <a:rPr lang="en"/>
              <a:t>, preventing transfer learning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9900FF"/>
                </a:solidFill>
              </a:rPr>
              <a:t>Poor mapping</a:t>
            </a:r>
            <a:r>
              <a:rPr lang="en"/>
              <a:t> between problem </a:t>
            </a:r>
            <a:r>
              <a:rPr b="1" lang="en" u="sng"/>
              <a:t>type </a:t>
            </a:r>
            <a:r>
              <a:rPr lang="en"/>
              <a:t>and </a:t>
            </a:r>
            <a:r>
              <a:rPr b="1" lang="en" u="sng"/>
              <a:t>data structure</a:t>
            </a:r>
            <a:endParaRPr b="1" u="sng"/>
          </a:p>
        </p:txBody>
      </p:sp>
      <p:sp>
        <p:nvSpPr>
          <p:cNvPr id="361" name="Google Shape;36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E. Representation and Implementation</a:t>
            </a:r>
            <a:endParaRPr/>
          </a:p>
        </p:txBody>
      </p:sp>
      <p:sp>
        <p:nvSpPr>
          <p:cNvPr id="367" name="Google Shape;367;p5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Even well-designed algorithms can fail during implementation if the representation is wrong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en" sz="2300">
                <a:solidFill>
                  <a:srgbClr val="9900FF"/>
                </a:solidFill>
              </a:rPr>
              <a:t>Inappropriate data structures</a:t>
            </a:r>
            <a:r>
              <a:rPr lang="en" sz="2300"/>
              <a:t> (using lists instead of heaps, etc.).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en" sz="2300">
                <a:solidFill>
                  <a:srgbClr val="9900FF"/>
                </a:solidFill>
              </a:rPr>
              <a:t>Mixing data handling</a:t>
            </a:r>
            <a:r>
              <a:rPr lang="en" sz="2300"/>
              <a:t> with control logic, making debugging hard.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en" sz="2300">
                <a:solidFill>
                  <a:srgbClr val="9900FF"/>
                </a:solidFill>
              </a:rPr>
              <a:t>Confusion </a:t>
            </a:r>
            <a:r>
              <a:rPr lang="en" sz="2300"/>
              <a:t>between algorithmic logic and heuristic approximations.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en" sz="2300">
                <a:solidFill>
                  <a:srgbClr val="9900FF"/>
                </a:solidFill>
              </a:rPr>
              <a:t>Ignoring </a:t>
            </a:r>
            <a:r>
              <a:rPr lang="en" sz="2300"/>
              <a:t>numerical or data-type </a:t>
            </a:r>
            <a:r>
              <a:rPr b="1" lang="en" sz="2300" u="sng"/>
              <a:t>limitations </a:t>
            </a:r>
            <a:r>
              <a:rPr lang="en" sz="2300"/>
              <a:t>(overflow, rounding errors).</a:t>
            </a:r>
            <a:endParaRPr sz="2300"/>
          </a:p>
        </p:txBody>
      </p:sp>
      <p:sp>
        <p:nvSpPr>
          <p:cNvPr id="368" name="Google Shape;36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modular / reusable</a:t>
            </a:r>
            <a:endParaRPr/>
          </a:p>
        </p:txBody>
      </p:sp>
      <p:sp>
        <p:nvSpPr>
          <p:cNvPr id="374" name="Google Shape;374;p5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algorithm is written too “hard-coded” → cannot be reused by other modules.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“Route Optimization for Hanoi only” → cannot be used for Ho Chi Minh City or Da Nang.</a:t>
            </a:r>
            <a:endParaRPr/>
          </a:p>
        </p:txBody>
      </p:sp>
      <p:sp>
        <p:nvSpPr>
          <p:cNvPr id="375" name="Google Shape;37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validated with real data</a:t>
            </a:r>
            <a:endParaRPr/>
          </a:p>
        </p:txBody>
      </p:sp>
      <p:sp>
        <p:nvSpPr>
          <p:cNvPr id="381" name="Google Shape;381;p6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algorithm is tested only on synthetic data → real-world performance/accuracy is unknown.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recommending hotels based on artificial ratings, while real ratings contain a lot of bias → wrong recommendations.</a:t>
            </a:r>
            <a:endParaRPr/>
          </a:p>
        </p:txBody>
      </p:sp>
      <p:sp>
        <p:nvSpPr>
          <p:cNvPr id="382" name="Google Shape;38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documented / not explainable</a:t>
            </a:r>
            <a:endParaRPr/>
          </a:p>
        </p:txBody>
      </p:sp>
      <p:sp>
        <p:nvSpPr>
          <p:cNvPr id="388" name="Google Shape;388;p6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complex algorithm without documentation, pseudocode, or explanation → difficult to debug, refactor, or hand over.</a:t>
            </a:r>
            <a:endParaRPr/>
          </a:p>
        </p:txBody>
      </p:sp>
      <p:sp>
        <p:nvSpPr>
          <p:cNvPr id="389" name="Google Shape;38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 to avoid problems in Algorithm Design</a:t>
            </a:r>
            <a:endParaRPr/>
          </a:p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105900" y="78885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Start with a </a:t>
            </a:r>
            <a:r>
              <a:rPr b="1" lang="en" sz="2000">
                <a:solidFill>
                  <a:srgbClr val="0000FF"/>
                </a:solidFill>
              </a:rPr>
              <a:t>clear specification</a:t>
            </a:r>
            <a:r>
              <a:rPr lang="en" sz="2000"/>
              <a:t>: input, output, constraints, success criteria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Understand the </a:t>
            </a:r>
            <a:r>
              <a:rPr b="1" lang="en" sz="2000">
                <a:solidFill>
                  <a:srgbClr val="0000FF"/>
                </a:solidFill>
              </a:rPr>
              <a:t>pain points</a:t>
            </a:r>
            <a:r>
              <a:rPr lang="en" sz="2000"/>
              <a:t> / </a:t>
            </a:r>
            <a:r>
              <a:rPr b="1" lang="en" sz="2000">
                <a:solidFill>
                  <a:srgbClr val="0000FF"/>
                </a:solidFill>
              </a:rPr>
              <a:t>requirements </a:t>
            </a:r>
            <a:r>
              <a:rPr lang="en" sz="2000"/>
              <a:t>→ ensure the algorithm solves the right problem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Choose an </a:t>
            </a:r>
            <a:r>
              <a:rPr b="1" lang="en" sz="2000">
                <a:solidFill>
                  <a:srgbClr val="0000FF"/>
                </a:solidFill>
              </a:rPr>
              <a:t>appropriate level of complexity</a:t>
            </a:r>
            <a:r>
              <a:rPr lang="en" sz="2000"/>
              <a:t>: start simple → optimize later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Break the algorithm into </a:t>
            </a:r>
            <a:r>
              <a:rPr b="1" lang="en" sz="2000">
                <a:solidFill>
                  <a:srgbClr val="0000FF"/>
                </a:solidFill>
              </a:rPr>
              <a:t>modular, reusable</a:t>
            </a:r>
            <a:r>
              <a:rPr lang="en" sz="2000"/>
              <a:t> components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Consider </a:t>
            </a:r>
            <a:r>
              <a:rPr b="1" lang="en" sz="2000">
                <a:solidFill>
                  <a:srgbClr val="0000FF"/>
                </a:solidFill>
              </a:rPr>
              <a:t>performance </a:t>
            </a:r>
            <a:r>
              <a:rPr lang="en" sz="2000"/>
              <a:t>&amp; </a:t>
            </a:r>
            <a:r>
              <a:rPr b="1" lang="en" sz="2000">
                <a:solidFill>
                  <a:srgbClr val="0000FF"/>
                </a:solidFill>
              </a:rPr>
              <a:t>scalability </a:t>
            </a:r>
            <a:r>
              <a:rPr lang="en" sz="2000"/>
              <a:t>upfront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Handle </a:t>
            </a:r>
            <a:r>
              <a:rPr b="1" lang="en" sz="2000">
                <a:solidFill>
                  <a:srgbClr val="0000FF"/>
                </a:solidFill>
              </a:rPr>
              <a:t>edge cases &amp; exceptions</a:t>
            </a:r>
            <a:r>
              <a:rPr lang="en" sz="2000"/>
              <a:t> during the design phase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Test with </a:t>
            </a:r>
            <a:r>
              <a:rPr b="1" lang="en" sz="2000">
                <a:solidFill>
                  <a:srgbClr val="0000FF"/>
                </a:solidFill>
              </a:rPr>
              <a:t>real-world data &amp; simulated edge scenarios</a:t>
            </a:r>
            <a:endParaRPr b="1" sz="2000">
              <a:solidFill>
                <a:srgbClr val="0000F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Document using </a:t>
            </a:r>
            <a:r>
              <a:rPr b="1" lang="en" sz="2000">
                <a:solidFill>
                  <a:srgbClr val="0000FF"/>
                </a:solidFill>
              </a:rPr>
              <a:t>pseudocode, diagrams, comments</a:t>
            </a:r>
            <a:r>
              <a:rPr lang="en" sz="2000"/>
              <a:t> for team clarity and maintainability</a:t>
            </a:r>
            <a:endParaRPr sz="2000"/>
          </a:p>
        </p:txBody>
      </p:sp>
      <p:sp>
        <p:nvSpPr>
          <p:cNvPr id="396" name="Google Shape;39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Acvitities</a:t>
            </a:r>
            <a:endParaRPr/>
          </a:p>
        </p:txBody>
      </p:sp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in group to find examples for 2 problems listed above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present in class</a:t>
            </a:r>
            <a:endParaRPr/>
          </a:p>
        </p:txBody>
      </p:sp>
      <p:sp>
        <p:nvSpPr>
          <p:cNvPr id="403" name="Google Shape;40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</a:t>
            </a:r>
            <a:endParaRPr/>
          </a:p>
        </p:txBody>
      </p:sp>
      <p:sp>
        <p:nvSpPr>
          <p:cNvPr id="409" name="Google Shape;409;p6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of algorithm design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01</a:t>
            </a:r>
            <a:endParaRPr/>
          </a:p>
        </p:txBody>
      </p:sp>
      <p:sp>
        <p:nvSpPr>
          <p:cNvPr id="415" name="Google Shape;415;p6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 algorithm to solve the equation ax</a:t>
            </a:r>
            <a:r>
              <a:rPr baseline="30000" lang="en"/>
              <a:t>2</a:t>
            </a:r>
            <a:r>
              <a:rPr lang="en"/>
              <a:t> + bx + c = 0</a:t>
            </a:r>
            <a:endParaRPr/>
          </a:p>
        </p:txBody>
      </p:sp>
      <p:sp>
        <p:nvSpPr>
          <p:cNvPr id="416" name="Google Shape;416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02</a:t>
            </a:r>
            <a:endParaRPr/>
          </a:p>
        </p:txBody>
      </p:sp>
      <p:sp>
        <p:nvSpPr>
          <p:cNvPr id="422" name="Google Shape;422;p6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3 types of diagrams supported by Mermaid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context of project topic: “Smart travel system”, how could these diagrams help? Explain what does the diagram do and give an example for each of the diagram using the context “Smart travel system”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Create a Google slide (what-&gt;why-&gt;how)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Submit back the link inside a txt file in the format of StudentsID (ID1_ID2_…_ID4.txt)</a:t>
            </a:r>
            <a:endParaRPr/>
          </a:p>
        </p:txBody>
      </p:sp>
      <p:sp>
        <p:nvSpPr>
          <p:cNvPr id="423" name="Google Shape;42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