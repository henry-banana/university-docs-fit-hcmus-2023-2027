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</p:sldIdLst>
  <p:sldSz cy="6858000" cx="12192000"/>
  <p:notesSz cx="6858000" cy="9144000"/>
  <p:embeddedFontLst>
    <p:embeddedFont>
      <p:font typeface="Candara"/>
      <p:regular r:id="rId66"/>
      <p:bold r:id="rId67"/>
      <p:italic r:id="rId68"/>
      <p:boldItalic r:id="rId69"/>
    </p:embeddedFont>
    <p:embeddedFont>
      <p:font typeface="Quattrocento Sans"/>
      <p:regular r:id="rId70"/>
      <p:bold r:id="rId71"/>
      <p:italic r:id="rId72"/>
      <p:boldItalic r:id="rId7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74" roundtripDataSignature="AMtx7mjJhtAdLHCTNy4ezt/TOmpaHa3v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QuattrocentoSans-boldItalic.fntdata"/><Relationship Id="rId72" Type="http://schemas.openxmlformats.org/officeDocument/2006/relationships/font" Target="fonts/QuattrocentoSans-italic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74" Type="http://customschemas.google.com/relationships/presentationmetadata" Target="metadata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QuattrocentoSans-bold.fntdata"/><Relationship Id="rId70" Type="http://schemas.openxmlformats.org/officeDocument/2006/relationships/font" Target="fonts/QuattrocentoSans-regular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font" Target="fonts/Candara-regular.fntdata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font" Target="fonts/Candara-italic.fntdata"/><Relationship Id="rId23" Type="http://schemas.openxmlformats.org/officeDocument/2006/relationships/slide" Target="slides/slide18.xml"/><Relationship Id="rId67" Type="http://schemas.openxmlformats.org/officeDocument/2006/relationships/font" Target="fonts/Candara-bold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Candara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8d70efee18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" name="Google Shape;25;g38d70efee18_0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g38d70efee18_0_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8d70efee18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g38d70efee18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g38d70efee18_0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" name="Google Shape;3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8d70efee1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38d70efee1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2.1. Xác định rõ Initial State (Trạng thái ban đầu): 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Có đủ dữ liệu, thông tin để bắt đầu? Nếu không, bạn cần định nghĩa rõ hơn.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2.2. Xác định rõ Goal State (Mục tiêu) 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Mục tiêu mong muốn là gì? Là output cụ thể hay chỉ mong muốn chung chung? Ví dụ: "tối ưu chi phí" cụ thể là "chi phí phải dưới X"?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2.3. Xác định Operators (Phép biến đổi) 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Bạn cần biết rõ cách xử lý hoặc phép toán nào sẽ chuyển từ input đến output.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2.4. Xác định Evaluation Function (Hàm đánh giá) 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Làm thế nào để biết kết quả là “đúng” hay “tốt”? Cần một tiêu chí đánh giá cụ thể.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2.5. Thêm Constraints (Ràng buộc, giới hạn) 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Các ràng buộc giúp thu hẹp không gian giải pháp và định hướng rõ hơn. Ví dụ: thời gian thực thi, tài nguyên, định dạng dữ liệu…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2.6: Khả thi về mặt kĩ thuật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8d70efee1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8d70efee18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8d70efee18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8d70efee18_0_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8d70efee18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8d70efee18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8d70efee18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d70efee18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d70efee18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8d70efee18_0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d70efee18_0_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8d70efee18_0_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8d70efee18_0_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8d70efee18_0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8d70efee18_0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8d70efee18_0_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d70efee18_0_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8d70efee18_0_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8d70efee18_0_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d70efee18_0_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8d70efee18_0_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8d70efee18_0_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d70efee18_0_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8d70efee18_0_1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8d70efee18_0_1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d70efee18_0_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8d70efee18_0_1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8d70efee18_0_1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d70efee18_0_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8d70efee18_0_1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8d70efee18_0_1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8d70efee18_0_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8d70efee18_0_1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8d70efee18_0_1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d70efee18_0_1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8d70efee18_0_1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8d70efee18_0_1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d70efee18_0_1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8d70efee18_0_1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8d70efee18_0_1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d70efee18_0_1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8d70efee18_0_1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8d70efee18_0_1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d70efee18_0_1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8d70efee18_0_1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8d70efee18_0_1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d70efee18_0_1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8d70efee18_0_1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8d70efee18_0_1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d70efee18_0_1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8d70efee18_0_1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8d70efee18_0_1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8d70efee18_0_1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8d70efee18_0_1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8d70efee18_0_1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d70efee18_0_1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8d70efee18_0_1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8d70efee18_0_1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d70efee18_0_1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8d70efee18_0_1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8d70efee18_0_1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8d70efee18_0_1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8d70efee18_0_1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8d70efee18_0_1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8d70efee18_0_2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8d70efee18_0_2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8d70efee18_0_2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8d70efee18_0_2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8d70efee18_0_2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8d70efee18_0_2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8d70efee18_0_2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8d70efee18_0_2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8d70efee18_0_2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8d70efee18_0_3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8d70efee18_0_3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8d70efee18_0_3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8d70efee18_0_2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8d70efee18_0_2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8d70efee18_0_2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8d70efee18_0_2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8d70efee18_0_2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8d70efee18_0_2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8d70efee18_0_2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8d70efee18_0_2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8d70efee18_0_2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8d70efee18_0_2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8d70efee18_0_2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8d70efee18_0_2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8d70efee18_0_2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8d70efee18_0_2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8d70efee18_0_2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8d70efee18_0_2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8d70efee18_0_2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8d70efee18_0_2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8d70efee18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8d70efee18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8d70efee18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8d70efee18_0_2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8d70efee18_0_2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8d70efee18_0_2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8d70efee18_0_2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8d70efee18_0_2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8d70efee18_0_2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8d70efee18_0_2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8d70efee18_0_2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8d70efee18_0_2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8d70efee18_0_2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8d70efee18_0_2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8d70efee18_0_2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8d70efee18_0_2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8d70efee18_0_2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38d70efee18_0_2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8d70efee18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8d70efee18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8d70efee18_0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8d70efee18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8d70efee18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38d70efee18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9fb7118dd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9fb7118dd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39fb7118dd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a40b2f078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a40b2f078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a40b2f078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a40b2f078e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a40b2f078e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a40b2f078e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a40b2f078e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a40b2f078e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3a40b2f078e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a40b2f078e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a40b2f078e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a40b2f078e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a40b2f078e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a40b2f078e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a40b2f078e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a40b2f078e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a40b2f078e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3a40b2f078e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a40b2f078e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a40b2f078e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a40b2f078e_0_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a40b2f078e_0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a40b2f078e_0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g3a40b2f078e_0_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a40b2f078e_0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a40b2f078e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g3a40b2f078e_0_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a40b2f078e_0_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a40b2f078e_0_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g3a40b2f078e_0_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a40b2f078e_0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a40b2f078e_0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3a40b2f078e_0_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a40b2f078e_0_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a40b2f078e_0_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g3a40b2f078e_0_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a40b2f078e_0_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a40b2f078e_0_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g3a40b2f078e_0_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a40b2f078e_0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a40b2f078e_0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g3a40b2f078e_0_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a40b2f078e_0_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a40b2f078e_0_1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g3a40b2f078e_0_1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a40b2f078e_0_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a40b2f078e_0_1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g3a40b2f078e_0_1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000"/>
              <a:buFont typeface="Candara"/>
              <a:buNone/>
              <a:defRPr b="1" i="0" sz="5000">
                <a:solidFill>
                  <a:srgbClr val="3333CC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accen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66"/>
          <p:cNvSpPr txBox="1"/>
          <p:nvPr>
            <p:ph idx="12" type="sldNum"/>
          </p:nvPr>
        </p:nvSpPr>
        <p:spPr>
          <a:xfrm>
            <a:off x="10816246" y="6502200"/>
            <a:ext cx="13587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8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900"/>
              <a:buNone/>
              <a:defRPr sz="4700">
                <a:solidFill>
                  <a:srgbClr val="3333C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8"/>
          <p:cNvSpPr txBox="1"/>
          <p:nvPr>
            <p:ph idx="1" type="body"/>
          </p:nvPr>
        </p:nvSpPr>
        <p:spPr>
          <a:xfrm>
            <a:off x="489225" y="1163700"/>
            <a:ext cx="10464300" cy="4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7625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F5496"/>
              </a:buClr>
              <a:buSzPts val="3900"/>
              <a:buFont typeface="Courier New"/>
              <a:buChar char="o"/>
              <a:defRPr sz="3900">
                <a:latin typeface="Calibri"/>
                <a:ea typeface="Calibri"/>
                <a:cs typeface="Calibri"/>
                <a:sym typeface="Calibri"/>
              </a:defRPr>
            </a:lvl1pPr>
            <a:lvl2pPr indent="-4508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500"/>
              <a:buChar char="•"/>
              <a:defRPr sz="3500">
                <a:latin typeface="Calibri"/>
                <a:ea typeface="Calibri"/>
                <a:cs typeface="Calibri"/>
                <a:sym typeface="Calibri"/>
              </a:defRPr>
            </a:lvl2pPr>
            <a:lvl3pPr indent="-4254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100"/>
              <a:buChar char="•"/>
              <a:defRPr sz="3100">
                <a:latin typeface="Calibri"/>
                <a:ea typeface="Calibri"/>
                <a:cs typeface="Calibri"/>
                <a:sym typeface="Calibri"/>
              </a:defRPr>
            </a:lvl3pPr>
            <a:lvl4pPr indent="-4127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>
                <a:latin typeface="Calibri"/>
                <a:ea typeface="Calibri"/>
                <a:cs typeface="Calibri"/>
                <a:sym typeface="Calibri"/>
              </a:defRPr>
            </a:lvl4pPr>
            <a:lvl5pPr indent="-4127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>
                <a:latin typeface="Calibri"/>
                <a:ea typeface="Calibri"/>
                <a:cs typeface="Calibri"/>
                <a:sym typeface="Calibri"/>
              </a:defRPr>
            </a:lvl5pPr>
            <a:lvl6pPr indent="-4127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6pPr>
            <a:lvl7pPr indent="-4127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7pPr>
            <a:lvl8pPr indent="-4127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8pPr>
            <a:lvl9pPr indent="-4127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9pPr>
          </a:lstStyle>
          <a:p/>
        </p:txBody>
      </p:sp>
      <p:sp>
        <p:nvSpPr>
          <p:cNvPr id="22" name="Google Shape;22;p68"/>
          <p:cNvSpPr txBox="1"/>
          <p:nvPr>
            <p:ph idx="12" type="sldNum"/>
          </p:nvPr>
        </p:nvSpPr>
        <p:spPr>
          <a:xfrm>
            <a:off x="943186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5"/>
          <p:cNvSpPr txBox="1"/>
          <p:nvPr>
            <p:ph type="title"/>
          </p:nvPr>
        </p:nvSpPr>
        <p:spPr>
          <a:xfrm>
            <a:off x="838200" y="681037"/>
            <a:ext cx="10515600" cy="1009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600"/>
              <a:buFont typeface="Candara"/>
              <a:buNone/>
              <a:defRPr b="1" i="0" sz="3600" u="none" cap="none" strike="noStrike">
                <a:solidFill>
                  <a:srgbClr val="2F5496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5"/>
          <p:cNvSpPr txBox="1"/>
          <p:nvPr>
            <p:ph idx="12" type="sldNum"/>
          </p:nvPr>
        </p:nvSpPr>
        <p:spPr>
          <a:xfrm>
            <a:off x="943186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blue and black text&#10;&#10;AI-generated content may be incorrect." id="13" name="Google Shape;13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648850" y="57077"/>
            <a:ext cx="2543150" cy="867214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65"/>
          <p:cNvSpPr txBox="1"/>
          <p:nvPr/>
        </p:nvSpPr>
        <p:spPr>
          <a:xfrm>
            <a:off x="270164" y="6438898"/>
            <a:ext cx="33320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Computational Thinking | 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8d70efee18_0_50"/>
          <p:cNvSpPr txBox="1"/>
          <p:nvPr>
            <p:ph type="ctrTitle"/>
          </p:nvPr>
        </p:nvSpPr>
        <p:spPr>
          <a:xfrm>
            <a:off x="653150" y="1122375"/>
            <a:ext cx="111936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Overview of computational thinking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8d70efee18_0_56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Extended steps</a:t>
            </a:r>
            <a:endParaRPr/>
          </a:p>
        </p:txBody>
      </p:sp>
      <p:sp>
        <p:nvSpPr>
          <p:cNvPr id="35" name="Google Shape;35;g38d70efee18_0_56"/>
          <p:cNvSpPr txBox="1"/>
          <p:nvPr>
            <p:ph idx="1" type="body"/>
          </p:nvPr>
        </p:nvSpPr>
        <p:spPr>
          <a:xfrm>
            <a:off x="788275" y="1163700"/>
            <a:ext cx="11148600" cy="45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76250" lvl="0" marL="457200" rtl="0" algn="l">
              <a:spcBef>
                <a:spcPts val="600"/>
              </a:spcBef>
              <a:spcAft>
                <a:spcPts val="0"/>
              </a:spcAft>
              <a:buSzPts val="3900"/>
              <a:buAutoNum type="arabicPeriod"/>
            </a:pPr>
            <a:r>
              <a:rPr lang="en-US"/>
              <a:t>Problem Analysis (from ill-defined to well-defined)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AutoNum type="arabicPeriod"/>
            </a:pPr>
            <a:r>
              <a:rPr b="1" lang="en-US"/>
              <a:t>Decomposition</a:t>
            </a:r>
            <a:endParaRPr b="1"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AutoNum type="arabicPeriod"/>
            </a:pPr>
            <a:r>
              <a:rPr b="1" lang="en-US"/>
              <a:t>Pattern Recognition &amp; Abstraction</a:t>
            </a:r>
            <a:endParaRPr b="1"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AutoNum type="arabicPeriod"/>
            </a:pPr>
            <a:r>
              <a:rPr b="1" lang="en-US"/>
              <a:t>Algorithm Design</a:t>
            </a:r>
            <a:endParaRPr b="1"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AutoNum type="arabicPeriod"/>
            </a:pPr>
            <a:r>
              <a:rPr lang="en-US"/>
              <a:t>Representation (e.g. pseudo code, flowchart)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AutoNum type="arabicPeriod"/>
            </a:pPr>
            <a:r>
              <a:rPr lang="en-US"/>
              <a:t>Implementation / Simulation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AutoNum type="arabicPeriod"/>
            </a:pPr>
            <a:r>
              <a:rPr lang="en-US"/>
              <a:t>Evaluation &amp; Reflection</a:t>
            </a:r>
            <a:endParaRPr/>
          </a:p>
        </p:txBody>
      </p:sp>
      <p:sp>
        <p:nvSpPr>
          <p:cNvPr id="36" name="Google Shape;36;g38d70efee18_0_56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"/>
          <p:cNvSpPr txBox="1"/>
          <p:nvPr>
            <p:ph type="ctrTitle"/>
          </p:nvPr>
        </p:nvSpPr>
        <p:spPr>
          <a:xfrm>
            <a:off x="-1" y="2428190"/>
            <a:ext cx="12192000" cy="13676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56"/>
              <a:buNone/>
            </a:pPr>
            <a:r>
              <a:rPr lang="en-US" sz="6000">
                <a:latin typeface="Quattrocento Sans"/>
                <a:ea typeface="Quattrocento Sans"/>
                <a:cs typeface="Quattrocento Sans"/>
                <a:sym typeface="Quattrocento Sans"/>
              </a:rPr>
              <a:t>Step 01: Problem analysis</a:t>
            </a:r>
            <a:endParaRPr/>
          </a:p>
        </p:txBody>
      </p:sp>
      <p:sp>
        <p:nvSpPr>
          <p:cNvPr id="42" name="Google Shape;42;p1"/>
          <p:cNvSpPr txBox="1"/>
          <p:nvPr/>
        </p:nvSpPr>
        <p:spPr>
          <a:xfrm>
            <a:off x="0" y="3937000"/>
            <a:ext cx="12191999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8d70efee18_0_0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Elements of a well-defined problem</a:t>
            </a:r>
            <a:endParaRPr/>
          </a:p>
        </p:txBody>
      </p:sp>
      <p:sp>
        <p:nvSpPr>
          <p:cNvPr id="49" name="Google Shape;49;g38d70efee18_0_0"/>
          <p:cNvSpPr txBox="1"/>
          <p:nvPr>
            <p:ph idx="1" type="body"/>
          </p:nvPr>
        </p:nvSpPr>
        <p:spPr>
          <a:xfrm>
            <a:off x="789600" y="1163700"/>
            <a:ext cx="10164000" cy="45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95300" lvl="0" marL="457200" rtl="0" algn="l">
              <a:spcBef>
                <a:spcPts val="600"/>
              </a:spcBef>
              <a:spcAft>
                <a:spcPts val="0"/>
              </a:spcAft>
              <a:buSzPts val="4200"/>
              <a:buAutoNum type="arabicPeriod"/>
            </a:pPr>
            <a:r>
              <a:rPr lang="en-US" sz="4200"/>
              <a:t>Input / Initial states</a:t>
            </a:r>
            <a:endParaRPr sz="4200"/>
          </a:p>
          <a:p>
            <a:pPr indent="-495300" lvl="0" marL="457200" rtl="0" algn="l">
              <a:spcBef>
                <a:spcPts val="0"/>
              </a:spcBef>
              <a:spcAft>
                <a:spcPts val="0"/>
              </a:spcAft>
              <a:buSzPts val="4200"/>
              <a:buAutoNum type="arabicPeriod"/>
            </a:pPr>
            <a:r>
              <a:rPr lang="en-US" sz="4200"/>
              <a:t>Output / Goal states</a:t>
            </a:r>
            <a:endParaRPr sz="4200"/>
          </a:p>
          <a:p>
            <a:pPr indent="-495300" lvl="0" marL="457200" rtl="0" algn="l">
              <a:spcBef>
                <a:spcPts val="0"/>
              </a:spcBef>
              <a:spcAft>
                <a:spcPts val="0"/>
              </a:spcAft>
              <a:buSzPts val="4200"/>
              <a:buAutoNum type="arabicPeriod"/>
            </a:pPr>
            <a:r>
              <a:rPr lang="en-US" sz="4200"/>
              <a:t>Operators: process or transformation </a:t>
            </a:r>
            <a:endParaRPr sz="4200"/>
          </a:p>
          <a:p>
            <a:pPr indent="-495300" lvl="0" marL="457200" rtl="0" algn="l">
              <a:spcBef>
                <a:spcPts val="0"/>
              </a:spcBef>
              <a:spcAft>
                <a:spcPts val="0"/>
              </a:spcAft>
              <a:buSzPts val="4200"/>
              <a:buAutoNum type="arabicPeriod"/>
            </a:pPr>
            <a:r>
              <a:rPr lang="en-US" sz="4200"/>
              <a:t>Evaluation function: how to define good?</a:t>
            </a:r>
            <a:endParaRPr sz="4200"/>
          </a:p>
          <a:p>
            <a:pPr indent="-495300" lvl="0" marL="457200" rtl="0" algn="l">
              <a:spcBef>
                <a:spcPts val="0"/>
              </a:spcBef>
              <a:spcAft>
                <a:spcPts val="0"/>
              </a:spcAft>
              <a:buSzPts val="4200"/>
              <a:buAutoNum type="arabicPeriod"/>
            </a:pPr>
            <a:r>
              <a:rPr lang="en-US" sz="4200"/>
              <a:t>Constraints</a:t>
            </a:r>
            <a:endParaRPr sz="4200"/>
          </a:p>
          <a:p>
            <a:pPr indent="-495300" lvl="0" marL="457200" rtl="0" algn="l">
              <a:spcBef>
                <a:spcPts val="0"/>
              </a:spcBef>
              <a:spcAft>
                <a:spcPts val="0"/>
              </a:spcAft>
              <a:buSzPts val="4200"/>
              <a:buAutoNum type="arabicPeriod"/>
            </a:pPr>
            <a:r>
              <a:rPr lang="en-US" sz="4200"/>
              <a:t>Technically executable (feasible)</a:t>
            </a:r>
            <a:endParaRPr sz="4200"/>
          </a:p>
        </p:txBody>
      </p:sp>
      <p:sp>
        <p:nvSpPr>
          <p:cNvPr id="50" name="Google Shape;50;g38d70efee18_0_0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8d70efee18_0_70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Example: Escape room challenge</a:t>
            </a:r>
            <a:endParaRPr/>
          </a:p>
        </p:txBody>
      </p:sp>
      <p:sp>
        <p:nvSpPr>
          <p:cNvPr id="57" name="Google Shape;57;g38d70efee18_0_70"/>
          <p:cNvSpPr txBox="1"/>
          <p:nvPr>
            <p:ph idx="1" type="body"/>
          </p:nvPr>
        </p:nvSpPr>
        <p:spPr>
          <a:xfrm>
            <a:off x="665400" y="1163700"/>
            <a:ext cx="11269500" cy="45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476250" lvl="0" marL="457200" rtl="0" algn="l">
              <a:spcBef>
                <a:spcPts val="600"/>
              </a:spcBef>
              <a:spcAft>
                <a:spcPts val="0"/>
              </a:spcAft>
              <a:buSzPts val="3900"/>
              <a:buAutoNum type="arabicPeriod"/>
            </a:pPr>
            <a:r>
              <a:rPr b="1" lang="en-US"/>
              <a:t>Input</a:t>
            </a:r>
            <a:r>
              <a:rPr lang="en-US"/>
              <a:t>: Questions to solve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AutoNum type="arabicPeriod"/>
            </a:pPr>
            <a:r>
              <a:rPr b="1" lang="en-US"/>
              <a:t>Output</a:t>
            </a:r>
            <a:r>
              <a:rPr lang="en-US"/>
              <a:t>: Key </a:t>
            </a:r>
            <a:r>
              <a:rPr lang="en-US"/>
              <a:t>combination</a:t>
            </a:r>
            <a:r>
              <a:rPr lang="en-US"/>
              <a:t> to unlock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AutoNum type="arabicPeriod"/>
            </a:pPr>
            <a:r>
              <a:rPr b="1" lang="en-US"/>
              <a:t>Operators</a:t>
            </a:r>
            <a:r>
              <a:rPr lang="en-US"/>
              <a:t>: Using hint to create an answer, then use the answer to </a:t>
            </a:r>
            <a:r>
              <a:rPr lang="en-US"/>
              <a:t>create</a:t>
            </a:r>
            <a:r>
              <a:rPr lang="en-US"/>
              <a:t> a number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AutoNum type="arabicPeriod"/>
            </a:pPr>
            <a:r>
              <a:rPr b="1" lang="en-US"/>
              <a:t>Evaluation</a:t>
            </a:r>
            <a:r>
              <a:rPr lang="en-US"/>
              <a:t>: Escape the room successfully within time limit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AutoNum type="arabicPeriod"/>
            </a:pPr>
            <a:r>
              <a:rPr b="1" lang="en-US"/>
              <a:t>Constraints</a:t>
            </a:r>
            <a:r>
              <a:rPr lang="en-US"/>
              <a:t>: Questions should not too easy or too hard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AutoNum type="arabicPeriod"/>
            </a:pPr>
            <a:r>
              <a:rPr b="1" lang="en-US"/>
              <a:t>Technically executable</a:t>
            </a:r>
            <a:r>
              <a:rPr lang="en-US"/>
              <a:t>: yes (on paper, simple lock) </a:t>
            </a:r>
            <a:endParaRPr/>
          </a:p>
        </p:txBody>
      </p:sp>
      <p:sp>
        <p:nvSpPr>
          <p:cNvPr id="58" name="Google Shape;58;g38d70efee18_0_70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d70efee18_0_28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Examples of ill-defined problems </a:t>
            </a:r>
            <a:endParaRPr/>
          </a:p>
        </p:txBody>
      </p:sp>
      <p:sp>
        <p:nvSpPr>
          <p:cNvPr id="65" name="Google Shape;65;g38d70efee18_0_28"/>
          <p:cNvSpPr txBox="1"/>
          <p:nvPr>
            <p:ph idx="1" type="body"/>
          </p:nvPr>
        </p:nvSpPr>
        <p:spPr>
          <a:xfrm>
            <a:off x="489225" y="1163700"/>
            <a:ext cx="10464300" cy="5286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76250" lvl="0" marL="457200" rtl="0" algn="l">
              <a:spcBef>
                <a:spcPts val="600"/>
              </a:spcBef>
              <a:spcAft>
                <a:spcPts val="0"/>
              </a:spcAft>
              <a:buSzPts val="3900"/>
              <a:buAutoNum type="arabicPeriod"/>
            </a:pPr>
            <a:r>
              <a:rPr lang="en-US"/>
              <a:t>“How to help students learn better?”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AutoNum type="arabicPeriod"/>
            </a:pPr>
            <a:r>
              <a:rPr lang="en-US"/>
              <a:t>“Create an optimal travel plan”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AutoNum type="arabicPeriod"/>
            </a:pPr>
            <a:r>
              <a:rPr lang="en-US"/>
              <a:t>“Create a food </a:t>
            </a:r>
            <a:r>
              <a:rPr lang="en-US"/>
              <a:t>recommendation</a:t>
            </a:r>
            <a:r>
              <a:rPr lang="en-US"/>
              <a:t> system”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AutoNum type="arabicPeriod"/>
            </a:pPr>
            <a:r>
              <a:rPr lang="en-US"/>
              <a:t>“Create an </a:t>
            </a:r>
            <a:r>
              <a:rPr lang="en-US"/>
              <a:t>attendance</a:t>
            </a:r>
            <a:r>
              <a:rPr lang="en-US"/>
              <a:t> system”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</a:rPr>
              <a:t>Why are these problems ill-defined?</a:t>
            </a:r>
            <a:endParaRPr b="1">
              <a:solidFill>
                <a:srgbClr val="9900FF"/>
              </a:solidFill>
            </a:endParaRPr>
          </a:p>
        </p:txBody>
      </p:sp>
      <p:sp>
        <p:nvSpPr>
          <p:cNvPr id="66" name="Google Shape;66;g38d70efee18_0_28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8d70efee18_0_63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analysis tools</a:t>
            </a:r>
            <a:endParaRPr/>
          </a:p>
        </p:txBody>
      </p:sp>
      <p:sp>
        <p:nvSpPr>
          <p:cNvPr id="73" name="Google Shape;73;g38d70efee18_0_63"/>
          <p:cNvSpPr txBox="1"/>
          <p:nvPr>
            <p:ph idx="1" type="body"/>
          </p:nvPr>
        </p:nvSpPr>
        <p:spPr>
          <a:xfrm>
            <a:off x="745250" y="1163700"/>
            <a:ext cx="10208400" cy="45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76250" lvl="0" marL="457200" rtl="0" algn="l">
              <a:spcBef>
                <a:spcPts val="600"/>
              </a:spcBef>
              <a:spcAft>
                <a:spcPts val="0"/>
              </a:spcAft>
              <a:buSzPts val="3900"/>
              <a:buAutoNum type="arabicPeriod"/>
            </a:pPr>
            <a:r>
              <a:rPr lang="en-US"/>
              <a:t>Clarification questions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AutoNum type="arabicPeriod"/>
            </a:pPr>
            <a:r>
              <a:rPr lang="en-US"/>
              <a:t>Stakeholder mapping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AutoNum type="arabicPeriod"/>
            </a:pPr>
            <a:r>
              <a:rPr lang="en-US"/>
              <a:t>Requirements elicitation 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AutoNum type="arabicPeriod"/>
            </a:pPr>
            <a:r>
              <a:rPr lang="en-US"/>
              <a:t>Constraint specification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AutoNum type="arabicPeriod"/>
            </a:pPr>
            <a:r>
              <a:rPr lang="en-US"/>
              <a:t>Use case / Epic &amp; User stories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AutoNum type="arabicPeriod"/>
            </a:pPr>
            <a:r>
              <a:rPr lang="en-US"/>
              <a:t>Formalization</a:t>
            </a:r>
            <a:endParaRPr/>
          </a:p>
        </p:txBody>
      </p:sp>
      <p:sp>
        <p:nvSpPr>
          <p:cNvPr id="74" name="Google Shape;74;g38d70efee18_0_63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8d70efee18_0_9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Tool 01: Clarification questions</a:t>
            </a:r>
            <a:endParaRPr/>
          </a:p>
        </p:txBody>
      </p:sp>
      <p:sp>
        <p:nvSpPr>
          <p:cNvPr id="81" name="Google Shape;81;g38d70efee18_0_91"/>
          <p:cNvSpPr txBox="1"/>
          <p:nvPr>
            <p:ph idx="12" type="sldNum"/>
          </p:nvPr>
        </p:nvSpPr>
        <p:spPr>
          <a:xfrm>
            <a:off x="10816246" y="6502200"/>
            <a:ext cx="1358700" cy="355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g38d70efee18_0_9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Problem analysis tools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d70efee18_0_98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Objectives of the questions</a:t>
            </a:r>
            <a:endParaRPr/>
          </a:p>
        </p:txBody>
      </p:sp>
      <p:sp>
        <p:nvSpPr>
          <p:cNvPr id="89" name="Google Shape;89;g38d70efee18_0_98"/>
          <p:cNvSpPr txBox="1"/>
          <p:nvPr>
            <p:ph idx="1" type="body"/>
          </p:nvPr>
        </p:nvSpPr>
        <p:spPr>
          <a:xfrm>
            <a:off x="718625" y="1163700"/>
            <a:ext cx="10234800" cy="45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76250" lvl="0" marL="457200" rtl="0" algn="l">
              <a:spcBef>
                <a:spcPts val="600"/>
              </a:spcBef>
              <a:spcAft>
                <a:spcPts val="0"/>
              </a:spcAft>
              <a:buSzPts val="3900"/>
              <a:buAutoNum type="arabicPeriod"/>
            </a:pPr>
            <a:r>
              <a:rPr lang="en-US"/>
              <a:t>The real goals of the problem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AutoNum type="arabicPeriod"/>
            </a:pPr>
            <a:r>
              <a:rPr lang="en-US"/>
              <a:t>Specific input &amp; output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AutoNum type="arabicPeriod"/>
            </a:pPr>
            <a:r>
              <a:rPr lang="en-US"/>
              <a:t>Constraints, limitations and boundaries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AutoNum type="arabicPeriod"/>
            </a:pPr>
            <a:r>
              <a:rPr lang="en-US"/>
              <a:t>User expectation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AutoNum type="arabicPeriod"/>
            </a:pPr>
            <a:r>
              <a:rPr lang="en-US"/>
              <a:t>Finding the root cause</a:t>
            </a:r>
            <a:endParaRPr/>
          </a:p>
        </p:txBody>
      </p:sp>
      <p:sp>
        <p:nvSpPr>
          <p:cNvPr id="90" name="Google Shape;90;g38d70efee18_0_98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d70efee18_0_77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Activity - Clarification questions</a:t>
            </a:r>
            <a:endParaRPr/>
          </a:p>
        </p:txBody>
      </p:sp>
      <p:sp>
        <p:nvSpPr>
          <p:cNvPr id="97" name="Google Shape;97;g38d70efee18_0_77"/>
          <p:cNvSpPr txBox="1"/>
          <p:nvPr>
            <p:ph idx="1" type="body"/>
          </p:nvPr>
        </p:nvSpPr>
        <p:spPr>
          <a:xfrm>
            <a:off x="489225" y="1163700"/>
            <a:ext cx="10464300" cy="45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What questions could help you clarify and solve the problem?</a:t>
            </a:r>
            <a:endParaRPr/>
          </a:p>
        </p:txBody>
      </p:sp>
      <p:sp>
        <p:nvSpPr>
          <p:cNvPr id="98" name="Google Shape;98;g38d70efee18_0_77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d70efee18_0_84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</a:t>
            </a:r>
            <a:r>
              <a:rPr lang="en-US"/>
              <a:t>Goal Clarification</a:t>
            </a:r>
            <a:endParaRPr/>
          </a:p>
        </p:txBody>
      </p:sp>
      <p:sp>
        <p:nvSpPr>
          <p:cNvPr id="105" name="Google Shape;105;g38d70efee18_0_84"/>
          <p:cNvSpPr txBox="1"/>
          <p:nvPr>
            <p:ph idx="1" type="body"/>
          </p:nvPr>
        </p:nvSpPr>
        <p:spPr>
          <a:xfrm>
            <a:off x="489225" y="1163700"/>
            <a:ext cx="11221800" cy="521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/>
              <a:t>F</a:t>
            </a:r>
            <a:r>
              <a:rPr b="1" lang="en-US"/>
              <a:t>ood recommendation system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“What are we trying to achieve?”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76250" lvl="0" marL="457200" rtl="0" algn="l">
              <a:spcBef>
                <a:spcPts val="600"/>
              </a:spcBef>
              <a:spcAft>
                <a:spcPts val="0"/>
              </a:spcAft>
              <a:buSzPts val="3900"/>
              <a:buChar char="●"/>
            </a:pPr>
            <a:r>
              <a:rPr lang="en-US"/>
              <a:t>Final goal?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○"/>
            </a:pPr>
            <a:r>
              <a:rPr lang="en-US"/>
              <a:t>Help users choose quickly or eating more healthier?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Char char="●"/>
            </a:pPr>
            <a:r>
              <a:rPr lang="en-US"/>
              <a:t>How</a:t>
            </a:r>
            <a:r>
              <a:rPr lang="en-US"/>
              <a:t> to measure success?  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○"/>
            </a:pPr>
            <a:r>
              <a:rPr lang="en-US"/>
              <a:t>User’s satisfaction?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Char char="●"/>
            </a:pPr>
            <a:r>
              <a:rPr lang="en-US"/>
              <a:t>Who is going to use this system?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○"/>
            </a:pPr>
            <a:r>
              <a:rPr lang="en-US"/>
              <a:t>Normal user? Restaurant’s owner?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8d70efee18_0_84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d70efee18_0_105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</a:t>
            </a:r>
            <a:r>
              <a:rPr lang="en-US"/>
              <a:t>Input / Output Clarification</a:t>
            </a:r>
            <a:endParaRPr/>
          </a:p>
        </p:txBody>
      </p:sp>
      <p:sp>
        <p:nvSpPr>
          <p:cNvPr id="113" name="Google Shape;113;g38d70efee18_0_105"/>
          <p:cNvSpPr txBox="1"/>
          <p:nvPr>
            <p:ph idx="1" type="body"/>
          </p:nvPr>
        </p:nvSpPr>
        <p:spPr>
          <a:xfrm>
            <a:off x="489225" y="1163700"/>
            <a:ext cx="10464300" cy="4824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/>
              <a:t>Food recommendation system</a:t>
            </a:r>
            <a:endParaRPr b="1"/>
          </a:p>
          <a:p>
            <a:pPr indent="-476250" lvl="0" marL="457200" rtl="0" algn="l">
              <a:spcBef>
                <a:spcPts val="600"/>
              </a:spcBef>
              <a:spcAft>
                <a:spcPts val="0"/>
              </a:spcAft>
              <a:buSzPts val="3900"/>
              <a:buChar char="o"/>
            </a:pPr>
            <a:r>
              <a:rPr lang="en-US"/>
              <a:t>“What is the input?” 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US"/>
              <a:t>User’s information / history / hobbies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Char char="o"/>
            </a:pPr>
            <a:r>
              <a:rPr lang="en-US"/>
              <a:t>“Expected output?”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US"/>
              <a:t>List of food / daily menu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Char char="o"/>
            </a:pPr>
            <a:r>
              <a:rPr lang="en-US"/>
              <a:t>“Where can we get the data?”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US"/>
              <a:t>Manually / Database / Learn on the fly</a:t>
            </a:r>
            <a:endParaRPr/>
          </a:p>
        </p:txBody>
      </p:sp>
      <p:sp>
        <p:nvSpPr>
          <p:cNvPr id="114" name="Google Shape;114;g38d70efee18_0_105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d70efee18_0_112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Constraints &amp; Scope</a:t>
            </a:r>
            <a:endParaRPr/>
          </a:p>
        </p:txBody>
      </p:sp>
      <p:sp>
        <p:nvSpPr>
          <p:cNvPr id="121" name="Google Shape;121;g38d70efee18_0_112"/>
          <p:cNvSpPr txBox="1"/>
          <p:nvPr>
            <p:ph idx="1" type="body"/>
          </p:nvPr>
        </p:nvSpPr>
        <p:spPr>
          <a:xfrm>
            <a:off x="489225" y="1163700"/>
            <a:ext cx="11381400" cy="499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/>
              <a:t>Food recommendation system</a:t>
            </a:r>
            <a:endParaRPr b="1"/>
          </a:p>
          <a:p>
            <a:pPr indent="-476250" lvl="0" marL="457200" rtl="0" algn="l">
              <a:spcBef>
                <a:spcPts val="600"/>
              </a:spcBef>
              <a:spcAft>
                <a:spcPts val="0"/>
              </a:spcAft>
              <a:buSzPts val="3900"/>
              <a:buChar char="o"/>
            </a:pPr>
            <a:r>
              <a:rPr lang="en-US"/>
              <a:t>“What are the resources’ </a:t>
            </a:r>
            <a:r>
              <a:rPr lang="en-US"/>
              <a:t>constraints</a:t>
            </a:r>
            <a:r>
              <a:rPr lang="en-US"/>
              <a:t>?”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US"/>
              <a:t>Run on web or mobile?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Char char="o"/>
            </a:pPr>
            <a:r>
              <a:rPr lang="en-US"/>
              <a:t>“Scope of the application?”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US"/>
              <a:t>World-wide support or Vietnam only?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Char char="o"/>
            </a:pPr>
            <a:r>
              <a:rPr lang="en-US"/>
              <a:t>“Ethics or Religions concerned?”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US"/>
              <a:t>Vegetarian? Allergy?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8d70efee18_0_112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d70efee18_0_119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4. Assumption Checking</a:t>
            </a:r>
            <a:endParaRPr/>
          </a:p>
        </p:txBody>
      </p:sp>
      <p:sp>
        <p:nvSpPr>
          <p:cNvPr id="129" name="Google Shape;129;g38d70efee18_0_119"/>
          <p:cNvSpPr txBox="1"/>
          <p:nvPr>
            <p:ph idx="1" type="body"/>
          </p:nvPr>
        </p:nvSpPr>
        <p:spPr>
          <a:xfrm>
            <a:off x="489225" y="1163700"/>
            <a:ext cx="10464300" cy="45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/>
              <a:t>Food recommendation system</a:t>
            </a:r>
            <a:endParaRPr b="1"/>
          </a:p>
          <a:p>
            <a:pPr indent="-476250" lvl="0" marL="457200" rtl="0" algn="l">
              <a:spcBef>
                <a:spcPts val="600"/>
              </a:spcBef>
              <a:spcAft>
                <a:spcPts val="0"/>
              </a:spcAft>
              <a:buSzPts val="3900"/>
              <a:buChar char="o"/>
            </a:pPr>
            <a:r>
              <a:rPr lang="en-US"/>
              <a:t>“Are you sure the user want the system to choose food rather than manually selected?”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Char char="o"/>
            </a:pPr>
            <a:r>
              <a:rPr lang="en-US"/>
              <a:t>“Cold start problem: How can the system suggest for new user without previous data?”</a:t>
            </a:r>
            <a:endParaRPr/>
          </a:p>
        </p:txBody>
      </p:sp>
      <p:sp>
        <p:nvSpPr>
          <p:cNvPr id="130" name="Google Shape;130;g38d70efee18_0_119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d70efee18_0_126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5. Root-Cause Clarification</a:t>
            </a:r>
            <a:endParaRPr/>
          </a:p>
        </p:txBody>
      </p:sp>
      <p:sp>
        <p:nvSpPr>
          <p:cNvPr id="137" name="Google Shape;137;g38d70efee18_0_126"/>
          <p:cNvSpPr txBox="1"/>
          <p:nvPr>
            <p:ph idx="1" type="body"/>
          </p:nvPr>
        </p:nvSpPr>
        <p:spPr>
          <a:xfrm>
            <a:off x="489225" y="1163700"/>
            <a:ext cx="10464300" cy="45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/>
              <a:t>Food recommendation system</a:t>
            </a:r>
            <a:endParaRPr b="1"/>
          </a:p>
          <a:p>
            <a:pPr indent="-476250" lvl="0" marL="457200" rtl="0" algn="l">
              <a:spcBef>
                <a:spcPts val="600"/>
              </a:spcBef>
              <a:spcAft>
                <a:spcPts val="0"/>
              </a:spcAft>
              <a:buSzPts val="3900"/>
              <a:buChar char="o"/>
            </a:pPr>
            <a:r>
              <a:rPr lang="en-US"/>
              <a:t>“What is the root cause? Bad UI design or user cannot make a choice?”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Char char="o"/>
            </a:pPr>
            <a:r>
              <a:rPr lang="en-US"/>
              <a:t>“Why is this important? Does it really improve user experience when ordering?”</a:t>
            </a:r>
            <a:endParaRPr/>
          </a:p>
        </p:txBody>
      </p:sp>
      <p:sp>
        <p:nvSpPr>
          <p:cNvPr id="138" name="Google Shape;138;g38d70efee18_0_126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d70efee18_0_154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Effective </a:t>
            </a:r>
            <a:r>
              <a:rPr lang="en-US"/>
              <a:t>questioning</a:t>
            </a:r>
            <a:r>
              <a:rPr lang="en-US"/>
              <a:t> techniques</a:t>
            </a:r>
            <a:endParaRPr/>
          </a:p>
        </p:txBody>
      </p:sp>
      <p:sp>
        <p:nvSpPr>
          <p:cNvPr id="145" name="Google Shape;145;g38d70efee18_0_154"/>
          <p:cNvSpPr txBox="1"/>
          <p:nvPr>
            <p:ph idx="1" type="body"/>
          </p:nvPr>
        </p:nvSpPr>
        <p:spPr>
          <a:xfrm>
            <a:off x="709750" y="1163700"/>
            <a:ext cx="11064900" cy="5277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76250" lvl="0" marL="457200" rtl="0" algn="l">
              <a:spcBef>
                <a:spcPts val="600"/>
              </a:spcBef>
              <a:spcAft>
                <a:spcPts val="0"/>
              </a:spcAft>
              <a:buSzPts val="3900"/>
              <a:buAutoNum type="arabicPeriod"/>
            </a:pPr>
            <a:r>
              <a:rPr lang="en-US"/>
              <a:t>5 Whys (Toyota)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AutoNum type="arabicPeriod"/>
            </a:pPr>
            <a:r>
              <a:rPr lang="en-US"/>
              <a:t>Socratic Questioning: proof? other pov? 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AutoNum type="arabicPeriod"/>
            </a:pPr>
            <a:r>
              <a:rPr lang="en-US"/>
              <a:t>Reframing Question: look from another p</a:t>
            </a:r>
            <a:r>
              <a:rPr lang="en-US"/>
              <a:t>o</a:t>
            </a:r>
            <a:r>
              <a:rPr lang="en-US"/>
              <a:t>v 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AutoNum type="arabicPeriod"/>
            </a:pPr>
            <a:r>
              <a:rPr lang="en-US"/>
              <a:t>What / How / Why Model 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AutoNum type="arabicPeriod"/>
            </a:pPr>
            <a:r>
              <a:rPr lang="en-US"/>
              <a:t>User Journey / Scenario-based 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AutoNum type="arabicPeriod"/>
            </a:pPr>
            <a:r>
              <a:rPr lang="en-US"/>
              <a:t>Boundary Questions</a:t>
            </a:r>
            <a:endParaRPr/>
          </a:p>
        </p:txBody>
      </p:sp>
      <p:sp>
        <p:nvSpPr>
          <p:cNvPr id="146" name="Google Shape;146;g38d70efee18_0_154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d70efee18_0_161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Questions template</a:t>
            </a:r>
            <a:endParaRPr/>
          </a:p>
        </p:txBody>
      </p:sp>
      <p:sp>
        <p:nvSpPr>
          <p:cNvPr id="153" name="Google Shape;153;g38d70efee18_0_161"/>
          <p:cNvSpPr txBox="1"/>
          <p:nvPr>
            <p:ph idx="1" type="body"/>
          </p:nvPr>
        </p:nvSpPr>
        <p:spPr>
          <a:xfrm>
            <a:off x="489225" y="1163700"/>
            <a:ext cx="4239600" cy="45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55000" lnSpcReduction="10000"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1️⃣ </a:t>
            </a:r>
            <a:r>
              <a:rPr b="1" lang="en-US"/>
              <a:t>Goal</a:t>
            </a:r>
            <a:r>
              <a:rPr lang="en-US"/>
              <a:t>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What problem am I trying to solve?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Why is this problem important?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2️⃣ </a:t>
            </a:r>
            <a:r>
              <a:rPr b="1" lang="en-US"/>
              <a:t>Users / Target Audience</a:t>
            </a:r>
            <a:r>
              <a:rPr lang="en-US"/>
              <a:t>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Who are the main users?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What specific difficulties do they face?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3️⃣ </a:t>
            </a:r>
            <a:r>
              <a:rPr b="1" lang="en-US"/>
              <a:t>Inputs – Outputs</a:t>
            </a:r>
            <a:r>
              <a:rPr lang="en-US"/>
              <a:t>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What data do I need?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What is the expected outcome?</a:t>
            </a:r>
            <a:endParaRPr/>
          </a:p>
        </p:txBody>
      </p:sp>
      <p:sp>
        <p:nvSpPr>
          <p:cNvPr id="154" name="Google Shape;154;g38d70efee18_0_161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5" name="Google Shape;155;g38d70efee18_0_161"/>
          <p:cNvSpPr txBox="1"/>
          <p:nvPr>
            <p:ph idx="1" type="body"/>
          </p:nvPr>
        </p:nvSpPr>
        <p:spPr>
          <a:xfrm>
            <a:off x="6096000" y="1083850"/>
            <a:ext cx="5678400" cy="45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4️⃣ </a:t>
            </a:r>
            <a:r>
              <a:rPr b="1" lang="en-US"/>
              <a:t>Constraints</a:t>
            </a:r>
            <a:r>
              <a:rPr lang="en-US"/>
              <a:t>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Are there any limitations in time, technology, or budget?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5️⃣ </a:t>
            </a:r>
            <a:r>
              <a:rPr b="1" lang="en-US"/>
              <a:t>Assumptions &amp; Risks</a:t>
            </a:r>
            <a:r>
              <a:rPr lang="en-US"/>
              <a:t>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What assumptions am I making?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What could go wrong?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6️⃣ </a:t>
            </a:r>
            <a:r>
              <a:rPr b="1" lang="en-US"/>
              <a:t>Success Criteria</a:t>
            </a:r>
            <a:r>
              <a:rPr lang="en-US"/>
              <a:t>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How will I know the problem has been successfully solved?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d70efee18_0_133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Activity - Practicing questioning</a:t>
            </a:r>
            <a:endParaRPr/>
          </a:p>
        </p:txBody>
      </p:sp>
      <p:sp>
        <p:nvSpPr>
          <p:cNvPr id="162" name="Google Shape;162;g38d70efee18_0_133"/>
          <p:cNvSpPr txBox="1"/>
          <p:nvPr>
            <p:ph idx="1" type="body"/>
          </p:nvPr>
        </p:nvSpPr>
        <p:spPr>
          <a:xfrm>
            <a:off x="683150" y="1163700"/>
            <a:ext cx="11143200" cy="45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76250" lvl="0" marL="457200" rtl="0" algn="l">
              <a:spcBef>
                <a:spcPts val="600"/>
              </a:spcBef>
              <a:spcAft>
                <a:spcPts val="0"/>
              </a:spcAft>
              <a:buSzPts val="3900"/>
              <a:buAutoNum type="arabicPeriod"/>
            </a:pPr>
            <a:r>
              <a:rPr lang="en-US"/>
              <a:t>“Create an optimal travel plan recommendation”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AutoNum type="arabicPeriod"/>
            </a:pPr>
            <a:r>
              <a:rPr lang="en-US"/>
              <a:t>“Create an attendance system for the class”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AutoNum type="arabicPeriod"/>
            </a:pPr>
            <a:r>
              <a:rPr lang="en-US"/>
              <a:t>“Create a smart parking system”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8d70efee18_0_133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8d70efee18_0_140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Tool 02: </a:t>
            </a:r>
            <a:r>
              <a:rPr lang="en-US"/>
              <a:t>Stakeholder mapping</a:t>
            </a:r>
            <a:endParaRPr/>
          </a:p>
        </p:txBody>
      </p:sp>
      <p:sp>
        <p:nvSpPr>
          <p:cNvPr id="170" name="Google Shape;170;g38d70efee18_0_140"/>
          <p:cNvSpPr txBox="1"/>
          <p:nvPr>
            <p:ph idx="12" type="sldNum"/>
          </p:nvPr>
        </p:nvSpPr>
        <p:spPr>
          <a:xfrm>
            <a:off x="10816246" y="6502200"/>
            <a:ext cx="1358700" cy="355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g38d70efee18_0_140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Problem analysis tools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8d70efee18_0_147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Stakeholder</a:t>
            </a:r>
            <a:endParaRPr/>
          </a:p>
        </p:txBody>
      </p:sp>
      <p:sp>
        <p:nvSpPr>
          <p:cNvPr id="178" name="Google Shape;178;g38d70efee18_0_147"/>
          <p:cNvSpPr txBox="1"/>
          <p:nvPr>
            <p:ph idx="1" type="body"/>
          </p:nvPr>
        </p:nvSpPr>
        <p:spPr>
          <a:xfrm>
            <a:off x="489225" y="1163700"/>
            <a:ext cx="10464300" cy="45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9900"/>
                </a:solidFill>
              </a:rPr>
              <a:t>P</a:t>
            </a:r>
            <a:r>
              <a:rPr b="1" lang="en-US">
                <a:solidFill>
                  <a:srgbClr val="FF9900"/>
                </a:solidFill>
              </a:rPr>
              <a:t>erson </a:t>
            </a:r>
            <a:r>
              <a:rPr lang="en-US"/>
              <a:t>/ </a:t>
            </a:r>
            <a:r>
              <a:rPr b="1" lang="en-US">
                <a:solidFill>
                  <a:srgbClr val="9900FF"/>
                </a:solidFill>
              </a:rPr>
              <a:t>group </a:t>
            </a:r>
            <a:r>
              <a:rPr lang="en-US"/>
              <a:t>/ </a:t>
            </a:r>
            <a:r>
              <a:rPr b="1" lang="en-US">
                <a:solidFill>
                  <a:srgbClr val="FF00FF"/>
                </a:solidFill>
              </a:rPr>
              <a:t>organization </a:t>
            </a:r>
            <a:endParaRPr b="1">
              <a:solidFill>
                <a:srgbClr val="FF00FF"/>
              </a:solidFill>
            </a:endParaRPr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Has an interest in or</a:t>
            </a:r>
            <a:endParaRPr/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Is affected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By a project, product, or decision</a:t>
            </a:r>
            <a:endParaRPr/>
          </a:p>
        </p:txBody>
      </p:sp>
      <p:sp>
        <p:nvSpPr>
          <p:cNvPr id="179" name="Google Shape;179;g38d70efee18_0_147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8d70efee18_0_169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- Smart parking system</a:t>
            </a:r>
            <a:endParaRPr/>
          </a:p>
        </p:txBody>
      </p:sp>
      <p:sp>
        <p:nvSpPr>
          <p:cNvPr id="186" name="Google Shape;186;g38d70efee18_0_169"/>
          <p:cNvSpPr txBox="1"/>
          <p:nvPr>
            <p:ph idx="1" type="body"/>
          </p:nvPr>
        </p:nvSpPr>
        <p:spPr>
          <a:xfrm>
            <a:off x="489225" y="1163700"/>
            <a:ext cx="10464300" cy="45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76250" lvl="0" marL="457200" rtl="0" algn="l">
              <a:spcBef>
                <a:spcPts val="600"/>
              </a:spcBef>
              <a:spcAft>
                <a:spcPts val="0"/>
              </a:spcAft>
              <a:buSzPts val="3900"/>
              <a:buChar char="o"/>
            </a:pPr>
            <a:r>
              <a:rPr b="1" lang="en-US">
                <a:solidFill>
                  <a:srgbClr val="38761D"/>
                </a:solidFill>
              </a:rPr>
              <a:t>Users</a:t>
            </a:r>
            <a:r>
              <a:rPr lang="en-US"/>
              <a:t>: drivers who use the app to find parking.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Char char="o"/>
            </a:pPr>
            <a:r>
              <a:rPr b="1" lang="en-US">
                <a:solidFill>
                  <a:srgbClr val="38761D"/>
                </a:solidFill>
              </a:rPr>
              <a:t>Operators</a:t>
            </a:r>
            <a:r>
              <a:rPr lang="en-US"/>
              <a:t>: parking lot owners or attendants.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Char char="o"/>
            </a:pPr>
            <a:r>
              <a:rPr b="1" lang="en-US">
                <a:solidFill>
                  <a:srgbClr val="FF0000"/>
                </a:solidFill>
              </a:rPr>
              <a:t>Developers</a:t>
            </a:r>
            <a:r>
              <a:rPr lang="en-US"/>
              <a:t>: the team building and maintaining the system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Char char="o"/>
            </a:pPr>
            <a:r>
              <a:rPr b="1" lang="en-US">
                <a:solidFill>
                  <a:srgbClr val="FF9900"/>
                </a:solidFill>
              </a:rPr>
              <a:t>City authorities</a:t>
            </a:r>
            <a:r>
              <a:rPr lang="en-US"/>
              <a:t>: they care about traffic flow and regulations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Char char="o"/>
            </a:pPr>
            <a:r>
              <a:rPr b="1" lang="en-US">
                <a:solidFill>
                  <a:srgbClr val="FF9900"/>
                </a:solidFill>
              </a:rPr>
              <a:t>Investors</a:t>
            </a:r>
            <a:r>
              <a:rPr lang="en-US"/>
              <a:t>: they want financial returns</a:t>
            </a:r>
            <a:endParaRPr/>
          </a:p>
        </p:txBody>
      </p:sp>
      <p:sp>
        <p:nvSpPr>
          <p:cNvPr id="187" name="Google Shape;187;g38d70efee18_0_169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d70efee18_0_176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Priority (Highest to lowest)</a:t>
            </a:r>
            <a:endParaRPr/>
          </a:p>
        </p:txBody>
      </p:sp>
      <p:sp>
        <p:nvSpPr>
          <p:cNvPr id="194" name="Google Shape;194;g38d70efee18_0_176"/>
          <p:cNvSpPr txBox="1"/>
          <p:nvPr>
            <p:ph idx="1" type="body"/>
          </p:nvPr>
        </p:nvSpPr>
        <p:spPr>
          <a:xfrm>
            <a:off x="683150" y="1163700"/>
            <a:ext cx="10270500" cy="45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76250" lvl="0" marL="457200" rtl="0" algn="l">
              <a:spcBef>
                <a:spcPts val="600"/>
              </a:spcBef>
              <a:spcAft>
                <a:spcPts val="0"/>
              </a:spcAft>
              <a:buSzPts val="3900"/>
              <a:buAutoNum type="arabicPeriod"/>
            </a:pPr>
            <a:r>
              <a:rPr b="1" lang="en-US"/>
              <a:t>Manage Closely</a:t>
            </a:r>
            <a:r>
              <a:rPr lang="en-US"/>
              <a:t>: Owners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AutoNum type="arabicPeriod"/>
            </a:pPr>
            <a:r>
              <a:rPr b="1" lang="en-US"/>
              <a:t>Keep Informed</a:t>
            </a:r>
            <a:r>
              <a:rPr lang="en-US"/>
              <a:t>: Users, operators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AutoNum type="arabicPeriod"/>
            </a:pPr>
            <a:r>
              <a:rPr b="1" lang="en-US"/>
              <a:t>Keep Satisfied</a:t>
            </a:r>
            <a:r>
              <a:rPr lang="en-US"/>
              <a:t>: Investors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AutoNum type="arabicPeriod"/>
            </a:pPr>
            <a:r>
              <a:rPr b="1" lang="en-US"/>
              <a:t>Monitor</a:t>
            </a:r>
            <a:r>
              <a:rPr lang="en-US"/>
              <a:t>: Authorities </a:t>
            </a:r>
            <a:endParaRPr/>
          </a:p>
        </p:txBody>
      </p:sp>
      <p:sp>
        <p:nvSpPr>
          <p:cNvPr id="195" name="Google Shape;195;g38d70efee18_0_176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8d70efee18_0_183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Stakeholder mapping - Attendance</a:t>
            </a:r>
            <a:endParaRPr/>
          </a:p>
        </p:txBody>
      </p:sp>
      <p:sp>
        <p:nvSpPr>
          <p:cNvPr id="202" name="Google Shape;202;g38d70efee18_0_183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3" name="Google Shape;203;g38d70efee18_0_1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775" y="1228750"/>
            <a:ext cx="11231750" cy="404112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8d70efee18_0_19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Tool 03: </a:t>
            </a:r>
            <a:r>
              <a:rPr lang="en-US"/>
              <a:t>Requirements elicitation</a:t>
            </a:r>
            <a:endParaRPr/>
          </a:p>
        </p:txBody>
      </p:sp>
      <p:sp>
        <p:nvSpPr>
          <p:cNvPr id="210" name="Google Shape;210;g38d70efee18_0_191"/>
          <p:cNvSpPr txBox="1"/>
          <p:nvPr>
            <p:ph idx="12" type="sldNum"/>
          </p:nvPr>
        </p:nvSpPr>
        <p:spPr>
          <a:xfrm>
            <a:off x="10816246" y="6502200"/>
            <a:ext cx="1358700" cy="355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" name="Google Shape;211;g38d70efee18_0_19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Problem analysis tools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8d70efee18_0_198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requirement elicitation?</a:t>
            </a:r>
            <a:endParaRPr/>
          </a:p>
        </p:txBody>
      </p:sp>
      <p:sp>
        <p:nvSpPr>
          <p:cNvPr id="218" name="Google Shape;218;g38d70efee18_0_198"/>
          <p:cNvSpPr txBox="1"/>
          <p:nvPr>
            <p:ph idx="1" type="body"/>
          </p:nvPr>
        </p:nvSpPr>
        <p:spPr>
          <a:xfrm>
            <a:off x="489225" y="1163700"/>
            <a:ext cx="10464300" cy="45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</a:rPr>
              <a:t>G</a:t>
            </a:r>
            <a:r>
              <a:rPr b="1" lang="en-US">
                <a:solidFill>
                  <a:srgbClr val="0000FF"/>
                </a:solidFill>
              </a:rPr>
              <a:t>athering </a:t>
            </a:r>
            <a:r>
              <a:rPr lang="en-US"/>
              <a:t>and </a:t>
            </a:r>
            <a:r>
              <a:rPr b="1" lang="en-US">
                <a:solidFill>
                  <a:srgbClr val="0000FF"/>
                </a:solidFill>
              </a:rPr>
              <a:t>understanding </a:t>
            </a:r>
            <a:r>
              <a:rPr lang="en-US"/>
              <a:t>what users and stakeholders need from a system or product</a:t>
            </a:r>
            <a:endParaRPr/>
          </a:p>
        </p:txBody>
      </p:sp>
      <p:sp>
        <p:nvSpPr>
          <p:cNvPr id="219" name="Google Shape;219;g38d70efee18_0_198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8d70efee18_0_212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Types of requirements</a:t>
            </a:r>
            <a:endParaRPr/>
          </a:p>
        </p:txBody>
      </p:sp>
      <p:sp>
        <p:nvSpPr>
          <p:cNvPr id="226" name="Google Shape;226;g38d70efee18_0_212"/>
          <p:cNvSpPr txBox="1"/>
          <p:nvPr>
            <p:ph idx="1" type="body"/>
          </p:nvPr>
        </p:nvSpPr>
        <p:spPr>
          <a:xfrm>
            <a:off x="665400" y="1163700"/>
            <a:ext cx="10288200" cy="45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76250" lvl="0" marL="457200" rtl="0" algn="l">
              <a:spcBef>
                <a:spcPts val="600"/>
              </a:spcBef>
              <a:spcAft>
                <a:spcPts val="0"/>
              </a:spcAft>
              <a:buSzPts val="3900"/>
              <a:buAutoNum type="arabicPeriod"/>
            </a:pPr>
            <a:r>
              <a:rPr lang="en-US"/>
              <a:t>Functional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AutoNum type="arabicPeriod"/>
            </a:pPr>
            <a:r>
              <a:rPr lang="en-US"/>
              <a:t>Non-functional</a:t>
            </a:r>
            <a:endParaRPr/>
          </a:p>
        </p:txBody>
      </p:sp>
      <p:sp>
        <p:nvSpPr>
          <p:cNvPr id="227" name="Google Shape;227;g38d70efee18_0_212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8d70efee18_0_205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Common techniques</a:t>
            </a:r>
            <a:endParaRPr/>
          </a:p>
        </p:txBody>
      </p:sp>
      <p:sp>
        <p:nvSpPr>
          <p:cNvPr id="234" name="Google Shape;234;g38d70efee18_0_205"/>
          <p:cNvSpPr txBox="1"/>
          <p:nvPr>
            <p:ph idx="1" type="body"/>
          </p:nvPr>
        </p:nvSpPr>
        <p:spPr>
          <a:xfrm>
            <a:off x="603300" y="1163700"/>
            <a:ext cx="11223000" cy="4931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7500"/>
          </a:bodyPr>
          <a:lstStyle/>
          <a:p>
            <a:pPr indent="-420528" lvl="0" marL="457200" rtl="0" algn="l">
              <a:spcBef>
                <a:spcPts val="60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-US"/>
              <a:t>Interviews:</a:t>
            </a:r>
            <a:r>
              <a:rPr lang="en-US"/>
              <a:t> talking directly with users or stakeholders</a:t>
            </a:r>
            <a:endParaRPr/>
          </a:p>
          <a:p>
            <a:pPr indent="-42052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-US"/>
              <a:t>Surveys / Questionnaires:</a:t>
            </a:r>
            <a:r>
              <a:rPr lang="en-US"/>
              <a:t> collecting opinions or needs </a:t>
            </a:r>
            <a:endParaRPr/>
          </a:p>
          <a:p>
            <a:pPr indent="-42052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-US"/>
              <a:t>Observation: </a:t>
            </a:r>
            <a:r>
              <a:rPr lang="en-US"/>
              <a:t>watching users do their work to understand real-world challenges</a:t>
            </a:r>
            <a:endParaRPr/>
          </a:p>
          <a:p>
            <a:pPr indent="-42052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-US"/>
              <a:t>Workshops / Brainstorming:</a:t>
            </a:r>
            <a:r>
              <a:rPr lang="en-US"/>
              <a:t> gathering ideas in group sessions</a:t>
            </a:r>
            <a:endParaRPr/>
          </a:p>
          <a:p>
            <a:pPr indent="-42052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-US"/>
              <a:t>Use cases / User stories:</a:t>
            </a:r>
            <a:r>
              <a:rPr lang="en-US"/>
              <a:t> describing how the system will be used</a:t>
            </a:r>
            <a:endParaRPr/>
          </a:p>
          <a:p>
            <a:pPr indent="-42052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-US"/>
              <a:t>Document analysis:</a:t>
            </a:r>
            <a:r>
              <a:rPr lang="en-US"/>
              <a:t> reviewing existing systems / reports / manuals</a:t>
            </a:r>
            <a:endParaRPr/>
          </a:p>
          <a:p>
            <a:pPr indent="-42052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-US"/>
              <a:t>Prototyping</a:t>
            </a:r>
            <a:r>
              <a:rPr lang="en-US"/>
              <a:t>: showing mockups or early versions to get feedback</a:t>
            </a:r>
            <a:endParaRPr/>
          </a:p>
        </p:txBody>
      </p:sp>
      <p:sp>
        <p:nvSpPr>
          <p:cNvPr id="235" name="Google Shape;235;g38d70efee18_0_205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8d70efee18_0_219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Tool 04: </a:t>
            </a:r>
            <a:r>
              <a:rPr lang="en-US"/>
              <a:t>Constraint specification</a:t>
            </a:r>
            <a:endParaRPr/>
          </a:p>
        </p:txBody>
      </p:sp>
      <p:sp>
        <p:nvSpPr>
          <p:cNvPr id="242" name="Google Shape;242;g38d70efee18_0_219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Problem analysis tools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8d70efee18_0_219"/>
          <p:cNvSpPr txBox="1"/>
          <p:nvPr>
            <p:ph idx="12" type="sldNum"/>
          </p:nvPr>
        </p:nvSpPr>
        <p:spPr>
          <a:xfrm>
            <a:off x="10816246" y="6502200"/>
            <a:ext cx="1358700" cy="355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8d70efee18_0_309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constraint specification?</a:t>
            </a:r>
            <a:endParaRPr/>
          </a:p>
        </p:txBody>
      </p:sp>
      <p:sp>
        <p:nvSpPr>
          <p:cNvPr id="250" name="Google Shape;250;g38d70efee18_0_309"/>
          <p:cNvSpPr txBox="1"/>
          <p:nvPr>
            <p:ph idx="1" type="body"/>
          </p:nvPr>
        </p:nvSpPr>
        <p:spPr>
          <a:xfrm>
            <a:off x="489225" y="1163700"/>
            <a:ext cx="10464300" cy="45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Limitations or restrictions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8d70efee18_0_309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8d70efee18_0_226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types of constraints</a:t>
            </a:r>
            <a:endParaRPr/>
          </a:p>
        </p:txBody>
      </p:sp>
      <p:sp>
        <p:nvSpPr>
          <p:cNvPr id="258" name="Google Shape;258;g38d70efee18_0_226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9" name="Google Shape;259;g38d70efee18_0_2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550" y="1184400"/>
            <a:ext cx="10516600" cy="43960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8d70efee18_0_248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Tool 05.1: Use case</a:t>
            </a:r>
            <a:endParaRPr/>
          </a:p>
        </p:txBody>
      </p:sp>
      <p:sp>
        <p:nvSpPr>
          <p:cNvPr id="266" name="Google Shape;266;g38d70efee18_0_248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Problem analysis tools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8d70efee18_0_248"/>
          <p:cNvSpPr txBox="1"/>
          <p:nvPr>
            <p:ph idx="12" type="sldNum"/>
          </p:nvPr>
        </p:nvSpPr>
        <p:spPr>
          <a:xfrm>
            <a:off x="10816246" y="6502200"/>
            <a:ext cx="1358700" cy="355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8d70efee18_0_255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a use case?</a:t>
            </a:r>
            <a:endParaRPr/>
          </a:p>
        </p:txBody>
      </p:sp>
      <p:sp>
        <p:nvSpPr>
          <p:cNvPr id="274" name="Google Shape;274;g38d70efee18_0_255"/>
          <p:cNvSpPr txBox="1"/>
          <p:nvPr>
            <p:ph idx="1" type="body"/>
          </p:nvPr>
        </p:nvSpPr>
        <p:spPr>
          <a:xfrm>
            <a:off x="489225" y="1163700"/>
            <a:ext cx="10464300" cy="45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H</a:t>
            </a:r>
            <a:r>
              <a:rPr lang="en-US"/>
              <a:t>ow a user interacts with a system to achieve a particular goal</a:t>
            </a:r>
            <a:endParaRPr/>
          </a:p>
        </p:txBody>
      </p:sp>
      <p:sp>
        <p:nvSpPr>
          <p:cNvPr id="275" name="Google Shape;275;g38d70efee18_0_255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8d70efee18_0_270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Components of a use case</a:t>
            </a:r>
            <a:endParaRPr/>
          </a:p>
        </p:txBody>
      </p:sp>
      <p:sp>
        <p:nvSpPr>
          <p:cNvPr id="282" name="Google Shape;282;g38d70efee18_0_270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3" name="Google Shape;283;g38d70efee18_0_2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025" y="1193275"/>
            <a:ext cx="10463649" cy="41742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8d70efee18_0_263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- Attendance System</a:t>
            </a:r>
            <a:endParaRPr/>
          </a:p>
        </p:txBody>
      </p:sp>
      <p:sp>
        <p:nvSpPr>
          <p:cNvPr id="290" name="Google Shape;290;g38d70efee18_0_263"/>
          <p:cNvSpPr txBox="1"/>
          <p:nvPr>
            <p:ph idx="1" type="body"/>
          </p:nvPr>
        </p:nvSpPr>
        <p:spPr>
          <a:xfrm>
            <a:off x="489225" y="1163700"/>
            <a:ext cx="11445600" cy="4869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Use Case: “Take attendance”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/>
              <a:t>Actor</a:t>
            </a:r>
            <a:r>
              <a:rPr lang="en-US"/>
              <a:t>: Teacher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/>
              <a:t>Goal</a:t>
            </a:r>
            <a:r>
              <a:rPr lang="en-US"/>
              <a:t>: Record the presence of students during class.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/>
              <a:t>Precondition</a:t>
            </a:r>
            <a:r>
              <a:rPr lang="en-US"/>
              <a:t>: The teacher has logged into the system.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/>
              <a:t>Main flow</a:t>
            </a:r>
            <a:r>
              <a:rPr lang="en-US"/>
              <a:t>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r>
              <a:rPr lang="en-US"/>
              <a:t>The teacher selects a class.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- The system displays a list of students.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- The teacher marks each student as present or absent.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- The system saves the attendance record.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/>
              <a:t>Postcondition</a:t>
            </a:r>
            <a:r>
              <a:rPr lang="en-US"/>
              <a:t>: The attendance list is successfully saved.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/>
              <a:t>Alternative flow</a:t>
            </a:r>
            <a:r>
              <a:rPr lang="en-US"/>
              <a:t>: If the network fails → The system displays “Unable to save, please try again.”</a:t>
            </a:r>
            <a:endParaRPr/>
          </a:p>
        </p:txBody>
      </p:sp>
      <p:sp>
        <p:nvSpPr>
          <p:cNvPr id="291" name="Google Shape;291;g38d70efee18_0_263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8d70efee18_0_278"/>
          <p:cNvSpPr txBox="1"/>
          <p:nvPr>
            <p:ph type="title"/>
          </p:nvPr>
        </p:nvSpPr>
        <p:spPr>
          <a:xfrm>
            <a:off x="328925" y="66900"/>
            <a:ext cx="91029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- Learning Path Recommendation System</a:t>
            </a:r>
            <a:endParaRPr/>
          </a:p>
        </p:txBody>
      </p:sp>
      <p:sp>
        <p:nvSpPr>
          <p:cNvPr id="298" name="Google Shape;298;g38d70efee18_0_278"/>
          <p:cNvSpPr txBox="1"/>
          <p:nvPr>
            <p:ph idx="1" type="body"/>
          </p:nvPr>
        </p:nvSpPr>
        <p:spPr>
          <a:xfrm>
            <a:off x="489225" y="1163700"/>
            <a:ext cx="10464300" cy="45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Use Case: “View suggested learning path”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/>
              <a:t>Actor</a:t>
            </a:r>
            <a:r>
              <a:rPr lang="en-US"/>
              <a:t>: Student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/>
              <a:t>Goal</a:t>
            </a:r>
            <a:r>
              <a:rPr lang="en-US"/>
              <a:t>: View learning courses that match the student’s current ability.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/>
              <a:t>Precondition</a:t>
            </a:r>
            <a:r>
              <a:rPr lang="en-US"/>
              <a:t>: The student has entered their grades or learning results.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/>
              <a:t>Main flow</a:t>
            </a:r>
            <a:r>
              <a:rPr lang="en-US"/>
              <a:t>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r>
              <a:rPr lang="en-US"/>
              <a:t>The student logs in.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- The student selects “View learning path.”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- The system analyzes the student’s ability and shows recommended paths.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- Postcondition: The suggested learning path is displayed.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/>
              <a:t>Alternative flow</a:t>
            </a:r>
            <a:r>
              <a:rPr lang="en-US"/>
              <a:t>: If no grade data exists → The system prompts the student to enter their grades first.</a:t>
            </a:r>
            <a:endParaRPr/>
          </a:p>
        </p:txBody>
      </p:sp>
      <p:sp>
        <p:nvSpPr>
          <p:cNvPr id="299" name="Google Shape;299;g38d70efee18_0_278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8d70efee18_0_14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Tool 05.2: Epic &amp; User story</a:t>
            </a:r>
            <a:endParaRPr/>
          </a:p>
        </p:txBody>
      </p:sp>
      <p:sp>
        <p:nvSpPr>
          <p:cNvPr id="306" name="Google Shape;306;g38d70efee18_0_14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Problem analysis tools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8d70efee18_0_14"/>
          <p:cNvSpPr txBox="1"/>
          <p:nvPr>
            <p:ph idx="12" type="sldNum"/>
          </p:nvPr>
        </p:nvSpPr>
        <p:spPr>
          <a:xfrm>
            <a:off x="10816246" y="6502200"/>
            <a:ext cx="1358700" cy="355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8d70efee18_0_234"/>
          <p:cNvSpPr txBox="1"/>
          <p:nvPr>
            <p:ph idx="1" type="body"/>
          </p:nvPr>
        </p:nvSpPr>
        <p:spPr>
          <a:xfrm>
            <a:off x="489225" y="1163700"/>
            <a:ext cx="10464300" cy="45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“Who are the users?” (</a:t>
            </a:r>
            <a:r>
              <a:rPr lang="en-US">
                <a:solidFill>
                  <a:srgbClr val="0000FF"/>
                </a:solidFill>
              </a:rPr>
              <a:t>stakeholder</a:t>
            </a:r>
            <a:r>
              <a:rPr lang="en-US"/>
              <a:t>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“What problem are they having?” (context)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“What is the success criteria?” (</a:t>
            </a:r>
            <a:r>
              <a:rPr lang="en-US">
                <a:solidFill>
                  <a:srgbClr val="FF00FF"/>
                </a:solidFill>
              </a:rPr>
              <a:t>evaluation criteria</a:t>
            </a:r>
            <a:r>
              <a:rPr lang="en-US"/>
              <a:t>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“What are the </a:t>
            </a:r>
            <a:r>
              <a:rPr lang="en-US">
                <a:solidFill>
                  <a:srgbClr val="FF0000"/>
                </a:solidFill>
              </a:rPr>
              <a:t>constraints</a:t>
            </a:r>
            <a:r>
              <a:rPr lang="en-US"/>
              <a:t>?”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Epic example: </a:t>
            </a:r>
            <a:r>
              <a:rPr b="1" lang="en-US">
                <a:solidFill>
                  <a:srgbClr val="000000"/>
                </a:solidFill>
              </a:rPr>
              <a:t>“</a:t>
            </a:r>
            <a:r>
              <a:rPr lang="en-US"/>
              <a:t>As a </a:t>
            </a:r>
            <a:r>
              <a:rPr lang="en-US">
                <a:solidFill>
                  <a:srgbClr val="0000FF"/>
                </a:solidFill>
              </a:rPr>
              <a:t>student</a:t>
            </a:r>
            <a:r>
              <a:rPr lang="en-US"/>
              <a:t>, I want the system to suggest a </a:t>
            </a:r>
            <a:r>
              <a:rPr lang="en-US">
                <a:solidFill>
                  <a:srgbClr val="FF0000"/>
                </a:solidFill>
              </a:rPr>
              <a:t>suitable </a:t>
            </a:r>
            <a:r>
              <a:rPr lang="en-US"/>
              <a:t>learning path so that I can </a:t>
            </a:r>
            <a:r>
              <a:rPr b="1" lang="en-US">
                <a:solidFill>
                  <a:srgbClr val="FF00FF"/>
                </a:solidFill>
              </a:rPr>
              <a:t>study more effectively</a:t>
            </a:r>
            <a:r>
              <a:rPr b="1" lang="en-US">
                <a:solidFill>
                  <a:srgbClr val="000000"/>
                </a:solidFill>
              </a:rPr>
              <a:t>”</a:t>
            </a:r>
            <a:endParaRPr b="1">
              <a:solidFill>
                <a:srgbClr val="000000"/>
              </a:solidFill>
            </a:endParaRPr>
          </a:p>
        </p:txBody>
      </p:sp>
      <p:sp>
        <p:nvSpPr>
          <p:cNvPr id="314" name="Google Shape;314;g38d70efee18_0_234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epic?</a:t>
            </a:r>
            <a:endParaRPr/>
          </a:p>
        </p:txBody>
      </p:sp>
      <p:sp>
        <p:nvSpPr>
          <p:cNvPr id="315" name="Google Shape;315;g38d70efee18_0_234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8d70efee18_0_241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User story: more detailed epic</a:t>
            </a:r>
            <a:endParaRPr/>
          </a:p>
        </p:txBody>
      </p:sp>
      <p:sp>
        <p:nvSpPr>
          <p:cNvPr id="322" name="Google Shape;322;g38d70efee18_0_241"/>
          <p:cNvSpPr txBox="1"/>
          <p:nvPr>
            <p:ph idx="1" type="body"/>
          </p:nvPr>
        </p:nvSpPr>
        <p:spPr>
          <a:xfrm>
            <a:off x="489225" y="1163700"/>
            <a:ext cx="10464300" cy="45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User Story 1: “As a student, I want to enter my grades so that the system can understand my current ability.”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User Story 2: “As a student, I want to view a learning progress chart so that I can see where I currently stand.”</a:t>
            </a:r>
            <a:endParaRPr/>
          </a:p>
        </p:txBody>
      </p:sp>
      <p:sp>
        <p:nvSpPr>
          <p:cNvPr id="323" name="Google Shape;323;g38d70efee18_0_241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8d70efee18_0_285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Tool 06: Formalization</a:t>
            </a:r>
            <a:endParaRPr/>
          </a:p>
        </p:txBody>
      </p:sp>
      <p:sp>
        <p:nvSpPr>
          <p:cNvPr id="330" name="Google Shape;330;g38d70efee18_0_285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Problem analysis tools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8d70efee18_0_285"/>
          <p:cNvSpPr txBox="1"/>
          <p:nvPr>
            <p:ph idx="12" type="sldNum"/>
          </p:nvPr>
        </p:nvSpPr>
        <p:spPr>
          <a:xfrm>
            <a:off x="10816246" y="6502200"/>
            <a:ext cx="1358700" cy="355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8d70efee18_0_292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Traveling Salesman Problem</a:t>
            </a:r>
            <a:endParaRPr/>
          </a:p>
        </p:txBody>
      </p:sp>
      <p:sp>
        <p:nvSpPr>
          <p:cNvPr id="338" name="Google Shape;338;g38d70efee18_0_292"/>
          <p:cNvSpPr txBox="1"/>
          <p:nvPr>
            <p:ph idx="1" type="body"/>
          </p:nvPr>
        </p:nvSpPr>
        <p:spPr>
          <a:xfrm>
            <a:off x="489225" y="1163700"/>
            <a:ext cx="10464300" cy="45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“I want to find the shortest way for a delivery driver to visit all destinations and return to the starting point.”</a:t>
            </a:r>
            <a:endParaRPr/>
          </a:p>
          <a:p>
            <a:pPr indent="-457676" lvl="0" marL="457200" rtl="0" algn="l">
              <a:spcBef>
                <a:spcPts val="600"/>
              </a:spcBef>
              <a:spcAft>
                <a:spcPts val="0"/>
              </a:spcAft>
              <a:buSzPct val="100000"/>
              <a:buChar char="o"/>
            </a:pPr>
            <a:r>
              <a:rPr lang="en-US"/>
              <a:t>Key elements</a:t>
            </a:r>
            <a:endParaRPr/>
          </a:p>
          <a:p>
            <a:pPr indent="-43418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Locations = nodes (A, B, C, D, …)</a:t>
            </a:r>
            <a:endParaRPr/>
          </a:p>
          <a:p>
            <a:pPr indent="-43418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Roads between them = edges</a:t>
            </a:r>
            <a:endParaRPr/>
          </a:p>
          <a:p>
            <a:pPr indent="-43418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Distance/time = weight on each edge</a:t>
            </a:r>
            <a:endParaRPr/>
          </a:p>
          <a:p>
            <a:pPr indent="-45767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o"/>
            </a:pPr>
            <a:r>
              <a:rPr lang="en-US"/>
              <a:t>Model this as a graph:</a:t>
            </a:r>
            <a:endParaRPr/>
          </a:p>
          <a:p>
            <a:pPr indent="-43418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G = (V, E)</a:t>
            </a:r>
            <a:endParaRPr/>
          </a:p>
          <a:p>
            <a:pPr indent="-43418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V: set of vertices (locations)</a:t>
            </a:r>
            <a:endParaRPr/>
          </a:p>
          <a:p>
            <a:pPr indent="-43418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E: set of edges (roads), each with a weight w(e) distance</a:t>
            </a:r>
            <a:endParaRPr/>
          </a:p>
        </p:txBody>
      </p:sp>
      <p:sp>
        <p:nvSpPr>
          <p:cNvPr id="339" name="Google Shape;339;g38d70efee18_0_292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8d70efee18_0_299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Sorting problem</a:t>
            </a:r>
            <a:endParaRPr/>
          </a:p>
        </p:txBody>
      </p:sp>
      <p:sp>
        <p:nvSpPr>
          <p:cNvPr id="346" name="Google Shape;346;g38d70efee18_0_299"/>
          <p:cNvSpPr txBox="1"/>
          <p:nvPr>
            <p:ph idx="1" type="body"/>
          </p:nvPr>
        </p:nvSpPr>
        <p:spPr>
          <a:xfrm>
            <a:off x="489225" y="1163700"/>
            <a:ext cx="10464300" cy="45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“Sort these student names alphabetically”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Given a list L = [n</a:t>
            </a:r>
            <a:r>
              <a:rPr baseline="-25000" lang="en-US"/>
              <a:t>1</a:t>
            </a:r>
            <a:r>
              <a:rPr lang="en-US"/>
              <a:t>, n</a:t>
            </a:r>
            <a:r>
              <a:rPr baseline="-25000" lang="en-US"/>
              <a:t>2</a:t>
            </a:r>
            <a:r>
              <a:rPr lang="en-US"/>
              <a:t>,..., n</a:t>
            </a:r>
            <a:r>
              <a:rPr baseline="-25000" lang="en-US"/>
              <a:t>k</a:t>
            </a:r>
            <a:r>
              <a:rPr lang="en-US"/>
              <a:t>]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Reorder it such that n</a:t>
            </a:r>
            <a:r>
              <a:rPr baseline="-25000" lang="en-US"/>
              <a:t>i</a:t>
            </a:r>
            <a:r>
              <a:rPr lang="en-US"/>
              <a:t> &lt;= n</a:t>
            </a:r>
            <a:r>
              <a:rPr baseline="-25000" lang="en-US"/>
              <a:t>i+1</a:t>
            </a:r>
            <a:r>
              <a:rPr lang="en-US"/>
              <a:t> for all i</a:t>
            </a:r>
            <a:endParaRPr/>
          </a:p>
        </p:txBody>
      </p:sp>
      <p:sp>
        <p:nvSpPr>
          <p:cNvPr id="347" name="Google Shape;347;g38d70efee18_0_299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8d70efee18_0_42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Ill-defined to well-defined continuum</a:t>
            </a:r>
            <a:endParaRPr/>
          </a:p>
        </p:txBody>
      </p:sp>
      <p:sp>
        <p:nvSpPr>
          <p:cNvPr id="354" name="Google Shape;354;g38d70efee18_0_42"/>
          <p:cNvSpPr txBox="1"/>
          <p:nvPr>
            <p:ph idx="12" type="sldNum"/>
          </p:nvPr>
        </p:nvSpPr>
        <p:spPr>
          <a:xfrm>
            <a:off x="10816246" y="6502200"/>
            <a:ext cx="1358700" cy="355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8d70efee18_0_7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Well-defined (Highest to lowest)</a:t>
            </a:r>
            <a:endParaRPr/>
          </a:p>
        </p:txBody>
      </p:sp>
      <p:sp>
        <p:nvSpPr>
          <p:cNvPr id="361" name="Google Shape;361;g38d70efee18_0_7"/>
          <p:cNvSpPr txBox="1"/>
          <p:nvPr>
            <p:ph idx="1" type="body"/>
          </p:nvPr>
        </p:nvSpPr>
        <p:spPr>
          <a:xfrm>
            <a:off x="489225" y="1163700"/>
            <a:ext cx="10464300" cy="4665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0000"/>
          </a:bodyPr>
          <a:lstStyle/>
          <a:p>
            <a:pPr indent="-401955" lvl="0" marL="457200" rtl="0" algn="l">
              <a:spcBef>
                <a:spcPts val="60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-US"/>
              <a:t>O</a:t>
            </a:r>
            <a:r>
              <a:rPr b="1" lang="en-US"/>
              <a:t>ne single solution</a:t>
            </a:r>
            <a:endParaRPr b="1"/>
          </a:p>
          <a:p>
            <a:pPr indent="-4019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-US"/>
              <a:t>One strategy, multiple implementations</a:t>
            </a:r>
            <a:r>
              <a:rPr lang="en-US"/>
              <a:t>: The idea and approach are clear, but there are several possible concrete implementations.</a:t>
            </a:r>
            <a:endParaRPr/>
          </a:p>
          <a:p>
            <a:pPr indent="-4019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-US"/>
              <a:t>Several typical strategies, each with multiple implementations</a:t>
            </a:r>
            <a:r>
              <a:rPr lang="en-US"/>
              <a:t>: Still within the well-defined category, but with a slight degree of diversity</a:t>
            </a:r>
            <a:endParaRPr/>
          </a:p>
          <a:p>
            <a:pPr indent="-4019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-US"/>
              <a:t>Multiple open-ended strategies that can still be automatically verified as correct/incorrect</a:t>
            </a:r>
            <a:r>
              <a:rPr lang="en-US"/>
              <a:t>: The solutions can be very diverse, yet can still be evaluated based on clear criteria.</a:t>
            </a:r>
            <a:endParaRPr/>
          </a:p>
          <a:p>
            <a:pPr indent="-4019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-US"/>
              <a:t>Cannot automatically verify the correctness</a:t>
            </a:r>
            <a:r>
              <a:rPr lang="en-US"/>
              <a:t> of the solution: Highly ill-defined, requiring subjective evaluation and lacking clear criteria</a:t>
            </a:r>
            <a:endParaRPr/>
          </a:p>
        </p:txBody>
      </p:sp>
      <p:sp>
        <p:nvSpPr>
          <p:cNvPr id="362" name="Google Shape;362;g38d70efee18_0_7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9fb7118ddd_0_0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369" name="Google Shape;369;g39fb7118ddd_0_0"/>
          <p:cNvSpPr txBox="1"/>
          <p:nvPr>
            <p:ph idx="1" type="body"/>
          </p:nvPr>
        </p:nvSpPr>
        <p:spPr>
          <a:xfrm>
            <a:off x="489225" y="1163700"/>
            <a:ext cx="11076000" cy="45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Listen to music:</a:t>
            </a:r>
            <a:endParaRPr/>
          </a:p>
          <a:p>
            <a:pPr indent="-476250" lvl="0" marL="457200" rtl="0" algn="l">
              <a:spcBef>
                <a:spcPts val="600"/>
              </a:spcBef>
              <a:spcAft>
                <a:spcPts val="0"/>
              </a:spcAft>
              <a:buSzPts val="3900"/>
              <a:buChar char="o"/>
            </a:pPr>
            <a:r>
              <a:rPr lang="en-US"/>
              <a:t>Multiple strategies: listen online, CD, Radio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Char char="o"/>
            </a:pPr>
            <a:r>
              <a:rPr lang="en-US"/>
              <a:t>Multiple solutions: multiple website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House to school</a:t>
            </a:r>
            <a:endParaRPr/>
          </a:p>
          <a:p>
            <a:pPr indent="-476250" lvl="0" marL="457200" rtl="0" algn="l">
              <a:spcBef>
                <a:spcPts val="600"/>
              </a:spcBef>
              <a:spcAft>
                <a:spcPts val="0"/>
              </a:spcAft>
              <a:buSzPts val="3900"/>
              <a:buChar char="o"/>
            </a:pPr>
            <a:r>
              <a:rPr lang="en-US"/>
              <a:t>Multiple strategies: by bike, on foot, by car, by bus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Char char="o"/>
            </a:pPr>
            <a:r>
              <a:rPr lang="en-US"/>
              <a:t>Multiple solutions: multiple routes</a:t>
            </a:r>
            <a:endParaRPr/>
          </a:p>
        </p:txBody>
      </p:sp>
      <p:sp>
        <p:nvSpPr>
          <p:cNvPr id="370" name="Google Shape;370;g39fb7118ddd_0_0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a40b2f078e_0_0"/>
          <p:cNvSpPr txBox="1"/>
          <p:nvPr>
            <p:ph type="ctrTitle"/>
          </p:nvPr>
        </p:nvSpPr>
        <p:spPr>
          <a:xfrm>
            <a:off x="1559125" y="193901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Common problems in problem analysis</a:t>
            </a:r>
            <a:endParaRPr/>
          </a:p>
        </p:txBody>
      </p:sp>
      <p:sp>
        <p:nvSpPr>
          <p:cNvPr id="377" name="Google Shape;377;g3a40b2f078e_0_0"/>
          <p:cNvSpPr txBox="1"/>
          <p:nvPr>
            <p:ph idx="12" type="sldNum"/>
          </p:nvPr>
        </p:nvSpPr>
        <p:spPr>
          <a:xfrm>
            <a:off x="10816246" y="6502200"/>
            <a:ext cx="1358700" cy="355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a40b2f078e_0_7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3a40b2f078e_0_7"/>
          <p:cNvSpPr txBox="1"/>
          <p:nvPr>
            <p:ph idx="1" type="body"/>
          </p:nvPr>
        </p:nvSpPr>
        <p:spPr>
          <a:xfrm>
            <a:off x="489225" y="1163700"/>
            <a:ext cx="10464300" cy="45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a40b2f078e_0_7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a40b2f078e_0_14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Misframing the Problem</a:t>
            </a:r>
            <a:endParaRPr/>
          </a:p>
        </p:txBody>
      </p:sp>
      <p:sp>
        <p:nvSpPr>
          <p:cNvPr id="392" name="Google Shape;392;g3a40b2f078e_0_14"/>
          <p:cNvSpPr txBox="1"/>
          <p:nvPr>
            <p:ph idx="1" type="body"/>
          </p:nvPr>
        </p:nvSpPr>
        <p:spPr>
          <a:xfrm>
            <a:off x="489225" y="1163700"/>
            <a:ext cx="10464300" cy="45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420528" lvl="0" marL="457200" rtl="0" algn="l">
              <a:spcBef>
                <a:spcPts val="600"/>
              </a:spcBef>
              <a:spcAft>
                <a:spcPts val="0"/>
              </a:spcAft>
              <a:buSzPct val="100000"/>
              <a:buChar char="o"/>
            </a:pPr>
            <a:r>
              <a:rPr b="1" lang="en-US"/>
              <a:t>Symptoms</a:t>
            </a:r>
            <a:r>
              <a:rPr lang="en-US"/>
              <a:t>:</a:t>
            </a:r>
            <a:endParaRPr/>
          </a:p>
          <a:p>
            <a:pPr indent="-40084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Jumping directly into the solution (UI, app, API) without analyzing the actual computational problem.</a:t>
            </a:r>
            <a:endParaRPr/>
          </a:p>
          <a:p>
            <a:pPr indent="-40084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Describing the product, not the problem.</a:t>
            </a:r>
            <a:endParaRPr/>
          </a:p>
          <a:p>
            <a:pPr indent="-4205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o"/>
            </a:pPr>
            <a:r>
              <a:rPr b="1" lang="en-US"/>
              <a:t>Incorrect example</a:t>
            </a:r>
            <a:r>
              <a:rPr lang="en-US"/>
              <a:t>:</a:t>
            </a:r>
            <a:endParaRPr/>
          </a:p>
          <a:p>
            <a:pPr indent="-40084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“We are building an app to recommend restaurants and optimize travel routes.”</a:t>
            </a:r>
            <a:endParaRPr/>
          </a:p>
          <a:p>
            <a:pPr indent="-40084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➡ This is a product description, not a computational problem.</a:t>
            </a:r>
            <a:endParaRPr/>
          </a:p>
          <a:p>
            <a:pPr indent="-4205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o"/>
            </a:pPr>
            <a:r>
              <a:rPr b="1" lang="en-US"/>
              <a:t>Fix: Rewrite as an actual CT problem</a:t>
            </a:r>
            <a:r>
              <a:rPr lang="en-US"/>
              <a:t>:</a:t>
            </a:r>
            <a:endParaRPr/>
          </a:p>
          <a:p>
            <a:pPr indent="-40084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“How do we rank N restaurants based on a user’s feature vector?”</a:t>
            </a:r>
            <a:endParaRPr/>
          </a:p>
          <a:p>
            <a:pPr indent="-40084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“How do we find an ordering of points that minimizes total travel distance?”</a:t>
            </a:r>
            <a:endParaRPr/>
          </a:p>
        </p:txBody>
      </p:sp>
      <p:sp>
        <p:nvSpPr>
          <p:cNvPr id="393" name="Google Shape;393;g3a40b2f078e_0_14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a40b2f078e_0_21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Poor Decomposition</a:t>
            </a:r>
            <a:endParaRPr/>
          </a:p>
        </p:txBody>
      </p:sp>
      <p:sp>
        <p:nvSpPr>
          <p:cNvPr id="400" name="Google Shape;400;g3a40b2f078e_0_21"/>
          <p:cNvSpPr txBox="1"/>
          <p:nvPr>
            <p:ph idx="1" type="body"/>
          </p:nvPr>
        </p:nvSpPr>
        <p:spPr>
          <a:xfrm>
            <a:off x="489225" y="1163700"/>
            <a:ext cx="10464300" cy="45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401955" lvl="0" marL="457200" rtl="0" algn="l">
              <a:spcBef>
                <a:spcPts val="600"/>
              </a:spcBef>
              <a:spcAft>
                <a:spcPts val="0"/>
              </a:spcAft>
              <a:buSzPct val="100000"/>
              <a:buChar char="o"/>
            </a:pPr>
            <a:r>
              <a:rPr b="1" lang="en-US"/>
              <a:t>Symptoms</a:t>
            </a:r>
            <a:r>
              <a:rPr lang="en-US"/>
              <a:t>:</a:t>
            </a:r>
            <a:endParaRPr/>
          </a:p>
          <a:p>
            <a:pPr indent="-38417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Breaking the system by UI features rather than computational steps.</a:t>
            </a:r>
            <a:endParaRPr/>
          </a:p>
          <a:p>
            <a:pPr indent="-38417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Mixing recommendation + routing + UX into one big blob.</a:t>
            </a:r>
            <a:endParaRPr/>
          </a:p>
          <a:p>
            <a:pPr indent="-38417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Producing a long list of FR without logical grouping.</a:t>
            </a:r>
            <a:endParaRPr/>
          </a:p>
          <a:p>
            <a:pPr indent="-4019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o"/>
            </a:pPr>
            <a:r>
              <a:rPr b="1" lang="en-US"/>
              <a:t>Incorrect example:</a:t>
            </a:r>
            <a:endParaRPr b="1"/>
          </a:p>
          <a:p>
            <a:pPr indent="-38417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FR1: Find restaurants</a:t>
            </a:r>
            <a:endParaRPr/>
          </a:p>
          <a:p>
            <a:pPr indent="-38417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FR2: View map</a:t>
            </a:r>
            <a:endParaRPr/>
          </a:p>
          <a:p>
            <a:pPr indent="-38417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FR3: Find by budget</a:t>
            </a:r>
            <a:endParaRPr/>
          </a:p>
          <a:p>
            <a:pPr indent="-38417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… ➡ This is feature listing, not CT decomposition.</a:t>
            </a:r>
            <a:endParaRPr/>
          </a:p>
          <a:p>
            <a:pPr indent="-4019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o"/>
            </a:pPr>
            <a:r>
              <a:rPr b="1" lang="en-US"/>
              <a:t>Fix: Decompose by computational nature:</a:t>
            </a:r>
            <a:endParaRPr b="1"/>
          </a:p>
          <a:p>
            <a:pPr indent="-38417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Module 1: Input representation</a:t>
            </a:r>
            <a:endParaRPr/>
          </a:p>
          <a:p>
            <a:pPr indent="-38417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Module 2: Recommendation (ranking/scoring)</a:t>
            </a:r>
            <a:endParaRPr/>
          </a:p>
          <a:p>
            <a:pPr indent="-38417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Module 3: Route optimization (TSP-light)</a:t>
            </a:r>
            <a:endParaRPr/>
          </a:p>
          <a:p>
            <a:pPr indent="-38417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Module 4: Data transformation &amp; filtering</a:t>
            </a:r>
            <a:endParaRPr/>
          </a:p>
        </p:txBody>
      </p:sp>
      <p:sp>
        <p:nvSpPr>
          <p:cNvPr id="401" name="Google Shape;401;g3a40b2f078e_0_21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a40b2f078e_0_28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Lack of Data Normalization</a:t>
            </a:r>
            <a:endParaRPr/>
          </a:p>
        </p:txBody>
      </p:sp>
      <p:sp>
        <p:nvSpPr>
          <p:cNvPr id="408" name="Google Shape;408;g3a40b2f078e_0_28"/>
          <p:cNvSpPr txBox="1"/>
          <p:nvPr>
            <p:ph idx="1" type="body"/>
          </p:nvPr>
        </p:nvSpPr>
        <p:spPr>
          <a:xfrm>
            <a:off x="489225" y="1163700"/>
            <a:ext cx="10464300" cy="45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76250" lvl="0" marL="457200" rtl="0" algn="l">
              <a:spcBef>
                <a:spcPts val="600"/>
              </a:spcBef>
              <a:spcAft>
                <a:spcPts val="0"/>
              </a:spcAft>
              <a:buSzPts val="3900"/>
              <a:buChar char="o"/>
            </a:pPr>
            <a:r>
              <a:rPr b="1" lang="en-US"/>
              <a:t>Symptoms</a:t>
            </a:r>
            <a:r>
              <a:rPr lang="en-US"/>
              <a:t>: Using raw rating (1–5), price (20k–1M), distance (0–10km) directly in formulas.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Char char="o"/>
            </a:pPr>
            <a:r>
              <a:rPr b="1" lang="en-US"/>
              <a:t>Result</a:t>
            </a:r>
            <a:r>
              <a:rPr lang="en-US"/>
              <a:t>: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US"/>
              <a:t>One feature (e.g., price) dominates all others → wrong results.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Char char="o"/>
            </a:pPr>
            <a:r>
              <a:rPr b="1" lang="en-US"/>
              <a:t>Fix</a:t>
            </a:r>
            <a:r>
              <a:rPr lang="en-US"/>
              <a:t>: Normalize all features to [0,1].</a:t>
            </a:r>
            <a:endParaRPr/>
          </a:p>
        </p:txBody>
      </p:sp>
      <p:sp>
        <p:nvSpPr>
          <p:cNvPr id="409" name="Google Shape;409;g3a40b2f078e_0_28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a40b2f078e_0_35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4. Data–Need Mismatch</a:t>
            </a:r>
            <a:endParaRPr/>
          </a:p>
        </p:txBody>
      </p:sp>
      <p:sp>
        <p:nvSpPr>
          <p:cNvPr id="416" name="Google Shape;416;g3a40b2f078e_0_35"/>
          <p:cNvSpPr txBox="1"/>
          <p:nvPr>
            <p:ph idx="1" type="body"/>
          </p:nvPr>
        </p:nvSpPr>
        <p:spPr>
          <a:xfrm>
            <a:off x="489225" y="1163700"/>
            <a:ext cx="10464300" cy="45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7500" lnSpcReduction="10000"/>
          </a:bodyPr>
          <a:lstStyle/>
          <a:p>
            <a:pPr indent="-420528" lvl="0" marL="457200" rtl="0" algn="l">
              <a:spcBef>
                <a:spcPts val="600"/>
              </a:spcBef>
              <a:spcAft>
                <a:spcPts val="0"/>
              </a:spcAft>
              <a:buSzPct val="100000"/>
              <a:buChar char="o"/>
            </a:pPr>
            <a:r>
              <a:rPr b="1" lang="en-US"/>
              <a:t>Symptoms</a:t>
            </a:r>
            <a:r>
              <a:rPr lang="en-US"/>
              <a:t>:</a:t>
            </a:r>
            <a:endParaRPr/>
          </a:p>
          <a:p>
            <a:pPr indent="-40084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The problem requires feature vector X, but the dataset only contains Y.</a:t>
            </a:r>
            <a:endParaRPr/>
          </a:p>
          <a:p>
            <a:pPr indent="-40084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Want “tourist trap detection” without local/foreign review data.</a:t>
            </a:r>
            <a:endParaRPr/>
          </a:p>
          <a:p>
            <a:pPr indent="-40084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Want travel time without traffic information.</a:t>
            </a:r>
            <a:endParaRPr/>
          </a:p>
          <a:p>
            <a:pPr indent="-4205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o"/>
            </a:pPr>
            <a:r>
              <a:rPr b="1" lang="en-US"/>
              <a:t>Result</a:t>
            </a:r>
            <a:r>
              <a:rPr lang="en-US"/>
              <a:t>:</a:t>
            </a:r>
            <a:endParaRPr/>
          </a:p>
          <a:p>
            <a:pPr indent="-40084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Wrong representation → wrong algorithm.</a:t>
            </a:r>
            <a:endParaRPr/>
          </a:p>
          <a:p>
            <a:pPr indent="-4205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o"/>
            </a:pPr>
            <a:r>
              <a:rPr b="1" lang="en-US"/>
              <a:t>Fix</a:t>
            </a:r>
            <a:r>
              <a:rPr lang="en-US"/>
              <a:t>: In Problem Analysis, list:</a:t>
            </a:r>
            <a:endParaRPr/>
          </a:p>
          <a:p>
            <a:pPr indent="-40084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Required data</a:t>
            </a:r>
            <a:endParaRPr/>
          </a:p>
          <a:p>
            <a:pPr indent="-40084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Available data</a:t>
            </a:r>
            <a:endParaRPr/>
          </a:p>
          <a:p>
            <a:pPr indent="-40084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Missing data → workaround (simulate / API / assumptions)</a:t>
            </a:r>
            <a:endParaRPr/>
          </a:p>
        </p:txBody>
      </p:sp>
      <p:sp>
        <p:nvSpPr>
          <p:cNvPr id="417" name="Google Shape;417;g3a40b2f078e_0_35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a40b2f078e_0_43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5. Unclear Input–Output Specification</a:t>
            </a:r>
            <a:endParaRPr/>
          </a:p>
        </p:txBody>
      </p:sp>
      <p:sp>
        <p:nvSpPr>
          <p:cNvPr id="424" name="Google Shape;424;g3a40b2f078e_0_43"/>
          <p:cNvSpPr txBox="1"/>
          <p:nvPr>
            <p:ph idx="1" type="body"/>
          </p:nvPr>
        </p:nvSpPr>
        <p:spPr>
          <a:xfrm>
            <a:off x="454100" y="1075900"/>
            <a:ext cx="10464300" cy="45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76250" lvl="0" marL="457200" rtl="0" algn="l">
              <a:spcBef>
                <a:spcPts val="600"/>
              </a:spcBef>
              <a:spcAft>
                <a:spcPts val="0"/>
              </a:spcAft>
              <a:buSzPts val="3900"/>
              <a:buChar char="o"/>
            </a:pPr>
            <a:r>
              <a:rPr b="1" lang="en-US"/>
              <a:t>Symptoms</a:t>
            </a:r>
            <a:r>
              <a:rPr lang="en-US"/>
              <a:t>: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US"/>
              <a:t>No clear definition of what the system receives and returns.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US"/>
              <a:t>Output described vaguely (“returns recommended places”).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Char char="o"/>
            </a:pPr>
            <a:r>
              <a:rPr lang="en-US"/>
              <a:t>Fix: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US"/>
              <a:t>Input						Output</a:t>
            </a:r>
            <a:endParaRPr/>
          </a:p>
        </p:txBody>
      </p:sp>
      <p:sp>
        <p:nvSpPr>
          <p:cNvPr id="425" name="Google Shape;425;g3a40b2f078e_0_43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26" name="Google Shape;426;g3a40b2f078e_0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4200" y="5170575"/>
            <a:ext cx="2476500" cy="838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27" name="Google Shape;427;g3a40b2f078e_0_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2225" y="5103900"/>
            <a:ext cx="2628900" cy="9048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a40b2f078e_0_53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930"/>
              <a:t>6. Feature-driven, Not Computation-driven Analysis</a:t>
            </a:r>
            <a:endParaRPr sz="3930"/>
          </a:p>
        </p:txBody>
      </p:sp>
      <p:sp>
        <p:nvSpPr>
          <p:cNvPr id="434" name="Google Shape;434;g3a40b2f078e_0_53"/>
          <p:cNvSpPr txBox="1"/>
          <p:nvPr>
            <p:ph idx="1" type="body"/>
          </p:nvPr>
        </p:nvSpPr>
        <p:spPr>
          <a:xfrm>
            <a:off x="489225" y="1163700"/>
            <a:ext cx="10464300" cy="45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476250" lvl="0" marL="457200" rtl="0" algn="l">
              <a:spcBef>
                <a:spcPts val="600"/>
              </a:spcBef>
              <a:spcAft>
                <a:spcPts val="0"/>
              </a:spcAft>
              <a:buSzPts val="3900"/>
              <a:buChar char="o"/>
            </a:pPr>
            <a:r>
              <a:rPr b="1" lang="en-US"/>
              <a:t>Symptoms</a:t>
            </a:r>
            <a:r>
              <a:rPr lang="en-US"/>
              <a:t>: Listing app features instead of computational components.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Char char="o"/>
            </a:pPr>
            <a:r>
              <a:rPr b="1" lang="en-US"/>
              <a:t>Incorrect example:</a:t>
            </a:r>
            <a:endParaRPr b="1"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US"/>
              <a:t>“The system allows filtering restaurants.”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Char char="o"/>
            </a:pPr>
            <a:r>
              <a:rPr b="1" lang="en-US"/>
              <a:t>Fix</a:t>
            </a:r>
            <a:r>
              <a:rPr lang="en-US"/>
              <a:t>: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US"/>
              <a:t>Describe computational behavior: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US"/>
              <a:t>Filtering = O(N) scan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US"/>
              <a:t>Distance = Haversine formula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US"/>
              <a:t>Ranking = sort O(N log N)</a:t>
            </a:r>
            <a:endParaRPr/>
          </a:p>
        </p:txBody>
      </p:sp>
      <p:sp>
        <p:nvSpPr>
          <p:cNvPr id="435" name="Google Shape;435;g3a40b2f078e_0_53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a40b2f078e_0_62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7. Lack of Mathematical Representation</a:t>
            </a:r>
            <a:endParaRPr/>
          </a:p>
        </p:txBody>
      </p:sp>
      <p:sp>
        <p:nvSpPr>
          <p:cNvPr id="442" name="Google Shape;442;g3a40b2f078e_0_62"/>
          <p:cNvSpPr txBox="1"/>
          <p:nvPr>
            <p:ph idx="1" type="body"/>
          </p:nvPr>
        </p:nvSpPr>
        <p:spPr>
          <a:xfrm>
            <a:off x="489225" y="1163700"/>
            <a:ext cx="10464300" cy="45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439102" lvl="0" marL="457200" rtl="0" algn="l">
              <a:spcBef>
                <a:spcPts val="600"/>
              </a:spcBef>
              <a:spcAft>
                <a:spcPts val="0"/>
              </a:spcAft>
              <a:buSzPct val="100000"/>
              <a:buChar char="o"/>
            </a:pPr>
            <a:r>
              <a:rPr b="1" lang="en-US"/>
              <a:t>Symptoms</a:t>
            </a:r>
            <a:r>
              <a:rPr lang="en-US"/>
              <a:t>:</a:t>
            </a:r>
            <a:endParaRPr/>
          </a:p>
          <a:p>
            <a:pPr indent="-41751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No feature vectors</a:t>
            </a:r>
            <a:endParaRPr/>
          </a:p>
          <a:p>
            <a:pPr indent="-41751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No scoring functions</a:t>
            </a:r>
            <a:endParaRPr/>
          </a:p>
          <a:p>
            <a:pPr indent="-41751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No distance matrix</a:t>
            </a:r>
            <a:endParaRPr/>
          </a:p>
          <a:p>
            <a:pPr indent="-41751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No graph model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39102" lvl="0" marL="457200" rtl="0" algn="l">
              <a:spcBef>
                <a:spcPts val="600"/>
              </a:spcBef>
              <a:spcAft>
                <a:spcPts val="0"/>
              </a:spcAft>
              <a:buSzPct val="100000"/>
              <a:buChar char="o"/>
            </a:pPr>
            <a:r>
              <a:rPr b="1" lang="en-US"/>
              <a:t>Fix</a:t>
            </a:r>
            <a:r>
              <a:rPr lang="en-US"/>
              <a:t>:</a:t>
            </a:r>
            <a:endParaRPr/>
          </a:p>
          <a:p>
            <a:pPr indent="-41751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Recommendation → vector space</a:t>
            </a:r>
            <a:endParaRPr/>
          </a:p>
          <a:p>
            <a:pPr indent="-41751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Routing → weighted graph</a:t>
            </a:r>
            <a:endParaRPr/>
          </a:p>
          <a:p>
            <a:pPr indent="-41751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Reviews → statistical aggregation</a:t>
            </a:r>
            <a:endParaRPr/>
          </a:p>
          <a:p>
            <a:pPr indent="-41751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Preferences → attribute → numeric score</a:t>
            </a:r>
            <a:endParaRPr/>
          </a:p>
        </p:txBody>
      </p:sp>
      <p:sp>
        <p:nvSpPr>
          <p:cNvPr id="443" name="Google Shape;443;g3a40b2f078e_0_62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40b2f078e_0_69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8. Non-measurable Problem Definitions</a:t>
            </a:r>
            <a:endParaRPr/>
          </a:p>
        </p:txBody>
      </p:sp>
      <p:sp>
        <p:nvSpPr>
          <p:cNvPr id="450" name="Google Shape;450;g3a40b2f078e_0_69"/>
          <p:cNvSpPr txBox="1"/>
          <p:nvPr>
            <p:ph idx="1" type="body"/>
          </p:nvPr>
        </p:nvSpPr>
        <p:spPr>
          <a:xfrm>
            <a:off x="489225" y="1163700"/>
            <a:ext cx="10464300" cy="45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476250" lvl="0" marL="457200" rtl="0" algn="l">
              <a:spcBef>
                <a:spcPts val="600"/>
              </a:spcBef>
              <a:spcAft>
                <a:spcPts val="0"/>
              </a:spcAft>
              <a:buSzPts val="3900"/>
              <a:buChar char="o"/>
            </a:pPr>
            <a:r>
              <a:rPr b="1" lang="en-US"/>
              <a:t>Incorrect example:</a:t>
            </a:r>
            <a:endParaRPr b="1"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US"/>
              <a:t>“The system finds delicious restaurants.”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US"/>
              <a:t>“Delicious” is subjective → cannot compute.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76250" lvl="0" marL="457200" rtl="0" algn="l">
              <a:spcBef>
                <a:spcPts val="600"/>
              </a:spcBef>
              <a:spcAft>
                <a:spcPts val="0"/>
              </a:spcAft>
              <a:buSzPts val="3900"/>
              <a:buChar char="o"/>
            </a:pPr>
            <a:r>
              <a:rPr b="1" lang="en-US"/>
              <a:t>Fix:</a:t>
            </a:r>
            <a:r>
              <a:rPr lang="en-US"/>
              <a:t> Define measurable criteria: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US"/>
              <a:t>Rating ≥ 4.0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US"/>
              <a:t>≥ 20 reviews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US"/>
              <a:t>Tag match ≥ 0.5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US"/>
              <a:t>Distance ≤ 3 km</a:t>
            </a:r>
            <a:endParaRPr/>
          </a:p>
        </p:txBody>
      </p:sp>
      <p:sp>
        <p:nvSpPr>
          <p:cNvPr id="451" name="Google Shape;451;g3a40b2f078e_0_69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a40b2f078e_0_76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9. Ignoring Constraints</a:t>
            </a:r>
            <a:endParaRPr/>
          </a:p>
        </p:txBody>
      </p:sp>
      <p:sp>
        <p:nvSpPr>
          <p:cNvPr id="458" name="Google Shape;458;g3a40b2f078e_0_76"/>
          <p:cNvSpPr txBox="1"/>
          <p:nvPr>
            <p:ph idx="1" type="body"/>
          </p:nvPr>
        </p:nvSpPr>
        <p:spPr>
          <a:xfrm>
            <a:off x="489225" y="1163700"/>
            <a:ext cx="10464300" cy="45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420528" lvl="0" marL="457200" rtl="0" algn="l">
              <a:spcBef>
                <a:spcPts val="600"/>
              </a:spcBef>
              <a:spcAft>
                <a:spcPts val="0"/>
              </a:spcAft>
              <a:buSzPct val="100000"/>
              <a:buChar char="o"/>
            </a:pPr>
            <a:r>
              <a:rPr b="1" lang="en-US"/>
              <a:t>Common forgotten constraints:</a:t>
            </a:r>
            <a:endParaRPr b="1"/>
          </a:p>
          <a:p>
            <a:pPr indent="-40084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API quota</a:t>
            </a:r>
            <a:endParaRPr/>
          </a:p>
          <a:p>
            <a:pPr indent="-40084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Rate limits</a:t>
            </a:r>
            <a:endParaRPr/>
          </a:p>
          <a:p>
            <a:pPr indent="-40084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Dataset size</a:t>
            </a:r>
            <a:endParaRPr/>
          </a:p>
          <a:p>
            <a:pPr indent="-40084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Algorithm complexity</a:t>
            </a:r>
            <a:endParaRPr/>
          </a:p>
          <a:p>
            <a:pPr indent="-40084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Demo time</a:t>
            </a:r>
            <a:endParaRPr/>
          </a:p>
          <a:p>
            <a:pPr indent="-40084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Device constraints</a:t>
            </a:r>
            <a:endParaRPr/>
          </a:p>
          <a:p>
            <a:pPr indent="-4205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o"/>
            </a:pPr>
            <a:r>
              <a:rPr b="1" lang="en-US"/>
              <a:t>Incorrect example:</a:t>
            </a:r>
            <a:endParaRPr b="1"/>
          </a:p>
          <a:p>
            <a:pPr indent="-40084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“We will implement Held–Karp to solve TSP.”</a:t>
            </a:r>
            <a:endParaRPr/>
          </a:p>
          <a:p>
            <a:pPr indent="-40084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❌ Held–Karp is O(2^N) → impossible for N&gt;12.</a:t>
            </a:r>
            <a:endParaRPr/>
          </a:p>
          <a:p>
            <a:pPr indent="-4205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o"/>
            </a:pPr>
            <a:r>
              <a:rPr b="1" lang="en-US"/>
              <a:t>Fix:</a:t>
            </a:r>
            <a:endParaRPr b="1"/>
          </a:p>
          <a:p>
            <a:pPr indent="-40084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Explicitly state constraints in Problem Analysis:</a:t>
            </a:r>
            <a:endParaRPr/>
          </a:p>
          <a:p>
            <a:pPr indent="-40084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Choose Greedy + 2-opt instead.</a:t>
            </a:r>
            <a:endParaRPr/>
          </a:p>
        </p:txBody>
      </p:sp>
      <p:sp>
        <p:nvSpPr>
          <p:cNvPr id="459" name="Google Shape;459;g3a40b2f078e_0_76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a40b2f078e_0_84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10. Missing Edge Cases</a:t>
            </a:r>
            <a:endParaRPr/>
          </a:p>
        </p:txBody>
      </p:sp>
      <p:sp>
        <p:nvSpPr>
          <p:cNvPr id="466" name="Google Shape;466;g3a40b2f078e_0_84"/>
          <p:cNvSpPr txBox="1"/>
          <p:nvPr>
            <p:ph idx="1" type="body"/>
          </p:nvPr>
        </p:nvSpPr>
        <p:spPr>
          <a:xfrm>
            <a:off x="489225" y="1163700"/>
            <a:ext cx="10464300" cy="45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439102" lvl="0" marL="457200" rtl="0" algn="l">
              <a:spcBef>
                <a:spcPts val="600"/>
              </a:spcBef>
              <a:spcAft>
                <a:spcPts val="0"/>
              </a:spcAft>
              <a:buSzPct val="100000"/>
              <a:buChar char="o"/>
            </a:pPr>
            <a:r>
              <a:rPr b="1" lang="en-US"/>
              <a:t>Forgotten edge cases:</a:t>
            </a:r>
            <a:endParaRPr b="1"/>
          </a:p>
          <a:p>
            <a:pPr indent="-41751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No restaurants match filters</a:t>
            </a:r>
            <a:endParaRPr/>
          </a:p>
          <a:p>
            <a:pPr indent="-41751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All restaurants exceed budget</a:t>
            </a:r>
            <a:endParaRPr/>
          </a:p>
          <a:p>
            <a:pPr indent="-41751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API failure</a:t>
            </a:r>
            <a:endParaRPr/>
          </a:p>
          <a:p>
            <a:pPr indent="-41751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Missing fields</a:t>
            </a:r>
            <a:endParaRPr/>
          </a:p>
          <a:p>
            <a:pPr indent="-41751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User selects too many places (TSP explosion)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39102" lvl="0" marL="457200" rtl="0" algn="l">
              <a:spcBef>
                <a:spcPts val="600"/>
              </a:spcBef>
              <a:spcAft>
                <a:spcPts val="0"/>
              </a:spcAft>
              <a:buSzPct val="100000"/>
              <a:buChar char="o"/>
            </a:pPr>
            <a:r>
              <a:rPr b="1" lang="en-US"/>
              <a:t>Fix</a:t>
            </a:r>
            <a:r>
              <a:rPr lang="en-US"/>
              <a:t>:</a:t>
            </a:r>
            <a:endParaRPr/>
          </a:p>
          <a:p>
            <a:pPr indent="-41751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List edge cases in Problem Analysis.</a:t>
            </a:r>
            <a:endParaRPr/>
          </a:p>
          <a:p>
            <a:pPr indent="-41751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Provide fallback strategies (e.g., sort by rating if tags missing).</a:t>
            </a:r>
            <a:endParaRPr/>
          </a:p>
        </p:txBody>
      </p:sp>
      <p:sp>
        <p:nvSpPr>
          <p:cNvPr id="467" name="Google Shape;467;g3a40b2f078e_0_84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a40b2f078e_0_91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11. No Evaluation Criteria</a:t>
            </a:r>
            <a:endParaRPr/>
          </a:p>
        </p:txBody>
      </p:sp>
      <p:sp>
        <p:nvSpPr>
          <p:cNvPr id="474" name="Google Shape;474;g3a40b2f078e_0_91"/>
          <p:cNvSpPr txBox="1"/>
          <p:nvPr>
            <p:ph idx="1" type="body"/>
          </p:nvPr>
        </p:nvSpPr>
        <p:spPr>
          <a:xfrm>
            <a:off x="489225" y="1163700"/>
            <a:ext cx="10464300" cy="45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476250" lvl="0" marL="457200" rtl="0" algn="l">
              <a:spcBef>
                <a:spcPts val="600"/>
              </a:spcBef>
              <a:spcAft>
                <a:spcPts val="0"/>
              </a:spcAft>
              <a:buSzPts val="3900"/>
              <a:buChar char="o"/>
            </a:pPr>
            <a:r>
              <a:rPr b="1" lang="en-US"/>
              <a:t>Symptoms:</a:t>
            </a:r>
            <a:endParaRPr b="1"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US"/>
              <a:t>“The system works well” but with no definition of “well”.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Char char="o"/>
            </a:pPr>
            <a:r>
              <a:rPr b="1" lang="en-US"/>
              <a:t>Fix</a:t>
            </a:r>
            <a:r>
              <a:rPr lang="en-US"/>
              <a:t>: Define evaluation metrics: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US"/>
              <a:t>Recommendation</a:t>
            </a:r>
            <a:endParaRPr/>
          </a:p>
          <a:p>
            <a:pPr indent="-425450" lvl="2" marL="1371600" rtl="0" algn="l">
              <a:spcBef>
                <a:spcPts val="0"/>
              </a:spcBef>
              <a:spcAft>
                <a:spcPts val="0"/>
              </a:spcAft>
              <a:buSzPts val="3100"/>
              <a:buChar char="•"/>
            </a:pPr>
            <a:r>
              <a:rPr lang="en-US"/>
              <a:t>precision@5 ≥ 80%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US"/>
              <a:t>Routing</a:t>
            </a:r>
            <a:endParaRPr/>
          </a:p>
          <a:p>
            <a:pPr indent="-425450" lvl="2" marL="1371600" rtl="0" algn="l">
              <a:spcBef>
                <a:spcPts val="0"/>
              </a:spcBef>
              <a:spcAft>
                <a:spcPts val="0"/>
              </a:spcAft>
              <a:buSzPts val="3100"/>
              <a:buChar char="•"/>
            </a:pPr>
            <a:r>
              <a:rPr lang="en-US"/>
              <a:t>Total distance ≤ 1.3 × optimal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US"/>
              <a:t>Performance</a:t>
            </a:r>
            <a:endParaRPr/>
          </a:p>
          <a:p>
            <a:pPr indent="-425450" lvl="2" marL="1371600" rtl="0" algn="l">
              <a:spcBef>
                <a:spcPts val="0"/>
              </a:spcBef>
              <a:spcAft>
                <a:spcPts val="0"/>
              </a:spcAft>
              <a:buSzPts val="3100"/>
              <a:buChar char="•"/>
            </a:pPr>
            <a:r>
              <a:rPr lang="en-US"/>
              <a:t>API latency p95 &lt; 800ms</a:t>
            </a:r>
            <a:endParaRPr/>
          </a:p>
        </p:txBody>
      </p:sp>
      <p:sp>
        <p:nvSpPr>
          <p:cNvPr id="475" name="Google Shape;475;g3a40b2f078e_0_91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a40b2f078e_0_98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 Mixing UX Issues with CT Problems</a:t>
            </a:r>
            <a:endParaRPr/>
          </a:p>
        </p:txBody>
      </p:sp>
      <p:sp>
        <p:nvSpPr>
          <p:cNvPr id="482" name="Google Shape;482;g3a40b2f078e_0_98"/>
          <p:cNvSpPr txBox="1"/>
          <p:nvPr>
            <p:ph idx="1" type="body"/>
          </p:nvPr>
        </p:nvSpPr>
        <p:spPr>
          <a:xfrm>
            <a:off x="489225" y="1163700"/>
            <a:ext cx="10464300" cy="45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457676" lvl="0" marL="457200" rtl="0" algn="l">
              <a:spcBef>
                <a:spcPts val="600"/>
              </a:spcBef>
              <a:spcAft>
                <a:spcPts val="0"/>
              </a:spcAft>
              <a:buSzPct val="100000"/>
              <a:buChar char="o"/>
            </a:pPr>
            <a:r>
              <a:rPr b="1" lang="en-US"/>
              <a:t>Symptoms:</a:t>
            </a:r>
            <a:endParaRPr b="1"/>
          </a:p>
          <a:p>
            <a:pPr indent="-43418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Too much persona, journey map, UI description.</a:t>
            </a:r>
            <a:endParaRPr/>
          </a:p>
          <a:p>
            <a:pPr indent="-43418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Too little computational analysis.</a:t>
            </a:r>
            <a:endParaRPr/>
          </a:p>
          <a:p>
            <a:pPr indent="-45767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o"/>
            </a:pPr>
            <a:r>
              <a:rPr b="1" lang="en-US"/>
              <a:t>Fix</a:t>
            </a:r>
            <a:r>
              <a:rPr lang="en-US"/>
              <a:t>:</a:t>
            </a:r>
            <a:endParaRPr/>
          </a:p>
          <a:p>
            <a:pPr indent="-43418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Separate UX concerns.</a:t>
            </a:r>
            <a:endParaRPr/>
          </a:p>
          <a:p>
            <a:pPr indent="-43418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CT Problem Analysis must focus on:</a:t>
            </a:r>
            <a:endParaRPr/>
          </a:p>
          <a:p>
            <a:pPr indent="-43418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Feature extraction</a:t>
            </a:r>
            <a:endParaRPr/>
          </a:p>
          <a:p>
            <a:pPr indent="-43418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Constraints</a:t>
            </a:r>
            <a:endParaRPr/>
          </a:p>
          <a:p>
            <a:pPr indent="-43418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Data normalization</a:t>
            </a:r>
            <a:endParaRPr/>
          </a:p>
          <a:p>
            <a:pPr indent="-43418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Algorithms</a:t>
            </a:r>
            <a:endParaRPr/>
          </a:p>
          <a:p>
            <a:pPr indent="-43418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Input–output modeling</a:t>
            </a:r>
            <a:endParaRPr/>
          </a:p>
        </p:txBody>
      </p:sp>
      <p:sp>
        <p:nvSpPr>
          <p:cNvPr id="483" name="Google Shape;483;g3a40b2f078e_0_98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a40b2f078e_0_105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13. Missing In-scope / Out-of-scope Boundaries</a:t>
            </a:r>
            <a:endParaRPr/>
          </a:p>
        </p:txBody>
      </p:sp>
      <p:sp>
        <p:nvSpPr>
          <p:cNvPr id="490" name="Google Shape;490;g3a40b2f078e_0_105"/>
          <p:cNvSpPr txBox="1"/>
          <p:nvPr>
            <p:ph idx="1" type="body"/>
          </p:nvPr>
        </p:nvSpPr>
        <p:spPr>
          <a:xfrm>
            <a:off x="489225" y="1163700"/>
            <a:ext cx="10464300" cy="453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76250" lvl="0" marL="457200" rtl="0" algn="l">
              <a:spcBef>
                <a:spcPts val="600"/>
              </a:spcBef>
              <a:spcAft>
                <a:spcPts val="0"/>
              </a:spcAft>
              <a:buSzPts val="3900"/>
              <a:buChar char="o"/>
            </a:pPr>
            <a:r>
              <a:rPr b="1" lang="en-US"/>
              <a:t>Symptoms</a:t>
            </a:r>
            <a:r>
              <a:rPr lang="en-US"/>
              <a:t>: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US"/>
              <a:t>Problem analysis includes login, social features, payments, profiles…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Char char="o"/>
            </a:pPr>
            <a:r>
              <a:rPr b="1" lang="en-US"/>
              <a:t>Result</a:t>
            </a:r>
            <a:r>
              <a:rPr lang="en-US"/>
              <a:t>: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US"/>
              <a:t>The analysis becomes unfocused.</a:t>
            </a:r>
            <a:endParaRPr/>
          </a:p>
          <a:p>
            <a:pPr indent="-476250" lvl="0" marL="457200" rtl="0" algn="l">
              <a:spcBef>
                <a:spcPts val="0"/>
              </a:spcBef>
              <a:spcAft>
                <a:spcPts val="0"/>
              </a:spcAft>
              <a:buSzPts val="3900"/>
              <a:buChar char="o"/>
            </a:pPr>
            <a:r>
              <a:rPr b="1" lang="en-US"/>
              <a:t>Fix</a:t>
            </a:r>
            <a:r>
              <a:rPr lang="en-US"/>
              <a:t>: Define scope clearly: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US"/>
              <a:t>In-scope: recommendation + route optimization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US"/>
              <a:t>Out-of-scope: accounts, payments, social sharing</a:t>
            </a:r>
            <a:endParaRPr/>
          </a:p>
        </p:txBody>
      </p:sp>
      <p:sp>
        <p:nvSpPr>
          <p:cNvPr id="491" name="Google Shape;491;g3a40b2f078e_0_105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a40b2f078e_0_112"/>
          <p:cNvSpPr txBox="1"/>
          <p:nvPr>
            <p:ph type="title"/>
          </p:nvPr>
        </p:nvSpPr>
        <p:spPr>
          <a:xfrm>
            <a:off x="328925" y="66900"/>
            <a:ext cx="11445600" cy="9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498" name="Google Shape;498;g3a40b2f078e_0_112"/>
          <p:cNvSpPr txBox="1"/>
          <p:nvPr>
            <p:ph idx="12" type="sldNum"/>
          </p:nvPr>
        </p:nvSpPr>
        <p:spPr>
          <a:xfrm>
            <a:off x="9431867" y="64928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99" name="Google Shape;499;g3a40b2f078e_0_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6625" y="260738"/>
            <a:ext cx="5038725" cy="59150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021-FITHCMUS-Slide Templat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2019-09-28T09:31:51Z</dcterms:created>
  <dc:creator>Văn Chí Nam</dc:creator>
</cp:coreProperties>
</file>