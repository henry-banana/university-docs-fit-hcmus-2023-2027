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italic.fntdata"/><Relationship Id="rId12" Type="http://schemas.openxmlformats.org/officeDocument/2006/relationships/slide" Target="slides/slide7.xml"/><Relationship Id="rId34" Type="http://schemas.openxmlformats.org/officeDocument/2006/relationships/font" Target="fonts/Robo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83dbef99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283dbef99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bd472a1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6bd472a1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055b957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055b957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8ed66b5d6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8ed66b5d6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8ed66b5d6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8ed66b5d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8ed66b5d6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8ed66b5d6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8ed66b5d6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8ed66b5d6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8ed66b5d6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8ed66b5d6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8ed66b5d6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8ed66b5d6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8ed66b5d6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8ed66b5d6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8ed66b5d6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68ed66b5d6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8ed66b5d6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8ed66b5d6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8ed66b5d6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8ed66b5d6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8ed66b5d6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8ed66b5d6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8ed66b5d6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68ed66b5d6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8ed66b5d6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8ed66b5d6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8ed66b5d6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8ed66b5d6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8ed66b5d6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68ed66b5d6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8ed66b5d6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68ed66b5d6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8ed66b5d6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8ed66b5d6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8ed66b5d6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68ed66b5d6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8ed66b5d6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68ed66b5d6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d472a1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6bd472a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8ed66b5d6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68ed66b5d6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8ed66b5d6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8ed66b5d6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8ed66b5d6_1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68ed66b5d6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20250" y="-2160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8" name="Google Shape;4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Basic concepts</a:t>
            </a:r>
            <a:endParaRPr sz="4400"/>
          </a:p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Introduction to computational thinking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 sz="4300"/>
              <a:t>What is computational thinking?</a:t>
            </a:r>
            <a:endParaRPr sz="4300"/>
          </a:p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</a:t>
            </a:r>
            <a:r>
              <a:rPr lang="en"/>
              <a:t>roblem-solving process</a:t>
            </a:r>
            <a:endParaRPr/>
          </a:p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300" y="1895600"/>
            <a:ext cx="2549800" cy="254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177825" y="927500"/>
            <a:ext cx="88119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 sz="2400"/>
              <a:t>Steps to find </a:t>
            </a:r>
            <a:r>
              <a:rPr b="1" lang="en" sz="2400">
                <a:solidFill>
                  <a:srgbClr val="FF0000"/>
                </a:solidFill>
              </a:rPr>
              <a:t>solutions </a:t>
            </a:r>
            <a:r>
              <a:rPr lang="en" sz="2400"/>
              <a:t>using </a:t>
            </a:r>
            <a:r>
              <a:rPr b="1" lang="en" sz="2400">
                <a:solidFill>
                  <a:srgbClr val="9900FF"/>
                </a:solidFill>
              </a:rPr>
              <a:t>methods </a:t>
            </a:r>
            <a:r>
              <a:rPr lang="en" sz="2400"/>
              <a:t>of </a:t>
            </a:r>
            <a:r>
              <a:rPr b="1" lang="en" sz="2400">
                <a:solidFill>
                  <a:srgbClr val="0000FF"/>
                </a:solidFill>
              </a:rPr>
              <a:t>computer science</a:t>
            </a:r>
            <a:endParaRPr sz="2400"/>
          </a:p>
        </p:txBody>
      </p:sp>
      <p:pic>
        <p:nvPicPr>
          <p:cNvPr id="79" name="Google Shape;79;p17" title="proc-diagr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8725" y="2120763"/>
            <a:ext cx="5520475" cy="209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- Slido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What is computer science?</a:t>
            </a:r>
            <a:endParaRPr/>
          </a:p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Overview of computer science</a:t>
            </a:r>
            <a:endParaRPr sz="4500"/>
          </a:p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A. </a:t>
            </a:r>
            <a:r>
              <a:rPr lang="en"/>
              <a:t>Theoretical Foundations</a:t>
            </a:r>
            <a:endParaRPr/>
          </a:p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Algorithms &amp; Data Structures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Computability &amp; Complexity Theory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Discrete Mathematics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Automata Theory &amp; Formal Languages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B. </a:t>
            </a:r>
            <a:r>
              <a:rPr lang="en"/>
              <a:t>Software Systems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Programming Languages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2600"/>
              <a:buAutoNum type="arabicPeriod"/>
            </a:pPr>
            <a:r>
              <a:rPr b="1" lang="en">
                <a:solidFill>
                  <a:srgbClr val="9900FF"/>
                </a:solidFill>
              </a:rPr>
              <a:t>Software Engineering</a:t>
            </a:r>
            <a:endParaRPr b="1">
              <a:solidFill>
                <a:srgbClr val="9900FF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Operating Systems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Compilers</a:t>
            </a:r>
            <a:endParaRPr/>
          </a:p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C. </a:t>
            </a:r>
            <a:r>
              <a:rPr lang="en"/>
              <a:t>Computer Systems &amp; Networking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Computer Architecture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Embedded Systems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Computer Networks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Distributed Systems</a:t>
            </a:r>
            <a:endParaRPr/>
          </a:p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D. </a:t>
            </a:r>
            <a:r>
              <a:rPr lang="en"/>
              <a:t>AI &amp; Data Science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Machine Learning / Deep Learning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Natural Language Processing (NLP)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Computer Vision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Reinforcement Learning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Data Mining &amp; Big Data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Statistics &amp; Probability for AI</a:t>
            </a:r>
            <a:endParaRPr/>
          </a:p>
        </p:txBody>
      </p:sp>
      <p:sp>
        <p:nvSpPr>
          <p:cNvPr id="120" name="Google Shape;12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E. </a:t>
            </a:r>
            <a:r>
              <a:rPr lang="en"/>
              <a:t>Applied Computing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Human–Computer Interaction (HCI)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Graphics &amp; Visualization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Game Development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Cybersecurity &amp; Cryptography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Bioinformatics / Computational Biology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Robotics &amp; Autonomous Systems</a:t>
            </a:r>
            <a:endParaRPr/>
          </a:p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F. </a:t>
            </a:r>
            <a:r>
              <a:rPr lang="en"/>
              <a:t>Social &amp; Ethical Dimensions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Ethics in AI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Computer Security Policy &amp; Governance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Computational Social Science</a:t>
            </a:r>
            <a:endParaRPr/>
          </a:p>
        </p:txBody>
      </p:sp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G. </a:t>
            </a:r>
            <a:r>
              <a:rPr lang="en"/>
              <a:t>Emerging Areas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Quantum Computing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Augmented &amp; Virtual Reality (AR/VR)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Edge Computing / Federated Learning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Large Language Models &amp; Multimodal AI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Explainable AI (XAI)</a:t>
            </a:r>
            <a:endParaRPr/>
          </a:p>
        </p:txBody>
      </p:sp>
      <p:sp>
        <p:nvSpPr>
          <p:cNvPr id="141" name="Google Shape;14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Pillars of Computational thinking</a:t>
            </a:r>
            <a:endParaRPr/>
          </a:p>
        </p:txBody>
      </p:sp>
      <p:sp>
        <p:nvSpPr>
          <p:cNvPr id="147" name="Google Shape;14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steps</a:t>
            </a:r>
            <a:endParaRPr/>
          </a:p>
        </p:txBody>
      </p:sp>
      <p:sp>
        <p:nvSpPr>
          <p:cNvPr id="153" name="Google Shape;15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b="1" lang="en">
                <a:solidFill>
                  <a:srgbClr val="0000FF"/>
                </a:solidFill>
              </a:rPr>
              <a:t>Decomposition</a:t>
            </a:r>
            <a:r>
              <a:rPr lang="en"/>
              <a:t>: Breaking down complex problems into manageable parts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b="1" lang="en">
                <a:solidFill>
                  <a:srgbClr val="0000FF"/>
                </a:solidFill>
              </a:rPr>
              <a:t>Pattern Recognition</a:t>
            </a:r>
            <a:r>
              <a:rPr lang="en"/>
              <a:t>: Spotting similarities, trends, or repeated structures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b="1" lang="en">
                <a:solidFill>
                  <a:srgbClr val="0000FF"/>
                </a:solidFill>
              </a:rPr>
              <a:t>Abstraction</a:t>
            </a:r>
            <a:r>
              <a:rPr lang="en"/>
              <a:t>: Removing irrelevant details to focus on what matters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b="1" lang="en">
                <a:solidFill>
                  <a:srgbClr val="0000FF"/>
                </a:solidFill>
              </a:rPr>
              <a:t>Algorithm Design</a:t>
            </a:r>
            <a:r>
              <a:rPr lang="en"/>
              <a:t>: Create step-by-step instructions to solve the problem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Extended steps in practice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b="1" lang="en">
                <a:solidFill>
                  <a:srgbClr val="38761D"/>
                </a:solidFill>
              </a:rPr>
              <a:t>Problem Analysis</a:t>
            </a:r>
            <a:r>
              <a:rPr lang="en"/>
              <a:t> (from ill-defined to well-defined)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Decomposition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Pattern Recognition &amp; Abstraction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Algorithm Design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b="1" lang="en">
                <a:solidFill>
                  <a:srgbClr val="38761D"/>
                </a:solidFill>
              </a:rPr>
              <a:t>Representation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600"/>
              <a:buAutoNum type="arabicPeriod"/>
            </a:pPr>
            <a:r>
              <a:rPr b="1" lang="en">
                <a:solidFill>
                  <a:srgbClr val="38761D"/>
                </a:solidFill>
              </a:rPr>
              <a:t>Implementation / Simulation</a:t>
            </a:r>
            <a:endParaRPr b="1">
              <a:solidFill>
                <a:srgbClr val="38761D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600"/>
              <a:buAutoNum type="arabicPeriod"/>
            </a:pPr>
            <a:r>
              <a:rPr b="1" lang="en">
                <a:solidFill>
                  <a:srgbClr val="38761D"/>
                </a:solidFill>
              </a:rPr>
              <a:t>Evaluation &amp; Reflection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161" name="Google Shape;16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Fake news detection</a:t>
            </a:r>
            <a:endParaRPr/>
          </a:p>
        </p:txBody>
      </p:sp>
      <p:sp>
        <p:nvSpPr>
          <p:cNvPr id="167" name="Google Shape;16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Problem Analysis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Understand what “fake news” means and what makes it distinct from real news.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Identify the goals (e.g., classify articles as real/fake).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Define inputs (article text, author, date, source, image, etc.) and outputs (label: fake or real).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Consider challenges, such as sarcasm, political bias, and misinformation spread.</a:t>
            </a:r>
            <a:endParaRPr/>
          </a:p>
        </p:txBody>
      </p:sp>
      <p:sp>
        <p:nvSpPr>
          <p:cNvPr id="174" name="Google Shape;17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Decomposition</a:t>
            </a:r>
            <a:endParaRPr/>
          </a:p>
        </p:txBody>
      </p:sp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the problem into smaller, manageable subproblems: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Collect and preprocess text data.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Extract linguistic and semantic features.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Identify misinformation patterns (e.g., emotional language, unreliable sources).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Train and evaluate a classification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subproblem can be solved independently and then integrated into a full pipeline</a:t>
            </a:r>
            <a:endParaRPr/>
          </a:p>
        </p:txBody>
      </p:sp>
      <p:sp>
        <p:nvSpPr>
          <p:cNvPr id="181" name="Google Shape;18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Pattern Recognition</a:t>
            </a:r>
            <a:endParaRPr/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 recurring features that differentiate fake from real: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Fake news tends to use hyperbolic or emotional language.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Real news tends to have structured reporting and trusted sources.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Certain words or patterns (e.g., “shocking,” “you won’t believe”) occur more often in fake news.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Recognizing these patterns helps build better features for detection.</a:t>
            </a:r>
            <a:endParaRPr/>
          </a:p>
        </p:txBody>
      </p:sp>
      <p:sp>
        <p:nvSpPr>
          <p:cNvPr id="188" name="Google Shape;18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Abstraction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essential information while ignoring irrelevant details: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Represent news articles as vectors (e.g., TF-IDF, word embeddings).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Abstract away from the literal text to higher-level concepts (topics, sentiment, credibility).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allows computational models to process complex content efficiently.</a:t>
            </a:r>
            <a:endParaRPr/>
          </a:p>
        </p:txBody>
      </p:sp>
      <p:sp>
        <p:nvSpPr>
          <p:cNvPr id="195" name="Google Shape;19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Algorithm Design</a:t>
            </a:r>
            <a:endParaRPr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 process (or pipeline) to detect fake news: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Input: raw article text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Preprocessing: tokenization, stopword removal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Feature extraction: text embeddings, source credibility scores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Classification: logistic regression, SVM, BERT, etc.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Output: fake/real label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algorithm can be expressed as pseudocode or flowcharts.</a:t>
            </a:r>
            <a:endParaRPr/>
          </a:p>
        </p:txBody>
      </p:sp>
      <p:sp>
        <p:nvSpPr>
          <p:cNvPr id="202" name="Google Shape;20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Implementation / Simulation</a:t>
            </a:r>
            <a:endParaRPr/>
          </a:p>
        </p:txBody>
      </p:sp>
      <p:sp>
        <p:nvSpPr>
          <p:cNvPr id="208" name="Google Shape;208;p3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and test code to implement the fake news detector: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Use Python libraries (scikit-learn, transformers).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Simulate the model on real datasets like FakeNewsNet or LIAR.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Evaluate using accuracy, precision, recall, and F1 score.</a:t>
            </a:r>
            <a:endParaRPr/>
          </a:p>
        </p:txBody>
      </p:sp>
      <p:sp>
        <p:nvSpPr>
          <p:cNvPr id="209" name="Google Shape;20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Evaluation &amp; Reflection</a:t>
            </a:r>
            <a:endParaRPr/>
          </a:p>
        </p:txBody>
      </p:sp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 how well the solution works: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Does it generalize to unseen news?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What biases exist in the dataset?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How can it be improved (e.g., adding multimodal data: images, user behavior)?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Encourage reflection on ethical aspects — e.g., fairness, misinformation harm.</a:t>
            </a:r>
            <a:endParaRPr/>
          </a:p>
        </p:txBody>
      </p:sp>
      <p:sp>
        <p:nvSpPr>
          <p:cNvPr id="216" name="Google Shape;21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Activity</a:t>
            </a:r>
            <a:endParaRPr/>
          </a:p>
        </p:txBody>
      </p:sp>
      <p:sp>
        <p:nvSpPr>
          <p:cNvPr id="222" name="Google Shape;222;p38"/>
          <p:cNvSpPr txBox="1"/>
          <p:nvPr>
            <p:ph idx="429496729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Escape room challenge</a:t>
            </a:r>
            <a:endParaRPr/>
          </a:p>
        </p:txBody>
      </p:sp>
      <p:sp>
        <p:nvSpPr>
          <p:cNvPr id="228" name="Google Shape;228;p3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3 puzzles to create a passcode with 3 numbers to unlock the lock.</a:t>
            </a:r>
            <a:endParaRPr/>
          </a:p>
        </p:txBody>
      </p:sp>
      <p:sp>
        <p:nvSpPr>
          <p:cNvPr id="229" name="Google Shape;22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1-2 members</a:t>
            </a:r>
            <a:endParaRPr/>
          </a:p>
        </p:txBody>
      </p:sp>
      <p:sp>
        <p:nvSpPr>
          <p:cNvPr id="240" name="Google Shape;240;p4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Write a program in C++/Python that asks 3 questions, each question &amp; answer will hint at a number from 0-9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Together these three numbers will create a final combination to unlock the email to contact the author for collaboration offer.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</a:t>
            </a:r>
            <a:r>
              <a:rPr b="1" lang="en">
                <a:solidFill>
                  <a:srgbClr val="0000FF"/>
                </a:solidFill>
              </a:rPr>
              <a:t>code quality</a:t>
            </a:r>
            <a:r>
              <a:rPr lang="en"/>
              <a:t>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