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3f68b1eb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3f68b1eb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3f68b1eb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3f68b1eb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bd472a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6bd472a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f68b1e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f68b1e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f68b1eb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f68b1eb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3f68b1eb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3f68b1eb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3f68b1eb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3f68b1eb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3f68b1eb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3f68b1eb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3f68b1eb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3f68b1eb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f68b1eb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3f68b1eb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3f68b1eb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3f68b1eb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3f68b1eb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3f68b1eb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f68b1eb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3f68b1eb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3f68b1eb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3f68b1eb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3f68b1eb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3f68b1eb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Simulation</a:t>
            </a:r>
            <a:endParaRPr sz="4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35358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Principles of simulation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476" y="539375"/>
            <a:ext cx="8110225" cy="4206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50" y="396825"/>
            <a:ext cx="8625125" cy="4037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Critical aspects</a:t>
            </a:r>
            <a:endParaRPr/>
          </a:p>
        </p:txBody>
      </p:sp>
      <p:sp>
        <p:nvSpPr>
          <p:cNvPr id="83" name="Google Shape;83;p18"/>
          <p:cNvSpPr txBox="1"/>
          <p:nvPr>
            <p:ph idx="429496729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Model Validity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the model actually represent reality correctly for the question you're asking? Over-simplification (abstraction) can kill accuracy.</a:t>
            </a:r>
            <a:endParaRPr/>
          </a:p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Input Data Quality &amp; Distribution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Garbage in → Garbage out.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Wrong or outdated data, or incorrect probability distributions (e.g., using uniform instead of exponential for service times) completely invalidate results.</a:t>
            </a:r>
            <a:endParaRPr/>
          </a:p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Randomness and Number of Replications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simulations are stochastic → a single run means nothing. You need multiple independent replications with different seeds to compute confidence intervals.</a:t>
            </a:r>
            <a:endParaRPr/>
          </a:p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Warm-up Period &amp; Run Length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often start empty/idle (transient phase). You must discard the warm-up period to reach steady-state, and run long enough for statistical significance.</a:t>
            </a:r>
            <a:endParaRPr/>
          </a:p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Verification vs Validation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Verification: “Did I build the model right?” (code runs as intended)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Validation: “Did I build the right model?” (output matches real-world data)</a:t>
            </a:r>
            <a:endParaRPr/>
          </a:p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</a:t>
            </a:r>
            <a:r>
              <a:rPr lang="en"/>
              <a:t>Level of Detail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detailed → computationally expensive and slow.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coarse → misses important behavior. Choose based on the research question.</a:t>
            </a:r>
            <a:endParaRPr/>
          </a:p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Variance Reduction Techniques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like Common Random Numbers, Antithetic Variates, Importance Sampling help you get reliable results with far fewer runs</a:t>
            </a:r>
            <a:endParaRPr/>
          </a:p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Sensitivity Analysis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does output change when you slightly tweak inputs? Identifies critical parameters and uncertainty</a:t>
            </a:r>
            <a:endParaRPr/>
          </a:p>
        </p:txBody>
      </p:sp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Reproducibility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everything: seeds, software version, parameters, data sources. Others (or future-you) must be able to reproduce exactly the same results.</a:t>
            </a:r>
            <a:endParaRPr/>
          </a:p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Computational Cost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simulations (agent-based, high-fidelity) can take days/weeks. Consider approximations, metamodels, cloud/GPU, or surrogate models.</a:t>
            </a:r>
            <a:endParaRPr/>
          </a:p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</a:t>
            </a:r>
            <a:r>
              <a:rPr lang="en"/>
              <a:t>Understanding the Limits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is “What if?”, not prophecy.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never perfectly model human behavior, rare events, or unknown unknowns.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report uncertainty (confidence intervals, scenarios).</a:t>
            </a:r>
            <a:endParaRPr/>
          </a:p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232150" y="2234450"/>
            <a:ext cx="4045200" cy="8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Checklist</a:t>
            </a:r>
            <a:endParaRPr/>
          </a:p>
        </p:txBody>
      </p:sp>
      <p:sp>
        <p:nvSpPr>
          <p:cNvPr id="166" name="Google Shape;166;p30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Is the model conceptually correct? (</a:t>
            </a:r>
            <a:r>
              <a:rPr b="1" lang="en">
                <a:solidFill>
                  <a:srgbClr val="0000FF"/>
                </a:solidFill>
              </a:rPr>
              <a:t>Validity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Does the code implement the model correctly? (</a:t>
            </a:r>
            <a:r>
              <a:rPr b="1" lang="en">
                <a:solidFill>
                  <a:srgbClr val="0000FF"/>
                </a:solidFill>
              </a:rPr>
              <a:t>Verification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Do results match real-world observations? (</a:t>
            </a:r>
            <a:r>
              <a:rPr b="1" lang="en">
                <a:solidFill>
                  <a:srgbClr val="0000FF"/>
                </a:solidFill>
              </a:rPr>
              <a:t>Validation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Have I run </a:t>
            </a:r>
            <a:r>
              <a:rPr b="1" lang="en" u="sng"/>
              <a:t>enough </a:t>
            </a:r>
            <a:r>
              <a:rPr lang="en"/>
              <a:t>replications and long enough? (</a:t>
            </a:r>
            <a:r>
              <a:rPr b="1" lang="en">
                <a:solidFill>
                  <a:srgbClr val="0000FF"/>
                </a:solidFill>
              </a:rPr>
              <a:t>Statistical reliability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Have I clearly communicated the </a:t>
            </a:r>
            <a:r>
              <a:rPr b="1" lang="en">
                <a:solidFill>
                  <a:srgbClr val="0000FF"/>
                </a:solidFill>
              </a:rPr>
              <a:t>uncertainty</a:t>
            </a:r>
            <a:r>
              <a:rPr lang="en"/>
              <a:t>?</a:t>
            </a:r>
            <a:endParaRPr/>
          </a:p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