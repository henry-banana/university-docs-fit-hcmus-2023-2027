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d23e65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d23e65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d23e652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d23e65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d23e65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0d23e65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0d23e652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0d23e652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e5cec3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1e5cec3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e5cec36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e5cec36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e5cec36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1e5cec36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e5cec36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e5cec36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e5cec36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e5cec36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1e5cec36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1e5cec36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e5cec36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1e5cec36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e5cec36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e5cec36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e5cec36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e5cec36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e5cec36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1e5cec36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e5cec36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e5cec36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e5cec36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e5cec36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1e5cec36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1e5cec36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1e5cec36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1e5cec36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e5cec36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e5cec36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1e5cec36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1e5cec36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1e5cec36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1e5cec36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1e5cec36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1e5cec36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1e5cec36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1e5cec36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1e5cec36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1e5cec36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e5cec36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1e5cec36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1e5cec36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1e5cec36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e5cec36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1e5cec36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e5cec36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1e5cec36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1e5cec36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1e5cec36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Case study: Document similarity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Document similarity problem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Determine if two text documents are similar in content</a:t>
            </a:r>
            <a:endParaRPr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analysis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41300" y="914000"/>
            <a:ext cx="64557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ll-defined: </a:t>
            </a:r>
            <a:r>
              <a:rPr lang="en"/>
              <a:t>Are these two texts similar?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Well-defined: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Input</a:t>
            </a:r>
            <a:r>
              <a:rPr lang="en"/>
              <a:t>: Two text documents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Output</a:t>
            </a:r>
            <a:r>
              <a:rPr lang="en"/>
              <a:t>: Similarity score (0–1) or decision (similar vs. not similar)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Analyze similarity based on word usage, meaning, or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8975" y="914000"/>
            <a:ext cx="2774400" cy="277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Preprocess documents (cleaning, tokenization)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Convert text into numeric representation (vectorization)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Calculate similarity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Output result (score or label)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documents share: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Common words or phrases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Semantic meanings (e.g., 'cat' and 'feline')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Similar structures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Cosine similarity (vector-based)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Jaccard similarity (set overlap)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Semantic models for deep meaning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documents as: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Bag-of-words vectors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TF-IDF vectors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Embeddings (e.g., BERT)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Ignore formatting, exact word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features representing meaning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design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version: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TF-IDF vectorization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Compute cosine similarity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version: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transformer embeddings (BERT)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Cosine similarity in embedding space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compute_similarity(doc1, doc2):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vec1 = encode(doc1)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vec2 = encode(doc2)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score = cosine_similarity(vec1, vec2)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return score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/ Implementation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Python Example (TF-IDF + cosine):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from sklearn.feature_extraction.text import TfidfVectorizer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from sklearn.metrics.pairwise import cosine_similarity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tfidf = TfidfVectorizer().fit_transform([doc1, doc2])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score = cosine_similarity(tfidf[0], tfidf[1])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With BERT (SentenceTransformers):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from sentence_transformers import SentenceTransformer, util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model = SentenceTransformer('all-MiniLM-L6-v2')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embeddings = model.encode([doc1, doc2])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score = util.cos_sim(embeddings[0], embeddings[1])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Improvement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with: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Identical content → high similarity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Paraphrased content → still similar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Unrelated content → low similarity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 with: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Stemming/lemmatization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 semantic models (fine-tuned BERT)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lexical + semantic measures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Similarity illustrates CT: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Decomposition: raw text → score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Abstraction: text → vectors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Pattern Recognition: lexical &amp; semantic overlap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Algorithm Design: vector models + similarity metrics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Applications: plagiarism detection, search engines, clustering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problem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Similarity / Semantic Matching / Information Retrieval</a:t>
            </a:r>
            <a:endParaRPr/>
          </a:p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50" y="1990263"/>
            <a:ext cx="7448550" cy="246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problems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 </a:t>
            </a:r>
            <a:r>
              <a:rPr lang="en"/>
              <a:t>Sentence / Semantic Textual Similarity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b="1" lang="en" sz="2500"/>
              <a:t>Goal</a:t>
            </a:r>
            <a:r>
              <a:rPr lang="en" sz="2500"/>
              <a:t>: Measure how similar two sentences are in meaning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b="1" lang="en" sz="2500"/>
              <a:t>Difference</a:t>
            </a:r>
            <a:r>
              <a:rPr lang="en" sz="2500"/>
              <a:t>: A narrower version of document similarity at the sentence level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b="1" lang="en" sz="2500"/>
              <a:t>Example</a:t>
            </a:r>
            <a:r>
              <a:rPr lang="en" sz="2500"/>
              <a:t>: “He is eating an apple.”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		vs “A man is having fruit for lunch.” </a:t>
            </a:r>
            <a:endParaRPr sz="25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→ Similarity ≈ 0.8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b="1" lang="en" sz="2500"/>
              <a:t>Applications</a:t>
            </a:r>
            <a:r>
              <a:rPr lang="en" sz="2500"/>
              <a:t>: Paraphrase detection, question similarity, query expansion</a:t>
            </a:r>
            <a:endParaRPr sz="2500"/>
          </a:p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 Paraphrase Identification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105900" y="88107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Determine whether two texts express the same idea.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“Obama was born in Hawaii.”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“Hawaii is Obama’s birthplace.”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True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Difference</a:t>
            </a:r>
            <a:r>
              <a:rPr lang="en"/>
              <a:t>: A binary classification form of document similarity.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Famous datasets</a:t>
            </a:r>
            <a:r>
              <a:rPr lang="en"/>
              <a:t>: Quora Question Pairs, Microsoft Research Paraphrase Corpus (MSRP)</a:t>
            </a:r>
            <a:endParaRPr/>
          </a:p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 Textual Entailment / Natural Language Inference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Check whether one text logically entails another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Premise: “A man is riding a bicycle.”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Hypothesis: “A man is outdoors.”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Entailment (B follows from A)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Difference</a:t>
            </a:r>
            <a:r>
              <a:rPr lang="en"/>
              <a:t>: Goes beyond similarity by identifying Entail / Contradict / Neutral relations</a:t>
            </a:r>
            <a:endParaRPr/>
          </a:p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 Information Retrieval (IR) / Document Ranking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Rank documents according to their relevance to a query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Relation</a:t>
            </a:r>
            <a:r>
              <a:rPr lang="en"/>
              <a:t>: Document similarity serves as a core component of IR systems.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Query: “Best machine learning libraries in Python.”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Documents: (A) TensorFlow blog, (B) PyTorch blog, (C) Scikit-learn tutorial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Rank by query–document similarity</a:t>
            </a:r>
            <a:endParaRPr/>
          </a:p>
        </p:txBody>
      </p:sp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 Duplicate or Near-Duplicate Document Detection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Detect identical or nearly identical documents (useful for web indexing or plagiarism)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Techniques</a:t>
            </a:r>
            <a:r>
              <a:rPr lang="en"/>
              <a:t>: MinHash, SimHash, Locality-Sensitive Hashing (LSH)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Detecting two news articles that share 95% of their content</a:t>
            </a:r>
            <a:endParaRPr/>
          </a:p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 Topic Similarity / Document Clustering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Group documents by similar topics or themes.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Cluster documents about “deep learning,” “neural networks,” and “AI applications.”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Technique</a:t>
            </a:r>
            <a:r>
              <a:rPr lang="en"/>
              <a:t>: Represent documents as vectors (TF-IDF, Doc2Vec, BERT embeddings) and compute cosine similarity.</a:t>
            </a:r>
            <a:endParaRPr/>
          </a:p>
        </p:txBody>
      </p:sp>
      <p:sp>
        <p:nvSpPr>
          <p:cNvPr id="179" name="Google Shape;17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07. Cross-Lingual Document Similarity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Match equivalent documents across languages.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“Climate change impacts agriculture.” (English)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“Biến đổi khí hậu ảnh hưởng đến nông nghiệp.” (Vietnamese)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High similarity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Techniques</a:t>
            </a:r>
            <a:r>
              <a:rPr lang="en"/>
              <a:t>: Multilingual embeddings (mBERT, LaBSE, LASER, etc.)</a:t>
            </a:r>
            <a:endParaRPr/>
          </a:p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08. Query–Passage Matching (in QA Systems / RAG)</a:t>
            </a:r>
            <a:endParaRPr sz="2900"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Retrieve the passage most relevant to a user query.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Query: “Who discovered penicillin?”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Passage: “Alexander Fleming discovered penicillin in 1928.”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High similarity score.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Applications</a:t>
            </a:r>
            <a:r>
              <a:rPr lang="en"/>
              <a:t>: Retrieval-Augmented Generation (RAG), open-domain question answering.</a:t>
            </a:r>
            <a:endParaRPr/>
          </a:p>
        </p:txBody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09. Summarization Consistency Checking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Goal: Compare a generated summary with the source text to verify faithfulness.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Summary: “The study confirms that AI improves accuracy.”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Original: “The study suggests AI may improve accuracy.”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Low factual similarity.</a:t>
            </a:r>
            <a:endParaRPr/>
          </a:p>
        </p:txBody>
      </p:sp>
      <p:sp>
        <p:nvSpPr>
          <p:cNvPr id="200" name="Google Shape;20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Graph / Knowledge-Based Document Similarity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Compare documents using semantic graphs (entities and relationships)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Techniques</a:t>
            </a:r>
            <a:r>
              <a:rPr lang="en"/>
              <a:t>: Build entity-relation graphs, then compute graph similarity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Applications</a:t>
            </a:r>
            <a:r>
              <a:rPr lang="en"/>
              <a:t>: Semantic search, entity linking, ontology matching</a:t>
            </a:r>
            <a:endParaRPr/>
          </a:p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Code or Multimodal Similarity</a:t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Text-to-Code Similarity</a:t>
            </a:r>
            <a:r>
              <a:rPr lang="en"/>
              <a:t>: Match source code snippets to natural language descriptions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Text–Image Similarity</a:t>
            </a:r>
            <a:r>
              <a:rPr lang="en"/>
              <a:t> (CLIP-style): Match images to textual captions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These extend document similarity into multimodal domains.</a:t>
            </a:r>
            <a:endParaRPr/>
          </a:p>
        </p:txBody>
      </p:sp>
      <p:sp>
        <p:nvSpPr>
          <p:cNvPr id="214" name="Google Shape;21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Metric Learning / Siamese Network Problems</a:t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Goal</a:t>
            </a:r>
            <a:r>
              <a:rPr lang="en"/>
              <a:t>: Learn an embedding function that places similar documents close in vector space.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 Models</a:t>
            </a:r>
            <a:r>
              <a:rPr lang="en"/>
              <a:t>: Siamese BERT, Sentence-BERT (SBERT), Contrastive Learning.</a:t>
            </a:r>
            <a:endParaRPr/>
          </a:p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251967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into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travel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 Travel Recommendation (Destination Similarity)</a:t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105900" y="8679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Use document similarity to find destinations with similar descriptions</a:t>
            </a:r>
            <a:endParaRPr b="1"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User liked a blog or review about “Da Nang beach activities”.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System searches for other documents with high similarity (e.g., “Phu Quoc snorkeling spots”, “Nha Trang diving tours”).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Techniques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Represent destinations using TF-IDF, Doc2Vec, or Sentence-BERT embeddings.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Compute cosine similarity between destination descriptions.</a:t>
            </a:r>
            <a:endParaRPr/>
          </a:p>
        </p:txBody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User Query Understanding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Compare the user’s query with travel content in your database.</a:t>
            </a:r>
            <a:endParaRPr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Query: “romantic places for honeymoon in winter”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System retrieves destinations with semantically similar descriptions.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Models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SBERT / SimCSE / MiniLM for semantic embeddings.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Use vector database (FAISS, Weaviate, Pinecone) for fast similarity search.</a:t>
            </a:r>
            <a:endParaRPr/>
          </a:p>
        </p:txBody>
      </p:sp>
      <p:sp>
        <p:nvSpPr>
          <p:cNvPr id="241" name="Google Shape;24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Review and Comment Analysis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Cluster or detect similar reviews using document similarity</a:t>
            </a:r>
            <a:endParaRPr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Merge duplicate reviews.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Detect spam or copy-paste content.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trending topics among traveler reviews.</a:t>
            </a:r>
            <a:endParaRPr/>
          </a:p>
        </p:txBody>
      </p:sp>
      <p:sp>
        <p:nvSpPr>
          <p:cNvPr id="248" name="Google Shape;24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Itinerary or Package Matching</a:t>
            </a:r>
            <a:endParaRPr/>
          </a:p>
        </p:txBody>
      </p:sp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Given a user’s planned itinerary (a text description), find similar existing travel packages.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User itinerary: “3-day trip to Da Lat with trekking and waterfall visits.”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→ Retrieve similar tour packages using semantic similarity.</a:t>
            </a:r>
            <a:endParaRPr/>
          </a:p>
        </p:txBody>
      </p:sp>
      <p:sp>
        <p:nvSpPr>
          <p:cNvPr id="255" name="Google Shape;25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Personalized Content Matching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When a user reads or saves a travel article, the system recommends semantically similar content.</a:t>
            </a:r>
            <a:endParaRPr>
              <a:solidFill>
                <a:srgbClr val="0000FF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Pipeline: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Encode each document (destination info, blog, review) → vector.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Encode the user’s currently viewed document → vector.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Retrieve top-k similar vectors using cosine similarity.</a:t>
            </a:r>
            <a:endParaRPr/>
          </a:p>
        </p:txBody>
      </p:sp>
      <p:sp>
        <p:nvSpPr>
          <p:cNvPr id="262" name="Google Shape;26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Multilingual Support</a:t>
            </a:r>
            <a:endParaRPr/>
          </a:p>
        </p:txBody>
      </p:sp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system supports multiple languages, use cross-lingual embeddings (LaBSE, mBERT) to match English and Vietnamese travel content.</a:t>
            </a:r>
            <a:endParaRPr/>
          </a:p>
        </p:txBody>
      </p:sp>
      <p:sp>
        <p:nvSpPr>
          <p:cNvPr id="269" name="Google Shape;26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