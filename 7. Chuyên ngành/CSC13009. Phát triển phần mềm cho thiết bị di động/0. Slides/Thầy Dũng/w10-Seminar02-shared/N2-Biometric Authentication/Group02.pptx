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Bungee" charset="1" panose="00000000000000000000"/>
      <p:regular r:id="rId38"/>
    </p:embeddedFont>
    <p:embeddedFont>
      <p:font typeface="Krub Bold" charset="1" panose="00000800000000000000"/>
      <p:regular r:id="rId39"/>
    </p:embeddedFont>
    <p:embeddedFont>
      <p:font typeface="Krub" charset="1" panose="00000500000000000000"/>
      <p:regular r:id="rId40"/>
    </p:embeddedFont>
    <p:embeddedFont>
      <p:font typeface="Krub Medium" charset="1" panose="000006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https://source.android.com/docs/security/features/biometric" TargetMode="External" Type="http://schemas.openxmlformats.org/officeDocument/2006/relationships/hyperlink"/><Relationship Id="rId2" Target="../media/image8.png" Type="http://schemas.openxmlformats.org/officeDocument/2006/relationships/image"/><Relationship Id="rId3" Target="../media/image9.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pn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0.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104326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nhóm 2</a:t>
            </a:r>
          </a:p>
        </p:txBody>
      </p:sp>
      <p:sp>
        <p:nvSpPr>
          <p:cNvPr name="Freeform 4" id="4"/>
          <p:cNvSpPr/>
          <p:nvPr/>
        </p:nvSpPr>
        <p:spPr>
          <a:xfrm flipH="false" flipV="false" rot="-10321493">
            <a:off x="264075" y="-1743408"/>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772893" y="7900616"/>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510667" y="3227315"/>
            <a:ext cx="10486600" cy="1501774"/>
          </a:xfrm>
          <a:prstGeom prst="rect">
            <a:avLst/>
          </a:prstGeom>
        </p:spPr>
        <p:txBody>
          <a:bodyPr anchor="t" rtlCol="false" tIns="0" lIns="0" bIns="0" rIns="0">
            <a:spAutoFit/>
          </a:bodyPr>
          <a:lstStyle/>
          <a:p>
            <a:pPr algn="ctr">
              <a:lnSpc>
                <a:spcPts val="9699"/>
              </a:lnSpc>
            </a:pPr>
            <a:r>
              <a:rPr lang="en-US" sz="9999">
                <a:solidFill>
                  <a:srgbClr val="090147"/>
                </a:solidFill>
                <a:latin typeface="Bungee"/>
                <a:ea typeface="Bungee"/>
                <a:cs typeface="Bungee"/>
                <a:sym typeface="Bungee"/>
              </a:rPr>
              <a:t> biometric</a:t>
            </a:r>
          </a:p>
        </p:txBody>
      </p:sp>
      <p:sp>
        <p:nvSpPr>
          <p:cNvPr name="TextBox 7" id="7"/>
          <p:cNvSpPr txBox="true"/>
          <p:nvPr/>
        </p:nvSpPr>
        <p:spPr>
          <a:xfrm rot="0">
            <a:off x="2815920" y="4978630"/>
            <a:ext cx="12656161" cy="1501774"/>
          </a:xfrm>
          <a:prstGeom prst="rect">
            <a:avLst/>
          </a:prstGeom>
        </p:spPr>
        <p:txBody>
          <a:bodyPr anchor="t" rtlCol="false" tIns="0" lIns="0" bIns="0" rIns="0">
            <a:spAutoFit/>
          </a:bodyPr>
          <a:lstStyle/>
          <a:p>
            <a:pPr algn="ctr">
              <a:lnSpc>
                <a:spcPts val="9699"/>
              </a:lnSpc>
            </a:pPr>
            <a:r>
              <a:rPr lang="en-US" sz="9999">
                <a:solidFill>
                  <a:srgbClr val="090147"/>
                </a:solidFill>
                <a:latin typeface="Bungee"/>
                <a:ea typeface="Bungee"/>
                <a:cs typeface="Bungee"/>
                <a:sym typeface="Bungee"/>
              </a:rPr>
              <a:t> AUTHENTICATION</a:t>
            </a:r>
          </a:p>
        </p:txBody>
      </p:sp>
      <p:sp>
        <p:nvSpPr>
          <p:cNvPr name="Freeform 8" id="8"/>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0321493">
            <a:off x="16695089" y="-504558"/>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3693373" y="1488266"/>
            <a:ext cx="7131854" cy="9334888"/>
          </a:xfrm>
          <a:custGeom>
            <a:avLst/>
            <a:gdLst/>
            <a:ahLst/>
            <a:cxnLst/>
            <a:rect r="r" b="b" t="t" l="l"/>
            <a:pathLst>
              <a:path h="9334888" w="7131854">
                <a:moveTo>
                  <a:pt x="0" y="0"/>
                </a:moveTo>
                <a:lnTo>
                  <a:pt x="7131854" y="0"/>
                </a:lnTo>
                <a:lnTo>
                  <a:pt x="7131854" y="9334888"/>
                </a:lnTo>
                <a:lnTo>
                  <a:pt x="0" y="93348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791406" y="1895383"/>
            <a:ext cx="8705187" cy="1135459"/>
            <a:chOff x="0" y="0"/>
            <a:chExt cx="2534776" cy="330623"/>
          </a:xfrm>
        </p:grpSpPr>
        <p:sp>
          <p:nvSpPr>
            <p:cNvPr name="Freeform 4" id="4"/>
            <p:cNvSpPr/>
            <p:nvPr/>
          </p:nvSpPr>
          <p:spPr>
            <a:xfrm flipH="false" flipV="false" rot="0">
              <a:off x="0" y="0"/>
              <a:ext cx="2534776" cy="330623"/>
            </a:xfrm>
            <a:custGeom>
              <a:avLst/>
              <a:gdLst/>
              <a:ahLst/>
              <a:cxnLst/>
              <a:rect r="r" b="b" t="t" l="l"/>
              <a:pathLst>
                <a:path h="330623" w="2534776">
                  <a:moveTo>
                    <a:pt x="45023" y="0"/>
                  </a:moveTo>
                  <a:lnTo>
                    <a:pt x="2489753" y="0"/>
                  </a:lnTo>
                  <a:cubicBezTo>
                    <a:pt x="2501693" y="0"/>
                    <a:pt x="2513145" y="4743"/>
                    <a:pt x="2521589" y="13187"/>
                  </a:cubicBezTo>
                  <a:cubicBezTo>
                    <a:pt x="2530032" y="21630"/>
                    <a:pt x="2534776" y="33082"/>
                    <a:pt x="2534776" y="45023"/>
                  </a:cubicBezTo>
                  <a:lnTo>
                    <a:pt x="2534776" y="285600"/>
                  </a:lnTo>
                  <a:cubicBezTo>
                    <a:pt x="2534776" y="297541"/>
                    <a:pt x="2530032" y="308992"/>
                    <a:pt x="2521589" y="317436"/>
                  </a:cubicBezTo>
                  <a:cubicBezTo>
                    <a:pt x="2513145" y="325879"/>
                    <a:pt x="2501693" y="330623"/>
                    <a:pt x="2489753" y="330623"/>
                  </a:cubicBezTo>
                  <a:lnTo>
                    <a:pt x="45023" y="330623"/>
                  </a:lnTo>
                  <a:cubicBezTo>
                    <a:pt x="20158" y="330623"/>
                    <a:pt x="0" y="310465"/>
                    <a:pt x="0" y="285600"/>
                  </a:cubicBezTo>
                  <a:lnTo>
                    <a:pt x="0" y="45023"/>
                  </a:lnTo>
                  <a:cubicBezTo>
                    <a:pt x="0" y="33082"/>
                    <a:pt x="4743" y="21630"/>
                    <a:pt x="13187" y="13187"/>
                  </a:cubicBezTo>
                  <a:cubicBezTo>
                    <a:pt x="21630" y="4743"/>
                    <a:pt x="33082" y="0"/>
                    <a:pt x="45023" y="0"/>
                  </a:cubicBezTo>
                  <a:close/>
                </a:path>
              </a:pathLst>
            </a:custGeom>
            <a:gradFill rotWithShape="true">
              <a:gsLst>
                <a:gs pos="0">
                  <a:srgbClr val="2D8BBA">
                    <a:alpha val="100000"/>
                  </a:srgbClr>
                </a:gs>
                <a:gs pos="100000">
                  <a:srgbClr val="192385">
                    <a:alpha val="100000"/>
                  </a:srgbClr>
                </a:gs>
              </a:gsLst>
              <a:lin ang="0"/>
            </a:gradFill>
          </p:spPr>
        </p:sp>
        <p:sp>
          <p:nvSpPr>
            <p:cNvPr name="TextBox 5" id="5"/>
            <p:cNvSpPr txBox="true"/>
            <p:nvPr/>
          </p:nvSpPr>
          <p:spPr>
            <a:xfrm>
              <a:off x="0" y="-38100"/>
              <a:ext cx="2534776" cy="368723"/>
            </a:xfrm>
            <a:prstGeom prst="rect">
              <a:avLst/>
            </a:prstGeom>
          </p:spPr>
          <p:txBody>
            <a:bodyPr anchor="ctr" rtlCol="false" tIns="50800" lIns="50800" bIns="50800" rIns="50800"/>
            <a:lstStyle/>
            <a:p>
              <a:pPr algn="l">
                <a:lnSpc>
                  <a:spcPts val="2659"/>
                </a:lnSpc>
                <a:spcBef>
                  <a:spcPct val="0"/>
                </a:spcBef>
              </a:pPr>
            </a:p>
          </p:txBody>
        </p:sp>
      </p:grpSp>
      <p:sp>
        <p:nvSpPr>
          <p:cNvPr name="Freeform 6" id="6"/>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4"/>
            <a:stretch>
              <a:fillRect l="0" t="0" r="0" b="0"/>
            </a:stretch>
          </a:blipFill>
        </p:spPr>
      </p:sp>
      <p:sp>
        <p:nvSpPr>
          <p:cNvPr name="TextBox 7" id="7"/>
          <p:cNvSpPr txBox="true"/>
          <p:nvPr/>
        </p:nvSpPr>
        <p:spPr>
          <a:xfrm rot="0">
            <a:off x="5871030" y="519125"/>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THÀNH VIÊN</a:t>
            </a:r>
          </a:p>
        </p:txBody>
      </p:sp>
      <p:sp>
        <p:nvSpPr>
          <p:cNvPr name="TextBox 8" id="8"/>
          <p:cNvSpPr txBox="true"/>
          <p:nvPr/>
        </p:nvSpPr>
        <p:spPr>
          <a:xfrm rot="0">
            <a:off x="5157063" y="2147835"/>
            <a:ext cx="7983988" cy="563881"/>
          </a:xfrm>
          <a:prstGeom prst="rect">
            <a:avLst/>
          </a:prstGeom>
        </p:spPr>
        <p:txBody>
          <a:bodyPr anchor="t" rtlCol="false" tIns="0" lIns="0" bIns="0" rIns="0">
            <a:spAutoFit/>
          </a:bodyPr>
          <a:lstStyle/>
          <a:p>
            <a:pPr algn="l">
              <a:lnSpc>
                <a:spcPts val="4619"/>
              </a:lnSpc>
            </a:pPr>
            <a:r>
              <a:rPr lang="en-US" sz="3299" spc="36" b="true">
                <a:solidFill>
                  <a:srgbClr val="FFFFFF"/>
                </a:solidFill>
                <a:latin typeface="Krub Bold"/>
                <a:ea typeface="Krub Bold"/>
                <a:cs typeface="Krub Bold"/>
                <a:sym typeface="Krub Bold"/>
              </a:rPr>
              <a:t>23120244 - Nguyễn Nhật Duy </a:t>
            </a:r>
          </a:p>
        </p:txBody>
      </p:sp>
      <p:sp>
        <p:nvSpPr>
          <p:cNvPr name="Freeform 9" id="9"/>
          <p:cNvSpPr/>
          <p:nvPr/>
        </p:nvSpPr>
        <p:spPr>
          <a:xfrm flipH="false" flipV="false" rot="-10321493">
            <a:off x="665119" y="-15478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4791406" y="3373742"/>
            <a:ext cx="8705187" cy="1135459"/>
            <a:chOff x="0" y="0"/>
            <a:chExt cx="2534776" cy="330623"/>
          </a:xfrm>
        </p:grpSpPr>
        <p:sp>
          <p:nvSpPr>
            <p:cNvPr name="Freeform 11" id="11"/>
            <p:cNvSpPr/>
            <p:nvPr/>
          </p:nvSpPr>
          <p:spPr>
            <a:xfrm flipH="false" flipV="false" rot="0">
              <a:off x="0" y="0"/>
              <a:ext cx="2534776" cy="330623"/>
            </a:xfrm>
            <a:custGeom>
              <a:avLst/>
              <a:gdLst/>
              <a:ahLst/>
              <a:cxnLst/>
              <a:rect r="r" b="b" t="t" l="l"/>
              <a:pathLst>
                <a:path h="330623" w="2534776">
                  <a:moveTo>
                    <a:pt x="45023" y="0"/>
                  </a:moveTo>
                  <a:lnTo>
                    <a:pt x="2489753" y="0"/>
                  </a:lnTo>
                  <a:cubicBezTo>
                    <a:pt x="2501693" y="0"/>
                    <a:pt x="2513145" y="4743"/>
                    <a:pt x="2521589" y="13187"/>
                  </a:cubicBezTo>
                  <a:cubicBezTo>
                    <a:pt x="2530032" y="21630"/>
                    <a:pt x="2534776" y="33082"/>
                    <a:pt x="2534776" y="45023"/>
                  </a:cubicBezTo>
                  <a:lnTo>
                    <a:pt x="2534776" y="285600"/>
                  </a:lnTo>
                  <a:cubicBezTo>
                    <a:pt x="2534776" y="297541"/>
                    <a:pt x="2530032" y="308992"/>
                    <a:pt x="2521589" y="317436"/>
                  </a:cubicBezTo>
                  <a:cubicBezTo>
                    <a:pt x="2513145" y="325879"/>
                    <a:pt x="2501693" y="330623"/>
                    <a:pt x="2489753" y="330623"/>
                  </a:cubicBezTo>
                  <a:lnTo>
                    <a:pt x="45023" y="330623"/>
                  </a:lnTo>
                  <a:cubicBezTo>
                    <a:pt x="20158" y="330623"/>
                    <a:pt x="0" y="310465"/>
                    <a:pt x="0" y="285600"/>
                  </a:cubicBezTo>
                  <a:lnTo>
                    <a:pt x="0" y="45023"/>
                  </a:lnTo>
                  <a:cubicBezTo>
                    <a:pt x="0" y="33082"/>
                    <a:pt x="4743" y="21630"/>
                    <a:pt x="13187" y="13187"/>
                  </a:cubicBezTo>
                  <a:cubicBezTo>
                    <a:pt x="21630" y="4743"/>
                    <a:pt x="33082" y="0"/>
                    <a:pt x="45023" y="0"/>
                  </a:cubicBezTo>
                  <a:close/>
                </a:path>
              </a:pathLst>
            </a:custGeom>
            <a:gradFill rotWithShape="true">
              <a:gsLst>
                <a:gs pos="0">
                  <a:srgbClr val="2D8BBA">
                    <a:alpha val="100000"/>
                  </a:srgbClr>
                </a:gs>
                <a:gs pos="100000">
                  <a:srgbClr val="192385">
                    <a:alpha val="100000"/>
                  </a:srgbClr>
                </a:gs>
              </a:gsLst>
              <a:lin ang="0"/>
            </a:gradFill>
          </p:spPr>
        </p:sp>
        <p:sp>
          <p:nvSpPr>
            <p:cNvPr name="TextBox 12" id="12"/>
            <p:cNvSpPr txBox="true"/>
            <p:nvPr/>
          </p:nvSpPr>
          <p:spPr>
            <a:xfrm>
              <a:off x="0" y="-38100"/>
              <a:ext cx="2534776" cy="368723"/>
            </a:xfrm>
            <a:prstGeom prst="rect">
              <a:avLst/>
            </a:prstGeom>
          </p:spPr>
          <p:txBody>
            <a:bodyPr anchor="ctr" rtlCol="false" tIns="50800" lIns="50800" bIns="50800" rIns="50800"/>
            <a:lstStyle/>
            <a:p>
              <a:pPr algn="l">
                <a:lnSpc>
                  <a:spcPts val="2659"/>
                </a:lnSpc>
                <a:spcBef>
                  <a:spcPct val="0"/>
                </a:spcBef>
              </a:pPr>
            </a:p>
          </p:txBody>
        </p:sp>
      </p:grpSp>
      <p:sp>
        <p:nvSpPr>
          <p:cNvPr name="TextBox 13" id="13"/>
          <p:cNvSpPr txBox="true"/>
          <p:nvPr/>
        </p:nvSpPr>
        <p:spPr>
          <a:xfrm rot="0">
            <a:off x="5157063" y="3618170"/>
            <a:ext cx="7983988" cy="563881"/>
          </a:xfrm>
          <a:prstGeom prst="rect">
            <a:avLst/>
          </a:prstGeom>
        </p:spPr>
        <p:txBody>
          <a:bodyPr anchor="t" rtlCol="false" tIns="0" lIns="0" bIns="0" rIns="0">
            <a:spAutoFit/>
          </a:bodyPr>
          <a:lstStyle/>
          <a:p>
            <a:pPr algn="l">
              <a:lnSpc>
                <a:spcPts val="4619"/>
              </a:lnSpc>
            </a:pPr>
            <a:r>
              <a:rPr lang="en-US" sz="3299" spc="36" b="true">
                <a:solidFill>
                  <a:srgbClr val="FFFFFF"/>
                </a:solidFill>
                <a:latin typeface="Krub Bold"/>
                <a:ea typeface="Krub Bold"/>
                <a:cs typeface="Krub Bold"/>
                <a:sym typeface="Krub Bold"/>
              </a:rPr>
              <a:t>23120252 - Nguyễn Phúc Hậu</a:t>
            </a:r>
          </a:p>
        </p:txBody>
      </p:sp>
      <p:grpSp>
        <p:nvGrpSpPr>
          <p:cNvPr name="Group 14" id="14"/>
          <p:cNvGrpSpPr/>
          <p:nvPr/>
        </p:nvGrpSpPr>
        <p:grpSpPr>
          <a:xfrm rot="0">
            <a:off x="4791406" y="5020251"/>
            <a:ext cx="8705187" cy="1135459"/>
            <a:chOff x="0" y="0"/>
            <a:chExt cx="2534776" cy="330623"/>
          </a:xfrm>
        </p:grpSpPr>
        <p:sp>
          <p:nvSpPr>
            <p:cNvPr name="Freeform 15" id="15"/>
            <p:cNvSpPr/>
            <p:nvPr/>
          </p:nvSpPr>
          <p:spPr>
            <a:xfrm flipH="false" flipV="false" rot="0">
              <a:off x="0" y="0"/>
              <a:ext cx="2534776" cy="330623"/>
            </a:xfrm>
            <a:custGeom>
              <a:avLst/>
              <a:gdLst/>
              <a:ahLst/>
              <a:cxnLst/>
              <a:rect r="r" b="b" t="t" l="l"/>
              <a:pathLst>
                <a:path h="330623" w="2534776">
                  <a:moveTo>
                    <a:pt x="45023" y="0"/>
                  </a:moveTo>
                  <a:lnTo>
                    <a:pt x="2489753" y="0"/>
                  </a:lnTo>
                  <a:cubicBezTo>
                    <a:pt x="2501693" y="0"/>
                    <a:pt x="2513145" y="4743"/>
                    <a:pt x="2521589" y="13187"/>
                  </a:cubicBezTo>
                  <a:cubicBezTo>
                    <a:pt x="2530032" y="21630"/>
                    <a:pt x="2534776" y="33082"/>
                    <a:pt x="2534776" y="45023"/>
                  </a:cubicBezTo>
                  <a:lnTo>
                    <a:pt x="2534776" y="285600"/>
                  </a:lnTo>
                  <a:cubicBezTo>
                    <a:pt x="2534776" y="297541"/>
                    <a:pt x="2530032" y="308992"/>
                    <a:pt x="2521589" y="317436"/>
                  </a:cubicBezTo>
                  <a:cubicBezTo>
                    <a:pt x="2513145" y="325879"/>
                    <a:pt x="2501693" y="330623"/>
                    <a:pt x="2489753" y="330623"/>
                  </a:cubicBezTo>
                  <a:lnTo>
                    <a:pt x="45023" y="330623"/>
                  </a:lnTo>
                  <a:cubicBezTo>
                    <a:pt x="20158" y="330623"/>
                    <a:pt x="0" y="310465"/>
                    <a:pt x="0" y="285600"/>
                  </a:cubicBezTo>
                  <a:lnTo>
                    <a:pt x="0" y="45023"/>
                  </a:lnTo>
                  <a:cubicBezTo>
                    <a:pt x="0" y="33082"/>
                    <a:pt x="4743" y="21630"/>
                    <a:pt x="13187" y="13187"/>
                  </a:cubicBezTo>
                  <a:cubicBezTo>
                    <a:pt x="21630" y="4743"/>
                    <a:pt x="33082" y="0"/>
                    <a:pt x="45023" y="0"/>
                  </a:cubicBezTo>
                  <a:close/>
                </a:path>
              </a:pathLst>
            </a:custGeom>
            <a:gradFill rotWithShape="true">
              <a:gsLst>
                <a:gs pos="0">
                  <a:srgbClr val="2D8BBA">
                    <a:alpha val="100000"/>
                  </a:srgbClr>
                </a:gs>
                <a:gs pos="100000">
                  <a:srgbClr val="192385">
                    <a:alpha val="100000"/>
                  </a:srgbClr>
                </a:gs>
              </a:gsLst>
              <a:lin ang="0"/>
            </a:gradFill>
          </p:spPr>
        </p:sp>
        <p:sp>
          <p:nvSpPr>
            <p:cNvPr name="TextBox 16" id="16"/>
            <p:cNvSpPr txBox="true"/>
            <p:nvPr/>
          </p:nvSpPr>
          <p:spPr>
            <a:xfrm>
              <a:off x="0" y="-38100"/>
              <a:ext cx="2534776" cy="368723"/>
            </a:xfrm>
            <a:prstGeom prst="rect">
              <a:avLst/>
            </a:prstGeom>
          </p:spPr>
          <p:txBody>
            <a:bodyPr anchor="ctr" rtlCol="false" tIns="50800" lIns="50800" bIns="50800" rIns="50800"/>
            <a:lstStyle/>
            <a:p>
              <a:pPr algn="l">
                <a:lnSpc>
                  <a:spcPts val="2659"/>
                </a:lnSpc>
                <a:spcBef>
                  <a:spcPct val="0"/>
                </a:spcBef>
              </a:pPr>
            </a:p>
          </p:txBody>
        </p:sp>
      </p:grpSp>
      <p:sp>
        <p:nvSpPr>
          <p:cNvPr name="TextBox 17" id="17"/>
          <p:cNvSpPr txBox="true"/>
          <p:nvPr/>
        </p:nvSpPr>
        <p:spPr>
          <a:xfrm rot="0">
            <a:off x="5157063" y="5274352"/>
            <a:ext cx="7983988" cy="563881"/>
          </a:xfrm>
          <a:prstGeom prst="rect">
            <a:avLst/>
          </a:prstGeom>
        </p:spPr>
        <p:txBody>
          <a:bodyPr anchor="t" rtlCol="false" tIns="0" lIns="0" bIns="0" rIns="0">
            <a:spAutoFit/>
          </a:bodyPr>
          <a:lstStyle/>
          <a:p>
            <a:pPr algn="l">
              <a:lnSpc>
                <a:spcPts val="4619"/>
              </a:lnSpc>
            </a:pPr>
            <a:r>
              <a:rPr lang="en-US" sz="3299" spc="36" b="true">
                <a:solidFill>
                  <a:srgbClr val="FFFFFF"/>
                </a:solidFill>
                <a:latin typeface="Krub Bold"/>
                <a:ea typeface="Krub Bold"/>
                <a:cs typeface="Krub Bold"/>
                <a:sym typeface="Krub Bold"/>
              </a:rPr>
              <a:t>23120255 - Lê Tấn Hiệp</a:t>
            </a:r>
          </a:p>
        </p:txBody>
      </p:sp>
      <p:grpSp>
        <p:nvGrpSpPr>
          <p:cNvPr name="Group 18" id="18"/>
          <p:cNvGrpSpPr/>
          <p:nvPr/>
        </p:nvGrpSpPr>
        <p:grpSpPr>
          <a:xfrm rot="0">
            <a:off x="4791406" y="6670060"/>
            <a:ext cx="8705187" cy="1135459"/>
            <a:chOff x="0" y="0"/>
            <a:chExt cx="2534776" cy="330623"/>
          </a:xfrm>
        </p:grpSpPr>
        <p:sp>
          <p:nvSpPr>
            <p:cNvPr name="Freeform 19" id="19"/>
            <p:cNvSpPr/>
            <p:nvPr/>
          </p:nvSpPr>
          <p:spPr>
            <a:xfrm flipH="false" flipV="false" rot="0">
              <a:off x="0" y="0"/>
              <a:ext cx="2534776" cy="330623"/>
            </a:xfrm>
            <a:custGeom>
              <a:avLst/>
              <a:gdLst/>
              <a:ahLst/>
              <a:cxnLst/>
              <a:rect r="r" b="b" t="t" l="l"/>
              <a:pathLst>
                <a:path h="330623" w="2534776">
                  <a:moveTo>
                    <a:pt x="45023" y="0"/>
                  </a:moveTo>
                  <a:lnTo>
                    <a:pt x="2489753" y="0"/>
                  </a:lnTo>
                  <a:cubicBezTo>
                    <a:pt x="2501693" y="0"/>
                    <a:pt x="2513145" y="4743"/>
                    <a:pt x="2521589" y="13187"/>
                  </a:cubicBezTo>
                  <a:cubicBezTo>
                    <a:pt x="2530032" y="21630"/>
                    <a:pt x="2534776" y="33082"/>
                    <a:pt x="2534776" y="45023"/>
                  </a:cubicBezTo>
                  <a:lnTo>
                    <a:pt x="2534776" y="285600"/>
                  </a:lnTo>
                  <a:cubicBezTo>
                    <a:pt x="2534776" y="297541"/>
                    <a:pt x="2530032" y="308992"/>
                    <a:pt x="2521589" y="317436"/>
                  </a:cubicBezTo>
                  <a:cubicBezTo>
                    <a:pt x="2513145" y="325879"/>
                    <a:pt x="2501693" y="330623"/>
                    <a:pt x="2489753" y="330623"/>
                  </a:cubicBezTo>
                  <a:lnTo>
                    <a:pt x="45023" y="330623"/>
                  </a:lnTo>
                  <a:cubicBezTo>
                    <a:pt x="20158" y="330623"/>
                    <a:pt x="0" y="310465"/>
                    <a:pt x="0" y="285600"/>
                  </a:cubicBezTo>
                  <a:lnTo>
                    <a:pt x="0" y="45023"/>
                  </a:lnTo>
                  <a:cubicBezTo>
                    <a:pt x="0" y="33082"/>
                    <a:pt x="4743" y="21630"/>
                    <a:pt x="13187" y="13187"/>
                  </a:cubicBezTo>
                  <a:cubicBezTo>
                    <a:pt x="21630" y="4743"/>
                    <a:pt x="33082" y="0"/>
                    <a:pt x="45023" y="0"/>
                  </a:cubicBezTo>
                  <a:close/>
                </a:path>
              </a:pathLst>
            </a:custGeom>
            <a:gradFill rotWithShape="true">
              <a:gsLst>
                <a:gs pos="0">
                  <a:srgbClr val="2D8BBA">
                    <a:alpha val="100000"/>
                  </a:srgbClr>
                </a:gs>
                <a:gs pos="100000">
                  <a:srgbClr val="192385">
                    <a:alpha val="100000"/>
                  </a:srgbClr>
                </a:gs>
              </a:gsLst>
              <a:lin ang="0"/>
            </a:gradFill>
          </p:spPr>
        </p:sp>
        <p:sp>
          <p:nvSpPr>
            <p:cNvPr name="TextBox 20" id="20"/>
            <p:cNvSpPr txBox="true"/>
            <p:nvPr/>
          </p:nvSpPr>
          <p:spPr>
            <a:xfrm>
              <a:off x="0" y="-38100"/>
              <a:ext cx="2534776" cy="368723"/>
            </a:xfrm>
            <a:prstGeom prst="rect">
              <a:avLst/>
            </a:prstGeom>
          </p:spPr>
          <p:txBody>
            <a:bodyPr anchor="ctr" rtlCol="false" tIns="50800" lIns="50800" bIns="50800" rIns="50800"/>
            <a:lstStyle/>
            <a:p>
              <a:pPr algn="l">
                <a:lnSpc>
                  <a:spcPts val="2659"/>
                </a:lnSpc>
                <a:spcBef>
                  <a:spcPct val="0"/>
                </a:spcBef>
              </a:pPr>
            </a:p>
          </p:txBody>
        </p:sp>
      </p:grpSp>
      <p:sp>
        <p:nvSpPr>
          <p:cNvPr name="TextBox 21" id="21"/>
          <p:cNvSpPr txBox="true"/>
          <p:nvPr/>
        </p:nvSpPr>
        <p:spPr>
          <a:xfrm rot="0">
            <a:off x="5157063" y="6917710"/>
            <a:ext cx="7983988" cy="563881"/>
          </a:xfrm>
          <a:prstGeom prst="rect">
            <a:avLst/>
          </a:prstGeom>
        </p:spPr>
        <p:txBody>
          <a:bodyPr anchor="t" rtlCol="false" tIns="0" lIns="0" bIns="0" rIns="0">
            <a:spAutoFit/>
          </a:bodyPr>
          <a:lstStyle/>
          <a:p>
            <a:pPr algn="l">
              <a:lnSpc>
                <a:spcPts val="4619"/>
              </a:lnSpc>
            </a:pPr>
            <a:r>
              <a:rPr lang="en-US" sz="3299" spc="36" b="true">
                <a:solidFill>
                  <a:srgbClr val="FFFFFF"/>
                </a:solidFill>
                <a:latin typeface="Krub Bold"/>
                <a:ea typeface="Krub Bold"/>
                <a:cs typeface="Krub Bold"/>
                <a:sym typeface="Krub Bold"/>
              </a:rPr>
              <a:t>23120262 - Tống Dương Thái Hòa</a:t>
            </a:r>
          </a:p>
        </p:txBody>
      </p:sp>
      <p:grpSp>
        <p:nvGrpSpPr>
          <p:cNvPr name="Group 22" id="22"/>
          <p:cNvGrpSpPr/>
          <p:nvPr/>
        </p:nvGrpSpPr>
        <p:grpSpPr>
          <a:xfrm rot="0">
            <a:off x="4791406" y="8319869"/>
            <a:ext cx="8705187" cy="1135459"/>
            <a:chOff x="0" y="0"/>
            <a:chExt cx="2534776" cy="330623"/>
          </a:xfrm>
        </p:grpSpPr>
        <p:sp>
          <p:nvSpPr>
            <p:cNvPr name="Freeform 23" id="23"/>
            <p:cNvSpPr/>
            <p:nvPr/>
          </p:nvSpPr>
          <p:spPr>
            <a:xfrm flipH="false" flipV="false" rot="0">
              <a:off x="0" y="0"/>
              <a:ext cx="2534776" cy="330623"/>
            </a:xfrm>
            <a:custGeom>
              <a:avLst/>
              <a:gdLst/>
              <a:ahLst/>
              <a:cxnLst/>
              <a:rect r="r" b="b" t="t" l="l"/>
              <a:pathLst>
                <a:path h="330623" w="2534776">
                  <a:moveTo>
                    <a:pt x="45023" y="0"/>
                  </a:moveTo>
                  <a:lnTo>
                    <a:pt x="2489753" y="0"/>
                  </a:lnTo>
                  <a:cubicBezTo>
                    <a:pt x="2501693" y="0"/>
                    <a:pt x="2513145" y="4743"/>
                    <a:pt x="2521589" y="13187"/>
                  </a:cubicBezTo>
                  <a:cubicBezTo>
                    <a:pt x="2530032" y="21630"/>
                    <a:pt x="2534776" y="33082"/>
                    <a:pt x="2534776" y="45023"/>
                  </a:cubicBezTo>
                  <a:lnTo>
                    <a:pt x="2534776" y="285600"/>
                  </a:lnTo>
                  <a:cubicBezTo>
                    <a:pt x="2534776" y="297541"/>
                    <a:pt x="2530032" y="308992"/>
                    <a:pt x="2521589" y="317436"/>
                  </a:cubicBezTo>
                  <a:cubicBezTo>
                    <a:pt x="2513145" y="325879"/>
                    <a:pt x="2501693" y="330623"/>
                    <a:pt x="2489753" y="330623"/>
                  </a:cubicBezTo>
                  <a:lnTo>
                    <a:pt x="45023" y="330623"/>
                  </a:lnTo>
                  <a:cubicBezTo>
                    <a:pt x="20158" y="330623"/>
                    <a:pt x="0" y="310465"/>
                    <a:pt x="0" y="285600"/>
                  </a:cubicBezTo>
                  <a:lnTo>
                    <a:pt x="0" y="45023"/>
                  </a:lnTo>
                  <a:cubicBezTo>
                    <a:pt x="0" y="33082"/>
                    <a:pt x="4743" y="21630"/>
                    <a:pt x="13187" y="13187"/>
                  </a:cubicBezTo>
                  <a:cubicBezTo>
                    <a:pt x="21630" y="4743"/>
                    <a:pt x="33082" y="0"/>
                    <a:pt x="45023" y="0"/>
                  </a:cubicBezTo>
                  <a:close/>
                </a:path>
              </a:pathLst>
            </a:custGeom>
            <a:gradFill rotWithShape="true">
              <a:gsLst>
                <a:gs pos="0">
                  <a:srgbClr val="2D8BBA">
                    <a:alpha val="100000"/>
                  </a:srgbClr>
                </a:gs>
                <a:gs pos="100000">
                  <a:srgbClr val="192385">
                    <a:alpha val="100000"/>
                  </a:srgbClr>
                </a:gs>
              </a:gsLst>
              <a:lin ang="0"/>
            </a:gradFill>
          </p:spPr>
        </p:sp>
        <p:sp>
          <p:nvSpPr>
            <p:cNvPr name="TextBox 24" id="24"/>
            <p:cNvSpPr txBox="true"/>
            <p:nvPr/>
          </p:nvSpPr>
          <p:spPr>
            <a:xfrm>
              <a:off x="0" y="-38100"/>
              <a:ext cx="2534776" cy="368723"/>
            </a:xfrm>
            <a:prstGeom prst="rect">
              <a:avLst/>
            </a:prstGeom>
          </p:spPr>
          <p:txBody>
            <a:bodyPr anchor="ctr" rtlCol="false" tIns="50800" lIns="50800" bIns="50800" rIns="50800"/>
            <a:lstStyle/>
            <a:p>
              <a:pPr algn="l">
                <a:lnSpc>
                  <a:spcPts val="2659"/>
                </a:lnSpc>
                <a:spcBef>
                  <a:spcPct val="0"/>
                </a:spcBef>
              </a:pPr>
            </a:p>
          </p:txBody>
        </p:sp>
      </p:grpSp>
      <p:sp>
        <p:nvSpPr>
          <p:cNvPr name="TextBox 25" id="25"/>
          <p:cNvSpPr txBox="true"/>
          <p:nvPr/>
        </p:nvSpPr>
        <p:spPr>
          <a:xfrm rot="0">
            <a:off x="5157063" y="8577044"/>
            <a:ext cx="7983988" cy="563881"/>
          </a:xfrm>
          <a:prstGeom prst="rect">
            <a:avLst/>
          </a:prstGeom>
        </p:spPr>
        <p:txBody>
          <a:bodyPr anchor="t" rtlCol="false" tIns="0" lIns="0" bIns="0" rIns="0">
            <a:spAutoFit/>
          </a:bodyPr>
          <a:lstStyle/>
          <a:p>
            <a:pPr algn="l">
              <a:lnSpc>
                <a:spcPts val="4619"/>
              </a:lnSpc>
            </a:pPr>
            <a:r>
              <a:rPr lang="en-US" sz="3299" spc="36" b="true">
                <a:solidFill>
                  <a:srgbClr val="FFFFFF"/>
                </a:solidFill>
                <a:latin typeface="Krub Bold"/>
                <a:ea typeface="Krub Bold"/>
                <a:cs typeface="Krub Bold"/>
                <a:sym typeface="Krub Bold"/>
              </a:rPr>
              <a:t>23120314 - Phạm An Ninh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104326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PHẦN 1</a:t>
            </a:r>
          </a:p>
        </p:txBody>
      </p:sp>
      <p:sp>
        <p:nvSpPr>
          <p:cNvPr name="Freeform 4" id="4"/>
          <p:cNvSpPr/>
          <p:nvPr/>
        </p:nvSpPr>
        <p:spPr>
          <a:xfrm flipH="false" flipV="false" rot="-10321493">
            <a:off x="665119" y="-20574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101222" y="3172920"/>
            <a:ext cx="10486600" cy="2032000"/>
          </a:xfrm>
          <a:prstGeom prst="rect">
            <a:avLst/>
          </a:prstGeom>
        </p:spPr>
        <p:txBody>
          <a:bodyPr anchor="t" rtlCol="false" tIns="0" lIns="0" bIns="0" rIns="0">
            <a:spAutoFit/>
          </a:bodyPr>
          <a:lstStyle/>
          <a:p>
            <a:pPr algn="ctr">
              <a:lnSpc>
                <a:spcPts val="7850"/>
              </a:lnSpc>
            </a:pPr>
            <a:r>
              <a:rPr lang="en-US" sz="5000">
                <a:solidFill>
                  <a:srgbClr val="090147"/>
                </a:solidFill>
                <a:latin typeface="Bungee"/>
                <a:ea typeface="Bungee"/>
                <a:cs typeface="Bungee"/>
                <a:sym typeface="Bungee"/>
              </a:rPr>
              <a:t>Tổng quan về  biometric Architecture </a:t>
            </a:r>
          </a:p>
        </p:txBody>
      </p:sp>
      <p:sp>
        <p:nvSpPr>
          <p:cNvPr name="Freeform 7" id="7"/>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5871030" y="258390"/>
            <a:ext cx="6528787" cy="770310"/>
          </a:xfrm>
          <a:prstGeom prst="rect">
            <a:avLst/>
          </a:prstGeom>
        </p:spPr>
        <p:txBody>
          <a:bodyPr anchor="t" rtlCol="false" tIns="0" lIns="0" bIns="0" rIns="0">
            <a:spAutoFit/>
          </a:bodyPr>
          <a:lstStyle/>
          <a:p>
            <a:pPr algn="ctr">
              <a:lnSpc>
                <a:spcPts val="636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4" id="4"/>
          <p:cNvGrpSpPr/>
          <p:nvPr/>
        </p:nvGrpSpPr>
        <p:grpSpPr>
          <a:xfrm rot="0">
            <a:off x="1983545" y="2085622"/>
            <a:ext cx="13993900" cy="6115757"/>
            <a:chOff x="0" y="0"/>
            <a:chExt cx="3685636" cy="1610734"/>
          </a:xfrm>
        </p:grpSpPr>
        <p:sp>
          <p:nvSpPr>
            <p:cNvPr name="Freeform 5" id="5"/>
            <p:cNvSpPr/>
            <p:nvPr/>
          </p:nvSpPr>
          <p:spPr>
            <a:xfrm flipH="false" flipV="false" rot="0">
              <a:off x="0" y="0"/>
              <a:ext cx="3685636" cy="1610734"/>
            </a:xfrm>
            <a:custGeom>
              <a:avLst/>
              <a:gdLst/>
              <a:ahLst/>
              <a:cxnLst/>
              <a:rect r="r" b="b" t="t" l="l"/>
              <a:pathLst>
                <a:path h="1610734" w="3685636">
                  <a:moveTo>
                    <a:pt x="28008" y="0"/>
                  </a:moveTo>
                  <a:lnTo>
                    <a:pt x="3657629" y="0"/>
                  </a:lnTo>
                  <a:cubicBezTo>
                    <a:pt x="3665057" y="0"/>
                    <a:pt x="3672181" y="2951"/>
                    <a:pt x="3677433" y="8203"/>
                  </a:cubicBezTo>
                  <a:cubicBezTo>
                    <a:pt x="3682686" y="13456"/>
                    <a:pt x="3685636" y="20579"/>
                    <a:pt x="3685636" y="28008"/>
                  </a:cubicBezTo>
                  <a:lnTo>
                    <a:pt x="3685636" y="1582727"/>
                  </a:lnTo>
                  <a:cubicBezTo>
                    <a:pt x="3685636" y="1598195"/>
                    <a:pt x="3673097" y="1610734"/>
                    <a:pt x="3657629" y="1610734"/>
                  </a:cubicBezTo>
                  <a:lnTo>
                    <a:pt x="28008" y="1610734"/>
                  </a:lnTo>
                  <a:cubicBezTo>
                    <a:pt x="12539" y="1610734"/>
                    <a:pt x="0" y="1598195"/>
                    <a:pt x="0" y="1582727"/>
                  </a:cubicBezTo>
                  <a:lnTo>
                    <a:pt x="0" y="28008"/>
                  </a:lnTo>
                  <a:cubicBezTo>
                    <a:pt x="0" y="12539"/>
                    <a:pt x="12539" y="0"/>
                    <a:pt x="28008" y="0"/>
                  </a:cubicBezTo>
                  <a:close/>
                </a:path>
              </a:pathLst>
            </a:custGeom>
            <a:solidFill>
              <a:srgbClr val="FEF6F3"/>
            </a:solidFill>
          </p:spPr>
        </p:sp>
        <p:sp>
          <p:nvSpPr>
            <p:cNvPr name="TextBox 6" id="6"/>
            <p:cNvSpPr txBox="true"/>
            <p:nvPr/>
          </p:nvSpPr>
          <p:spPr>
            <a:xfrm>
              <a:off x="0" y="-38100"/>
              <a:ext cx="3685636" cy="1648834"/>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668297" y="2525457"/>
            <a:ext cx="13197006" cy="1726039"/>
          </a:xfrm>
          <a:prstGeom prst="rect">
            <a:avLst/>
          </a:prstGeom>
        </p:spPr>
        <p:txBody>
          <a:bodyPr anchor="t" rtlCol="false" tIns="0" lIns="0" bIns="0" rIns="0">
            <a:spAutoFit/>
          </a:bodyPr>
          <a:lstStyle/>
          <a:p>
            <a:pPr algn="l" marL="711547" indent="-355774" lvl="1">
              <a:lnSpc>
                <a:spcPts val="4614"/>
              </a:lnSpc>
              <a:buFont typeface="Arial"/>
              <a:buChar char="•"/>
            </a:pPr>
            <a:r>
              <a:rPr lang="en-US" sz="3295" spc="36">
                <a:solidFill>
                  <a:srgbClr val="090147"/>
                </a:solidFill>
                <a:latin typeface="Krub"/>
                <a:ea typeface="Krub"/>
                <a:cs typeface="Krub"/>
                <a:sym typeface="Krub"/>
              </a:rPr>
              <a:t>Xác thực sinh trắc học là phương pháp xác thực người dùng dựa trên đặc điểm sinh học hoặc hành vi độc nhất của mỗi cá nhân</a:t>
            </a:r>
          </a:p>
        </p:txBody>
      </p:sp>
      <p:sp>
        <p:nvSpPr>
          <p:cNvPr name="TextBox 8" id="8"/>
          <p:cNvSpPr txBox="true"/>
          <p:nvPr/>
        </p:nvSpPr>
        <p:spPr>
          <a:xfrm rot="0">
            <a:off x="1028700" y="307467"/>
            <a:ext cx="6545941"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Định nghĩa</a:t>
            </a:r>
          </a:p>
        </p:txBody>
      </p:sp>
      <p:sp>
        <p:nvSpPr>
          <p:cNvPr name="TextBox 9" id="9"/>
          <p:cNvSpPr txBox="true"/>
          <p:nvPr/>
        </p:nvSpPr>
        <p:spPr>
          <a:xfrm rot="0">
            <a:off x="1668297" y="4468093"/>
            <a:ext cx="13197006" cy="1726039"/>
          </a:xfrm>
          <a:prstGeom prst="rect">
            <a:avLst/>
          </a:prstGeom>
        </p:spPr>
        <p:txBody>
          <a:bodyPr anchor="t" rtlCol="false" tIns="0" lIns="0" bIns="0" rIns="0">
            <a:spAutoFit/>
          </a:bodyPr>
          <a:lstStyle/>
          <a:p>
            <a:pPr algn="l" marL="711547" indent="-355774" lvl="1">
              <a:lnSpc>
                <a:spcPts val="4614"/>
              </a:lnSpc>
              <a:buFont typeface="Arial"/>
              <a:buChar char="•"/>
            </a:pPr>
            <a:r>
              <a:rPr lang="en-US" sz="3295" spc="36">
                <a:solidFill>
                  <a:srgbClr val="090147"/>
                </a:solidFill>
                <a:latin typeface="Krub"/>
                <a:ea typeface="Krub"/>
                <a:cs typeface="Krub"/>
                <a:sym typeface="Krub"/>
              </a:rPr>
              <a:t>Thay</a:t>
            </a:r>
            <a:r>
              <a:rPr lang="en-US" sz="3295" spc="36">
                <a:solidFill>
                  <a:srgbClr val="090147"/>
                </a:solidFill>
                <a:latin typeface="Krub"/>
                <a:ea typeface="Krub"/>
                <a:cs typeface="Krub"/>
                <a:sym typeface="Krub"/>
              </a:rPr>
              <a:t> vì “biết cái gì” (password) hay “có cái gì” (thẻ, token), sinh trắc học xác thực dựa trên: “Bạn là ai”</a:t>
            </a:r>
          </a:p>
          <a:p>
            <a:pPr algn="l">
              <a:lnSpc>
                <a:spcPts val="4614"/>
              </a:lnSpc>
            </a:pPr>
          </a:p>
        </p:txBody>
      </p:sp>
      <p:sp>
        <p:nvSpPr>
          <p:cNvPr name="TextBox 10" id="10"/>
          <p:cNvSpPr txBox="true"/>
          <p:nvPr/>
        </p:nvSpPr>
        <p:spPr>
          <a:xfrm rot="0">
            <a:off x="1983545" y="6413207"/>
            <a:ext cx="13197006" cy="1145014"/>
          </a:xfrm>
          <a:prstGeom prst="rect">
            <a:avLst/>
          </a:prstGeom>
        </p:spPr>
        <p:txBody>
          <a:bodyPr anchor="t" rtlCol="false" tIns="0" lIns="0" bIns="0" rIns="0">
            <a:spAutoFit/>
          </a:bodyPr>
          <a:lstStyle/>
          <a:p>
            <a:pPr algn="l">
              <a:lnSpc>
                <a:spcPts val="4614"/>
              </a:lnSpc>
            </a:pPr>
            <a:r>
              <a:rPr lang="en-US" b="true" sz="3295" spc="36">
                <a:solidFill>
                  <a:srgbClr val="090147"/>
                </a:solidFill>
                <a:latin typeface="Krub Bold"/>
                <a:ea typeface="Krub Bold"/>
                <a:cs typeface="Krub Bold"/>
                <a:sym typeface="Krub Bold"/>
              </a:rPr>
              <a:t>       Biometric Authentication xác thực dựa trên đặc điểm cơ thể (Vân tay, khuôn mặt...) để trả lời câu hỏi "Bạn là ai?".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935669" y="0"/>
            <a:ext cx="7147278" cy="3993541"/>
          </a:xfrm>
          <a:custGeom>
            <a:avLst/>
            <a:gdLst/>
            <a:ahLst/>
            <a:cxnLst/>
            <a:rect r="r" b="b" t="t" l="l"/>
            <a:pathLst>
              <a:path h="3993541" w="7147278">
                <a:moveTo>
                  <a:pt x="7147278" y="3993541"/>
                </a:moveTo>
                <a:lnTo>
                  <a:pt x="0" y="3993541"/>
                </a:lnTo>
                <a:lnTo>
                  <a:pt x="0" y="0"/>
                </a:lnTo>
                <a:lnTo>
                  <a:pt x="7147278" y="0"/>
                </a:lnTo>
                <a:lnTo>
                  <a:pt x="7147278" y="3993541"/>
                </a:lnTo>
                <a:close/>
              </a:path>
            </a:pathLst>
          </a:custGeom>
          <a:blipFill>
            <a:blip r:embed="rId4"/>
            <a:stretch>
              <a:fillRect l="0" t="0" r="0" b="0"/>
            </a:stretch>
          </a:blipFill>
        </p:spPr>
      </p:sp>
      <p:sp>
        <p:nvSpPr>
          <p:cNvPr name="TextBox 4" id="4"/>
          <p:cNvSpPr txBox="true"/>
          <p:nvPr/>
        </p:nvSpPr>
        <p:spPr>
          <a:xfrm rot="0">
            <a:off x="2031170" y="307467"/>
            <a:ext cx="1199111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Các loại sinh trắc học phổ biến</a:t>
            </a:r>
          </a:p>
        </p:txBody>
      </p:sp>
      <p:grpSp>
        <p:nvGrpSpPr>
          <p:cNvPr name="Group 5" id="5"/>
          <p:cNvGrpSpPr/>
          <p:nvPr/>
        </p:nvGrpSpPr>
        <p:grpSpPr>
          <a:xfrm rot="0">
            <a:off x="1983545" y="2113843"/>
            <a:ext cx="13993900" cy="7144457"/>
            <a:chOff x="0" y="0"/>
            <a:chExt cx="3685636" cy="1881668"/>
          </a:xfrm>
        </p:grpSpPr>
        <p:sp>
          <p:nvSpPr>
            <p:cNvPr name="Freeform 6" id="6"/>
            <p:cNvSpPr/>
            <p:nvPr/>
          </p:nvSpPr>
          <p:spPr>
            <a:xfrm flipH="false" flipV="false" rot="0">
              <a:off x="0" y="0"/>
              <a:ext cx="3685636" cy="1881668"/>
            </a:xfrm>
            <a:custGeom>
              <a:avLst/>
              <a:gdLst/>
              <a:ahLst/>
              <a:cxnLst/>
              <a:rect r="r" b="b" t="t" l="l"/>
              <a:pathLst>
                <a:path h="1881668" w="3685636">
                  <a:moveTo>
                    <a:pt x="28008" y="0"/>
                  </a:moveTo>
                  <a:lnTo>
                    <a:pt x="3657629" y="0"/>
                  </a:lnTo>
                  <a:cubicBezTo>
                    <a:pt x="3665057" y="0"/>
                    <a:pt x="3672181" y="2951"/>
                    <a:pt x="3677433" y="8203"/>
                  </a:cubicBezTo>
                  <a:cubicBezTo>
                    <a:pt x="3682686" y="13456"/>
                    <a:pt x="3685636" y="20579"/>
                    <a:pt x="3685636" y="28008"/>
                  </a:cubicBezTo>
                  <a:lnTo>
                    <a:pt x="3685636" y="1853660"/>
                  </a:lnTo>
                  <a:cubicBezTo>
                    <a:pt x="3685636" y="1869128"/>
                    <a:pt x="3673097" y="1881668"/>
                    <a:pt x="3657629" y="1881668"/>
                  </a:cubicBezTo>
                  <a:lnTo>
                    <a:pt x="28008" y="1881668"/>
                  </a:lnTo>
                  <a:cubicBezTo>
                    <a:pt x="12539" y="1881668"/>
                    <a:pt x="0" y="1869128"/>
                    <a:pt x="0" y="1853660"/>
                  </a:cubicBezTo>
                  <a:lnTo>
                    <a:pt x="0" y="28008"/>
                  </a:lnTo>
                  <a:cubicBezTo>
                    <a:pt x="0" y="12539"/>
                    <a:pt x="12539" y="0"/>
                    <a:pt x="28008" y="0"/>
                  </a:cubicBezTo>
                  <a:close/>
                </a:path>
              </a:pathLst>
            </a:custGeom>
            <a:solidFill>
              <a:srgbClr val="FEF6F3"/>
            </a:solidFill>
          </p:spPr>
        </p:sp>
        <p:sp>
          <p:nvSpPr>
            <p:cNvPr name="TextBox 7" id="7"/>
            <p:cNvSpPr txBox="true"/>
            <p:nvPr/>
          </p:nvSpPr>
          <p:spPr>
            <a:xfrm>
              <a:off x="0" y="-38100"/>
              <a:ext cx="3685636" cy="1919768"/>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712013" y="2497346"/>
            <a:ext cx="13197006" cy="613519"/>
          </a:xfrm>
          <a:prstGeom prst="rect">
            <a:avLst/>
          </a:prstGeom>
        </p:spPr>
        <p:txBody>
          <a:bodyPr anchor="t" rtlCol="false" tIns="0" lIns="0" bIns="0" rIns="0">
            <a:spAutoFit/>
          </a:bodyPr>
          <a:lstStyle/>
          <a:p>
            <a:pPr algn="l">
              <a:lnSpc>
                <a:spcPts val="5034"/>
              </a:lnSpc>
            </a:pPr>
            <a:r>
              <a:rPr lang="en-US" b="true" sz="3595" spc="39">
                <a:solidFill>
                  <a:srgbClr val="090147"/>
                </a:solidFill>
                <a:latin typeface="Krub Bold"/>
                <a:ea typeface="Krub Bold"/>
                <a:cs typeface="Krub Bold"/>
                <a:sym typeface="Krub Bold"/>
              </a:rPr>
              <a:t>🔹A. Đặc điểm sinh lý (Phổ biến nhất trên Mobile)</a:t>
            </a:r>
          </a:p>
        </p:txBody>
      </p:sp>
      <p:sp>
        <p:nvSpPr>
          <p:cNvPr name="TextBox 9" id="9"/>
          <p:cNvSpPr txBox="true"/>
          <p:nvPr/>
        </p:nvSpPr>
        <p:spPr>
          <a:xfrm rot="0">
            <a:off x="1983545" y="3285298"/>
            <a:ext cx="13197006" cy="5212189"/>
          </a:xfrm>
          <a:prstGeom prst="rect">
            <a:avLst/>
          </a:prstGeom>
        </p:spPr>
        <p:txBody>
          <a:bodyPr anchor="t" rtlCol="false" tIns="0" lIns="0" bIns="0" rIns="0">
            <a:spAutoFit/>
          </a:bodyPr>
          <a:lstStyle/>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Vân tay (Fingerprint): </a:t>
            </a:r>
            <a:r>
              <a:rPr lang="en-US" sz="3295" spc="36">
                <a:solidFill>
                  <a:srgbClr val="090147"/>
                </a:solidFill>
                <a:latin typeface="Krub"/>
                <a:ea typeface="Krub"/>
                <a:cs typeface="Krub"/>
                <a:sym typeface="Krub"/>
              </a:rPr>
              <a:t>phổ biến nhất, chính xác cao, chi phí thấp</a:t>
            </a:r>
          </a:p>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Nhận diện khuôn mặt (Face Recognition):</a:t>
            </a:r>
          </a:p>
          <a:p>
            <a:pPr algn="l" marL="1423094" indent="-474365" lvl="2">
              <a:lnSpc>
                <a:spcPts val="4614"/>
              </a:lnSpc>
              <a:buFont typeface="Arial"/>
              <a:buChar char="⚬"/>
            </a:pPr>
            <a:r>
              <a:rPr lang="en-US" sz="3295" spc="36">
                <a:solidFill>
                  <a:srgbClr val="090147"/>
                </a:solidFill>
                <a:latin typeface="Krub"/>
                <a:ea typeface="Krub"/>
                <a:cs typeface="Krub"/>
                <a:sym typeface="Krub"/>
              </a:rPr>
              <a:t>2D: dựa trên hình ảnh (kém an toàn)</a:t>
            </a:r>
          </a:p>
          <a:p>
            <a:pPr algn="l" marL="1423094" indent="-474365" lvl="2">
              <a:lnSpc>
                <a:spcPts val="4614"/>
              </a:lnSpc>
              <a:buFont typeface="Arial"/>
              <a:buChar char="⚬"/>
            </a:pPr>
            <a:r>
              <a:rPr lang="en-US" sz="3295" spc="36">
                <a:solidFill>
                  <a:srgbClr val="090147"/>
                </a:solidFill>
                <a:latin typeface="Krub"/>
                <a:ea typeface="Krub"/>
                <a:cs typeface="Krub"/>
                <a:sym typeface="Krub"/>
              </a:rPr>
              <a:t>3D: dựa vào chiều sâu/hồng ngoại (FaceID, an toàn hơn</a:t>
            </a:r>
            <a:r>
              <a:rPr lang="en-US" b="true" sz="3295" spc="36">
                <a:solidFill>
                  <a:srgbClr val="090147"/>
                </a:solidFill>
                <a:latin typeface="Krub Bold"/>
                <a:ea typeface="Krub Bold"/>
                <a:cs typeface="Krub Bold"/>
                <a:sym typeface="Krub Bold"/>
              </a:rPr>
              <a:t>)</a:t>
            </a:r>
          </a:p>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Mống mắt (Iris): </a:t>
            </a:r>
            <a:r>
              <a:rPr lang="en-US" sz="3295" spc="36">
                <a:solidFill>
                  <a:srgbClr val="090147"/>
                </a:solidFill>
                <a:latin typeface="Krub"/>
                <a:ea typeface="Krub"/>
                <a:cs typeface="Krub"/>
                <a:sym typeface="Krub"/>
              </a:rPr>
              <a:t>bảo mật cực cao nhưng chi phí đắt đỏ</a:t>
            </a:r>
          </a:p>
          <a:p>
            <a:pPr algn="l">
              <a:lnSpc>
                <a:spcPts val="4614"/>
              </a:lnSpc>
            </a:pPr>
          </a:p>
          <a:p>
            <a:pPr algn="l">
              <a:lnSpc>
                <a:spcPts val="4614"/>
              </a:lnSpc>
            </a:pPr>
            <a:r>
              <a:rPr lang="en-US" sz="3295" spc="36" b="true">
                <a:solidFill>
                  <a:srgbClr val="090147"/>
                </a:solidFill>
                <a:latin typeface="Krub Bold"/>
                <a:ea typeface="Krub Bold"/>
                <a:cs typeface="Krub Bold"/>
                <a:sym typeface="Krub Bold"/>
              </a:rPr>
              <a:t>Ngoài ra còn có 1 số đặc điểm khác: võng mặc, hình dạng bàn tay...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74323" y="0"/>
            <a:ext cx="7147278" cy="3993541"/>
          </a:xfrm>
          <a:custGeom>
            <a:avLst/>
            <a:gdLst/>
            <a:ahLst/>
            <a:cxnLst/>
            <a:rect r="r" b="b" t="t" l="l"/>
            <a:pathLst>
              <a:path h="3993541" w="7147278">
                <a:moveTo>
                  <a:pt x="7147278" y="3993541"/>
                </a:moveTo>
                <a:lnTo>
                  <a:pt x="0" y="3993541"/>
                </a:lnTo>
                <a:lnTo>
                  <a:pt x="0" y="0"/>
                </a:lnTo>
                <a:lnTo>
                  <a:pt x="7147278" y="0"/>
                </a:lnTo>
                <a:lnTo>
                  <a:pt x="7147278" y="3993541"/>
                </a:lnTo>
                <a:close/>
              </a:path>
            </a:pathLst>
          </a:custGeom>
          <a:blipFill>
            <a:blip r:embed="rId4"/>
            <a:stretch>
              <a:fillRect l="0" t="0" r="0" b="0"/>
            </a:stretch>
          </a:blipFill>
        </p:spPr>
      </p:sp>
      <p:grpSp>
        <p:nvGrpSpPr>
          <p:cNvPr name="Group 4" id="4"/>
          <p:cNvGrpSpPr/>
          <p:nvPr/>
        </p:nvGrpSpPr>
        <p:grpSpPr>
          <a:xfrm rot="0">
            <a:off x="1983545" y="2113843"/>
            <a:ext cx="13993900" cy="4853010"/>
            <a:chOff x="0" y="0"/>
            <a:chExt cx="3685636" cy="1278159"/>
          </a:xfrm>
        </p:grpSpPr>
        <p:sp>
          <p:nvSpPr>
            <p:cNvPr name="Freeform 5" id="5"/>
            <p:cNvSpPr/>
            <p:nvPr/>
          </p:nvSpPr>
          <p:spPr>
            <a:xfrm flipH="false" flipV="false" rot="0">
              <a:off x="0" y="0"/>
              <a:ext cx="3685636" cy="1278159"/>
            </a:xfrm>
            <a:custGeom>
              <a:avLst/>
              <a:gdLst/>
              <a:ahLst/>
              <a:cxnLst/>
              <a:rect r="r" b="b" t="t" l="l"/>
              <a:pathLst>
                <a:path h="1278159" w="3685636">
                  <a:moveTo>
                    <a:pt x="28008" y="0"/>
                  </a:moveTo>
                  <a:lnTo>
                    <a:pt x="3657629" y="0"/>
                  </a:lnTo>
                  <a:cubicBezTo>
                    <a:pt x="3665057" y="0"/>
                    <a:pt x="3672181" y="2951"/>
                    <a:pt x="3677433" y="8203"/>
                  </a:cubicBezTo>
                  <a:cubicBezTo>
                    <a:pt x="3682686" y="13456"/>
                    <a:pt x="3685636" y="20579"/>
                    <a:pt x="3685636" y="28008"/>
                  </a:cubicBezTo>
                  <a:lnTo>
                    <a:pt x="3685636" y="1250152"/>
                  </a:lnTo>
                  <a:cubicBezTo>
                    <a:pt x="3685636" y="1265620"/>
                    <a:pt x="3673097" y="1278159"/>
                    <a:pt x="3657629" y="1278159"/>
                  </a:cubicBezTo>
                  <a:lnTo>
                    <a:pt x="28008" y="1278159"/>
                  </a:lnTo>
                  <a:cubicBezTo>
                    <a:pt x="12539" y="1278159"/>
                    <a:pt x="0" y="1265620"/>
                    <a:pt x="0" y="1250152"/>
                  </a:cubicBezTo>
                  <a:lnTo>
                    <a:pt x="0" y="28008"/>
                  </a:lnTo>
                  <a:cubicBezTo>
                    <a:pt x="0" y="12539"/>
                    <a:pt x="12539" y="0"/>
                    <a:pt x="28008" y="0"/>
                  </a:cubicBezTo>
                  <a:close/>
                </a:path>
              </a:pathLst>
            </a:custGeom>
            <a:solidFill>
              <a:srgbClr val="FEF6F3"/>
            </a:solidFill>
          </p:spPr>
        </p:sp>
        <p:sp>
          <p:nvSpPr>
            <p:cNvPr name="TextBox 6" id="6"/>
            <p:cNvSpPr txBox="true"/>
            <p:nvPr/>
          </p:nvSpPr>
          <p:spPr>
            <a:xfrm>
              <a:off x="0" y="-38100"/>
              <a:ext cx="3685636" cy="1316259"/>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983545" y="2493854"/>
            <a:ext cx="13197006" cy="620504"/>
          </a:xfrm>
          <a:prstGeom prst="rect">
            <a:avLst/>
          </a:prstGeom>
        </p:spPr>
        <p:txBody>
          <a:bodyPr anchor="t" rtlCol="false" tIns="0" lIns="0" bIns="0" rIns="0">
            <a:spAutoFit/>
          </a:bodyPr>
          <a:lstStyle/>
          <a:p>
            <a:pPr algn="l">
              <a:lnSpc>
                <a:spcPts val="5174"/>
              </a:lnSpc>
            </a:pPr>
            <a:r>
              <a:rPr lang="en-US" b="true" sz="3695" spc="40">
                <a:solidFill>
                  <a:srgbClr val="090147"/>
                </a:solidFill>
                <a:latin typeface="Krub Bold"/>
                <a:ea typeface="Krub Bold"/>
                <a:cs typeface="Krub Bold"/>
                <a:sym typeface="Krub Bold"/>
              </a:rPr>
              <a:t>🔹B. Đặc điểm hành vi</a:t>
            </a:r>
          </a:p>
        </p:txBody>
      </p:sp>
      <p:sp>
        <p:nvSpPr>
          <p:cNvPr name="TextBox 8" id="8"/>
          <p:cNvSpPr txBox="true"/>
          <p:nvPr/>
        </p:nvSpPr>
        <p:spPr>
          <a:xfrm rot="0">
            <a:off x="2780439" y="3465559"/>
            <a:ext cx="13197006" cy="4050139"/>
          </a:xfrm>
          <a:prstGeom prst="rect">
            <a:avLst/>
          </a:prstGeom>
        </p:spPr>
        <p:txBody>
          <a:bodyPr anchor="t" rtlCol="false" tIns="0" lIns="0" bIns="0" rIns="0">
            <a:spAutoFit/>
          </a:bodyPr>
          <a:lstStyle/>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Giọng nói (Voice)</a:t>
            </a:r>
          </a:p>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Dáng đi (Gait)</a:t>
            </a:r>
          </a:p>
          <a:p>
            <a:pPr algn="l" marL="711547" indent="-355774" lvl="1">
              <a:lnSpc>
                <a:spcPts val="4614"/>
              </a:lnSpc>
              <a:buFont typeface="Arial"/>
              <a:buChar char="•"/>
            </a:pPr>
            <a:r>
              <a:rPr lang="en-US" b="true" sz="3295" spc="36">
                <a:solidFill>
                  <a:srgbClr val="090147"/>
                </a:solidFill>
                <a:latin typeface="Krub Bold"/>
                <a:ea typeface="Krub Bold"/>
                <a:cs typeface="Krub Bold"/>
                <a:sym typeface="Krub Bold"/>
              </a:rPr>
              <a:t>Nhịp gõ phím (Typing rhythm)</a:t>
            </a:r>
          </a:p>
          <a:p>
            <a:pPr algn="l">
              <a:lnSpc>
                <a:spcPts val="4614"/>
              </a:lnSpc>
            </a:pPr>
          </a:p>
          <a:p>
            <a:pPr algn="l">
              <a:lnSpc>
                <a:spcPts val="4614"/>
              </a:lnSpc>
            </a:pPr>
            <a:r>
              <a:rPr lang="en-US" sz="3295" spc="36" b="true">
                <a:solidFill>
                  <a:srgbClr val="090147"/>
                </a:solidFill>
                <a:latin typeface="Krub Bold"/>
                <a:ea typeface="Krub Bold"/>
                <a:cs typeface="Krub Bold"/>
                <a:sym typeface="Krub Bold"/>
              </a:rPr>
              <a:t>Do đó, ít</a:t>
            </a:r>
            <a:r>
              <a:rPr lang="en-US" sz="3295" spc="36" b="true">
                <a:solidFill>
                  <a:srgbClr val="090147"/>
                </a:solidFill>
                <a:latin typeface="Krub Bold"/>
                <a:ea typeface="Krub Bold"/>
                <a:cs typeface="Krub Bold"/>
                <a:sym typeface="Krub Bold"/>
              </a:rPr>
              <a:t> dùng trên Android cho xác thực hệ thống, thường dùng cho phân tích gian lận.</a:t>
            </a:r>
          </a:p>
          <a:p>
            <a:pPr algn="l">
              <a:lnSpc>
                <a:spcPts val="4614"/>
              </a:lnSpc>
            </a:pPr>
          </a:p>
        </p:txBody>
      </p:sp>
      <p:sp>
        <p:nvSpPr>
          <p:cNvPr name="TextBox 9" id="9"/>
          <p:cNvSpPr txBox="true"/>
          <p:nvPr/>
        </p:nvSpPr>
        <p:spPr>
          <a:xfrm rot="0">
            <a:off x="1983545" y="307467"/>
            <a:ext cx="1161011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Các loại sinh trắc học phổ biến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516058" y="-1028700"/>
            <a:ext cx="4062430" cy="4114800"/>
          </a:xfrm>
          <a:custGeom>
            <a:avLst/>
            <a:gdLst/>
            <a:ahLst/>
            <a:cxnLst/>
            <a:rect r="r" b="b" t="t" l="l"/>
            <a:pathLst>
              <a:path h="4114800" w="406243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074387" y="-191503"/>
            <a:ext cx="7147278" cy="3993541"/>
          </a:xfrm>
          <a:custGeom>
            <a:avLst/>
            <a:gdLst/>
            <a:ahLst/>
            <a:cxnLst/>
            <a:rect r="r" b="b" t="t" l="l"/>
            <a:pathLst>
              <a:path h="3993541" w="7147278">
                <a:moveTo>
                  <a:pt x="7147277" y="3993542"/>
                </a:moveTo>
                <a:lnTo>
                  <a:pt x="0" y="3993542"/>
                </a:lnTo>
                <a:lnTo>
                  <a:pt x="0" y="0"/>
                </a:lnTo>
                <a:lnTo>
                  <a:pt x="7147277" y="0"/>
                </a:lnTo>
                <a:lnTo>
                  <a:pt x="7147277" y="3993542"/>
                </a:lnTo>
                <a:close/>
              </a:path>
            </a:pathLst>
          </a:custGeom>
          <a:blipFill>
            <a:blip r:embed="rId4"/>
            <a:stretch>
              <a:fillRect l="0" t="0" r="0" b="0"/>
            </a:stretch>
          </a:blipFill>
        </p:spPr>
      </p:sp>
      <p:sp>
        <p:nvSpPr>
          <p:cNvPr name="TextBox 4" id="4"/>
          <p:cNvSpPr txBox="true"/>
          <p:nvPr/>
        </p:nvSpPr>
        <p:spPr>
          <a:xfrm rot="0">
            <a:off x="1221545" y="307467"/>
            <a:ext cx="14755900"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 Đặc điểm, thuộc tính của sinh trắc học</a:t>
            </a:r>
          </a:p>
        </p:txBody>
      </p:sp>
      <p:grpSp>
        <p:nvGrpSpPr>
          <p:cNvPr name="Group 5" id="5"/>
          <p:cNvGrpSpPr/>
          <p:nvPr/>
        </p:nvGrpSpPr>
        <p:grpSpPr>
          <a:xfrm rot="0">
            <a:off x="1983545" y="2113843"/>
            <a:ext cx="13993900" cy="5681831"/>
            <a:chOff x="0" y="0"/>
            <a:chExt cx="3685636" cy="1496449"/>
          </a:xfrm>
        </p:grpSpPr>
        <p:sp>
          <p:nvSpPr>
            <p:cNvPr name="Freeform 6" id="6"/>
            <p:cNvSpPr/>
            <p:nvPr/>
          </p:nvSpPr>
          <p:spPr>
            <a:xfrm flipH="false" flipV="false" rot="0">
              <a:off x="0" y="0"/>
              <a:ext cx="3685636" cy="1496449"/>
            </a:xfrm>
            <a:custGeom>
              <a:avLst/>
              <a:gdLst/>
              <a:ahLst/>
              <a:cxnLst/>
              <a:rect r="r" b="b" t="t" l="l"/>
              <a:pathLst>
                <a:path h="1496449" w="3685636">
                  <a:moveTo>
                    <a:pt x="28008" y="0"/>
                  </a:moveTo>
                  <a:lnTo>
                    <a:pt x="3657629" y="0"/>
                  </a:lnTo>
                  <a:cubicBezTo>
                    <a:pt x="3665057" y="0"/>
                    <a:pt x="3672181" y="2951"/>
                    <a:pt x="3677433" y="8203"/>
                  </a:cubicBezTo>
                  <a:cubicBezTo>
                    <a:pt x="3682686" y="13456"/>
                    <a:pt x="3685636" y="20579"/>
                    <a:pt x="3685636" y="28008"/>
                  </a:cubicBezTo>
                  <a:lnTo>
                    <a:pt x="3685636" y="1468442"/>
                  </a:lnTo>
                  <a:cubicBezTo>
                    <a:pt x="3685636" y="1483910"/>
                    <a:pt x="3673097" y="1496449"/>
                    <a:pt x="3657629" y="1496449"/>
                  </a:cubicBezTo>
                  <a:lnTo>
                    <a:pt x="28008" y="1496449"/>
                  </a:lnTo>
                  <a:cubicBezTo>
                    <a:pt x="12539" y="1496449"/>
                    <a:pt x="0" y="1483910"/>
                    <a:pt x="0" y="1468442"/>
                  </a:cubicBezTo>
                  <a:lnTo>
                    <a:pt x="0" y="28008"/>
                  </a:lnTo>
                  <a:cubicBezTo>
                    <a:pt x="0" y="12539"/>
                    <a:pt x="12539" y="0"/>
                    <a:pt x="28008" y="0"/>
                  </a:cubicBezTo>
                  <a:close/>
                </a:path>
              </a:pathLst>
            </a:custGeom>
            <a:solidFill>
              <a:srgbClr val="FEF6F3"/>
            </a:solidFill>
          </p:spPr>
        </p:sp>
        <p:sp>
          <p:nvSpPr>
            <p:cNvPr name="TextBox 7" id="7"/>
            <p:cNvSpPr txBox="true"/>
            <p:nvPr/>
          </p:nvSpPr>
          <p:spPr>
            <a:xfrm>
              <a:off x="0" y="-38100"/>
              <a:ext cx="3685636" cy="1534549"/>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2150613" y="2331981"/>
            <a:ext cx="13197006" cy="563989"/>
          </a:xfrm>
          <a:prstGeom prst="rect">
            <a:avLst/>
          </a:prstGeom>
        </p:spPr>
        <p:txBody>
          <a:bodyPr anchor="t" rtlCol="false" tIns="0" lIns="0" bIns="0" rIns="0">
            <a:spAutoFit/>
          </a:bodyPr>
          <a:lstStyle/>
          <a:p>
            <a:pPr algn="l">
              <a:lnSpc>
                <a:spcPts val="4614"/>
              </a:lnSpc>
            </a:pPr>
            <a:r>
              <a:rPr lang="en-US" b="true" sz="3295" spc="36">
                <a:solidFill>
                  <a:srgbClr val="090147"/>
                </a:solidFill>
                <a:latin typeface="Krub Bold"/>
                <a:ea typeface="Krub Bold"/>
                <a:cs typeface="Krub Bold"/>
                <a:sym typeface="Krub Bold"/>
              </a:rPr>
              <a:t>Một hệ thống sinh trắc học tốt cần thỏa mãn: </a:t>
            </a:r>
          </a:p>
        </p:txBody>
      </p:sp>
      <p:sp>
        <p:nvSpPr>
          <p:cNvPr name="TextBox 9" id="9"/>
          <p:cNvSpPr txBox="true"/>
          <p:nvPr/>
        </p:nvSpPr>
        <p:spPr>
          <a:xfrm rot="0">
            <a:off x="2381992" y="3136103"/>
            <a:ext cx="13197006" cy="3845634"/>
          </a:xfrm>
          <a:prstGeom prst="rect">
            <a:avLst/>
          </a:prstGeom>
        </p:spPr>
        <p:txBody>
          <a:bodyPr anchor="t" rtlCol="false" tIns="0" lIns="0" bIns="0" rIns="0">
            <a:spAutoFit/>
          </a:bodyPr>
          <a:lstStyle/>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Tính phổ biến: </a:t>
            </a:r>
            <a:r>
              <a:rPr lang="en-US" sz="3295" spc="36">
                <a:solidFill>
                  <a:srgbClr val="090147"/>
                </a:solidFill>
                <a:latin typeface="Krub"/>
                <a:ea typeface="Krub"/>
                <a:cs typeface="Krub"/>
                <a:sym typeface="Krub"/>
              </a:rPr>
              <a:t>Hầu hết ai cũng có </a:t>
            </a:r>
          </a:p>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Tính duy nhất: </a:t>
            </a:r>
            <a:r>
              <a:rPr lang="en-US" sz="3295" spc="36">
                <a:solidFill>
                  <a:srgbClr val="090147"/>
                </a:solidFill>
                <a:latin typeface="Krub"/>
                <a:ea typeface="Krub"/>
                <a:cs typeface="Krub"/>
                <a:sym typeface="Krub"/>
              </a:rPr>
              <a:t>Không có ai giống nhau</a:t>
            </a:r>
          </a:p>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Tính ổn định: </a:t>
            </a:r>
            <a:r>
              <a:rPr lang="en-US" sz="3295" spc="36">
                <a:solidFill>
                  <a:srgbClr val="090147"/>
                </a:solidFill>
                <a:latin typeface="Krub"/>
                <a:ea typeface="Krub"/>
                <a:cs typeface="Krub"/>
                <a:sym typeface="Krub"/>
              </a:rPr>
              <a:t>Không hoặc rất ít thay đổi</a:t>
            </a:r>
          </a:p>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Khả năng thu thập: </a:t>
            </a:r>
            <a:r>
              <a:rPr lang="en-US" sz="3295" spc="36">
                <a:solidFill>
                  <a:srgbClr val="090147"/>
                </a:solidFill>
                <a:latin typeface="Krub"/>
                <a:ea typeface="Krub"/>
                <a:cs typeface="Krub"/>
                <a:sym typeface="Krub"/>
              </a:rPr>
              <a:t>Dễ dàng thu thập bằng thiết bị</a:t>
            </a:r>
          </a:p>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Hiệu năng: </a:t>
            </a:r>
            <a:r>
              <a:rPr lang="en-US" sz="3295" spc="36">
                <a:solidFill>
                  <a:srgbClr val="090147"/>
                </a:solidFill>
                <a:latin typeface="Krub"/>
                <a:ea typeface="Krub"/>
                <a:cs typeface="Krub"/>
                <a:sym typeface="Krub"/>
              </a:rPr>
              <a:t>Tốc độ xử lý và chính xác cao</a:t>
            </a:r>
          </a:p>
          <a:p>
            <a:pPr algn="l" marL="711547" indent="-355774" lvl="1">
              <a:lnSpc>
                <a:spcPts val="5174"/>
              </a:lnSpc>
              <a:buFont typeface="Arial"/>
              <a:buChar char="•"/>
            </a:pPr>
            <a:r>
              <a:rPr lang="en-US" b="true" sz="3295" spc="36">
                <a:solidFill>
                  <a:srgbClr val="090147"/>
                </a:solidFill>
                <a:latin typeface="Krub Bold"/>
                <a:ea typeface="Krub Bold"/>
                <a:cs typeface="Krub Bold"/>
                <a:sym typeface="Krub Bold"/>
              </a:rPr>
              <a:t>Khả năng chống giả mạo: </a:t>
            </a:r>
            <a:r>
              <a:rPr lang="en-US" sz="3295" spc="36">
                <a:solidFill>
                  <a:srgbClr val="090147"/>
                </a:solidFill>
                <a:latin typeface="Krub"/>
                <a:ea typeface="Krub"/>
                <a:cs typeface="Krub"/>
                <a:sym typeface="Krub"/>
              </a:rPr>
              <a:t>Khó có thể làm giả</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035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4" id="4"/>
          <p:cNvGrpSpPr/>
          <p:nvPr/>
        </p:nvGrpSpPr>
        <p:grpSpPr>
          <a:xfrm rot="0">
            <a:off x="1983545" y="2113843"/>
            <a:ext cx="13993900" cy="5416419"/>
            <a:chOff x="0" y="0"/>
            <a:chExt cx="3685636" cy="1426547"/>
          </a:xfrm>
        </p:grpSpPr>
        <p:sp>
          <p:nvSpPr>
            <p:cNvPr name="Freeform 5" id="5"/>
            <p:cNvSpPr/>
            <p:nvPr/>
          </p:nvSpPr>
          <p:spPr>
            <a:xfrm flipH="false" flipV="false" rot="0">
              <a:off x="0" y="0"/>
              <a:ext cx="3685636" cy="1426547"/>
            </a:xfrm>
            <a:custGeom>
              <a:avLst/>
              <a:gdLst/>
              <a:ahLst/>
              <a:cxnLst/>
              <a:rect r="r" b="b" t="t" l="l"/>
              <a:pathLst>
                <a:path h="1426547" w="3685636">
                  <a:moveTo>
                    <a:pt x="28008" y="0"/>
                  </a:moveTo>
                  <a:lnTo>
                    <a:pt x="3657629" y="0"/>
                  </a:lnTo>
                  <a:cubicBezTo>
                    <a:pt x="3665057" y="0"/>
                    <a:pt x="3672181" y="2951"/>
                    <a:pt x="3677433" y="8203"/>
                  </a:cubicBezTo>
                  <a:cubicBezTo>
                    <a:pt x="3682686" y="13456"/>
                    <a:pt x="3685636" y="20579"/>
                    <a:pt x="3685636" y="28008"/>
                  </a:cubicBezTo>
                  <a:lnTo>
                    <a:pt x="3685636" y="1398539"/>
                  </a:lnTo>
                  <a:cubicBezTo>
                    <a:pt x="3685636" y="1414007"/>
                    <a:pt x="3673097" y="1426547"/>
                    <a:pt x="3657629" y="1426547"/>
                  </a:cubicBezTo>
                  <a:lnTo>
                    <a:pt x="28008" y="1426547"/>
                  </a:lnTo>
                  <a:cubicBezTo>
                    <a:pt x="12539" y="1426547"/>
                    <a:pt x="0" y="1414007"/>
                    <a:pt x="0" y="1398539"/>
                  </a:cubicBezTo>
                  <a:lnTo>
                    <a:pt x="0" y="28008"/>
                  </a:lnTo>
                  <a:cubicBezTo>
                    <a:pt x="0" y="12539"/>
                    <a:pt x="12539" y="0"/>
                    <a:pt x="28008" y="0"/>
                  </a:cubicBezTo>
                  <a:close/>
                </a:path>
              </a:pathLst>
            </a:custGeom>
            <a:solidFill>
              <a:srgbClr val="FEF6F3"/>
            </a:solidFill>
          </p:spPr>
        </p:sp>
        <p:sp>
          <p:nvSpPr>
            <p:cNvPr name="TextBox 6" id="6"/>
            <p:cNvSpPr txBox="true"/>
            <p:nvPr/>
          </p:nvSpPr>
          <p:spPr>
            <a:xfrm>
              <a:off x="0" y="-38100"/>
              <a:ext cx="3685636" cy="1464647"/>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2391517" y="2389228"/>
            <a:ext cx="13197006" cy="5141034"/>
          </a:xfrm>
          <a:prstGeom prst="rect">
            <a:avLst/>
          </a:prstGeom>
        </p:spPr>
        <p:txBody>
          <a:bodyPr anchor="t" rtlCol="false" tIns="0" lIns="0" bIns="0" rIns="0">
            <a:spAutoFit/>
          </a:bodyPr>
          <a:lstStyle/>
          <a:p>
            <a:pPr algn="l">
              <a:lnSpc>
                <a:spcPts val="5174"/>
              </a:lnSpc>
            </a:pPr>
            <a:r>
              <a:rPr lang="en-US" sz="3295" spc="36" b="true">
                <a:solidFill>
                  <a:srgbClr val="090147"/>
                </a:solidFill>
                <a:latin typeface="Krub Bold"/>
                <a:ea typeface="Krub Bold"/>
                <a:cs typeface="Krub Bold"/>
                <a:sym typeface="Krub Bold"/>
              </a:rPr>
              <a:t>A. Class 1 (BIOMETRIC_CONVENIENCE)</a:t>
            </a:r>
          </a:p>
          <a:p>
            <a:pPr algn="l">
              <a:lnSpc>
                <a:spcPts val="5174"/>
              </a:lnSpc>
            </a:pPr>
            <a:r>
              <a:rPr lang="en-US" sz="3295" spc="36" b="true">
                <a:solidFill>
                  <a:srgbClr val="090147"/>
                </a:solidFill>
                <a:latin typeface="Krub Bold"/>
                <a:ea typeface="Krub Bold"/>
                <a:cs typeface="Krub Bold"/>
                <a:sym typeface="Krub Bold"/>
              </a:rPr>
              <a:t>🔹 Đặc điểm</a:t>
            </a:r>
          </a:p>
          <a:p>
            <a:pPr algn="l" marL="711547" indent="-355774" lvl="1">
              <a:lnSpc>
                <a:spcPts val="5174"/>
              </a:lnSpc>
              <a:buFont typeface="Arial"/>
              <a:buChar char="•"/>
            </a:pPr>
            <a:r>
              <a:rPr lang="en-US" sz="3295" spc="36">
                <a:solidFill>
                  <a:srgbClr val="090147"/>
                </a:solidFill>
                <a:latin typeface="Krub"/>
                <a:ea typeface="Krub"/>
                <a:cs typeface="Krub"/>
                <a:sym typeface="Krub"/>
              </a:rPr>
              <a:t>Mức bảo mật thấp</a:t>
            </a:r>
          </a:p>
          <a:p>
            <a:pPr algn="l" marL="711547" indent="-355774" lvl="1">
              <a:lnSpc>
                <a:spcPts val="5174"/>
              </a:lnSpc>
              <a:buFont typeface="Arial"/>
              <a:buChar char="•"/>
            </a:pPr>
            <a:r>
              <a:rPr lang="en-US" sz="3295" spc="36">
                <a:solidFill>
                  <a:srgbClr val="090147"/>
                </a:solidFill>
                <a:latin typeface="Krub"/>
                <a:ea typeface="Krub"/>
                <a:cs typeface="Krub"/>
                <a:sym typeface="Krub"/>
              </a:rPr>
              <a:t>C</a:t>
            </a:r>
            <a:r>
              <a:rPr lang="en-US" sz="3295" spc="36">
                <a:solidFill>
                  <a:srgbClr val="090147"/>
                </a:solidFill>
                <a:latin typeface="Krub"/>
                <a:ea typeface="Krub"/>
                <a:cs typeface="Krub"/>
                <a:sym typeface="Krub"/>
              </a:rPr>
              <a:t>hủ yếu phục vụ trải nghiệm người dùng</a:t>
            </a:r>
          </a:p>
          <a:p>
            <a:pPr algn="l" marL="711547" indent="-355774" lvl="1">
              <a:lnSpc>
                <a:spcPts val="5174"/>
              </a:lnSpc>
              <a:buFont typeface="Arial"/>
              <a:buChar char="•"/>
            </a:pPr>
            <a:r>
              <a:rPr lang="en-US" sz="3295" spc="36">
                <a:solidFill>
                  <a:srgbClr val="090147"/>
                </a:solidFill>
                <a:latin typeface="Krub"/>
                <a:ea typeface="Krub"/>
                <a:cs typeface="Krub"/>
                <a:sym typeface="Krub"/>
              </a:rPr>
              <a:t>Chỉ được sử dụng ở mức hệ thống</a:t>
            </a:r>
          </a:p>
          <a:p>
            <a:pPr algn="l" marL="711547" indent="-355774" lvl="1">
              <a:lnSpc>
                <a:spcPts val="5174"/>
              </a:lnSpc>
              <a:buFont typeface="Arial"/>
              <a:buChar char="•"/>
            </a:pPr>
            <a:r>
              <a:rPr lang="en-US" sz="3295" spc="36">
                <a:solidFill>
                  <a:srgbClr val="090147"/>
                </a:solidFill>
                <a:latin typeface="Krub"/>
                <a:ea typeface="Krub"/>
                <a:cs typeface="Krub"/>
                <a:sym typeface="Krub"/>
              </a:rPr>
              <a:t>Ứng dụng bên thứ ba không thể truy cập API để dùng loại này</a:t>
            </a:r>
          </a:p>
          <a:p>
            <a:pPr algn="l">
              <a:lnSpc>
                <a:spcPts val="5174"/>
              </a:lnSpc>
            </a:pPr>
            <a:r>
              <a:rPr lang="en-US" sz="3295" spc="36" b="true">
                <a:solidFill>
                  <a:srgbClr val="090147"/>
                </a:solidFill>
                <a:latin typeface="Krub Bold"/>
                <a:ea typeface="Krub Bold"/>
                <a:cs typeface="Krub Bold"/>
                <a:sym typeface="Krub Bold"/>
              </a:rPr>
              <a:t>🔹 Ví dụ: </a:t>
            </a:r>
            <a:r>
              <a:rPr lang="en-US" sz="3295" spc="36">
                <a:solidFill>
                  <a:srgbClr val="090147"/>
                </a:solidFill>
                <a:latin typeface="Krub"/>
                <a:ea typeface="Krub"/>
                <a:cs typeface="Krub"/>
                <a:sym typeface="Krub"/>
              </a:rPr>
              <a:t>Face Unlock 2D trên các thiết bị giá rẻ</a:t>
            </a:r>
          </a:p>
          <a:p>
            <a:pPr algn="l">
              <a:lnSpc>
                <a:spcPts val="5174"/>
              </a:lnSpc>
            </a:pPr>
          </a:p>
        </p:txBody>
      </p:sp>
      <p:sp>
        <p:nvSpPr>
          <p:cNvPr name="TextBox 8" id="8"/>
          <p:cNvSpPr txBox="true"/>
          <p:nvPr/>
        </p:nvSpPr>
        <p:spPr>
          <a:xfrm rot="0">
            <a:off x="1526345" y="307467"/>
            <a:ext cx="14216420"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Các mức độ xác thực bằng sinh trắc học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578712" y="-49630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4" id="4"/>
          <p:cNvGrpSpPr/>
          <p:nvPr/>
        </p:nvGrpSpPr>
        <p:grpSpPr>
          <a:xfrm rot="0">
            <a:off x="1983545" y="2113843"/>
            <a:ext cx="13993900" cy="6437521"/>
            <a:chOff x="0" y="0"/>
            <a:chExt cx="3685636" cy="1695479"/>
          </a:xfrm>
        </p:grpSpPr>
        <p:sp>
          <p:nvSpPr>
            <p:cNvPr name="Freeform 5" id="5"/>
            <p:cNvSpPr/>
            <p:nvPr/>
          </p:nvSpPr>
          <p:spPr>
            <a:xfrm flipH="false" flipV="false" rot="0">
              <a:off x="0" y="0"/>
              <a:ext cx="3685636" cy="1695479"/>
            </a:xfrm>
            <a:custGeom>
              <a:avLst/>
              <a:gdLst/>
              <a:ahLst/>
              <a:cxnLst/>
              <a:rect r="r" b="b" t="t" l="l"/>
              <a:pathLst>
                <a:path h="1695479" w="3685636">
                  <a:moveTo>
                    <a:pt x="28008" y="0"/>
                  </a:moveTo>
                  <a:lnTo>
                    <a:pt x="3657629" y="0"/>
                  </a:lnTo>
                  <a:cubicBezTo>
                    <a:pt x="3665057" y="0"/>
                    <a:pt x="3672181" y="2951"/>
                    <a:pt x="3677433" y="8203"/>
                  </a:cubicBezTo>
                  <a:cubicBezTo>
                    <a:pt x="3682686" y="13456"/>
                    <a:pt x="3685636" y="20579"/>
                    <a:pt x="3685636" y="28008"/>
                  </a:cubicBezTo>
                  <a:lnTo>
                    <a:pt x="3685636" y="1667471"/>
                  </a:lnTo>
                  <a:cubicBezTo>
                    <a:pt x="3685636" y="1682940"/>
                    <a:pt x="3673097" y="1695479"/>
                    <a:pt x="3657629" y="1695479"/>
                  </a:cubicBezTo>
                  <a:lnTo>
                    <a:pt x="28008" y="1695479"/>
                  </a:lnTo>
                  <a:cubicBezTo>
                    <a:pt x="12539" y="1695479"/>
                    <a:pt x="0" y="1682940"/>
                    <a:pt x="0" y="1667471"/>
                  </a:cubicBezTo>
                  <a:lnTo>
                    <a:pt x="0" y="28008"/>
                  </a:lnTo>
                  <a:cubicBezTo>
                    <a:pt x="0" y="12539"/>
                    <a:pt x="12539" y="0"/>
                    <a:pt x="28008" y="0"/>
                  </a:cubicBezTo>
                  <a:close/>
                </a:path>
              </a:pathLst>
            </a:custGeom>
            <a:solidFill>
              <a:srgbClr val="FEF6F3"/>
            </a:solidFill>
          </p:spPr>
        </p:sp>
        <p:sp>
          <p:nvSpPr>
            <p:cNvPr name="TextBox 6" id="6"/>
            <p:cNvSpPr txBox="true"/>
            <p:nvPr/>
          </p:nvSpPr>
          <p:spPr>
            <a:xfrm>
              <a:off x="0" y="-38100"/>
              <a:ext cx="3685636" cy="1733579"/>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2381992" y="2358701"/>
            <a:ext cx="13197006" cy="6436434"/>
          </a:xfrm>
          <a:prstGeom prst="rect">
            <a:avLst/>
          </a:prstGeom>
        </p:spPr>
        <p:txBody>
          <a:bodyPr anchor="t" rtlCol="false" tIns="0" lIns="0" bIns="0" rIns="0">
            <a:spAutoFit/>
          </a:bodyPr>
          <a:lstStyle/>
          <a:p>
            <a:pPr algn="l">
              <a:lnSpc>
                <a:spcPts val="5174"/>
              </a:lnSpc>
            </a:pPr>
            <a:r>
              <a:rPr lang="en-US" sz="3295" spc="36" b="true">
                <a:solidFill>
                  <a:srgbClr val="090147"/>
                </a:solidFill>
                <a:latin typeface="Krub Bold"/>
                <a:ea typeface="Krub Bold"/>
                <a:cs typeface="Krub Bold"/>
                <a:sym typeface="Krub Bold"/>
              </a:rPr>
              <a:t>B. Class 2 (BIOMETRIC_WEAK)</a:t>
            </a:r>
          </a:p>
          <a:p>
            <a:pPr algn="l">
              <a:lnSpc>
                <a:spcPts val="5174"/>
              </a:lnSpc>
            </a:pPr>
            <a:r>
              <a:rPr lang="en-US" sz="3295" spc="36">
                <a:solidFill>
                  <a:srgbClr val="090147"/>
                </a:solidFill>
                <a:latin typeface="Krub"/>
                <a:ea typeface="Krub"/>
                <a:cs typeface="Krub"/>
                <a:sym typeface="Krub"/>
              </a:rPr>
              <a:t>🔹 </a:t>
            </a:r>
            <a:r>
              <a:rPr lang="en-US" sz="3295" spc="36" b="true">
                <a:solidFill>
                  <a:srgbClr val="090147"/>
                </a:solidFill>
                <a:latin typeface="Krub Bold"/>
                <a:ea typeface="Krub Bold"/>
                <a:cs typeface="Krub Bold"/>
                <a:sym typeface="Krub Bold"/>
              </a:rPr>
              <a:t>Đặc điểm</a:t>
            </a:r>
          </a:p>
          <a:p>
            <a:pPr algn="l" marL="711547" indent="-355774" lvl="1">
              <a:lnSpc>
                <a:spcPts val="5174"/>
              </a:lnSpc>
              <a:buFont typeface="Arial"/>
              <a:buChar char="•"/>
            </a:pPr>
            <a:r>
              <a:rPr lang="en-US" sz="3295" spc="36">
                <a:solidFill>
                  <a:srgbClr val="090147"/>
                </a:solidFill>
                <a:latin typeface="Krub"/>
                <a:ea typeface="Krub"/>
                <a:cs typeface="Krub"/>
                <a:sym typeface="Krub"/>
              </a:rPr>
              <a:t>Mức bảo mật trung bình</a:t>
            </a:r>
          </a:p>
          <a:p>
            <a:pPr algn="l" marL="711547" indent="-355774" lvl="1">
              <a:lnSpc>
                <a:spcPts val="5174"/>
              </a:lnSpc>
              <a:buFont typeface="Arial"/>
              <a:buChar char="•"/>
            </a:pPr>
            <a:r>
              <a:rPr lang="en-US" sz="3295" spc="36">
                <a:solidFill>
                  <a:srgbClr val="090147"/>
                </a:solidFill>
                <a:latin typeface="Krub"/>
                <a:ea typeface="Krub"/>
                <a:cs typeface="Krub"/>
                <a:sym typeface="Krub"/>
              </a:rPr>
              <a:t>Ưu tiên tiện lợi hơn là an toàn tuyệt đối</a:t>
            </a:r>
          </a:p>
          <a:p>
            <a:pPr algn="l" marL="711547" indent="-355774" lvl="1">
              <a:lnSpc>
                <a:spcPts val="5174"/>
              </a:lnSpc>
              <a:buFont typeface="Arial"/>
              <a:buChar char="•"/>
            </a:pPr>
            <a:r>
              <a:rPr lang="en-US" sz="3295" spc="36">
                <a:solidFill>
                  <a:srgbClr val="090147"/>
                </a:solidFill>
                <a:latin typeface="Krub"/>
                <a:ea typeface="Krub"/>
                <a:cs typeface="Krub"/>
                <a:sym typeface="Krub"/>
              </a:rPr>
              <a:t>Dùng để mở khóa thiết bị hoặc đăng nhập ứng dụng thông thường</a:t>
            </a:r>
          </a:p>
          <a:p>
            <a:pPr algn="l" marL="711547" indent="-355774" lvl="1">
              <a:lnSpc>
                <a:spcPts val="5174"/>
              </a:lnSpc>
              <a:buFont typeface="Arial"/>
              <a:buChar char="•"/>
            </a:pPr>
            <a:r>
              <a:rPr lang="en-US" sz="3295" spc="36">
                <a:solidFill>
                  <a:srgbClr val="090147"/>
                </a:solidFill>
                <a:latin typeface="Krub"/>
                <a:ea typeface="Krub"/>
                <a:cs typeface="Krub"/>
                <a:sym typeface="Krub"/>
              </a:rPr>
              <a:t>Không đ</a:t>
            </a:r>
            <a:r>
              <a:rPr lang="en-US" sz="3295" spc="36">
                <a:solidFill>
                  <a:srgbClr val="090147"/>
                </a:solidFill>
                <a:latin typeface="Krub"/>
                <a:ea typeface="Krub"/>
                <a:cs typeface="Krub"/>
                <a:sym typeface="Krub"/>
              </a:rPr>
              <a:t>ược dùng với Android Keystore / CryptoObject</a:t>
            </a:r>
          </a:p>
          <a:p>
            <a:pPr algn="l">
              <a:lnSpc>
                <a:spcPts val="5174"/>
              </a:lnSpc>
            </a:pPr>
            <a:r>
              <a:rPr lang="en-US" sz="3295" spc="36" b="true">
                <a:solidFill>
                  <a:srgbClr val="090147"/>
                </a:solidFill>
                <a:latin typeface="Krub Bold"/>
                <a:ea typeface="Krub Bold"/>
                <a:cs typeface="Krub Bold"/>
                <a:sym typeface="Krub Bold"/>
              </a:rPr>
              <a:t>🔹 Ví dụ: </a:t>
            </a:r>
            <a:r>
              <a:rPr lang="en-US" sz="3295" spc="36">
                <a:solidFill>
                  <a:srgbClr val="090147"/>
                </a:solidFill>
                <a:latin typeface="Krub"/>
                <a:ea typeface="Krub"/>
                <a:cs typeface="Krub"/>
                <a:sym typeface="Krub"/>
              </a:rPr>
              <a:t>Face Unlock camera thường, cảm biến sinh trắc chi phí thấp</a:t>
            </a:r>
          </a:p>
          <a:p>
            <a:pPr algn="l">
              <a:lnSpc>
                <a:spcPts val="5174"/>
              </a:lnSpc>
            </a:pPr>
          </a:p>
        </p:txBody>
      </p:sp>
      <p:sp>
        <p:nvSpPr>
          <p:cNvPr name="TextBox 8" id="8"/>
          <p:cNvSpPr txBox="true"/>
          <p:nvPr/>
        </p:nvSpPr>
        <p:spPr>
          <a:xfrm rot="0">
            <a:off x="1294300" y="307467"/>
            <a:ext cx="14559320"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Các mức độ xác thực bằng sinh trắc học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83462" y="-2486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sp>
        <p:nvSpPr>
          <p:cNvPr name="TextBox 4" id="4"/>
          <p:cNvSpPr txBox="true"/>
          <p:nvPr/>
        </p:nvSpPr>
        <p:spPr>
          <a:xfrm rot="0">
            <a:off x="1354895" y="307467"/>
            <a:ext cx="14521220"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Các mức độ xác thực bằng sinh trắc học</a:t>
            </a:r>
          </a:p>
        </p:txBody>
      </p:sp>
      <p:sp>
        <p:nvSpPr>
          <p:cNvPr name="TextBox 5" id="5"/>
          <p:cNvSpPr txBox="true"/>
          <p:nvPr/>
        </p:nvSpPr>
        <p:spPr>
          <a:xfrm rot="0">
            <a:off x="2381992" y="2440866"/>
            <a:ext cx="13197006" cy="5788734"/>
          </a:xfrm>
          <a:prstGeom prst="rect">
            <a:avLst/>
          </a:prstGeom>
        </p:spPr>
        <p:txBody>
          <a:bodyPr anchor="t" rtlCol="false" tIns="0" lIns="0" bIns="0" rIns="0">
            <a:spAutoFit/>
          </a:bodyPr>
          <a:lstStyle/>
          <a:p>
            <a:pPr algn="l">
              <a:lnSpc>
                <a:spcPts val="5174"/>
              </a:lnSpc>
            </a:pPr>
            <a:r>
              <a:rPr lang="en-US" sz="3295" spc="36" b="true">
                <a:solidFill>
                  <a:srgbClr val="090147"/>
                </a:solidFill>
                <a:latin typeface="Krub Bold"/>
                <a:ea typeface="Krub Bold"/>
                <a:cs typeface="Krub Bold"/>
                <a:sym typeface="Krub Bold"/>
              </a:rPr>
              <a:t>C. Class 3 (BIOMETRIC_STRONG)</a:t>
            </a:r>
          </a:p>
          <a:p>
            <a:pPr algn="l">
              <a:lnSpc>
                <a:spcPts val="5174"/>
              </a:lnSpc>
            </a:pPr>
            <a:r>
              <a:rPr lang="en-US" sz="3295" spc="36" b="true">
                <a:solidFill>
                  <a:srgbClr val="090147"/>
                </a:solidFill>
                <a:latin typeface="Krub Bold"/>
                <a:ea typeface="Krub Bold"/>
                <a:cs typeface="Krub Bold"/>
                <a:sym typeface="Krub Bold"/>
              </a:rPr>
              <a:t>🔹 Đặc điểm</a:t>
            </a:r>
          </a:p>
          <a:p>
            <a:pPr algn="l" marL="711547" indent="-355774" lvl="1">
              <a:lnSpc>
                <a:spcPts val="5174"/>
              </a:lnSpc>
              <a:buFont typeface="Arial"/>
              <a:buChar char="•"/>
            </a:pPr>
            <a:r>
              <a:rPr lang="en-US" sz="3295" spc="36">
                <a:solidFill>
                  <a:srgbClr val="090147"/>
                </a:solidFill>
                <a:latin typeface="Krub"/>
                <a:ea typeface="Krub"/>
                <a:cs typeface="Krub"/>
                <a:sym typeface="Krub"/>
              </a:rPr>
              <a:t>Mức bảo mật cao nhất</a:t>
            </a:r>
          </a:p>
          <a:p>
            <a:pPr algn="l" marL="711547" indent="-355774" lvl="1">
              <a:lnSpc>
                <a:spcPts val="5174"/>
              </a:lnSpc>
              <a:buFont typeface="Arial"/>
              <a:buChar char="•"/>
            </a:pPr>
            <a:r>
              <a:rPr lang="en-US" sz="3295" spc="36">
                <a:solidFill>
                  <a:srgbClr val="090147"/>
                </a:solidFill>
                <a:latin typeface="Krub"/>
                <a:ea typeface="Krub"/>
                <a:cs typeface="Krub"/>
                <a:sym typeface="Krub"/>
              </a:rPr>
              <a:t>Độ chính xác cao, khả năng chống giả mạo tốt</a:t>
            </a:r>
          </a:p>
          <a:p>
            <a:pPr algn="l" marL="711547" indent="-355774" lvl="1">
              <a:lnSpc>
                <a:spcPts val="5174"/>
              </a:lnSpc>
              <a:buFont typeface="Arial"/>
              <a:buChar char="•"/>
            </a:pPr>
            <a:r>
              <a:rPr lang="en-US" sz="3295" spc="36">
                <a:solidFill>
                  <a:srgbClr val="090147"/>
                </a:solidFill>
                <a:latin typeface="Krub"/>
                <a:ea typeface="Krub"/>
                <a:cs typeface="Krub"/>
                <a:sym typeface="Krub"/>
              </a:rPr>
              <a:t>Được dùng với Android Keystore / CryptoObject</a:t>
            </a:r>
          </a:p>
          <a:p>
            <a:pPr algn="l" marL="711547" indent="-355774" lvl="1">
              <a:lnSpc>
                <a:spcPts val="5174"/>
              </a:lnSpc>
              <a:buFont typeface="Arial"/>
              <a:buChar char="•"/>
            </a:pPr>
            <a:r>
              <a:rPr lang="en-US" sz="3295" spc="36">
                <a:solidFill>
                  <a:srgbClr val="090147"/>
                </a:solidFill>
                <a:latin typeface="Krub"/>
                <a:ea typeface="Krub"/>
                <a:cs typeface="Krub"/>
                <a:sym typeface="Krub"/>
              </a:rPr>
              <a:t>Phù hợp với app nhạy cảm như tài chính, thanh toán</a:t>
            </a:r>
          </a:p>
          <a:p>
            <a:pPr algn="l">
              <a:lnSpc>
                <a:spcPts val="5174"/>
              </a:lnSpc>
            </a:pPr>
            <a:r>
              <a:rPr lang="en-US" sz="3295" spc="36" b="true">
                <a:solidFill>
                  <a:srgbClr val="090147"/>
                </a:solidFill>
                <a:latin typeface="Krub Bold"/>
                <a:ea typeface="Krub Bold"/>
                <a:cs typeface="Krub Bold"/>
                <a:sym typeface="Krub Bold"/>
              </a:rPr>
              <a:t>🔹 Ví dụ: </a:t>
            </a:r>
            <a:r>
              <a:rPr lang="en-US" sz="3295" spc="36">
                <a:solidFill>
                  <a:srgbClr val="090147"/>
                </a:solidFill>
                <a:latin typeface="Krub"/>
                <a:ea typeface="Krub"/>
                <a:cs typeface="Krub"/>
                <a:sym typeface="Krub"/>
              </a:rPr>
              <a:t>Vân tay siêu âm, Face Unlock 3D (cảm biến chiều sâu, hồng ngoại)</a:t>
            </a:r>
          </a:p>
          <a:p>
            <a:pPr algn="l">
              <a:lnSpc>
                <a:spcPts val="517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82795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PHẦN 2</a:t>
            </a:r>
          </a:p>
        </p:txBody>
      </p:sp>
      <p:sp>
        <p:nvSpPr>
          <p:cNvPr name="Freeform 4" id="4"/>
          <p:cNvSpPr/>
          <p:nvPr/>
        </p:nvSpPr>
        <p:spPr>
          <a:xfrm flipH="false" flipV="false" rot="-10321493">
            <a:off x="665119" y="-20574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101222" y="3347165"/>
            <a:ext cx="10486600" cy="755650"/>
          </a:xfrm>
          <a:prstGeom prst="rect">
            <a:avLst/>
          </a:prstGeom>
        </p:spPr>
        <p:txBody>
          <a:bodyPr anchor="t" rtlCol="false" tIns="0" lIns="0" bIns="0" rIns="0">
            <a:spAutoFit/>
          </a:bodyPr>
          <a:lstStyle/>
          <a:p>
            <a:pPr algn="ctr">
              <a:lnSpc>
                <a:spcPts val="4850"/>
              </a:lnSpc>
            </a:pPr>
            <a:r>
              <a:rPr lang="en-US" sz="5000">
                <a:solidFill>
                  <a:srgbClr val="090147"/>
                </a:solidFill>
                <a:latin typeface="Bungee"/>
                <a:ea typeface="Bungee"/>
                <a:cs typeface="Bungee"/>
                <a:sym typeface="Bungee"/>
              </a:rPr>
              <a:t> cơ chế hoạt động</a:t>
            </a:r>
          </a:p>
        </p:txBody>
      </p:sp>
      <p:sp>
        <p:nvSpPr>
          <p:cNvPr name="Freeform 7" id="7"/>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3881828" y="4387850"/>
            <a:ext cx="10925387" cy="755650"/>
          </a:xfrm>
          <a:prstGeom prst="rect">
            <a:avLst/>
          </a:prstGeom>
        </p:spPr>
        <p:txBody>
          <a:bodyPr anchor="t" rtlCol="false" tIns="0" lIns="0" bIns="0" rIns="0">
            <a:spAutoFit/>
          </a:bodyPr>
          <a:lstStyle/>
          <a:p>
            <a:pPr algn="ctr">
              <a:lnSpc>
                <a:spcPts val="4850"/>
              </a:lnSpc>
            </a:pPr>
            <a:r>
              <a:rPr lang="en-US" sz="5000">
                <a:solidFill>
                  <a:srgbClr val="090147"/>
                </a:solidFill>
                <a:latin typeface="Bungee"/>
                <a:ea typeface="Bungee"/>
                <a:cs typeface="Bungee"/>
                <a:sym typeface="Bungee"/>
              </a:rPr>
              <a:t>của android biometric</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83495" y="307467"/>
            <a:ext cx="11917454"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Biometric Architecture</a:t>
            </a:r>
          </a:p>
        </p:txBody>
      </p:sp>
      <p:grpSp>
        <p:nvGrpSpPr>
          <p:cNvPr name="Group 4" id="4"/>
          <p:cNvGrpSpPr/>
          <p:nvPr/>
        </p:nvGrpSpPr>
        <p:grpSpPr>
          <a:xfrm rot="0">
            <a:off x="2147050" y="2264817"/>
            <a:ext cx="13993900" cy="1669822"/>
            <a:chOff x="0" y="0"/>
            <a:chExt cx="3685636" cy="439788"/>
          </a:xfrm>
        </p:grpSpPr>
        <p:sp>
          <p:nvSpPr>
            <p:cNvPr name="Freeform 5" id="5"/>
            <p:cNvSpPr/>
            <p:nvPr/>
          </p:nvSpPr>
          <p:spPr>
            <a:xfrm flipH="false" flipV="false" rot="0">
              <a:off x="0" y="0"/>
              <a:ext cx="3685636" cy="439788"/>
            </a:xfrm>
            <a:custGeom>
              <a:avLst/>
              <a:gdLst/>
              <a:ahLst/>
              <a:cxnLst/>
              <a:rect r="r" b="b" t="t" l="l"/>
              <a:pathLst>
                <a:path h="439788" w="3685636">
                  <a:moveTo>
                    <a:pt x="28008" y="0"/>
                  </a:moveTo>
                  <a:lnTo>
                    <a:pt x="3657629" y="0"/>
                  </a:lnTo>
                  <a:cubicBezTo>
                    <a:pt x="3665057" y="0"/>
                    <a:pt x="3672181" y="2951"/>
                    <a:pt x="3677433" y="8203"/>
                  </a:cubicBezTo>
                  <a:cubicBezTo>
                    <a:pt x="3682686" y="13456"/>
                    <a:pt x="3685636" y="20579"/>
                    <a:pt x="3685636" y="28008"/>
                  </a:cubicBezTo>
                  <a:lnTo>
                    <a:pt x="3685636" y="411781"/>
                  </a:lnTo>
                  <a:cubicBezTo>
                    <a:pt x="3685636" y="427249"/>
                    <a:pt x="3673097" y="439788"/>
                    <a:pt x="3657629" y="439788"/>
                  </a:cubicBezTo>
                  <a:lnTo>
                    <a:pt x="28008" y="439788"/>
                  </a:lnTo>
                  <a:cubicBezTo>
                    <a:pt x="12539" y="439788"/>
                    <a:pt x="0" y="427249"/>
                    <a:pt x="0" y="411781"/>
                  </a:cubicBezTo>
                  <a:lnTo>
                    <a:pt x="0" y="28008"/>
                  </a:lnTo>
                  <a:cubicBezTo>
                    <a:pt x="0" y="12539"/>
                    <a:pt x="12539" y="0"/>
                    <a:pt x="28008" y="0"/>
                  </a:cubicBezTo>
                  <a:close/>
                </a:path>
              </a:pathLst>
            </a:custGeom>
            <a:solidFill>
              <a:srgbClr val="FEF6F3"/>
            </a:solidFill>
          </p:spPr>
        </p:sp>
        <p:sp>
          <p:nvSpPr>
            <p:cNvPr name="TextBox 6" id="6"/>
            <p:cNvSpPr txBox="true"/>
            <p:nvPr/>
          </p:nvSpPr>
          <p:spPr>
            <a:xfrm>
              <a:off x="0" y="-66675"/>
              <a:ext cx="3685636" cy="506463"/>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Android chia thiết bị thành 3 cấp độ bảo mật: Class 3 (Strong), Class 2 (Weak), Class 1 (Convenience).</a:t>
              </a:r>
            </a:p>
          </p:txBody>
        </p:sp>
      </p:grpSp>
      <p:grpSp>
        <p:nvGrpSpPr>
          <p:cNvPr name="Group 7" id="7"/>
          <p:cNvGrpSpPr/>
          <p:nvPr/>
        </p:nvGrpSpPr>
        <p:grpSpPr>
          <a:xfrm rot="0">
            <a:off x="2147050" y="4016026"/>
            <a:ext cx="13993900" cy="1335553"/>
            <a:chOff x="0" y="0"/>
            <a:chExt cx="3685636" cy="351751"/>
          </a:xfrm>
        </p:grpSpPr>
        <p:sp>
          <p:nvSpPr>
            <p:cNvPr name="Freeform 8" id="8"/>
            <p:cNvSpPr/>
            <p:nvPr/>
          </p:nvSpPr>
          <p:spPr>
            <a:xfrm flipH="false" flipV="false" rot="0">
              <a:off x="0" y="0"/>
              <a:ext cx="3685636" cy="351751"/>
            </a:xfrm>
            <a:custGeom>
              <a:avLst/>
              <a:gdLst/>
              <a:ahLst/>
              <a:cxnLst/>
              <a:rect r="r" b="b" t="t" l="l"/>
              <a:pathLst>
                <a:path h="351751" w="3685636">
                  <a:moveTo>
                    <a:pt x="28008" y="0"/>
                  </a:moveTo>
                  <a:lnTo>
                    <a:pt x="3657629" y="0"/>
                  </a:lnTo>
                  <a:cubicBezTo>
                    <a:pt x="3665057" y="0"/>
                    <a:pt x="3672181" y="2951"/>
                    <a:pt x="3677433" y="8203"/>
                  </a:cubicBezTo>
                  <a:cubicBezTo>
                    <a:pt x="3682686" y="13456"/>
                    <a:pt x="3685636" y="20579"/>
                    <a:pt x="3685636" y="28008"/>
                  </a:cubicBezTo>
                  <a:lnTo>
                    <a:pt x="3685636" y="323743"/>
                  </a:lnTo>
                  <a:cubicBezTo>
                    <a:pt x="3685636" y="339211"/>
                    <a:pt x="3673097" y="351751"/>
                    <a:pt x="3657629" y="351751"/>
                  </a:cubicBezTo>
                  <a:lnTo>
                    <a:pt x="28008" y="351751"/>
                  </a:lnTo>
                  <a:cubicBezTo>
                    <a:pt x="12539" y="351751"/>
                    <a:pt x="0" y="339211"/>
                    <a:pt x="0" y="323743"/>
                  </a:cubicBezTo>
                  <a:lnTo>
                    <a:pt x="0" y="28008"/>
                  </a:lnTo>
                  <a:cubicBezTo>
                    <a:pt x="0" y="12539"/>
                    <a:pt x="12539" y="0"/>
                    <a:pt x="28008" y="0"/>
                  </a:cubicBezTo>
                  <a:close/>
                </a:path>
              </a:pathLst>
            </a:custGeom>
            <a:solidFill>
              <a:srgbClr val="FEF6F3"/>
            </a:solidFill>
          </p:spPr>
        </p:sp>
        <p:sp>
          <p:nvSpPr>
            <p:cNvPr name="TextBox 9" id="9"/>
            <p:cNvSpPr txBox="true"/>
            <p:nvPr/>
          </p:nvSpPr>
          <p:spPr>
            <a:xfrm>
              <a:off x="0" y="-66675"/>
              <a:ext cx="3685636" cy="418426"/>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Chỉ Class 3 và 2 mới được phép dùng BiometricPrompt.</a:t>
              </a:r>
            </a:p>
          </p:txBody>
        </p:sp>
      </p:grpSp>
      <p:grpSp>
        <p:nvGrpSpPr>
          <p:cNvPr name="Group 10" id="10"/>
          <p:cNvGrpSpPr/>
          <p:nvPr/>
        </p:nvGrpSpPr>
        <p:grpSpPr>
          <a:xfrm rot="0">
            <a:off x="2147050" y="5767235"/>
            <a:ext cx="13993900" cy="2336572"/>
            <a:chOff x="0" y="0"/>
            <a:chExt cx="3685636" cy="615393"/>
          </a:xfrm>
        </p:grpSpPr>
        <p:sp>
          <p:nvSpPr>
            <p:cNvPr name="Freeform 11" id="11"/>
            <p:cNvSpPr/>
            <p:nvPr/>
          </p:nvSpPr>
          <p:spPr>
            <a:xfrm flipH="false" flipV="false" rot="0">
              <a:off x="0" y="0"/>
              <a:ext cx="3685636" cy="615393"/>
            </a:xfrm>
            <a:custGeom>
              <a:avLst/>
              <a:gdLst/>
              <a:ahLst/>
              <a:cxnLst/>
              <a:rect r="r" b="b" t="t" l="l"/>
              <a:pathLst>
                <a:path h="615393" w="3685636">
                  <a:moveTo>
                    <a:pt x="28008" y="0"/>
                  </a:moveTo>
                  <a:lnTo>
                    <a:pt x="3657629" y="0"/>
                  </a:lnTo>
                  <a:cubicBezTo>
                    <a:pt x="3665057" y="0"/>
                    <a:pt x="3672181" y="2951"/>
                    <a:pt x="3677433" y="8203"/>
                  </a:cubicBezTo>
                  <a:cubicBezTo>
                    <a:pt x="3682686" y="13456"/>
                    <a:pt x="3685636" y="20579"/>
                    <a:pt x="3685636" y="28008"/>
                  </a:cubicBezTo>
                  <a:lnTo>
                    <a:pt x="3685636" y="587386"/>
                  </a:lnTo>
                  <a:cubicBezTo>
                    <a:pt x="3685636" y="602854"/>
                    <a:pt x="3673097" y="615393"/>
                    <a:pt x="3657629" y="615393"/>
                  </a:cubicBezTo>
                  <a:lnTo>
                    <a:pt x="28008" y="615393"/>
                  </a:lnTo>
                  <a:cubicBezTo>
                    <a:pt x="12539" y="615393"/>
                    <a:pt x="0" y="602854"/>
                    <a:pt x="0" y="587386"/>
                  </a:cubicBezTo>
                  <a:lnTo>
                    <a:pt x="0" y="28008"/>
                  </a:lnTo>
                  <a:cubicBezTo>
                    <a:pt x="0" y="12539"/>
                    <a:pt x="12539" y="0"/>
                    <a:pt x="28008" y="0"/>
                  </a:cubicBezTo>
                  <a:close/>
                </a:path>
              </a:pathLst>
            </a:custGeom>
            <a:solidFill>
              <a:srgbClr val="FEF6F3"/>
            </a:solidFill>
          </p:spPr>
        </p:sp>
        <p:sp>
          <p:nvSpPr>
            <p:cNvPr name="TextBox 12" id="12"/>
            <p:cNvSpPr txBox="true"/>
            <p:nvPr/>
          </p:nvSpPr>
          <p:spPr>
            <a:xfrm>
              <a:off x="0" y="-66675"/>
              <a:ext cx="3685636" cy="682068"/>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Dữ liệu sinh trắc được xử lý trong TEE (Trusted Execution Environment)  →  ứng dụng không được truy cập vào dữ liệu thật (chỉ nhận “OK/Fail”).</a:t>
              </a:r>
            </a:p>
          </p:txBody>
        </p:sp>
      </p:grpSp>
      <p:sp>
        <p:nvSpPr>
          <p:cNvPr name="Freeform 13" id="13"/>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4">
              <a:alphaModFix amt="46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02686" y="763664"/>
            <a:ext cx="12282627" cy="9410306"/>
          </a:xfrm>
          <a:custGeom>
            <a:avLst/>
            <a:gdLst/>
            <a:ahLst/>
            <a:cxnLst/>
            <a:rect r="r" b="b" t="t" l="l"/>
            <a:pathLst>
              <a:path h="9410306" w="12282627">
                <a:moveTo>
                  <a:pt x="0" y="0"/>
                </a:moveTo>
                <a:lnTo>
                  <a:pt x="12282628" y="0"/>
                </a:lnTo>
                <a:lnTo>
                  <a:pt x="12282628" y="9410306"/>
                </a:lnTo>
                <a:lnTo>
                  <a:pt x="0" y="9410306"/>
                </a:lnTo>
                <a:lnTo>
                  <a:pt x="0" y="0"/>
                </a:lnTo>
                <a:close/>
              </a:path>
            </a:pathLst>
          </a:custGeom>
          <a:blipFill>
            <a:blip r:embed="rId4"/>
            <a:stretch>
              <a:fillRect l="0" t="0" r="0" b="-2315"/>
            </a:stretch>
          </a:blipFill>
        </p:spPr>
      </p:sp>
      <p:sp>
        <p:nvSpPr>
          <p:cNvPr name="TextBox 4" id="4"/>
          <p:cNvSpPr txBox="true"/>
          <p:nvPr/>
        </p:nvSpPr>
        <p:spPr>
          <a:xfrm rot="0">
            <a:off x="5525283" y="143516"/>
            <a:ext cx="7237434"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SƠ ĐỒ KIẾN TRÚC</a:t>
            </a:r>
          </a:p>
        </p:txBody>
      </p:sp>
      <p:sp>
        <p:nvSpPr>
          <p:cNvPr name="Freeform 5" id="5"/>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731426" y="3425010"/>
            <a:ext cx="5750433" cy="8229600"/>
          </a:xfrm>
          <a:custGeom>
            <a:avLst/>
            <a:gdLst/>
            <a:ahLst/>
            <a:cxnLst/>
            <a:rect r="r" b="b" t="t" l="l"/>
            <a:pathLst>
              <a:path h="8229600" w="5750433">
                <a:moveTo>
                  <a:pt x="0" y="0"/>
                </a:moveTo>
                <a:lnTo>
                  <a:pt x="5750433" y="0"/>
                </a:lnTo>
                <a:lnTo>
                  <a:pt x="5750433" y="8229600"/>
                </a:lnTo>
                <a:lnTo>
                  <a:pt x="0" y="8229600"/>
                </a:lnTo>
                <a:lnTo>
                  <a:pt x="0" y="0"/>
                </a:lnTo>
                <a:close/>
              </a:path>
            </a:pathLst>
          </a:custGeom>
          <a:blipFill>
            <a:blip r:embed="rId7"/>
            <a:stretch>
              <a:fillRect l="0" t="0" r="0" b="0"/>
            </a:stretch>
          </a:blipFill>
        </p:spPr>
      </p:sp>
      <p:sp>
        <p:nvSpPr>
          <p:cNvPr name="Freeform 7" id="7"/>
          <p:cNvSpPr/>
          <p:nvPr/>
        </p:nvSpPr>
        <p:spPr>
          <a:xfrm flipH="false" flipV="false" rot="0">
            <a:off x="15406882" y="-360768"/>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8">
              <a:alphaModFix amt="46000"/>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525283" y="9659620"/>
            <a:ext cx="7237434" cy="514350"/>
          </a:xfrm>
          <a:prstGeom prst="rect">
            <a:avLst/>
          </a:prstGeom>
        </p:spPr>
        <p:txBody>
          <a:bodyPr anchor="t" rtlCol="false" tIns="0" lIns="0" bIns="0" rIns="0">
            <a:spAutoFit/>
          </a:bodyPr>
          <a:lstStyle/>
          <a:p>
            <a:pPr algn="ctr">
              <a:lnSpc>
                <a:spcPts val="4200"/>
              </a:lnSpc>
              <a:spcBef>
                <a:spcPct val="0"/>
              </a:spcBef>
            </a:pPr>
            <a:r>
              <a:rPr lang="en-US" sz="3000" u="sng">
                <a:solidFill>
                  <a:srgbClr val="090147"/>
                </a:solidFill>
                <a:latin typeface="Krub"/>
                <a:ea typeface="Krub"/>
                <a:cs typeface="Krub"/>
                <a:sym typeface="Krub"/>
                <a:hlinkClick r:id="rId10" tooltip="https://source.android.com/docs/security/features/biometric"/>
              </a:rPr>
              <a:t>Tham khảo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7050" y="307467"/>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Biometric Manager</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2147050" y="2264817"/>
            <a:ext cx="13993900" cy="1669822"/>
            <a:chOff x="0" y="0"/>
            <a:chExt cx="3685636" cy="439788"/>
          </a:xfrm>
        </p:grpSpPr>
        <p:sp>
          <p:nvSpPr>
            <p:cNvPr name="Freeform 6" id="6"/>
            <p:cNvSpPr/>
            <p:nvPr/>
          </p:nvSpPr>
          <p:spPr>
            <a:xfrm flipH="false" flipV="false" rot="0">
              <a:off x="0" y="0"/>
              <a:ext cx="3685636" cy="439788"/>
            </a:xfrm>
            <a:custGeom>
              <a:avLst/>
              <a:gdLst/>
              <a:ahLst/>
              <a:cxnLst/>
              <a:rect r="r" b="b" t="t" l="l"/>
              <a:pathLst>
                <a:path h="439788" w="3685636">
                  <a:moveTo>
                    <a:pt x="28008" y="0"/>
                  </a:moveTo>
                  <a:lnTo>
                    <a:pt x="3657629" y="0"/>
                  </a:lnTo>
                  <a:cubicBezTo>
                    <a:pt x="3665057" y="0"/>
                    <a:pt x="3672181" y="2951"/>
                    <a:pt x="3677433" y="8203"/>
                  </a:cubicBezTo>
                  <a:cubicBezTo>
                    <a:pt x="3682686" y="13456"/>
                    <a:pt x="3685636" y="20579"/>
                    <a:pt x="3685636" y="28008"/>
                  </a:cubicBezTo>
                  <a:lnTo>
                    <a:pt x="3685636" y="411781"/>
                  </a:lnTo>
                  <a:cubicBezTo>
                    <a:pt x="3685636" y="427249"/>
                    <a:pt x="3673097" y="439788"/>
                    <a:pt x="3657629" y="439788"/>
                  </a:cubicBezTo>
                  <a:lnTo>
                    <a:pt x="28008" y="439788"/>
                  </a:lnTo>
                  <a:cubicBezTo>
                    <a:pt x="12539" y="439788"/>
                    <a:pt x="0" y="427249"/>
                    <a:pt x="0" y="411781"/>
                  </a:cubicBezTo>
                  <a:lnTo>
                    <a:pt x="0" y="28008"/>
                  </a:lnTo>
                  <a:cubicBezTo>
                    <a:pt x="0" y="12539"/>
                    <a:pt x="12539" y="0"/>
                    <a:pt x="28008" y="0"/>
                  </a:cubicBezTo>
                  <a:close/>
                </a:path>
              </a:pathLst>
            </a:custGeom>
            <a:solidFill>
              <a:srgbClr val="FEF6F3"/>
            </a:solidFill>
          </p:spPr>
        </p:sp>
        <p:sp>
          <p:nvSpPr>
            <p:cNvPr name="TextBox 7" id="7"/>
            <p:cNvSpPr txBox="true"/>
            <p:nvPr/>
          </p:nvSpPr>
          <p:spPr>
            <a:xfrm>
              <a:off x="0" y="-66675"/>
              <a:ext cx="3685636" cy="506463"/>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Dùng để kiểm tra trước khi xác thực xem thiết bị có hỗ trợ không.</a:t>
              </a:r>
            </a:p>
          </p:txBody>
        </p:sp>
      </p:grpSp>
      <p:grpSp>
        <p:nvGrpSpPr>
          <p:cNvPr name="Group 8" id="8"/>
          <p:cNvGrpSpPr/>
          <p:nvPr/>
        </p:nvGrpSpPr>
        <p:grpSpPr>
          <a:xfrm rot="0">
            <a:off x="2147050" y="4016026"/>
            <a:ext cx="13993900" cy="1335553"/>
            <a:chOff x="0" y="0"/>
            <a:chExt cx="3685636" cy="351751"/>
          </a:xfrm>
        </p:grpSpPr>
        <p:sp>
          <p:nvSpPr>
            <p:cNvPr name="Freeform 9" id="9"/>
            <p:cNvSpPr/>
            <p:nvPr/>
          </p:nvSpPr>
          <p:spPr>
            <a:xfrm flipH="false" flipV="false" rot="0">
              <a:off x="0" y="0"/>
              <a:ext cx="3685636" cy="351751"/>
            </a:xfrm>
            <a:custGeom>
              <a:avLst/>
              <a:gdLst/>
              <a:ahLst/>
              <a:cxnLst/>
              <a:rect r="r" b="b" t="t" l="l"/>
              <a:pathLst>
                <a:path h="351751" w="3685636">
                  <a:moveTo>
                    <a:pt x="28008" y="0"/>
                  </a:moveTo>
                  <a:lnTo>
                    <a:pt x="3657629" y="0"/>
                  </a:lnTo>
                  <a:cubicBezTo>
                    <a:pt x="3665057" y="0"/>
                    <a:pt x="3672181" y="2951"/>
                    <a:pt x="3677433" y="8203"/>
                  </a:cubicBezTo>
                  <a:cubicBezTo>
                    <a:pt x="3682686" y="13456"/>
                    <a:pt x="3685636" y="20579"/>
                    <a:pt x="3685636" y="28008"/>
                  </a:cubicBezTo>
                  <a:lnTo>
                    <a:pt x="3685636" y="323743"/>
                  </a:lnTo>
                  <a:cubicBezTo>
                    <a:pt x="3685636" y="339211"/>
                    <a:pt x="3673097" y="351751"/>
                    <a:pt x="3657629" y="351751"/>
                  </a:cubicBezTo>
                  <a:lnTo>
                    <a:pt x="28008" y="351751"/>
                  </a:lnTo>
                  <a:cubicBezTo>
                    <a:pt x="12539" y="351751"/>
                    <a:pt x="0" y="339211"/>
                    <a:pt x="0" y="323743"/>
                  </a:cubicBezTo>
                  <a:lnTo>
                    <a:pt x="0" y="28008"/>
                  </a:lnTo>
                  <a:cubicBezTo>
                    <a:pt x="0" y="12539"/>
                    <a:pt x="12539" y="0"/>
                    <a:pt x="28008" y="0"/>
                  </a:cubicBezTo>
                  <a:close/>
                </a:path>
              </a:pathLst>
            </a:custGeom>
            <a:solidFill>
              <a:srgbClr val="FEF6F3"/>
            </a:solidFill>
          </p:spPr>
        </p:sp>
        <p:sp>
          <p:nvSpPr>
            <p:cNvPr name="TextBox 10" id="10"/>
            <p:cNvSpPr txBox="true"/>
            <p:nvPr/>
          </p:nvSpPr>
          <p:spPr>
            <a:xfrm>
              <a:off x="0" y="-66675"/>
              <a:ext cx="3685636" cy="418426"/>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Gọi: BiometricManager.canAuthenticate(...)</a:t>
              </a:r>
            </a:p>
          </p:txBody>
        </p:sp>
      </p:grpSp>
      <p:grpSp>
        <p:nvGrpSpPr>
          <p:cNvPr name="Group 11" id="11"/>
          <p:cNvGrpSpPr/>
          <p:nvPr/>
        </p:nvGrpSpPr>
        <p:grpSpPr>
          <a:xfrm rot="0">
            <a:off x="2147050" y="5542464"/>
            <a:ext cx="13993900" cy="1669822"/>
            <a:chOff x="0" y="0"/>
            <a:chExt cx="3685636" cy="439788"/>
          </a:xfrm>
        </p:grpSpPr>
        <p:sp>
          <p:nvSpPr>
            <p:cNvPr name="Freeform 12" id="12"/>
            <p:cNvSpPr/>
            <p:nvPr/>
          </p:nvSpPr>
          <p:spPr>
            <a:xfrm flipH="false" flipV="false" rot="0">
              <a:off x="0" y="0"/>
              <a:ext cx="3685636" cy="439788"/>
            </a:xfrm>
            <a:custGeom>
              <a:avLst/>
              <a:gdLst/>
              <a:ahLst/>
              <a:cxnLst/>
              <a:rect r="r" b="b" t="t" l="l"/>
              <a:pathLst>
                <a:path h="439788" w="3685636">
                  <a:moveTo>
                    <a:pt x="28008" y="0"/>
                  </a:moveTo>
                  <a:lnTo>
                    <a:pt x="3657629" y="0"/>
                  </a:lnTo>
                  <a:cubicBezTo>
                    <a:pt x="3665057" y="0"/>
                    <a:pt x="3672181" y="2951"/>
                    <a:pt x="3677433" y="8203"/>
                  </a:cubicBezTo>
                  <a:cubicBezTo>
                    <a:pt x="3682686" y="13456"/>
                    <a:pt x="3685636" y="20579"/>
                    <a:pt x="3685636" y="28008"/>
                  </a:cubicBezTo>
                  <a:lnTo>
                    <a:pt x="3685636" y="411781"/>
                  </a:lnTo>
                  <a:cubicBezTo>
                    <a:pt x="3685636" y="427249"/>
                    <a:pt x="3673097" y="439788"/>
                    <a:pt x="3657629" y="439788"/>
                  </a:cubicBezTo>
                  <a:lnTo>
                    <a:pt x="28008" y="439788"/>
                  </a:lnTo>
                  <a:cubicBezTo>
                    <a:pt x="12539" y="439788"/>
                    <a:pt x="0" y="427249"/>
                    <a:pt x="0" y="411781"/>
                  </a:cubicBezTo>
                  <a:lnTo>
                    <a:pt x="0" y="28008"/>
                  </a:lnTo>
                  <a:cubicBezTo>
                    <a:pt x="0" y="12539"/>
                    <a:pt x="12539" y="0"/>
                    <a:pt x="28008" y="0"/>
                  </a:cubicBezTo>
                  <a:close/>
                </a:path>
              </a:pathLst>
            </a:custGeom>
            <a:solidFill>
              <a:srgbClr val="FEF6F3"/>
            </a:solidFill>
          </p:spPr>
        </p:sp>
        <p:sp>
          <p:nvSpPr>
            <p:cNvPr name="TextBox 13" id="13"/>
            <p:cNvSpPr txBox="true"/>
            <p:nvPr/>
          </p:nvSpPr>
          <p:spPr>
            <a:xfrm>
              <a:off x="0" y="-66675"/>
              <a:ext cx="3685636" cy="506463"/>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Trả về: BIOMETRIC_SUCCESS, ERROR_NO_HARDWARE, NONE_ENROLLED, v.v.</a:t>
              </a:r>
            </a:p>
          </p:txBody>
        </p:sp>
      </p:grpSp>
      <p:sp>
        <p:nvSpPr>
          <p:cNvPr name="Freeform 14" id="14"/>
          <p:cNvSpPr/>
          <p:nvPr/>
        </p:nvSpPr>
        <p:spPr>
          <a:xfrm flipH="false" flipV="false" rot="-10321493">
            <a:off x="11430414" y="8042593"/>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sp>
        <p:nvSpPr>
          <p:cNvPr name="Freeform 4" id="4"/>
          <p:cNvSpPr/>
          <p:nvPr/>
        </p:nvSpPr>
        <p:spPr>
          <a:xfrm flipH="false" flipV="false" rot="0">
            <a:off x="1564541" y="2018828"/>
            <a:ext cx="15694759" cy="8268172"/>
          </a:xfrm>
          <a:custGeom>
            <a:avLst/>
            <a:gdLst/>
            <a:ahLst/>
            <a:cxnLst/>
            <a:rect r="r" b="b" t="t" l="l"/>
            <a:pathLst>
              <a:path h="8268172" w="15694759">
                <a:moveTo>
                  <a:pt x="0" y="0"/>
                </a:moveTo>
                <a:lnTo>
                  <a:pt x="15694759" y="0"/>
                </a:lnTo>
                <a:lnTo>
                  <a:pt x="15694759" y="8268172"/>
                </a:lnTo>
                <a:lnTo>
                  <a:pt x="0" y="8268172"/>
                </a:lnTo>
                <a:lnTo>
                  <a:pt x="0" y="0"/>
                </a:lnTo>
                <a:close/>
              </a:path>
            </a:pathLst>
          </a:custGeom>
          <a:blipFill>
            <a:blip r:embed="rId5"/>
            <a:stretch>
              <a:fillRect l="0" t="-5361" r="-1056" b="-418"/>
            </a:stretch>
          </a:blipFill>
        </p:spPr>
      </p:sp>
      <p:sp>
        <p:nvSpPr>
          <p:cNvPr name="TextBox 5" id="5"/>
          <p:cNvSpPr txBox="true"/>
          <p:nvPr/>
        </p:nvSpPr>
        <p:spPr>
          <a:xfrm rot="0">
            <a:off x="2147050" y="307467"/>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Biometric Manager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7050" y="307467"/>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Biometric PROMPT</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2147050" y="2598192"/>
            <a:ext cx="14541095" cy="1526438"/>
            <a:chOff x="0" y="0"/>
            <a:chExt cx="3829753" cy="402025"/>
          </a:xfrm>
        </p:grpSpPr>
        <p:sp>
          <p:nvSpPr>
            <p:cNvPr name="Freeform 6" id="6"/>
            <p:cNvSpPr/>
            <p:nvPr/>
          </p:nvSpPr>
          <p:spPr>
            <a:xfrm flipH="false" flipV="false" rot="0">
              <a:off x="0" y="0"/>
              <a:ext cx="3829753" cy="402025"/>
            </a:xfrm>
            <a:custGeom>
              <a:avLst/>
              <a:gdLst/>
              <a:ahLst/>
              <a:cxnLst/>
              <a:rect r="r" b="b" t="t" l="l"/>
              <a:pathLst>
                <a:path h="402025" w="3829753">
                  <a:moveTo>
                    <a:pt x="26954" y="0"/>
                  </a:moveTo>
                  <a:lnTo>
                    <a:pt x="3802800" y="0"/>
                  </a:lnTo>
                  <a:cubicBezTo>
                    <a:pt x="3817686" y="0"/>
                    <a:pt x="3829753" y="12068"/>
                    <a:pt x="3829753" y="26954"/>
                  </a:cubicBezTo>
                  <a:lnTo>
                    <a:pt x="3829753" y="375071"/>
                  </a:lnTo>
                  <a:cubicBezTo>
                    <a:pt x="3829753" y="389957"/>
                    <a:pt x="3817686" y="402025"/>
                    <a:pt x="3802800" y="402025"/>
                  </a:cubicBezTo>
                  <a:lnTo>
                    <a:pt x="26954" y="402025"/>
                  </a:lnTo>
                  <a:cubicBezTo>
                    <a:pt x="12068" y="402025"/>
                    <a:pt x="0" y="389957"/>
                    <a:pt x="0" y="375071"/>
                  </a:cubicBezTo>
                  <a:lnTo>
                    <a:pt x="0" y="26954"/>
                  </a:lnTo>
                  <a:cubicBezTo>
                    <a:pt x="0" y="12068"/>
                    <a:pt x="12068" y="0"/>
                    <a:pt x="26954" y="0"/>
                  </a:cubicBezTo>
                  <a:close/>
                </a:path>
              </a:pathLst>
            </a:custGeom>
            <a:solidFill>
              <a:srgbClr val="FEF6F3"/>
            </a:solidFill>
          </p:spPr>
        </p:sp>
        <p:sp>
          <p:nvSpPr>
            <p:cNvPr name="TextBox 7" id="7"/>
            <p:cNvSpPr txBox="true"/>
            <p:nvPr/>
          </p:nvSpPr>
          <p:spPr>
            <a:xfrm>
              <a:off x="0" y="-66675"/>
              <a:ext cx="3829753" cy="468700"/>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API hiển thị hộp thoại sinh trắc (do hệ thống kiểm soát).</a:t>
              </a:r>
            </a:p>
          </p:txBody>
        </p:sp>
      </p:grpSp>
      <p:grpSp>
        <p:nvGrpSpPr>
          <p:cNvPr name="Group 8" id="8"/>
          <p:cNvGrpSpPr/>
          <p:nvPr/>
        </p:nvGrpSpPr>
        <p:grpSpPr>
          <a:xfrm rot="0">
            <a:off x="2147050" y="4053504"/>
            <a:ext cx="13993900" cy="1526438"/>
            <a:chOff x="0" y="0"/>
            <a:chExt cx="3685636" cy="402025"/>
          </a:xfrm>
        </p:grpSpPr>
        <p:sp>
          <p:nvSpPr>
            <p:cNvPr name="Freeform 9" id="9"/>
            <p:cNvSpPr/>
            <p:nvPr/>
          </p:nvSpPr>
          <p:spPr>
            <a:xfrm flipH="false" flipV="false" rot="0">
              <a:off x="0" y="0"/>
              <a:ext cx="3685636" cy="402025"/>
            </a:xfrm>
            <a:custGeom>
              <a:avLst/>
              <a:gdLst/>
              <a:ahLst/>
              <a:cxnLst/>
              <a:rect r="r" b="b" t="t" l="l"/>
              <a:pathLst>
                <a:path h="402025" w="3685636">
                  <a:moveTo>
                    <a:pt x="28008" y="0"/>
                  </a:moveTo>
                  <a:lnTo>
                    <a:pt x="3657629" y="0"/>
                  </a:lnTo>
                  <a:cubicBezTo>
                    <a:pt x="3665057" y="0"/>
                    <a:pt x="3672181" y="2951"/>
                    <a:pt x="3677433" y="8203"/>
                  </a:cubicBezTo>
                  <a:cubicBezTo>
                    <a:pt x="3682686" y="13456"/>
                    <a:pt x="3685636" y="20579"/>
                    <a:pt x="3685636" y="28008"/>
                  </a:cubicBezTo>
                  <a:lnTo>
                    <a:pt x="3685636" y="374017"/>
                  </a:lnTo>
                  <a:cubicBezTo>
                    <a:pt x="3685636" y="389486"/>
                    <a:pt x="3673097" y="402025"/>
                    <a:pt x="3657629" y="402025"/>
                  </a:cubicBezTo>
                  <a:lnTo>
                    <a:pt x="28008" y="402025"/>
                  </a:lnTo>
                  <a:cubicBezTo>
                    <a:pt x="12539" y="402025"/>
                    <a:pt x="0" y="389486"/>
                    <a:pt x="0" y="374017"/>
                  </a:cubicBezTo>
                  <a:lnTo>
                    <a:pt x="0" y="28008"/>
                  </a:lnTo>
                  <a:cubicBezTo>
                    <a:pt x="0" y="12539"/>
                    <a:pt x="12539" y="0"/>
                    <a:pt x="28008" y="0"/>
                  </a:cubicBezTo>
                  <a:close/>
                </a:path>
              </a:pathLst>
            </a:custGeom>
            <a:solidFill>
              <a:srgbClr val="FEF6F3"/>
            </a:solidFill>
          </p:spPr>
        </p:sp>
        <p:sp>
          <p:nvSpPr>
            <p:cNvPr name="TextBox 10" id="10"/>
            <p:cNvSpPr txBox="true"/>
            <p:nvPr/>
          </p:nvSpPr>
          <p:spPr>
            <a:xfrm>
              <a:off x="0" y="-66675"/>
              <a:ext cx="3685636" cy="468700"/>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Hộp thoại do System UI hiển thị.</a:t>
              </a:r>
            </a:p>
          </p:txBody>
        </p:sp>
      </p:grpSp>
      <p:grpSp>
        <p:nvGrpSpPr>
          <p:cNvPr name="Group 11" id="11"/>
          <p:cNvGrpSpPr/>
          <p:nvPr/>
        </p:nvGrpSpPr>
        <p:grpSpPr>
          <a:xfrm rot="0">
            <a:off x="2147050" y="5508815"/>
            <a:ext cx="13993900" cy="1526438"/>
            <a:chOff x="0" y="0"/>
            <a:chExt cx="3685636" cy="402025"/>
          </a:xfrm>
        </p:grpSpPr>
        <p:sp>
          <p:nvSpPr>
            <p:cNvPr name="Freeform 12" id="12"/>
            <p:cNvSpPr/>
            <p:nvPr/>
          </p:nvSpPr>
          <p:spPr>
            <a:xfrm flipH="false" flipV="false" rot="0">
              <a:off x="0" y="0"/>
              <a:ext cx="3685636" cy="402025"/>
            </a:xfrm>
            <a:custGeom>
              <a:avLst/>
              <a:gdLst/>
              <a:ahLst/>
              <a:cxnLst/>
              <a:rect r="r" b="b" t="t" l="l"/>
              <a:pathLst>
                <a:path h="402025" w="3685636">
                  <a:moveTo>
                    <a:pt x="28008" y="0"/>
                  </a:moveTo>
                  <a:lnTo>
                    <a:pt x="3657629" y="0"/>
                  </a:lnTo>
                  <a:cubicBezTo>
                    <a:pt x="3665057" y="0"/>
                    <a:pt x="3672181" y="2951"/>
                    <a:pt x="3677433" y="8203"/>
                  </a:cubicBezTo>
                  <a:cubicBezTo>
                    <a:pt x="3682686" y="13456"/>
                    <a:pt x="3685636" y="20579"/>
                    <a:pt x="3685636" y="28008"/>
                  </a:cubicBezTo>
                  <a:lnTo>
                    <a:pt x="3685636" y="374017"/>
                  </a:lnTo>
                  <a:cubicBezTo>
                    <a:pt x="3685636" y="389486"/>
                    <a:pt x="3673097" y="402025"/>
                    <a:pt x="3657629" y="402025"/>
                  </a:cubicBezTo>
                  <a:lnTo>
                    <a:pt x="28008" y="402025"/>
                  </a:lnTo>
                  <a:cubicBezTo>
                    <a:pt x="12539" y="402025"/>
                    <a:pt x="0" y="389486"/>
                    <a:pt x="0" y="374017"/>
                  </a:cubicBezTo>
                  <a:lnTo>
                    <a:pt x="0" y="28008"/>
                  </a:lnTo>
                  <a:cubicBezTo>
                    <a:pt x="0" y="12539"/>
                    <a:pt x="12539" y="0"/>
                    <a:pt x="28008" y="0"/>
                  </a:cubicBezTo>
                  <a:close/>
                </a:path>
              </a:pathLst>
            </a:custGeom>
            <a:solidFill>
              <a:srgbClr val="FEF6F3"/>
            </a:solidFill>
          </p:spPr>
        </p:sp>
        <p:sp>
          <p:nvSpPr>
            <p:cNvPr name="TextBox 13" id="13"/>
            <p:cNvSpPr txBox="true"/>
            <p:nvPr/>
          </p:nvSpPr>
          <p:spPr>
            <a:xfrm>
              <a:off x="0" y="-66675"/>
              <a:ext cx="3685636" cy="468700"/>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Hỗ trợ nhiều loại: vân tay, khuôn mặt, PIN.</a:t>
              </a:r>
            </a:p>
          </p:txBody>
        </p:sp>
      </p:grpSp>
      <p:grpSp>
        <p:nvGrpSpPr>
          <p:cNvPr name="Group 14" id="14"/>
          <p:cNvGrpSpPr/>
          <p:nvPr/>
        </p:nvGrpSpPr>
        <p:grpSpPr>
          <a:xfrm rot="0">
            <a:off x="2147050" y="6964127"/>
            <a:ext cx="13993900" cy="1526438"/>
            <a:chOff x="0" y="0"/>
            <a:chExt cx="3685636" cy="402025"/>
          </a:xfrm>
        </p:grpSpPr>
        <p:sp>
          <p:nvSpPr>
            <p:cNvPr name="Freeform 15" id="15"/>
            <p:cNvSpPr/>
            <p:nvPr/>
          </p:nvSpPr>
          <p:spPr>
            <a:xfrm flipH="false" flipV="false" rot="0">
              <a:off x="0" y="0"/>
              <a:ext cx="3685636" cy="402025"/>
            </a:xfrm>
            <a:custGeom>
              <a:avLst/>
              <a:gdLst/>
              <a:ahLst/>
              <a:cxnLst/>
              <a:rect r="r" b="b" t="t" l="l"/>
              <a:pathLst>
                <a:path h="402025" w="3685636">
                  <a:moveTo>
                    <a:pt x="28008" y="0"/>
                  </a:moveTo>
                  <a:lnTo>
                    <a:pt x="3657629" y="0"/>
                  </a:lnTo>
                  <a:cubicBezTo>
                    <a:pt x="3665057" y="0"/>
                    <a:pt x="3672181" y="2951"/>
                    <a:pt x="3677433" y="8203"/>
                  </a:cubicBezTo>
                  <a:cubicBezTo>
                    <a:pt x="3682686" y="13456"/>
                    <a:pt x="3685636" y="20579"/>
                    <a:pt x="3685636" y="28008"/>
                  </a:cubicBezTo>
                  <a:lnTo>
                    <a:pt x="3685636" y="374017"/>
                  </a:lnTo>
                  <a:cubicBezTo>
                    <a:pt x="3685636" y="389486"/>
                    <a:pt x="3673097" y="402025"/>
                    <a:pt x="3657629" y="402025"/>
                  </a:cubicBezTo>
                  <a:lnTo>
                    <a:pt x="28008" y="402025"/>
                  </a:lnTo>
                  <a:cubicBezTo>
                    <a:pt x="12539" y="402025"/>
                    <a:pt x="0" y="389486"/>
                    <a:pt x="0" y="374017"/>
                  </a:cubicBezTo>
                  <a:lnTo>
                    <a:pt x="0" y="28008"/>
                  </a:lnTo>
                  <a:cubicBezTo>
                    <a:pt x="0" y="12539"/>
                    <a:pt x="12539" y="0"/>
                    <a:pt x="28008" y="0"/>
                  </a:cubicBezTo>
                  <a:close/>
                </a:path>
              </a:pathLst>
            </a:custGeom>
            <a:solidFill>
              <a:srgbClr val="FEF6F3"/>
            </a:solidFill>
          </p:spPr>
        </p:sp>
        <p:sp>
          <p:nvSpPr>
            <p:cNvPr name="TextBox 16" id="16"/>
            <p:cNvSpPr txBox="true"/>
            <p:nvPr/>
          </p:nvSpPr>
          <p:spPr>
            <a:xfrm>
              <a:off x="0" y="-66675"/>
              <a:ext cx="3685636" cy="468700"/>
            </a:xfrm>
            <a:prstGeom prst="rect">
              <a:avLst/>
            </a:prstGeom>
          </p:spPr>
          <p:txBody>
            <a:bodyPr anchor="ctr" rtlCol="false" tIns="50800" lIns="50800" bIns="50800" rIns="50800"/>
            <a:lstStyle/>
            <a:p>
              <a:pPr algn="l" marL="820421" indent="-410210" lvl="1">
                <a:lnSpc>
                  <a:spcPts val="5320"/>
                </a:lnSpc>
                <a:spcBef>
                  <a:spcPct val="0"/>
                </a:spcBef>
                <a:buFont typeface="Arial"/>
                <a:buChar char="•"/>
              </a:pPr>
              <a:r>
                <a:rPr lang="en-US" sz="3800">
                  <a:solidFill>
                    <a:srgbClr val="090147"/>
                  </a:solidFill>
                  <a:latin typeface="Krub"/>
                  <a:ea typeface="Krub"/>
                  <a:cs typeface="Krub"/>
                  <a:sym typeface="Krub"/>
                </a:rPr>
                <a:t>Giao diện người dùng thống nhất → an toàn.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sp>
        <p:nvSpPr>
          <p:cNvPr name="Freeform 4" id="4"/>
          <p:cNvSpPr/>
          <p:nvPr/>
        </p:nvSpPr>
        <p:spPr>
          <a:xfrm flipH="false" flipV="false" rot="0">
            <a:off x="7321466" y="2058742"/>
            <a:ext cx="3645068" cy="7671596"/>
          </a:xfrm>
          <a:custGeom>
            <a:avLst/>
            <a:gdLst/>
            <a:ahLst/>
            <a:cxnLst/>
            <a:rect r="r" b="b" t="t" l="l"/>
            <a:pathLst>
              <a:path h="7671596" w="3645068">
                <a:moveTo>
                  <a:pt x="0" y="0"/>
                </a:moveTo>
                <a:lnTo>
                  <a:pt x="3645068" y="0"/>
                </a:lnTo>
                <a:lnTo>
                  <a:pt x="3645068" y="7671596"/>
                </a:lnTo>
                <a:lnTo>
                  <a:pt x="0" y="7671596"/>
                </a:lnTo>
                <a:lnTo>
                  <a:pt x="0" y="0"/>
                </a:lnTo>
                <a:close/>
              </a:path>
            </a:pathLst>
          </a:custGeom>
          <a:blipFill>
            <a:blip r:embed="rId5"/>
            <a:stretch>
              <a:fillRect l="0" t="0" r="0" b="0"/>
            </a:stretch>
          </a:blipFill>
        </p:spPr>
      </p:sp>
      <p:sp>
        <p:nvSpPr>
          <p:cNvPr name="TextBox 5" id="5"/>
          <p:cNvSpPr txBox="true"/>
          <p:nvPr/>
        </p:nvSpPr>
        <p:spPr>
          <a:xfrm rot="0">
            <a:off x="4419600" y="476393"/>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ẢNH MINH HỌA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7050" y="462316"/>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api phổ biến nhất</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706128" y="2847687"/>
            <a:ext cx="15493471" cy="2237156"/>
            <a:chOff x="0" y="0"/>
            <a:chExt cx="4080585" cy="589210"/>
          </a:xfrm>
        </p:grpSpPr>
        <p:sp>
          <p:nvSpPr>
            <p:cNvPr name="Freeform 6" id="6"/>
            <p:cNvSpPr/>
            <p:nvPr/>
          </p:nvSpPr>
          <p:spPr>
            <a:xfrm flipH="false" flipV="false" rot="0">
              <a:off x="0" y="0"/>
              <a:ext cx="4080585" cy="589210"/>
            </a:xfrm>
            <a:custGeom>
              <a:avLst/>
              <a:gdLst/>
              <a:ahLst/>
              <a:cxnLst/>
              <a:rect r="r" b="b" t="t" l="l"/>
              <a:pathLst>
                <a:path h="589210" w="4080585">
                  <a:moveTo>
                    <a:pt x="25297" y="0"/>
                  </a:moveTo>
                  <a:lnTo>
                    <a:pt x="4055288" y="0"/>
                  </a:lnTo>
                  <a:cubicBezTo>
                    <a:pt x="4069259" y="0"/>
                    <a:pt x="4080585" y="11326"/>
                    <a:pt x="4080585" y="25297"/>
                  </a:cubicBezTo>
                  <a:lnTo>
                    <a:pt x="4080585" y="563913"/>
                  </a:lnTo>
                  <a:cubicBezTo>
                    <a:pt x="4080585" y="577884"/>
                    <a:pt x="4069259" y="589210"/>
                    <a:pt x="4055288" y="589210"/>
                  </a:cubicBezTo>
                  <a:lnTo>
                    <a:pt x="25297" y="589210"/>
                  </a:lnTo>
                  <a:cubicBezTo>
                    <a:pt x="18588" y="589210"/>
                    <a:pt x="12153" y="586545"/>
                    <a:pt x="7409" y="581801"/>
                  </a:cubicBezTo>
                  <a:cubicBezTo>
                    <a:pt x="2665" y="577056"/>
                    <a:pt x="0" y="570622"/>
                    <a:pt x="0" y="563913"/>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7" id="7"/>
            <p:cNvSpPr txBox="true"/>
            <p:nvPr/>
          </p:nvSpPr>
          <p:spPr>
            <a:xfrm>
              <a:off x="0" y="-66675"/>
              <a:ext cx="4080585" cy="655885"/>
            </a:xfrm>
            <a:prstGeom prst="rect">
              <a:avLst/>
            </a:prstGeom>
          </p:spPr>
          <p:txBody>
            <a:bodyPr anchor="ctr" rtlCol="false" tIns="50800" lIns="50800" bIns="50800" rIns="50800"/>
            <a:lstStyle/>
            <a:p>
              <a:pPr algn="just" marL="777240" indent="-388620" lvl="1">
                <a:lnSpc>
                  <a:spcPts val="5040"/>
                </a:lnSpc>
                <a:buFont typeface="Arial"/>
                <a:buChar char="•"/>
              </a:pPr>
              <a:r>
                <a:rPr lang="en-US" sz="3600">
                  <a:solidFill>
                    <a:srgbClr val="090147"/>
                  </a:solidFill>
                  <a:latin typeface="Krub"/>
                  <a:ea typeface="Krub"/>
                  <a:cs typeface="Krub"/>
                  <a:sym typeface="Krub"/>
                </a:rPr>
                <a:t>Hiện tại, BiometricPrompt (kết hợp với BiometricManager) chính là API tiêu chuẩn để triển khai xác thực sinh trắc trên Android.</a:t>
              </a:r>
            </a:p>
            <a:p>
              <a:pPr algn="just">
                <a:lnSpc>
                  <a:spcPts val="5040"/>
                </a:lnSpc>
                <a:spcBef>
                  <a:spcPct val="0"/>
                </a:spcBef>
              </a:pPr>
            </a:p>
          </p:txBody>
        </p:sp>
      </p:grpSp>
      <p:grpSp>
        <p:nvGrpSpPr>
          <p:cNvPr name="Group 8" id="8"/>
          <p:cNvGrpSpPr/>
          <p:nvPr/>
        </p:nvGrpSpPr>
        <p:grpSpPr>
          <a:xfrm rot="0">
            <a:off x="706128" y="5143500"/>
            <a:ext cx="15493471" cy="2875331"/>
            <a:chOff x="0" y="0"/>
            <a:chExt cx="4080585" cy="757289"/>
          </a:xfrm>
        </p:grpSpPr>
        <p:sp>
          <p:nvSpPr>
            <p:cNvPr name="Freeform 9" id="9"/>
            <p:cNvSpPr/>
            <p:nvPr/>
          </p:nvSpPr>
          <p:spPr>
            <a:xfrm flipH="false" flipV="false" rot="0">
              <a:off x="0" y="0"/>
              <a:ext cx="4080585" cy="757289"/>
            </a:xfrm>
            <a:custGeom>
              <a:avLst/>
              <a:gdLst/>
              <a:ahLst/>
              <a:cxnLst/>
              <a:rect r="r" b="b" t="t" l="l"/>
              <a:pathLst>
                <a:path h="757289" w="4080585">
                  <a:moveTo>
                    <a:pt x="25297" y="0"/>
                  </a:moveTo>
                  <a:lnTo>
                    <a:pt x="4055288" y="0"/>
                  </a:lnTo>
                  <a:cubicBezTo>
                    <a:pt x="4069259" y="0"/>
                    <a:pt x="4080585" y="11326"/>
                    <a:pt x="4080585" y="25297"/>
                  </a:cubicBezTo>
                  <a:lnTo>
                    <a:pt x="4080585" y="731992"/>
                  </a:lnTo>
                  <a:cubicBezTo>
                    <a:pt x="4080585" y="738701"/>
                    <a:pt x="4077920" y="745135"/>
                    <a:pt x="4073176" y="749880"/>
                  </a:cubicBezTo>
                  <a:cubicBezTo>
                    <a:pt x="4068432" y="754624"/>
                    <a:pt x="4061997" y="757289"/>
                    <a:pt x="4055288" y="757289"/>
                  </a:cubicBezTo>
                  <a:lnTo>
                    <a:pt x="25297" y="757289"/>
                  </a:lnTo>
                  <a:cubicBezTo>
                    <a:pt x="18588" y="757289"/>
                    <a:pt x="12153" y="754624"/>
                    <a:pt x="7409" y="749880"/>
                  </a:cubicBezTo>
                  <a:cubicBezTo>
                    <a:pt x="2665" y="745135"/>
                    <a:pt x="0" y="738701"/>
                    <a:pt x="0" y="731992"/>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0" id="10"/>
            <p:cNvSpPr txBox="true"/>
            <p:nvPr/>
          </p:nvSpPr>
          <p:spPr>
            <a:xfrm>
              <a:off x="0" y="-66675"/>
              <a:ext cx="4080585" cy="823964"/>
            </a:xfrm>
            <a:prstGeom prst="rect">
              <a:avLst/>
            </a:prstGeom>
          </p:spPr>
          <p:txBody>
            <a:bodyPr anchor="ctr" rtlCol="false" tIns="50800" lIns="50800" bIns="50800" rIns="50800"/>
            <a:lstStyle/>
            <a:p>
              <a:pPr algn="just" marL="777240" indent="-388620" lvl="1">
                <a:lnSpc>
                  <a:spcPts val="5040"/>
                </a:lnSpc>
                <a:buFont typeface="Arial"/>
                <a:buChar char="•"/>
              </a:pPr>
              <a:r>
                <a:rPr lang="en-US" sz="3600">
                  <a:solidFill>
                    <a:srgbClr val="090147"/>
                  </a:solidFill>
                  <a:latin typeface="Krub"/>
                  <a:ea typeface="Krub"/>
                  <a:cs typeface="Krub"/>
                  <a:sym typeface="Krub"/>
                </a:rPr>
                <a:t>BiometricPrompt ra đời trên Android 9 (chỉ hỗ trợ vân tay lúc đầu) và được mở rộng trên Android 10 để hỗ trợ cả xác thực khuôn mặt, mang lại một giải pháp thống nhất cho mọi loại sinh trắc. </a:t>
              </a:r>
            </a:p>
            <a:p>
              <a:pPr algn="just">
                <a:lnSpc>
                  <a:spcPts val="5040"/>
                </a:lnSpc>
                <a:spcBef>
                  <a:spcPct val="0"/>
                </a:spcBef>
              </a:pPr>
            </a:p>
          </p:txBody>
        </p:sp>
      </p:grpSp>
      <p:sp>
        <p:nvSpPr>
          <p:cNvPr name="Freeform 11" id="11"/>
          <p:cNvSpPr/>
          <p:nvPr/>
        </p:nvSpPr>
        <p:spPr>
          <a:xfrm flipH="false" flipV="false" rot="-10321493">
            <a:off x="11190206" y="82296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7050" y="462316"/>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api phổ biến nhất</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706128" y="2847687"/>
            <a:ext cx="15493471" cy="1598981"/>
            <a:chOff x="0" y="0"/>
            <a:chExt cx="4080585" cy="421131"/>
          </a:xfrm>
        </p:grpSpPr>
        <p:sp>
          <p:nvSpPr>
            <p:cNvPr name="Freeform 6" id="6"/>
            <p:cNvSpPr/>
            <p:nvPr/>
          </p:nvSpPr>
          <p:spPr>
            <a:xfrm flipH="false" flipV="false" rot="0">
              <a:off x="0" y="0"/>
              <a:ext cx="4080585" cy="421131"/>
            </a:xfrm>
            <a:custGeom>
              <a:avLst/>
              <a:gdLst/>
              <a:ahLst/>
              <a:cxnLst/>
              <a:rect r="r" b="b" t="t" l="l"/>
              <a:pathLst>
                <a:path h="421131" w="4080585">
                  <a:moveTo>
                    <a:pt x="25297" y="0"/>
                  </a:moveTo>
                  <a:lnTo>
                    <a:pt x="4055288" y="0"/>
                  </a:lnTo>
                  <a:cubicBezTo>
                    <a:pt x="4069259" y="0"/>
                    <a:pt x="4080585" y="11326"/>
                    <a:pt x="4080585" y="25297"/>
                  </a:cubicBezTo>
                  <a:lnTo>
                    <a:pt x="4080585" y="395834"/>
                  </a:lnTo>
                  <a:cubicBezTo>
                    <a:pt x="4080585" y="402543"/>
                    <a:pt x="4077920" y="408977"/>
                    <a:pt x="4073176" y="413722"/>
                  </a:cubicBezTo>
                  <a:cubicBezTo>
                    <a:pt x="4068432" y="418466"/>
                    <a:pt x="4061997" y="421131"/>
                    <a:pt x="4055288" y="421131"/>
                  </a:cubicBezTo>
                  <a:lnTo>
                    <a:pt x="25297" y="421131"/>
                  </a:lnTo>
                  <a:cubicBezTo>
                    <a:pt x="18588" y="421131"/>
                    <a:pt x="12153" y="418466"/>
                    <a:pt x="7409" y="413722"/>
                  </a:cubicBezTo>
                  <a:cubicBezTo>
                    <a:pt x="2665" y="408977"/>
                    <a:pt x="0" y="402543"/>
                    <a:pt x="0" y="39583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7" id="7"/>
            <p:cNvSpPr txBox="true"/>
            <p:nvPr/>
          </p:nvSpPr>
          <p:spPr>
            <a:xfrm>
              <a:off x="0" y="-66675"/>
              <a:ext cx="4080585" cy="48780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Nhờ tính tiện dụng và bảo mật, BiometricPrompt đã được nhiều ứng dụng thực tế áp dụng rộng rãi. </a:t>
              </a:r>
            </a:p>
          </p:txBody>
        </p:sp>
      </p:grpSp>
      <p:grpSp>
        <p:nvGrpSpPr>
          <p:cNvPr name="Group 8" id="8"/>
          <p:cNvGrpSpPr/>
          <p:nvPr/>
        </p:nvGrpSpPr>
        <p:grpSpPr>
          <a:xfrm rot="0">
            <a:off x="706128" y="4361379"/>
            <a:ext cx="15493471" cy="2875331"/>
            <a:chOff x="0" y="0"/>
            <a:chExt cx="4080585" cy="757289"/>
          </a:xfrm>
        </p:grpSpPr>
        <p:sp>
          <p:nvSpPr>
            <p:cNvPr name="Freeform 9" id="9"/>
            <p:cNvSpPr/>
            <p:nvPr/>
          </p:nvSpPr>
          <p:spPr>
            <a:xfrm flipH="false" flipV="false" rot="0">
              <a:off x="0" y="0"/>
              <a:ext cx="4080585" cy="757289"/>
            </a:xfrm>
            <a:custGeom>
              <a:avLst/>
              <a:gdLst/>
              <a:ahLst/>
              <a:cxnLst/>
              <a:rect r="r" b="b" t="t" l="l"/>
              <a:pathLst>
                <a:path h="757289" w="4080585">
                  <a:moveTo>
                    <a:pt x="25297" y="0"/>
                  </a:moveTo>
                  <a:lnTo>
                    <a:pt x="4055288" y="0"/>
                  </a:lnTo>
                  <a:cubicBezTo>
                    <a:pt x="4069259" y="0"/>
                    <a:pt x="4080585" y="11326"/>
                    <a:pt x="4080585" y="25297"/>
                  </a:cubicBezTo>
                  <a:lnTo>
                    <a:pt x="4080585" y="731992"/>
                  </a:lnTo>
                  <a:cubicBezTo>
                    <a:pt x="4080585" y="738701"/>
                    <a:pt x="4077920" y="745135"/>
                    <a:pt x="4073176" y="749880"/>
                  </a:cubicBezTo>
                  <a:cubicBezTo>
                    <a:pt x="4068432" y="754624"/>
                    <a:pt x="4061997" y="757289"/>
                    <a:pt x="4055288" y="757289"/>
                  </a:cubicBezTo>
                  <a:lnTo>
                    <a:pt x="25297" y="757289"/>
                  </a:lnTo>
                  <a:cubicBezTo>
                    <a:pt x="18588" y="757289"/>
                    <a:pt x="12153" y="754624"/>
                    <a:pt x="7409" y="749880"/>
                  </a:cubicBezTo>
                  <a:cubicBezTo>
                    <a:pt x="2665" y="745135"/>
                    <a:pt x="0" y="738701"/>
                    <a:pt x="0" y="731992"/>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0" id="10"/>
            <p:cNvSpPr txBox="true"/>
            <p:nvPr/>
          </p:nvSpPr>
          <p:spPr>
            <a:xfrm>
              <a:off x="0" y="-66675"/>
              <a:ext cx="4080585" cy="823964"/>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Các ứng dụng ngân hàng, ví điện tử, trình quản lý mật khẩu... ngày nay đều tích hợp đăng nhập bằng vân tay hoặc khuôn mặt thông qua API BiometricPrompt, giúp người dùng đăng nhập nhanh chóng mà không cần ghi nhớ mật khẩu.</a:t>
              </a:r>
            </a:p>
          </p:txBody>
        </p:sp>
      </p:grpSp>
      <p:grpSp>
        <p:nvGrpSpPr>
          <p:cNvPr name="Group 11" id="11"/>
          <p:cNvGrpSpPr/>
          <p:nvPr/>
        </p:nvGrpSpPr>
        <p:grpSpPr>
          <a:xfrm rot="0">
            <a:off x="706128" y="7151422"/>
            <a:ext cx="15493471" cy="2237156"/>
            <a:chOff x="0" y="0"/>
            <a:chExt cx="4080585" cy="589210"/>
          </a:xfrm>
        </p:grpSpPr>
        <p:sp>
          <p:nvSpPr>
            <p:cNvPr name="Freeform 12" id="12"/>
            <p:cNvSpPr/>
            <p:nvPr/>
          </p:nvSpPr>
          <p:spPr>
            <a:xfrm flipH="false" flipV="false" rot="0">
              <a:off x="0" y="0"/>
              <a:ext cx="4080585" cy="589210"/>
            </a:xfrm>
            <a:custGeom>
              <a:avLst/>
              <a:gdLst/>
              <a:ahLst/>
              <a:cxnLst/>
              <a:rect r="r" b="b" t="t" l="l"/>
              <a:pathLst>
                <a:path h="589210" w="4080585">
                  <a:moveTo>
                    <a:pt x="25297" y="0"/>
                  </a:moveTo>
                  <a:lnTo>
                    <a:pt x="4055288" y="0"/>
                  </a:lnTo>
                  <a:cubicBezTo>
                    <a:pt x="4069259" y="0"/>
                    <a:pt x="4080585" y="11326"/>
                    <a:pt x="4080585" y="25297"/>
                  </a:cubicBezTo>
                  <a:lnTo>
                    <a:pt x="4080585" y="563913"/>
                  </a:lnTo>
                  <a:cubicBezTo>
                    <a:pt x="4080585" y="577884"/>
                    <a:pt x="4069259" y="589210"/>
                    <a:pt x="4055288" y="589210"/>
                  </a:cubicBezTo>
                  <a:lnTo>
                    <a:pt x="25297" y="589210"/>
                  </a:lnTo>
                  <a:cubicBezTo>
                    <a:pt x="18588" y="589210"/>
                    <a:pt x="12153" y="586545"/>
                    <a:pt x="7409" y="581801"/>
                  </a:cubicBezTo>
                  <a:cubicBezTo>
                    <a:pt x="2665" y="577056"/>
                    <a:pt x="0" y="570622"/>
                    <a:pt x="0" y="563913"/>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3" id="13"/>
            <p:cNvSpPr txBox="true"/>
            <p:nvPr/>
          </p:nvSpPr>
          <p:spPr>
            <a:xfrm>
              <a:off x="0" y="-66675"/>
              <a:ext cx="4080585" cy="655885"/>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Với BiometricPrompt, xác thực sinh trắc học trên Android đã trở thành một giải pháp “passwordless” phổ biến, nâng cao trải nghiệm người dùng trong khi vẫn đảm bảo an toàn cho dữ liệu.</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82795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PHẦN 3</a:t>
            </a:r>
          </a:p>
        </p:txBody>
      </p:sp>
      <p:sp>
        <p:nvSpPr>
          <p:cNvPr name="Freeform 4" id="4"/>
          <p:cNvSpPr/>
          <p:nvPr/>
        </p:nvSpPr>
        <p:spPr>
          <a:xfrm flipH="false" flipV="false" rot="-10321493">
            <a:off x="665119" y="-20574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101222" y="3347165"/>
            <a:ext cx="10486600" cy="755650"/>
          </a:xfrm>
          <a:prstGeom prst="rect">
            <a:avLst/>
          </a:prstGeom>
        </p:spPr>
        <p:txBody>
          <a:bodyPr anchor="t" rtlCol="false" tIns="0" lIns="0" bIns="0" rIns="0">
            <a:spAutoFit/>
          </a:bodyPr>
          <a:lstStyle/>
          <a:p>
            <a:pPr algn="ctr">
              <a:lnSpc>
                <a:spcPts val="4850"/>
              </a:lnSpc>
            </a:pPr>
            <a:r>
              <a:rPr lang="en-US" sz="5000">
                <a:solidFill>
                  <a:srgbClr val="090147"/>
                </a:solidFill>
                <a:latin typeface="Bungee"/>
                <a:ea typeface="Bungee"/>
                <a:cs typeface="Bungee"/>
                <a:sym typeface="Bungee"/>
              </a:rPr>
              <a:t>bảo mật nâng cao</a:t>
            </a:r>
          </a:p>
        </p:txBody>
      </p:sp>
      <p:sp>
        <p:nvSpPr>
          <p:cNvPr name="Freeform 7" id="7"/>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3881828" y="4387850"/>
            <a:ext cx="10925387" cy="755650"/>
          </a:xfrm>
          <a:prstGeom prst="rect">
            <a:avLst/>
          </a:prstGeom>
        </p:spPr>
        <p:txBody>
          <a:bodyPr anchor="t" rtlCol="false" tIns="0" lIns="0" bIns="0" rIns="0">
            <a:spAutoFit/>
          </a:bodyPr>
          <a:lstStyle/>
          <a:p>
            <a:pPr algn="ctr">
              <a:lnSpc>
                <a:spcPts val="4850"/>
              </a:lnSpc>
            </a:pPr>
            <a:r>
              <a:rPr lang="en-US" sz="5000">
                <a:solidFill>
                  <a:srgbClr val="090147"/>
                </a:solidFill>
                <a:latin typeface="Bungee"/>
                <a:ea typeface="Bungee"/>
                <a:cs typeface="Bungee"/>
                <a:sym typeface="Bungee"/>
              </a:rPr>
              <a:t>và các cơ chế bảo vệ</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3174" y="672846"/>
            <a:ext cx="13704898"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Bảo mật nâng cao và Tích hợp thực tế</a:t>
            </a:r>
          </a:p>
        </p:txBody>
      </p:sp>
      <p:sp>
        <p:nvSpPr>
          <p:cNvPr name="Freeform 4" id="4"/>
          <p:cNvSpPr/>
          <p:nvPr/>
        </p:nvSpPr>
        <p:spPr>
          <a:xfrm flipH="true" flipV="true" rot="0">
            <a:off x="14521562" y="22458"/>
            <a:ext cx="7147278" cy="3993541"/>
          </a:xfrm>
          <a:custGeom>
            <a:avLst/>
            <a:gdLst/>
            <a:ahLst/>
            <a:cxnLst/>
            <a:rect r="r" b="b" t="t" l="l"/>
            <a:pathLst>
              <a:path h="3993541" w="7147278">
                <a:moveTo>
                  <a:pt x="7147278" y="3993541"/>
                </a:moveTo>
                <a:lnTo>
                  <a:pt x="0" y="3993541"/>
                </a:lnTo>
                <a:lnTo>
                  <a:pt x="0" y="0"/>
                </a:lnTo>
                <a:lnTo>
                  <a:pt x="7147278" y="0"/>
                </a:lnTo>
                <a:lnTo>
                  <a:pt x="7147278" y="3993541"/>
                </a:lnTo>
                <a:close/>
              </a:path>
            </a:pathLst>
          </a:custGeom>
          <a:blipFill>
            <a:blip r:embed="rId4"/>
            <a:stretch>
              <a:fillRect l="0" t="0" r="0" b="0"/>
            </a:stretch>
          </a:blipFill>
        </p:spPr>
      </p:sp>
      <p:grpSp>
        <p:nvGrpSpPr>
          <p:cNvPr name="Group 5" id="5"/>
          <p:cNvGrpSpPr/>
          <p:nvPr/>
        </p:nvGrpSpPr>
        <p:grpSpPr>
          <a:xfrm rot="0">
            <a:off x="1028700" y="4015999"/>
            <a:ext cx="4462457" cy="3905039"/>
            <a:chOff x="0" y="0"/>
            <a:chExt cx="1175297" cy="1028488"/>
          </a:xfrm>
        </p:grpSpPr>
        <p:sp>
          <p:nvSpPr>
            <p:cNvPr name="Freeform 6" id="6"/>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7" id="7"/>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12772" y="4015999"/>
            <a:ext cx="4462457" cy="3905039"/>
            <a:chOff x="0" y="0"/>
            <a:chExt cx="1175297" cy="1028488"/>
          </a:xfrm>
        </p:grpSpPr>
        <p:sp>
          <p:nvSpPr>
            <p:cNvPr name="Freeform 9" id="9"/>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0" id="10"/>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796843" y="4015999"/>
            <a:ext cx="4462457" cy="3905039"/>
            <a:chOff x="0" y="0"/>
            <a:chExt cx="1175297" cy="1028488"/>
          </a:xfrm>
        </p:grpSpPr>
        <p:sp>
          <p:nvSpPr>
            <p:cNvPr name="Freeform 12" id="12"/>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3" id="13"/>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031215" y="2029719"/>
            <a:ext cx="12266304" cy="1462405"/>
          </a:xfrm>
          <a:prstGeom prst="rect">
            <a:avLst/>
          </a:prstGeom>
        </p:spPr>
        <p:txBody>
          <a:bodyPr anchor="t" rtlCol="false" tIns="0" lIns="0" bIns="0" rIns="0">
            <a:spAutoFit/>
          </a:bodyPr>
          <a:lstStyle/>
          <a:p>
            <a:pPr algn="l">
              <a:lnSpc>
                <a:spcPts val="3920"/>
              </a:lnSpc>
              <a:spcBef>
                <a:spcPct val="0"/>
              </a:spcBef>
            </a:pPr>
            <a:r>
              <a:rPr lang="en-US" sz="2800">
                <a:solidFill>
                  <a:srgbClr val="090147"/>
                </a:solidFill>
                <a:latin typeface="Krub"/>
                <a:ea typeface="Krub"/>
                <a:cs typeface="Krub"/>
                <a:sym typeface="Krub"/>
              </a:rPr>
              <a:t>BiometricPrompt của Android chỉ xác thực người dùng, không bảo vệ logic nghiệp vụ hay dữ liệu nhạy cảm. Kẻ tấn công thường nhắm vào mã nguồn và luồng xử lý ứng dụng.</a:t>
            </a:r>
          </a:p>
        </p:txBody>
      </p:sp>
      <p:sp>
        <p:nvSpPr>
          <p:cNvPr name="TextBox 15" id="15"/>
          <p:cNvSpPr txBox="true"/>
          <p:nvPr/>
        </p:nvSpPr>
        <p:spPr>
          <a:xfrm rot="0">
            <a:off x="1378393" y="4171909"/>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Dịch ngược ứng dụng</a:t>
            </a:r>
          </a:p>
        </p:txBody>
      </p:sp>
      <p:sp>
        <p:nvSpPr>
          <p:cNvPr name="TextBox 16" id="16"/>
          <p:cNvSpPr txBox="true"/>
          <p:nvPr/>
        </p:nvSpPr>
        <p:spPr>
          <a:xfrm rot="0">
            <a:off x="7286841" y="4171909"/>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Can thiệp logic</a:t>
            </a:r>
          </a:p>
        </p:txBody>
      </p:sp>
      <p:sp>
        <p:nvSpPr>
          <p:cNvPr name="TextBox 17" id="17"/>
          <p:cNvSpPr txBox="true"/>
          <p:nvPr/>
        </p:nvSpPr>
        <p:spPr>
          <a:xfrm rot="0">
            <a:off x="13170913" y="4171909"/>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Hậu quả</a:t>
            </a:r>
          </a:p>
        </p:txBody>
      </p:sp>
      <p:sp>
        <p:nvSpPr>
          <p:cNvPr name="TextBox 18" id="18"/>
          <p:cNvSpPr txBox="true"/>
          <p:nvPr/>
        </p:nvSpPr>
        <p:spPr>
          <a:xfrm rot="0">
            <a:off x="1378393" y="4824798"/>
            <a:ext cx="3714317"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Hacker dịch ngược APK để phân tích logic.</a:t>
            </a:r>
          </a:p>
        </p:txBody>
      </p:sp>
      <p:sp>
        <p:nvSpPr>
          <p:cNvPr name="TextBox 19" id="19"/>
          <p:cNvSpPr txBox="true"/>
          <p:nvPr/>
        </p:nvSpPr>
        <p:spPr>
          <a:xfrm rot="0">
            <a:off x="7286841" y="4824798"/>
            <a:ext cx="3714317" cy="19578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Sử dụng công cụ để ép hệ thống gọi callback thành công, giả mạo xác thực.</a:t>
            </a:r>
          </a:p>
        </p:txBody>
      </p:sp>
      <p:sp>
        <p:nvSpPr>
          <p:cNvPr name="TextBox 20" id="20"/>
          <p:cNvSpPr txBox="true"/>
          <p:nvPr/>
        </p:nvSpPr>
        <p:spPr>
          <a:xfrm rot="0">
            <a:off x="13194503" y="4824798"/>
            <a:ext cx="3714317" cy="24531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Ứng dụng nhận tín hiệu "xác thực thành công" giả mạo, dẫn đến truy cập trái phép.</a:t>
            </a:r>
          </a:p>
        </p:txBody>
      </p:sp>
      <p:sp>
        <p:nvSpPr>
          <p:cNvPr name="TextBox 21" id="21"/>
          <p:cNvSpPr txBox="true"/>
          <p:nvPr/>
        </p:nvSpPr>
        <p:spPr>
          <a:xfrm rot="0">
            <a:off x="1584788" y="8235363"/>
            <a:ext cx="15118424" cy="1462405"/>
          </a:xfrm>
          <a:prstGeom prst="rect">
            <a:avLst/>
          </a:prstGeom>
        </p:spPr>
        <p:txBody>
          <a:bodyPr anchor="t" rtlCol="false" tIns="0" lIns="0" bIns="0" rIns="0">
            <a:spAutoFit/>
          </a:bodyPr>
          <a:lstStyle/>
          <a:p>
            <a:pPr algn="l">
              <a:lnSpc>
                <a:spcPts val="3920"/>
              </a:lnSpc>
              <a:spcBef>
                <a:spcPct val="0"/>
              </a:spcBef>
            </a:pPr>
            <a:r>
              <a:rPr lang="en-US" b="true" sz="2800">
                <a:solidFill>
                  <a:srgbClr val="090147"/>
                </a:solidFill>
                <a:latin typeface="Krub Bold"/>
                <a:ea typeface="Krub Bold"/>
                <a:cs typeface="Krub Bold"/>
                <a:sym typeface="Krub Bold"/>
              </a:rPr>
              <a:t>C</a:t>
            </a:r>
            <a:r>
              <a:rPr lang="en-US" b="true" sz="2800">
                <a:solidFill>
                  <a:srgbClr val="090147"/>
                </a:solidFill>
                <a:latin typeface="Krub Bold"/>
                <a:ea typeface="Krub Bold"/>
                <a:cs typeface="Krub Bold"/>
                <a:sym typeface="Krub Bold"/>
              </a:rPr>
              <a:t>hỉ xác thực người dùng là chưa đủ. Cần ràng buộc xác thực với hành động mật mã không thể giả lập. </a:t>
            </a:r>
          </a:p>
          <a:p>
            <a:pPr algn="just">
              <a:lnSpc>
                <a:spcPts val="3920"/>
              </a:lnSpc>
              <a:spcBef>
                <a:spcPct val="0"/>
              </a:spcBef>
            </a:pPr>
            <a:r>
              <a:rPr lang="en-US" b="true" sz="2800">
                <a:solidFill>
                  <a:srgbClr val="090147"/>
                </a:solidFill>
                <a:latin typeface="Krub Bold"/>
                <a:ea typeface="Krub Bold"/>
                <a:cs typeface="Krub Bold"/>
                <a:sym typeface="Krub Bold"/>
              </a:rPr>
              <a:t> =&gt; Giải pháp:</a:t>
            </a:r>
            <a:r>
              <a:rPr lang="en-US" sz="2800">
                <a:solidFill>
                  <a:srgbClr val="090147"/>
                </a:solidFill>
                <a:latin typeface="Krub"/>
                <a:ea typeface="Krub"/>
                <a:cs typeface="Krub"/>
                <a:sym typeface="Krub"/>
              </a:rPr>
              <a:t> sử dụng CryptoObject kết hợp Android Keystore.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4896" y="307467"/>
            <a:ext cx="11456998"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CryptoObject là gì?</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2031215" y="3859189"/>
            <a:ext cx="12043732" cy="2539922"/>
            <a:chOff x="0" y="0"/>
            <a:chExt cx="3172012" cy="668951"/>
          </a:xfrm>
        </p:grpSpPr>
        <p:sp>
          <p:nvSpPr>
            <p:cNvPr name="Freeform 6" id="6"/>
            <p:cNvSpPr/>
            <p:nvPr/>
          </p:nvSpPr>
          <p:spPr>
            <a:xfrm flipH="false" flipV="false" rot="0">
              <a:off x="0" y="0"/>
              <a:ext cx="3172012" cy="668951"/>
            </a:xfrm>
            <a:custGeom>
              <a:avLst/>
              <a:gdLst/>
              <a:ahLst/>
              <a:cxnLst/>
              <a:rect r="r" b="b" t="t" l="l"/>
              <a:pathLst>
                <a:path h="668951" w="3172012">
                  <a:moveTo>
                    <a:pt x="32543" y="0"/>
                  </a:moveTo>
                  <a:lnTo>
                    <a:pt x="3139469" y="0"/>
                  </a:lnTo>
                  <a:cubicBezTo>
                    <a:pt x="3148100" y="0"/>
                    <a:pt x="3156377" y="3429"/>
                    <a:pt x="3162480" y="9532"/>
                  </a:cubicBezTo>
                  <a:cubicBezTo>
                    <a:pt x="3168583" y="15634"/>
                    <a:pt x="3172012" y="23912"/>
                    <a:pt x="3172012" y="32543"/>
                  </a:cubicBezTo>
                  <a:lnTo>
                    <a:pt x="3172012" y="636408"/>
                  </a:lnTo>
                  <a:cubicBezTo>
                    <a:pt x="3172012" y="645039"/>
                    <a:pt x="3168583" y="653316"/>
                    <a:pt x="3162480" y="659419"/>
                  </a:cubicBezTo>
                  <a:cubicBezTo>
                    <a:pt x="3156377" y="665522"/>
                    <a:pt x="3148100" y="668951"/>
                    <a:pt x="3139469" y="668951"/>
                  </a:cubicBezTo>
                  <a:lnTo>
                    <a:pt x="32543" y="668951"/>
                  </a:lnTo>
                  <a:cubicBezTo>
                    <a:pt x="23912" y="668951"/>
                    <a:pt x="15634" y="665522"/>
                    <a:pt x="9532" y="659419"/>
                  </a:cubicBezTo>
                  <a:cubicBezTo>
                    <a:pt x="3429" y="653316"/>
                    <a:pt x="0" y="645039"/>
                    <a:pt x="0" y="636408"/>
                  </a:cubicBezTo>
                  <a:lnTo>
                    <a:pt x="0" y="32543"/>
                  </a:lnTo>
                  <a:cubicBezTo>
                    <a:pt x="0" y="23912"/>
                    <a:pt x="3429" y="15634"/>
                    <a:pt x="9532" y="9532"/>
                  </a:cubicBezTo>
                  <a:cubicBezTo>
                    <a:pt x="15634" y="3429"/>
                    <a:pt x="23912" y="0"/>
                    <a:pt x="32543" y="0"/>
                  </a:cubicBezTo>
                  <a:close/>
                </a:path>
              </a:pathLst>
            </a:custGeom>
            <a:solidFill>
              <a:srgbClr val="FFFFFF"/>
            </a:solidFill>
            <a:ln w="38100" cap="rnd">
              <a:solidFill>
                <a:srgbClr val="000000"/>
              </a:solidFill>
              <a:prstDash val="solid"/>
              <a:round/>
            </a:ln>
          </p:spPr>
        </p:sp>
        <p:sp>
          <p:nvSpPr>
            <p:cNvPr name="TextBox 7" id="7"/>
            <p:cNvSpPr txBox="true"/>
            <p:nvPr/>
          </p:nvSpPr>
          <p:spPr>
            <a:xfrm>
              <a:off x="0" y="-38100"/>
              <a:ext cx="3172012" cy="70705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031215" y="6789636"/>
            <a:ext cx="12043732" cy="2539922"/>
            <a:chOff x="0" y="0"/>
            <a:chExt cx="3172012" cy="668951"/>
          </a:xfrm>
        </p:grpSpPr>
        <p:sp>
          <p:nvSpPr>
            <p:cNvPr name="Freeform 9" id="9"/>
            <p:cNvSpPr/>
            <p:nvPr/>
          </p:nvSpPr>
          <p:spPr>
            <a:xfrm flipH="false" flipV="false" rot="0">
              <a:off x="0" y="0"/>
              <a:ext cx="3172012" cy="668951"/>
            </a:xfrm>
            <a:custGeom>
              <a:avLst/>
              <a:gdLst/>
              <a:ahLst/>
              <a:cxnLst/>
              <a:rect r="r" b="b" t="t" l="l"/>
              <a:pathLst>
                <a:path h="668951" w="3172012">
                  <a:moveTo>
                    <a:pt x="32543" y="0"/>
                  </a:moveTo>
                  <a:lnTo>
                    <a:pt x="3139469" y="0"/>
                  </a:lnTo>
                  <a:cubicBezTo>
                    <a:pt x="3148100" y="0"/>
                    <a:pt x="3156377" y="3429"/>
                    <a:pt x="3162480" y="9532"/>
                  </a:cubicBezTo>
                  <a:cubicBezTo>
                    <a:pt x="3168583" y="15634"/>
                    <a:pt x="3172012" y="23912"/>
                    <a:pt x="3172012" y="32543"/>
                  </a:cubicBezTo>
                  <a:lnTo>
                    <a:pt x="3172012" y="636408"/>
                  </a:lnTo>
                  <a:cubicBezTo>
                    <a:pt x="3172012" y="645039"/>
                    <a:pt x="3168583" y="653316"/>
                    <a:pt x="3162480" y="659419"/>
                  </a:cubicBezTo>
                  <a:cubicBezTo>
                    <a:pt x="3156377" y="665522"/>
                    <a:pt x="3148100" y="668951"/>
                    <a:pt x="3139469" y="668951"/>
                  </a:cubicBezTo>
                  <a:lnTo>
                    <a:pt x="32543" y="668951"/>
                  </a:lnTo>
                  <a:cubicBezTo>
                    <a:pt x="23912" y="668951"/>
                    <a:pt x="15634" y="665522"/>
                    <a:pt x="9532" y="659419"/>
                  </a:cubicBezTo>
                  <a:cubicBezTo>
                    <a:pt x="3429" y="653316"/>
                    <a:pt x="0" y="645039"/>
                    <a:pt x="0" y="636408"/>
                  </a:cubicBezTo>
                  <a:lnTo>
                    <a:pt x="0" y="32543"/>
                  </a:lnTo>
                  <a:cubicBezTo>
                    <a:pt x="0" y="23912"/>
                    <a:pt x="3429" y="15634"/>
                    <a:pt x="9532" y="9532"/>
                  </a:cubicBezTo>
                  <a:cubicBezTo>
                    <a:pt x="15634" y="3429"/>
                    <a:pt x="23912" y="0"/>
                    <a:pt x="32543" y="0"/>
                  </a:cubicBezTo>
                  <a:close/>
                </a:path>
              </a:pathLst>
            </a:custGeom>
            <a:solidFill>
              <a:srgbClr val="FFFFFF"/>
            </a:solidFill>
            <a:ln w="38100" cap="rnd">
              <a:solidFill>
                <a:srgbClr val="000000"/>
              </a:solidFill>
              <a:prstDash val="solid"/>
              <a:round/>
            </a:ln>
          </p:spPr>
        </p:sp>
        <p:sp>
          <p:nvSpPr>
            <p:cNvPr name="TextBox 10" id="10"/>
            <p:cNvSpPr txBox="true"/>
            <p:nvPr/>
          </p:nvSpPr>
          <p:spPr>
            <a:xfrm>
              <a:off x="0" y="-38100"/>
              <a:ext cx="3172012" cy="70705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2031215" y="1814793"/>
            <a:ext cx="12266304" cy="1462405"/>
          </a:xfrm>
          <a:prstGeom prst="rect">
            <a:avLst/>
          </a:prstGeom>
        </p:spPr>
        <p:txBody>
          <a:bodyPr anchor="t" rtlCol="false" tIns="0" lIns="0" bIns="0" rIns="0">
            <a:spAutoFit/>
          </a:bodyPr>
          <a:lstStyle/>
          <a:p>
            <a:pPr algn="l">
              <a:lnSpc>
                <a:spcPts val="3920"/>
              </a:lnSpc>
              <a:spcBef>
                <a:spcPct val="0"/>
              </a:spcBef>
            </a:pPr>
            <a:r>
              <a:rPr lang="en-US" sz="2800">
                <a:solidFill>
                  <a:srgbClr val="090147"/>
                </a:solidFill>
                <a:latin typeface="Krub"/>
                <a:ea typeface="Krub"/>
                <a:cs typeface="Krub"/>
                <a:sym typeface="Krub"/>
              </a:rPr>
              <a:t>CryptoObject là đối tượng bảo mật trong Android, liên kết xác thực sinh trắc học với thao tác mật mã cụ thể. Nó đóng vai trò cầu nối giữa BiometricPrompt và các đối tượng mật mã (Cipher, Signature, Mac).</a:t>
            </a:r>
          </a:p>
        </p:txBody>
      </p:sp>
      <p:sp>
        <p:nvSpPr>
          <p:cNvPr name="TextBox 12" id="12"/>
          <p:cNvSpPr txBox="true"/>
          <p:nvPr/>
        </p:nvSpPr>
        <p:spPr>
          <a:xfrm rot="0">
            <a:off x="2819839" y="7037286"/>
            <a:ext cx="10024578"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Thao tác mật mã</a:t>
            </a:r>
          </a:p>
        </p:txBody>
      </p:sp>
      <p:sp>
        <p:nvSpPr>
          <p:cNvPr name="TextBox 13" id="13"/>
          <p:cNvSpPr txBox="true"/>
          <p:nvPr/>
        </p:nvSpPr>
        <p:spPr>
          <a:xfrm rot="0">
            <a:off x="2819839" y="3916455"/>
            <a:ext cx="5883878"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Bold"/>
                <a:ea typeface="Krub Bold"/>
                <a:cs typeface="Krub Bold"/>
                <a:sym typeface="Krub Bold"/>
              </a:rPr>
              <a:t>Xác thực sinh trắc học</a:t>
            </a:r>
          </a:p>
        </p:txBody>
      </p:sp>
      <p:sp>
        <p:nvSpPr>
          <p:cNvPr name="TextBox 14" id="14"/>
          <p:cNvSpPr txBox="true"/>
          <p:nvPr/>
        </p:nvSpPr>
        <p:spPr>
          <a:xfrm rot="0">
            <a:off x="2819839" y="4569343"/>
            <a:ext cx="9895989"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Hệ điều hành Android chỉ cho phép CryptoObject kích hoạt thao tác mật mã khi người dùng xác thực sinh trắc học thành công.</a:t>
            </a:r>
          </a:p>
        </p:txBody>
      </p:sp>
      <p:sp>
        <p:nvSpPr>
          <p:cNvPr name="TextBox 15" id="15"/>
          <p:cNvSpPr txBox="true"/>
          <p:nvPr/>
        </p:nvSpPr>
        <p:spPr>
          <a:xfrm rot="0">
            <a:off x="2819839" y="7690174"/>
            <a:ext cx="10138200"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Đảm bảo rằng hành động mã hóa/giải mã chỉ diễn ra sau khi xác thực hợp lệ.</a:t>
            </a:r>
          </a:p>
          <a:p>
            <a:pPr algn="l">
              <a:lnSpc>
                <a:spcPts val="3914"/>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05239" y="307467"/>
            <a:ext cx="12657148"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Ý nghĩa bảo mật của CryptoObjec</a:t>
            </a:r>
          </a:p>
        </p:txBody>
      </p:sp>
      <p:sp>
        <p:nvSpPr>
          <p:cNvPr name="Freeform 4" id="4"/>
          <p:cNvSpPr/>
          <p:nvPr/>
        </p:nvSpPr>
        <p:spPr>
          <a:xfrm flipH="true" flipV="true" rot="0">
            <a:off x="14099964" y="-44024"/>
            <a:ext cx="7147278" cy="3993541"/>
          </a:xfrm>
          <a:custGeom>
            <a:avLst/>
            <a:gdLst/>
            <a:ahLst/>
            <a:cxnLst/>
            <a:rect r="r" b="b" t="t" l="l"/>
            <a:pathLst>
              <a:path h="3993541" w="7147278">
                <a:moveTo>
                  <a:pt x="7147278" y="3993541"/>
                </a:moveTo>
                <a:lnTo>
                  <a:pt x="0" y="3993541"/>
                </a:lnTo>
                <a:lnTo>
                  <a:pt x="0" y="0"/>
                </a:lnTo>
                <a:lnTo>
                  <a:pt x="7147278" y="0"/>
                </a:lnTo>
                <a:lnTo>
                  <a:pt x="7147278" y="3993541"/>
                </a:lnTo>
                <a:close/>
              </a:path>
            </a:pathLst>
          </a:custGeom>
          <a:blipFill>
            <a:blip r:embed="rId4"/>
            <a:stretch>
              <a:fillRect l="0" t="0" r="0" b="0"/>
            </a:stretch>
          </a:blipFill>
        </p:spPr>
      </p:sp>
      <p:grpSp>
        <p:nvGrpSpPr>
          <p:cNvPr name="Group 5" id="5"/>
          <p:cNvGrpSpPr/>
          <p:nvPr/>
        </p:nvGrpSpPr>
        <p:grpSpPr>
          <a:xfrm rot="0">
            <a:off x="3450445" y="1537067"/>
            <a:ext cx="4462457" cy="3905039"/>
            <a:chOff x="0" y="0"/>
            <a:chExt cx="1175297" cy="1028488"/>
          </a:xfrm>
        </p:grpSpPr>
        <p:sp>
          <p:nvSpPr>
            <p:cNvPr name="Freeform 6" id="6"/>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7" id="7"/>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24307" y="1537067"/>
            <a:ext cx="4462457" cy="3905039"/>
            <a:chOff x="0" y="0"/>
            <a:chExt cx="1175297" cy="1028488"/>
          </a:xfrm>
        </p:grpSpPr>
        <p:sp>
          <p:nvSpPr>
            <p:cNvPr name="Freeform 9" id="9"/>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0" id="10"/>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3474823" y="5851682"/>
            <a:ext cx="4462457" cy="3905039"/>
            <a:chOff x="0" y="0"/>
            <a:chExt cx="1175297" cy="1028488"/>
          </a:xfrm>
        </p:grpSpPr>
        <p:sp>
          <p:nvSpPr>
            <p:cNvPr name="Freeform 12" id="12"/>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3" id="13"/>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0199930" y="5851682"/>
            <a:ext cx="4462457" cy="3905039"/>
            <a:chOff x="0" y="0"/>
            <a:chExt cx="1175297" cy="1028488"/>
          </a:xfrm>
        </p:grpSpPr>
        <p:sp>
          <p:nvSpPr>
            <p:cNvPr name="Freeform 15" id="15"/>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6" id="16"/>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4011550" y="1741019"/>
            <a:ext cx="3340248"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Ngăn chặn giả mạo</a:t>
            </a:r>
          </a:p>
        </p:txBody>
      </p:sp>
      <p:sp>
        <p:nvSpPr>
          <p:cNvPr name="TextBox 18" id="18"/>
          <p:cNvSpPr txBox="true"/>
          <p:nvPr/>
        </p:nvSpPr>
        <p:spPr>
          <a:xfrm rot="0">
            <a:off x="3848892" y="2413093"/>
            <a:ext cx="3714317" cy="19578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Chống lại việc giả mạo kết quả xác thực ở tầng ứng dụng.</a:t>
            </a:r>
          </a:p>
          <a:p>
            <a:pPr algn="l">
              <a:lnSpc>
                <a:spcPts val="3914"/>
              </a:lnSpc>
            </a:pPr>
          </a:p>
        </p:txBody>
      </p:sp>
      <p:sp>
        <p:nvSpPr>
          <p:cNvPr name="TextBox 19" id="19"/>
          <p:cNvSpPr txBox="true"/>
          <p:nvPr/>
        </p:nvSpPr>
        <p:spPr>
          <a:xfrm rot="0">
            <a:off x="10574000" y="1692978"/>
            <a:ext cx="3959325"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Bold"/>
                <a:ea typeface="Krub Bold"/>
                <a:cs typeface="Krub Bold"/>
                <a:sym typeface="Krub Bold"/>
              </a:rPr>
              <a:t>Ràng buộc hành động</a:t>
            </a:r>
          </a:p>
        </p:txBody>
      </p:sp>
      <p:sp>
        <p:nvSpPr>
          <p:cNvPr name="TextBox 20" id="20"/>
          <p:cNvSpPr txBox="true"/>
          <p:nvPr/>
        </p:nvSpPr>
        <p:spPr>
          <a:xfrm rot="0">
            <a:off x="10696503" y="2379440"/>
            <a:ext cx="3714317" cy="24531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Đảm bảo xác thực sinh trắc học luôn gắn liền với hành động mật mã cụ thể.</a:t>
            </a:r>
          </a:p>
          <a:p>
            <a:pPr algn="l">
              <a:lnSpc>
                <a:spcPts val="3914"/>
              </a:lnSpc>
            </a:pPr>
          </a:p>
        </p:txBody>
      </p:sp>
      <p:sp>
        <p:nvSpPr>
          <p:cNvPr name="TextBox 21" id="21"/>
          <p:cNvSpPr txBox="true"/>
          <p:nvPr/>
        </p:nvSpPr>
        <p:spPr>
          <a:xfrm rot="0">
            <a:off x="3824515" y="6007592"/>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Không thể bypass</a:t>
            </a:r>
          </a:p>
        </p:txBody>
      </p:sp>
      <p:sp>
        <p:nvSpPr>
          <p:cNvPr name="TextBox 22" id="22"/>
          <p:cNvSpPr txBox="true"/>
          <p:nvPr/>
        </p:nvSpPr>
        <p:spPr>
          <a:xfrm rot="0">
            <a:off x="3848892" y="6660811"/>
            <a:ext cx="3714317" cy="24531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Không thể vượt qua chỉ bằng cách sửa đổi mã nguồn hoặc can thiệp callback.</a:t>
            </a:r>
          </a:p>
          <a:p>
            <a:pPr algn="l">
              <a:lnSpc>
                <a:spcPts val="3914"/>
              </a:lnSpc>
            </a:pPr>
          </a:p>
        </p:txBody>
      </p:sp>
      <p:sp>
        <p:nvSpPr>
          <p:cNvPr name="TextBox 23" id="23"/>
          <p:cNvSpPr txBox="true"/>
          <p:nvPr/>
        </p:nvSpPr>
        <p:spPr>
          <a:xfrm rot="0">
            <a:off x="10399153" y="6007592"/>
            <a:ext cx="4112764"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Kiểm soát hệ điều hành</a:t>
            </a:r>
          </a:p>
        </p:txBody>
      </p:sp>
      <p:sp>
        <p:nvSpPr>
          <p:cNvPr name="TextBox 24" id="24"/>
          <p:cNvSpPr txBox="true"/>
          <p:nvPr/>
        </p:nvSpPr>
        <p:spPr>
          <a:xfrm rot="0">
            <a:off x="10574000" y="6631905"/>
            <a:ext cx="3714317" cy="24531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Chuyển quyền kiểm soát bảo mật từ logic ứng dụng sang hệ điều hành.</a:t>
            </a:r>
          </a:p>
          <a:p>
            <a:pPr algn="l">
              <a:lnSpc>
                <a:spcPts val="3914"/>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07467"/>
            <a:ext cx="11456998"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Android Keystore là gì?</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7007201" y="4078532"/>
            <a:ext cx="5054722" cy="3905039"/>
            <a:chOff x="0" y="0"/>
            <a:chExt cx="1331285" cy="1028488"/>
          </a:xfrm>
        </p:grpSpPr>
        <p:sp>
          <p:nvSpPr>
            <p:cNvPr name="Freeform 6" id="6"/>
            <p:cNvSpPr/>
            <p:nvPr/>
          </p:nvSpPr>
          <p:spPr>
            <a:xfrm flipH="false" flipV="false" rot="0">
              <a:off x="0" y="0"/>
              <a:ext cx="1331285" cy="1028488"/>
            </a:xfrm>
            <a:custGeom>
              <a:avLst/>
              <a:gdLst/>
              <a:ahLst/>
              <a:cxnLst/>
              <a:rect r="r" b="b" t="t" l="l"/>
              <a:pathLst>
                <a:path h="1028488" w="1331285">
                  <a:moveTo>
                    <a:pt x="77538" y="0"/>
                  </a:moveTo>
                  <a:lnTo>
                    <a:pt x="1253747" y="0"/>
                  </a:lnTo>
                  <a:cubicBezTo>
                    <a:pt x="1274311" y="0"/>
                    <a:pt x="1294033" y="8169"/>
                    <a:pt x="1308574" y="22710"/>
                  </a:cubicBezTo>
                  <a:cubicBezTo>
                    <a:pt x="1323116" y="37252"/>
                    <a:pt x="1331285" y="56974"/>
                    <a:pt x="1331285" y="77538"/>
                  </a:cubicBezTo>
                  <a:lnTo>
                    <a:pt x="1331285" y="950949"/>
                  </a:lnTo>
                  <a:cubicBezTo>
                    <a:pt x="1331285" y="971514"/>
                    <a:pt x="1323116" y="991236"/>
                    <a:pt x="1308574" y="1005777"/>
                  </a:cubicBezTo>
                  <a:cubicBezTo>
                    <a:pt x="1294033" y="1020319"/>
                    <a:pt x="1274311" y="1028488"/>
                    <a:pt x="1253747" y="1028488"/>
                  </a:cubicBezTo>
                  <a:lnTo>
                    <a:pt x="77538" y="1028488"/>
                  </a:lnTo>
                  <a:cubicBezTo>
                    <a:pt x="56974" y="1028488"/>
                    <a:pt x="37252" y="1020319"/>
                    <a:pt x="22710" y="1005777"/>
                  </a:cubicBezTo>
                  <a:cubicBezTo>
                    <a:pt x="8169" y="991236"/>
                    <a:pt x="0" y="971514"/>
                    <a:pt x="0" y="950949"/>
                  </a:cubicBezTo>
                  <a:lnTo>
                    <a:pt x="0" y="77538"/>
                  </a:lnTo>
                  <a:cubicBezTo>
                    <a:pt x="0" y="56974"/>
                    <a:pt x="8169" y="37252"/>
                    <a:pt x="22710" y="22710"/>
                  </a:cubicBezTo>
                  <a:cubicBezTo>
                    <a:pt x="37252" y="8169"/>
                    <a:pt x="56974" y="0"/>
                    <a:pt x="77538" y="0"/>
                  </a:cubicBezTo>
                  <a:close/>
                </a:path>
              </a:pathLst>
            </a:custGeom>
            <a:solidFill>
              <a:srgbClr val="FFFFFF"/>
            </a:solidFill>
            <a:ln w="38100" cap="rnd">
              <a:solidFill>
                <a:srgbClr val="000000"/>
              </a:solidFill>
              <a:prstDash val="solid"/>
              <a:round/>
            </a:ln>
          </p:spPr>
        </p:sp>
        <p:sp>
          <p:nvSpPr>
            <p:cNvPr name="TextBox 7" id="7"/>
            <p:cNvSpPr txBox="true"/>
            <p:nvPr/>
          </p:nvSpPr>
          <p:spPr>
            <a:xfrm>
              <a:off x="0" y="-38100"/>
              <a:ext cx="1331285"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949323" y="4078532"/>
            <a:ext cx="4462457" cy="3905039"/>
            <a:chOff x="0" y="0"/>
            <a:chExt cx="1175297" cy="1028488"/>
          </a:xfrm>
        </p:grpSpPr>
        <p:sp>
          <p:nvSpPr>
            <p:cNvPr name="Freeform 9" id="9"/>
            <p:cNvSpPr/>
            <p:nvPr/>
          </p:nvSpPr>
          <p:spPr>
            <a:xfrm flipH="false" flipV="false" rot="0">
              <a:off x="0" y="0"/>
              <a:ext cx="1175297" cy="1028488"/>
            </a:xfrm>
            <a:custGeom>
              <a:avLst/>
              <a:gdLst/>
              <a:ahLst/>
              <a:cxnLst/>
              <a:rect r="r" b="b" t="t" l="l"/>
              <a:pathLst>
                <a:path h="1028488" w="1175297">
                  <a:moveTo>
                    <a:pt x="87829" y="0"/>
                  </a:moveTo>
                  <a:lnTo>
                    <a:pt x="1087468" y="0"/>
                  </a:lnTo>
                  <a:cubicBezTo>
                    <a:pt x="1110762" y="0"/>
                    <a:pt x="1133101" y="9253"/>
                    <a:pt x="1149573" y="25725"/>
                  </a:cubicBezTo>
                  <a:cubicBezTo>
                    <a:pt x="1166044" y="42196"/>
                    <a:pt x="1175297" y="64536"/>
                    <a:pt x="1175297" y="87829"/>
                  </a:cubicBezTo>
                  <a:lnTo>
                    <a:pt x="1175297" y="940658"/>
                  </a:lnTo>
                  <a:cubicBezTo>
                    <a:pt x="1175297" y="963952"/>
                    <a:pt x="1166044" y="986292"/>
                    <a:pt x="1149573" y="1002763"/>
                  </a:cubicBezTo>
                  <a:cubicBezTo>
                    <a:pt x="1133101" y="1019234"/>
                    <a:pt x="1110762" y="1028488"/>
                    <a:pt x="1087468" y="1028488"/>
                  </a:cubicBezTo>
                  <a:lnTo>
                    <a:pt x="87829" y="1028488"/>
                  </a:lnTo>
                  <a:cubicBezTo>
                    <a:pt x="64536" y="1028488"/>
                    <a:pt x="42196" y="1019234"/>
                    <a:pt x="25725" y="1002763"/>
                  </a:cubicBezTo>
                  <a:cubicBezTo>
                    <a:pt x="9253" y="986292"/>
                    <a:pt x="0" y="963952"/>
                    <a:pt x="0" y="940658"/>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0" id="10"/>
            <p:cNvSpPr txBox="true"/>
            <p:nvPr/>
          </p:nvSpPr>
          <p:spPr>
            <a:xfrm>
              <a:off x="0" y="-38100"/>
              <a:ext cx="1175297" cy="106658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8700" y="4078532"/>
            <a:ext cx="5145015" cy="3905039"/>
            <a:chOff x="0" y="0"/>
            <a:chExt cx="1355066" cy="1028488"/>
          </a:xfrm>
        </p:grpSpPr>
        <p:sp>
          <p:nvSpPr>
            <p:cNvPr name="Freeform 12" id="12"/>
            <p:cNvSpPr/>
            <p:nvPr/>
          </p:nvSpPr>
          <p:spPr>
            <a:xfrm flipH="false" flipV="false" rot="0">
              <a:off x="0" y="0"/>
              <a:ext cx="1355066" cy="1028488"/>
            </a:xfrm>
            <a:custGeom>
              <a:avLst/>
              <a:gdLst/>
              <a:ahLst/>
              <a:cxnLst/>
              <a:rect r="r" b="b" t="t" l="l"/>
              <a:pathLst>
                <a:path h="1028488" w="1355066">
                  <a:moveTo>
                    <a:pt x="76178" y="0"/>
                  </a:moveTo>
                  <a:lnTo>
                    <a:pt x="1278888" y="0"/>
                  </a:lnTo>
                  <a:cubicBezTo>
                    <a:pt x="1299092" y="0"/>
                    <a:pt x="1318468" y="8026"/>
                    <a:pt x="1332754" y="22312"/>
                  </a:cubicBezTo>
                  <a:cubicBezTo>
                    <a:pt x="1347040" y="36598"/>
                    <a:pt x="1355066" y="55974"/>
                    <a:pt x="1355066" y="76178"/>
                  </a:cubicBezTo>
                  <a:lnTo>
                    <a:pt x="1355066" y="952310"/>
                  </a:lnTo>
                  <a:cubicBezTo>
                    <a:pt x="1355066" y="972514"/>
                    <a:pt x="1347040" y="991890"/>
                    <a:pt x="1332754" y="1006176"/>
                  </a:cubicBezTo>
                  <a:cubicBezTo>
                    <a:pt x="1318468" y="1020462"/>
                    <a:pt x="1299092" y="1028488"/>
                    <a:pt x="1278888" y="1028488"/>
                  </a:cubicBezTo>
                  <a:lnTo>
                    <a:pt x="76178" y="1028488"/>
                  </a:lnTo>
                  <a:cubicBezTo>
                    <a:pt x="34106" y="1028488"/>
                    <a:pt x="0" y="994382"/>
                    <a:pt x="0" y="952310"/>
                  </a:cubicBezTo>
                  <a:lnTo>
                    <a:pt x="0" y="76178"/>
                  </a:lnTo>
                  <a:cubicBezTo>
                    <a:pt x="0" y="55974"/>
                    <a:pt x="8026" y="36598"/>
                    <a:pt x="22312" y="22312"/>
                  </a:cubicBezTo>
                  <a:cubicBezTo>
                    <a:pt x="36598" y="8026"/>
                    <a:pt x="55974" y="0"/>
                    <a:pt x="76178" y="0"/>
                  </a:cubicBezTo>
                  <a:close/>
                </a:path>
              </a:pathLst>
            </a:custGeom>
            <a:solidFill>
              <a:srgbClr val="FFFFFF"/>
            </a:solidFill>
            <a:ln w="38100" cap="rnd">
              <a:solidFill>
                <a:srgbClr val="000000"/>
              </a:solidFill>
              <a:prstDash val="solid"/>
              <a:round/>
            </a:ln>
          </p:spPr>
        </p:sp>
        <p:sp>
          <p:nvSpPr>
            <p:cNvPr name="TextBox 13" id="13"/>
            <p:cNvSpPr txBox="true"/>
            <p:nvPr/>
          </p:nvSpPr>
          <p:spPr>
            <a:xfrm>
              <a:off x="0" y="-38100"/>
              <a:ext cx="1355066" cy="106658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811821" y="2323830"/>
            <a:ext cx="12266304" cy="967105"/>
          </a:xfrm>
          <a:prstGeom prst="rect">
            <a:avLst/>
          </a:prstGeom>
        </p:spPr>
        <p:txBody>
          <a:bodyPr anchor="t" rtlCol="false" tIns="0" lIns="0" bIns="0" rIns="0">
            <a:spAutoFit/>
          </a:bodyPr>
          <a:lstStyle/>
          <a:p>
            <a:pPr algn="l">
              <a:lnSpc>
                <a:spcPts val="3920"/>
              </a:lnSpc>
              <a:spcBef>
                <a:spcPct val="0"/>
              </a:spcBef>
            </a:pPr>
            <a:r>
              <a:rPr lang="en-US" sz="2800">
                <a:solidFill>
                  <a:srgbClr val="090147"/>
                </a:solidFill>
                <a:latin typeface="Krub"/>
                <a:ea typeface="Krub"/>
                <a:cs typeface="Krub"/>
                <a:sym typeface="Krub"/>
              </a:rPr>
              <a:t>Android Keystore là hệ thống bảo mật cấp hệ điều hành, cho phép ứng dụng tạo, lưu trữ và sử dụng các khóa mật mã trong môi trường an toàn.</a:t>
            </a:r>
          </a:p>
        </p:txBody>
      </p:sp>
      <p:sp>
        <p:nvSpPr>
          <p:cNvPr name="TextBox 15" id="15"/>
          <p:cNvSpPr txBox="true"/>
          <p:nvPr/>
        </p:nvSpPr>
        <p:spPr>
          <a:xfrm rot="0">
            <a:off x="7381270" y="4234443"/>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Không truy cập trực tiếp</a:t>
            </a:r>
          </a:p>
        </p:txBody>
      </p:sp>
      <p:sp>
        <p:nvSpPr>
          <p:cNvPr name="TextBox 16" id="16"/>
          <p:cNvSpPr txBox="true"/>
          <p:nvPr/>
        </p:nvSpPr>
        <p:spPr>
          <a:xfrm rot="0">
            <a:off x="7381270" y="4887331"/>
            <a:ext cx="4225642" cy="19578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Ứng dụng không truy cập trực tiếp giá trị của khóa.</a:t>
            </a:r>
          </a:p>
          <a:p>
            <a:pPr algn="l">
              <a:lnSpc>
                <a:spcPts val="3914"/>
              </a:lnSpc>
            </a:pPr>
          </a:p>
        </p:txBody>
      </p:sp>
      <p:sp>
        <p:nvSpPr>
          <p:cNvPr name="TextBox 17" id="17"/>
          <p:cNvSpPr txBox="true"/>
          <p:nvPr/>
        </p:nvSpPr>
        <p:spPr>
          <a:xfrm rot="0">
            <a:off x="13323393" y="4234443"/>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Cấu hình linh hoạt</a:t>
            </a:r>
          </a:p>
        </p:txBody>
      </p:sp>
      <p:sp>
        <p:nvSpPr>
          <p:cNvPr name="TextBox 18" id="18"/>
          <p:cNvSpPr txBox="true"/>
          <p:nvPr/>
        </p:nvSpPr>
        <p:spPr>
          <a:xfrm rot="0">
            <a:off x="13212598" y="4887331"/>
            <a:ext cx="3935907" cy="34437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Khóa có thể cấu hình để yêu cầu xác thực sinh trắc học, hết hiệu lực sau thời gian, hoặc gắn với phần cứng bảo mật </a:t>
            </a:r>
          </a:p>
          <a:p>
            <a:pPr algn="l">
              <a:lnSpc>
                <a:spcPts val="3914"/>
              </a:lnSpc>
            </a:pPr>
          </a:p>
        </p:txBody>
      </p:sp>
      <p:sp>
        <p:nvSpPr>
          <p:cNvPr name="TextBox 19" id="19"/>
          <p:cNvSpPr txBox="true"/>
          <p:nvPr/>
        </p:nvSpPr>
        <p:spPr>
          <a:xfrm rot="0">
            <a:off x="1317450" y="4259507"/>
            <a:ext cx="4567515"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Khóa không xuất ra ngoài</a:t>
            </a:r>
          </a:p>
        </p:txBody>
      </p:sp>
      <p:sp>
        <p:nvSpPr>
          <p:cNvPr name="TextBox 20" id="20"/>
          <p:cNvSpPr txBox="true"/>
          <p:nvPr/>
        </p:nvSpPr>
        <p:spPr>
          <a:xfrm rot="0">
            <a:off x="1317450" y="4887331"/>
            <a:ext cx="4346726"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Khóa mật mã không thể xuất ra khỏi ứng dụng.</a:t>
            </a:r>
          </a:p>
          <a:p>
            <a:pPr algn="l">
              <a:lnSpc>
                <a:spcPts val="3914"/>
              </a:lnSpc>
            </a:pPr>
          </a:p>
        </p:txBody>
      </p:sp>
      <p:sp>
        <p:nvSpPr>
          <p:cNvPr name="TextBox 21" id="21"/>
          <p:cNvSpPr txBox="true"/>
          <p:nvPr/>
        </p:nvSpPr>
        <p:spPr>
          <a:xfrm rot="0">
            <a:off x="1811821" y="8283419"/>
            <a:ext cx="11931493"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Trong toàn bộ vòng đời, khóa mật mã không bao giờ truyền qua ứng dụng dưới dạng dữ liệu, mà chỉ được sử dụng gián tiếp qua các đối tượng mật mã do hệ điều hành kiểm soát.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86194" y="286939"/>
            <a:ext cx="11456998" cy="131178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Kết hợp Biometric + Keystore: </a:t>
            </a:r>
          </a:p>
          <a:p>
            <a:pPr algn="ctr">
              <a:lnSpc>
                <a:spcPts val="4656"/>
              </a:lnSpc>
            </a:pPr>
            <a:r>
              <a:rPr lang="en-US" sz="4800">
                <a:solidFill>
                  <a:srgbClr val="090147"/>
                </a:solidFill>
                <a:latin typeface="Bungee"/>
                <a:ea typeface="Bungee"/>
                <a:cs typeface="Bungee"/>
                <a:sym typeface="Bungee"/>
              </a:rPr>
              <a:t>Quy trình chuẩn</a:t>
            </a:r>
          </a:p>
        </p:txBody>
      </p:sp>
      <p:sp>
        <p:nvSpPr>
          <p:cNvPr name="Freeform 4" id="4"/>
          <p:cNvSpPr/>
          <p:nvPr/>
        </p:nvSpPr>
        <p:spPr>
          <a:xfrm flipH="true" flipV="true" rot="0">
            <a:off x="13069417" y="-293378"/>
            <a:ext cx="7147278" cy="3993541"/>
          </a:xfrm>
          <a:custGeom>
            <a:avLst/>
            <a:gdLst/>
            <a:ahLst/>
            <a:cxnLst/>
            <a:rect r="r" b="b" t="t" l="l"/>
            <a:pathLst>
              <a:path h="3993541" w="7147278">
                <a:moveTo>
                  <a:pt x="7147277" y="3993541"/>
                </a:moveTo>
                <a:lnTo>
                  <a:pt x="0" y="3993541"/>
                </a:lnTo>
                <a:lnTo>
                  <a:pt x="0" y="0"/>
                </a:lnTo>
                <a:lnTo>
                  <a:pt x="7147277" y="0"/>
                </a:lnTo>
                <a:lnTo>
                  <a:pt x="7147277" y="3993541"/>
                </a:lnTo>
                <a:close/>
              </a:path>
            </a:pathLst>
          </a:custGeom>
          <a:blipFill>
            <a:blip r:embed="rId4"/>
            <a:stretch>
              <a:fillRect l="0" t="0" r="0" b="0"/>
            </a:stretch>
          </a:blipFill>
        </p:spPr>
      </p:sp>
      <p:grpSp>
        <p:nvGrpSpPr>
          <p:cNvPr name="Group 5" id="5"/>
          <p:cNvGrpSpPr/>
          <p:nvPr/>
        </p:nvGrpSpPr>
        <p:grpSpPr>
          <a:xfrm rot="0">
            <a:off x="1572946" y="2295255"/>
            <a:ext cx="916539" cy="9165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70454" y="2363316"/>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1</a:t>
            </a:r>
          </a:p>
        </p:txBody>
      </p:sp>
      <p:grpSp>
        <p:nvGrpSpPr>
          <p:cNvPr name="Group 9" id="9"/>
          <p:cNvGrpSpPr/>
          <p:nvPr/>
        </p:nvGrpSpPr>
        <p:grpSpPr>
          <a:xfrm rot="0">
            <a:off x="1572946" y="3488019"/>
            <a:ext cx="916539" cy="91653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70454" y="3556080"/>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2</a:t>
            </a:r>
          </a:p>
        </p:txBody>
      </p:sp>
      <p:grpSp>
        <p:nvGrpSpPr>
          <p:cNvPr name="Group 13" id="13"/>
          <p:cNvGrpSpPr/>
          <p:nvPr/>
        </p:nvGrpSpPr>
        <p:grpSpPr>
          <a:xfrm rot="0">
            <a:off x="1572946" y="4685231"/>
            <a:ext cx="916539" cy="9165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670454" y="4753292"/>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3</a:t>
            </a:r>
          </a:p>
        </p:txBody>
      </p:sp>
      <p:grpSp>
        <p:nvGrpSpPr>
          <p:cNvPr name="Group 17" id="17"/>
          <p:cNvGrpSpPr/>
          <p:nvPr/>
        </p:nvGrpSpPr>
        <p:grpSpPr>
          <a:xfrm rot="0">
            <a:off x="1572946" y="5877994"/>
            <a:ext cx="916539" cy="91653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670454" y="5946056"/>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4</a:t>
            </a:r>
          </a:p>
        </p:txBody>
      </p:sp>
      <p:grpSp>
        <p:nvGrpSpPr>
          <p:cNvPr name="Group 21" id="21"/>
          <p:cNvGrpSpPr/>
          <p:nvPr/>
        </p:nvGrpSpPr>
        <p:grpSpPr>
          <a:xfrm rot="0">
            <a:off x="1572946" y="7070758"/>
            <a:ext cx="916539" cy="91653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670454" y="7138820"/>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5</a:t>
            </a:r>
          </a:p>
        </p:txBody>
      </p:sp>
      <p:grpSp>
        <p:nvGrpSpPr>
          <p:cNvPr name="Group 25" id="25"/>
          <p:cNvGrpSpPr/>
          <p:nvPr/>
        </p:nvGrpSpPr>
        <p:grpSpPr>
          <a:xfrm rot="0">
            <a:off x="1572946" y="8263522"/>
            <a:ext cx="916539" cy="91653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DCEA"/>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670454" y="8331583"/>
            <a:ext cx="721522" cy="647066"/>
          </a:xfrm>
          <a:prstGeom prst="rect">
            <a:avLst/>
          </a:prstGeom>
        </p:spPr>
        <p:txBody>
          <a:bodyPr anchor="t" rtlCol="false" tIns="0" lIns="0" bIns="0" rIns="0">
            <a:spAutoFit/>
          </a:bodyPr>
          <a:lstStyle/>
          <a:p>
            <a:pPr algn="ctr">
              <a:lnSpc>
                <a:spcPts val="4759"/>
              </a:lnSpc>
              <a:spcBef>
                <a:spcPct val="0"/>
              </a:spcBef>
            </a:pPr>
            <a:r>
              <a:rPr lang="en-US" sz="3399">
                <a:solidFill>
                  <a:srgbClr val="090147"/>
                </a:solidFill>
                <a:latin typeface="Bungee"/>
                <a:ea typeface="Bungee"/>
                <a:cs typeface="Bungee"/>
                <a:sym typeface="Bungee"/>
              </a:rPr>
              <a:t>6</a:t>
            </a:r>
          </a:p>
        </p:txBody>
      </p:sp>
      <p:sp>
        <p:nvSpPr>
          <p:cNvPr name="TextBox 29" id="29"/>
          <p:cNvSpPr txBox="true"/>
          <p:nvPr/>
        </p:nvSpPr>
        <p:spPr>
          <a:xfrm rot="0">
            <a:off x="2749623" y="2236897"/>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Khởi tạo khóa mật mã</a:t>
            </a:r>
          </a:p>
        </p:txBody>
      </p:sp>
      <p:sp>
        <p:nvSpPr>
          <p:cNvPr name="TextBox 30" id="30"/>
          <p:cNvSpPr txBox="true"/>
          <p:nvPr/>
        </p:nvSpPr>
        <p:spPr>
          <a:xfrm rot="0">
            <a:off x="2749623" y="2705899"/>
            <a:ext cx="13702933"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Tạo khóa AES trong Android Keystore, cấu hình yêu cầu xác thực sinh trắc học.</a:t>
            </a:r>
          </a:p>
        </p:txBody>
      </p:sp>
      <p:sp>
        <p:nvSpPr>
          <p:cNvPr name="TextBox 31" id="31"/>
          <p:cNvSpPr txBox="true"/>
          <p:nvPr/>
        </p:nvSpPr>
        <p:spPr>
          <a:xfrm rot="0">
            <a:off x="2749623" y="3440394"/>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Mã hóa dữ liệu nhạy cảm</a:t>
            </a:r>
          </a:p>
        </p:txBody>
      </p:sp>
      <p:sp>
        <p:nvSpPr>
          <p:cNvPr name="TextBox 32" id="32"/>
          <p:cNvSpPr txBox="true"/>
          <p:nvPr/>
        </p:nvSpPr>
        <p:spPr>
          <a:xfrm rot="0">
            <a:off x="2749623" y="3909396"/>
            <a:ext cx="13702933"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Mật khẩu/token được mã hóa trước khi lưu trữ.</a:t>
            </a:r>
          </a:p>
        </p:txBody>
      </p:sp>
      <p:sp>
        <p:nvSpPr>
          <p:cNvPr name="TextBox 33" id="33"/>
          <p:cNvSpPr txBox="true"/>
          <p:nvPr/>
        </p:nvSpPr>
        <p:spPr>
          <a:xfrm rot="0">
            <a:off x="2749623" y="4660854"/>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Yêu cầu truy cập</a:t>
            </a:r>
          </a:p>
        </p:txBody>
      </p:sp>
      <p:sp>
        <p:nvSpPr>
          <p:cNvPr name="TextBox 34" id="34"/>
          <p:cNvSpPr txBox="true"/>
          <p:nvPr/>
        </p:nvSpPr>
        <p:spPr>
          <a:xfrm rot="0">
            <a:off x="2749623" y="5129856"/>
            <a:ext cx="13702933"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Ứng dụng tạo đối tượng Cipher để giải mã khi người dùng yêu cầu</a:t>
            </a:r>
          </a:p>
        </p:txBody>
      </p:sp>
      <p:sp>
        <p:nvSpPr>
          <p:cNvPr name="TextBox 35" id="35"/>
          <p:cNvSpPr txBox="true"/>
          <p:nvPr/>
        </p:nvSpPr>
        <p:spPr>
          <a:xfrm rot="0">
            <a:off x="2749623" y="5830369"/>
            <a:ext cx="4965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Liên kết xác thực &amp; mật mã</a:t>
            </a:r>
          </a:p>
        </p:txBody>
      </p:sp>
      <p:sp>
        <p:nvSpPr>
          <p:cNvPr name="TextBox 36" id="36"/>
          <p:cNvSpPr txBox="true"/>
          <p:nvPr/>
        </p:nvSpPr>
        <p:spPr>
          <a:xfrm rot="0">
            <a:off x="2749623" y="6299372"/>
            <a:ext cx="13702933"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Cipher được đóng gói vào CryptoObject, truyền vào BiometricPrompt.</a:t>
            </a:r>
          </a:p>
        </p:txBody>
      </p:sp>
      <p:sp>
        <p:nvSpPr>
          <p:cNvPr name="TextBox 37" id="37"/>
          <p:cNvSpPr txBox="true"/>
          <p:nvPr/>
        </p:nvSpPr>
        <p:spPr>
          <a:xfrm rot="0">
            <a:off x="2749623" y="7023133"/>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Xác thực sinh trắc học</a:t>
            </a:r>
          </a:p>
        </p:txBody>
      </p:sp>
      <p:sp>
        <p:nvSpPr>
          <p:cNvPr name="TextBox 38" id="38"/>
          <p:cNvSpPr txBox="true"/>
          <p:nvPr/>
        </p:nvSpPr>
        <p:spPr>
          <a:xfrm rot="0">
            <a:off x="2749623" y="7492135"/>
            <a:ext cx="13702933" cy="4719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Hệ điều hành hiển thị giao diện, người dùng xác thực</a:t>
            </a:r>
          </a:p>
        </p:txBody>
      </p:sp>
      <p:sp>
        <p:nvSpPr>
          <p:cNvPr name="TextBox 39" id="39"/>
          <p:cNvSpPr txBox="true"/>
          <p:nvPr/>
        </p:nvSpPr>
        <p:spPr>
          <a:xfrm rot="0">
            <a:off x="2749623" y="8240274"/>
            <a:ext cx="4320071"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Giải mã dữ liệu</a:t>
            </a:r>
          </a:p>
        </p:txBody>
      </p:sp>
      <p:sp>
        <p:nvSpPr>
          <p:cNvPr name="TextBox 40" id="40"/>
          <p:cNvSpPr txBox="true"/>
          <p:nvPr/>
        </p:nvSpPr>
        <p:spPr>
          <a:xfrm rot="0">
            <a:off x="2749623" y="8750881"/>
            <a:ext cx="14509677" cy="967213"/>
          </a:xfrm>
          <a:prstGeom prst="rect">
            <a:avLst/>
          </a:prstGeom>
        </p:spPr>
        <p:txBody>
          <a:bodyPr anchor="t" rtlCol="false" tIns="0" lIns="0" bIns="0" rIns="0">
            <a:spAutoFit/>
          </a:bodyPr>
          <a:lstStyle/>
          <a:p>
            <a:pPr algn="l">
              <a:lnSpc>
                <a:spcPts val="3914"/>
              </a:lnSpc>
            </a:pPr>
            <a:r>
              <a:rPr lang="en-US" sz="2795" spc="30" b="true">
                <a:solidFill>
                  <a:srgbClr val="090147"/>
                </a:solidFill>
                <a:latin typeface="Krub Medium"/>
                <a:ea typeface="Krub Medium"/>
                <a:cs typeface="Krub Medium"/>
                <a:sym typeface="Krub Medium"/>
              </a:rPr>
              <a:t>Chỉ khi xác thực thành công, Cipher mới kích hoạt, dữ liệu được giải mã và hiển thị.</a:t>
            </a:r>
          </a:p>
          <a:p>
            <a:pPr algn="l">
              <a:lnSpc>
                <a:spcPts val="3914"/>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88123" y="323707"/>
            <a:ext cx="11456998"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Tổng kết: Bảo mật toàn diện</a:t>
            </a:r>
          </a:p>
        </p:txBody>
      </p:sp>
      <p:sp>
        <p:nvSpPr>
          <p:cNvPr name="Freeform 4" id="4"/>
          <p:cNvSpPr/>
          <p:nvPr/>
        </p:nvSpPr>
        <p:spPr>
          <a:xfrm flipH="true" flipV="true" rot="0">
            <a:off x="13245121" y="-61609"/>
            <a:ext cx="7147278" cy="3993541"/>
          </a:xfrm>
          <a:custGeom>
            <a:avLst/>
            <a:gdLst/>
            <a:ahLst/>
            <a:cxnLst/>
            <a:rect r="r" b="b" t="t" l="l"/>
            <a:pathLst>
              <a:path h="3993541" w="7147278">
                <a:moveTo>
                  <a:pt x="7147278" y="3993541"/>
                </a:moveTo>
                <a:lnTo>
                  <a:pt x="0" y="3993541"/>
                </a:lnTo>
                <a:lnTo>
                  <a:pt x="0" y="0"/>
                </a:lnTo>
                <a:lnTo>
                  <a:pt x="7147278" y="0"/>
                </a:lnTo>
                <a:lnTo>
                  <a:pt x="7147278" y="3993541"/>
                </a:lnTo>
                <a:close/>
              </a:path>
            </a:pathLst>
          </a:custGeom>
          <a:blipFill>
            <a:blip r:embed="rId4"/>
            <a:stretch>
              <a:fillRect l="0" t="0" r="0" b="0"/>
            </a:stretch>
          </a:blipFill>
        </p:spPr>
      </p:sp>
      <p:sp>
        <p:nvSpPr>
          <p:cNvPr name="TextBox 5" id="5"/>
          <p:cNvSpPr txBox="true"/>
          <p:nvPr/>
        </p:nvSpPr>
        <p:spPr>
          <a:xfrm rot="0">
            <a:off x="1811821" y="1616440"/>
            <a:ext cx="12266304" cy="1462405"/>
          </a:xfrm>
          <a:prstGeom prst="rect">
            <a:avLst/>
          </a:prstGeom>
        </p:spPr>
        <p:txBody>
          <a:bodyPr anchor="t" rtlCol="false" tIns="0" lIns="0" bIns="0" rIns="0">
            <a:spAutoFit/>
          </a:bodyPr>
          <a:lstStyle/>
          <a:p>
            <a:pPr algn="l">
              <a:lnSpc>
                <a:spcPts val="3920"/>
              </a:lnSpc>
              <a:spcBef>
                <a:spcPct val="0"/>
              </a:spcBef>
            </a:pPr>
            <a:r>
              <a:rPr lang="en-US" sz="2800">
                <a:solidFill>
                  <a:srgbClr val="090147"/>
                </a:solidFill>
                <a:latin typeface="Krub"/>
                <a:ea typeface="Krub"/>
                <a:cs typeface="Krub"/>
                <a:sym typeface="Krub"/>
              </a:rPr>
              <a:t>Xác thực sinh trắc học không thay thế mật khẩu, mà kiểm soát quyền sử dụng khóa mật mã. Việc kết hợp BiometricPrompt, CryptoObject và Android Keystore tạo cơ chế bảo mật toàn diện.</a:t>
            </a:r>
          </a:p>
        </p:txBody>
      </p:sp>
      <p:grpSp>
        <p:nvGrpSpPr>
          <p:cNvPr name="Group 6" id="6"/>
          <p:cNvGrpSpPr/>
          <p:nvPr/>
        </p:nvGrpSpPr>
        <p:grpSpPr>
          <a:xfrm rot="0">
            <a:off x="6912772" y="3728397"/>
            <a:ext cx="4462457" cy="2978710"/>
            <a:chOff x="0" y="0"/>
            <a:chExt cx="1175297" cy="784516"/>
          </a:xfrm>
        </p:grpSpPr>
        <p:sp>
          <p:nvSpPr>
            <p:cNvPr name="Freeform 7" id="7"/>
            <p:cNvSpPr/>
            <p:nvPr/>
          </p:nvSpPr>
          <p:spPr>
            <a:xfrm flipH="false" flipV="false" rot="0">
              <a:off x="0" y="0"/>
              <a:ext cx="1175297" cy="784516"/>
            </a:xfrm>
            <a:custGeom>
              <a:avLst/>
              <a:gdLst/>
              <a:ahLst/>
              <a:cxnLst/>
              <a:rect r="r" b="b" t="t" l="l"/>
              <a:pathLst>
                <a:path h="784516" w="1175297">
                  <a:moveTo>
                    <a:pt x="87829" y="0"/>
                  </a:moveTo>
                  <a:lnTo>
                    <a:pt x="1087468" y="0"/>
                  </a:lnTo>
                  <a:cubicBezTo>
                    <a:pt x="1110762" y="0"/>
                    <a:pt x="1133101" y="9253"/>
                    <a:pt x="1149573" y="25725"/>
                  </a:cubicBezTo>
                  <a:cubicBezTo>
                    <a:pt x="1166044" y="42196"/>
                    <a:pt x="1175297" y="64536"/>
                    <a:pt x="1175297" y="87829"/>
                  </a:cubicBezTo>
                  <a:lnTo>
                    <a:pt x="1175297" y="696687"/>
                  </a:lnTo>
                  <a:cubicBezTo>
                    <a:pt x="1175297" y="719981"/>
                    <a:pt x="1166044" y="742320"/>
                    <a:pt x="1149573" y="758792"/>
                  </a:cubicBezTo>
                  <a:cubicBezTo>
                    <a:pt x="1133101" y="775263"/>
                    <a:pt x="1110762" y="784516"/>
                    <a:pt x="1087468" y="784516"/>
                  </a:cubicBezTo>
                  <a:lnTo>
                    <a:pt x="87829" y="784516"/>
                  </a:lnTo>
                  <a:cubicBezTo>
                    <a:pt x="64536" y="784516"/>
                    <a:pt x="42196" y="775263"/>
                    <a:pt x="25725" y="758792"/>
                  </a:cubicBezTo>
                  <a:cubicBezTo>
                    <a:pt x="9253" y="742320"/>
                    <a:pt x="0" y="719981"/>
                    <a:pt x="0" y="696687"/>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8" id="8"/>
            <p:cNvSpPr txBox="true"/>
            <p:nvPr/>
          </p:nvSpPr>
          <p:spPr>
            <a:xfrm>
              <a:off x="0" y="-38100"/>
              <a:ext cx="1175297" cy="82261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7286841" y="3884307"/>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CryptoObject</a:t>
            </a:r>
          </a:p>
        </p:txBody>
      </p:sp>
      <p:grpSp>
        <p:nvGrpSpPr>
          <p:cNvPr name="Group 10" id="10"/>
          <p:cNvGrpSpPr/>
          <p:nvPr/>
        </p:nvGrpSpPr>
        <p:grpSpPr>
          <a:xfrm rot="0">
            <a:off x="1469878" y="3728397"/>
            <a:ext cx="4462457" cy="2978710"/>
            <a:chOff x="0" y="0"/>
            <a:chExt cx="1175297" cy="784516"/>
          </a:xfrm>
        </p:grpSpPr>
        <p:sp>
          <p:nvSpPr>
            <p:cNvPr name="Freeform 11" id="11"/>
            <p:cNvSpPr/>
            <p:nvPr/>
          </p:nvSpPr>
          <p:spPr>
            <a:xfrm flipH="false" flipV="false" rot="0">
              <a:off x="0" y="0"/>
              <a:ext cx="1175297" cy="784516"/>
            </a:xfrm>
            <a:custGeom>
              <a:avLst/>
              <a:gdLst/>
              <a:ahLst/>
              <a:cxnLst/>
              <a:rect r="r" b="b" t="t" l="l"/>
              <a:pathLst>
                <a:path h="784516" w="1175297">
                  <a:moveTo>
                    <a:pt x="87829" y="0"/>
                  </a:moveTo>
                  <a:lnTo>
                    <a:pt x="1087468" y="0"/>
                  </a:lnTo>
                  <a:cubicBezTo>
                    <a:pt x="1110762" y="0"/>
                    <a:pt x="1133101" y="9253"/>
                    <a:pt x="1149573" y="25725"/>
                  </a:cubicBezTo>
                  <a:cubicBezTo>
                    <a:pt x="1166044" y="42196"/>
                    <a:pt x="1175297" y="64536"/>
                    <a:pt x="1175297" y="87829"/>
                  </a:cubicBezTo>
                  <a:lnTo>
                    <a:pt x="1175297" y="696687"/>
                  </a:lnTo>
                  <a:cubicBezTo>
                    <a:pt x="1175297" y="719981"/>
                    <a:pt x="1166044" y="742320"/>
                    <a:pt x="1149573" y="758792"/>
                  </a:cubicBezTo>
                  <a:cubicBezTo>
                    <a:pt x="1133101" y="775263"/>
                    <a:pt x="1110762" y="784516"/>
                    <a:pt x="1087468" y="784516"/>
                  </a:cubicBezTo>
                  <a:lnTo>
                    <a:pt x="87829" y="784516"/>
                  </a:lnTo>
                  <a:cubicBezTo>
                    <a:pt x="64536" y="784516"/>
                    <a:pt x="42196" y="775263"/>
                    <a:pt x="25725" y="758792"/>
                  </a:cubicBezTo>
                  <a:cubicBezTo>
                    <a:pt x="9253" y="742320"/>
                    <a:pt x="0" y="719981"/>
                    <a:pt x="0" y="696687"/>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2" id="12"/>
            <p:cNvSpPr txBox="true"/>
            <p:nvPr/>
          </p:nvSpPr>
          <p:spPr>
            <a:xfrm>
              <a:off x="0" y="-38100"/>
              <a:ext cx="1175297" cy="822616"/>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817180" y="3914734"/>
            <a:ext cx="3714317" cy="47191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BiometricPrompt</a:t>
            </a:r>
          </a:p>
        </p:txBody>
      </p:sp>
      <p:sp>
        <p:nvSpPr>
          <p:cNvPr name="TextBox 14" id="14"/>
          <p:cNvSpPr txBox="true"/>
          <p:nvPr/>
        </p:nvSpPr>
        <p:spPr>
          <a:xfrm rot="0">
            <a:off x="1817180" y="4567623"/>
            <a:ext cx="3714317" cy="14625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Xác thực danh tính người dùng.</a:t>
            </a:r>
          </a:p>
          <a:p>
            <a:pPr algn="l">
              <a:lnSpc>
                <a:spcPts val="3914"/>
              </a:lnSpc>
            </a:pPr>
          </a:p>
        </p:txBody>
      </p:sp>
      <p:grpSp>
        <p:nvGrpSpPr>
          <p:cNvPr name="Group 15" id="15"/>
          <p:cNvGrpSpPr/>
          <p:nvPr/>
        </p:nvGrpSpPr>
        <p:grpSpPr>
          <a:xfrm rot="0">
            <a:off x="12356303" y="3833337"/>
            <a:ext cx="4462457" cy="2978710"/>
            <a:chOff x="0" y="0"/>
            <a:chExt cx="5949942" cy="3971613"/>
          </a:xfrm>
        </p:grpSpPr>
        <p:grpSp>
          <p:nvGrpSpPr>
            <p:cNvPr name="Group 16" id="16"/>
            <p:cNvGrpSpPr/>
            <p:nvPr/>
          </p:nvGrpSpPr>
          <p:grpSpPr>
            <a:xfrm rot="0">
              <a:off x="0" y="0"/>
              <a:ext cx="5949942" cy="3971613"/>
              <a:chOff x="0" y="0"/>
              <a:chExt cx="1175297" cy="784516"/>
            </a:xfrm>
          </p:grpSpPr>
          <p:sp>
            <p:nvSpPr>
              <p:cNvPr name="Freeform 17" id="17"/>
              <p:cNvSpPr/>
              <p:nvPr/>
            </p:nvSpPr>
            <p:spPr>
              <a:xfrm flipH="false" flipV="false" rot="0">
                <a:off x="0" y="0"/>
                <a:ext cx="1175297" cy="784516"/>
              </a:xfrm>
              <a:custGeom>
                <a:avLst/>
                <a:gdLst/>
                <a:ahLst/>
                <a:cxnLst/>
                <a:rect r="r" b="b" t="t" l="l"/>
                <a:pathLst>
                  <a:path h="784516" w="1175297">
                    <a:moveTo>
                      <a:pt x="87829" y="0"/>
                    </a:moveTo>
                    <a:lnTo>
                      <a:pt x="1087468" y="0"/>
                    </a:lnTo>
                    <a:cubicBezTo>
                      <a:pt x="1110762" y="0"/>
                      <a:pt x="1133101" y="9253"/>
                      <a:pt x="1149573" y="25725"/>
                    </a:cubicBezTo>
                    <a:cubicBezTo>
                      <a:pt x="1166044" y="42196"/>
                      <a:pt x="1175297" y="64536"/>
                      <a:pt x="1175297" y="87829"/>
                    </a:cubicBezTo>
                    <a:lnTo>
                      <a:pt x="1175297" y="696687"/>
                    </a:lnTo>
                    <a:cubicBezTo>
                      <a:pt x="1175297" y="719981"/>
                      <a:pt x="1166044" y="742320"/>
                      <a:pt x="1149573" y="758792"/>
                    </a:cubicBezTo>
                    <a:cubicBezTo>
                      <a:pt x="1133101" y="775263"/>
                      <a:pt x="1110762" y="784516"/>
                      <a:pt x="1087468" y="784516"/>
                    </a:cubicBezTo>
                    <a:lnTo>
                      <a:pt x="87829" y="784516"/>
                    </a:lnTo>
                    <a:cubicBezTo>
                      <a:pt x="64536" y="784516"/>
                      <a:pt x="42196" y="775263"/>
                      <a:pt x="25725" y="758792"/>
                    </a:cubicBezTo>
                    <a:cubicBezTo>
                      <a:pt x="9253" y="742320"/>
                      <a:pt x="0" y="719981"/>
                      <a:pt x="0" y="696687"/>
                    </a:cubicBezTo>
                    <a:lnTo>
                      <a:pt x="0" y="87829"/>
                    </a:lnTo>
                    <a:cubicBezTo>
                      <a:pt x="0" y="64536"/>
                      <a:pt x="9253" y="42196"/>
                      <a:pt x="25725" y="25725"/>
                    </a:cubicBezTo>
                    <a:cubicBezTo>
                      <a:pt x="42196" y="9253"/>
                      <a:pt x="64536" y="0"/>
                      <a:pt x="87829" y="0"/>
                    </a:cubicBezTo>
                    <a:close/>
                  </a:path>
                </a:pathLst>
              </a:custGeom>
              <a:solidFill>
                <a:srgbClr val="FFFFFF"/>
              </a:solidFill>
              <a:ln w="38100" cap="rnd">
                <a:solidFill>
                  <a:srgbClr val="000000"/>
                </a:solidFill>
                <a:prstDash val="solid"/>
                <a:round/>
              </a:ln>
            </p:spPr>
          </p:sp>
          <p:sp>
            <p:nvSpPr>
              <p:cNvPr name="TextBox 18" id="18"/>
              <p:cNvSpPr txBox="true"/>
              <p:nvPr/>
            </p:nvSpPr>
            <p:spPr>
              <a:xfrm>
                <a:off x="0" y="-38100"/>
                <a:ext cx="1175297" cy="82261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498760" y="223756"/>
              <a:ext cx="4952423" cy="613343"/>
            </a:xfrm>
            <a:prstGeom prst="rect">
              <a:avLst/>
            </a:prstGeom>
          </p:spPr>
          <p:txBody>
            <a:bodyPr anchor="t" rtlCol="false" tIns="0" lIns="0" bIns="0" rIns="0">
              <a:spAutoFit/>
            </a:bodyPr>
            <a:lstStyle/>
            <a:p>
              <a:pPr algn="l">
                <a:lnSpc>
                  <a:spcPts val="3914"/>
                </a:lnSpc>
              </a:pPr>
              <a:r>
                <a:rPr lang="en-US" b="true" sz="2795" spc="30">
                  <a:solidFill>
                    <a:srgbClr val="090147"/>
                  </a:solidFill>
                  <a:latin typeface="Krub Bold"/>
                  <a:ea typeface="Krub Bold"/>
                  <a:cs typeface="Krub Bold"/>
                  <a:sym typeface="Krub Bold"/>
                </a:rPr>
                <a:t>Android Keystore</a:t>
              </a:r>
            </a:p>
          </p:txBody>
        </p:sp>
        <p:sp>
          <p:nvSpPr>
            <p:cNvPr name="TextBox 20" id="20"/>
            <p:cNvSpPr txBox="true"/>
            <p:nvPr/>
          </p:nvSpPr>
          <p:spPr>
            <a:xfrm rot="0">
              <a:off x="530213" y="1094273"/>
              <a:ext cx="4952423" cy="193414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Lưu trữ khóa mật mã an toàn.</a:t>
              </a:r>
            </a:p>
            <a:p>
              <a:pPr algn="l">
                <a:lnSpc>
                  <a:spcPts val="3914"/>
                </a:lnSpc>
              </a:pPr>
            </a:p>
          </p:txBody>
        </p:sp>
      </p:grpSp>
      <p:sp>
        <p:nvSpPr>
          <p:cNvPr name="TextBox 21" id="21"/>
          <p:cNvSpPr txBox="true"/>
          <p:nvPr/>
        </p:nvSpPr>
        <p:spPr>
          <a:xfrm rot="0">
            <a:off x="7286841" y="4537196"/>
            <a:ext cx="3714317" cy="1957813"/>
          </a:xfrm>
          <a:prstGeom prst="rect">
            <a:avLst/>
          </a:prstGeom>
        </p:spPr>
        <p:txBody>
          <a:bodyPr anchor="t" rtlCol="false" tIns="0" lIns="0" bIns="0" rIns="0">
            <a:spAutoFit/>
          </a:bodyPr>
          <a:lstStyle/>
          <a:p>
            <a:pPr algn="l">
              <a:lnSpc>
                <a:spcPts val="3914"/>
              </a:lnSpc>
            </a:pPr>
            <a:r>
              <a:rPr lang="en-US" sz="2795" spc="30">
                <a:solidFill>
                  <a:srgbClr val="090147"/>
                </a:solidFill>
                <a:latin typeface="Krub"/>
                <a:ea typeface="Krub"/>
                <a:cs typeface="Krub"/>
                <a:sym typeface="Krub"/>
              </a:rPr>
              <a:t>Ràng buộc xác thực với hành động mật mã.</a:t>
            </a:r>
          </a:p>
          <a:p>
            <a:pPr algn="l">
              <a:lnSpc>
                <a:spcPts val="3914"/>
              </a:lnSpc>
            </a:pPr>
          </a:p>
        </p:txBody>
      </p:sp>
      <p:sp>
        <p:nvSpPr>
          <p:cNvPr name="TextBox 22" id="22"/>
          <p:cNvSpPr txBox="true"/>
          <p:nvPr/>
        </p:nvSpPr>
        <p:spPr>
          <a:xfrm rot="0">
            <a:off x="1811821" y="7383382"/>
            <a:ext cx="15530428" cy="967105"/>
          </a:xfrm>
          <a:prstGeom prst="rect">
            <a:avLst/>
          </a:prstGeom>
        </p:spPr>
        <p:txBody>
          <a:bodyPr anchor="t" rtlCol="false" tIns="0" lIns="0" bIns="0" rIns="0">
            <a:spAutoFit/>
          </a:bodyPr>
          <a:lstStyle/>
          <a:p>
            <a:pPr algn="l">
              <a:lnSpc>
                <a:spcPts val="3920"/>
              </a:lnSpc>
              <a:spcBef>
                <a:spcPct val="0"/>
              </a:spcBef>
            </a:pPr>
            <a:r>
              <a:rPr lang="en-US" sz="2800">
                <a:solidFill>
                  <a:srgbClr val="090147"/>
                </a:solidFill>
                <a:latin typeface="Krub"/>
                <a:ea typeface="Krub"/>
                <a:cs typeface="Krub"/>
                <a:sym typeface="Krub"/>
              </a:rPr>
              <a:t>Cơ chế này đảm bảo xác thực sinh trắc học được ràng buộc chặt chẽ với hành động mã hóa và giải mã dữ liệu nhạy cảm, mang lại sự an toàn cao cho ứng dụng.</a:t>
            </a:r>
          </a:p>
        </p:txBody>
      </p:sp>
      <p:sp>
        <p:nvSpPr>
          <p:cNvPr name="Freeform 23" id="23"/>
          <p:cNvSpPr/>
          <p:nvPr/>
        </p:nvSpPr>
        <p:spPr>
          <a:xfrm flipH="false" flipV="false" rot="-10321493">
            <a:off x="9760578" y="8498794"/>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82795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PHẦN 4</a:t>
            </a:r>
          </a:p>
        </p:txBody>
      </p:sp>
      <p:sp>
        <p:nvSpPr>
          <p:cNvPr name="Freeform 4" id="4"/>
          <p:cNvSpPr/>
          <p:nvPr/>
        </p:nvSpPr>
        <p:spPr>
          <a:xfrm flipH="false" flipV="false" rot="-10321493">
            <a:off x="665119" y="-20574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900700" y="3916029"/>
            <a:ext cx="10486600" cy="995806"/>
          </a:xfrm>
          <a:prstGeom prst="rect">
            <a:avLst/>
          </a:prstGeom>
        </p:spPr>
        <p:txBody>
          <a:bodyPr anchor="t" rtlCol="false" tIns="0" lIns="0" bIns="0" rIns="0">
            <a:spAutoFit/>
          </a:bodyPr>
          <a:lstStyle/>
          <a:p>
            <a:pPr algn="ctr">
              <a:lnSpc>
                <a:spcPts val="6498"/>
              </a:lnSpc>
            </a:pPr>
            <a:r>
              <a:rPr lang="en-US" sz="6699">
                <a:solidFill>
                  <a:srgbClr val="090147"/>
                </a:solidFill>
                <a:latin typeface="Bungee"/>
                <a:ea typeface="Bungee"/>
                <a:cs typeface="Bungee"/>
                <a:sym typeface="Bungee"/>
              </a:rPr>
              <a:t>DEMO CODE KOTLIN</a:t>
            </a:r>
          </a:p>
        </p:txBody>
      </p:sp>
      <p:sp>
        <p:nvSpPr>
          <p:cNvPr name="Freeform 7" id="7"/>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2"/>
            <a:stretch>
              <a:fillRect l="0" t="0" r="0" b="0"/>
            </a:stretch>
          </a:blipFill>
        </p:spPr>
      </p:sp>
      <p:sp>
        <p:nvSpPr>
          <p:cNvPr name="TextBox 3" id="3"/>
          <p:cNvSpPr txBox="true"/>
          <p:nvPr/>
        </p:nvSpPr>
        <p:spPr>
          <a:xfrm rot="0">
            <a:off x="5871030" y="82795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PHẦN 5</a:t>
            </a:r>
          </a:p>
        </p:txBody>
      </p:sp>
      <p:sp>
        <p:nvSpPr>
          <p:cNvPr name="Freeform 4" id="4"/>
          <p:cNvSpPr/>
          <p:nvPr/>
        </p:nvSpPr>
        <p:spPr>
          <a:xfrm flipH="false" flipV="false" rot="-10321493">
            <a:off x="665119" y="-2057400"/>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900700" y="3825224"/>
            <a:ext cx="10486600" cy="827405"/>
          </a:xfrm>
          <a:prstGeom prst="rect">
            <a:avLst/>
          </a:prstGeom>
        </p:spPr>
        <p:txBody>
          <a:bodyPr anchor="t" rtlCol="false" tIns="0" lIns="0" bIns="0" rIns="0">
            <a:spAutoFit/>
          </a:bodyPr>
          <a:lstStyle/>
          <a:p>
            <a:pPr algn="ctr">
              <a:lnSpc>
                <a:spcPts val="5334"/>
              </a:lnSpc>
            </a:pPr>
            <a:r>
              <a:rPr lang="en-US" sz="5499">
                <a:solidFill>
                  <a:srgbClr val="090147"/>
                </a:solidFill>
                <a:latin typeface="Bungee"/>
                <a:ea typeface="Bungee"/>
                <a:cs typeface="Bungee"/>
                <a:sym typeface="Bungee"/>
              </a:rPr>
              <a:t>ứng dụng thực tế</a:t>
            </a:r>
          </a:p>
        </p:txBody>
      </p:sp>
      <p:sp>
        <p:nvSpPr>
          <p:cNvPr name="Freeform 7" id="7"/>
          <p:cNvSpPr/>
          <p:nvPr/>
        </p:nvSpPr>
        <p:spPr>
          <a:xfrm flipH="false" flipV="false" rot="0">
            <a:off x="15074229" y="4959580"/>
            <a:ext cx="6733446" cy="7030847"/>
          </a:xfrm>
          <a:custGeom>
            <a:avLst/>
            <a:gdLst/>
            <a:ahLst/>
            <a:cxnLst/>
            <a:rect r="r" b="b" t="t" l="l"/>
            <a:pathLst>
              <a:path h="7030847" w="6733446">
                <a:moveTo>
                  <a:pt x="0" y="0"/>
                </a:moveTo>
                <a:lnTo>
                  <a:pt x="6733446" y="0"/>
                </a:lnTo>
                <a:lnTo>
                  <a:pt x="6733446" y="7030847"/>
                </a:lnTo>
                <a:lnTo>
                  <a:pt x="0" y="7030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321493">
            <a:off x="16077902" y="-504558"/>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7050" y="307467"/>
            <a:ext cx="90192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ứng dụng thực tế</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2031215" y="2349139"/>
            <a:ext cx="15493471" cy="5588723"/>
            <a:chOff x="0" y="0"/>
            <a:chExt cx="20657962" cy="7451630"/>
          </a:xfrm>
        </p:grpSpPr>
        <p:grpSp>
          <p:nvGrpSpPr>
            <p:cNvPr name="Group 6" id="6"/>
            <p:cNvGrpSpPr/>
            <p:nvPr/>
          </p:nvGrpSpPr>
          <p:grpSpPr>
            <a:xfrm rot="0">
              <a:off x="0" y="1744690"/>
              <a:ext cx="20657962" cy="1758181"/>
              <a:chOff x="0" y="0"/>
              <a:chExt cx="4080585" cy="347295"/>
            </a:xfrm>
          </p:grpSpPr>
          <p:sp>
            <p:nvSpPr>
              <p:cNvPr name="Freeform 7" id="7"/>
              <p:cNvSpPr/>
              <p:nvPr/>
            </p:nvSpPr>
            <p:spPr>
              <a:xfrm flipH="false" flipV="false" rot="0">
                <a:off x="0" y="0"/>
                <a:ext cx="4080585" cy="347295"/>
              </a:xfrm>
              <a:custGeom>
                <a:avLst/>
                <a:gdLst/>
                <a:ahLst/>
                <a:cxnLst/>
                <a:rect r="r" b="b" t="t" l="l"/>
                <a:pathLst>
                  <a:path h="347295" w="4080585">
                    <a:moveTo>
                      <a:pt x="25297" y="0"/>
                    </a:moveTo>
                    <a:lnTo>
                      <a:pt x="4055288" y="0"/>
                    </a:lnTo>
                    <a:cubicBezTo>
                      <a:pt x="4069259" y="0"/>
                      <a:pt x="4080585" y="11326"/>
                      <a:pt x="4080585" y="25297"/>
                    </a:cubicBezTo>
                    <a:lnTo>
                      <a:pt x="4080585" y="321998"/>
                    </a:lnTo>
                    <a:cubicBezTo>
                      <a:pt x="4080585" y="328707"/>
                      <a:pt x="4077920" y="335142"/>
                      <a:pt x="4073176" y="339886"/>
                    </a:cubicBezTo>
                    <a:cubicBezTo>
                      <a:pt x="4068432" y="344630"/>
                      <a:pt x="4061997" y="347295"/>
                      <a:pt x="4055288" y="347295"/>
                    </a:cubicBezTo>
                    <a:lnTo>
                      <a:pt x="25297" y="347295"/>
                    </a:lnTo>
                    <a:cubicBezTo>
                      <a:pt x="18588" y="347295"/>
                      <a:pt x="12153" y="344630"/>
                      <a:pt x="7409" y="339886"/>
                    </a:cubicBezTo>
                    <a:cubicBezTo>
                      <a:pt x="2665" y="335142"/>
                      <a:pt x="0" y="328707"/>
                      <a:pt x="0" y="321998"/>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8" id="8"/>
              <p:cNvSpPr txBox="true"/>
              <p:nvPr/>
            </p:nvSpPr>
            <p:spPr>
              <a:xfrm>
                <a:off x="0" y="-66675"/>
                <a:ext cx="4080585" cy="413970"/>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Xác thực trong ứng dụng ngân hàng &amp; ví điện tử</a:t>
                </a:r>
              </a:p>
            </p:txBody>
          </p:sp>
        </p:grpSp>
        <p:grpSp>
          <p:nvGrpSpPr>
            <p:cNvPr name="Group 9" id="9"/>
            <p:cNvGrpSpPr/>
            <p:nvPr/>
          </p:nvGrpSpPr>
          <p:grpSpPr>
            <a:xfrm rot="0">
              <a:off x="0" y="0"/>
              <a:ext cx="20657962" cy="1780737"/>
              <a:chOff x="0" y="0"/>
              <a:chExt cx="4080585" cy="351751"/>
            </a:xfrm>
          </p:grpSpPr>
          <p:sp>
            <p:nvSpPr>
              <p:cNvPr name="Freeform 10" id="10"/>
              <p:cNvSpPr/>
              <p:nvPr/>
            </p:nvSpPr>
            <p:spPr>
              <a:xfrm flipH="false" flipV="false" rot="0">
                <a:off x="0" y="0"/>
                <a:ext cx="4080585" cy="351751"/>
              </a:xfrm>
              <a:custGeom>
                <a:avLst/>
                <a:gdLst/>
                <a:ahLst/>
                <a:cxnLst/>
                <a:rect r="r" b="b" t="t" l="l"/>
                <a:pathLst>
                  <a:path h="351751" w="4080585">
                    <a:moveTo>
                      <a:pt x="25297" y="0"/>
                    </a:moveTo>
                    <a:lnTo>
                      <a:pt x="4055288" y="0"/>
                    </a:lnTo>
                    <a:cubicBezTo>
                      <a:pt x="4069259" y="0"/>
                      <a:pt x="4080585" y="11326"/>
                      <a:pt x="4080585" y="25297"/>
                    </a:cubicBezTo>
                    <a:lnTo>
                      <a:pt x="4080585" y="326454"/>
                    </a:lnTo>
                    <a:cubicBezTo>
                      <a:pt x="4080585" y="333163"/>
                      <a:pt x="4077920" y="339597"/>
                      <a:pt x="4073176" y="344341"/>
                    </a:cubicBezTo>
                    <a:cubicBezTo>
                      <a:pt x="4068432" y="349085"/>
                      <a:pt x="4061997" y="351751"/>
                      <a:pt x="4055288" y="351751"/>
                    </a:cubicBezTo>
                    <a:lnTo>
                      <a:pt x="25297" y="351751"/>
                    </a:lnTo>
                    <a:cubicBezTo>
                      <a:pt x="18588" y="351751"/>
                      <a:pt x="12153" y="349085"/>
                      <a:pt x="7409" y="344341"/>
                    </a:cubicBezTo>
                    <a:cubicBezTo>
                      <a:pt x="2665" y="339597"/>
                      <a:pt x="0" y="333163"/>
                      <a:pt x="0" y="32645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1" id="11"/>
              <p:cNvSpPr txBox="true"/>
              <p:nvPr/>
            </p:nvSpPr>
            <p:spPr>
              <a:xfrm>
                <a:off x="0" y="-66675"/>
                <a:ext cx="4080585" cy="41842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Mở khóa &amp; bảo mật thiết bị</a:t>
                </a:r>
              </a:p>
            </p:txBody>
          </p:sp>
        </p:grpSp>
        <p:grpSp>
          <p:nvGrpSpPr>
            <p:cNvPr name="Group 12" id="12"/>
            <p:cNvGrpSpPr/>
            <p:nvPr/>
          </p:nvGrpSpPr>
          <p:grpSpPr>
            <a:xfrm rot="0">
              <a:off x="0" y="3538918"/>
              <a:ext cx="20657962" cy="1780737"/>
              <a:chOff x="0" y="0"/>
              <a:chExt cx="4080585" cy="351751"/>
            </a:xfrm>
          </p:grpSpPr>
          <p:sp>
            <p:nvSpPr>
              <p:cNvPr name="Freeform 13" id="13"/>
              <p:cNvSpPr/>
              <p:nvPr/>
            </p:nvSpPr>
            <p:spPr>
              <a:xfrm flipH="false" flipV="false" rot="0">
                <a:off x="0" y="0"/>
                <a:ext cx="4080585" cy="351751"/>
              </a:xfrm>
              <a:custGeom>
                <a:avLst/>
                <a:gdLst/>
                <a:ahLst/>
                <a:cxnLst/>
                <a:rect r="r" b="b" t="t" l="l"/>
                <a:pathLst>
                  <a:path h="351751" w="4080585">
                    <a:moveTo>
                      <a:pt x="25297" y="0"/>
                    </a:moveTo>
                    <a:lnTo>
                      <a:pt x="4055288" y="0"/>
                    </a:lnTo>
                    <a:cubicBezTo>
                      <a:pt x="4069259" y="0"/>
                      <a:pt x="4080585" y="11326"/>
                      <a:pt x="4080585" y="25297"/>
                    </a:cubicBezTo>
                    <a:lnTo>
                      <a:pt x="4080585" y="326454"/>
                    </a:lnTo>
                    <a:cubicBezTo>
                      <a:pt x="4080585" y="333163"/>
                      <a:pt x="4077920" y="339597"/>
                      <a:pt x="4073176" y="344341"/>
                    </a:cubicBezTo>
                    <a:cubicBezTo>
                      <a:pt x="4068432" y="349085"/>
                      <a:pt x="4061997" y="351751"/>
                      <a:pt x="4055288" y="351751"/>
                    </a:cubicBezTo>
                    <a:lnTo>
                      <a:pt x="25297" y="351751"/>
                    </a:lnTo>
                    <a:cubicBezTo>
                      <a:pt x="18588" y="351751"/>
                      <a:pt x="12153" y="349085"/>
                      <a:pt x="7409" y="344341"/>
                    </a:cubicBezTo>
                    <a:cubicBezTo>
                      <a:pt x="2665" y="339597"/>
                      <a:pt x="0" y="333163"/>
                      <a:pt x="0" y="32645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4" id="14"/>
              <p:cNvSpPr txBox="true"/>
              <p:nvPr/>
            </p:nvSpPr>
            <p:spPr>
              <a:xfrm>
                <a:off x="0" y="-66675"/>
                <a:ext cx="4080585" cy="41842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Thay thế mật khẩu đăng nhập (Passwordless Login)</a:t>
                </a:r>
              </a:p>
            </p:txBody>
          </p:sp>
        </p:grpSp>
        <p:grpSp>
          <p:nvGrpSpPr>
            <p:cNvPr name="Group 15" id="15"/>
            <p:cNvGrpSpPr/>
            <p:nvPr/>
          </p:nvGrpSpPr>
          <p:grpSpPr>
            <a:xfrm rot="0">
              <a:off x="0" y="5319656"/>
              <a:ext cx="20657962" cy="2131974"/>
              <a:chOff x="0" y="0"/>
              <a:chExt cx="4080585" cy="421131"/>
            </a:xfrm>
          </p:grpSpPr>
          <p:sp>
            <p:nvSpPr>
              <p:cNvPr name="Freeform 16" id="16"/>
              <p:cNvSpPr/>
              <p:nvPr/>
            </p:nvSpPr>
            <p:spPr>
              <a:xfrm flipH="false" flipV="false" rot="0">
                <a:off x="0" y="0"/>
                <a:ext cx="4080585" cy="421131"/>
              </a:xfrm>
              <a:custGeom>
                <a:avLst/>
                <a:gdLst/>
                <a:ahLst/>
                <a:cxnLst/>
                <a:rect r="r" b="b" t="t" l="l"/>
                <a:pathLst>
                  <a:path h="421131" w="4080585">
                    <a:moveTo>
                      <a:pt x="25297" y="0"/>
                    </a:moveTo>
                    <a:lnTo>
                      <a:pt x="4055288" y="0"/>
                    </a:lnTo>
                    <a:cubicBezTo>
                      <a:pt x="4069259" y="0"/>
                      <a:pt x="4080585" y="11326"/>
                      <a:pt x="4080585" y="25297"/>
                    </a:cubicBezTo>
                    <a:lnTo>
                      <a:pt x="4080585" y="395834"/>
                    </a:lnTo>
                    <a:cubicBezTo>
                      <a:pt x="4080585" y="402543"/>
                      <a:pt x="4077920" y="408977"/>
                      <a:pt x="4073176" y="413722"/>
                    </a:cubicBezTo>
                    <a:cubicBezTo>
                      <a:pt x="4068432" y="418466"/>
                      <a:pt x="4061997" y="421131"/>
                      <a:pt x="4055288" y="421131"/>
                    </a:cubicBezTo>
                    <a:lnTo>
                      <a:pt x="25297" y="421131"/>
                    </a:lnTo>
                    <a:cubicBezTo>
                      <a:pt x="18588" y="421131"/>
                      <a:pt x="12153" y="418466"/>
                      <a:pt x="7409" y="413722"/>
                    </a:cubicBezTo>
                    <a:cubicBezTo>
                      <a:pt x="2665" y="408977"/>
                      <a:pt x="0" y="402543"/>
                      <a:pt x="0" y="39583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7" id="17"/>
              <p:cNvSpPr txBox="true"/>
              <p:nvPr/>
            </p:nvSpPr>
            <p:spPr>
              <a:xfrm>
                <a:off x="0" y="-66675"/>
                <a:ext cx="4080585" cy="48780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Bảo vệ dữ liệu nhạy cảm trong app hay xác nhận một hành động quan trọng</a:t>
                </a:r>
              </a:p>
            </p:txBody>
          </p:sp>
        </p:grpSp>
      </p:grpSp>
      <p:sp>
        <p:nvSpPr>
          <p:cNvPr name="Freeform 18" id="18"/>
          <p:cNvSpPr/>
          <p:nvPr/>
        </p:nvSpPr>
        <p:spPr>
          <a:xfrm flipH="false" flipV="false" rot="-10321493">
            <a:off x="8956241" y="8229600"/>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2031215" y="-1743345"/>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63724" y="307467"/>
            <a:ext cx="9743189" cy="721233"/>
          </a:xfrm>
          <a:prstGeom prst="rect">
            <a:avLst/>
          </a:prstGeom>
        </p:spPr>
        <p:txBody>
          <a:bodyPr anchor="t" rtlCol="false" tIns="0" lIns="0" bIns="0" rIns="0">
            <a:spAutoFit/>
          </a:bodyPr>
          <a:lstStyle/>
          <a:p>
            <a:pPr algn="ctr">
              <a:lnSpc>
                <a:spcPts val="4656"/>
              </a:lnSpc>
            </a:pPr>
            <a:r>
              <a:rPr lang="en-US" sz="4800">
                <a:solidFill>
                  <a:srgbClr val="090147"/>
                </a:solidFill>
                <a:latin typeface="Bungee"/>
                <a:ea typeface="Bungee"/>
                <a:cs typeface="Bungee"/>
                <a:sym typeface="Bungee"/>
              </a:rPr>
              <a:t>lợi thế của sinh trắc học</a:t>
            </a:r>
          </a:p>
        </p:txBody>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4"/>
            <a:stretch>
              <a:fillRect l="0" t="0" r="0" b="0"/>
            </a:stretch>
          </a:blipFill>
        </p:spPr>
      </p:sp>
      <p:grpSp>
        <p:nvGrpSpPr>
          <p:cNvPr name="Group 5" id="5"/>
          <p:cNvGrpSpPr/>
          <p:nvPr/>
        </p:nvGrpSpPr>
        <p:grpSpPr>
          <a:xfrm rot="0">
            <a:off x="1397264" y="2480853"/>
            <a:ext cx="15493471" cy="5325295"/>
            <a:chOff x="0" y="0"/>
            <a:chExt cx="20657962" cy="7100393"/>
          </a:xfrm>
        </p:grpSpPr>
        <p:grpSp>
          <p:nvGrpSpPr>
            <p:cNvPr name="Group 6" id="6"/>
            <p:cNvGrpSpPr/>
            <p:nvPr/>
          </p:nvGrpSpPr>
          <p:grpSpPr>
            <a:xfrm rot="0">
              <a:off x="0" y="0"/>
              <a:ext cx="20657962" cy="1780737"/>
              <a:chOff x="0" y="0"/>
              <a:chExt cx="4080585" cy="351751"/>
            </a:xfrm>
          </p:grpSpPr>
          <p:sp>
            <p:nvSpPr>
              <p:cNvPr name="Freeform 7" id="7"/>
              <p:cNvSpPr/>
              <p:nvPr/>
            </p:nvSpPr>
            <p:spPr>
              <a:xfrm flipH="false" flipV="false" rot="0">
                <a:off x="0" y="0"/>
                <a:ext cx="4080585" cy="351751"/>
              </a:xfrm>
              <a:custGeom>
                <a:avLst/>
                <a:gdLst/>
                <a:ahLst/>
                <a:cxnLst/>
                <a:rect r="r" b="b" t="t" l="l"/>
                <a:pathLst>
                  <a:path h="351751" w="4080585">
                    <a:moveTo>
                      <a:pt x="25297" y="0"/>
                    </a:moveTo>
                    <a:lnTo>
                      <a:pt x="4055288" y="0"/>
                    </a:lnTo>
                    <a:cubicBezTo>
                      <a:pt x="4069259" y="0"/>
                      <a:pt x="4080585" y="11326"/>
                      <a:pt x="4080585" y="25297"/>
                    </a:cubicBezTo>
                    <a:lnTo>
                      <a:pt x="4080585" y="326454"/>
                    </a:lnTo>
                    <a:cubicBezTo>
                      <a:pt x="4080585" y="333163"/>
                      <a:pt x="4077920" y="339597"/>
                      <a:pt x="4073176" y="344341"/>
                    </a:cubicBezTo>
                    <a:cubicBezTo>
                      <a:pt x="4068432" y="349085"/>
                      <a:pt x="4061997" y="351751"/>
                      <a:pt x="4055288" y="351751"/>
                    </a:cubicBezTo>
                    <a:lnTo>
                      <a:pt x="25297" y="351751"/>
                    </a:lnTo>
                    <a:cubicBezTo>
                      <a:pt x="18588" y="351751"/>
                      <a:pt x="12153" y="349085"/>
                      <a:pt x="7409" y="344341"/>
                    </a:cubicBezTo>
                    <a:cubicBezTo>
                      <a:pt x="2665" y="339597"/>
                      <a:pt x="0" y="333163"/>
                      <a:pt x="0" y="32645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8" id="8"/>
              <p:cNvSpPr txBox="true"/>
              <p:nvPr/>
            </p:nvSpPr>
            <p:spPr>
              <a:xfrm>
                <a:off x="0" y="-66675"/>
                <a:ext cx="4080585" cy="41842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Không cần ghi nhớ → tránh lỗi con người</a:t>
                </a:r>
              </a:p>
            </p:txBody>
          </p:sp>
        </p:grpSp>
        <p:grpSp>
          <p:nvGrpSpPr>
            <p:cNvPr name="Group 9" id="9"/>
            <p:cNvGrpSpPr/>
            <p:nvPr/>
          </p:nvGrpSpPr>
          <p:grpSpPr>
            <a:xfrm rot="0">
              <a:off x="0" y="1780737"/>
              <a:ext cx="20657962" cy="1758181"/>
              <a:chOff x="0" y="0"/>
              <a:chExt cx="4080585" cy="347295"/>
            </a:xfrm>
          </p:grpSpPr>
          <p:sp>
            <p:nvSpPr>
              <p:cNvPr name="Freeform 10" id="10"/>
              <p:cNvSpPr/>
              <p:nvPr/>
            </p:nvSpPr>
            <p:spPr>
              <a:xfrm flipH="false" flipV="false" rot="0">
                <a:off x="0" y="0"/>
                <a:ext cx="4080585" cy="347295"/>
              </a:xfrm>
              <a:custGeom>
                <a:avLst/>
                <a:gdLst/>
                <a:ahLst/>
                <a:cxnLst/>
                <a:rect r="r" b="b" t="t" l="l"/>
                <a:pathLst>
                  <a:path h="347295" w="4080585">
                    <a:moveTo>
                      <a:pt x="25297" y="0"/>
                    </a:moveTo>
                    <a:lnTo>
                      <a:pt x="4055288" y="0"/>
                    </a:lnTo>
                    <a:cubicBezTo>
                      <a:pt x="4069259" y="0"/>
                      <a:pt x="4080585" y="11326"/>
                      <a:pt x="4080585" y="25297"/>
                    </a:cubicBezTo>
                    <a:lnTo>
                      <a:pt x="4080585" y="321998"/>
                    </a:lnTo>
                    <a:cubicBezTo>
                      <a:pt x="4080585" y="328707"/>
                      <a:pt x="4077920" y="335142"/>
                      <a:pt x="4073176" y="339886"/>
                    </a:cubicBezTo>
                    <a:cubicBezTo>
                      <a:pt x="4068432" y="344630"/>
                      <a:pt x="4061997" y="347295"/>
                      <a:pt x="4055288" y="347295"/>
                    </a:cubicBezTo>
                    <a:lnTo>
                      <a:pt x="25297" y="347295"/>
                    </a:lnTo>
                    <a:cubicBezTo>
                      <a:pt x="18588" y="347295"/>
                      <a:pt x="12153" y="344630"/>
                      <a:pt x="7409" y="339886"/>
                    </a:cubicBezTo>
                    <a:cubicBezTo>
                      <a:pt x="2665" y="335142"/>
                      <a:pt x="0" y="328707"/>
                      <a:pt x="0" y="321998"/>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1" id="11"/>
              <p:cNvSpPr txBox="true"/>
              <p:nvPr/>
            </p:nvSpPr>
            <p:spPr>
              <a:xfrm>
                <a:off x="0" y="-66675"/>
                <a:ext cx="4080585" cy="413970"/>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Đăng nhập nhanh và tiện lợi hơn chỉ với 1 chạm</a:t>
                </a:r>
              </a:p>
            </p:txBody>
          </p:sp>
        </p:grpSp>
        <p:grpSp>
          <p:nvGrpSpPr>
            <p:cNvPr name="Group 12" id="12"/>
            <p:cNvGrpSpPr/>
            <p:nvPr/>
          </p:nvGrpSpPr>
          <p:grpSpPr>
            <a:xfrm rot="0">
              <a:off x="0" y="3538918"/>
              <a:ext cx="20657962" cy="1780737"/>
              <a:chOff x="0" y="0"/>
              <a:chExt cx="4080585" cy="351751"/>
            </a:xfrm>
          </p:grpSpPr>
          <p:sp>
            <p:nvSpPr>
              <p:cNvPr name="Freeform 13" id="13"/>
              <p:cNvSpPr/>
              <p:nvPr/>
            </p:nvSpPr>
            <p:spPr>
              <a:xfrm flipH="false" flipV="false" rot="0">
                <a:off x="0" y="0"/>
                <a:ext cx="4080585" cy="351751"/>
              </a:xfrm>
              <a:custGeom>
                <a:avLst/>
                <a:gdLst/>
                <a:ahLst/>
                <a:cxnLst/>
                <a:rect r="r" b="b" t="t" l="l"/>
                <a:pathLst>
                  <a:path h="351751" w="4080585">
                    <a:moveTo>
                      <a:pt x="25297" y="0"/>
                    </a:moveTo>
                    <a:lnTo>
                      <a:pt x="4055288" y="0"/>
                    </a:lnTo>
                    <a:cubicBezTo>
                      <a:pt x="4069259" y="0"/>
                      <a:pt x="4080585" y="11326"/>
                      <a:pt x="4080585" y="25297"/>
                    </a:cubicBezTo>
                    <a:lnTo>
                      <a:pt x="4080585" y="326454"/>
                    </a:lnTo>
                    <a:cubicBezTo>
                      <a:pt x="4080585" y="333163"/>
                      <a:pt x="4077920" y="339597"/>
                      <a:pt x="4073176" y="344341"/>
                    </a:cubicBezTo>
                    <a:cubicBezTo>
                      <a:pt x="4068432" y="349085"/>
                      <a:pt x="4061997" y="351751"/>
                      <a:pt x="4055288" y="351751"/>
                    </a:cubicBezTo>
                    <a:lnTo>
                      <a:pt x="25297" y="351751"/>
                    </a:lnTo>
                    <a:cubicBezTo>
                      <a:pt x="18588" y="351751"/>
                      <a:pt x="12153" y="349085"/>
                      <a:pt x="7409" y="344341"/>
                    </a:cubicBezTo>
                    <a:cubicBezTo>
                      <a:pt x="2665" y="339597"/>
                      <a:pt x="0" y="333163"/>
                      <a:pt x="0" y="32645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4" id="14"/>
              <p:cNvSpPr txBox="true"/>
              <p:nvPr/>
            </p:nvSpPr>
            <p:spPr>
              <a:xfrm>
                <a:off x="0" y="-66675"/>
                <a:ext cx="4080585" cy="41842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Khó bị đánh cắp và giảm nguy cơ lộ mật khẩu</a:t>
                </a:r>
              </a:p>
            </p:txBody>
          </p:sp>
        </p:grpSp>
        <p:grpSp>
          <p:nvGrpSpPr>
            <p:cNvPr name="Group 15" id="15"/>
            <p:cNvGrpSpPr/>
            <p:nvPr/>
          </p:nvGrpSpPr>
          <p:grpSpPr>
            <a:xfrm rot="0">
              <a:off x="0" y="5319656"/>
              <a:ext cx="20657962" cy="1780737"/>
              <a:chOff x="0" y="0"/>
              <a:chExt cx="4080585" cy="351751"/>
            </a:xfrm>
          </p:grpSpPr>
          <p:sp>
            <p:nvSpPr>
              <p:cNvPr name="Freeform 16" id="16"/>
              <p:cNvSpPr/>
              <p:nvPr/>
            </p:nvSpPr>
            <p:spPr>
              <a:xfrm flipH="false" flipV="false" rot="0">
                <a:off x="0" y="0"/>
                <a:ext cx="4080585" cy="351751"/>
              </a:xfrm>
              <a:custGeom>
                <a:avLst/>
                <a:gdLst/>
                <a:ahLst/>
                <a:cxnLst/>
                <a:rect r="r" b="b" t="t" l="l"/>
                <a:pathLst>
                  <a:path h="351751" w="4080585">
                    <a:moveTo>
                      <a:pt x="25297" y="0"/>
                    </a:moveTo>
                    <a:lnTo>
                      <a:pt x="4055288" y="0"/>
                    </a:lnTo>
                    <a:cubicBezTo>
                      <a:pt x="4069259" y="0"/>
                      <a:pt x="4080585" y="11326"/>
                      <a:pt x="4080585" y="25297"/>
                    </a:cubicBezTo>
                    <a:lnTo>
                      <a:pt x="4080585" y="326454"/>
                    </a:lnTo>
                    <a:cubicBezTo>
                      <a:pt x="4080585" y="333163"/>
                      <a:pt x="4077920" y="339597"/>
                      <a:pt x="4073176" y="344341"/>
                    </a:cubicBezTo>
                    <a:cubicBezTo>
                      <a:pt x="4068432" y="349085"/>
                      <a:pt x="4061997" y="351751"/>
                      <a:pt x="4055288" y="351751"/>
                    </a:cubicBezTo>
                    <a:lnTo>
                      <a:pt x="25297" y="351751"/>
                    </a:lnTo>
                    <a:cubicBezTo>
                      <a:pt x="18588" y="351751"/>
                      <a:pt x="12153" y="349085"/>
                      <a:pt x="7409" y="344341"/>
                    </a:cubicBezTo>
                    <a:cubicBezTo>
                      <a:pt x="2665" y="339597"/>
                      <a:pt x="0" y="333163"/>
                      <a:pt x="0" y="326454"/>
                    </a:cubicBezTo>
                    <a:lnTo>
                      <a:pt x="0" y="25297"/>
                    </a:lnTo>
                    <a:cubicBezTo>
                      <a:pt x="0" y="18588"/>
                      <a:pt x="2665" y="12153"/>
                      <a:pt x="7409" y="7409"/>
                    </a:cubicBezTo>
                    <a:cubicBezTo>
                      <a:pt x="12153" y="2665"/>
                      <a:pt x="18588" y="0"/>
                      <a:pt x="25297" y="0"/>
                    </a:cubicBezTo>
                    <a:close/>
                  </a:path>
                </a:pathLst>
              </a:custGeom>
              <a:solidFill>
                <a:srgbClr val="FEF6F3"/>
              </a:solidFill>
            </p:spPr>
          </p:sp>
          <p:sp>
            <p:nvSpPr>
              <p:cNvPr name="TextBox 17" id="17"/>
              <p:cNvSpPr txBox="true"/>
              <p:nvPr/>
            </p:nvSpPr>
            <p:spPr>
              <a:xfrm>
                <a:off x="0" y="-66675"/>
                <a:ext cx="4080585" cy="418426"/>
              </a:xfrm>
              <a:prstGeom prst="rect">
                <a:avLst/>
              </a:prstGeom>
            </p:spPr>
            <p:txBody>
              <a:bodyPr anchor="ctr" rtlCol="false" tIns="50800" lIns="50800" bIns="50800" rIns="50800"/>
              <a:lstStyle/>
              <a:p>
                <a:pPr algn="just" marL="777240" indent="-388620" lvl="1">
                  <a:lnSpc>
                    <a:spcPts val="5040"/>
                  </a:lnSpc>
                  <a:spcBef>
                    <a:spcPct val="0"/>
                  </a:spcBef>
                  <a:buFont typeface="Arial"/>
                  <a:buChar char="•"/>
                </a:pPr>
                <a:r>
                  <a:rPr lang="en-US" sz="3600">
                    <a:solidFill>
                      <a:srgbClr val="090147"/>
                    </a:solidFill>
                    <a:latin typeface="Krub"/>
                    <a:ea typeface="Krub"/>
                    <a:cs typeface="Krub"/>
                    <a:sym typeface="Krub"/>
                  </a:rPr>
                  <a:t>Gắn với “đúng người”, không phải “đúng thông tin”</a:t>
                </a:r>
              </a:p>
            </p:txBody>
          </p:sp>
        </p:grpSp>
      </p:grpSp>
      <p:sp>
        <p:nvSpPr>
          <p:cNvPr name="Freeform 18" id="18"/>
          <p:cNvSpPr/>
          <p:nvPr/>
        </p:nvSpPr>
        <p:spPr>
          <a:xfrm flipH="false" flipV="false" rot="-10321493">
            <a:off x="11515329" y="8399340"/>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2595833" y="3295608"/>
            <a:ext cx="13096334" cy="3733884"/>
          </a:xfrm>
          <a:prstGeom prst="rect">
            <a:avLst/>
          </a:prstGeom>
        </p:spPr>
        <p:txBody>
          <a:bodyPr anchor="t" rtlCol="false" tIns="0" lIns="0" bIns="0" rIns="0">
            <a:spAutoFit/>
          </a:bodyPr>
          <a:lstStyle/>
          <a:p>
            <a:pPr algn="ctr">
              <a:lnSpc>
                <a:spcPts val="13287"/>
              </a:lnSpc>
            </a:pPr>
            <a:r>
              <a:rPr lang="en-US" sz="13698">
                <a:solidFill>
                  <a:srgbClr val="090147"/>
                </a:solidFill>
                <a:latin typeface="Bungee"/>
                <a:ea typeface="Bungee"/>
                <a:cs typeface="Bungee"/>
                <a:sym typeface="Bungee"/>
              </a:rPr>
              <a:t>Question Time</a:t>
            </a:r>
          </a:p>
        </p:txBody>
      </p:sp>
      <p:sp>
        <p:nvSpPr>
          <p:cNvPr name="Freeform 3" id="3"/>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2"/>
            <a:stretch>
              <a:fillRect l="0" t="0" r="0" b="0"/>
            </a:stretch>
          </a:blipFill>
        </p:spPr>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3"/>
            <a:stretch>
              <a:fillRect l="0" t="0" r="0" b="0"/>
            </a:stretch>
          </a:blipFill>
        </p:spPr>
      </p:sp>
      <p:sp>
        <p:nvSpPr>
          <p:cNvPr name="Freeform 5" id="5"/>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144000" y="7200900"/>
            <a:ext cx="2232279" cy="4114800"/>
          </a:xfrm>
          <a:custGeom>
            <a:avLst/>
            <a:gdLst/>
            <a:ahLst/>
            <a:cxnLst/>
            <a:rect r="r" b="b" t="t" l="l"/>
            <a:pathLst>
              <a:path h="4114800" w="2232279">
                <a:moveTo>
                  <a:pt x="0" y="0"/>
                </a:moveTo>
                <a:lnTo>
                  <a:pt x="2232279" y="0"/>
                </a:lnTo>
                <a:lnTo>
                  <a:pt x="2232279" y="4114800"/>
                </a:lnTo>
                <a:lnTo>
                  <a:pt x="0" y="4114800"/>
                </a:lnTo>
                <a:lnTo>
                  <a:pt x="0" y="0"/>
                </a:lnTo>
                <a:close/>
              </a:path>
            </a:pathLst>
          </a:custGeom>
          <a:blipFill>
            <a:blip r:embed="rId8"/>
            <a:stretch>
              <a:fillRect l="0" t="0" r="0" b="0"/>
            </a:stretch>
          </a:blipFill>
        </p:spPr>
      </p:sp>
      <p:sp>
        <p:nvSpPr>
          <p:cNvPr name="Freeform 8" id="8"/>
          <p:cNvSpPr/>
          <p:nvPr/>
        </p:nvSpPr>
        <p:spPr>
          <a:xfrm flipH="false" flipV="false" rot="-10576126">
            <a:off x="5029527" y="-2057400"/>
            <a:ext cx="2232279" cy="4114800"/>
          </a:xfrm>
          <a:custGeom>
            <a:avLst/>
            <a:gdLst/>
            <a:ahLst/>
            <a:cxnLst/>
            <a:rect r="r" b="b" t="t" l="l"/>
            <a:pathLst>
              <a:path h="4114800" w="2232279">
                <a:moveTo>
                  <a:pt x="0" y="0"/>
                </a:moveTo>
                <a:lnTo>
                  <a:pt x="2232279" y="0"/>
                </a:lnTo>
                <a:lnTo>
                  <a:pt x="2232279" y="4114800"/>
                </a:lnTo>
                <a:lnTo>
                  <a:pt x="0" y="4114800"/>
                </a:lnTo>
                <a:lnTo>
                  <a:pt x="0" y="0"/>
                </a:lnTo>
                <a:close/>
              </a:path>
            </a:pathLst>
          </a:custGeom>
          <a:blipFill>
            <a:blip r:embed="rId8"/>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36319" y="2923886"/>
            <a:ext cx="10486600" cy="4477328"/>
          </a:xfrm>
          <a:prstGeom prst="rect">
            <a:avLst/>
          </a:prstGeom>
        </p:spPr>
        <p:txBody>
          <a:bodyPr anchor="t" rtlCol="false" tIns="0" lIns="0" bIns="0" rIns="0">
            <a:spAutoFit/>
          </a:bodyPr>
          <a:lstStyle/>
          <a:p>
            <a:pPr algn="ctr">
              <a:lnSpc>
                <a:spcPts val="15914"/>
              </a:lnSpc>
            </a:pPr>
            <a:r>
              <a:rPr lang="en-US" sz="16407">
                <a:solidFill>
                  <a:srgbClr val="090147"/>
                </a:solidFill>
                <a:latin typeface="Bungee"/>
                <a:ea typeface="Bungee"/>
                <a:cs typeface="Bungee"/>
                <a:sym typeface="Bungee"/>
              </a:rPr>
              <a:t>Thank you</a:t>
            </a:r>
          </a:p>
        </p:txBody>
      </p:sp>
      <p:sp>
        <p:nvSpPr>
          <p:cNvPr name="Freeform 3" id="3"/>
          <p:cNvSpPr/>
          <p:nvPr/>
        </p:nvSpPr>
        <p:spPr>
          <a:xfrm flipH="false" flipV="false" rot="0">
            <a:off x="-652637" y="-721895"/>
            <a:ext cx="4062430" cy="4114800"/>
          </a:xfrm>
          <a:custGeom>
            <a:avLst/>
            <a:gdLst/>
            <a:ahLst/>
            <a:cxnLst/>
            <a:rect r="r" b="b" t="t" l="l"/>
            <a:pathLst>
              <a:path h="4114800" w="406243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8884" y="7041092"/>
            <a:ext cx="5174922" cy="5172766"/>
          </a:xfrm>
          <a:custGeom>
            <a:avLst/>
            <a:gdLst/>
            <a:ahLst/>
            <a:cxnLst/>
            <a:rect r="r" b="b" t="t" l="l"/>
            <a:pathLst>
              <a:path h="5172766" w="5174922">
                <a:moveTo>
                  <a:pt x="0" y="0"/>
                </a:moveTo>
                <a:lnTo>
                  <a:pt x="5174923" y="0"/>
                </a:lnTo>
                <a:lnTo>
                  <a:pt x="5174923" y="5172766"/>
                </a:lnTo>
                <a:lnTo>
                  <a:pt x="0" y="5172766"/>
                </a:lnTo>
                <a:lnTo>
                  <a:pt x="0" y="0"/>
                </a:lnTo>
                <a:close/>
              </a:path>
            </a:pathLst>
          </a:custGeom>
          <a:blipFill>
            <a:blip r:embed="rId4"/>
            <a:stretch>
              <a:fillRect l="0" t="0" r="0" b="0"/>
            </a:stretch>
          </a:blipFill>
        </p:spPr>
      </p:sp>
      <p:sp>
        <p:nvSpPr>
          <p:cNvPr name="Freeform 5" id="5"/>
          <p:cNvSpPr/>
          <p:nvPr/>
        </p:nvSpPr>
        <p:spPr>
          <a:xfrm flipH="false" flipV="false" rot="0">
            <a:off x="14322918" y="4783378"/>
            <a:ext cx="6733446" cy="7030847"/>
          </a:xfrm>
          <a:custGeom>
            <a:avLst/>
            <a:gdLst/>
            <a:ahLst/>
            <a:cxnLst/>
            <a:rect r="r" b="b" t="t" l="l"/>
            <a:pathLst>
              <a:path h="7030847" w="6733446">
                <a:moveTo>
                  <a:pt x="0" y="0"/>
                </a:moveTo>
                <a:lnTo>
                  <a:pt x="6733447" y="0"/>
                </a:lnTo>
                <a:lnTo>
                  <a:pt x="6733447" y="7030846"/>
                </a:lnTo>
                <a:lnTo>
                  <a:pt x="0" y="7030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882600" y="-1557683"/>
            <a:ext cx="5174922" cy="5172766"/>
          </a:xfrm>
          <a:custGeom>
            <a:avLst/>
            <a:gdLst/>
            <a:ahLst/>
            <a:cxnLst/>
            <a:rect r="r" b="b" t="t" l="l"/>
            <a:pathLst>
              <a:path h="5172766" w="5174922">
                <a:moveTo>
                  <a:pt x="0" y="0"/>
                </a:moveTo>
                <a:lnTo>
                  <a:pt x="5174922" y="0"/>
                </a:lnTo>
                <a:lnTo>
                  <a:pt x="5174922" y="5172766"/>
                </a:lnTo>
                <a:lnTo>
                  <a:pt x="0" y="5172766"/>
                </a:lnTo>
                <a:lnTo>
                  <a:pt x="0" y="0"/>
                </a:lnTo>
                <a:close/>
              </a:path>
            </a:pathLst>
          </a:custGeom>
          <a:blipFill>
            <a:blip r:embed="rId4"/>
            <a:stretch>
              <a:fillRect l="0" t="0" r="0" b="0"/>
            </a:stretch>
          </a:blipFill>
        </p:spPr>
      </p:sp>
      <p:sp>
        <p:nvSpPr>
          <p:cNvPr name="Freeform 7" id="7"/>
          <p:cNvSpPr/>
          <p:nvPr/>
        </p:nvSpPr>
        <p:spPr>
          <a:xfrm flipH="false" flipV="false" rot="0">
            <a:off x="6300712" y="-1889926"/>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321493">
            <a:off x="6300712" y="8352127"/>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DAG7sBWeIsk</dc:identifier>
  <dcterms:modified xsi:type="dcterms:W3CDTF">2011-08-01T06:04:30Z</dcterms:modified>
  <cp:revision>1</cp:revision>
  <dc:title>Group Project</dc:title>
</cp:coreProperties>
</file>