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x="18288000" cy="10287000"/>
  <p:notesSz cx="6858000" cy="9144000"/>
  <p:embeddedFontLst>
    <p:embeddedFont>
      <p:font typeface="Montserrat Bold" charset="1" panose="00000800000000000000"/>
      <p:regular r:id="rId56"/>
    </p:embeddedFont>
    <p:embeddedFont>
      <p:font typeface="Montserrat" charset="1" panose="00000500000000000000"/>
      <p:regular r:id="rId57"/>
    </p:embeddedFont>
    <p:embeddedFont>
      <p:font typeface="Garet Bold" charset="1" panose="00000000000000000000"/>
      <p:regular r:id="rId58"/>
    </p:embeddedFont>
    <p:embeddedFont>
      <p:font typeface="Poppins" charset="1" panose="00000500000000000000"/>
      <p:regular r:id="rId59"/>
    </p:embeddedFont>
    <p:embeddedFont>
      <p:font typeface="Open Sans" charset="1" panose="00000000000000000000"/>
      <p:regular r:id="rId60"/>
    </p:embeddedFont>
    <p:embeddedFont>
      <p:font typeface="Inter" charset="1" panose="020B0502030000000004"/>
      <p:regular r:id="rId61"/>
    </p:embeddedFont>
    <p:embeddedFont>
      <p:font typeface="Garet" charset="1" panose="00000000000000000000"/>
      <p:regular r:id="rId62"/>
    </p:embeddedFont>
    <p:embeddedFont>
      <p:font typeface="Canva Sans" charset="1" panose="020B0503030501040103"/>
      <p:regular r:id="rId6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jpeg" Type="http://schemas.openxmlformats.org/officeDocument/2006/relationships/image"/><Relationship Id="rId5" Target="../media/image2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5.png" Type="http://schemas.openxmlformats.org/officeDocument/2006/relationships/image"/><Relationship Id="rId5" Target="../media/image26.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0.jpe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7.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8.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1.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2.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3.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4.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5.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7.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8.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49.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2.png" Type="http://schemas.openxmlformats.org/officeDocument/2006/relationships/image"/><Relationship Id="rId5" Target="../media/image4.png" Type="http://schemas.openxmlformats.org/officeDocument/2006/relationships/image"/><Relationship Id="rId6"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7021382" y="7204010"/>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72331" y="-493308"/>
            <a:ext cx="1286950" cy="12869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29195" y="8389571"/>
            <a:ext cx="3735531" cy="37355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8757394" y="7847906"/>
            <a:ext cx="8779632" cy="1733977"/>
          </a:xfrm>
          <a:custGeom>
            <a:avLst/>
            <a:gdLst/>
            <a:ahLst/>
            <a:cxnLst/>
            <a:rect r="r" b="b" t="t" l="l"/>
            <a:pathLst>
              <a:path h="1733977" w="8779632">
                <a:moveTo>
                  <a:pt x="0" y="0"/>
                </a:moveTo>
                <a:lnTo>
                  <a:pt x="8779632" y="0"/>
                </a:lnTo>
                <a:lnTo>
                  <a:pt x="8779632" y="1733977"/>
                </a:lnTo>
                <a:lnTo>
                  <a:pt x="0" y="1733977"/>
                </a:lnTo>
                <a:lnTo>
                  <a:pt x="0" y="0"/>
                </a:lnTo>
                <a:close/>
              </a:path>
            </a:pathLst>
          </a:custGeom>
          <a:blipFill>
            <a:blip r:embed="rId2"/>
            <a:stretch>
              <a:fillRect l="0" t="0" r="0" b="0"/>
            </a:stretch>
          </a:blipFill>
        </p:spPr>
      </p:sp>
      <p:sp>
        <p:nvSpPr>
          <p:cNvPr name="Freeform 15" id="15"/>
          <p:cNvSpPr/>
          <p:nvPr/>
        </p:nvSpPr>
        <p:spPr>
          <a:xfrm flipH="false" flipV="false" rot="0">
            <a:off x="-5305" y="942633"/>
            <a:ext cx="2068010" cy="1754419"/>
          </a:xfrm>
          <a:custGeom>
            <a:avLst/>
            <a:gdLst/>
            <a:ahLst/>
            <a:cxnLst/>
            <a:rect r="r" b="b" t="t" l="l"/>
            <a:pathLst>
              <a:path h="1754419" w="2068010">
                <a:moveTo>
                  <a:pt x="0" y="0"/>
                </a:moveTo>
                <a:lnTo>
                  <a:pt x="2068010" y="0"/>
                </a:lnTo>
                <a:lnTo>
                  <a:pt x="2068010" y="1754419"/>
                </a:lnTo>
                <a:lnTo>
                  <a:pt x="0" y="1754419"/>
                </a:lnTo>
                <a:lnTo>
                  <a:pt x="0" y="0"/>
                </a:lnTo>
                <a:close/>
              </a:path>
            </a:pathLst>
          </a:custGeom>
          <a:blipFill>
            <a:blip r:embed="rId3"/>
            <a:stretch>
              <a:fillRect l="0" t="0" r="0" b="0"/>
            </a:stretch>
          </a:blipFill>
        </p:spPr>
      </p:sp>
      <p:sp>
        <p:nvSpPr>
          <p:cNvPr name="Freeform 16" id="16"/>
          <p:cNvSpPr/>
          <p:nvPr/>
        </p:nvSpPr>
        <p:spPr>
          <a:xfrm flipH="false" flipV="false" rot="0">
            <a:off x="2917063" y="8714894"/>
            <a:ext cx="2989894" cy="1572106"/>
          </a:xfrm>
          <a:custGeom>
            <a:avLst/>
            <a:gdLst/>
            <a:ahLst/>
            <a:cxnLst/>
            <a:rect r="r" b="b" t="t" l="l"/>
            <a:pathLst>
              <a:path h="1572106" w="2989894">
                <a:moveTo>
                  <a:pt x="0" y="0"/>
                </a:moveTo>
                <a:lnTo>
                  <a:pt x="2989894" y="0"/>
                </a:lnTo>
                <a:lnTo>
                  <a:pt x="2989894" y="1572106"/>
                </a:lnTo>
                <a:lnTo>
                  <a:pt x="0" y="1572106"/>
                </a:lnTo>
                <a:lnTo>
                  <a:pt x="0" y="0"/>
                </a:lnTo>
                <a:close/>
              </a:path>
            </a:pathLst>
          </a:custGeom>
          <a:blipFill>
            <a:blip r:embed="rId4"/>
            <a:stretch>
              <a:fillRect l="0" t="0" r="0" b="0"/>
            </a:stretch>
          </a:blipFill>
        </p:spPr>
      </p:sp>
      <p:sp>
        <p:nvSpPr>
          <p:cNvPr name="TextBox 17" id="17"/>
          <p:cNvSpPr txBox="true"/>
          <p:nvPr/>
        </p:nvSpPr>
        <p:spPr>
          <a:xfrm rot="0">
            <a:off x="1542341" y="3893606"/>
            <a:ext cx="15994686" cy="1591147"/>
          </a:xfrm>
          <a:prstGeom prst="rect">
            <a:avLst/>
          </a:prstGeom>
        </p:spPr>
        <p:txBody>
          <a:bodyPr anchor="t" rtlCol="false" tIns="0" lIns="0" bIns="0" rIns="0">
            <a:spAutoFit/>
          </a:bodyPr>
          <a:lstStyle/>
          <a:p>
            <a:pPr algn="l">
              <a:lnSpc>
                <a:spcPts val="13098"/>
              </a:lnSpc>
              <a:spcBef>
                <a:spcPct val="0"/>
              </a:spcBef>
            </a:pPr>
            <a:r>
              <a:rPr lang="en-US" b="true" sz="9356">
                <a:solidFill>
                  <a:srgbClr val="051D40"/>
                </a:solidFill>
                <a:latin typeface="Montserrat Bold"/>
                <a:ea typeface="Montserrat Bold"/>
                <a:cs typeface="Montserrat Bold"/>
                <a:sym typeface="Montserrat Bold"/>
              </a:rPr>
              <a:t>Chủ đề: Kotlin Coroutine</a:t>
            </a:r>
          </a:p>
        </p:txBody>
      </p:sp>
      <p:sp>
        <p:nvSpPr>
          <p:cNvPr name="TextBox 18" id="18"/>
          <p:cNvSpPr txBox="true"/>
          <p:nvPr/>
        </p:nvSpPr>
        <p:spPr>
          <a:xfrm rot="0">
            <a:off x="772331" y="5875279"/>
            <a:ext cx="16420234" cy="852481"/>
          </a:xfrm>
          <a:prstGeom prst="rect">
            <a:avLst/>
          </a:prstGeom>
        </p:spPr>
        <p:txBody>
          <a:bodyPr anchor="t" rtlCol="false" tIns="0" lIns="0" bIns="0" rIns="0">
            <a:spAutoFit/>
          </a:bodyPr>
          <a:lstStyle/>
          <a:p>
            <a:pPr algn="ctr">
              <a:lnSpc>
                <a:spcPts val="7087"/>
              </a:lnSpc>
              <a:spcBef>
                <a:spcPct val="0"/>
              </a:spcBef>
            </a:pPr>
            <a:r>
              <a:rPr lang="en-US" sz="5062">
                <a:solidFill>
                  <a:srgbClr val="010101"/>
                </a:solidFill>
                <a:latin typeface="Montserrat"/>
                <a:ea typeface="Montserrat"/>
                <a:cs typeface="Montserrat"/>
                <a:sym typeface="Montserrat"/>
              </a:rPr>
              <a:t>Nhóm 4: Lobotomy Corporation</a:t>
            </a:r>
          </a:p>
        </p:txBody>
      </p:sp>
      <p:sp>
        <p:nvSpPr>
          <p:cNvPr name="Freeform 19" id="19"/>
          <p:cNvSpPr/>
          <p:nvPr/>
        </p:nvSpPr>
        <p:spPr>
          <a:xfrm flipH="false" flipV="false" rot="0">
            <a:off x="7598542" y="305132"/>
            <a:ext cx="3090916" cy="1275003"/>
          </a:xfrm>
          <a:custGeom>
            <a:avLst/>
            <a:gdLst/>
            <a:ahLst/>
            <a:cxnLst/>
            <a:rect r="r" b="b" t="t" l="l"/>
            <a:pathLst>
              <a:path h="1275003" w="3090916">
                <a:moveTo>
                  <a:pt x="0" y="0"/>
                </a:moveTo>
                <a:lnTo>
                  <a:pt x="3090916" y="0"/>
                </a:lnTo>
                <a:lnTo>
                  <a:pt x="3090916" y="1275002"/>
                </a:lnTo>
                <a:lnTo>
                  <a:pt x="0" y="1275002"/>
                </a:lnTo>
                <a:lnTo>
                  <a:pt x="0" y="0"/>
                </a:lnTo>
                <a:close/>
              </a:path>
            </a:pathLst>
          </a:custGeom>
          <a:blipFill>
            <a:blip r:embed="rId5"/>
            <a:stretch>
              <a:fillRect l="0" t="0" r="0" b="0"/>
            </a:stretch>
          </a:blipFill>
        </p:spPr>
      </p:sp>
      <p:sp>
        <p:nvSpPr>
          <p:cNvPr name="TextBox 20" id="20"/>
          <p:cNvSpPr txBox="true"/>
          <p:nvPr/>
        </p:nvSpPr>
        <p:spPr>
          <a:xfrm rot="0">
            <a:off x="3494493" y="1751584"/>
            <a:ext cx="13184092" cy="719875"/>
          </a:xfrm>
          <a:prstGeom prst="rect">
            <a:avLst/>
          </a:prstGeom>
        </p:spPr>
        <p:txBody>
          <a:bodyPr anchor="t" rtlCol="false" tIns="0" lIns="0" bIns="0" rIns="0">
            <a:spAutoFit/>
          </a:bodyPr>
          <a:lstStyle/>
          <a:p>
            <a:pPr algn="ctr">
              <a:lnSpc>
                <a:spcPts val="5996"/>
              </a:lnSpc>
            </a:pPr>
            <a:r>
              <a:rPr lang="en-US" b="true" sz="4283">
                <a:solidFill>
                  <a:srgbClr val="000000"/>
                </a:solidFill>
                <a:latin typeface="Garet Bold"/>
                <a:ea typeface="Garet Bold"/>
                <a:cs typeface="Garet Bold"/>
                <a:sym typeface="Garet Bold"/>
              </a:rPr>
              <a:t>PHÁT TRIỂN PHẦN MỀM CHO THIẾT BỊ DI ĐỘNG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517814" y="-315404"/>
            <a:ext cx="3964281" cy="10917809"/>
            <a:chOff x="0" y="0"/>
            <a:chExt cx="1044090" cy="2875472"/>
          </a:xfrm>
        </p:grpSpPr>
        <p:sp>
          <p:nvSpPr>
            <p:cNvPr name="Freeform 3" id="3"/>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145DA0"/>
            </a:solidFill>
            <a:ln cap="sq">
              <a:noFill/>
              <a:prstDash val="solid"/>
              <a:miter/>
            </a:ln>
          </p:spPr>
        </p:sp>
        <p:sp>
          <p:nvSpPr>
            <p:cNvPr name="TextBox 4" id="4"/>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955685" y="1814521"/>
            <a:ext cx="6760246" cy="1295400"/>
          </a:xfrm>
          <a:prstGeom prst="rect">
            <a:avLst/>
          </a:prstGeom>
        </p:spPr>
        <p:txBody>
          <a:bodyPr anchor="t" rtlCol="false" tIns="0" lIns="0" bIns="0" rIns="0">
            <a:spAutoFit/>
          </a:bodyPr>
          <a:lstStyle/>
          <a:p>
            <a:pPr algn="l">
              <a:lnSpc>
                <a:spcPts val="10500"/>
              </a:lnSpc>
              <a:spcBef>
                <a:spcPct val="0"/>
              </a:spcBef>
            </a:pPr>
            <a:r>
              <a:rPr lang="en-US" b="true" sz="7500">
                <a:solidFill>
                  <a:srgbClr val="051D40"/>
                </a:solidFill>
                <a:latin typeface="Montserrat Bold"/>
                <a:ea typeface="Montserrat Bold"/>
                <a:cs typeface="Montserrat Bold"/>
                <a:sym typeface="Montserrat Bold"/>
              </a:rPr>
              <a:t>Nội dung</a:t>
            </a:r>
          </a:p>
        </p:txBody>
      </p:sp>
      <p:grpSp>
        <p:nvGrpSpPr>
          <p:cNvPr name="Group 6" id="6"/>
          <p:cNvGrpSpPr/>
          <p:nvPr/>
        </p:nvGrpSpPr>
        <p:grpSpPr>
          <a:xfrm rot="0">
            <a:off x="-1867766" y="-1614217"/>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5400000">
            <a:off x="2789971" y="3697942"/>
            <a:ext cx="925345" cy="821033"/>
          </a:xfrm>
          <a:custGeom>
            <a:avLst/>
            <a:gdLst/>
            <a:ahLst/>
            <a:cxnLst/>
            <a:rect r="r" b="b" t="t" l="l"/>
            <a:pathLst>
              <a:path h="821033" w="925345">
                <a:moveTo>
                  <a:pt x="0" y="0"/>
                </a:moveTo>
                <a:lnTo>
                  <a:pt x="925345" y="0"/>
                </a:lnTo>
                <a:lnTo>
                  <a:pt x="925345" y="821033"/>
                </a:lnTo>
                <a:lnTo>
                  <a:pt x="0" y="821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955685" y="3586171"/>
            <a:ext cx="10337912" cy="901700"/>
          </a:xfrm>
          <a:prstGeom prst="rect">
            <a:avLst/>
          </a:prstGeom>
        </p:spPr>
        <p:txBody>
          <a:bodyPr anchor="t" rtlCol="false" tIns="0" lIns="0" bIns="0" rIns="0">
            <a:spAutoFit/>
          </a:bodyPr>
          <a:lstStyle/>
          <a:p>
            <a:pPr algn="l">
              <a:lnSpc>
                <a:spcPts val="7000"/>
              </a:lnSpc>
              <a:spcBef>
                <a:spcPct val="0"/>
              </a:spcBef>
            </a:pPr>
            <a:r>
              <a:rPr lang="en-US" sz="5000" spc="-100">
                <a:solidFill>
                  <a:srgbClr val="051D40"/>
                </a:solidFill>
                <a:latin typeface="Poppins"/>
                <a:ea typeface="Poppins"/>
                <a:cs typeface="Poppins"/>
                <a:sym typeface="Poppins"/>
              </a:rPr>
              <a:t>Tổng quan về Coroutines Kotlin</a:t>
            </a:r>
          </a:p>
        </p:txBody>
      </p:sp>
      <p:sp>
        <p:nvSpPr>
          <p:cNvPr name="Freeform 11" id="11"/>
          <p:cNvSpPr/>
          <p:nvPr/>
        </p:nvSpPr>
        <p:spPr>
          <a:xfrm flipH="false" flipV="false" rot="5400000">
            <a:off x="2789971" y="5053378"/>
            <a:ext cx="925345" cy="821033"/>
          </a:xfrm>
          <a:custGeom>
            <a:avLst/>
            <a:gdLst/>
            <a:ahLst/>
            <a:cxnLst/>
            <a:rect r="r" b="b" t="t" l="l"/>
            <a:pathLst>
              <a:path h="821033" w="925345">
                <a:moveTo>
                  <a:pt x="0" y="0"/>
                </a:moveTo>
                <a:lnTo>
                  <a:pt x="925345" y="0"/>
                </a:lnTo>
                <a:lnTo>
                  <a:pt x="925345" y="821033"/>
                </a:lnTo>
                <a:lnTo>
                  <a:pt x="0" y="821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955685" y="5023569"/>
            <a:ext cx="9471700" cy="901700"/>
          </a:xfrm>
          <a:prstGeom prst="rect">
            <a:avLst/>
          </a:prstGeom>
        </p:spPr>
        <p:txBody>
          <a:bodyPr anchor="t" rtlCol="false" tIns="0" lIns="0" bIns="0" rIns="0">
            <a:spAutoFit/>
          </a:bodyPr>
          <a:lstStyle/>
          <a:p>
            <a:pPr algn="l">
              <a:lnSpc>
                <a:spcPts val="7000"/>
              </a:lnSpc>
              <a:spcBef>
                <a:spcPct val="0"/>
              </a:spcBef>
            </a:pPr>
            <a:r>
              <a:rPr lang="en-US" sz="5000" spc="-100">
                <a:solidFill>
                  <a:srgbClr val="051D40"/>
                </a:solidFill>
                <a:latin typeface="Poppins"/>
                <a:ea typeface="Poppins"/>
                <a:cs typeface="Poppins"/>
                <a:sym typeface="Poppins"/>
              </a:rPr>
              <a:t>Coroutine Basics</a:t>
            </a:r>
          </a:p>
        </p:txBody>
      </p:sp>
      <p:sp>
        <p:nvSpPr>
          <p:cNvPr name="Freeform 13" id="13"/>
          <p:cNvSpPr/>
          <p:nvPr/>
        </p:nvSpPr>
        <p:spPr>
          <a:xfrm flipH="false" flipV="false" rot="5400000">
            <a:off x="2789971" y="6408814"/>
            <a:ext cx="925345" cy="821033"/>
          </a:xfrm>
          <a:custGeom>
            <a:avLst/>
            <a:gdLst/>
            <a:ahLst/>
            <a:cxnLst/>
            <a:rect r="r" b="b" t="t" l="l"/>
            <a:pathLst>
              <a:path h="821033" w="925345">
                <a:moveTo>
                  <a:pt x="0" y="0"/>
                </a:moveTo>
                <a:lnTo>
                  <a:pt x="925345" y="0"/>
                </a:lnTo>
                <a:lnTo>
                  <a:pt x="925345" y="821033"/>
                </a:lnTo>
                <a:lnTo>
                  <a:pt x="0" y="821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955685" y="6379004"/>
            <a:ext cx="9471700" cy="901700"/>
          </a:xfrm>
          <a:prstGeom prst="rect">
            <a:avLst/>
          </a:prstGeom>
        </p:spPr>
        <p:txBody>
          <a:bodyPr anchor="t" rtlCol="false" tIns="0" lIns="0" bIns="0" rIns="0">
            <a:spAutoFit/>
          </a:bodyPr>
          <a:lstStyle/>
          <a:p>
            <a:pPr algn="l">
              <a:lnSpc>
                <a:spcPts val="7000"/>
              </a:lnSpc>
              <a:spcBef>
                <a:spcPct val="0"/>
              </a:spcBef>
            </a:pPr>
            <a:r>
              <a:rPr lang="en-US" sz="5000" spc="-100">
                <a:solidFill>
                  <a:srgbClr val="051D40"/>
                </a:solidFill>
                <a:latin typeface="Poppins"/>
                <a:ea typeface="Poppins"/>
                <a:cs typeface="Poppins"/>
                <a:sym typeface="Poppins"/>
              </a:rPr>
              <a:t>Cancellation</a:t>
            </a:r>
          </a:p>
        </p:txBody>
      </p:sp>
      <p:sp>
        <p:nvSpPr>
          <p:cNvPr name="Freeform 15" id="15"/>
          <p:cNvSpPr/>
          <p:nvPr/>
        </p:nvSpPr>
        <p:spPr>
          <a:xfrm flipH="false" flipV="false" rot="5400000">
            <a:off x="2789971" y="7660917"/>
            <a:ext cx="925345" cy="821033"/>
          </a:xfrm>
          <a:custGeom>
            <a:avLst/>
            <a:gdLst/>
            <a:ahLst/>
            <a:cxnLst/>
            <a:rect r="r" b="b" t="t" l="l"/>
            <a:pathLst>
              <a:path h="821033" w="925345">
                <a:moveTo>
                  <a:pt x="0" y="0"/>
                </a:moveTo>
                <a:lnTo>
                  <a:pt x="925345" y="0"/>
                </a:lnTo>
                <a:lnTo>
                  <a:pt x="925345" y="821034"/>
                </a:lnTo>
                <a:lnTo>
                  <a:pt x="0" y="8210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3955685" y="7549147"/>
            <a:ext cx="9471700" cy="901700"/>
          </a:xfrm>
          <a:prstGeom prst="rect">
            <a:avLst/>
          </a:prstGeom>
        </p:spPr>
        <p:txBody>
          <a:bodyPr anchor="t" rtlCol="false" tIns="0" lIns="0" bIns="0" rIns="0">
            <a:spAutoFit/>
          </a:bodyPr>
          <a:lstStyle/>
          <a:p>
            <a:pPr algn="l">
              <a:lnSpc>
                <a:spcPts val="7000"/>
              </a:lnSpc>
              <a:spcBef>
                <a:spcPct val="0"/>
              </a:spcBef>
            </a:pPr>
            <a:r>
              <a:rPr lang="en-US" sz="5000" spc="-100">
                <a:solidFill>
                  <a:srgbClr val="051D40"/>
                </a:solidFill>
                <a:latin typeface="Poppins"/>
                <a:ea typeface="Poppins"/>
                <a:cs typeface="Poppins"/>
                <a:sym typeface="Poppins"/>
              </a:rPr>
              <a:t>Asynchronous Flow</a:t>
            </a:r>
          </a:p>
        </p:txBody>
      </p:sp>
      <p:grpSp>
        <p:nvGrpSpPr>
          <p:cNvPr name="Group 17" id="17"/>
          <p:cNvGrpSpPr/>
          <p:nvPr/>
        </p:nvGrpSpPr>
        <p:grpSpPr>
          <a:xfrm rot="0">
            <a:off x="-1929195" y="8389571"/>
            <a:ext cx="3735531" cy="373553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55782" y="3037723"/>
            <a:ext cx="8688218" cy="4907573"/>
            <a:chOff x="0" y="0"/>
            <a:chExt cx="2288286" cy="1292658"/>
          </a:xfrm>
        </p:grpSpPr>
        <p:sp>
          <p:nvSpPr>
            <p:cNvPr name="Freeform 12" id="12"/>
            <p:cNvSpPr/>
            <p:nvPr/>
          </p:nvSpPr>
          <p:spPr>
            <a:xfrm flipH="false" flipV="false" rot="0">
              <a:off x="0" y="0"/>
              <a:ext cx="2288286" cy="1292658"/>
            </a:xfrm>
            <a:custGeom>
              <a:avLst/>
              <a:gdLst/>
              <a:ahLst/>
              <a:cxnLst/>
              <a:rect r="r" b="b" t="t" l="l"/>
              <a:pathLst>
                <a:path h="1292658" w="2288286">
                  <a:moveTo>
                    <a:pt x="2288286" y="51683"/>
                  </a:moveTo>
                  <a:lnTo>
                    <a:pt x="2288286" y="1240976"/>
                  </a:lnTo>
                  <a:cubicBezTo>
                    <a:pt x="2288286" y="1269519"/>
                    <a:pt x="2265147" y="1292658"/>
                    <a:pt x="2236603" y="1292658"/>
                  </a:cubicBezTo>
                  <a:lnTo>
                    <a:pt x="51683" y="1292658"/>
                  </a:lnTo>
                  <a:cubicBezTo>
                    <a:pt x="37976" y="1292658"/>
                    <a:pt x="24830" y="1287213"/>
                    <a:pt x="15138" y="1277521"/>
                  </a:cubicBezTo>
                  <a:cubicBezTo>
                    <a:pt x="5445" y="1267828"/>
                    <a:pt x="0" y="1254683"/>
                    <a:pt x="0" y="1240976"/>
                  </a:cubicBezTo>
                  <a:lnTo>
                    <a:pt x="0" y="51683"/>
                  </a:lnTo>
                  <a:cubicBezTo>
                    <a:pt x="0" y="23139"/>
                    <a:pt x="23139" y="0"/>
                    <a:pt x="51683" y="0"/>
                  </a:cubicBezTo>
                  <a:lnTo>
                    <a:pt x="2236603" y="0"/>
                  </a:lnTo>
                  <a:cubicBezTo>
                    <a:pt x="2250310" y="0"/>
                    <a:pt x="2263456" y="5445"/>
                    <a:pt x="2273148" y="15138"/>
                  </a:cubicBezTo>
                  <a:cubicBezTo>
                    <a:pt x="2282841" y="24830"/>
                    <a:pt x="2288286" y="37976"/>
                    <a:pt x="2288286" y="51683"/>
                  </a:cubicBezTo>
                  <a:close/>
                </a:path>
              </a:pathLst>
            </a:custGeom>
            <a:solidFill>
              <a:srgbClr val="00569E"/>
            </a:solidFill>
          </p:spPr>
        </p:sp>
        <p:sp>
          <p:nvSpPr>
            <p:cNvPr name="TextBox 13" id="13"/>
            <p:cNvSpPr txBox="true"/>
            <p:nvPr/>
          </p:nvSpPr>
          <p:spPr>
            <a:xfrm>
              <a:off x="0" y="-38100"/>
              <a:ext cx="2288286" cy="1330758"/>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694776" y="3219472"/>
            <a:ext cx="8017956" cy="4560212"/>
          </a:xfrm>
          <a:custGeom>
            <a:avLst/>
            <a:gdLst/>
            <a:ahLst/>
            <a:cxnLst/>
            <a:rect r="r" b="b" t="t" l="l"/>
            <a:pathLst>
              <a:path h="4560212" w="8017956">
                <a:moveTo>
                  <a:pt x="0" y="0"/>
                </a:moveTo>
                <a:lnTo>
                  <a:pt x="8017956" y="0"/>
                </a:lnTo>
                <a:lnTo>
                  <a:pt x="8017956" y="4560212"/>
                </a:lnTo>
                <a:lnTo>
                  <a:pt x="0" y="4560212"/>
                </a:lnTo>
                <a:lnTo>
                  <a:pt x="0" y="0"/>
                </a:lnTo>
                <a:close/>
              </a:path>
            </a:pathLst>
          </a:custGeom>
          <a:blipFill>
            <a:blip r:embed="rId2"/>
            <a:stretch>
              <a:fillRect l="0" t="0" r="0" b="0"/>
            </a:stretch>
          </a:blipFill>
        </p:spPr>
      </p:sp>
      <p:sp>
        <p:nvSpPr>
          <p:cNvPr name="TextBox 15" id="15"/>
          <p:cNvSpPr txBox="true"/>
          <p:nvPr/>
        </p:nvSpPr>
        <p:spPr>
          <a:xfrm rot="0">
            <a:off x="17693752" y="9558437"/>
            <a:ext cx="345270" cy="460390"/>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a:t>
            </a:r>
          </a:p>
        </p:txBody>
      </p:sp>
      <p:sp>
        <p:nvSpPr>
          <p:cNvPr name="TextBox 16" id="16"/>
          <p:cNvSpPr txBox="true"/>
          <p:nvPr/>
        </p:nvSpPr>
        <p:spPr>
          <a:xfrm rot="0">
            <a:off x="2299743" y="419417"/>
            <a:ext cx="13688515" cy="1094740"/>
          </a:xfrm>
          <a:prstGeom prst="rect">
            <a:avLst/>
          </a:prstGeom>
        </p:spPr>
        <p:txBody>
          <a:bodyPr anchor="t" rtlCol="false" tIns="0" lIns="0" bIns="0" rIns="0">
            <a:spAutoFit/>
          </a:bodyPr>
          <a:lstStyle/>
          <a:p>
            <a:pPr algn="l">
              <a:lnSpc>
                <a:spcPts val="8959"/>
              </a:lnSpc>
              <a:spcBef>
                <a:spcPct val="0"/>
              </a:spcBef>
            </a:pPr>
            <a:r>
              <a:rPr lang="en-US" b="true" sz="6399">
                <a:solidFill>
                  <a:srgbClr val="000000"/>
                </a:solidFill>
                <a:latin typeface="Montserrat Bold"/>
                <a:ea typeface="Montserrat Bold"/>
                <a:cs typeface="Montserrat Bold"/>
                <a:sym typeface="Montserrat Bold"/>
              </a:rPr>
              <a:t>Tổng quan về Coroutines Kotlin</a:t>
            </a:r>
          </a:p>
        </p:txBody>
      </p:sp>
      <p:sp>
        <p:nvSpPr>
          <p:cNvPr name="TextBox 17" id="17"/>
          <p:cNvSpPr txBox="true"/>
          <p:nvPr/>
        </p:nvSpPr>
        <p:spPr>
          <a:xfrm rot="0">
            <a:off x="776167" y="3105172"/>
            <a:ext cx="8047449" cy="5338247"/>
          </a:xfrm>
          <a:prstGeom prst="rect">
            <a:avLst/>
          </a:prstGeom>
        </p:spPr>
        <p:txBody>
          <a:bodyPr anchor="t" rtlCol="false" tIns="0" lIns="0" bIns="0" rIns="0">
            <a:spAutoFit/>
          </a:bodyPr>
          <a:lstStyle/>
          <a:p>
            <a:pPr algn="just">
              <a:lnSpc>
                <a:spcPts val="6065"/>
              </a:lnSpc>
            </a:pPr>
            <a:r>
              <a:rPr lang="en-US" sz="4332" spc="-86">
                <a:solidFill>
                  <a:srgbClr val="FEFEFE"/>
                </a:solidFill>
                <a:latin typeface="Poppins"/>
                <a:ea typeface="Poppins"/>
                <a:cs typeface="Poppins"/>
                <a:sym typeface="Poppins"/>
              </a:rPr>
              <a:t>Các</a:t>
            </a:r>
            <a:r>
              <a:rPr lang="en-US" sz="4332" spc="-86" strike="noStrike" u="none">
                <a:solidFill>
                  <a:srgbClr val="FEFEFE"/>
                </a:solidFill>
                <a:latin typeface="Poppins"/>
                <a:ea typeface="Poppins"/>
                <a:cs typeface="Poppins"/>
                <a:sym typeface="Poppins"/>
              </a:rPr>
              <a:t> ứng dụng thường cần thực hiện nhiều tác vụ cùng một lúc, chẳng hạn như phản hồi đầu vào của người dùng, tải dữ liệu hoặc cập nhật màn hình. </a:t>
            </a:r>
          </a:p>
          <a:p>
            <a:pPr algn="just">
              <a:lnSpc>
                <a:spcPts val="6065"/>
              </a:lnSpc>
            </a:pPr>
          </a:p>
        </p:txBody>
      </p:sp>
      <p:sp>
        <p:nvSpPr>
          <p:cNvPr name="TextBox 18" id="18"/>
          <p:cNvSpPr txBox="true"/>
          <p:nvPr/>
        </p:nvSpPr>
        <p:spPr>
          <a:xfrm rot="0">
            <a:off x="12314473" y="7907196"/>
            <a:ext cx="277856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 Coroutines Kotlin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24097" y="2564021"/>
            <a:ext cx="8079023" cy="5135726"/>
            <a:chOff x="0" y="0"/>
            <a:chExt cx="2127809" cy="1352619"/>
          </a:xfrm>
        </p:grpSpPr>
        <p:sp>
          <p:nvSpPr>
            <p:cNvPr name="Freeform 12" id="12"/>
            <p:cNvSpPr/>
            <p:nvPr/>
          </p:nvSpPr>
          <p:spPr>
            <a:xfrm flipH="false" flipV="false" rot="0">
              <a:off x="0" y="0"/>
              <a:ext cx="2127809" cy="1352619"/>
            </a:xfrm>
            <a:custGeom>
              <a:avLst/>
              <a:gdLst/>
              <a:ahLst/>
              <a:cxnLst/>
              <a:rect r="r" b="b" t="t" l="l"/>
              <a:pathLst>
                <a:path h="1352619" w="2127809">
                  <a:moveTo>
                    <a:pt x="55580" y="0"/>
                  </a:moveTo>
                  <a:lnTo>
                    <a:pt x="2072229" y="0"/>
                  </a:lnTo>
                  <a:cubicBezTo>
                    <a:pt x="2086970" y="0"/>
                    <a:pt x="2101106" y="5856"/>
                    <a:pt x="2111530" y="16279"/>
                  </a:cubicBezTo>
                  <a:cubicBezTo>
                    <a:pt x="2121953" y="26702"/>
                    <a:pt x="2127809" y="40839"/>
                    <a:pt x="2127809" y="55580"/>
                  </a:cubicBezTo>
                  <a:lnTo>
                    <a:pt x="2127809" y="1297039"/>
                  </a:lnTo>
                  <a:cubicBezTo>
                    <a:pt x="2127809" y="1311780"/>
                    <a:pt x="2121953" y="1325917"/>
                    <a:pt x="2111530" y="1336340"/>
                  </a:cubicBezTo>
                  <a:cubicBezTo>
                    <a:pt x="2101106" y="1346763"/>
                    <a:pt x="2086970" y="1352619"/>
                    <a:pt x="2072229" y="1352619"/>
                  </a:cubicBezTo>
                  <a:lnTo>
                    <a:pt x="55580" y="1352619"/>
                  </a:lnTo>
                  <a:cubicBezTo>
                    <a:pt x="24884" y="1352619"/>
                    <a:pt x="0" y="1327735"/>
                    <a:pt x="0" y="1297039"/>
                  </a:cubicBezTo>
                  <a:lnTo>
                    <a:pt x="0" y="55580"/>
                  </a:lnTo>
                  <a:cubicBezTo>
                    <a:pt x="0" y="40839"/>
                    <a:pt x="5856" y="26702"/>
                    <a:pt x="16279" y="16279"/>
                  </a:cubicBezTo>
                  <a:cubicBezTo>
                    <a:pt x="26702" y="5856"/>
                    <a:pt x="40839" y="0"/>
                    <a:pt x="55580" y="0"/>
                  </a:cubicBezTo>
                  <a:close/>
                </a:path>
              </a:pathLst>
            </a:custGeom>
            <a:solidFill>
              <a:srgbClr val="00569E"/>
            </a:solidFill>
          </p:spPr>
        </p:sp>
        <p:sp>
          <p:nvSpPr>
            <p:cNvPr name="TextBox 13" id="13"/>
            <p:cNvSpPr txBox="true"/>
            <p:nvPr/>
          </p:nvSpPr>
          <p:spPr>
            <a:xfrm>
              <a:off x="0" y="-38100"/>
              <a:ext cx="2127809" cy="1390719"/>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176352" y="2564021"/>
            <a:ext cx="7168925" cy="5358771"/>
          </a:xfrm>
          <a:custGeom>
            <a:avLst/>
            <a:gdLst/>
            <a:ahLst/>
            <a:cxnLst/>
            <a:rect r="r" b="b" t="t" l="l"/>
            <a:pathLst>
              <a:path h="5358771" w="7168925">
                <a:moveTo>
                  <a:pt x="0" y="0"/>
                </a:moveTo>
                <a:lnTo>
                  <a:pt x="7168925" y="0"/>
                </a:lnTo>
                <a:lnTo>
                  <a:pt x="7168925" y="5358771"/>
                </a:lnTo>
                <a:lnTo>
                  <a:pt x="0" y="5358771"/>
                </a:lnTo>
                <a:lnTo>
                  <a:pt x="0" y="0"/>
                </a:lnTo>
                <a:close/>
              </a:path>
            </a:pathLst>
          </a:custGeom>
          <a:blipFill>
            <a:blip r:embed="rId2"/>
            <a:stretch>
              <a:fillRect l="0" t="0" r="0" b="0"/>
            </a:stretch>
          </a:blipFill>
          <a:ln w="66675" cap="sq">
            <a:solidFill>
              <a:srgbClr val="000000"/>
            </a:solidFill>
            <a:prstDash val="solid"/>
            <a:miter/>
          </a:ln>
        </p:spPr>
      </p:sp>
      <p:sp>
        <p:nvSpPr>
          <p:cNvPr name="TextBox 15" id="15"/>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a:t>
            </a:r>
          </a:p>
        </p:txBody>
      </p:sp>
      <p:sp>
        <p:nvSpPr>
          <p:cNvPr name="TextBox 16" id="16"/>
          <p:cNvSpPr txBox="true"/>
          <p:nvPr/>
        </p:nvSpPr>
        <p:spPr>
          <a:xfrm rot="0">
            <a:off x="2299743" y="631081"/>
            <a:ext cx="13688515" cy="1094740"/>
          </a:xfrm>
          <a:prstGeom prst="rect">
            <a:avLst/>
          </a:prstGeom>
        </p:spPr>
        <p:txBody>
          <a:bodyPr anchor="t" rtlCol="false" tIns="0" lIns="0" bIns="0" rIns="0">
            <a:spAutoFit/>
          </a:bodyPr>
          <a:lstStyle/>
          <a:p>
            <a:pPr algn="l">
              <a:lnSpc>
                <a:spcPts val="8959"/>
              </a:lnSpc>
              <a:spcBef>
                <a:spcPct val="0"/>
              </a:spcBef>
            </a:pPr>
            <a:r>
              <a:rPr lang="en-US" b="true" sz="6399">
                <a:solidFill>
                  <a:srgbClr val="000000"/>
                </a:solidFill>
                <a:latin typeface="Montserrat Bold"/>
                <a:ea typeface="Montserrat Bold"/>
                <a:cs typeface="Montserrat Bold"/>
                <a:sym typeface="Montserrat Bold"/>
              </a:rPr>
              <a:t>Tổng quan về Coroutines Kotlin</a:t>
            </a:r>
          </a:p>
        </p:txBody>
      </p:sp>
      <p:sp>
        <p:nvSpPr>
          <p:cNvPr name="TextBox 17" id="17"/>
          <p:cNvSpPr txBox="true"/>
          <p:nvPr/>
        </p:nvSpPr>
        <p:spPr>
          <a:xfrm rot="0">
            <a:off x="888258" y="2797568"/>
            <a:ext cx="7312605" cy="5338318"/>
          </a:xfrm>
          <a:prstGeom prst="rect">
            <a:avLst/>
          </a:prstGeom>
        </p:spPr>
        <p:txBody>
          <a:bodyPr anchor="t" rtlCol="false" tIns="0" lIns="0" bIns="0" rIns="0">
            <a:spAutoFit/>
          </a:bodyPr>
          <a:lstStyle/>
          <a:p>
            <a:pPr algn="just" marL="0" indent="0" lvl="0">
              <a:lnSpc>
                <a:spcPts val="6061"/>
              </a:lnSpc>
              <a:spcBef>
                <a:spcPct val="0"/>
              </a:spcBef>
            </a:pPr>
            <a:r>
              <a:rPr lang="en-US" sz="4329" spc="-86">
                <a:solidFill>
                  <a:srgbClr val="FDFDFD"/>
                </a:solidFill>
                <a:latin typeface="Poppins"/>
                <a:ea typeface="Poppins"/>
                <a:cs typeface="Poppins"/>
                <a:sym typeface="Poppins"/>
              </a:rPr>
              <a:t>Cách</a:t>
            </a:r>
            <a:r>
              <a:rPr lang="en-US" sz="4329" spc="-86" strike="noStrike" u="none">
                <a:solidFill>
                  <a:srgbClr val="FDFDFD"/>
                </a:solidFill>
                <a:latin typeface="Poppins"/>
                <a:ea typeface="Poppins"/>
                <a:cs typeface="Poppins"/>
                <a:sym typeface="Poppins"/>
              </a:rPr>
              <a:t> phổ biến nhất để chạy các tác vụ đồng thời là sử dụng luồng (thread), là các đường dẫn thực thi độc lập được quản lý bởi hệ điều hành. </a:t>
            </a:r>
          </a:p>
          <a:p>
            <a:pPr algn="just" marL="0" indent="0" lvl="0">
              <a:lnSpc>
                <a:spcPts val="6061"/>
              </a:lnSpc>
              <a:spcBef>
                <a:spcPct val="0"/>
              </a:spcBef>
            </a:pPr>
          </a:p>
        </p:txBody>
      </p:sp>
      <p:sp>
        <p:nvSpPr>
          <p:cNvPr name="TextBox 18" id="18"/>
          <p:cNvSpPr txBox="true"/>
          <p:nvPr/>
        </p:nvSpPr>
        <p:spPr>
          <a:xfrm rot="0">
            <a:off x="12694302" y="8935085"/>
            <a:ext cx="167985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 Thread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867766" y="8231573"/>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419450" y="2940805"/>
            <a:ext cx="8724550" cy="5212889"/>
            <a:chOff x="0" y="0"/>
            <a:chExt cx="2297824" cy="1372942"/>
          </a:xfrm>
        </p:grpSpPr>
        <p:sp>
          <p:nvSpPr>
            <p:cNvPr name="Freeform 12" id="12"/>
            <p:cNvSpPr/>
            <p:nvPr/>
          </p:nvSpPr>
          <p:spPr>
            <a:xfrm flipH="false" flipV="false" rot="0">
              <a:off x="0" y="0"/>
              <a:ext cx="2297824" cy="1372942"/>
            </a:xfrm>
            <a:custGeom>
              <a:avLst/>
              <a:gdLst/>
              <a:ahLst/>
              <a:cxnLst/>
              <a:rect r="r" b="b" t="t" l="l"/>
              <a:pathLst>
                <a:path h="1372942" w="2297824">
                  <a:moveTo>
                    <a:pt x="51468" y="0"/>
                  </a:moveTo>
                  <a:lnTo>
                    <a:pt x="2246356" y="0"/>
                  </a:lnTo>
                  <a:cubicBezTo>
                    <a:pt x="2274781" y="0"/>
                    <a:pt x="2297824" y="23043"/>
                    <a:pt x="2297824" y="51468"/>
                  </a:cubicBezTo>
                  <a:lnTo>
                    <a:pt x="2297824" y="1321474"/>
                  </a:lnTo>
                  <a:cubicBezTo>
                    <a:pt x="2297824" y="1349899"/>
                    <a:pt x="2274781" y="1372942"/>
                    <a:pt x="2246356" y="1372942"/>
                  </a:cubicBezTo>
                  <a:lnTo>
                    <a:pt x="51468" y="1372942"/>
                  </a:lnTo>
                  <a:cubicBezTo>
                    <a:pt x="23043" y="1372942"/>
                    <a:pt x="0" y="1349899"/>
                    <a:pt x="0" y="1321474"/>
                  </a:cubicBezTo>
                  <a:lnTo>
                    <a:pt x="0" y="51468"/>
                  </a:lnTo>
                  <a:cubicBezTo>
                    <a:pt x="0" y="23043"/>
                    <a:pt x="23043" y="0"/>
                    <a:pt x="51468" y="0"/>
                  </a:cubicBezTo>
                  <a:close/>
                </a:path>
              </a:pathLst>
            </a:custGeom>
            <a:solidFill>
              <a:srgbClr val="00569E"/>
            </a:solidFill>
          </p:spPr>
        </p:sp>
        <p:sp>
          <p:nvSpPr>
            <p:cNvPr name="TextBox 13" id="13"/>
            <p:cNvSpPr txBox="true"/>
            <p:nvPr/>
          </p:nvSpPr>
          <p:spPr>
            <a:xfrm>
              <a:off x="0" y="-38100"/>
              <a:ext cx="2297824" cy="1411042"/>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691572" y="3109586"/>
            <a:ext cx="7738614" cy="4875327"/>
          </a:xfrm>
          <a:custGeom>
            <a:avLst/>
            <a:gdLst/>
            <a:ahLst/>
            <a:cxnLst/>
            <a:rect r="r" b="b" t="t" l="l"/>
            <a:pathLst>
              <a:path h="4875327" w="7738614">
                <a:moveTo>
                  <a:pt x="0" y="0"/>
                </a:moveTo>
                <a:lnTo>
                  <a:pt x="7738614" y="0"/>
                </a:lnTo>
                <a:lnTo>
                  <a:pt x="7738614" y="4875327"/>
                </a:lnTo>
                <a:lnTo>
                  <a:pt x="0" y="4875327"/>
                </a:lnTo>
                <a:lnTo>
                  <a:pt x="0" y="0"/>
                </a:lnTo>
                <a:close/>
              </a:path>
            </a:pathLst>
          </a:custGeom>
          <a:blipFill>
            <a:blip r:embed="rId2"/>
            <a:stretch>
              <a:fillRect l="0" t="0" r="0" b="0"/>
            </a:stretch>
          </a:blipFill>
          <a:ln w="38100" cap="sq">
            <a:solidFill>
              <a:srgbClr val="000000"/>
            </a:solidFill>
            <a:prstDash val="solid"/>
            <a:miter/>
          </a:ln>
        </p:spPr>
      </p:sp>
      <p:sp>
        <p:nvSpPr>
          <p:cNvPr name="TextBox 15" id="15"/>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a:t>
            </a:r>
          </a:p>
        </p:txBody>
      </p:sp>
      <p:sp>
        <p:nvSpPr>
          <p:cNvPr name="TextBox 16" id="16"/>
          <p:cNvSpPr txBox="true"/>
          <p:nvPr/>
        </p:nvSpPr>
        <p:spPr>
          <a:xfrm rot="0">
            <a:off x="2519137" y="1026574"/>
            <a:ext cx="13688515" cy="1094740"/>
          </a:xfrm>
          <a:prstGeom prst="rect">
            <a:avLst/>
          </a:prstGeom>
        </p:spPr>
        <p:txBody>
          <a:bodyPr anchor="t" rtlCol="false" tIns="0" lIns="0" bIns="0" rIns="0">
            <a:spAutoFit/>
          </a:bodyPr>
          <a:lstStyle/>
          <a:p>
            <a:pPr algn="l">
              <a:lnSpc>
                <a:spcPts val="8959"/>
              </a:lnSpc>
              <a:spcBef>
                <a:spcPct val="0"/>
              </a:spcBef>
            </a:pPr>
            <a:r>
              <a:rPr lang="en-US" b="true" sz="6399">
                <a:solidFill>
                  <a:srgbClr val="000000"/>
                </a:solidFill>
                <a:latin typeface="Montserrat Bold"/>
                <a:ea typeface="Montserrat Bold"/>
                <a:cs typeface="Montserrat Bold"/>
                <a:sym typeface="Montserrat Bold"/>
              </a:rPr>
              <a:t>Tổng quan về Coroutines Kotlin</a:t>
            </a:r>
          </a:p>
        </p:txBody>
      </p:sp>
      <p:sp>
        <p:nvSpPr>
          <p:cNvPr name="TextBox 17" id="17"/>
          <p:cNvSpPr txBox="true"/>
          <p:nvPr/>
        </p:nvSpPr>
        <p:spPr>
          <a:xfrm rot="0">
            <a:off x="787799" y="3060293"/>
            <a:ext cx="8071542" cy="5093401"/>
          </a:xfrm>
          <a:prstGeom prst="rect">
            <a:avLst/>
          </a:prstGeom>
        </p:spPr>
        <p:txBody>
          <a:bodyPr anchor="t" rtlCol="false" tIns="0" lIns="0" bIns="0" rIns="0">
            <a:spAutoFit/>
          </a:bodyPr>
          <a:lstStyle/>
          <a:p>
            <a:pPr algn="just" marL="0" indent="0" lvl="0">
              <a:lnSpc>
                <a:spcPts val="5777"/>
              </a:lnSpc>
              <a:spcBef>
                <a:spcPct val="0"/>
              </a:spcBef>
            </a:pPr>
            <a:r>
              <a:rPr lang="en-US" sz="4126" spc="-82" strike="noStrike" u="none">
                <a:solidFill>
                  <a:srgbClr val="FDFDFD"/>
                </a:solidFill>
                <a:latin typeface="Poppins"/>
                <a:ea typeface="Poppins"/>
                <a:cs typeface="Poppins"/>
                <a:sym typeface="Poppins"/>
              </a:rPr>
              <a:t>Kotlin sử dụng lập trình bất đồng bộ được xây dựng xung quanh coroutine, cho phép viết mã bất đồng bộ theo phong cách tự nhiên, tuần tự bằng cách sử dụng các hàm tạm dừng (suspend functions).</a:t>
            </a:r>
          </a:p>
        </p:txBody>
      </p:sp>
      <p:sp>
        <p:nvSpPr>
          <p:cNvPr name="TextBox 18" id="18"/>
          <p:cNvSpPr txBox="true"/>
          <p:nvPr/>
        </p:nvSpPr>
        <p:spPr>
          <a:xfrm rot="0">
            <a:off x="12123438" y="8935085"/>
            <a:ext cx="287488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 Suspend function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a:t>
            </a:r>
          </a:p>
        </p:txBody>
      </p:sp>
      <p:sp>
        <p:nvSpPr>
          <p:cNvPr name="TextBox 12" id="12"/>
          <p:cNvSpPr txBox="true"/>
          <p:nvPr/>
        </p:nvSpPr>
        <p:spPr>
          <a:xfrm rot="0">
            <a:off x="4664321" y="503195"/>
            <a:ext cx="8959359" cy="1358903"/>
          </a:xfrm>
          <a:prstGeom prst="rect">
            <a:avLst/>
          </a:prstGeom>
        </p:spPr>
        <p:txBody>
          <a:bodyPr anchor="t" rtlCol="false" tIns="0" lIns="0" bIns="0" rIns="0">
            <a:spAutoFit/>
          </a:bodyPr>
          <a:lstStyle/>
          <a:p>
            <a:pPr algn="l">
              <a:lnSpc>
                <a:spcPts val="11199"/>
              </a:lnSpc>
              <a:spcBef>
                <a:spcPct val="0"/>
              </a:spcBef>
            </a:pPr>
            <a:r>
              <a:rPr lang="en-US" b="true" sz="7999">
                <a:solidFill>
                  <a:srgbClr val="000000"/>
                </a:solidFill>
                <a:latin typeface="Montserrat Bold"/>
                <a:ea typeface="Montserrat Bold"/>
                <a:cs typeface="Montserrat Bold"/>
                <a:sym typeface="Montserrat Bold"/>
              </a:rPr>
              <a:t>Coroutine Basics</a:t>
            </a:r>
          </a:p>
        </p:txBody>
      </p:sp>
      <p:sp>
        <p:nvSpPr>
          <p:cNvPr name="Freeform 13" id="13"/>
          <p:cNvSpPr/>
          <p:nvPr/>
        </p:nvSpPr>
        <p:spPr>
          <a:xfrm flipH="false" flipV="false" rot="0">
            <a:off x="1806336" y="2507283"/>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4" id="14"/>
          <p:cNvSpPr txBox="true"/>
          <p:nvPr/>
        </p:nvSpPr>
        <p:spPr>
          <a:xfrm rot="0">
            <a:off x="3611433" y="2747923"/>
            <a:ext cx="8774607" cy="892176"/>
          </a:xfrm>
          <a:prstGeom prst="rect">
            <a:avLst/>
          </a:prstGeom>
        </p:spPr>
        <p:txBody>
          <a:bodyPr anchor="t" rtlCol="false" tIns="0" lIns="0" bIns="0" rIns="0">
            <a:spAutoFit/>
          </a:bodyPr>
          <a:lstStyle/>
          <a:p>
            <a:pPr algn="l">
              <a:lnSpc>
                <a:spcPts val="6999"/>
              </a:lnSpc>
            </a:pPr>
            <a:r>
              <a:rPr lang="en-US" sz="4999" spc="-99">
                <a:solidFill>
                  <a:srgbClr val="000000"/>
                </a:solidFill>
                <a:latin typeface="Poppins"/>
                <a:ea typeface="Poppins"/>
                <a:cs typeface="Poppins"/>
                <a:sym typeface="Poppins"/>
              </a:rPr>
              <a:t>Suspending function</a:t>
            </a:r>
          </a:p>
        </p:txBody>
      </p:sp>
      <p:sp>
        <p:nvSpPr>
          <p:cNvPr name="TextBox 15" id="15"/>
          <p:cNvSpPr txBox="true"/>
          <p:nvPr/>
        </p:nvSpPr>
        <p:spPr>
          <a:xfrm rot="0">
            <a:off x="1951394" y="2780495"/>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Freeform 16" id="16"/>
          <p:cNvSpPr/>
          <p:nvPr/>
        </p:nvSpPr>
        <p:spPr>
          <a:xfrm flipH="false" flipV="false" rot="0">
            <a:off x="2332235" y="4280683"/>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7" id="17"/>
          <p:cNvSpPr txBox="true"/>
          <p:nvPr/>
        </p:nvSpPr>
        <p:spPr>
          <a:xfrm rot="0">
            <a:off x="4144729" y="4536377"/>
            <a:ext cx="13894293" cy="892175"/>
          </a:xfrm>
          <a:prstGeom prst="rect">
            <a:avLst/>
          </a:prstGeom>
        </p:spPr>
        <p:txBody>
          <a:bodyPr anchor="t" rtlCol="false" tIns="0" lIns="0" bIns="0" rIns="0">
            <a:spAutoFit/>
          </a:bodyPr>
          <a:lstStyle/>
          <a:p>
            <a:pPr algn="l">
              <a:lnSpc>
                <a:spcPts val="6999"/>
              </a:lnSpc>
            </a:pPr>
            <a:r>
              <a:rPr lang="en-US" sz="4999" spc="-99">
                <a:solidFill>
                  <a:srgbClr val="000000"/>
                </a:solidFill>
                <a:latin typeface="Poppins"/>
                <a:ea typeface="Poppins"/>
                <a:cs typeface="Poppins"/>
                <a:sym typeface="Poppins"/>
              </a:rPr>
              <a:t>C</a:t>
            </a:r>
            <a:r>
              <a:rPr lang="en-US" sz="4999" spc="-99" strike="noStrike" u="none">
                <a:solidFill>
                  <a:srgbClr val="000000"/>
                </a:solidFill>
                <a:latin typeface="Poppins"/>
                <a:ea typeface="Poppins"/>
                <a:cs typeface="Poppins"/>
                <a:sym typeface="Poppins"/>
              </a:rPr>
              <a:t>oroutine scope and structured concurrency</a:t>
            </a:r>
          </a:p>
        </p:txBody>
      </p:sp>
      <p:sp>
        <p:nvSpPr>
          <p:cNvPr name="TextBox 18" id="18"/>
          <p:cNvSpPr txBox="true"/>
          <p:nvPr/>
        </p:nvSpPr>
        <p:spPr>
          <a:xfrm rot="0">
            <a:off x="2477293" y="4553895"/>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Freeform 19" id="19"/>
          <p:cNvSpPr/>
          <p:nvPr/>
        </p:nvSpPr>
        <p:spPr>
          <a:xfrm flipH="false" flipV="false" rot="0">
            <a:off x="2332235" y="60573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20" id="20"/>
          <p:cNvSpPr txBox="true"/>
          <p:nvPr/>
        </p:nvSpPr>
        <p:spPr>
          <a:xfrm rot="0">
            <a:off x="4144729" y="6313057"/>
            <a:ext cx="9799897" cy="892175"/>
          </a:xfrm>
          <a:prstGeom prst="rect">
            <a:avLst/>
          </a:prstGeom>
        </p:spPr>
        <p:txBody>
          <a:bodyPr anchor="t" rtlCol="false" tIns="0" lIns="0" bIns="0" rIns="0">
            <a:spAutoFit/>
          </a:bodyPr>
          <a:lstStyle/>
          <a:p>
            <a:pPr algn="l">
              <a:lnSpc>
                <a:spcPts val="6999"/>
              </a:lnSpc>
            </a:pPr>
            <a:r>
              <a:rPr lang="en-US" sz="4999" spc="-99">
                <a:solidFill>
                  <a:srgbClr val="000000"/>
                </a:solidFill>
                <a:latin typeface="Poppins"/>
                <a:ea typeface="Poppins"/>
                <a:cs typeface="Poppins"/>
                <a:sym typeface="Poppins"/>
              </a:rPr>
              <a:t>C</a:t>
            </a:r>
            <a:r>
              <a:rPr lang="en-US" sz="4999" spc="-99" strike="noStrike" u="none">
                <a:solidFill>
                  <a:srgbClr val="000000"/>
                </a:solidFill>
                <a:latin typeface="Poppins"/>
                <a:ea typeface="Poppins"/>
                <a:cs typeface="Poppins"/>
                <a:sym typeface="Poppins"/>
              </a:rPr>
              <a:t>oroutine builder function</a:t>
            </a:r>
          </a:p>
        </p:txBody>
      </p:sp>
      <p:sp>
        <p:nvSpPr>
          <p:cNvPr name="TextBox 21" id="21"/>
          <p:cNvSpPr txBox="true"/>
          <p:nvPr/>
        </p:nvSpPr>
        <p:spPr>
          <a:xfrm rot="0">
            <a:off x="2477293" y="63305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Freeform 22" id="22"/>
          <p:cNvSpPr/>
          <p:nvPr/>
        </p:nvSpPr>
        <p:spPr>
          <a:xfrm flipH="false" flipV="false" rot="0">
            <a:off x="1806336" y="7834044"/>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23" id="23"/>
          <p:cNvSpPr txBox="true"/>
          <p:nvPr/>
        </p:nvSpPr>
        <p:spPr>
          <a:xfrm rot="0">
            <a:off x="3611433" y="8091219"/>
            <a:ext cx="8774607" cy="892175"/>
          </a:xfrm>
          <a:prstGeom prst="rect">
            <a:avLst/>
          </a:prstGeom>
        </p:spPr>
        <p:txBody>
          <a:bodyPr anchor="t" rtlCol="false" tIns="0" lIns="0" bIns="0" rIns="0">
            <a:spAutoFit/>
          </a:bodyPr>
          <a:lstStyle/>
          <a:p>
            <a:pPr algn="l">
              <a:lnSpc>
                <a:spcPts val="6999"/>
              </a:lnSpc>
            </a:pPr>
            <a:r>
              <a:rPr lang="en-US" sz="4999" spc="-99">
                <a:solidFill>
                  <a:srgbClr val="000000"/>
                </a:solidFill>
                <a:latin typeface="Poppins"/>
                <a:ea typeface="Poppins"/>
                <a:cs typeface="Poppins"/>
                <a:sym typeface="Poppins"/>
              </a:rPr>
              <a:t>C</a:t>
            </a:r>
            <a:r>
              <a:rPr lang="en-US" sz="4999" spc="-99" strike="noStrike" u="none">
                <a:solidFill>
                  <a:srgbClr val="000000"/>
                </a:solidFill>
                <a:latin typeface="Poppins"/>
                <a:ea typeface="Poppins"/>
                <a:cs typeface="Poppins"/>
                <a:sym typeface="Poppins"/>
              </a:rPr>
              <a:t>oroutine dispatchers</a:t>
            </a:r>
          </a:p>
        </p:txBody>
      </p:sp>
      <p:sp>
        <p:nvSpPr>
          <p:cNvPr name="TextBox 24" id="24"/>
          <p:cNvSpPr txBox="true"/>
          <p:nvPr/>
        </p:nvSpPr>
        <p:spPr>
          <a:xfrm rot="0">
            <a:off x="1951394" y="810725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695199" y="2558385"/>
            <a:ext cx="15564101" cy="3023805"/>
            <a:chOff x="0" y="0"/>
            <a:chExt cx="20752135" cy="4031740"/>
          </a:xfrm>
        </p:grpSpPr>
        <p:grpSp>
          <p:nvGrpSpPr>
            <p:cNvPr name="Group 12" id="12"/>
            <p:cNvGrpSpPr/>
            <p:nvPr/>
          </p:nvGrpSpPr>
          <p:grpSpPr>
            <a:xfrm rot="0">
              <a:off x="0" y="0"/>
              <a:ext cx="20752135" cy="4031740"/>
              <a:chOff x="0" y="0"/>
              <a:chExt cx="9056036" cy="1759413"/>
            </a:xfrm>
          </p:grpSpPr>
          <p:sp>
            <p:nvSpPr>
              <p:cNvPr name="Freeform 13" id="13"/>
              <p:cNvSpPr/>
              <p:nvPr/>
            </p:nvSpPr>
            <p:spPr>
              <a:xfrm flipH="false" flipV="false" rot="0">
                <a:off x="0" y="0"/>
                <a:ext cx="9056036" cy="1759414"/>
              </a:xfrm>
              <a:custGeom>
                <a:avLst/>
                <a:gdLst/>
                <a:ahLst/>
                <a:cxnLst/>
                <a:rect r="r" b="b" t="t" l="l"/>
                <a:pathLst>
                  <a:path h="1759414" w="9056036">
                    <a:moveTo>
                      <a:pt x="25502" y="0"/>
                    </a:moveTo>
                    <a:lnTo>
                      <a:pt x="9030535" y="0"/>
                    </a:lnTo>
                    <a:cubicBezTo>
                      <a:pt x="9037298" y="0"/>
                      <a:pt x="9043784" y="2687"/>
                      <a:pt x="9048567" y="7469"/>
                    </a:cubicBezTo>
                    <a:cubicBezTo>
                      <a:pt x="9053350" y="12252"/>
                      <a:pt x="9056036" y="18738"/>
                      <a:pt x="9056036" y="25502"/>
                    </a:cubicBezTo>
                    <a:lnTo>
                      <a:pt x="9056036" y="1733912"/>
                    </a:lnTo>
                    <a:cubicBezTo>
                      <a:pt x="9056036" y="1747996"/>
                      <a:pt x="9044619" y="1759414"/>
                      <a:pt x="9030535" y="1759414"/>
                    </a:cubicBezTo>
                    <a:lnTo>
                      <a:pt x="25502" y="1759414"/>
                    </a:lnTo>
                    <a:cubicBezTo>
                      <a:pt x="18738" y="1759414"/>
                      <a:pt x="12252" y="1756727"/>
                      <a:pt x="7469" y="1751944"/>
                    </a:cubicBezTo>
                    <a:cubicBezTo>
                      <a:pt x="2687" y="1747162"/>
                      <a:pt x="0" y="1740675"/>
                      <a:pt x="0" y="1733912"/>
                    </a:cubicBezTo>
                    <a:lnTo>
                      <a:pt x="0" y="25502"/>
                    </a:lnTo>
                    <a:cubicBezTo>
                      <a:pt x="0" y="11417"/>
                      <a:pt x="11417" y="0"/>
                      <a:pt x="25502" y="0"/>
                    </a:cubicBezTo>
                    <a:close/>
                  </a:path>
                </a:pathLst>
              </a:custGeom>
              <a:solidFill>
                <a:srgbClr val="E8ECEC"/>
              </a:solidFill>
            </p:spPr>
          </p:sp>
          <p:sp>
            <p:nvSpPr>
              <p:cNvPr name="TextBox 14" id="14"/>
              <p:cNvSpPr txBox="true"/>
              <p:nvPr/>
            </p:nvSpPr>
            <p:spPr>
              <a:xfrm>
                <a:off x="0" y="-38100"/>
                <a:ext cx="9056036" cy="1797513"/>
              </a:xfrm>
              <a:prstGeom prst="rect">
                <a:avLst/>
              </a:prstGeom>
            </p:spPr>
            <p:txBody>
              <a:bodyPr anchor="ctr" rtlCol="false" tIns="22874" lIns="22874" bIns="22874" rIns="22874"/>
              <a:lstStyle/>
              <a:p>
                <a:pPr algn="ctr">
                  <a:lnSpc>
                    <a:spcPts val="2659"/>
                  </a:lnSpc>
                </a:pPr>
              </a:p>
            </p:txBody>
          </p:sp>
        </p:grpSp>
        <p:sp>
          <p:nvSpPr>
            <p:cNvPr name="TextBox 15" id="15"/>
            <p:cNvSpPr txBox="true"/>
            <p:nvPr/>
          </p:nvSpPr>
          <p:spPr>
            <a:xfrm rot="0">
              <a:off x="337548" y="329038"/>
              <a:ext cx="20019168" cy="3267922"/>
            </a:xfrm>
            <a:prstGeom prst="rect">
              <a:avLst/>
            </a:prstGeom>
          </p:spPr>
          <p:txBody>
            <a:bodyPr anchor="t" rtlCol="false" tIns="0" lIns="0" bIns="0" rIns="0">
              <a:spAutoFit/>
            </a:bodyPr>
            <a:lstStyle/>
            <a:p>
              <a:pPr algn="just" marL="690881" indent="-345440" lvl="1">
                <a:lnSpc>
                  <a:spcPts val="4960"/>
                </a:lnSpc>
                <a:buFont typeface="Arial"/>
                <a:buChar char="•"/>
              </a:pPr>
              <a:r>
                <a:rPr lang="en-US" b="true" sz="3200">
                  <a:solidFill>
                    <a:srgbClr val="000000"/>
                  </a:solidFill>
                  <a:latin typeface="Garet Bold"/>
                  <a:ea typeface="Garet Bold"/>
                  <a:cs typeface="Garet Bold"/>
                  <a:sym typeface="Garet Bold"/>
                </a:rPr>
                <a:t>Hàm</a:t>
              </a:r>
              <a:r>
                <a:rPr lang="en-US" b="true" sz="3200">
                  <a:solidFill>
                    <a:srgbClr val="000000"/>
                  </a:solidFill>
                  <a:latin typeface="Garet Bold"/>
                  <a:ea typeface="Garet Bold"/>
                  <a:cs typeface="Garet Bold"/>
                  <a:sym typeface="Garet Bold"/>
                </a:rPr>
                <a:t> Tạm dừng (Suspending Function)</a:t>
              </a:r>
              <a:r>
                <a:rPr lang="en-US" sz="3200">
                  <a:solidFill>
                    <a:srgbClr val="000000"/>
                  </a:solidFill>
                  <a:latin typeface="Garet"/>
                  <a:ea typeface="Garet"/>
                  <a:cs typeface="Garet"/>
                  <a:sym typeface="Garet"/>
                </a:rPr>
                <a:t> là hàm có khả năng tạm dừng (suspend) việc thực thi của nó và tiếp tục (resume) sau này, mà không làm chặn (block) luồng (thread) đang chạy.</a:t>
              </a:r>
            </a:p>
            <a:p>
              <a:pPr algn="just" marL="690881" indent="-345440" lvl="1">
                <a:lnSpc>
                  <a:spcPts val="4960"/>
                </a:lnSpc>
                <a:buFont typeface="Arial"/>
                <a:buChar char="•"/>
              </a:pPr>
              <a:r>
                <a:rPr lang="en-US" b="true" sz="3200">
                  <a:solidFill>
                    <a:srgbClr val="000000"/>
                  </a:solidFill>
                  <a:latin typeface="Garet Bold"/>
                  <a:ea typeface="Garet Bold"/>
                  <a:cs typeface="Garet Bold"/>
                  <a:sym typeface="Garet Bold"/>
                </a:rPr>
                <a:t>Cú pháp</a:t>
              </a:r>
              <a:r>
                <a:rPr lang="en-US" sz="3200">
                  <a:solidFill>
                    <a:srgbClr val="000000"/>
                  </a:solidFill>
                  <a:latin typeface="Garet"/>
                  <a:ea typeface="Garet"/>
                  <a:cs typeface="Garet"/>
                  <a:sym typeface="Garet"/>
                </a:rPr>
                <a:t>: Được khai báo bằng từ khóa suspend</a:t>
              </a:r>
            </a:p>
          </p:txBody>
        </p:sp>
      </p:grpSp>
      <p:sp>
        <p:nvSpPr>
          <p:cNvPr name="Freeform 16" id="16"/>
          <p:cNvSpPr/>
          <p:nvPr/>
        </p:nvSpPr>
        <p:spPr>
          <a:xfrm flipH="false" flipV="false" rot="0">
            <a:off x="3490793" y="6020340"/>
            <a:ext cx="11306413" cy="3016526"/>
          </a:xfrm>
          <a:custGeom>
            <a:avLst/>
            <a:gdLst/>
            <a:ahLst/>
            <a:cxnLst/>
            <a:rect r="r" b="b" t="t" l="l"/>
            <a:pathLst>
              <a:path h="3016526" w="11306413">
                <a:moveTo>
                  <a:pt x="0" y="0"/>
                </a:moveTo>
                <a:lnTo>
                  <a:pt x="11306414" y="0"/>
                </a:lnTo>
                <a:lnTo>
                  <a:pt x="11306414" y="3016526"/>
                </a:lnTo>
                <a:lnTo>
                  <a:pt x="0" y="3016526"/>
                </a:lnTo>
                <a:lnTo>
                  <a:pt x="0" y="0"/>
                </a:lnTo>
                <a:close/>
              </a:path>
            </a:pathLst>
          </a:custGeom>
          <a:blipFill>
            <a:blip r:embed="rId2"/>
            <a:stretch>
              <a:fillRect l="-4307" t="-18515" r="-4760" b="-19966"/>
            </a:stretch>
          </a:blipFill>
        </p:spPr>
      </p:sp>
      <p:sp>
        <p:nvSpPr>
          <p:cNvPr name="TextBox 17" id="17"/>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5</a:t>
            </a:r>
          </a:p>
        </p:txBody>
      </p:sp>
      <p:sp>
        <p:nvSpPr>
          <p:cNvPr name="TextBox 18" id="18"/>
          <p:cNvSpPr txBox="true"/>
          <p:nvPr/>
        </p:nvSpPr>
        <p:spPr>
          <a:xfrm rot="0">
            <a:off x="4542435" y="1026574"/>
            <a:ext cx="9203130" cy="1094740"/>
          </a:xfrm>
          <a:prstGeom prst="rect">
            <a:avLst/>
          </a:prstGeom>
        </p:spPr>
        <p:txBody>
          <a:bodyPr anchor="t" rtlCol="false" tIns="0" lIns="0" bIns="0" rIns="0">
            <a:spAutoFit/>
          </a:bodyPr>
          <a:lstStyle/>
          <a:p>
            <a:pPr algn="l">
              <a:lnSpc>
                <a:spcPts val="8959"/>
              </a:lnSpc>
              <a:spcBef>
                <a:spcPct val="0"/>
              </a:spcBef>
            </a:pPr>
            <a:r>
              <a:rPr lang="en-US" b="true" sz="6399">
                <a:solidFill>
                  <a:srgbClr val="000000"/>
                </a:solidFill>
                <a:latin typeface="Montserrat Bold"/>
                <a:ea typeface="Montserrat Bold"/>
                <a:cs typeface="Montserrat Bold"/>
                <a:sym typeface="Montserrat Bold"/>
              </a:rPr>
              <a:t>Suspending function</a:t>
            </a:r>
          </a:p>
        </p:txBody>
      </p:sp>
      <p:sp>
        <p:nvSpPr>
          <p:cNvPr name="TextBox 19" id="19"/>
          <p:cNvSpPr txBox="true"/>
          <p:nvPr/>
        </p:nvSpPr>
        <p:spPr>
          <a:xfrm rot="0">
            <a:off x="6013034" y="9220200"/>
            <a:ext cx="525029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4: Cú pháp khai báo suspending function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346820" y="4361286"/>
            <a:ext cx="6887083" cy="2787019"/>
            <a:chOff x="0" y="0"/>
            <a:chExt cx="9182777" cy="3716025"/>
          </a:xfrm>
        </p:grpSpPr>
        <p:grpSp>
          <p:nvGrpSpPr>
            <p:cNvPr name="Group 12" id="12"/>
            <p:cNvGrpSpPr/>
            <p:nvPr/>
          </p:nvGrpSpPr>
          <p:grpSpPr>
            <a:xfrm rot="0">
              <a:off x="0" y="0"/>
              <a:ext cx="9182777" cy="3716025"/>
              <a:chOff x="0" y="0"/>
              <a:chExt cx="5643871" cy="2283924"/>
            </a:xfrm>
          </p:grpSpPr>
          <p:sp>
            <p:nvSpPr>
              <p:cNvPr name="Freeform 13" id="13"/>
              <p:cNvSpPr/>
              <p:nvPr/>
            </p:nvSpPr>
            <p:spPr>
              <a:xfrm flipH="false" flipV="false" rot="0">
                <a:off x="0" y="0"/>
                <a:ext cx="5643871" cy="2283924"/>
              </a:xfrm>
              <a:custGeom>
                <a:avLst/>
                <a:gdLst/>
                <a:ahLst/>
                <a:cxnLst/>
                <a:rect r="r" b="b" t="t" l="l"/>
                <a:pathLst>
                  <a:path h="2283924" w="5643871">
                    <a:moveTo>
                      <a:pt x="40919" y="0"/>
                    </a:moveTo>
                    <a:lnTo>
                      <a:pt x="5602951" y="0"/>
                    </a:lnTo>
                    <a:cubicBezTo>
                      <a:pt x="5625551" y="0"/>
                      <a:pt x="5643871" y="18320"/>
                      <a:pt x="5643871" y="40919"/>
                    </a:cubicBezTo>
                    <a:lnTo>
                      <a:pt x="5643871" y="2243005"/>
                    </a:lnTo>
                    <a:cubicBezTo>
                      <a:pt x="5643871" y="2265604"/>
                      <a:pt x="5625551" y="2283924"/>
                      <a:pt x="5602951" y="2283924"/>
                    </a:cubicBezTo>
                    <a:lnTo>
                      <a:pt x="40919" y="2283924"/>
                    </a:lnTo>
                    <a:cubicBezTo>
                      <a:pt x="18320" y="2283924"/>
                      <a:pt x="0" y="2265604"/>
                      <a:pt x="0" y="2243005"/>
                    </a:cubicBezTo>
                    <a:lnTo>
                      <a:pt x="0" y="40919"/>
                    </a:lnTo>
                    <a:cubicBezTo>
                      <a:pt x="0" y="18320"/>
                      <a:pt x="18320" y="0"/>
                      <a:pt x="40919" y="0"/>
                    </a:cubicBezTo>
                    <a:close/>
                  </a:path>
                </a:pathLst>
              </a:custGeom>
              <a:solidFill>
                <a:srgbClr val="E8ECEC"/>
              </a:solidFill>
            </p:spPr>
          </p:sp>
          <p:sp>
            <p:nvSpPr>
              <p:cNvPr name="TextBox 14" id="14"/>
              <p:cNvSpPr txBox="true"/>
              <p:nvPr/>
            </p:nvSpPr>
            <p:spPr>
              <a:xfrm>
                <a:off x="0" y="-38100"/>
                <a:ext cx="5643871" cy="2322024"/>
              </a:xfrm>
              <a:prstGeom prst="rect">
                <a:avLst/>
              </a:prstGeom>
            </p:spPr>
            <p:txBody>
              <a:bodyPr anchor="ctr" rtlCol="false" tIns="22874" lIns="22874" bIns="22874" rIns="22874"/>
              <a:lstStyle/>
              <a:p>
                <a:pPr algn="just">
                  <a:lnSpc>
                    <a:spcPts val="2660"/>
                  </a:lnSpc>
                </a:pPr>
              </a:p>
            </p:txBody>
          </p:sp>
        </p:grpSp>
        <p:sp>
          <p:nvSpPr>
            <p:cNvPr name="TextBox 15" id="15"/>
            <p:cNvSpPr txBox="true"/>
            <p:nvPr/>
          </p:nvSpPr>
          <p:spPr>
            <a:xfrm rot="0">
              <a:off x="582564" y="345848"/>
              <a:ext cx="8156582" cy="3267922"/>
            </a:xfrm>
            <a:prstGeom prst="rect">
              <a:avLst/>
            </a:prstGeom>
          </p:spPr>
          <p:txBody>
            <a:bodyPr anchor="t" rtlCol="false" tIns="0" lIns="0" bIns="0" rIns="0">
              <a:spAutoFit/>
            </a:bodyPr>
            <a:lstStyle/>
            <a:p>
              <a:pPr algn="just">
                <a:lnSpc>
                  <a:spcPts val="4960"/>
                </a:lnSpc>
              </a:pPr>
              <a:r>
                <a:rPr lang="en-US" sz="3200">
                  <a:solidFill>
                    <a:srgbClr val="000000"/>
                  </a:solidFill>
                  <a:latin typeface="Garet"/>
                  <a:ea typeface="Garet"/>
                  <a:cs typeface="Garet"/>
                  <a:sym typeface="Garet"/>
                </a:rPr>
                <a:t>Quy tắc gọi: một suspending function chỉ có thể được gọi từ một suspending function khác hoặc từ một Coroutine.</a:t>
              </a:r>
            </a:p>
          </p:txBody>
        </p:sp>
      </p:grpSp>
      <p:sp>
        <p:nvSpPr>
          <p:cNvPr name="Freeform 16" id="16"/>
          <p:cNvSpPr/>
          <p:nvPr/>
        </p:nvSpPr>
        <p:spPr>
          <a:xfrm flipH="false" flipV="false" rot="0">
            <a:off x="7485275" y="2803065"/>
            <a:ext cx="9950126" cy="5903460"/>
          </a:xfrm>
          <a:custGeom>
            <a:avLst/>
            <a:gdLst/>
            <a:ahLst/>
            <a:cxnLst/>
            <a:rect r="r" b="b" t="t" l="l"/>
            <a:pathLst>
              <a:path h="5903460" w="9950126">
                <a:moveTo>
                  <a:pt x="0" y="0"/>
                </a:moveTo>
                <a:lnTo>
                  <a:pt x="9950126" y="0"/>
                </a:lnTo>
                <a:lnTo>
                  <a:pt x="9950126" y="5903460"/>
                </a:lnTo>
                <a:lnTo>
                  <a:pt x="0" y="5903460"/>
                </a:lnTo>
                <a:lnTo>
                  <a:pt x="0" y="0"/>
                </a:lnTo>
                <a:close/>
              </a:path>
            </a:pathLst>
          </a:custGeom>
          <a:blipFill>
            <a:blip r:embed="rId2"/>
            <a:stretch>
              <a:fillRect l="-2596" t="-5096" r="-2596" b="-4829"/>
            </a:stretch>
          </a:blipFill>
        </p:spPr>
      </p:sp>
      <p:sp>
        <p:nvSpPr>
          <p:cNvPr name="TextBox 17" id="17"/>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6</a:t>
            </a:r>
          </a:p>
        </p:txBody>
      </p:sp>
      <p:sp>
        <p:nvSpPr>
          <p:cNvPr name="TextBox 18" id="18"/>
          <p:cNvSpPr txBox="true"/>
          <p:nvPr/>
        </p:nvSpPr>
        <p:spPr>
          <a:xfrm rot="0">
            <a:off x="4542435" y="1026574"/>
            <a:ext cx="9203130" cy="1094740"/>
          </a:xfrm>
          <a:prstGeom prst="rect">
            <a:avLst/>
          </a:prstGeom>
        </p:spPr>
        <p:txBody>
          <a:bodyPr anchor="t" rtlCol="false" tIns="0" lIns="0" bIns="0" rIns="0">
            <a:spAutoFit/>
          </a:bodyPr>
          <a:lstStyle/>
          <a:p>
            <a:pPr algn="l">
              <a:lnSpc>
                <a:spcPts val="8959"/>
              </a:lnSpc>
              <a:spcBef>
                <a:spcPct val="0"/>
              </a:spcBef>
            </a:pPr>
            <a:r>
              <a:rPr lang="en-US" b="true" sz="6399">
                <a:solidFill>
                  <a:srgbClr val="000000"/>
                </a:solidFill>
                <a:latin typeface="Montserrat Bold"/>
                <a:ea typeface="Montserrat Bold"/>
                <a:cs typeface="Montserrat Bold"/>
                <a:sym typeface="Montserrat Bold"/>
              </a:rPr>
              <a:t>Suspending function</a:t>
            </a:r>
          </a:p>
        </p:txBody>
      </p:sp>
      <p:sp>
        <p:nvSpPr>
          <p:cNvPr name="TextBox 19" id="19"/>
          <p:cNvSpPr txBox="true"/>
          <p:nvPr/>
        </p:nvSpPr>
        <p:spPr>
          <a:xfrm rot="0">
            <a:off x="9530966" y="8935085"/>
            <a:ext cx="5271850"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5: Ví dụ về chuỗi gọi suspending function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809306" y="3491550"/>
            <a:ext cx="8334694" cy="4651160"/>
            <a:chOff x="0" y="0"/>
            <a:chExt cx="11112925" cy="6201546"/>
          </a:xfrm>
        </p:grpSpPr>
        <p:grpSp>
          <p:nvGrpSpPr>
            <p:cNvPr name="Group 12" id="12"/>
            <p:cNvGrpSpPr/>
            <p:nvPr/>
          </p:nvGrpSpPr>
          <p:grpSpPr>
            <a:xfrm rot="0">
              <a:off x="0" y="0"/>
              <a:ext cx="11112925" cy="6201546"/>
              <a:chOff x="0" y="0"/>
              <a:chExt cx="7747759" cy="4323622"/>
            </a:xfrm>
          </p:grpSpPr>
          <p:sp>
            <p:nvSpPr>
              <p:cNvPr name="Freeform 13" id="13"/>
              <p:cNvSpPr/>
              <p:nvPr/>
            </p:nvSpPr>
            <p:spPr>
              <a:xfrm flipH="false" flipV="false" rot="0">
                <a:off x="0" y="0"/>
                <a:ext cx="7747760" cy="4323622"/>
              </a:xfrm>
              <a:custGeom>
                <a:avLst/>
                <a:gdLst/>
                <a:ahLst/>
                <a:cxnLst/>
                <a:rect r="r" b="b" t="t" l="l"/>
                <a:pathLst>
                  <a:path h="4323622" w="7747760">
                    <a:moveTo>
                      <a:pt x="13422" y="0"/>
                    </a:moveTo>
                    <a:lnTo>
                      <a:pt x="7734338" y="0"/>
                    </a:lnTo>
                    <a:cubicBezTo>
                      <a:pt x="7741751" y="0"/>
                      <a:pt x="7747760" y="6009"/>
                      <a:pt x="7747760" y="13422"/>
                    </a:cubicBezTo>
                    <a:lnTo>
                      <a:pt x="7747760" y="4310200"/>
                    </a:lnTo>
                    <a:cubicBezTo>
                      <a:pt x="7747760" y="4317612"/>
                      <a:pt x="7741751" y="4323622"/>
                      <a:pt x="7734338" y="4323622"/>
                    </a:cubicBezTo>
                    <a:lnTo>
                      <a:pt x="13422" y="4323622"/>
                    </a:lnTo>
                    <a:cubicBezTo>
                      <a:pt x="6009" y="4323622"/>
                      <a:pt x="0" y="4317612"/>
                      <a:pt x="0" y="4310200"/>
                    </a:cubicBezTo>
                    <a:lnTo>
                      <a:pt x="0" y="13422"/>
                    </a:lnTo>
                    <a:cubicBezTo>
                      <a:pt x="0" y="6009"/>
                      <a:pt x="6009" y="0"/>
                      <a:pt x="13422" y="0"/>
                    </a:cubicBezTo>
                    <a:close/>
                  </a:path>
                </a:pathLst>
              </a:custGeom>
              <a:solidFill>
                <a:srgbClr val="E8ECEC"/>
              </a:solidFill>
            </p:spPr>
          </p:sp>
          <p:sp>
            <p:nvSpPr>
              <p:cNvPr name="TextBox 14" id="14"/>
              <p:cNvSpPr txBox="true"/>
              <p:nvPr/>
            </p:nvSpPr>
            <p:spPr>
              <a:xfrm>
                <a:off x="0" y="-38100"/>
                <a:ext cx="7747759" cy="436172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294140" y="-105197"/>
              <a:ext cx="10404710" cy="61377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K</a:t>
              </a:r>
              <a:r>
                <a:rPr lang="en-US" sz="3196">
                  <a:solidFill>
                    <a:srgbClr val="000000"/>
                  </a:solidFill>
                  <a:latin typeface="Garet"/>
                  <a:ea typeface="Garet"/>
                  <a:cs typeface="Garet"/>
                  <a:sym typeface="Garet"/>
                </a:rPr>
                <a:t>hi ứng dụng chạy nhiều Coroutines, việc quản lý vòng đời và xử lý lỗi của chúng trở nên phức tạp. Kotlin Coroutines giải quyết điều này bằng cách áp dụng nguyên tắc Structured Concurrency.</a:t>
              </a:r>
            </a:p>
          </p:txBody>
        </p:sp>
      </p:grpSp>
      <p:sp>
        <p:nvSpPr>
          <p:cNvPr name="Freeform 16" id="16"/>
          <p:cNvSpPr/>
          <p:nvPr/>
        </p:nvSpPr>
        <p:spPr>
          <a:xfrm flipH="false" flipV="false" rot="0">
            <a:off x="9577041" y="3562829"/>
            <a:ext cx="8069086" cy="4508602"/>
          </a:xfrm>
          <a:custGeom>
            <a:avLst/>
            <a:gdLst/>
            <a:ahLst/>
            <a:cxnLst/>
            <a:rect r="r" b="b" t="t" l="l"/>
            <a:pathLst>
              <a:path h="4508602" w="8069086">
                <a:moveTo>
                  <a:pt x="0" y="0"/>
                </a:moveTo>
                <a:lnTo>
                  <a:pt x="8069086" y="0"/>
                </a:lnTo>
                <a:lnTo>
                  <a:pt x="8069086" y="4508602"/>
                </a:lnTo>
                <a:lnTo>
                  <a:pt x="0" y="4508602"/>
                </a:lnTo>
                <a:lnTo>
                  <a:pt x="0" y="0"/>
                </a:lnTo>
                <a:close/>
              </a:path>
            </a:pathLst>
          </a:custGeom>
          <a:blipFill>
            <a:blip r:embed="rId2"/>
            <a:stretch>
              <a:fillRect l="0" t="0" r="0" b="0"/>
            </a:stretch>
          </a:blipFill>
        </p:spPr>
      </p:sp>
      <p:sp>
        <p:nvSpPr>
          <p:cNvPr name="TextBox 17" id="17"/>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7</a:t>
            </a:r>
          </a:p>
        </p:txBody>
      </p:sp>
      <p:sp>
        <p:nvSpPr>
          <p:cNvPr name="TextBox 18" id="18"/>
          <p:cNvSpPr txBox="true"/>
          <p:nvPr/>
        </p:nvSpPr>
        <p:spPr>
          <a:xfrm rot="0">
            <a:off x="2299743" y="841913"/>
            <a:ext cx="13688515" cy="2228215"/>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scope and structured concurrency</a:t>
            </a:r>
          </a:p>
        </p:txBody>
      </p:sp>
      <p:sp>
        <p:nvSpPr>
          <p:cNvPr name="TextBox 19" id="19"/>
          <p:cNvSpPr txBox="true"/>
          <p:nvPr/>
        </p:nvSpPr>
        <p:spPr>
          <a:xfrm rot="0">
            <a:off x="11966317" y="8104610"/>
            <a:ext cx="364962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6: Structured concurrency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028700" y="3487845"/>
            <a:ext cx="15854699" cy="5441735"/>
            <a:chOff x="0" y="0"/>
            <a:chExt cx="21139599" cy="7255646"/>
          </a:xfrm>
        </p:grpSpPr>
        <p:grpSp>
          <p:nvGrpSpPr>
            <p:cNvPr name="Group 12" id="12"/>
            <p:cNvGrpSpPr/>
            <p:nvPr/>
          </p:nvGrpSpPr>
          <p:grpSpPr>
            <a:xfrm rot="0">
              <a:off x="0" y="0"/>
              <a:ext cx="21139599" cy="7255646"/>
              <a:chOff x="0" y="0"/>
              <a:chExt cx="14738201" cy="5058524"/>
            </a:xfrm>
          </p:grpSpPr>
          <p:sp>
            <p:nvSpPr>
              <p:cNvPr name="Freeform 13" id="13"/>
              <p:cNvSpPr/>
              <p:nvPr/>
            </p:nvSpPr>
            <p:spPr>
              <a:xfrm flipH="false" flipV="false" rot="0">
                <a:off x="0" y="0"/>
                <a:ext cx="14738201" cy="5058524"/>
              </a:xfrm>
              <a:custGeom>
                <a:avLst/>
                <a:gdLst/>
                <a:ahLst/>
                <a:cxnLst/>
                <a:rect r="r" b="b" t="t" l="l"/>
                <a:pathLst>
                  <a:path h="5058524" w="14738201">
                    <a:moveTo>
                      <a:pt x="7056" y="0"/>
                    </a:moveTo>
                    <a:lnTo>
                      <a:pt x="14731146" y="0"/>
                    </a:lnTo>
                    <a:cubicBezTo>
                      <a:pt x="14733017" y="0"/>
                      <a:pt x="14734811" y="743"/>
                      <a:pt x="14736135" y="2067"/>
                    </a:cubicBezTo>
                    <a:cubicBezTo>
                      <a:pt x="14737459" y="3390"/>
                      <a:pt x="14738201" y="5185"/>
                      <a:pt x="14738201" y="7056"/>
                    </a:cubicBezTo>
                    <a:lnTo>
                      <a:pt x="14738201" y="5051468"/>
                    </a:lnTo>
                    <a:cubicBezTo>
                      <a:pt x="14738201" y="5053340"/>
                      <a:pt x="14737459" y="5055134"/>
                      <a:pt x="14736135" y="5056458"/>
                    </a:cubicBezTo>
                    <a:cubicBezTo>
                      <a:pt x="14734811" y="5057781"/>
                      <a:pt x="14733017" y="5058524"/>
                      <a:pt x="14731146" y="5058524"/>
                    </a:cubicBezTo>
                    <a:lnTo>
                      <a:pt x="7056" y="5058524"/>
                    </a:lnTo>
                    <a:cubicBezTo>
                      <a:pt x="5185" y="5058524"/>
                      <a:pt x="3390" y="5057781"/>
                      <a:pt x="2067" y="5056458"/>
                    </a:cubicBezTo>
                    <a:cubicBezTo>
                      <a:pt x="743" y="5055134"/>
                      <a:pt x="0" y="5053340"/>
                      <a:pt x="0" y="5051468"/>
                    </a:cubicBezTo>
                    <a:lnTo>
                      <a:pt x="0" y="7056"/>
                    </a:lnTo>
                    <a:cubicBezTo>
                      <a:pt x="0" y="5185"/>
                      <a:pt x="743" y="3390"/>
                      <a:pt x="2067" y="2067"/>
                    </a:cubicBezTo>
                    <a:cubicBezTo>
                      <a:pt x="3390" y="743"/>
                      <a:pt x="5185" y="0"/>
                      <a:pt x="7056" y="0"/>
                    </a:cubicBezTo>
                    <a:close/>
                  </a:path>
                </a:pathLst>
              </a:custGeom>
              <a:solidFill>
                <a:srgbClr val="E8ECEC"/>
              </a:solidFill>
            </p:spPr>
          </p:sp>
          <p:sp>
            <p:nvSpPr>
              <p:cNvPr name="TextBox 14" id="14"/>
              <p:cNvSpPr txBox="true"/>
              <p:nvPr/>
            </p:nvSpPr>
            <p:spPr>
              <a:xfrm>
                <a:off x="0" y="-38100"/>
                <a:ext cx="14738201" cy="5096624"/>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561307" y="-105197"/>
              <a:ext cx="19855289" cy="71918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Cấu</a:t>
              </a:r>
              <a:r>
                <a:rPr lang="en-US" sz="3196">
                  <a:solidFill>
                    <a:srgbClr val="000000"/>
                  </a:solidFill>
                  <a:latin typeface="Garet"/>
                  <a:ea typeface="Garet"/>
                  <a:cs typeface="Garet"/>
                  <a:sym typeface="Garet"/>
                </a:rPr>
                <a:t> trúc cây: Coroutines được tổ chức thành cấu trúc cha-con.</a:t>
              </a:r>
            </a:p>
            <a:p>
              <a:pPr algn="just">
                <a:lnSpc>
                  <a:spcPts val="6232"/>
                </a:lnSpc>
              </a:pPr>
              <a:r>
                <a:rPr lang="en-US" sz="3196">
                  <a:solidFill>
                    <a:srgbClr val="000000"/>
                  </a:solidFill>
                  <a:latin typeface="Garet"/>
                  <a:ea typeface="Garet"/>
                  <a:cs typeface="Garet"/>
                  <a:sym typeface="Garet"/>
                </a:rPr>
                <a:t>Liên kết Vòng đời: Vòng đời của các Coroutines này được liên kết chặt chẽ:</a:t>
              </a:r>
            </a:p>
            <a:p>
              <a:pPr algn="just" marL="690035" indent="-345018" lvl="1">
                <a:lnSpc>
                  <a:spcPts val="6232"/>
                </a:lnSpc>
                <a:buFont typeface="Arial"/>
                <a:buChar char="•"/>
              </a:pPr>
              <a:r>
                <a:rPr lang="en-US" sz="3196">
                  <a:solidFill>
                    <a:srgbClr val="000000"/>
                  </a:solidFill>
                  <a:latin typeface="Garet"/>
                  <a:ea typeface="Garet"/>
                  <a:cs typeface="Garet"/>
                  <a:sym typeface="Garet"/>
                </a:rPr>
                <a:t>Một Coroutine cha sẽ chờ tất cả Coroutine con hoàn thành trước khi kết thúc.</a:t>
              </a:r>
            </a:p>
            <a:p>
              <a:pPr algn="just" marL="690035" indent="-345018" lvl="1">
                <a:lnSpc>
                  <a:spcPts val="6232"/>
                </a:lnSpc>
                <a:buFont typeface="Arial"/>
                <a:buChar char="•"/>
              </a:pPr>
              <a:r>
                <a:rPr lang="en-US" sz="3196">
                  <a:solidFill>
                    <a:srgbClr val="000000"/>
                  </a:solidFill>
                  <a:latin typeface="Garet"/>
                  <a:ea typeface="Garet"/>
                  <a:cs typeface="Garet"/>
                  <a:sym typeface="Garet"/>
                </a:rPr>
                <a:t>Nếu Coroutine cha bị hủy hoặc gặp lỗi, toàn bộ Coroutine con của nó cũng sẽ bị hủy theo.</a:t>
              </a:r>
            </a:p>
          </p:txBody>
        </p:sp>
      </p:grpSp>
      <p:sp>
        <p:nvSpPr>
          <p:cNvPr name="TextBox 16" id="16"/>
          <p:cNvSpPr txBox="true"/>
          <p:nvPr/>
        </p:nvSpPr>
        <p:spPr>
          <a:xfrm rot="0">
            <a:off x="17693752" y="9558437"/>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8</a:t>
            </a:r>
          </a:p>
        </p:txBody>
      </p:sp>
      <p:sp>
        <p:nvSpPr>
          <p:cNvPr name="TextBox 17" id="17"/>
          <p:cNvSpPr txBox="true"/>
          <p:nvPr/>
        </p:nvSpPr>
        <p:spPr>
          <a:xfrm rot="0">
            <a:off x="2519137" y="1026574"/>
            <a:ext cx="13688515" cy="2228215"/>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scope and structured concurrency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3048903" y="2306443"/>
            <a:ext cx="12658720" cy="7337719"/>
          </a:xfrm>
          <a:custGeom>
            <a:avLst/>
            <a:gdLst/>
            <a:ahLst/>
            <a:cxnLst/>
            <a:rect r="r" b="b" t="t" l="l"/>
            <a:pathLst>
              <a:path h="7337719" w="12658720">
                <a:moveTo>
                  <a:pt x="0" y="0"/>
                </a:moveTo>
                <a:lnTo>
                  <a:pt x="12658720" y="0"/>
                </a:lnTo>
                <a:lnTo>
                  <a:pt x="12658720" y="7337719"/>
                </a:lnTo>
                <a:lnTo>
                  <a:pt x="0" y="7337719"/>
                </a:lnTo>
                <a:lnTo>
                  <a:pt x="0" y="0"/>
                </a:lnTo>
                <a:close/>
              </a:path>
            </a:pathLst>
          </a:custGeom>
          <a:blipFill>
            <a:blip r:embed="rId2"/>
            <a:stretch>
              <a:fillRect l="-2411" t="-5017" r="-1593" b="-5105"/>
            </a:stretch>
          </a:blipFill>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9</a:t>
            </a:r>
          </a:p>
        </p:txBody>
      </p:sp>
      <p:sp>
        <p:nvSpPr>
          <p:cNvPr name="TextBox 13" id="13"/>
          <p:cNvSpPr txBox="true"/>
          <p:nvPr/>
        </p:nvSpPr>
        <p:spPr>
          <a:xfrm rot="0">
            <a:off x="2580377" y="174039"/>
            <a:ext cx="13127246" cy="2132404"/>
          </a:xfrm>
          <a:prstGeom prst="rect">
            <a:avLst/>
          </a:prstGeom>
        </p:spPr>
        <p:txBody>
          <a:bodyPr anchor="t" rtlCol="false" tIns="0" lIns="0" bIns="0" rIns="0">
            <a:spAutoFit/>
          </a:bodyPr>
          <a:lstStyle/>
          <a:p>
            <a:pPr algn="ctr">
              <a:lnSpc>
                <a:spcPts val="8592"/>
              </a:lnSpc>
              <a:spcBef>
                <a:spcPct val="0"/>
              </a:spcBef>
            </a:pPr>
            <a:r>
              <a:rPr lang="en-US" b="true" sz="6137">
                <a:solidFill>
                  <a:srgbClr val="000000"/>
                </a:solidFill>
                <a:latin typeface="Montserrat Bold"/>
                <a:ea typeface="Montserrat Bold"/>
                <a:cs typeface="Montserrat Bold"/>
                <a:sym typeface="Montserrat Bold"/>
              </a:rPr>
              <a:t>Coroutine scope and structured concurrency</a:t>
            </a:r>
          </a:p>
        </p:txBody>
      </p:sp>
      <p:sp>
        <p:nvSpPr>
          <p:cNvPr name="TextBox 14" id="14"/>
          <p:cNvSpPr txBox="true"/>
          <p:nvPr/>
        </p:nvSpPr>
        <p:spPr>
          <a:xfrm rot="0">
            <a:off x="7022258" y="9793387"/>
            <a:ext cx="3781544"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7: Ví dụ về Coroutine scope </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10</a:t>
            </a:r>
          </a:p>
        </p:txBody>
      </p:sp>
      <p:sp>
        <p:nvSpPr>
          <p:cNvPr name="TextBox 12" id="12"/>
          <p:cNvSpPr txBox="true"/>
          <p:nvPr/>
        </p:nvSpPr>
        <p:spPr>
          <a:xfrm rot="0">
            <a:off x="2143354"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builder function</a:t>
            </a:r>
          </a:p>
        </p:txBody>
      </p:sp>
      <p:grpSp>
        <p:nvGrpSpPr>
          <p:cNvPr name="Group 13" id="13"/>
          <p:cNvGrpSpPr/>
          <p:nvPr/>
        </p:nvGrpSpPr>
        <p:grpSpPr>
          <a:xfrm rot="0">
            <a:off x="1404601" y="2947836"/>
            <a:ext cx="15854699" cy="5441735"/>
            <a:chOff x="0" y="0"/>
            <a:chExt cx="21139599" cy="7255646"/>
          </a:xfrm>
        </p:grpSpPr>
        <p:grpSp>
          <p:nvGrpSpPr>
            <p:cNvPr name="Group 14" id="14"/>
            <p:cNvGrpSpPr/>
            <p:nvPr/>
          </p:nvGrpSpPr>
          <p:grpSpPr>
            <a:xfrm rot="0">
              <a:off x="0" y="0"/>
              <a:ext cx="21139599" cy="7255646"/>
              <a:chOff x="0" y="0"/>
              <a:chExt cx="14738201" cy="5058524"/>
            </a:xfrm>
          </p:grpSpPr>
          <p:sp>
            <p:nvSpPr>
              <p:cNvPr name="Freeform 15" id="15"/>
              <p:cNvSpPr/>
              <p:nvPr/>
            </p:nvSpPr>
            <p:spPr>
              <a:xfrm flipH="false" flipV="false" rot="0">
                <a:off x="0" y="0"/>
                <a:ext cx="14738201" cy="5058524"/>
              </a:xfrm>
              <a:custGeom>
                <a:avLst/>
                <a:gdLst/>
                <a:ahLst/>
                <a:cxnLst/>
                <a:rect r="r" b="b" t="t" l="l"/>
                <a:pathLst>
                  <a:path h="5058524" w="14738201">
                    <a:moveTo>
                      <a:pt x="7056" y="0"/>
                    </a:moveTo>
                    <a:lnTo>
                      <a:pt x="14731146" y="0"/>
                    </a:lnTo>
                    <a:cubicBezTo>
                      <a:pt x="14733017" y="0"/>
                      <a:pt x="14734811" y="743"/>
                      <a:pt x="14736135" y="2067"/>
                    </a:cubicBezTo>
                    <a:cubicBezTo>
                      <a:pt x="14737459" y="3390"/>
                      <a:pt x="14738201" y="5185"/>
                      <a:pt x="14738201" y="7056"/>
                    </a:cubicBezTo>
                    <a:lnTo>
                      <a:pt x="14738201" y="5051468"/>
                    </a:lnTo>
                    <a:cubicBezTo>
                      <a:pt x="14738201" y="5053340"/>
                      <a:pt x="14737459" y="5055134"/>
                      <a:pt x="14736135" y="5056458"/>
                    </a:cubicBezTo>
                    <a:cubicBezTo>
                      <a:pt x="14734811" y="5057781"/>
                      <a:pt x="14733017" y="5058524"/>
                      <a:pt x="14731146" y="5058524"/>
                    </a:cubicBezTo>
                    <a:lnTo>
                      <a:pt x="7056" y="5058524"/>
                    </a:lnTo>
                    <a:cubicBezTo>
                      <a:pt x="5185" y="5058524"/>
                      <a:pt x="3390" y="5057781"/>
                      <a:pt x="2067" y="5056458"/>
                    </a:cubicBezTo>
                    <a:cubicBezTo>
                      <a:pt x="743" y="5055134"/>
                      <a:pt x="0" y="5053340"/>
                      <a:pt x="0" y="5051468"/>
                    </a:cubicBezTo>
                    <a:lnTo>
                      <a:pt x="0" y="7056"/>
                    </a:lnTo>
                    <a:cubicBezTo>
                      <a:pt x="0" y="5185"/>
                      <a:pt x="743" y="3390"/>
                      <a:pt x="2067" y="2067"/>
                    </a:cubicBezTo>
                    <a:cubicBezTo>
                      <a:pt x="3390" y="743"/>
                      <a:pt x="5185" y="0"/>
                      <a:pt x="7056" y="0"/>
                    </a:cubicBezTo>
                    <a:close/>
                  </a:path>
                </a:pathLst>
              </a:custGeom>
              <a:solidFill>
                <a:srgbClr val="E8ECEC"/>
              </a:solidFill>
            </p:spPr>
          </p:sp>
          <p:sp>
            <p:nvSpPr>
              <p:cNvPr name="TextBox 16" id="16"/>
              <p:cNvSpPr txBox="true"/>
              <p:nvPr/>
            </p:nvSpPr>
            <p:spPr>
              <a:xfrm>
                <a:off x="0" y="-38100"/>
                <a:ext cx="14738201" cy="5096624"/>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642155" y="63774"/>
              <a:ext cx="19855289" cy="71918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C</a:t>
              </a:r>
              <a:r>
                <a:rPr lang="en-US" sz="3196">
                  <a:solidFill>
                    <a:srgbClr val="000000"/>
                  </a:solidFill>
                  <a:latin typeface="Garet"/>
                  <a:ea typeface="Garet"/>
                  <a:cs typeface="Garet"/>
                  <a:sym typeface="Garet"/>
                </a:rPr>
                <a:t>oroutine builder function là các hàm nhận vào một suspend lambda để định nghĩa một coroutine cần chạy. Các builder này luôn cần một CoroutineScope để hoạt động.</a:t>
              </a:r>
            </a:p>
            <a:p>
              <a:pPr algn="just">
                <a:lnSpc>
                  <a:spcPts val="6232"/>
                </a:lnSpc>
              </a:pPr>
              <a:r>
                <a:rPr lang="en-US" sz="3196">
                  <a:solidFill>
                    <a:srgbClr val="000000"/>
                  </a:solidFill>
                  <a:latin typeface="Garet"/>
                  <a:ea typeface="Garet"/>
                  <a:cs typeface="Garet"/>
                  <a:sym typeface="Garet"/>
                </a:rPr>
                <a:t>Một số coroutine builder phổ biến gồm:</a:t>
              </a:r>
            </a:p>
            <a:p>
              <a:pPr algn="just" marL="690035" indent="-345018" lvl="1">
                <a:lnSpc>
                  <a:spcPts val="6232"/>
                </a:lnSpc>
                <a:buFont typeface="Arial"/>
                <a:buChar char="•"/>
              </a:pPr>
              <a:r>
                <a:rPr lang="en-US" sz="3196">
                  <a:solidFill>
                    <a:srgbClr val="211E1E"/>
                  </a:solidFill>
                  <a:latin typeface="Garet"/>
                  <a:ea typeface="Garet"/>
                  <a:cs typeface="Garet"/>
                  <a:sym typeface="Garet"/>
                </a:rPr>
                <a:t>CoroutineScope.launch()</a:t>
              </a:r>
            </a:p>
            <a:p>
              <a:pPr algn="just" marL="690035" indent="-345018" lvl="1">
                <a:lnSpc>
                  <a:spcPts val="6232"/>
                </a:lnSpc>
                <a:buFont typeface="Arial"/>
                <a:buChar char="•"/>
              </a:pPr>
              <a:r>
                <a:rPr lang="en-US" sz="3196">
                  <a:solidFill>
                    <a:srgbClr val="211E1E"/>
                  </a:solidFill>
                  <a:latin typeface="Garet"/>
                  <a:ea typeface="Garet"/>
                  <a:cs typeface="Garet"/>
                  <a:sym typeface="Garet"/>
                </a:rPr>
                <a:t>CoroutineScope.async()</a:t>
              </a:r>
            </a:p>
            <a:p>
              <a:pPr algn="just" marL="690035" indent="-345018" lvl="1">
                <a:lnSpc>
                  <a:spcPts val="6232"/>
                </a:lnSpc>
                <a:buFont typeface="Arial"/>
                <a:buChar char="•"/>
              </a:pPr>
              <a:r>
                <a:rPr lang="en-US" sz="3196">
                  <a:solidFill>
                    <a:srgbClr val="211E1E"/>
                  </a:solidFill>
                  <a:latin typeface="Garet"/>
                  <a:ea typeface="Garet"/>
                  <a:cs typeface="Garet"/>
                  <a:sym typeface="Garet"/>
                </a:rPr>
                <a:t>runBlocking()</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3023516" y="3287265"/>
            <a:ext cx="14093526" cy="6062142"/>
          </a:xfrm>
          <a:custGeom>
            <a:avLst/>
            <a:gdLst/>
            <a:ahLst/>
            <a:cxnLst/>
            <a:rect r="r" b="b" t="t" l="l"/>
            <a:pathLst>
              <a:path h="6062142" w="14093526">
                <a:moveTo>
                  <a:pt x="0" y="0"/>
                </a:moveTo>
                <a:lnTo>
                  <a:pt x="14093525" y="0"/>
                </a:lnTo>
                <a:lnTo>
                  <a:pt x="14093525" y="6062142"/>
                </a:lnTo>
                <a:lnTo>
                  <a:pt x="0" y="6062142"/>
                </a:lnTo>
                <a:lnTo>
                  <a:pt x="0" y="0"/>
                </a:lnTo>
                <a:close/>
              </a:path>
            </a:pathLst>
          </a:custGeom>
          <a:blipFill>
            <a:blip r:embed="rId4"/>
            <a:stretch>
              <a:fillRect l="-2592" t="-5983" r="-2449" b="-7267"/>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11</a:t>
            </a:r>
          </a:p>
        </p:txBody>
      </p:sp>
      <p:sp>
        <p:nvSpPr>
          <p:cNvPr name="TextBox 14" id="14"/>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builder function</a:t>
            </a:r>
          </a:p>
        </p:txBody>
      </p:sp>
      <p:sp>
        <p:nvSpPr>
          <p:cNvPr name="TextBox 15" id="15"/>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16" id="16"/>
          <p:cNvSpPr txBox="true"/>
          <p:nvPr/>
        </p:nvSpPr>
        <p:spPr>
          <a:xfrm rot="0">
            <a:off x="3023516" y="2465141"/>
            <a:ext cx="6795968"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CoroutineScope.launch()</a:t>
            </a:r>
          </a:p>
        </p:txBody>
      </p:sp>
      <p:sp>
        <p:nvSpPr>
          <p:cNvPr name="TextBox 17" id="17"/>
          <p:cNvSpPr txBox="true"/>
          <p:nvPr/>
        </p:nvSpPr>
        <p:spPr>
          <a:xfrm rot="0">
            <a:off x="7442580" y="9606062"/>
            <a:ext cx="4753808"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8: Ví dụ về CoroutineScope.launch()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21739" y="739006"/>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2022665" y="2253668"/>
            <a:ext cx="14787608" cy="7532179"/>
          </a:xfrm>
          <a:custGeom>
            <a:avLst/>
            <a:gdLst/>
            <a:ahLst/>
            <a:cxnLst/>
            <a:rect r="r" b="b" t="t" l="l"/>
            <a:pathLst>
              <a:path h="7532179" w="14787608">
                <a:moveTo>
                  <a:pt x="0" y="0"/>
                </a:moveTo>
                <a:lnTo>
                  <a:pt x="14787608" y="0"/>
                </a:lnTo>
                <a:lnTo>
                  <a:pt x="14787608" y="7532180"/>
                </a:lnTo>
                <a:lnTo>
                  <a:pt x="0" y="7532180"/>
                </a:lnTo>
                <a:lnTo>
                  <a:pt x="0" y="0"/>
                </a:lnTo>
                <a:close/>
              </a:path>
            </a:pathLst>
          </a:custGeom>
          <a:blipFill>
            <a:blip r:embed="rId4"/>
            <a:stretch>
              <a:fillRect l="-1905" t="-4815" r="-1667" b="-6005"/>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12</a:t>
            </a:r>
          </a:p>
        </p:txBody>
      </p:sp>
      <p:sp>
        <p:nvSpPr>
          <p:cNvPr name="TextBox 14" id="14"/>
          <p:cNvSpPr txBox="true"/>
          <p:nvPr/>
        </p:nvSpPr>
        <p:spPr>
          <a:xfrm rot="0">
            <a:off x="2933867"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builder function</a:t>
            </a:r>
          </a:p>
        </p:txBody>
      </p:sp>
      <p:sp>
        <p:nvSpPr>
          <p:cNvPr name="TextBox 15" id="15"/>
          <p:cNvSpPr txBox="true"/>
          <p:nvPr/>
        </p:nvSpPr>
        <p:spPr>
          <a:xfrm rot="0">
            <a:off x="2305368" y="1012218"/>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TextBox 16" id="16"/>
          <p:cNvSpPr txBox="true"/>
          <p:nvPr/>
        </p:nvSpPr>
        <p:spPr>
          <a:xfrm rot="0">
            <a:off x="4084145" y="1348007"/>
            <a:ext cx="6537841"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CoroutineScope.async()</a:t>
            </a:r>
          </a:p>
        </p:txBody>
      </p:sp>
      <p:sp>
        <p:nvSpPr>
          <p:cNvPr name="TextBox 17" id="17"/>
          <p:cNvSpPr txBox="true"/>
          <p:nvPr/>
        </p:nvSpPr>
        <p:spPr>
          <a:xfrm rot="0">
            <a:off x="6427440" y="9838155"/>
            <a:ext cx="467594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9: Ví dụ về CoroutineScope.async()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06336" y="12244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889965" y="3001144"/>
            <a:ext cx="15093593" cy="1488860"/>
            <a:chOff x="0" y="0"/>
            <a:chExt cx="20124791" cy="1985146"/>
          </a:xfrm>
        </p:grpSpPr>
        <p:grpSp>
          <p:nvGrpSpPr>
            <p:cNvPr name="Group 13" id="13"/>
            <p:cNvGrpSpPr/>
            <p:nvPr/>
          </p:nvGrpSpPr>
          <p:grpSpPr>
            <a:xfrm rot="0">
              <a:off x="0" y="0"/>
              <a:ext cx="20124791" cy="1985146"/>
              <a:chOff x="0" y="0"/>
              <a:chExt cx="14030693" cy="1384013"/>
            </a:xfrm>
          </p:grpSpPr>
          <p:sp>
            <p:nvSpPr>
              <p:cNvPr name="Freeform 14" id="14"/>
              <p:cNvSpPr/>
              <p:nvPr/>
            </p:nvSpPr>
            <p:spPr>
              <a:xfrm flipH="false" flipV="false" rot="0">
                <a:off x="0" y="0"/>
                <a:ext cx="14030692" cy="1384013"/>
              </a:xfrm>
              <a:custGeom>
                <a:avLst/>
                <a:gdLst/>
                <a:ahLst/>
                <a:cxnLst/>
                <a:rect r="r" b="b" t="t" l="l"/>
                <a:pathLst>
                  <a:path h="1384013" w="14030692">
                    <a:moveTo>
                      <a:pt x="7412" y="0"/>
                    </a:moveTo>
                    <a:lnTo>
                      <a:pt x="14023280" y="0"/>
                    </a:lnTo>
                    <a:cubicBezTo>
                      <a:pt x="14027375" y="0"/>
                      <a:pt x="14030692" y="3318"/>
                      <a:pt x="14030692" y="7412"/>
                    </a:cubicBezTo>
                    <a:lnTo>
                      <a:pt x="14030692" y="1376601"/>
                    </a:lnTo>
                    <a:cubicBezTo>
                      <a:pt x="14030692" y="1378567"/>
                      <a:pt x="14029911" y="1380452"/>
                      <a:pt x="14028522" y="1381842"/>
                    </a:cubicBezTo>
                    <a:cubicBezTo>
                      <a:pt x="14027131" y="1383232"/>
                      <a:pt x="14025246" y="1384013"/>
                      <a:pt x="14023280" y="1384013"/>
                    </a:cubicBezTo>
                    <a:lnTo>
                      <a:pt x="7412" y="1384013"/>
                    </a:lnTo>
                    <a:cubicBezTo>
                      <a:pt x="5446" y="1384013"/>
                      <a:pt x="3561" y="1383232"/>
                      <a:pt x="2171" y="1381842"/>
                    </a:cubicBezTo>
                    <a:cubicBezTo>
                      <a:pt x="781" y="1380452"/>
                      <a:pt x="0" y="1378567"/>
                      <a:pt x="0" y="1376601"/>
                    </a:cubicBezTo>
                    <a:lnTo>
                      <a:pt x="0" y="7412"/>
                    </a:lnTo>
                    <a:cubicBezTo>
                      <a:pt x="0" y="3318"/>
                      <a:pt x="3318" y="0"/>
                      <a:pt x="7412" y="0"/>
                    </a:cubicBezTo>
                    <a:close/>
                  </a:path>
                </a:pathLst>
              </a:custGeom>
              <a:solidFill>
                <a:srgbClr val="E8ECEC"/>
              </a:solidFill>
            </p:spPr>
          </p:sp>
          <p:sp>
            <p:nvSpPr>
              <p:cNvPr name="TextBox 15" id="15"/>
              <p:cNvSpPr txBox="true"/>
              <p:nvPr/>
            </p:nvSpPr>
            <p:spPr>
              <a:xfrm>
                <a:off x="0" y="-38100"/>
                <a:ext cx="14030693" cy="14221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0411" y="63774"/>
              <a:ext cx="19301261" cy="19213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Để chỉ định dispatcher rõ ràng, bạn có thể truyền nó trực tiếp vào coroutine builder</a:t>
              </a:r>
            </a:p>
          </p:txBody>
        </p:sp>
      </p:grpSp>
      <p:sp>
        <p:nvSpPr>
          <p:cNvPr name="Freeform 17" id="17"/>
          <p:cNvSpPr/>
          <p:nvPr/>
        </p:nvSpPr>
        <p:spPr>
          <a:xfrm flipH="false" flipV="false" rot="0">
            <a:off x="1889965" y="4842429"/>
            <a:ext cx="15181532" cy="4559907"/>
          </a:xfrm>
          <a:custGeom>
            <a:avLst/>
            <a:gdLst/>
            <a:ahLst/>
            <a:cxnLst/>
            <a:rect r="r" b="b" t="t" l="l"/>
            <a:pathLst>
              <a:path h="4559907" w="15181532">
                <a:moveTo>
                  <a:pt x="0" y="0"/>
                </a:moveTo>
                <a:lnTo>
                  <a:pt x="15181531" y="0"/>
                </a:lnTo>
                <a:lnTo>
                  <a:pt x="15181531" y="4559907"/>
                </a:lnTo>
                <a:lnTo>
                  <a:pt x="0" y="4559907"/>
                </a:lnTo>
                <a:lnTo>
                  <a:pt x="0" y="0"/>
                </a:lnTo>
                <a:close/>
              </a:path>
            </a:pathLst>
          </a:custGeom>
          <a:blipFill>
            <a:blip r:embed="rId4"/>
            <a:stretch>
              <a:fillRect l="-2551" t="-10226" r="-2356" b="-8963"/>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13</a:t>
            </a:r>
          </a:p>
        </p:txBody>
      </p:sp>
      <p:sp>
        <p:nvSpPr>
          <p:cNvPr name="TextBox 19" id="19"/>
          <p:cNvSpPr txBox="true"/>
          <p:nvPr/>
        </p:nvSpPr>
        <p:spPr>
          <a:xfrm rot="0">
            <a:off x="2029180"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dispatchers</a:t>
            </a:r>
          </a:p>
        </p:txBody>
      </p:sp>
      <p:sp>
        <p:nvSpPr>
          <p:cNvPr name="TextBox 20" id="20"/>
          <p:cNvSpPr txBox="true"/>
          <p:nvPr/>
        </p:nvSpPr>
        <p:spPr>
          <a:xfrm rot="0">
            <a:off x="1889965"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1" id="21"/>
          <p:cNvSpPr txBox="true"/>
          <p:nvPr/>
        </p:nvSpPr>
        <p:spPr>
          <a:xfrm rot="0">
            <a:off x="3608389" y="1568291"/>
            <a:ext cx="9181743"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Chỉ định Dispatcher cho Coroutine</a:t>
            </a:r>
          </a:p>
        </p:txBody>
      </p:sp>
      <p:sp>
        <p:nvSpPr>
          <p:cNvPr name="TextBox 22" id="22"/>
          <p:cNvSpPr txBox="true"/>
          <p:nvPr/>
        </p:nvSpPr>
        <p:spPr>
          <a:xfrm rot="0">
            <a:off x="6987586" y="9508272"/>
            <a:ext cx="4898350"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11: Ví dụ về Dispatcher cho Coroutine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243013" y="3001144"/>
            <a:ext cx="15177222" cy="2279435"/>
            <a:chOff x="0" y="0"/>
            <a:chExt cx="20236296" cy="3039246"/>
          </a:xfrm>
        </p:grpSpPr>
        <p:grpSp>
          <p:nvGrpSpPr>
            <p:cNvPr name="Group 13" id="13"/>
            <p:cNvGrpSpPr/>
            <p:nvPr/>
          </p:nvGrpSpPr>
          <p:grpSpPr>
            <a:xfrm rot="0">
              <a:off x="0" y="0"/>
              <a:ext cx="20236296" cy="3039246"/>
              <a:chOff x="0" y="0"/>
              <a:chExt cx="14108432" cy="2118915"/>
            </a:xfrm>
          </p:grpSpPr>
          <p:sp>
            <p:nvSpPr>
              <p:cNvPr name="Freeform 14" id="14"/>
              <p:cNvSpPr/>
              <p:nvPr/>
            </p:nvSpPr>
            <p:spPr>
              <a:xfrm flipH="false" flipV="false" rot="0">
                <a:off x="0" y="0"/>
                <a:ext cx="14108432" cy="2118915"/>
              </a:xfrm>
              <a:custGeom>
                <a:avLst/>
                <a:gdLst/>
                <a:ahLst/>
                <a:cxnLst/>
                <a:rect r="r" b="b" t="t" l="l"/>
                <a:pathLst>
                  <a:path h="2118915" w="14108432">
                    <a:moveTo>
                      <a:pt x="7371" y="0"/>
                    </a:moveTo>
                    <a:lnTo>
                      <a:pt x="14101062" y="0"/>
                    </a:lnTo>
                    <a:cubicBezTo>
                      <a:pt x="14105131" y="0"/>
                      <a:pt x="14108432" y="3300"/>
                      <a:pt x="14108432" y="7371"/>
                    </a:cubicBezTo>
                    <a:lnTo>
                      <a:pt x="14108432" y="2111544"/>
                    </a:lnTo>
                    <a:cubicBezTo>
                      <a:pt x="14108432" y="2115615"/>
                      <a:pt x="14105131" y="2118915"/>
                      <a:pt x="14101062" y="2118915"/>
                    </a:cubicBezTo>
                    <a:lnTo>
                      <a:pt x="7371" y="2118915"/>
                    </a:lnTo>
                    <a:cubicBezTo>
                      <a:pt x="3300" y="2118915"/>
                      <a:pt x="0" y="2115615"/>
                      <a:pt x="0" y="2111544"/>
                    </a:cubicBezTo>
                    <a:lnTo>
                      <a:pt x="0" y="7371"/>
                    </a:lnTo>
                    <a:cubicBezTo>
                      <a:pt x="0" y="3300"/>
                      <a:pt x="3300" y="0"/>
                      <a:pt x="7371" y="0"/>
                    </a:cubicBezTo>
                    <a:close/>
                  </a:path>
                </a:pathLst>
              </a:custGeom>
              <a:solidFill>
                <a:srgbClr val="E8ECEC"/>
              </a:solidFill>
            </p:spPr>
          </p:sp>
          <p:sp>
            <p:nvSpPr>
              <p:cNvPr name="TextBox 15" id="15"/>
              <p:cNvSpPr txBox="true"/>
              <p:nvPr/>
            </p:nvSpPr>
            <p:spPr>
              <a:xfrm>
                <a:off x="0" y="-38100"/>
                <a:ext cx="14108432" cy="215701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2463" y="63774"/>
              <a:ext cx="19408203" cy="29754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Trong n</a:t>
              </a:r>
              <a:r>
                <a:rPr lang="en-US" sz="3196">
                  <a:solidFill>
                    <a:srgbClr val="000000"/>
                  </a:solidFill>
                  <a:latin typeface="Garet"/>
                  <a:ea typeface="Garet"/>
                  <a:cs typeface="Garet"/>
                  <a:sym typeface="Garet"/>
                </a:rPr>
                <a:t>hiều trường hợp, ta không muốn tạo coroutine mới mà chỉ muốn chuyển toàn bộ đ</a:t>
              </a:r>
              <a:r>
                <a:rPr lang="en-US" sz="3196">
                  <a:solidFill>
                    <a:srgbClr val="000000"/>
                  </a:solidFill>
                  <a:latin typeface="Garet"/>
                  <a:ea typeface="Garet"/>
                  <a:cs typeface="Garet"/>
                  <a:sym typeface="Garet"/>
                </a:rPr>
                <a:t>oạ</a:t>
              </a:r>
              <a:r>
                <a:rPr lang="en-US" sz="3196">
                  <a:solidFill>
                    <a:srgbClr val="000000"/>
                  </a:solidFill>
                  <a:latin typeface="Garet"/>
                  <a:ea typeface="Garet"/>
                  <a:cs typeface="Garet"/>
                  <a:sym typeface="Garet"/>
                </a:rPr>
                <a:t>n code</a:t>
              </a:r>
              <a:r>
                <a:rPr lang="en-US" sz="3196">
                  <a:solidFill>
                    <a:srgbClr val="000000"/>
                  </a:solidFill>
                  <a:latin typeface="Garet"/>
                  <a:ea typeface="Garet"/>
                  <a:cs typeface="Garet"/>
                  <a:sym typeface="Garet"/>
                </a:rPr>
                <a:t> s</a:t>
              </a:r>
              <a:r>
                <a:rPr lang="en-US" sz="3196">
                  <a:solidFill>
                    <a:srgbClr val="000000"/>
                  </a:solidFill>
                  <a:latin typeface="Garet"/>
                  <a:ea typeface="Garet"/>
                  <a:cs typeface="Garet"/>
                  <a:sym typeface="Garet"/>
                </a:rPr>
                <a:t>a</a:t>
              </a:r>
              <a:r>
                <a:rPr lang="en-US" sz="3196">
                  <a:solidFill>
                    <a:srgbClr val="000000"/>
                  </a:solidFill>
                  <a:latin typeface="Garet"/>
                  <a:ea typeface="Garet"/>
                  <a:cs typeface="Garet"/>
                  <a:sym typeface="Garet"/>
                </a:rPr>
                <a:t>ng một dispatche</a:t>
              </a:r>
              <a:r>
                <a:rPr lang="en-US" sz="3196">
                  <a:solidFill>
                    <a:srgbClr val="000000"/>
                  </a:solidFill>
                  <a:latin typeface="Garet"/>
                  <a:ea typeface="Garet"/>
                  <a:cs typeface="Garet"/>
                  <a:sym typeface="Garet"/>
                </a:rPr>
                <a:t>r</a:t>
              </a:r>
              <a:r>
                <a:rPr lang="en-US" sz="3196">
                  <a:solidFill>
                    <a:srgbClr val="000000"/>
                  </a:solidFill>
                  <a:latin typeface="Garet"/>
                  <a:ea typeface="Garet"/>
                  <a:cs typeface="Garet"/>
                  <a:sym typeface="Garet"/>
                </a:rPr>
                <a:t> khác. Khi đó, ta dùng withContext().</a:t>
              </a:r>
            </a:p>
          </p:txBody>
        </p:sp>
      </p:grpSp>
      <p:sp>
        <p:nvSpPr>
          <p:cNvPr name="Freeform 17" id="17"/>
          <p:cNvSpPr/>
          <p:nvPr/>
        </p:nvSpPr>
        <p:spPr>
          <a:xfrm flipH="false" flipV="false" rot="0">
            <a:off x="1893711" y="5486178"/>
            <a:ext cx="14526523" cy="4241774"/>
          </a:xfrm>
          <a:custGeom>
            <a:avLst/>
            <a:gdLst/>
            <a:ahLst/>
            <a:cxnLst/>
            <a:rect r="r" b="b" t="t" l="l"/>
            <a:pathLst>
              <a:path h="4241774" w="14526523">
                <a:moveTo>
                  <a:pt x="0" y="0"/>
                </a:moveTo>
                <a:lnTo>
                  <a:pt x="14526523" y="0"/>
                </a:lnTo>
                <a:lnTo>
                  <a:pt x="14526523" y="4241775"/>
                </a:lnTo>
                <a:lnTo>
                  <a:pt x="0" y="4241775"/>
                </a:lnTo>
                <a:lnTo>
                  <a:pt x="0" y="0"/>
                </a:lnTo>
                <a:close/>
              </a:path>
            </a:pathLst>
          </a:custGeom>
          <a:blipFill>
            <a:blip r:embed="rId4"/>
            <a:stretch>
              <a:fillRect l="-2311" t="-9983" r="-2148" b="-9858"/>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14</a:t>
            </a:r>
          </a:p>
        </p:txBody>
      </p:sp>
      <p:sp>
        <p:nvSpPr>
          <p:cNvPr name="TextBox 19" id="19"/>
          <p:cNvSpPr txBox="true"/>
          <p:nvPr/>
        </p:nvSpPr>
        <p:spPr>
          <a:xfrm rot="0">
            <a:off x="2519137"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dispatchers</a:t>
            </a:r>
          </a:p>
        </p:txBody>
      </p:sp>
      <p:sp>
        <p:nvSpPr>
          <p:cNvPr name="TextBox 20" id="20"/>
          <p:cNvSpPr txBox="true"/>
          <p:nvPr/>
        </p:nvSpPr>
        <p:spPr>
          <a:xfrm rot="0">
            <a:off x="1326641"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TextBox 21" id="21"/>
          <p:cNvSpPr txBox="true"/>
          <p:nvPr/>
        </p:nvSpPr>
        <p:spPr>
          <a:xfrm rot="0">
            <a:off x="3025659" y="1568291"/>
            <a:ext cx="10506432"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Chuyển Dispatcher bằng withContext()</a:t>
            </a:r>
          </a:p>
        </p:txBody>
      </p:sp>
      <p:sp>
        <p:nvSpPr>
          <p:cNvPr name="TextBox 22" id="22"/>
          <p:cNvSpPr txBox="true"/>
          <p:nvPr/>
        </p:nvSpPr>
        <p:spPr>
          <a:xfrm rot="0">
            <a:off x="5615805" y="9838155"/>
            <a:ext cx="6431637"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12: Ví dụ về chuyển Dispatcher  bằng withContext()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867766"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9" id="9"/>
          <p:cNvGrpSpPr/>
          <p:nvPr/>
        </p:nvGrpSpPr>
        <p:grpSpPr>
          <a:xfrm rot="0">
            <a:off x="484525" y="2728661"/>
            <a:ext cx="17318951" cy="7022885"/>
            <a:chOff x="0" y="0"/>
            <a:chExt cx="23091934" cy="9363846"/>
          </a:xfrm>
        </p:grpSpPr>
        <p:grpSp>
          <p:nvGrpSpPr>
            <p:cNvPr name="Group 10" id="10"/>
            <p:cNvGrpSpPr/>
            <p:nvPr/>
          </p:nvGrpSpPr>
          <p:grpSpPr>
            <a:xfrm rot="0">
              <a:off x="0" y="0"/>
              <a:ext cx="23091934" cy="9363846"/>
              <a:chOff x="0" y="0"/>
              <a:chExt cx="16099339" cy="6528328"/>
            </a:xfrm>
          </p:grpSpPr>
          <p:sp>
            <p:nvSpPr>
              <p:cNvPr name="Freeform 11" id="11"/>
              <p:cNvSpPr/>
              <p:nvPr/>
            </p:nvSpPr>
            <p:spPr>
              <a:xfrm flipH="false" flipV="false" rot="0">
                <a:off x="0" y="0"/>
                <a:ext cx="16099338" cy="6528329"/>
              </a:xfrm>
              <a:custGeom>
                <a:avLst/>
                <a:gdLst/>
                <a:ahLst/>
                <a:cxnLst/>
                <a:rect r="r" b="b" t="t" l="l"/>
                <a:pathLst>
                  <a:path h="6528329" w="16099338">
                    <a:moveTo>
                      <a:pt x="6459" y="0"/>
                    </a:moveTo>
                    <a:lnTo>
                      <a:pt x="16092880" y="0"/>
                    </a:lnTo>
                    <a:cubicBezTo>
                      <a:pt x="16096447" y="0"/>
                      <a:pt x="16099338" y="2892"/>
                      <a:pt x="16099338" y="6459"/>
                    </a:cubicBezTo>
                    <a:lnTo>
                      <a:pt x="16099338" y="6521869"/>
                    </a:lnTo>
                    <a:cubicBezTo>
                      <a:pt x="16099338" y="6523582"/>
                      <a:pt x="16098658" y="6525226"/>
                      <a:pt x="16097447" y="6526437"/>
                    </a:cubicBezTo>
                    <a:cubicBezTo>
                      <a:pt x="16096235" y="6527648"/>
                      <a:pt x="16094593" y="6528329"/>
                      <a:pt x="16092880" y="6528329"/>
                    </a:cubicBezTo>
                    <a:lnTo>
                      <a:pt x="6459" y="6528329"/>
                    </a:lnTo>
                    <a:cubicBezTo>
                      <a:pt x="2892" y="6528329"/>
                      <a:pt x="0" y="6525437"/>
                      <a:pt x="0" y="6521869"/>
                    </a:cubicBezTo>
                    <a:lnTo>
                      <a:pt x="0" y="6459"/>
                    </a:lnTo>
                    <a:cubicBezTo>
                      <a:pt x="0" y="2892"/>
                      <a:pt x="2892" y="0"/>
                      <a:pt x="6459" y="0"/>
                    </a:cubicBezTo>
                    <a:close/>
                  </a:path>
                </a:pathLst>
              </a:custGeom>
              <a:solidFill>
                <a:srgbClr val="E8ECEC"/>
              </a:solidFill>
            </p:spPr>
          </p:sp>
          <p:sp>
            <p:nvSpPr>
              <p:cNvPr name="TextBox 12" id="12"/>
              <p:cNvSpPr txBox="true"/>
              <p:nvPr/>
            </p:nvSpPr>
            <p:spPr>
              <a:xfrm>
                <a:off x="0" y="-38100"/>
                <a:ext cx="16099339" cy="6566428"/>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425023" y="63774"/>
              <a:ext cx="22146986" cy="9300072"/>
            </a:xfrm>
            <a:prstGeom prst="rect">
              <a:avLst/>
            </a:prstGeom>
          </p:spPr>
          <p:txBody>
            <a:bodyPr anchor="t" rtlCol="false" tIns="0" lIns="0" bIns="0" rIns="0">
              <a:spAutoFit/>
            </a:bodyPr>
            <a:lstStyle/>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Dispatchers.Default:</a:t>
              </a:r>
              <a:r>
                <a:rPr lang="en-US" sz="3196">
                  <a:solidFill>
                    <a:srgbClr val="000000"/>
                  </a:solidFill>
                  <a:latin typeface="Garet"/>
                  <a:ea typeface="Garet"/>
                  <a:cs typeface="Garet"/>
                  <a:sym typeface="Garet"/>
                </a:rPr>
                <a:t> </a:t>
              </a:r>
              <a:r>
                <a:rPr lang="en-US" sz="3196">
                  <a:solidFill>
                    <a:srgbClr val="000000"/>
                  </a:solidFill>
                  <a:latin typeface="Garet"/>
                  <a:ea typeface="Garet"/>
                  <a:cs typeface="Garet"/>
                  <a:sym typeface="Garet"/>
                </a:rPr>
                <a:t>Dùng</a:t>
              </a:r>
              <a:r>
                <a:rPr lang="en-US" sz="3196">
                  <a:solidFill>
                    <a:srgbClr val="000000"/>
                  </a:solidFill>
                  <a:latin typeface="Garet"/>
                  <a:ea typeface="Garet"/>
                  <a:cs typeface="Garet"/>
                  <a:sym typeface="Garet"/>
                </a:rPr>
                <a:t> cho các tác vụ nặng CPU như xử lý dữ liệu, tính toán.</a:t>
              </a:r>
            </a:p>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Dispatchers.IO:</a:t>
              </a:r>
              <a:r>
                <a:rPr lang="en-US" sz="3196">
                  <a:solidFill>
                    <a:srgbClr val="000000"/>
                  </a:solidFill>
                  <a:latin typeface="Garet"/>
                  <a:ea typeface="Garet"/>
                  <a:cs typeface="Garet"/>
                  <a:sym typeface="Garet"/>
                </a:rPr>
                <a:t> Dùng cho các tác vụ I/O như gọi mạng, đọc ghi file, truy cập database.</a:t>
              </a:r>
            </a:p>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Dispatchers.Main: </a:t>
              </a:r>
              <a:r>
                <a:rPr lang="en-US" sz="3196">
                  <a:solidFill>
                    <a:srgbClr val="000000"/>
                  </a:solidFill>
                  <a:latin typeface="Garet"/>
                  <a:ea typeface="Garet"/>
                  <a:cs typeface="Garet"/>
                  <a:sym typeface="Garet"/>
                </a:rPr>
                <a:t>Chạy trên UI thread, dùng để cập nhật giao diện</a:t>
              </a:r>
            </a:p>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Dispatchers.Unconfined:</a:t>
              </a:r>
              <a:r>
                <a:rPr lang="en-US" sz="3196">
                  <a:solidFill>
                    <a:srgbClr val="000000"/>
                  </a:solidFill>
                  <a:latin typeface="Garet"/>
                  <a:ea typeface="Garet"/>
                  <a:cs typeface="Garet"/>
                  <a:sym typeface="Garet"/>
                </a:rPr>
                <a:t> Không đảm bảo coroutine resume trên thread nào, chỉ phù hợp cho coroutine rất nhẹ.</a:t>
              </a:r>
            </a:p>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newSingleThreadContext:</a:t>
              </a:r>
              <a:r>
                <a:rPr lang="en-US" sz="3196">
                  <a:solidFill>
                    <a:srgbClr val="000000"/>
                  </a:solidFill>
                  <a:latin typeface="Garet"/>
                  <a:ea typeface="Garet"/>
                  <a:cs typeface="Garet"/>
                  <a:sym typeface="Garet"/>
                </a:rPr>
                <a:t> Tạo một thread riêng cho coroutine, tốn tài nguyên và cần quản lý cẩn thận.</a:t>
              </a:r>
            </a:p>
          </p:txBody>
        </p:sp>
      </p:grpSp>
      <p:sp>
        <p:nvSpPr>
          <p:cNvPr name="TextBox 14" id="14"/>
          <p:cNvSpPr txBox="true"/>
          <p:nvPr/>
        </p:nvSpPr>
        <p:spPr>
          <a:xfrm rot="0">
            <a:off x="17689507" y="9745762"/>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15</a:t>
            </a:r>
          </a:p>
        </p:txBody>
      </p:sp>
      <p:sp>
        <p:nvSpPr>
          <p:cNvPr name="TextBox 15" id="15"/>
          <p:cNvSpPr txBox="true"/>
          <p:nvPr/>
        </p:nvSpPr>
        <p:spPr>
          <a:xfrm rot="0">
            <a:off x="2667268"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Coroutine dispatchers</a:t>
            </a:r>
          </a:p>
        </p:txBody>
      </p:sp>
      <p:sp>
        <p:nvSpPr>
          <p:cNvPr name="TextBox 16" id="16"/>
          <p:cNvSpPr txBox="true"/>
          <p:nvPr/>
        </p:nvSpPr>
        <p:spPr>
          <a:xfrm rot="0">
            <a:off x="1951394"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7" id="17"/>
          <p:cNvSpPr txBox="true"/>
          <p:nvPr/>
        </p:nvSpPr>
        <p:spPr>
          <a:xfrm rot="0">
            <a:off x="3828767" y="1568291"/>
            <a:ext cx="6530221"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Các Dispatcher phổ biến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468362" y="2817920"/>
            <a:ext cx="10225390" cy="3860585"/>
            <a:chOff x="0" y="0"/>
            <a:chExt cx="13633853" cy="5147446"/>
          </a:xfrm>
        </p:grpSpPr>
        <p:grpSp>
          <p:nvGrpSpPr>
            <p:cNvPr name="Group 9" id="9"/>
            <p:cNvGrpSpPr/>
            <p:nvPr/>
          </p:nvGrpSpPr>
          <p:grpSpPr>
            <a:xfrm rot="0">
              <a:off x="0" y="0"/>
              <a:ext cx="13633853" cy="5147446"/>
              <a:chOff x="0" y="0"/>
              <a:chExt cx="9505311" cy="3588720"/>
            </a:xfrm>
          </p:grpSpPr>
          <p:sp>
            <p:nvSpPr>
              <p:cNvPr name="Freeform 10" id="10"/>
              <p:cNvSpPr/>
              <p:nvPr/>
            </p:nvSpPr>
            <p:spPr>
              <a:xfrm flipH="false" flipV="false" rot="0">
                <a:off x="0" y="0"/>
                <a:ext cx="9505311" cy="3588720"/>
              </a:xfrm>
              <a:custGeom>
                <a:avLst/>
                <a:gdLst/>
                <a:ahLst/>
                <a:cxnLst/>
                <a:rect r="r" b="b" t="t" l="l"/>
                <a:pathLst>
                  <a:path h="3588720" w="9505311">
                    <a:moveTo>
                      <a:pt x="10940" y="0"/>
                    </a:moveTo>
                    <a:lnTo>
                      <a:pt x="9494371" y="0"/>
                    </a:lnTo>
                    <a:cubicBezTo>
                      <a:pt x="9497272" y="0"/>
                      <a:pt x="9500055" y="1153"/>
                      <a:pt x="9502107" y="3204"/>
                    </a:cubicBezTo>
                    <a:cubicBezTo>
                      <a:pt x="9504159" y="5256"/>
                      <a:pt x="9505311" y="8039"/>
                      <a:pt x="9505311" y="10940"/>
                    </a:cubicBezTo>
                    <a:lnTo>
                      <a:pt x="9505311" y="3577780"/>
                    </a:lnTo>
                    <a:cubicBezTo>
                      <a:pt x="9505311" y="3580681"/>
                      <a:pt x="9504159" y="3583464"/>
                      <a:pt x="9502107" y="3585515"/>
                    </a:cubicBezTo>
                    <a:cubicBezTo>
                      <a:pt x="9500055" y="3587567"/>
                      <a:pt x="9497272" y="3588720"/>
                      <a:pt x="9494371" y="3588720"/>
                    </a:cubicBezTo>
                    <a:lnTo>
                      <a:pt x="10940" y="3588720"/>
                    </a:lnTo>
                    <a:cubicBezTo>
                      <a:pt x="8039" y="3588720"/>
                      <a:pt x="5256" y="3587567"/>
                      <a:pt x="3204" y="3585515"/>
                    </a:cubicBezTo>
                    <a:cubicBezTo>
                      <a:pt x="1153" y="3583464"/>
                      <a:pt x="0" y="3580681"/>
                      <a:pt x="0" y="3577780"/>
                    </a:cubicBezTo>
                    <a:lnTo>
                      <a:pt x="0" y="10940"/>
                    </a:lnTo>
                    <a:cubicBezTo>
                      <a:pt x="0" y="8039"/>
                      <a:pt x="1153" y="5256"/>
                      <a:pt x="3204" y="3204"/>
                    </a:cubicBezTo>
                    <a:cubicBezTo>
                      <a:pt x="5256" y="1153"/>
                      <a:pt x="8039" y="0"/>
                      <a:pt x="10940" y="0"/>
                    </a:cubicBezTo>
                    <a:close/>
                  </a:path>
                </a:pathLst>
              </a:custGeom>
              <a:solidFill>
                <a:srgbClr val="E8ECEC"/>
              </a:solidFill>
            </p:spPr>
          </p:sp>
          <p:sp>
            <p:nvSpPr>
              <p:cNvPr name="TextBox 11" id="11"/>
              <p:cNvSpPr txBox="true"/>
              <p:nvPr/>
            </p:nvSpPr>
            <p:spPr>
              <a:xfrm>
                <a:off x="0" y="-38100"/>
                <a:ext cx="9505311" cy="3626820"/>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0940" y="63774"/>
              <a:ext cx="13075940" cy="5083672"/>
            </a:xfrm>
            <a:prstGeom prst="rect">
              <a:avLst/>
            </a:prstGeom>
          </p:spPr>
          <p:txBody>
            <a:bodyPr anchor="t" rtlCol="false" tIns="0" lIns="0" bIns="0" rIns="0">
              <a:spAutoFit/>
            </a:bodyPr>
            <a:lstStyle/>
            <a:p>
              <a:pPr algn="just" marL="690035" indent="-345018" lvl="1">
                <a:lnSpc>
                  <a:spcPts val="6232"/>
                </a:lnSpc>
                <a:buFont typeface="Arial"/>
                <a:buChar char="•"/>
              </a:pPr>
              <a:r>
                <a:rPr lang="en-US" sz="3196">
                  <a:solidFill>
                    <a:srgbClr val="000000"/>
                  </a:solidFill>
                  <a:latin typeface="Garet"/>
                  <a:ea typeface="Garet"/>
                  <a:cs typeface="Garet"/>
                  <a:sym typeface="Garet"/>
                </a:rPr>
                <a:t>User mở mà</a:t>
              </a:r>
              <a:r>
                <a:rPr lang="en-US" sz="3196">
                  <a:solidFill>
                    <a:srgbClr val="000000"/>
                  </a:solidFill>
                  <a:latin typeface="Garet"/>
                  <a:ea typeface="Garet"/>
                  <a:cs typeface="Garet"/>
                  <a:sym typeface="Garet"/>
                </a:rPr>
                <a:t>n</a:t>
              </a:r>
              <a:r>
                <a:rPr lang="en-US" sz="3196">
                  <a:solidFill>
                    <a:srgbClr val="000000"/>
                  </a:solidFill>
                  <a:latin typeface="Garet"/>
                  <a:ea typeface="Garet"/>
                  <a:cs typeface="Garet"/>
                  <a:sym typeface="Garet"/>
                </a:rPr>
                <a:t> hình -&gt; Loading....</a:t>
              </a:r>
            </a:p>
            <a:p>
              <a:pPr algn="just" marL="690035" indent="-345018" lvl="1">
                <a:lnSpc>
                  <a:spcPts val="6232"/>
                </a:lnSpc>
                <a:buFont typeface="Arial"/>
                <a:buChar char="•"/>
              </a:pPr>
              <a:r>
                <a:rPr lang="en-US" sz="3196">
                  <a:solidFill>
                    <a:srgbClr val="000000"/>
                  </a:solidFill>
                  <a:latin typeface="Garet"/>
                  <a:ea typeface="Garet"/>
                  <a:cs typeface="Garet"/>
                  <a:sym typeface="Garet"/>
                </a:rPr>
                <a:t>User ấn Back/Home -&gt; App vẫn chạy ngầm?</a:t>
              </a:r>
            </a:p>
            <a:p>
              <a:pPr algn="just" marL="690035" indent="-345018" lvl="1">
                <a:lnSpc>
                  <a:spcPts val="6232"/>
                </a:lnSpc>
                <a:buFont typeface="Arial"/>
                <a:buChar char="•"/>
              </a:pPr>
              <a:r>
                <a:rPr lang="en-US" sz="3196">
                  <a:solidFill>
                    <a:srgbClr val="000000"/>
                  </a:solidFill>
                  <a:latin typeface="Garet"/>
                  <a:ea typeface="Garet"/>
                  <a:cs typeface="Garet"/>
                  <a:sym typeface="Garet"/>
                </a:rPr>
                <a:t>Hậu quả: </a:t>
              </a:r>
            </a:p>
            <a:p>
              <a:pPr algn="just" marL="1380071" indent="-460024" lvl="2">
                <a:lnSpc>
                  <a:spcPts val="6232"/>
                </a:lnSpc>
                <a:buFont typeface="Arial"/>
                <a:buChar char="⚬"/>
              </a:pPr>
              <a:r>
                <a:rPr lang="en-US" sz="3196">
                  <a:solidFill>
                    <a:srgbClr val="000000"/>
                  </a:solidFill>
                  <a:latin typeface="Garet"/>
                  <a:ea typeface="Garet"/>
                  <a:cs typeface="Garet"/>
                  <a:sym typeface="Garet"/>
                </a:rPr>
                <a:t>Tốn CPU &amp; Pin.</a:t>
              </a:r>
            </a:p>
            <a:p>
              <a:pPr algn="just" marL="1380071" indent="-460024" lvl="2">
                <a:lnSpc>
                  <a:spcPts val="6232"/>
                </a:lnSpc>
                <a:buFont typeface="Arial"/>
                <a:buChar char="⚬"/>
              </a:pPr>
              <a:r>
                <a:rPr lang="en-US" sz="3196">
                  <a:solidFill>
                    <a:srgbClr val="000000"/>
                  </a:solidFill>
                  <a:latin typeface="Garet"/>
                  <a:ea typeface="Garet"/>
                  <a:cs typeface="Garet"/>
                  <a:sym typeface="Garet"/>
                </a:rPr>
                <a:t>Crash UI.</a:t>
              </a:r>
            </a:p>
          </p:txBody>
        </p:sp>
      </p:grpSp>
      <p:grpSp>
        <p:nvGrpSpPr>
          <p:cNvPr name="Group 13" id="13"/>
          <p:cNvGrpSpPr/>
          <p:nvPr/>
        </p:nvGrpSpPr>
        <p:grpSpPr>
          <a:xfrm rot="0">
            <a:off x="8978079" y="7627387"/>
            <a:ext cx="8715673" cy="1488860"/>
            <a:chOff x="0" y="0"/>
            <a:chExt cx="11620897" cy="1985146"/>
          </a:xfrm>
        </p:grpSpPr>
        <p:grpSp>
          <p:nvGrpSpPr>
            <p:cNvPr name="Group 14" id="14"/>
            <p:cNvGrpSpPr/>
            <p:nvPr/>
          </p:nvGrpSpPr>
          <p:grpSpPr>
            <a:xfrm rot="0">
              <a:off x="0" y="0"/>
              <a:ext cx="11620897" cy="1985146"/>
              <a:chOff x="0" y="0"/>
              <a:chExt cx="8101910" cy="1384013"/>
            </a:xfrm>
          </p:grpSpPr>
          <p:sp>
            <p:nvSpPr>
              <p:cNvPr name="Freeform 15" id="15"/>
              <p:cNvSpPr/>
              <p:nvPr/>
            </p:nvSpPr>
            <p:spPr>
              <a:xfrm flipH="false" flipV="false" rot="0">
                <a:off x="0" y="0"/>
                <a:ext cx="8101909" cy="1384013"/>
              </a:xfrm>
              <a:custGeom>
                <a:avLst/>
                <a:gdLst/>
                <a:ahLst/>
                <a:cxnLst/>
                <a:rect r="r" b="b" t="t" l="l"/>
                <a:pathLst>
                  <a:path h="1384013" w="8101909">
                    <a:moveTo>
                      <a:pt x="12835" y="0"/>
                    </a:moveTo>
                    <a:lnTo>
                      <a:pt x="8089074" y="0"/>
                    </a:lnTo>
                    <a:cubicBezTo>
                      <a:pt x="8092478" y="0"/>
                      <a:pt x="8095743" y="1352"/>
                      <a:pt x="8098150" y="3759"/>
                    </a:cubicBezTo>
                    <a:cubicBezTo>
                      <a:pt x="8100557" y="6166"/>
                      <a:pt x="8101909" y="9431"/>
                      <a:pt x="8101909" y="12835"/>
                    </a:cubicBezTo>
                    <a:lnTo>
                      <a:pt x="8101909" y="1371178"/>
                    </a:lnTo>
                    <a:cubicBezTo>
                      <a:pt x="8101909" y="1378267"/>
                      <a:pt x="8096163" y="1384013"/>
                      <a:pt x="8089074" y="1384013"/>
                    </a:cubicBezTo>
                    <a:lnTo>
                      <a:pt x="12835" y="1384013"/>
                    </a:lnTo>
                    <a:cubicBezTo>
                      <a:pt x="5747" y="1384013"/>
                      <a:pt x="0" y="1378267"/>
                      <a:pt x="0" y="1371178"/>
                    </a:cubicBezTo>
                    <a:lnTo>
                      <a:pt x="0" y="12835"/>
                    </a:lnTo>
                    <a:cubicBezTo>
                      <a:pt x="0" y="5747"/>
                      <a:pt x="5747" y="0"/>
                      <a:pt x="12835" y="0"/>
                    </a:cubicBezTo>
                    <a:close/>
                  </a:path>
                </a:pathLst>
              </a:custGeom>
              <a:solidFill>
                <a:srgbClr val="E8ECEC"/>
              </a:solidFill>
            </p:spPr>
          </p:sp>
          <p:sp>
            <p:nvSpPr>
              <p:cNvPr name="TextBox 16" id="16"/>
              <p:cNvSpPr txBox="true"/>
              <p:nvPr/>
            </p:nvSpPr>
            <p:spPr>
              <a:xfrm>
                <a:off x="0" y="-38100"/>
                <a:ext cx="8101910" cy="142211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213891" y="63774"/>
              <a:ext cx="11145357" cy="19213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Can</a:t>
              </a:r>
              <a:r>
                <a:rPr lang="en-US" sz="3196">
                  <a:solidFill>
                    <a:srgbClr val="000000"/>
                  </a:solidFill>
                  <a:latin typeface="Garet"/>
                  <a:ea typeface="Garet"/>
                  <a:cs typeface="Garet"/>
                  <a:sym typeface="Garet"/>
                </a:rPr>
                <a:t>cellation sinh ra để d</a:t>
              </a:r>
              <a:r>
                <a:rPr lang="en-US" sz="3196">
                  <a:solidFill>
                    <a:srgbClr val="000000"/>
                  </a:solidFill>
                  <a:latin typeface="Garet"/>
                  <a:ea typeface="Garet"/>
                  <a:cs typeface="Garet"/>
                  <a:sym typeface="Garet"/>
                </a:rPr>
                <a:t>ừng v</a:t>
              </a:r>
              <a:r>
                <a:rPr lang="en-US" sz="3196">
                  <a:solidFill>
                    <a:srgbClr val="000000"/>
                  </a:solidFill>
                  <a:latin typeface="Garet"/>
                  <a:ea typeface="Garet"/>
                  <a:cs typeface="Garet"/>
                  <a:sym typeface="Garet"/>
                </a:rPr>
                <a:t>iệc</a:t>
              </a:r>
              <a:r>
                <a:rPr lang="en-US" sz="3196">
                  <a:solidFill>
                    <a:srgbClr val="000000"/>
                  </a:solidFill>
                  <a:latin typeface="Garet"/>
                  <a:ea typeface="Garet"/>
                  <a:cs typeface="Garet"/>
                  <a:sym typeface="Garet"/>
                </a:rPr>
                <a:t> không cần thiết</a:t>
              </a:r>
            </a:p>
          </p:txBody>
        </p:sp>
      </p:grpSp>
      <p:sp>
        <p:nvSpPr>
          <p:cNvPr name="Freeform 18" id="18"/>
          <p:cNvSpPr/>
          <p:nvPr/>
        </p:nvSpPr>
        <p:spPr>
          <a:xfrm flipH="false" flipV="false" rot="0">
            <a:off x="121004" y="2263367"/>
            <a:ext cx="6994933" cy="6994933"/>
          </a:xfrm>
          <a:custGeom>
            <a:avLst/>
            <a:gdLst/>
            <a:ahLst/>
            <a:cxnLst/>
            <a:rect r="r" b="b" t="t" l="l"/>
            <a:pathLst>
              <a:path h="6994933" w="6994933">
                <a:moveTo>
                  <a:pt x="0" y="0"/>
                </a:moveTo>
                <a:lnTo>
                  <a:pt x="6994933" y="0"/>
                </a:lnTo>
                <a:lnTo>
                  <a:pt x="6994933" y="6994933"/>
                </a:lnTo>
                <a:lnTo>
                  <a:pt x="0" y="6994933"/>
                </a:lnTo>
                <a:lnTo>
                  <a:pt x="0" y="0"/>
                </a:lnTo>
                <a:close/>
              </a:path>
            </a:pathLst>
          </a:custGeom>
          <a:blipFill>
            <a:blip r:embed="rId2"/>
            <a:stretch>
              <a:fillRect l="0" t="0" r="0" b="0"/>
            </a:stretch>
          </a:blipFill>
        </p:spPr>
      </p:sp>
      <p:sp>
        <p:nvSpPr>
          <p:cNvPr name="TextBox 19" id="19"/>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16</a:t>
            </a:r>
          </a:p>
        </p:txBody>
      </p:sp>
      <p:sp>
        <p:nvSpPr>
          <p:cNvPr name="TextBox 20" id="20"/>
          <p:cNvSpPr txBox="true"/>
          <p:nvPr/>
        </p:nvSpPr>
        <p:spPr>
          <a:xfrm rot="0">
            <a:off x="2519137" y="409255"/>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1" id="21"/>
          <p:cNvSpPr txBox="true"/>
          <p:nvPr/>
        </p:nvSpPr>
        <p:spPr>
          <a:xfrm rot="0">
            <a:off x="7468362" y="7535073"/>
            <a:ext cx="1347007" cy="1511563"/>
          </a:xfrm>
          <a:prstGeom prst="rect">
            <a:avLst/>
          </a:prstGeom>
        </p:spPr>
        <p:txBody>
          <a:bodyPr anchor="t" rtlCol="false" tIns="0" lIns="0" bIns="0" rIns="0">
            <a:spAutoFit/>
          </a:bodyPr>
          <a:lstStyle/>
          <a:p>
            <a:pPr algn="ctr">
              <a:lnSpc>
                <a:spcPts val="12591"/>
              </a:lnSpc>
              <a:spcBef>
                <a:spcPct val="0"/>
              </a:spcBef>
            </a:pPr>
            <a:r>
              <a:rPr lang="en-US" sz="8993">
                <a:solidFill>
                  <a:srgbClr val="000000"/>
                </a:solidFill>
                <a:latin typeface="Montserrat"/>
                <a:ea typeface="Montserrat"/>
                <a:cs typeface="Montserrat"/>
                <a:sym typeface="Montserrat"/>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26641" y="1305805"/>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326641" y="3786502"/>
            <a:ext cx="8288045" cy="5441735"/>
            <a:chOff x="0" y="0"/>
            <a:chExt cx="11050727" cy="7255646"/>
          </a:xfrm>
        </p:grpSpPr>
        <p:grpSp>
          <p:nvGrpSpPr>
            <p:cNvPr name="Group 13" id="13"/>
            <p:cNvGrpSpPr/>
            <p:nvPr/>
          </p:nvGrpSpPr>
          <p:grpSpPr>
            <a:xfrm rot="0">
              <a:off x="0" y="0"/>
              <a:ext cx="11050727" cy="7255646"/>
              <a:chOff x="0" y="0"/>
              <a:chExt cx="7704396" cy="5058524"/>
            </a:xfrm>
          </p:grpSpPr>
          <p:sp>
            <p:nvSpPr>
              <p:cNvPr name="Freeform 14" id="14"/>
              <p:cNvSpPr/>
              <p:nvPr/>
            </p:nvSpPr>
            <p:spPr>
              <a:xfrm flipH="false" flipV="false" rot="0">
                <a:off x="0" y="0"/>
                <a:ext cx="7704396" cy="5058524"/>
              </a:xfrm>
              <a:custGeom>
                <a:avLst/>
                <a:gdLst/>
                <a:ahLst/>
                <a:cxnLst/>
                <a:rect r="r" b="b" t="t" l="l"/>
                <a:pathLst>
                  <a:path h="5058524" w="7704396">
                    <a:moveTo>
                      <a:pt x="13498" y="0"/>
                    </a:moveTo>
                    <a:lnTo>
                      <a:pt x="7690898" y="0"/>
                    </a:lnTo>
                    <a:cubicBezTo>
                      <a:pt x="7694478" y="0"/>
                      <a:pt x="7697911" y="1422"/>
                      <a:pt x="7700442" y="3953"/>
                    </a:cubicBezTo>
                    <a:cubicBezTo>
                      <a:pt x="7702973" y="6485"/>
                      <a:pt x="7704396" y="9918"/>
                      <a:pt x="7704396" y="13498"/>
                    </a:cubicBezTo>
                    <a:lnTo>
                      <a:pt x="7704396" y="5045027"/>
                    </a:lnTo>
                    <a:cubicBezTo>
                      <a:pt x="7704396" y="5052481"/>
                      <a:pt x="7698353" y="5058524"/>
                      <a:pt x="7690898" y="5058524"/>
                    </a:cubicBezTo>
                    <a:lnTo>
                      <a:pt x="13498" y="5058524"/>
                    </a:lnTo>
                    <a:cubicBezTo>
                      <a:pt x="6043" y="5058524"/>
                      <a:pt x="0" y="5052481"/>
                      <a:pt x="0" y="5045027"/>
                    </a:cubicBezTo>
                    <a:lnTo>
                      <a:pt x="0" y="13498"/>
                    </a:lnTo>
                    <a:cubicBezTo>
                      <a:pt x="0" y="6043"/>
                      <a:pt x="6043" y="0"/>
                      <a:pt x="13498" y="0"/>
                    </a:cubicBezTo>
                    <a:close/>
                  </a:path>
                </a:pathLst>
              </a:custGeom>
              <a:solidFill>
                <a:srgbClr val="E8ECEC"/>
              </a:solidFill>
            </p:spPr>
          </p:sp>
          <p:sp>
            <p:nvSpPr>
              <p:cNvPr name="TextBox 15" id="15"/>
              <p:cNvSpPr txBox="true"/>
              <p:nvPr/>
            </p:nvSpPr>
            <p:spPr>
              <a:xfrm>
                <a:off x="0" y="-38100"/>
                <a:ext cx="7704396" cy="509662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203396" y="63774"/>
              <a:ext cx="10598519" cy="71918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Trong Kotlin, mọi coroutine đều gắn với một Job.</a:t>
              </a:r>
            </a:p>
            <a:p>
              <a:pPr algn="just" marL="690035" indent="-345018" lvl="1">
                <a:lnSpc>
                  <a:spcPts val="6232"/>
                </a:lnSpc>
                <a:buFont typeface="Arial"/>
                <a:buChar char="•"/>
              </a:pPr>
              <a:r>
                <a:rPr lang="en-US" sz="3196">
                  <a:solidFill>
                    <a:srgbClr val="000000"/>
                  </a:solidFill>
                  <a:latin typeface="Garet"/>
                  <a:ea typeface="Garet"/>
                  <a:cs typeface="Garet"/>
                  <a:sym typeface="Garet"/>
                </a:rPr>
                <a:t>launch() → trả về Job.</a:t>
              </a:r>
            </a:p>
            <a:p>
              <a:pPr algn="just" marL="690035" indent="-345018" lvl="1">
                <a:lnSpc>
                  <a:spcPts val="6232"/>
                </a:lnSpc>
                <a:buFont typeface="Arial"/>
                <a:buChar char="•"/>
              </a:pPr>
              <a:r>
                <a:rPr lang="en-US" sz="3196">
                  <a:solidFill>
                    <a:srgbClr val="000000"/>
                  </a:solidFill>
                  <a:latin typeface="Garet"/>
                  <a:ea typeface="Garet"/>
                  <a:cs typeface="Garet"/>
                  <a:sym typeface="Garet"/>
                </a:rPr>
                <a:t>async() → trả về Deferred (một dạng Job).</a:t>
              </a:r>
            </a:p>
            <a:p>
              <a:pPr algn="just">
                <a:lnSpc>
                  <a:spcPts val="6232"/>
                </a:lnSpc>
              </a:pPr>
              <a:r>
                <a:rPr lang="en-US" sz="3196">
                  <a:solidFill>
                    <a:srgbClr val="000000"/>
                  </a:solidFill>
                  <a:latin typeface="Garet"/>
                  <a:ea typeface="Garet"/>
                  <a:cs typeface="Garet"/>
                  <a:sym typeface="Garet"/>
                </a:rPr>
                <a:t>→ Job đại diện cho vòng đời sống - chết của coroutine.</a:t>
              </a:r>
            </a:p>
          </p:txBody>
        </p:sp>
      </p:grpSp>
      <p:sp>
        <p:nvSpPr>
          <p:cNvPr name="Freeform 17" id="17"/>
          <p:cNvSpPr/>
          <p:nvPr/>
        </p:nvSpPr>
        <p:spPr>
          <a:xfrm flipH="false" flipV="false" rot="0">
            <a:off x="10568466" y="2017933"/>
            <a:ext cx="7125286" cy="7626229"/>
          </a:xfrm>
          <a:custGeom>
            <a:avLst/>
            <a:gdLst/>
            <a:ahLst/>
            <a:cxnLst/>
            <a:rect r="r" b="b" t="t" l="l"/>
            <a:pathLst>
              <a:path h="7626229" w="7125286">
                <a:moveTo>
                  <a:pt x="0" y="0"/>
                </a:moveTo>
                <a:lnTo>
                  <a:pt x="7125286" y="0"/>
                </a:lnTo>
                <a:lnTo>
                  <a:pt x="7125286" y="7626229"/>
                </a:lnTo>
                <a:lnTo>
                  <a:pt x="0" y="7626229"/>
                </a:lnTo>
                <a:lnTo>
                  <a:pt x="0" y="0"/>
                </a:lnTo>
                <a:close/>
              </a:path>
            </a:pathLst>
          </a:custGeom>
          <a:blipFill>
            <a:blip r:embed="rId4"/>
            <a:stretch>
              <a:fillRect l="0" t="-1021" r="0" b="-1509"/>
            </a:stretch>
          </a:blipFill>
        </p:spPr>
      </p:sp>
      <p:sp>
        <p:nvSpPr>
          <p:cNvPr name="TextBox 18" id="18"/>
          <p:cNvSpPr txBox="true"/>
          <p:nvPr/>
        </p:nvSpPr>
        <p:spPr>
          <a:xfrm rot="0">
            <a:off x="2460781"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9" id="19"/>
          <p:cNvSpPr txBox="true"/>
          <p:nvPr/>
        </p:nvSpPr>
        <p:spPr>
          <a:xfrm rot="0">
            <a:off x="3133397" y="1649632"/>
            <a:ext cx="5057473"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Cơ chế hoạt động</a:t>
            </a:r>
          </a:p>
        </p:txBody>
      </p:sp>
      <p:sp>
        <p:nvSpPr>
          <p:cNvPr name="TextBox 20" id="20"/>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17</a:t>
            </a:r>
          </a:p>
        </p:txBody>
      </p:sp>
      <p:sp>
        <p:nvSpPr>
          <p:cNvPr name="TextBox 21" id="21"/>
          <p:cNvSpPr txBox="true"/>
          <p:nvPr/>
        </p:nvSpPr>
        <p:spPr>
          <a:xfrm rot="0">
            <a:off x="1410270" y="1579017"/>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2" id="22"/>
          <p:cNvSpPr txBox="true"/>
          <p:nvPr/>
        </p:nvSpPr>
        <p:spPr>
          <a:xfrm rot="0">
            <a:off x="11740126" y="9838155"/>
            <a:ext cx="468010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13: Cơ chế hoạt động của Coroutine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26641" y="1713135"/>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9790975" y="4226608"/>
            <a:ext cx="6629259" cy="3070010"/>
            <a:chOff x="0" y="0"/>
            <a:chExt cx="8839012" cy="4093346"/>
          </a:xfrm>
        </p:grpSpPr>
        <p:grpSp>
          <p:nvGrpSpPr>
            <p:cNvPr name="Group 13" id="13"/>
            <p:cNvGrpSpPr/>
            <p:nvPr/>
          </p:nvGrpSpPr>
          <p:grpSpPr>
            <a:xfrm rot="0">
              <a:off x="0" y="0"/>
              <a:ext cx="8839012" cy="4093346"/>
              <a:chOff x="0" y="0"/>
              <a:chExt cx="6162422" cy="2853817"/>
            </a:xfrm>
          </p:grpSpPr>
          <p:sp>
            <p:nvSpPr>
              <p:cNvPr name="Freeform 14" id="14"/>
              <p:cNvSpPr/>
              <p:nvPr/>
            </p:nvSpPr>
            <p:spPr>
              <a:xfrm flipH="false" flipV="false" rot="0">
                <a:off x="0" y="0"/>
                <a:ext cx="6162422" cy="2853817"/>
              </a:xfrm>
              <a:custGeom>
                <a:avLst/>
                <a:gdLst/>
                <a:ahLst/>
                <a:cxnLst/>
                <a:rect r="r" b="b" t="t" l="l"/>
                <a:pathLst>
                  <a:path h="2853817" w="6162422">
                    <a:moveTo>
                      <a:pt x="16875" y="0"/>
                    </a:moveTo>
                    <a:lnTo>
                      <a:pt x="6145547" y="0"/>
                    </a:lnTo>
                    <a:cubicBezTo>
                      <a:pt x="6154867" y="0"/>
                      <a:pt x="6162422" y="7555"/>
                      <a:pt x="6162422" y="16875"/>
                    </a:cubicBezTo>
                    <a:lnTo>
                      <a:pt x="6162422" y="2836943"/>
                    </a:lnTo>
                    <a:cubicBezTo>
                      <a:pt x="6162422" y="2846262"/>
                      <a:pt x="6154867" y="2853817"/>
                      <a:pt x="6145547" y="2853817"/>
                    </a:cubicBezTo>
                    <a:lnTo>
                      <a:pt x="16875" y="2853817"/>
                    </a:lnTo>
                    <a:cubicBezTo>
                      <a:pt x="7555" y="2853817"/>
                      <a:pt x="0" y="2846262"/>
                      <a:pt x="0" y="2836943"/>
                    </a:cubicBezTo>
                    <a:lnTo>
                      <a:pt x="0" y="16875"/>
                    </a:lnTo>
                    <a:cubicBezTo>
                      <a:pt x="0" y="7555"/>
                      <a:pt x="7555" y="0"/>
                      <a:pt x="16875" y="0"/>
                    </a:cubicBezTo>
                    <a:close/>
                  </a:path>
                </a:pathLst>
              </a:custGeom>
              <a:solidFill>
                <a:srgbClr val="E8ECEC"/>
              </a:solidFill>
            </p:spPr>
          </p:sp>
          <p:sp>
            <p:nvSpPr>
              <p:cNvPr name="TextBox 15" id="15"/>
              <p:cNvSpPr txBox="true"/>
              <p:nvPr/>
            </p:nvSpPr>
            <p:spPr>
              <a:xfrm>
                <a:off x="0" y="-38100"/>
                <a:ext cx="6162422" cy="289191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62688" y="63774"/>
              <a:ext cx="8477309" cy="4029572"/>
            </a:xfrm>
            <a:prstGeom prst="rect">
              <a:avLst/>
            </a:prstGeom>
          </p:spPr>
          <p:txBody>
            <a:bodyPr anchor="t" rtlCol="false" tIns="0" lIns="0" bIns="0" rIns="0">
              <a:spAutoFit/>
            </a:bodyPr>
            <a:lstStyle/>
            <a:p>
              <a:pPr algn="l" marL="690035" indent="-345018" lvl="1">
                <a:lnSpc>
                  <a:spcPts val="6232"/>
                </a:lnSpc>
                <a:buFont typeface="Arial"/>
                <a:buChar char="•"/>
              </a:pPr>
              <a:r>
                <a:rPr lang="en-US" sz="3196">
                  <a:solidFill>
                    <a:srgbClr val="000000"/>
                  </a:solidFill>
                  <a:latin typeface="Garet"/>
                  <a:ea typeface="Garet"/>
                  <a:cs typeface="Garet"/>
                  <a:sym typeface="Garet"/>
                </a:rPr>
                <a:t>Ở đây:</a:t>
              </a:r>
              <a:r>
                <a:rPr lang="en-US" sz="3196">
                  <a:solidFill>
                    <a:srgbClr val="000000"/>
                  </a:solidFill>
                  <a:latin typeface="Garet"/>
                  <a:ea typeface="Garet"/>
                  <a:cs typeface="Garet"/>
                  <a:sym typeface="Garet"/>
                </a:rPr>
                <a:t> </a:t>
              </a:r>
              <a:r>
                <a:rPr lang="en-US" sz="3196">
                  <a:solidFill>
                    <a:srgbClr val="000000"/>
                  </a:solidFill>
                  <a:latin typeface="Garet"/>
                  <a:ea typeface="Garet"/>
                  <a:cs typeface="Garet"/>
                  <a:sym typeface="Garet"/>
                </a:rPr>
                <a:t>j</a:t>
              </a:r>
              <a:r>
                <a:rPr lang="en-US" sz="3196">
                  <a:solidFill>
                    <a:srgbClr val="000000"/>
                  </a:solidFill>
                  <a:latin typeface="Garet"/>
                  <a:ea typeface="Garet"/>
                  <a:cs typeface="Garet"/>
                  <a:sym typeface="Garet"/>
                </a:rPr>
                <a:t>o</a:t>
              </a:r>
              <a:r>
                <a:rPr lang="en-US" sz="3196">
                  <a:solidFill>
                    <a:srgbClr val="000000"/>
                  </a:solidFill>
                  <a:latin typeface="Garet"/>
                  <a:ea typeface="Garet"/>
                  <a:cs typeface="Garet"/>
                  <a:sym typeface="Garet"/>
                </a:rPr>
                <a:t>b.</a:t>
              </a:r>
              <a:r>
                <a:rPr lang="en-US" sz="3196">
                  <a:solidFill>
                    <a:srgbClr val="000000"/>
                  </a:solidFill>
                  <a:latin typeface="Garet"/>
                  <a:ea typeface="Garet"/>
                  <a:cs typeface="Garet"/>
                  <a:sym typeface="Garet"/>
                </a:rPr>
                <a:t>c</a:t>
              </a:r>
              <a:r>
                <a:rPr lang="en-US" sz="3196">
                  <a:solidFill>
                    <a:srgbClr val="000000"/>
                  </a:solidFill>
                  <a:latin typeface="Garet"/>
                  <a:ea typeface="Garet"/>
                  <a:cs typeface="Garet"/>
                  <a:sym typeface="Garet"/>
                </a:rPr>
                <a:t>a</a:t>
              </a:r>
              <a:r>
                <a:rPr lang="en-US" sz="3196">
                  <a:solidFill>
                    <a:srgbClr val="000000"/>
                  </a:solidFill>
                  <a:latin typeface="Garet"/>
                  <a:ea typeface="Garet"/>
                  <a:cs typeface="Garet"/>
                  <a:sym typeface="Garet"/>
                </a:rPr>
                <a:t>nc</a:t>
              </a:r>
              <a:r>
                <a:rPr lang="en-US" sz="3196">
                  <a:solidFill>
                    <a:srgbClr val="000000"/>
                  </a:solidFill>
                  <a:latin typeface="Garet"/>
                  <a:ea typeface="Garet"/>
                  <a:cs typeface="Garet"/>
                  <a:sym typeface="Garet"/>
                </a:rPr>
                <a:t>el() không giết coroutine. </a:t>
              </a:r>
            </a:p>
            <a:p>
              <a:pPr algn="l" marL="690035" indent="-345018" lvl="1">
                <a:lnSpc>
                  <a:spcPts val="6232"/>
                </a:lnSpc>
                <a:buFont typeface="Arial"/>
                <a:buChar char="•"/>
              </a:pPr>
              <a:r>
                <a:rPr lang="en-US" sz="3196">
                  <a:solidFill>
                    <a:srgbClr val="000000"/>
                  </a:solidFill>
                  <a:latin typeface="Garet"/>
                  <a:ea typeface="Garet"/>
                  <a:cs typeface="Garet"/>
                  <a:sym typeface="Garet"/>
                </a:rPr>
                <a:t>Nó chỉ gửi tín hiệu yêu cầu dừng.</a:t>
              </a:r>
            </a:p>
          </p:txBody>
        </p:sp>
      </p:grpSp>
      <p:sp>
        <p:nvSpPr>
          <p:cNvPr name="Freeform 17" id="17"/>
          <p:cNvSpPr/>
          <p:nvPr/>
        </p:nvSpPr>
        <p:spPr>
          <a:xfrm flipH="false" flipV="false" rot="0">
            <a:off x="1326641" y="3737466"/>
            <a:ext cx="7858669" cy="4048293"/>
          </a:xfrm>
          <a:custGeom>
            <a:avLst/>
            <a:gdLst/>
            <a:ahLst/>
            <a:cxnLst/>
            <a:rect r="r" b="b" t="t" l="l"/>
            <a:pathLst>
              <a:path h="4048293" w="7858669">
                <a:moveTo>
                  <a:pt x="0" y="0"/>
                </a:moveTo>
                <a:lnTo>
                  <a:pt x="7858669" y="0"/>
                </a:lnTo>
                <a:lnTo>
                  <a:pt x="7858669" y="4048293"/>
                </a:lnTo>
                <a:lnTo>
                  <a:pt x="0" y="4048293"/>
                </a:lnTo>
                <a:lnTo>
                  <a:pt x="0" y="0"/>
                </a:lnTo>
                <a:close/>
              </a:path>
            </a:pathLst>
          </a:custGeom>
          <a:blipFill>
            <a:blip r:embed="rId4"/>
            <a:stretch>
              <a:fillRect l="0" t="0" r="-4662" b="0"/>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18</a:t>
            </a:r>
          </a:p>
        </p:txBody>
      </p:sp>
      <p:sp>
        <p:nvSpPr>
          <p:cNvPr name="TextBox 19" id="19"/>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0" id="20"/>
          <p:cNvSpPr txBox="true"/>
          <p:nvPr/>
        </p:nvSpPr>
        <p:spPr>
          <a:xfrm rot="0">
            <a:off x="1410270" y="1986347"/>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1" id="21"/>
          <p:cNvSpPr txBox="true"/>
          <p:nvPr/>
        </p:nvSpPr>
        <p:spPr>
          <a:xfrm rot="0">
            <a:off x="3165778" y="2109350"/>
            <a:ext cx="4790122"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Cơ chế hoạt động </a:t>
            </a:r>
          </a:p>
        </p:txBody>
      </p:sp>
      <p:sp>
        <p:nvSpPr>
          <p:cNvPr name="TextBox 22" id="22"/>
          <p:cNvSpPr txBox="true"/>
          <p:nvPr/>
        </p:nvSpPr>
        <p:spPr>
          <a:xfrm rot="0">
            <a:off x="1867766" y="7938159"/>
            <a:ext cx="6652975"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14: Kết quả khi chạy cơ chế hoạt động của Coroutine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06336" y="635625"/>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0788345" y="2297144"/>
            <a:ext cx="7126796" cy="3070010"/>
            <a:chOff x="0" y="0"/>
            <a:chExt cx="9502395" cy="4093346"/>
          </a:xfrm>
        </p:grpSpPr>
        <p:grpSp>
          <p:nvGrpSpPr>
            <p:cNvPr name="Group 13" id="13"/>
            <p:cNvGrpSpPr/>
            <p:nvPr/>
          </p:nvGrpSpPr>
          <p:grpSpPr>
            <a:xfrm rot="0">
              <a:off x="0" y="0"/>
              <a:ext cx="9502395" cy="4093346"/>
              <a:chOff x="0" y="0"/>
              <a:chExt cx="6624923" cy="2853817"/>
            </a:xfrm>
          </p:grpSpPr>
          <p:sp>
            <p:nvSpPr>
              <p:cNvPr name="Freeform 14" id="14"/>
              <p:cNvSpPr/>
              <p:nvPr/>
            </p:nvSpPr>
            <p:spPr>
              <a:xfrm flipH="false" flipV="false" rot="0">
                <a:off x="0" y="0"/>
                <a:ext cx="6624923" cy="2853817"/>
              </a:xfrm>
              <a:custGeom>
                <a:avLst/>
                <a:gdLst/>
                <a:ahLst/>
                <a:cxnLst/>
                <a:rect r="r" b="b" t="t" l="l"/>
                <a:pathLst>
                  <a:path h="2853817" w="6624923">
                    <a:moveTo>
                      <a:pt x="15697" y="0"/>
                    </a:moveTo>
                    <a:lnTo>
                      <a:pt x="6609226" y="0"/>
                    </a:lnTo>
                    <a:cubicBezTo>
                      <a:pt x="6613389" y="0"/>
                      <a:pt x="6617381" y="1654"/>
                      <a:pt x="6620325" y="4597"/>
                    </a:cubicBezTo>
                    <a:cubicBezTo>
                      <a:pt x="6623269" y="7541"/>
                      <a:pt x="6624923" y="11534"/>
                      <a:pt x="6624923" y="15697"/>
                    </a:cubicBezTo>
                    <a:lnTo>
                      <a:pt x="6624923" y="2838121"/>
                    </a:lnTo>
                    <a:cubicBezTo>
                      <a:pt x="6624923" y="2846790"/>
                      <a:pt x="6617895" y="2853817"/>
                      <a:pt x="6609226" y="2853817"/>
                    </a:cubicBezTo>
                    <a:lnTo>
                      <a:pt x="15697" y="2853817"/>
                    </a:lnTo>
                    <a:cubicBezTo>
                      <a:pt x="11534" y="2853817"/>
                      <a:pt x="7541" y="2852164"/>
                      <a:pt x="4597" y="2849220"/>
                    </a:cubicBezTo>
                    <a:cubicBezTo>
                      <a:pt x="1654" y="2846276"/>
                      <a:pt x="0" y="2842284"/>
                      <a:pt x="0" y="2838121"/>
                    </a:cubicBezTo>
                    <a:lnTo>
                      <a:pt x="0" y="15697"/>
                    </a:lnTo>
                    <a:cubicBezTo>
                      <a:pt x="0" y="11534"/>
                      <a:pt x="1654" y="7541"/>
                      <a:pt x="4597" y="4597"/>
                    </a:cubicBezTo>
                    <a:cubicBezTo>
                      <a:pt x="7541" y="1654"/>
                      <a:pt x="11534" y="0"/>
                      <a:pt x="15697" y="0"/>
                    </a:cubicBezTo>
                    <a:close/>
                  </a:path>
                </a:pathLst>
              </a:custGeom>
              <a:solidFill>
                <a:srgbClr val="E8ECEC"/>
              </a:solidFill>
            </p:spPr>
          </p:sp>
          <p:sp>
            <p:nvSpPr>
              <p:cNvPr name="TextBox 15" id="15"/>
              <p:cNvSpPr txBox="true"/>
              <p:nvPr/>
            </p:nvSpPr>
            <p:spPr>
              <a:xfrm>
                <a:off x="0" y="-38100"/>
                <a:ext cx="6624923" cy="2891917"/>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74898" y="63774"/>
              <a:ext cx="9113546" cy="4029572"/>
            </a:xfrm>
            <a:prstGeom prst="rect">
              <a:avLst/>
            </a:prstGeom>
          </p:spPr>
          <p:txBody>
            <a:bodyPr anchor="t" rtlCol="false" tIns="0" lIns="0" bIns="0" rIns="0">
              <a:spAutoFit/>
            </a:bodyPr>
            <a:lstStyle/>
            <a:p>
              <a:pPr algn="l" marL="690035" indent="-345018" lvl="1">
                <a:lnSpc>
                  <a:spcPts val="6232"/>
                </a:lnSpc>
                <a:buFont typeface="Arial"/>
                <a:buChar char="•"/>
              </a:pPr>
              <a:r>
                <a:rPr lang="en-US" sz="3196">
                  <a:solidFill>
                    <a:srgbClr val="000000"/>
                  </a:solidFill>
                  <a:latin typeface="Garet"/>
                  <a:ea typeface="Garet"/>
                  <a:cs typeface="Garet"/>
                  <a:sym typeface="Garet"/>
                </a:rPr>
                <a:t>Áp dụng nguyên tắc Structured Concurrency:</a:t>
              </a:r>
              <a:r>
                <a:rPr lang="en-US" sz="3196">
                  <a:solidFill>
                    <a:srgbClr val="000000"/>
                  </a:solidFill>
                  <a:latin typeface="Garet"/>
                  <a:ea typeface="Garet"/>
                  <a:cs typeface="Garet"/>
                  <a:sym typeface="Garet"/>
                </a:rPr>
                <a:t> Khi coroutine cha </a:t>
              </a:r>
              <a:r>
                <a:rPr lang="en-US" sz="3196">
                  <a:solidFill>
                    <a:srgbClr val="000000"/>
                  </a:solidFill>
                  <a:latin typeface="Garet"/>
                  <a:ea typeface="Garet"/>
                  <a:cs typeface="Garet"/>
                  <a:sym typeface="Garet"/>
                </a:rPr>
                <a:t>bị hủy → tất </a:t>
              </a:r>
              <a:r>
                <a:rPr lang="en-US" sz="3196">
                  <a:solidFill>
                    <a:srgbClr val="000000"/>
                  </a:solidFill>
                  <a:latin typeface="Garet"/>
                  <a:ea typeface="Garet"/>
                  <a:cs typeface="Garet"/>
                  <a:sym typeface="Garet"/>
                </a:rPr>
                <a:t>cả coroutine con bị hủy th</a:t>
              </a:r>
              <a:r>
                <a:rPr lang="en-US" sz="3196">
                  <a:solidFill>
                    <a:srgbClr val="000000"/>
                  </a:solidFill>
                  <a:latin typeface="Garet"/>
                  <a:ea typeface="Garet"/>
                  <a:cs typeface="Garet"/>
                  <a:sym typeface="Garet"/>
                </a:rPr>
                <a:t>eo.</a:t>
              </a:r>
            </a:p>
          </p:txBody>
        </p:sp>
      </p:grpSp>
      <p:sp>
        <p:nvSpPr>
          <p:cNvPr name="Freeform 17" id="17"/>
          <p:cNvSpPr/>
          <p:nvPr/>
        </p:nvSpPr>
        <p:spPr>
          <a:xfrm flipH="false" flipV="false" rot="0">
            <a:off x="11869367" y="6098059"/>
            <a:ext cx="4939180" cy="2672639"/>
          </a:xfrm>
          <a:custGeom>
            <a:avLst/>
            <a:gdLst/>
            <a:ahLst/>
            <a:cxnLst/>
            <a:rect r="r" b="b" t="t" l="l"/>
            <a:pathLst>
              <a:path h="2672639" w="4939180">
                <a:moveTo>
                  <a:pt x="0" y="0"/>
                </a:moveTo>
                <a:lnTo>
                  <a:pt x="4939179" y="0"/>
                </a:lnTo>
                <a:lnTo>
                  <a:pt x="4939179" y="2672640"/>
                </a:lnTo>
                <a:lnTo>
                  <a:pt x="0" y="2672640"/>
                </a:lnTo>
                <a:lnTo>
                  <a:pt x="0" y="0"/>
                </a:lnTo>
                <a:close/>
              </a:path>
            </a:pathLst>
          </a:custGeom>
          <a:blipFill>
            <a:blip r:embed="rId4"/>
            <a:stretch>
              <a:fillRect l="0" t="0" r="-534" b="0"/>
            </a:stretch>
          </a:blipFill>
        </p:spPr>
      </p:sp>
      <p:sp>
        <p:nvSpPr>
          <p:cNvPr name="Freeform 18" id="18"/>
          <p:cNvSpPr/>
          <p:nvPr/>
        </p:nvSpPr>
        <p:spPr>
          <a:xfrm flipH="false" flipV="false" rot="0">
            <a:off x="1167424" y="2121314"/>
            <a:ext cx="9189591" cy="6809801"/>
          </a:xfrm>
          <a:custGeom>
            <a:avLst/>
            <a:gdLst/>
            <a:ahLst/>
            <a:cxnLst/>
            <a:rect r="r" b="b" t="t" l="l"/>
            <a:pathLst>
              <a:path h="6809801" w="9189591">
                <a:moveTo>
                  <a:pt x="0" y="0"/>
                </a:moveTo>
                <a:lnTo>
                  <a:pt x="9189591" y="0"/>
                </a:lnTo>
                <a:lnTo>
                  <a:pt x="9189591" y="6809801"/>
                </a:lnTo>
                <a:lnTo>
                  <a:pt x="0" y="6809801"/>
                </a:lnTo>
                <a:lnTo>
                  <a:pt x="0" y="0"/>
                </a:lnTo>
                <a:close/>
              </a:path>
            </a:pathLst>
          </a:custGeom>
          <a:blipFill>
            <a:blip r:embed="rId5"/>
            <a:stretch>
              <a:fillRect l="-3398" t="-4585" r="-3020" b="-5095"/>
            </a:stretch>
          </a:blipFill>
        </p:spPr>
      </p:sp>
      <p:sp>
        <p:nvSpPr>
          <p:cNvPr name="TextBox 19" id="19"/>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19</a:t>
            </a:r>
          </a:p>
        </p:txBody>
      </p:sp>
      <p:sp>
        <p:nvSpPr>
          <p:cNvPr name="TextBox 20" id="20"/>
          <p:cNvSpPr txBox="true"/>
          <p:nvPr/>
        </p:nvSpPr>
        <p:spPr>
          <a:xfrm rot="0">
            <a:off x="3120032" y="26342"/>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1" id="21"/>
          <p:cNvSpPr txBox="true"/>
          <p:nvPr/>
        </p:nvSpPr>
        <p:spPr>
          <a:xfrm rot="0">
            <a:off x="1889965" y="908837"/>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2" id="22"/>
          <p:cNvSpPr txBox="true"/>
          <p:nvPr/>
        </p:nvSpPr>
        <p:spPr>
          <a:xfrm rot="0">
            <a:off x="3645473" y="1031839"/>
            <a:ext cx="4790122"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Cơ chế hoạt động </a:t>
            </a:r>
          </a:p>
        </p:txBody>
      </p:sp>
      <p:sp>
        <p:nvSpPr>
          <p:cNvPr name="TextBox 23" id="23"/>
          <p:cNvSpPr txBox="true"/>
          <p:nvPr/>
        </p:nvSpPr>
        <p:spPr>
          <a:xfrm rot="0">
            <a:off x="2667268" y="9320947"/>
            <a:ext cx="516743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15: Nguyên tắc Structured Concurrency </a:t>
            </a:r>
          </a:p>
        </p:txBody>
      </p:sp>
      <p:sp>
        <p:nvSpPr>
          <p:cNvPr name="TextBox 24" id="24"/>
          <p:cNvSpPr txBox="true"/>
          <p:nvPr/>
        </p:nvSpPr>
        <p:spPr>
          <a:xfrm rot="0">
            <a:off x="13382170" y="9220200"/>
            <a:ext cx="191357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16: Kết quả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06336" y="112026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028700" y="2707649"/>
            <a:ext cx="9701249" cy="6038108"/>
          </a:xfrm>
          <a:custGeom>
            <a:avLst/>
            <a:gdLst/>
            <a:ahLst/>
            <a:cxnLst/>
            <a:rect r="r" b="b" t="t" l="l"/>
            <a:pathLst>
              <a:path h="6038108" w="9701249">
                <a:moveTo>
                  <a:pt x="0" y="0"/>
                </a:moveTo>
                <a:lnTo>
                  <a:pt x="9701249" y="0"/>
                </a:lnTo>
                <a:lnTo>
                  <a:pt x="9701249" y="6038108"/>
                </a:lnTo>
                <a:lnTo>
                  <a:pt x="0" y="6038108"/>
                </a:lnTo>
                <a:lnTo>
                  <a:pt x="0" y="0"/>
                </a:lnTo>
                <a:close/>
              </a:path>
            </a:pathLst>
          </a:custGeom>
          <a:blipFill>
            <a:blip r:embed="rId4"/>
            <a:stretch>
              <a:fillRect l="-3884" t="-5969" r="-4446" b="-6511"/>
            </a:stretch>
          </a:blipFill>
        </p:spPr>
      </p:sp>
      <p:sp>
        <p:nvSpPr>
          <p:cNvPr name="Freeform 13" id="13"/>
          <p:cNvSpPr/>
          <p:nvPr/>
        </p:nvSpPr>
        <p:spPr>
          <a:xfrm flipH="false" flipV="false" rot="0">
            <a:off x="11167930" y="3649418"/>
            <a:ext cx="6747211" cy="3631053"/>
          </a:xfrm>
          <a:custGeom>
            <a:avLst/>
            <a:gdLst/>
            <a:ahLst/>
            <a:cxnLst/>
            <a:rect r="r" b="b" t="t" l="l"/>
            <a:pathLst>
              <a:path h="3631053" w="6747211">
                <a:moveTo>
                  <a:pt x="0" y="0"/>
                </a:moveTo>
                <a:lnTo>
                  <a:pt x="6747211" y="0"/>
                </a:lnTo>
                <a:lnTo>
                  <a:pt x="6747211" y="3631053"/>
                </a:lnTo>
                <a:lnTo>
                  <a:pt x="0" y="3631053"/>
                </a:lnTo>
                <a:lnTo>
                  <a:pt x="0" y="0"/>
                </a:lnTo>
                <a:close/>
              </a:path>
            </a:pathLst>
          </a:custGeom>
          <a:blipFill>
            <a:blip r:embed="rId5"/>
            <a:stretch>
              <a:fillRect l="0" t="0" r="-1346" b="0"/>
            </a:stretch>
          </a:blipFill>
        </p:spPr>
      </p:sp>
      <p:grpSp>
        <p:nvGrpSpPr>
          <p:cNvPr name="Group 14" id="14"/>
          <p:cNvGrpSpPr/>
          <p:nvPr/>
        </p:nvGrpSpPr>
        <p:grpSpPr>
          <a:xfrm rot="0">
            <a:off x="1455014" y="4159413"/>
            <a:ext cx="9058287" cy="395062"/>
            <a:chOff x="0" y="0"/>
            <a:chExt cx="2385722" cy="104049"/>
          </a:xfrm>
        </p:grpSpPr>
        <p:sp>
          <p:nvSpPr>
            <p:cNvPr name="Freeform 15" id="15"/>
            <p:cNvSpPr/>
            <p:nvPr/>
          </p:nvSpPr>
          <p:spPr>
            <a:xfrm flipH="false" flipV="false" rot="0">
              <a:off x="0" y="0"/>
              <a:ext cx="2385722" cy="104049"/>
            </a:xfrm>
            <a:custGeom>
              <a:avLst/>
              <a:gdLst/>
              <a:ahLst/>
              <a:cxnLst/>
              <a:rect r="r" b="b" t="t" l="l"/>
              <a:pathLst>
                <a:path h="104049" w="2385722">
                  <a:moveTo>
                    <a:pt x="0" y="0"/>
                  </a:moveTo>
                  <a:lnTo>
                    <a:pt x="2385722" y="0"/>
                  </a:lnTo>
                  <a:lnTo>
                    <a:pt x="2385722" y="104049"/>
                  </a:lnTo>
                  <a:lnTo>
                    <a:pt x="0" y="104049"/>
                  </a:lnTo>
                  <a:close/>
                </a:path>
              </a:pathLst>
            </a:custGeom>
            <a:solidFill>
              <a:srgbClr val="000000">
                <a:alpha val="0"/>
              </a:srgbClr>
            </a:solidFill>
            <a:ln w="38100" cap="sq">
              <a:solidFill>
                <a:srgbClr val="FF66C4"/>
              </a:solidFill>
              <a:prstDash val="solid"/>
              <a:miter/>
            </a:ln>
          </p:spPr>
        </p:sp>
        <p:sp>
          <p:nvSpPr>
            <p:cNvPr name="TextBox 16" id="16"/>
            <p:cNvSpPr txBox="true"/>
            <p:nvPr/>
          </p:nvSpPr>
          <p:spPr>
            <a:xfrm>
              <a:off x="0" y="-38100"/>
              <a:ext cx="2385722" cy="142149"/>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455014" y="4554476"/>
            <a:ext cx="9058287" cy="1372242"/>
            <a:chOff x="0" y="0"/>
            <a:chExt cx="2385722" cy="361413"/>
          </a:xfrm>
        </p:grpSpPr>
        <p:sp>
          <p:nvSpPr>
            <p:cNvPr name="Freeform 18" id="18"/>
            <p:cNvSpPr/>
            <p:nvPr/>
          </p:nvSpPr>
          <p:spPr>
            <a:xfrm flipH="false" flipV="false" rot="0">
              <a:off x="0" y="0"/>
              <a:ext cx="2385722" cy="361413"/>
            </a:xfrm>
            <a:custGeom>
              <a:avLst/>
              <a:gdLst/>
              <a:ahLst/>
              <a:cxnLst/>
              <a:rect r="r" b="b" t="t" l="l"/>
              <a:pathLst>
                <a:path h="361413" w="2385722">
                  <a:moveTo>
                    <a:pt x="0" y="0"/>
                  </a:moveTo>
                  <a:lnTo>
                    <a:pt x="2385722" y="0"/>
                  </a:lnTo>
                  <a:lnTo>
                    <a:pt x="2385722" y="361413"/>
                  </a:lnTo>
                  <a:lnTo>
                    <a:pt x="0" y="361413"/>
                  </a:lnTo>
                  <a:close/>
                </a:path>
              </a:pathLst>
            </a:custGeom>
            <a:solidFill>
              <a:srgbClr val="000000">
                <a:alpha val="0"/>
              </a:srgbClr>
            </a:solidFill>
            <a:ln w="38100" cap="sq">
              <a:solidFill>
                <a:srgbClr val="FF66C4"/>
              </a:solidFill>
              <a:prstDash val="solid"/>
              <a:miter/>
            </a:ln>
          </p:spPr>
        </p:sp>
        <p:sp>
          <p:nvSpPr>
            <p:cNvPr name="TextBox 19" id="19"/>
            <p:cNvSpPr txBox="true"/>
            <p:nvPr/>
          </p:nvSpPr>
          <p:spPr>
            <a:xfrm>
              <a:off x="0" y="-38100"/>
              <a:ext cx="2385722" cy="39951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455014" y="7033779"/>
            <a:ext cx="9058287" cy="493384"/>
            <a:chOff x="0" y="0"/>
            <a:chExt cx="2385722" cy="129945"/>
          </a:xfrm>
        </p:grpSpPr>
        <p:sp>
          <p:nvSpPr>
            <p:cNvPr name="Freeform 21" id="21"/>
            <p:cNvSpPr/>
            <p:nvPr/>
          </p:nvSpPr>
          <p:spPr>
            <a:xfrm flipH="false" flipV="false" rot="0">
              <a:off x="0" y="0"/>
              <a:ext cx="2385722" cy="129945"/>
            </a:xfrm>
            <a:custGeom>
              <a:avLst/>
              <a:gdLst/>
              <a:ahLst/>
              <a:cxnLst/>
              <a:rect r="r" b="b" t="t" l="l"/>
              <a:pathLst>
                <a:path h="129945" w="2385722">
                  <a:moveTo>
                    <a:pt x="0" y="0"/>
                  </a:moveTo>
                  <a:lnTo>
                    <a:pt x="2385722" y="0"/>
                  </a:lnTo>
                  <a:lnTo>
                    <a:pt x="2385722" y="129945"/>
                  </a:lnTo>
                  <a:lnTo>
                    <a:pt x="0" y="129945"/>
                  </a:lnTo>
                  <a:close/>
                </a:path>
              </a:pathLst>
            </a:custGeom>
            <a:solidFill>
              <a:srgbClr val="000000">
                <a:alpha val="0"/>
              </a:srgbClr>
            </a:solidFill>
            <a:ln w="38100" cap="sq">
              <a:solidFill>
                <a:srgbClr val="FF66C4"/>
              </a:solidFill>
              <a:prstDash val="solid"/>
              <a:miter/>
            </a:ln>
          </p:spPr>
        </p:sp>
        <p:sp>
          <p:nvSpPr>
            <p:cNvPr name="TextBox 22" id="22"/>
            <p:cNvSpPr txBox="true"/>
            <p:nvPr/>
          </p:nvSpPr>
          <p:spPr>
            <a:xfrm>
              <a:off x="0" y="-38100"/>
              <a:ext cx="2385722" cy="168045"/>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167930" y="5143500"/>
            <a:ext cx="7120070" cy="2136971"/>
            <a:chOff x="0" y="0"/>
            <a:chExt cx="1875245" cy="562824"/>
          </a:xfrm>
        </p:grpSpPr>
        <p:sp>
          <p:nvSpPr>
            <p:cNvPr name="Freeform 24" id="24"/>
            <p:cNvSpPr/>
            <p:nvPr/>
          </p:nvSpPr>
          <p:spPr>
            <a:xfrm flipH="false" flipV="false" rot="0">
              <a:off x="0" y="0"/>
              <a:ext cx="1875245" cy="562824"/>
            </a:xfrm>
            <a:custGeom>
              <a:avLst/>
              <a:gdLst/>
              <a:ahLst/>
              <a:cxnLst/>
              <a:rect r="r" b="b" t="t" l="l"/>
              <a:pathLst>
                <a:path h="562824" w="1875245">
                  <a:moveTo>
                    <a:pt x="0" y="0"/>
                  </a:moveTo>
                  <a:lnTo>
                    <a:pt x="1875245" y="0"/>
                  </a:lnTo>
                  <a:lnTo>
                    <a:pt x="1875245" y="562824"/>
                  </a:lnTo>
                  <a:lnTo>
                    <a:pt x="0" y="562824"/>
                  </a:lnTo>
                  <a:close/>
                </a:path>
              </a:pathLst>
            </a:custGeom>
            <a:solidFill>
              <a:srgbClr val="000000">
                <a:alpha val="0"/>
              </a:srgbClr>
            </a:solidFill>
            <a:ln w="38100" cap="sq">
              <a:solidFill>
                <a:srgbClr val="FF66C4"/>
              </a:solidFill>
              <a:prstDash val="solid"/>
              <a:miter/>
            </a:ln>
          </p:spPr>
        </p:sp>
        <p:sp>
          <p:nvSpPr>
            <p:cNvPr name="TextBox 25" id="25"/>
            <p:cNvSpPr txBox="true"/>
            <p:nvPr/>
          </p:nvSpPr>
          <p:spPr>
            <a:xfrm>
              <a:off x="0" y="-38100"/>
              <a:ext cx="1875245" cy="60092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20</a:t>
            </a:r>
          </a:p>
        </p:txBody>
      </p:sp>
      <p:sp>
        <p:nvSpPr>
          <p:cNvPr name="TextBox 27" id="27"/>
          <p:cNvSpPr txBox="true"/>
          <p:nvPr/>
        </p:nvSpPr>
        <p:spPr>
          <a:xfrm rot="0">
            <a:off x="3082460" y="25522"/>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8" id="28"/>
          <p:cNvSpPr txBox="true"/>
          <p:nvPr/>
        </p:nvSpPr>
        <p:spPr>
          <a:xfrm rot="0">
            <a:off x="1889965" y="139347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02.1</a:t>
            </a:r>
          </a:p>
        </p:txBody>
      </p:sp>
      <p:sp>
        <p:nvSpPr>
          <p:cNvPr name="TextBox 29" id="29"/>
          <p:cNvSpPr txBox="true"/>
          <p:nvPr/>
        </p:nvSpPr>
        <p:spPr>
          <a:xfrm rot="0">
            <a:off x="3827226" y="1464089"/>
            <a:ext cx="9029819"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Coroutine phản ứng như thế nào ?</a:t>
            </a:r>
          </a:p>
        </p:txBody>
      </p:sp>
      <p:sp>
        <p:nvSpPr>
          <p:cNvPr name="TextBox 30" id="30"/>
          <p:cNvSpPr txBox="true"/>
          <p:nvPr/>
        </p:nvSpPr>
        <p:spPr>
          <a:xfrm rot="0">
            <a:off x="2948659" y="9220200"/>
            <a:ext cx="6070997"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17: Coroutine không tự dừng nếu không hợp tác </a:t>
            </a:r>
          </a:p>
        </p:txBody>
      </p:sp>
      <p:sp>
        <p:nvSpPr>
          <p:cNvPr name="TextBox 31" id="31"/>
          <p:cNvSpPr txBox="true"/>
          <p:nvPr/>
        </p:nvSpPr>
        <p:spPr>
          <a:xfrm rot="0">
            <a:off x="13585583" y="7242371"/>
            <a:ext cx="1911906"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18: Kết quả </a:t>
            </a:r>
          </a:p>
        </p:txBody>
      </p:sp>
      <p:sp>
        <p:nvSpPr>
          <p:cNvPr name="TextBox 32" id="3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67766" y="1581126"/>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21</a:t>
            </a:r>
          </a:p>
        </p:txBody>
      </p:sp>
      <p:sp>
        <p:nvSpPr>
          <p:cNvPr name="TextBox 13" id="13"/>
          <p:cNvSpPr txBox="true"/>
          <p:nvPr/>
        </p:nvSpPr>
        <p:spPr>
          <a:xfrm rot="0">
            <a:off x="3143890" y="486386"/>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4" id="14"/>
          <p:cNvSpPr txBox="true"/>
          <p:nvPr/>
        </p:nvSpPr>
        <p:spPr>
          <a:xfrm rot="0">
            <a:off x="1951394" y="1854338"/>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02.2</a:t>
            </a:r>
          </a:p>
        </p:txBody>
      </p:sp>
      <p:sp>
        <p:nvSpPr>
          <p:cNvPr name="TextBox 15" id="15"/>
          <p:cNvSpPr txBox="true"/>
          <p:nvPr/>
        </p:nvSpPr>
        <p:spPr>
          <a:xfrm rot="0">
            <a:off x="3724290" y="1924954"/>
            <a:ext cx="978717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Các cách chính để Coroutine hợp tác</a:t>
            </a:r>
          </a:p>
        </p:txBody>
      </p:sp>
      <p:grpSp>
        <p:nvGrpSpPr>
          <p:cNvPr name="Group 16" id="16"/>
          <p:cNvGrpSpPr/>
          <p:nvPr/>
        </p:nvGrpSpPr>
        <p:grpSpPr>
          <a:xfrm rot="0">
            <a:off x="1243013" y="3599177"/>
            <a:ext cx="15129597" cy="4651160"/>
            <a:chOff x="0" y="0"/>
            <a:chExt cx="20172796" cy="6201546"/>
          </a:xfrm>
        </p:grpSpPr>
        <p:grpSp>
          <p:nvGrpSpPr>
            <p:cNvPr name="Group 17" id="17"/>
            <p:cNvGrpSpPr/>
            <p:nvPr/>
          </p:nvGrpSpPr>
          <p:grpSpPr>
            <a:xfrm rot="0">
              <a:off x="0" y="0"/>
              <a:ext cx="20172796" cy="6201546"/>
              <a:chOff x="0" y="0"/>
              <a:chExt cx="14064161" cy="4323622"/>
            </a:xfrm>
          </p:grpSpPr>
          <p:sp>
            <p:nvSpPr>
              <p:cNvPr name="Freeform 18" id="18"/>
              <p:cNvSpPr/>
              <p:nvPr/>
            </p:nvSpPr>
            <p:spPr>
              <a:xfrm flipH="false" flipV="false" rot="0">
                <a:off x="0" y="0"/>
                <a:ext cx="14064160" cy="4323622"/>
              </a:xfrm>
              <a:custGeom>
                <a:avLst/>
                <a:gdLst/>
                <a:ahLst/>
                <a:cxnLst/>
                <a:rect r="r" b="b" t="t" l="l"/>
                <a:pathLst>
                  <a:path h="4323622" w="14064160">
                    <a:moveTo>
                      <a:pt x="7394" y="0"/>
                    </a:moveTo>
                    <a:lnTo>
                      <a:pt x="14056767" y="0"/>
                    </a:lnTo>
                    <a:cubicBezTo>
                      <a:pt x="14060850" y="0"/>
                      <a:pt x="14064160" y="3310"/>
                      <a:pt x="14064160" y="7394"/>
                    </a:cubicBezTo>
                    <a:lnTo>
                      <a:pt x="14064160" y="4316228"/>
                    </a:lnTo>
                    <a:cubicBezTo>
                      <a:pt x="14064160" y="4320311"/>
                      <a:pt x="14060850" y="4323622"/>
                      <a:pt x="14056767" y="4323622"/>
                    </a:cubicBezTo>
                    <a:lnTo>
                      <a:pt x="7394" y="4323622"/>
                    </a:lnTo>
                    <a:cubicBezTo>
                      <a:pt x="3310" y="4323622"/>
                      <a:pt x="0" y="4320311"/>
                      <a:pt x="0" y="4316228"/>
                    </a:cubicBezTo>
                    <a:lnTo>
                      <a:pt x="0" y="7394"/>
                    </a:lnTo>
                    <a:cubicBezTo>
                      <a:pt x="0" y="3310"/>
                      <a:pt x="3310" y="0"/>
                      <a:pt x="7394" y="0"/>
                    </a:cubicBezTo>
                    <a:close/>
                  </a:path>
                </a:pathLst>
              </a:custGeom>
              <a:solidFill>
                <a:srgbClr val="E8ECEC"/>
              </a:solidFill>
            </p:spPr>
          </p:sp>
          <p:sp>
            <p:nvSpPr>
              <p:cNvPr name="TextBox 19" id="19"/>
              <p:cNvSpPr txBox="true"/>
              <p:nvPr/>
            </p:nvSpPr>
            <p:spPr>
              <a:xfrm>
                <a:off x="0" y="-38100"/>
                <a:ext cx="14064161" cy="436172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2463" y="63774"/>
              <a:ext cx="18423953" cy="61377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Dùng suspend function có sẵn: delay(), await(),</a:t>
              </a:r>
              <a:r>
                <a:rPr lang="en-US" sz="3196">
                  <a:solidFill>
                    <a:srgbClr val="000000"/>
                  </a:solidFill>
                  <a:latin typeface="Garet"/>
                  <a:ea typeface="Garet"/>
                  <a:cs typeface="Garet"/>
                  <a:sym typeface="Garet"/>
                </a:rPr>
                <a:t> y</a:t>
              </a:r>
              <a:r>
                <a:rPr lang="en-US" sz="3196">
                  <a:solidFill>
                    <a:srgbClr val="000000"/>
                  </a:solidFill>
                  <a:latin typeface="Garet"/>
                  <a:ea typeface="Garet"/>
                  <a:cs typeface="Garet"/>
                  <a:sym typeface="Garet"/>
                </a:rPr>
                <a:t>ield()</a:t>
              </a:r>
            </a:p>
            <a:p>
              <a:pPr algn="just">
                <a:lnSpc>
                  <a:spcPts val="6232"/>
                </a:lnSpc>
              </a:pPr>
              <a:r>
                <a:rPr lang="en-US" sz="3196">
                  <a:solidFill>
                    <a:srgbClr val="000000"/>
                  </a:solidFill>
                  <a:latin typeface="Garet"/>
                  <a:ea typeface="Garet"/>
                  <a:cs typeface="Garet"/>
                  <a:sym typeface="Garet"/>
                </a:rPr>
                <a:t>Các hàm này:</a:t>
              </a:r>
            </a:p>
            <a:p>
              <a:pPr algn="just" marL="690035" indent="-345018" lvl="1">
                <a:lnSpc>
                  <a:spcPts val="6232"/>
                </a:lnSpc>
                <a:buFont typeface="Arial"/>
                <a:buChar char="•"/>
              </a:pPr>
              <a:r>
                <a:rPr lang="en-US" sz="3196">
                  <a:solidFill>
                    <a:srgbClr val="000000"/>
                  </a:solidFill>
                  <a:latin typeface="Garet"/>
                  <a:ea typeface="Garet"/>
                  <a:cs typeface="Garet"/>
                  <a:sym typeface="Garet"/>
                </a:rPr>
                <a:t>Tự động kiểm tra Job.isActive</a:t>
              </a:r>
            </a:p>
            <a:p>
              <a:pPr algn="just" marL="690035" indent="-345018" lvl="1">
                <a:lnSpc>
                  <a:spcPts val="6232"/>
                </a:lnSpc>
                <a:buFont typeface="Arial"/>
                <a:buChar char="•"/>
              </a:pPr>
              <a:r>
                <a:rPr lang="en-US" sz="3196">
                  <a:solidFill>
                    <a:srgbClr val="000000"/>
                  </a:solidFill>
                  <a:latin typeface="Garet"/>
                  <a:ea typeface="Garet"/>
                  <a:cs typeface="Garet"/>
                  <a:sym typeface="Garet"/>
                </a:rPr>
                <a:t>Nếu đã bị hủy → ném C</a:t>
              </a:r>
              <a:r>
                <a:rPr lang="en-US" sz="3196">
                  <a:solidFill>
                    <a:srgbClr val="000000"/>
                  </a:solidFill>
                  <a:latin typeface="Garet"/>
                  <a:ea typeface="Garet"/>
                  <a:cs typeface="Garet"/>
                  <a:sym typeface="Garet"/>
                </a:rPr>
                <a:t>an</a:t>
              </a:r>
              <a:r>
                <a:rPr lang="en-US" sz="3196">
                  <a:solidFill>
                    <a:srgbClr val="000000"/>
                  </a:solidFill>
                  <a:latin typeface="Garet"/>
                  <a:ea typeface="Garet"/>
                  <a:cs typeface="Garet"/>
                  <a:sym typeface="Garet"/>
                </a:rPr>
                <a:t>cellationException</a:t>
              </a:r>
            </a:p>
            <a:p>
              <a:pPr algn="just" marL="690035" indent="-345018" lvl="1">
                <a:lnSpc>
                  <a:spcPts val="6232"/>
                </a:lnSpc>
                <a:buFont typeface="Arial"/>
                <a:buChar char="•"/>
              </a:pPr>
              <a:r>
                <a:rPr lang="en-US" sz="3196">
                  <a:solidFill>
                    <a:srgbClr val="000000"/>
                  </a:solidFill>
                  <a:latin typeface="Garet"/>
                  <a:ea typeface="Garet"/>
                  <a:cs typeface="Garet"/>
                  <a:sym typeface="Garet"/>
                </a:rPr>
                <a:t>C</a:t>
              </a:r>
              <a:r>
                <a:rPr lang="en-US" sz="3196">
                  <a:solidFill>
                    <a:srgbClr val="000000"/>
                  </a:solidFill>
                  <a:latin typeface="Garet"/>
                  <a:ea typeface="Garet"/>
                  <a:cs typeface="Garet"/>
                  <a:sym typeface="Garet"/>
                </a:rPr>
                <a:t>oroutine kết thúc ngay</a:t>
              </a:r>
            </a:p>
            <a:p>
              <a:pPr algn="just">
                <a:lnSpc>
                  <a:spcPts val="6232"/>
                </a:lnSpc>
              </a:pPr>
              <a:r>
                <a:rPr lang="en-US" sz="3196">
                  <a:solidFill>
                    <a:srgbClr val="000000"/>
                  </a:solidFill>
                  <a:latin typeface="Garet"/>
                  <a:ea typeface="Garet"/>
                  <a:cs typeface="Garet"/>
                  <a:sym typeface="Garet"/>
                </a:rPr>
                <a:t>VD: </a:t>
              </a:r>
              <a:r>
                <a:rPr lang="en-US" sz="3196">
                  <a:solidFill>
                    <a:srgbClr val="000000"/>
                  </a:solidFill>
                  <a:latin typeface="Garet"/>
                  <a:ea typeface="Garet"/>
                  <a:cs typeface="Garet"/>
                  <a:sym typeface="Garet"/>
                </a:rPr>
                <a:t>delay(1000) → Nếu bị cancel, sẽ kết thúc tại đây.</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61681"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22</a:t>
            </a:r>
          </a:p>
        </p:txBody>
      </p:sp>
      <p:sp>
        <p:nvSpPr>
          <p:cNvPr name="TextBox 13" id="13"/>
          <p:cNvSpPr txBox="true"/>
          <p:nvPr/>
        </p:nvSpPr>
        <p:spPr>
          <a:xfrm rot="0">
            <a:off x="2937805"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4" id="14"/>
          <p:cNvSpPr txBox="true"/>
          <p:nvPr/>
        </p:nvSpPr>
        <p:spPr>
          <a:xfrm rot="0">
            <a:off x="1745309" y="1497676"/>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02.2</a:t>
            </a:r>
          </a:p>
        </p:txBody>
      </p:sp>
      <p:sp>
        <p:nvSpPr>
          <p:cNvPr name="TextBox 15" id="15"/>
          <p:cNvSpPr txBox="true"/>
          <p:nvPr/>
        </p:nvSpPr>
        <p:spPr>
          <a:xfrm rot="0">
            <a:off x="3537255" y="1568291"/>
            <a:ext cx="978717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Các cách chính để Coroutine hợp tác</a:t>
            </a:r>
          </a:p>
        </p:txBody>
      </p:sp>
      <p:grpSp>
        <p:nvGrpSpPr>
          <p:cNvPr name="Group 16" id="16"/>
          <p:cNvGrpSpPr/>
          <p:nvPr/>
        </p:nvGrpSpPr>
        <p:grpSpPr>
          <a:xfrm rot="0">
            <a:off x="1243013" y="3599177"/>
            <a:ext cx="15129597" cy="4651160"/>
            <a:chOff x="0" y="0"/>
            <a:chExt cx="20172796" cy="6201546"/>
          </a:xfrm>
        </p:grpSpPr>
        <p:grpSp>
          <p:nvGrpSpPr>
            <p:cNvPr name="Group 17" id="17"/>
            <p:cNvGrpSpPr/>
            <p:nvPr/>
          </p:nvGrpSpPr>
          <p:grpSpPr>
            <a:xfrm rot="0">
              <a:off x="0" y="0"/>
              <a:ext cx="20172796" cy="6201546"/>
              <a:chOff x="0" y="0"/>
              <a:chExt cx="14064161" cy="4323622"/>
            </a:xfrm>
          </p:grpSpPr>
          <p:sp>
            <p:nvSpPr>
              <p:cNvPr name="Freeform 18" id="18"/>
              <p:cNvSpPr/>
              <p:nvPr/>
            </p:nvSpPr>
            <p:spPr>
              <a:xfrm flipH="false" flipV="false" rot="0">
                <a:off x="0" y="0"/>
                <a:ext cx="14064160" cy="4323622"/>
              </a:xfrm>
              <a:custGeom>
                <a:avLst/>
                <a:gdLst/>
                <a:ahLst/>
                <a:cxnLst/>
                <a:rect r="r" b="b" t="t" l="l"/>
                <a:pathLst>
                  <a:path h="4323622" w="14064160">
                    <a:moveTo>
                      <a:pt x="7394" y="0"/>
                    </a:moveTo>
                    <a:lnTo>
                      <a:pt x="14056767" y="0"/>
                    </a:lnTo>
                    <a:cubicBezTo>
                      <a:pt x="14060850" y="0"/>
                      <a:pt x="14064160" y="3310"/>
                      <a:pt x="14064160" y="7394"/>
                    </a:cubicBezTo>
                    <a:lnTo>
                      <a:pt x="14064160" y="4316228"/>
                    </a:lnTo>
                    <a:cubicBezTo>
                      <a:pt x="14064160" y="4320311"/>
                      <a:pt x="14060850" y="4323622"/>
                      <a:pt x="14056767" y="4323622"/>
                    </a:cubicBezTo>
                    <a:lnTo>
                      <a:pt x="7394" y="4323622"/>
                    </a:lnTo>
                    <a:cubicBezTo>
                      <a:pt x="3310" y="4323622"/>
                      <a:pt x="0" y="4320311"/>
                      <a:pt x="0" y="4316228"/>
                    </a:cubicBezTo>
                    <a:lnTo>
                      <a:pt x="0" y="7394"/>
                    </a:lnTo>
                    <a:cubicBezTo>
                      <a:pt x="0" y="3310"/>
                      <a:pt x="3310" y="0"/>
                      <a:pt x="7394" y="0"/>
                    </a:cubicBezTo>
                    <a:close/>
                  </a:path>
                </a:pathLst>
              </a:custGeom>
              <a:solidFill>
                <a:srgbClr val="E8ECEC"/>
              </a:solidFill>
            </p:spPr>
          </p:sp>
          <p:sp>
            <p:nvSpPr>
              <p:cNvPr name="TextBox 19" id="19"/>
              <p:cNvSpPr txBox="true"/>
              <p:nvPr/>
            </p:nvSpPr>
            <p:spPr>
              <a:xfrm>
                <a:off x="0" y="-38100"/>
                <a:ext cx="14064161" cy="436172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2463" y="63774"/>
              <a:ext cx="18423953" cy="61377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Kiểm tra thủ công (khi không có suspend)</a:t>
              </a:r>
            </a:p>
            <a:p>
              <a:pPr algn="just">
                <a:lnSpc>
                  <a:spcPts val="6232"/>
                </a:lnSpc>
              </a:pPr>
              <a:r>
                <a:rPr lang="en-US" sz="3196">
                  <a:solidFill>
                    <a:srgbClr val="000000"/>
                  </a:solidFill>
                  <a:latin typeface="Garet"/>
                  <a:ea typeface="Garet"/>
                  <a:cs typeface="Garet"/>
                  <a:sym typeface="Garet"/>
                </a:rPr>
                <a:t>Nếu </a:t>
              </a:r>
              <a:r>
                <a:rPr lang="en-US" sz="3196">
                  <a:solidFill>
                    <a:srgbClr val="000000"/>
                  </a:solidFill>
                  <a:latin typeface="Garet"/>
                  <a:ea typeface="Garet"/>
                  <a:cs typeface="Garet"/>
                  <a:sym typeface="Garet"/>
                </a:rPr>
                <a:t>coroutine chạy:</a:t>
              </a:r>
            </a:p>
            <a:p>
              <a:pPr algn="just" marL="690035" indent="-345018" lvl="1">
                <a:lnSpc>
                  <a:spcPts val="6232"/>
                </a:lnSpc>
                <a:buFont typeface="Arial"/>
                <a:buChar char="•"/>
              </a:pPr>
              <a:r>
                <a:rPr lang="en-US" sz="3196">
                  <a:solidFill>
                    <a:srgbClr val="000000"/>
                  </a:solidFill>
                  <a:latin typeface="Garet"/>
                  <a:ea typeface="Garet"/>
                  <a:cs typeface="Garet"/>
                  <a:sym typeface="Garet"/>
                </a:rPr>
                <a:t>vò</a:t>
              </a:r>
              <a:r>
                <a:rPr lang="en-US" sz="3196">
                  <a:solidFill>
                    <a:srgbClr val="000000"/>
                  </a:solidFill>
                  <a:latin typeface="Garet"/>
                  <a:ea typeface="Garet"/>
                  <a:cs typeface="Garet"/>
                  <a:sym typeface="Garet"/>
                </a:rPr>
                <a:t>ng lặp tính toán nặng</a:t>
              </a:r>
            </a:p>
            <a:p>
              <a:pPr algn="just" marL="690035" indent="-345018" lvl="1">
                <a:lnSpc>
                  <a:spcPts val="6232"/>
                </a:lnSpc>
                <a:buFont typeface="Arial"/>
                <a:buChar char="•"/>
              </a:pPr>
              <a:r>
                <a:rPr lang="en-US" sz="3196">
                  <a:solidFill>
                    <a:srgbClr val="000000"/>
                  </a:solidFill>
                  <a:latin typeface="Garet"/>
                  <a:ea typeface="Garet"/>
                  <a:cs typeface="Garet"/>
                  <a:sym typeface="Garet"/>
                </a:rPr>
                <a:t>thuật toán xử lý ảnh</a:t>
              </a:r>
            </a:p>
            <a:p>
              <a:pPr algn="just" marL="690035" indent="-345018" lvl="1">
                <a:lnSpc>
                  <a:spcPts val="6232"/>
                </a:lnSpc>
                <a:buFont typeface="Arial"/>
                <a:buChar char="•"/>
              </a:pPr>
              <a:r>
                <a:rPr lang="en-US" sz="3196">
                  <a:solidFill>
                    <a:srgbClr val="000000"/>
                  </a:solidFill>
                  <a:latin typeface="Garet"/>
                  <a:ea typeface="Garet"/>
                  <a:cs typeface="Garet"/>
                  <a:sym typeface="Garet"/>
                </a:rPr>
                <a:t>không </a:t>
              </a:r>
              <a:r>
                <a:rPr lang="en-US" sz="3196">
                  <a:solidFill>
                    <a:srgbClr val="000000"/>
                  </a:solidFill>
                  <a:latin typeface="Garet"/>
                  <a:ea typeface="Garet"/>
                  <a:cs typeface="Garet"/>
                  <a:sym typeface="Garet"/>
                </a:rPr>
                <a:t>có suspend point</a:t>
              </a:r>
            </a:p>
            <a:p>
              <a:pPr algn="just">
                <a:lnSpc>
                  <a:spcPts val="6232"/>
                </a:lnSpc>
              </a:pPr>
              <a:r>
                <a:rPr lang="en-US" sz="3196">
                  <a:solidFill>
                    <a:srgbClr val="000000"/>
                  </a:solidFill>
                  <a:latin typeface="Garet"/>
                  <a:ea typeface="Garet"/>
                  <a:cs typeface="Garet"/>
                  <a:sym typeface="Garet"/>
                </a:rPr>
                <a:t>→ bắt buộc phải tự kiểm tra.</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61681"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608879" y="3462078"/>
            <a:ext cx="6100536" cy="3860585"/>
            <a:chOff x="0" y="0"/>
            <a:chExt cx="8134049" cy="5147446"/>
          </a:xfrm>
        </p:grpSpPr>
        <p:grpSp>
          <p:nvGrpSpPr>
            <p:cNvPr name="Group 13" id="13"/>
            <p:cNvGrpSpPr/>
            <p:nvPr/>
          </p:nvGrpSpPr>
          <p:grpSpPr>
            <a:xfrm rot="0">
              <a:off x="0" y="0"/>
              <a:ext cx="8134049" cy="5147446"/>
              <a:chOff x="0" y="0"/>
              <a:chExt cx="5670933" cy="3588720"/>
            </a:xfrm>
          </p:grpSpPr>
          <p:sp>
            <p:nvSpPr>
              <p:cNvPr name="Freeform 14" id="14"/>
              <p:cNvSpPr/>
              <p:nvPr/>
            </p:nvSpPr>
            <p:spPr>
              <a:xfrm flipH="false" flipV="false" rot="0">
                <a:off x="0" y="0"/>
                <a:ext cx="5670933" cy="3588720"/>
              </a:xfrm>
              <a:custGeom>
                <a:avLst/>
                <a:gdLst/>
                <a:ahLst/>
                <a:cxnLst/>
                <a:rect r="r" b="b" t="t" l="l"/>
                <a:pathLst>
                  <a:path h="3588720" w="5670933">
                    <a:moveTo>
                      <a:pt x="18337" y="0"/>
                    </a:moveTo>
                    <a:lnTo>
                      <a:pt x="5652595" y="0"/>
                    </a:lnTo>
                    <a:cubicBezTo>
                      <a:pt x="5657459" y="0"/>
                      <a:pt x="5662123" y="1932"/>
                      <a:pt x="5665562" y="5371"/>
                    </a:cubicBezTo>
                    <a:cubicBezTo>
                      <a:pt x="5669000" y="8810"/>
                      <a:pt x="5670933" y="13474"/>
                      <a:pt x="5670933" y="18337"/>
                    </a:cubicBezTo>
                    <a:lnTo>
                      <a:pt x="5670933" y="3570382"/>
                    </a:lnTo>
                    <a:cubicBezTo>
                      <a:pt x="5670933" y="3575246"/>
                      <a:pt x="5669000" y="3579910"/>
                      <a:pt x="5665562" y="3583349"/>
                    </a:cubicBezTo>
                    <a:cubicBezTo>
                      <a:pt x="5662123" y="3586788"/>
                      <a:pt x="5657459" y="3588720"/>
                      <a:pt x="5652595" y="3588720"/>
                    </a:cubicBezTo>
                    <a:lnTo>
                      <a:pt x="18337" y="3588720"/>
                    </a:lnTo>
                    <a:cubicBezTo>
                      <a:pt x="13474" y="3588720"/>
                      <a:pt x="8810" y="3586788"/>
                      <a:pt x="5371" y="3583349"/>
                    </a:cubicBezTo>
                    <a:cubicBezTo>
                      <a:pt x="1932" y="3579910"/>
                      <a:pt x="0" y="3575246"/>
                      <a:pt x="0" y="3570382"/>
                    </a:cubicBezTo>
                    <a:lnTo>
                      <a:pt x="0" y="18337"/>
                    </a:lnTo>
                    <a:cubicBezTo>
                      <a:pt x="0" y="13474"/>
                      <a:pt x="1932" y="8810"/>
                      <a:pt x="5371" y="5371"/>
                    </a:cubicBezTo>
                    <a:cubicBezTo>
                      <a:pt x="8810" y="1932"/>
                      <a:pt x="13474" y="0"/>
                      <a:pt x="18337" y="0"/>
                    </a:cubicBezTo>
                    <a:close/>
                  </a:path>
                </a:pathLst>
              </a:custGeom>
              <a:solidFill>
                <a:srgbClr val="E8ECEC"/>
              </a:solidFill>
            </p:spPr>
          </p:sp>
          <p:sp>
            <p:nvSpPr>
              <p:cNvPr name="TextBox 15" id="15"/>
              <p:cNvSpPr txBox="true"/>
              <p:nvPr/>
            </p:nvSpPr>
            <p:spPr>
              <a:xfrm>
                <a:off x="0" y="-38100"/>
                <a:ext cx="5670933" cy="362682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50184" y="63774"/>
              <a:ext cx="7428882" cy="5083672"/>
            </a:xfrm>
            <a:prstGeom prst="rect">
              <a:avLst/>
            </a:prstGeom>
          </p:spPr>
          <p:txBody>
            <a:bodyPr anchor="t" rtlCol="false" tIns="0" lIns="0" bIns="0" rIns="0">
              <a:spAutoFit/>
            </a:bodyPr>
            <a:lstStyle/>
            <a:p>
              <a:pPr algn="just">
                <a:lnSpc>
                  <a:spcPts val="6232"/>
                </a:lnSpc>
              </a:pPr>
              <a:r>
                <a:rPr lang="en-US" sz="3196" b="true">
                  <a:solidFill>
                    <a:srgbClr val="000000"/>
                  </a:solidFill>
                  <a:latin typeface="Garet Bold"/>
                  <a:ea typeface="Garet Bold"/>
                  <a:cs typeface="Garet Bold"/>
                  <a:sym typeface="Garet Bold"/>
                </a:rPr>
                <a:t>Dùng isActive:</a:t>
              </a:r>
            </a:p>
            <a:p>
              <a:pPr algn="just" marL="690035" indent="-345018" lvl="1">
                <a:lnSpc>
                  <a:spcPts val="6232"/>
                </a:lnSpc>
                <a:buFont typeface="Arial"/>
                <a:buChar char="•"/>
              </a:pPr>
              <a:r>
                <a:rPr lang="en-US" sz="3196">
                  <a:solidFill>
                    <a:srgbClr val="000000"/>
                  </a:solidFill>
                  <a:latin typeface="Garet"/>
                  <a:ea typeface="Garet"/>
                  <a:cs typeface="Garet"/>
                  <a:sym typeface="Garet"/>
                </a:rPr>
                <a:t>isActive chỉ kiểm tra cờ</a:t>
              </a:r>
            </a:p>
            <a:p>
              <a:pPr algn="just" marL="690035" indent="-345018" lvl="1">
                <a:lnSpc>
                  <a:spcPts val="6232"/>
                </a:lnSpc>
                <a:buFont typeface="Arial"/>
                <a:buChar char="•"/>
              </a:pPr>
              <a:r>
                <a:rPr lang="en-US" sz="3196">
                  <a:solidFill>
                    <a:srgbClr val="000000"/>
                  </a:solidFill>
                  <a:latin typeface="Garet"/>
                  <a:ea typeface="Garet"/>
                  <a:cs typeface="Garet"/>
                  <a:sym typeface="Garet"/>
                </a:rPr>
                <a:t>Rất nhanh, rất rẻ</a:t>
              </a:r>
            </a:p>
            <a:p>
              <a:pPr algn="just" marL="690035" indent="-345018" lvl="1">
                <a:lnSpc>
                  <a:spcPts val="6232"/>
                </a:lnSpc>
                <a:buFont typeface="Arial"/>
                <a:buChar char="•"/>
              </a:pPr>
              <a:r>
                <a:rPr lang="en-US" sz="3196">
                  <a:solidFill>
                    <a:srgbClr val="000000"/>
                  </a:solidFill>
                  <a:latin typeface="Garet"/>
                  <a:ea typeface="Garet"/>
                  <a:cs typeface="Garet"/>
                  <a:sym typeface="Garet"/>
                </a:rPr>
                <a:t>Phù hợp cho vòng lặp</a:t>
              </a:r>
            </a:p>
            <a:p>
              <a:pPr algn="just">
                <a:lnSpc>
                  <a:spcPts val="6232"/>
                </a:lnSpc>
              </a:pPr>
            </a:p>
          </p:txBody>
        </p:sp>
      </p:grpSp>
      <p:sp>
        <p:nvSpPr>
          <p:cNvPr name="Freeform 17" id="17"/>
          <p:cNvSpPr/>
          <p:nvPr/>
        </p:nvSpPr>
        <p:spPr>
          <a:xfrm flipH="false" flipV="false" rot="0">
            <a:off x="7343549" y="2978343"/>
            <a:ext cx="10571592" cy="4744813"/>
          </a:xfrm>
          <a:custGeom>
            <a:avLst/>
            <a:gdLst/>
            <a:ahLst/>
            <a:cxnLst/>
            <a:rect r="r" b="b" t="t" l="l"/>
            <a:pathLst>
              <a:path h="4744813" w="10571592">
                <a:moveTo>
                  <a:pt x="0" y="0"/>
                </a:moveTo>
                <a:lnTo>
                  <a:pt x="10571592" y="0"/>
                </a:lnTo>
                <a:lnTo>
                  <a:pt x="10571592" y="4744814"/>
                </a:lnTo>
                <a:lnTo>
                  <a:pt x="0" y="4744814"/>
                </a:lnTo>
                <a:lnTo>
                  <a:pt x="0" y="0"/>
                </a:lnTo>
                <a:close/>
              </a:path>
            </a:pathLst>
          </a:custGeom>
          <a:blipFill>
            <a:blip r:embed="rId4"/>
            <a:stretch>
              <a:fillRect l="-3375" t="-7424" r="-3526" b="-6008"/>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23</a:t>
            </a:r>
          </a:p>
        </p:txBody>
      </p:sp>
      <p:sp>
        <p:nvSpPr>
          <p:cNvPr name="TextBox 19" id="19"/>
          <p:cNvSpPr txBox="true"/>
          <p:nvPr/>
        </p:nvSpPr>
        <p:spPr>
          <a:xfrm rot="0">
            <a:off x="2937805"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0" id="20"/>
          <p:cNvSpPr txBox="true"/>
          <p:nvPr/>
        </p:nvSpPr>
        <p:spPr>
          <a:xfrm rot="0">
            <a:off x="1745309" y="1497676"/>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02.2</a:t>
            </a:r>
          </a:p>
        </p:txBody>
      </p:sp>
      <p:sp>
        <p:nvSpPr>
          <p:cNvPr name="TextBox 21" id="21"/>
          <p:cNvSpPr txBox="true"/>
          <p:nvPr/>
        </p:nvSpPr>
        <p:spPr>
          <a:xfrm rot="0">
            <a:off x="3518205" y="1568291"/>
            <a:ext cx="978717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Các cách chính để Coroutine hợp tác</a:t>
            </a:r>
          </a:p>
        </p:txBody>
      </p:sp>
      <p:sp>
        <p:nvSpPr>
          <p:cNvPr name="TextBox 22" id="22"/>
          <p:cNvSpPr txBox="true"/>
          <p:nvPr/>
        </p:nvSpPr>
        <p:spPr>
          <a:xfrm rot="0">
            <a:off x="10120877" y="8208913"/>
            <a:ext cx="5016937"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19: Dùng isActive để Coroutine hợp tác</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703277"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24</a:t>
            </a:r>
          </a:p>
        </p:txBody>
      </p:sp>
      <p:sp>
        <p:nvSpPr>
          <p:cNvPr name="TextBox 13" id="13"/>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4" id="14"/>
          <p:cNvSpPr txBox="true"/>
          <p:nvPr/>
        </p:nvSpPr>
        <p:spPr>
          <a:xfrm rot="0">
            <a:off x="1326641" y="2394526"/>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02.2</a:t>
            </a:r>
          </a:p>
        </p:txBody>
      </p:sp>
      <p:sp>
        <p:nvSpPr>
          <p:cNvPr name="TextBox 15" id="15"/>
          <p:cNvSpPr txBox="true"/>
          <p:nvPr/>
        </p:nvSpPr>
        <p:spPr>
          <a:xfrm rot="0">
            <a:off x="3099537" y="2465141"/>
            <a:ext cx="978717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Các cách chính để Coroutine hợp tác</a:t>
            </a:r>
          </a:p>
        </p:txBody>
      </p:sp>
      <p:grpSp>
        <p:nvGrpSpPr>
          <p:cNvPr name="Group 16" id="16"/>
          <p:cNvGrpSpPr/>
          <p:nvPr/>
        </p:nvGrpSpPr>
        <p:grpSpPr>
          <a:xfrm rot="0">
            <a:off x="1243013" y="3955145"/>
            <a:ext cx="15177222" cy="3070010"/>
            <a:chOff x="0" y="0"/>
            <a:chExt cx="20236296" cy="4093346"/>
          </a:xfrm>
        </p:grpSpPr>
        <p:grpSp>
          <p:nvGrpSpPr>
            <p:cNvPr name="Group 17" id="17"/>
            <p:cNvGrpSpPr/>
            <p:nvPr/>
          </p:nvGrpSpPr>
          <p:grpSpPr>
            <a:xfrm rot="0">
              <a:off x="0" y="0"/>
              <a:ext cx="20236296" cy="4093346"/>
              <a:chOff x="0" y="0"/>
              <a:chExt cx="14108432" cy="2853817"/>
            </a:xfrm>
          </p:grpSpPr>
          <p:sp>
            <p:nvSpPr>
              <p:cNvPr name="Freeform 18" id="18"/>
              <p:cNvSpPr/>
              <p:nvPr/>
            </p:nvSpPr>
            <p:spPr>
              <a:xfrm flipH="false" flipV="false" rot="0">
                <a:off x="0" y="0"/>
                <a:ext cx="14108432" cy="2853817"/>
              </a:xfrm>
              <a:custGeom>
                <a:avLst/>
                <a:gdLst/>
                <a:ahLst/>
                <a:cxnLst/>
                <a:rect r="r" b="b" t="t" l="l"/>
                <a:pathLst>
                  <a:path h="2853817" w="14108432">
                    <a:moveTo>
                      <a:pt x="7371" y="0"/>
                    </a:moveTo>
                    <a:lnTo>
                      <a:pt x="14101062" y="0"/>
                    </a:lnTo>
                    <a:cubicBezTo>
                      <a:pt x="14105131" y="0"/>
                      <a:pt x="14108432" y="3300"/>
                      <a:pt x="14108432" y="7371"/>
                    </a:cubicBezTo>
                    <a:lnTo>
                      <a:pt x="14108432" y="2846447"/>
                    </a:lnTo>
                    <a:cubicBezTo>
                      <a:pt x="14108432" y="2850517"/>
                      <a:pt x="14105131" y="2853817"/>
                      <a:pt x="14101062" y="2853817"/>
                    </a:cubicBezTo>
                    <a:lnTo>
                      <a:pt x="7371" y="2853817"/>
                    </a:lnTo>
                    <a:cubicBezTo>
                      <a:pt x="3300" y="2853817"/>
                      <a:pt x="0" y="2850517"/>
                      <a:pt x="0" y="2846447"/>
                    </a:cubicBezTo>
                    <a:lnTo>
                      <a:pt x="0" y="7371"/>
                    </a:lnTo>
                    <a:cubicBezTo>
                      <a:pt x="0" y="3300"/>
                      <a:pt x="3300" y="0"/>
                      <a:pt x="7371" y="0"/>
                    </a:cubicBezTo>
                    <a:close/>
                  </a:path>
                </a:pathLst>
              </a:custGeom>
              <a:solidFill>
                <a:srgbClr val="E8ECEC"/>
              </a:solidFill>
            </p:spPr>
          </p:sp>
          <p:sp>
            <p:nvSpPr>
              <p:cNvPr name="TextBox 19" id="19"/>
              <p:cNvSpPr txBox="true"/>
              <p:nvPr/>
            </p:nvSpPr>
            <p:spPr>
              <a:xfrm>
                <a:off x="0" y="-38100"/>
                <a:ext cx="14108432" cy="289191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3635" y="63774"/>
              <a:ext cx="18481948" cy="4029572"/>
            </a:xfrm>
            <a:prstGeom prst="rect">
              <a:avLst/>
            </a:prstGeom>
          </p:spPr>
          <p:txBody>
            <a:bodyPr anchor="t" rtlCol="false" tIns="0" lIns="0" bIns="0" rIns="0">
              <a:spAutoFit/>
            </a:bodyPr>
            <a:lstStyle/>
            <a:p>
              <a:pPr algn="just">
                <a:lnSpc>
                  <a:spcPts val="6232"/>
                </a:lnSpc>
              </a:pPr>
              <a:r>
                <a:rPr lang="en-US" sz="3196" b="true">
                  <a:solidFill>
                    <a:srgbClr val="000000"/>
                  </a:solidFill>
                  <a:latin typeface="Garet Bold"/>
                  <a:ea typeface="Garet Bold"/>
                  <a:cs typeface="Garet Bold"/>
                  <a:sym typeface="Garet Bold"/>
                </a:rPr>
                <a:t>Dùng ensureActive()</a:t>
              </a:r>
            </a:p>
            <a:p>
              <a:pPr algn="just" marL="690035" indent="-345018" lvl="1">
                <a:lnSpc>
                  <a:spcPts val="6232"/>
                </a:lnSpc>
                <a:buFont typeface="Arial"/>
                <a:buChar char="•"/>
              </a:pPr>
              <a:r>
                <a:rPr lang="en-US" sz="3196">
                  <a:solidFill>
                    <a:srgbClr val="000000"/>
                  </a:solidFill>
                  <a:latin typeface="Garet"/>
                  <a:ea typeface="Garet"/>
                  <a:cs typeface="Garet"/>
                  <a:sym typeface="Garet"/>
                </a:rPr>
                <a:t>Nếu bị</a:t>
              </a:r>
              <a:r>
                <a:rPr lang="en-US" sz="3196">
                  <a:solidFill>
                    <a:srgbClr val="000000"/>
                  </a:solidFill>
                  <a:latin typeface="Garet"/>
                  <a:ea typeface="Garet"/>
                  <a:cs typeface="Garet"/>
                  <a:sym typeface="Garet"/>
                </a:rPr>
                <a:t> hủy → ném CancellationEx</a:t>
              </a:r>
              <a:r>
                <a:rPr lang="en-US" sz="3196">
                  <a:solidFill>
                    <a:srgbClr val="000000"/>
                  </a:solidFill>
                  <a:latin typeface="Garet"/>
                  <a:ea typeface="Garet"/>
                  <a:cs typeface="Garet"/>
                  <a:sym typeface="Garet"/>
                </a:rPr>
                <a:t>ception ngay</a:t>
              </a:r>
            </a:p>
            <a:p>
              <a:pPr algn="just" marL="690035" indent="-345018" lvl="1">
                <a:lnSpc>
                  <a:spcPts val="6232"/>
                </a:lnSpc>
                <a:buFont typeface="Arial"/>
                <a:buChar char="•"/>
              </a:pPr>
              <a:r>
                <a:rPr lang="en-US" sz="3196">
                  <a:solidFill>
                    <a:srgbClr val="000000"/>
                  </a:solidFill>
                  <a:latin typeface="Garet"/>
                  <a:ea typeface="Garet"/>
                  <a:cs typeface="Garet"/>
                  <a:sym typeface="Garet"/>
                </a:rPr>
                <a:t>Dùng</a:t>
              </a:r>
              <a:r>
                <a:rPr lang="en-US" sz="3196">
                  <a:solidFill>
                    <a:srgbClr val="000000"/>
                  </a:solidFill>
                  <a:latin typeface="Garet"/>
                  <a:ea typeface="Garet"/>
                  <a:cs typeface="Garet"/>
                  <a:sym typeface="Garet"/>
                </a:rPr>
                <a:t> khi muốn fail-fast</a:t>
              </a:r>
            </a:p>
            <a:p>
              <a:pPr algn="just">
                <a:lnSpc>
                  <a:spcPts val="6232"/>
                </a:lnSpc>
              </a:pP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25</a:t>
            </a:r>
          </a:p>
        </p:txBody>
      </p:sp>
      <p:sp>
        <p:nvSpPr>
          <p:cNvPr name="TextBox 13" id="13"/>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4" id="14"/>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5" id="15"/>
          <p:cNvSpPr txBox="true"/>
          <p:nvPr/>
        </p:nvSpPr>
        <p:spPr>
          <a:xfrm rot="0">
            <a:off x="3537866" y="2465141"/>
            <a:ext cx="9101018"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Xử lý tài nguyên &amp; NonCancellable</a:t>
            </a:r>
          </a:p>
        </p:txBody>
      </p:sp>
      <p:grpSp>
        <p:nvGrpSpPr>
          <p:cNvPr name="Group 16" id="16"/>
          <p:cNvGrpSpPr/>
          <p:nvPr/>
        </p:nvGrpSpPr>
        <p:grpSpPr>
          <a:xfrm rot="0">
            <a:off x="1326641" y="3816565"/>
            <a:ext cx="15093593" cy="4651160"/>
            <a:chOff x="0" y="0"/>
            <a:chExt cx="20124791" cy="6201546"/>
          </a:xfrm>
        </p:grpSpPr>
        <p:grpSp>
          <p:nvGrpSpPr>
            <p:cNvPr name="Group 17" id="17"/>
            <p:cNvGrpSpPr/>
            <p:nvPr/>
          </p:nvGrpSpPr>
          <p:grpSpPr>
            <a:xfrm rot="0">
              <a:off x="0" y="0"/>
              <a:ext cx="20124791" cy="6201546"/>
              <a:chOff x="0" y="0"/>
              <a:chExt cx="14030693" cy="4323622"/>
            </a:xfrm>
          </p:grpSpPr>
          <p:sp>
            <p:nvSpPr>
              <p:cNvPr name="Freeform 18" id="18"/>
              <p:cNvSpPr/>
              <p:nvPr/>
            </p:nvSpPr>
            <p:spPr>
              <a:xfrm flipH="false" flipV="false" rot="0">
                <a:off x="0" y="0"/>
                <a:ext cx="14030692" cy="4323622"/>
              </a:xfrm>
              <a:custGeom>
                <a:avLst/>
                <a:gdLst/>
                <a:ahLst/>
                <a:cxnLst/>
                <a:rect r="r" b="b" t="t" l="l"/>
                <a:pathLst>
                  <a:path h="4323622" w="14030692">
                    <a:moveTo>
                      <a:pt x="7412" y="0"/>
                    </a:moveTo>
                    <a:lnTo>
                      <a:pt x="14023280" y="0"/>
                    </a:lnTo>
                    <a:cubicBezTo>
                      <a:pt x="14027375" y="0"/>
                      <a:pt x="14030692" y="3318"/>
                      <a:pt x="14030692" y="7412"/>
                    </a:cubicBezTo>
                    <a:lnTo>
                      <a:pt x="14030692" y="4316210"/>
                    </a:lnTo>
                    <a:cubicBezTo>
                      <a:pt x="14030692" y="4318176"/>
                      <a:pt x="14029911" y="4320061"/>
                      <a:pt x="14028522" y="4321451"/>
                    </a:cubicBezTo>
                    <a:cubicBezTo>
                      <a:pt x="14027131" y="4322841"/>
                      <a:pt x="14025246" y="4323622"/>
                      <a:pt x="14023280" y="4323622"/>
                    </a:cubicBezTo>
                    <a:lnTo>
                      <a:pt x="7412" y="4323622"/>
                    </a:lnTo>
                    <a:cubicBezTo>
                      <a:pt x="5446" y="4323622"/>
                      <a:pt x="3561" y="4322841"/>
                      <a:pt x="2171" y="4321451"/>
                    </a:cubicBezTo>
                    <a:cubicBezTo>
                      <a:pt x="781" y="4320061"/>
                      <a:pt x="0" y="4318176"/>
                      <a:pt x="0" y="4316210"/>
                    </a:cubicBezTo>
                    <a:lnTo>
                      <a:pt x="0" y="7412"/>
                    </a:lnTo>
                    <a:cubicBezTo>
                      <a:pt x="0" y="3318"/>
                      <a:pt x="3318" y="0"/>
                      <a:pt x="7412" y="0"/>
                    </a:cubicBezTo>
                    <a:close/>
                  </a:path>
                </a:pathLst>
              </a:custGeom>
              <a:solidFill>
                <a:srgbClr val="E8ECEC"/>
              </a:solidFill>
            </p:spPr>
          </p:sp>
          <p:sp>
            <p:nvSpPr>
              <p:cNvPr name="TextBox 19" id="19"/>
              <p:cNvSpPr txBox="true"/>
              <p:nvPr/>
            </p:nvSpPr>
            <p:spPr>
              <a:xfrm>
                <a:off x="0" y="-38100"/>
                <a:ext cx="14030693" cy="436172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1577" y="63774"/>
              <a:ext cx="18380110" cy="61377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Cancellation có</a:t>
              </a:r>
              <a:r>
                <a:rPr lang="en-US" sz="3196">
                  <a:solidFill>
                    <a:srgbClr val="000000"/>
                  </a:solidFill>
                  <a:latin typeface="Garet"/>
                  <a:ea typeface="Garet"/>
                  <a:cs typeface="Garet"/>
                  <a:sym typeface="Garet"/>
                </a:rPr>
                <a:t> thể xảy ra ở bất kỳ suspension </a:t>
              </a:r>
              <a:r>
                <a:rPr lang="en-US" sz="3196">
                  <a:solidFill>
                    <a:srgbClr val="000000"/>
                  </a:solidFill>
                  <a:latin typeface="Garet"/>
                  <a:ea typeface="Garet"/>
                  <a:cs typeface="Garet"/>
                  <a:sym typeface="Garet"/>
                </a:rPr>
                <a:t>point nào.</a:t>
              </a:r>
            </a:p>
            <a:p>
              <a:pPr algn="just">
                <a:lnSpc>
                  <a:spcPts val="6232"/>
                </a:lnSpc>
              </a:pPr>
              <a:r>
                <a:rPr lang="en-US" sz="3196">
                  <a:solidFill>
                    <a:srgbClr val="000000"/>
                  </a:solidFill>
                  <a:latin typeface="Garet"/>
                  <a:ea typeface="Garet"/>
                  <a:cs typeface="Garet"/>
                  <a:sym typeface="Garet"/>
                </a:rPr>
                <a:t>Nghĩa là:</a:t>
              </a:r>
            </a:p>
            <a:p>
              <a:pPr algn="just" marL="690035" indent="-345018" lvl="1">
                <a:lnSpc>
                  <a:spcPts val="6232"/>
                </a:lnSpc>
                <a:buFont typeface="Arial"/>
                <a:buChar char="•"/>
              </a:pPr>
              <a:r>
                <a:rPr lang="en-US" sz="3196">
                  <a:solidFill>
                    <a:srgbClr val="000000"/>
                  </a:solidFill>
                  <a:latin typeface="Garet"/>
                  <a:ea typeface="Garet"/>
                  <a:cs typeface="Garet"/>
                  <a:sym typeface="Garet"/>
                </a:rPr>
                <a:t>coroutine có thể chết giữa chừng</a:t>
              </a:r>
            </a:p>
            <a:p>
              <a:pPr algn="just" marL="690035" indent="-345018" lvl="1">
                <a:lnSpc>
                  <a:spcPts val="6232"/>
                </a:lnSpc>
                <a:buFont typeface="Arial"/>
                <a:buChar char="•"/>
              </a:pPr>
              <a:r>
                <a:rPr lang="en-US" sz="3196">
                  <a:solidFill>
                    <a:srgbClr val="000000"/>
                  </a:solidFill>
                  <a:latin typeface="Garet"/>
                  <a:ea typeface="Garet"/>
                  <a:cs typeface="Garet"/>
                  <a:sym typeface="Garet"/>
                </a:rPr>
                <a:t>không theo ý mình</a:t>
              </a:r>
            </a:p>
            <a:p>
              <a:pPr algn="just" marL="690035" indent="-345018" lvl="1">
                <a:lnSpc>
                  <a:spcPts val="6232"/>
                </a:lnSpc>
                <a:buFont typeface="Arial"/>
                <a:buChar char="•"/>
              </a:pPr>
              <a:r>
                <a:rPr lang="en-US" sz="3196">
                  <a:solidFill>
                    <a:srgbClr val="000000"/>
                  </a:solidFill>
                  <a:latin typeface="Garet"/>
                  <a:ea typeface="Garet"/>
                  <a:cs typeface="Garet"/>
                  <a:sym typeface="Garet"/>
                </a:rPr>
                <a:t>không có cơ hội chạy code phía sau</a:t>
              </a:r>
            </a:p>
            <a:p>
              <a:pPr algn="just">
                <a:lnSpc>
                  <a:spcPts val="6232"/>
                </a:lnSpc>
              </a:pPr>
              <a:r>
                <a:rPr lang="en-US" sz="3196">
                  <a:solidFill>
                    <a:srgbClr val="000000"/>
                  </a:solidFill>
                  <a:latin typeface="Garet"/>
                  <a:ea typeface="Garet"/>
                  <a:cs typeface="Garet"/>
                  <a:sym typeface="Garet"/>
                </a:rPr>
                <a:t>Vì vậy, cleanup không được đặt ở code thường.</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432415" y="812805"/>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4826092" y="1887648"/>
            <a:ext cx="9055535" cy="7625496"/>
          </a:xfrm>
          <a:custGeom>
            <a:avLst/>
            <a:gdLst/>
            <a:ahLst/>
            <a:cxnLst/>
            <a:rect r="r" b="b" t="t" l="l"/>
            <a:pathLst>
              <a:path h="7625496" w="9055535">
                <a:moveTo>
                  <a:pt x="0" y="0"/>
                </a:moveTo>
                <a:lnTo>
                  <a:pt x="9055535" y="0"/>
                </a:lnTo>
                <a:lnTo>
                  <a:pt x="9055535" y="7625497"/>
                </a:lnTo>
                <a:lnTo>
                  <a:pt x="0" y="7625497"/>
                </a:lnTo>
                <a:lnTo>
                  <a:pt x="0" y="0"/>
                </a:lnTo>
                <a:close/>
              </a:path>
            </a:pathLst>
          </a:custGeom>
          <a:blipFill>
            <a:blip r:embed="rId4"/>
            <a:stretch>
              <a:fillRect l="-4836" t="-5785" r="-4478" b="-5530"/>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26</a:t>
            </a:r>
          </a:p>
        </p:txBody>
      </p:sp>
      <p:sp>
        <p:nvSpPr>
          <p:cNvPr name="TextBox 14" id="14"/>
          <p:cNvSpPr txBox="true"/>
          <p:nvPr/>
        </p:nvSpPr>
        <p:spPr>
          <a:xfrm rot="0">
            <a:off x="3049899" y="-66040"/>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5" id="15"/>
          <p:cNvSpPr txBox="true"/>
          <p:nvPr/>
        </p:nvSpPr>
        <p:spPr>
          <a:xfrm rot="0">
            <a:off x="2516044" y="1086017"/>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6" id="16"/>
          <p:cNvSpPr txBox="true"/>
          <p:nvPr/>
        </p:nvSpPr>
        <p:spPr>
          <a:xfrm rot="0">
            <a:off x="4673928" y="1156632"/>
            <a:ext cx="9207698"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Xử lý tài nguyên &amp; Non Cancellable</a:t>
            </a:r>
          </a:p>
        </p:txBody>
      </p:sp>
      <p:sp>
        <p:nvSpPr>
          <p:cNvPr name="TextBox 17" id="17"/>
          <p:cNvSpPr txBox="true"/>
          <p:nvPr/>
        </p:nvSpPr>
        <p:spPr>
          <a:xfrm rot="0">
            <a:off x="7532013" y="9606062"/>
            <a:ext cx="3223974"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20: Giải pháp try/finally</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27</a:t>
            </a:r>
          </a:p>
        </p:txBody>
      </p:sp>
      <p:sp>
        <p:nvSpPr>
          <p:cNvPr name="TextBox 13" id="13"/>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14" id="14"/>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5" id="15"/>
          <p:cNvSpPr txBox="true"/>
          <p:nvPr/>
        </p:nvSpPr>
        <p:spPr>
          <a:xfrm rot="0">
            <a:off x="3484526" y="2465141"/>
            <a:ext cx="9207698"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Xử lý tài nguyên &amp; Non Cancellable</a:t>
            </a:r>
          </a:p>
        </p:txBody>
      </p:sp>
      <p:grpSp>
        <p:nvGrpSpPr>
          <p:cNvPr name="Group 16" id="16"/>
          <p:cNvGrpSpPr/>
          <p:nvPr/>
        </p:nvGrpSpPr>
        <p:grpSpPr>
          <a:xfrm rot="0">
            <a:off x="1326641" y="3816565"/>
            <a:ext cx="15093593" cy="4651160"/>
            <a:chOff x="0" y="0"/>
            <a:chExt cx="20124791" cy="6201546"/>
          </a:xfrm>
        </p:grpSpPr>
        <p:grpSp>
          <p:nvGrpSpPr>
            <p:cNvPr name="Group 17" id="17"/>
            <p:cNvGrpSpPr/>
            <p:nvPr/>
          </p:nvGrpSpPr>
          <p:grpSpPr>
            <a:xfrm rot="0">
              <a:off x="0" y="0"/>
              <a:ext cx="20124791" cy="6201546"/>
              <a:chOff x="0" y="0"/>
              <a:chExt cx="14030693" cy="4323622"/>
            </a:xfrm>
          </p:grpSpPr>
          <p:sp>
            <p:nvSpPr>
              <p:cNvPr name="Freeform 18" id="18"/>
              <p:cNvSpPr/>
              <p:nvPr/>
            </p:nvSpPr>
            <p:spPr>
              <a:xfrm flipH="false" flipV="false" rot="0">
                <a:off x="0" y="0"/>
                <a:ext cx="14030692" cy="4323622"/>
              </a:xfrm>
              <a:custGeom>
                <a:avLst/>
                <a:gdLst/>
                <a:ahLst/>
                <a:cxnLst/>
                <a:rect r="r" b="b" t="t" l="l"/>
                <a:pathLst>
                  <a:path h="4323622" w="14030692">
                    <a:moveTo>
                      <a:pt x="7412" y="0"/>
                    </a:moveTo>
                    <a:lnTo>
                      <a:pt x="14023280" y="0"/>
                    </a:lnTo>
                    <a:cubicBezTo>
                      <a:pt x="14027375" y="0"/>
                      <a:pt x="14030692" y="3318"/>
                      <a:pt x="14030692" y="7412"/>
                    </a:cubicBezTo>
                    <a:lnTo>
                      <a:pt x="14030692" y="4316210"/>
                    </a:lnTo>
                    <a:cubicBezTo>
                      <a:pt x="14030692" y="4318176"/>
                      <a:pt x="14029911" y="4320061"/>
                      <a:pt x="14028522" y="4321451"/>
                    </a:cubicBezTo>
                    <a:cubicBezTo>
                      <a:pt x="14027131" y="4322841"/>
                      <a:pt x="14025246" y="4323622"/>
                      <a:pt x="14023280" y="4323622"/>
                    </a:cubicBezTo>
                    <a:lnTo>
                      <a:pt x="7412" y="4323622"/>
                    </a:lnTo>
                    <a:cubicBezTo>
                      <a:pt x="5446" y="4323622"/>
                      <a:pt x="3561" y="4322841"/>
                      <a:pt x="2171" y="4321451"/>
                    </a:cubicBezTo>
                    <a:cubicBezTo>
                      <a:pt x="781" y="4320061"/>
                      <a:pt x="0" y="4318176"/>
                      <a:pt x="0" y="4316210"/>
                    </a:cubicBezTo>
                    <a:lnTo>
                      <a:pt x="0" y="7412"/>
                    </a:lnTo>
                    <a:cubicBezTo>
                      <a:pt x="0" y="3318"/>
                      <a:pt x="3318" y="0"/>
                      <a:pt x="7412" y="0"/>
                    </a:cubicBezTo>
                    <a:close/>
                  </a:path>
                </a:pathLst>
              </a:custGeom>
              <a:solidFill>
                <a:srgbClr val="E8ECEC"/>
              </a:solidFill>
            </p:spPr>
          </p:sp>
          <p:sp>
            <p:nvSpPr>
              <p:cNvPr name="TextBox 19" id="19"/>
              <p:cNvSpPr txBox="true"/>
              <p:nvPr/>
            </p:nvSpPr>
            <p:spPr>
              <a:xfrm>
                <a:off x="0" y="-38100"/>
                <a:ext cx="14030693" cy="4361722"/>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1577" y="63774"/>
              <a:ext cx="19452702" cy="5083672"/>
            </a:xfrm>
            <a:prstGeom prst="rect">
              <a:avLst/>
            </a:prstGeom>
          </p:spPr>
          <p:txBody>
            <a:bodyPr anchor="t" rtlCol="false" tIns="0" lIns="0" bIns="0" rIns="0">
              <a:spAutoFit/>
            </a:bodyPr>
            <a:lstStyle/>
            <a:p>
              <a:pPr algn="just" marL="690035" indent="-345018" lvl="1">
                <a:lnSpc>
                  <a:spcPts val="6232"/>
                </a:lnSpc>
                <a:buFont typeface="Arial"/>
                <a:buChar char="•"/>
              </a:pPr>
              <a:r>
                <a:rPr lang="en-US" sz="3196">
                  <a:solidFill>
                    <a:srgbClr val="000000"/>
                  </a:solidFill>
                  <a:latin typeface="Garet"/>
                  <a:ea typeface="Garet"/>
                  <a:cs typeface="Garet"/>
                  <a:sym typeface="Garet"/>
                </a:rPr>
                <a:t>Cảnh báo: </a:t>
              </a:r>
              <a:r>
                <a:rPr lang="en-US" sz="3196">
                  <a:solidFill>
                    <a:srgbClr val="000000"/>
                  </a:solidFill>
                  <a:latin typeface="Garet"/>
                  <a:ea typeface="Garet"/>
                  <a:cs typeface="Garet"/>
                  <a:sym typeface="Garet"/>
                </a:rPr>
                <a:t>“NonCancellable là dao hai lưỡi. Nếu bên trong c</a:t>
              </a:r>
              <a:r>
                <a:rPr lang="en-US" sz="3196">
                  <a:solidFill>
                    <a:srgbClr val="000000"/>
                  </a:solidFill>
                  <a:latin typeface="Garet"/>
                  <a:ea typeface="Garet"/>
                  <a:cs typeface="Garet"/>
                  <a:sym typeface="Garet"/>
                </a:rPr>
                <a:t>hạy network treo, IO dài, h</a:t>
              </a:r>
              <a:r>
                <a:rPr lang="en-US" sz="3196">
                  <a:solidFill>
                    <a:srgbClr val="000000"/>
                  </a:solidFill>
                  <a:latin typeface="Garet"/>
                  <a:ea typeface="Garet"/>
                  <a:cs typeface="Garet"/>
                  <a:sym typeface="Garet"/>
                </a:rPr>
                <a:t>oặc logic phức tạp → </a:t>
              </a:r>
              <a:r>
                <a:rPr lang="en-US" sz="3196">
                  <a:solidFill>
                    <a:srgbClr val="000000"/>
                  </a:solidFill>
                  <a:latin typeface="Garet"/>
                  <a:ea typeface="Garet"/>
                  <a:cs typeface="Garet"/>
                  <a:sym typeface="Garet"/>
                </a:rPr>
                <a:t>coroutine sẽ không bao giờ chết, gây memory leak.”</a:t>
              </a:r>
            </a:p>
            <a:p>
              <a:pPr algn="just" marL="690035" indent="-345018" lvl="1">
                <a:lnSpc>
                  <a:spcPts val="6232"/>
                </a:lnSpc>
                <a:buFont typeface="Arial"/>
                <a:buChar char="•"/>
              </a:pPr>
              <a:r>
                <a:rPr lang="en-US" sz="3196">
                  <a:solidFill>
                    <a:srgbClr val="000000"/>
                  </a:solidFill>
                  <a:latin typeface="Garet"/>
                  <a:ea typeface="Garet"/>
                  <a:cs typeface="Garet"/>
                  <a:sym typeface="Garet"/>
                </a:rPr>
                <a:t>Nguyên tắc: Chỉ dùng NonCancellable cho cleanup, cực kỳ ngắn, nên có timeout riêng.</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80901" y="1635857"/>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0792826" y="4103362"/>
            <a:ext cx="6223722" cy="3860585"/>
            <a:chOff x="0" y="0"/>
            <a:chExt cx="8298296" cy="5147446"/>
          </a:xfrm>
        </p:grpSpPr>
        <p:grpSp>
          <p:nvGrpSpPr>
            <p:cNvPr name="Group 13" id="13"/>
            <p:cNvGrpSpPr/>
            <p:nvPr/>
          </p:nvGrpSpPr>
          <p:grpSpPr>
            <a:xfrm rot="0">
              <a:off x="0" y="0"/>
              <a:ext cx="8298296" cy="5147446"/>
              <a:chOff x="0" y="0"/>
              <a:chExt cx="5785443" cy="3588720"/>
            </a:xfrm>
          </p:grpSpPr>
          <p:sp>
            <p:nvSpPr>
              <p:cNvPr name="Freeform 14" id="14"/>
              <p:cNvSpPr/>
              <p:nvPr/>
            </p:nvSpPr>
            <p:spPr>
              <a:xfrm flipH="false" flipV="false" rot="0">
                <a:off x="0" y="0"/>
                <a:ext cx="5785443" cy="3588720"/>
              </a:xfrm>
              <a:custGeom>
                <a:avLst/>
                <a:gdLst/>
                <a:ahLst/>
                <a:cxnLst/>
                <a:rect r="r" b="b" t="t" l="l"/>
                <a:pathLst>
                  <a:path h="3588720" w="5785443">
                    <a:moveTo>
                      <a:pt x="17974" y="0"/>
                    </a:moveTo>
                    <a:lnTo>
                      <a:pt x="5767469" y="0"/>
                    </a:lnTo>
                    <a:cubicBezTo>
                      <a:pt x="5777396" y="0"/>
                      <a:pt x="5785443" y="8047"/>
                      <a:pt x="5785443" y="17974"/>
                    </a:cubicBezTo>
                    <a:lnTo>
                      <a:pt x="5785443" y="3570745"/>
                    </a:lnTo>
                    <a:cubicBezTo>
                      <a:pt x="5785443" y="3580672"/>
                      <a:pt x="5777396" y="3588720"/>
                      <a:pt x="5767469" y="3588720"/>
                    </a:cubicBezTo>
                    <a:lnTo>
                      <a:pt x="17974" y="3588720"/>
                    </a:lnTo>
                    <a:cubicBezTo>
                      <a:pt x="8047" y="3588720"/>
                      <a:pt x="0" y="3580672"/>
                      <a:pt x="0" y="3570745"/>
                    </a:cubicBezTo>
                    <a:lnTo>
                      <a:pt x="0" y="17974"/>
                    </a:lnTo>
                    <a:cubicBezTo>
                      <a:pt x="0" y="8047"/>
                      <a:pt x="8047" y="0"/>
                      <a:pt x="17974" y="0"/>
                    </a:cubicBezTo>
                    <a:close/>
                  </a:path>
                </a:pathLst>
              </a:custGeom>
              <a:solidFill>
                <a:srgbClr val="E8ECEC"/>
              </a:solidFill>
            </p:spPr>
          </p:sp>
          <p:sp>
            <p:nvSpPr>
              <p:cNvPr name="TextBox 15" id="15"/>
              <p:cNvSpPr txBox="true"/>
              <p:nvPr/>
            </p:nvSpPr>
            <p:spPr>
              <a:xfrm>
                <a:off x="0" y="-38100"/>
                <a:ext cx="5785443" cy="362682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231581" y="63774"/>
              <a:ext cx="7931530" cy="50836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Kết quả: Hàm tự động hủy và trả về null nhẹ nhàng thay vì ném Exception làm crash ứng dụng.</a:t>
              </a:r>
              <a:r>
                <a:rPr lang="en-US" sz="3196">
                  <a:solidFill>
                    <a:srgbClr val="000000"/>
                  </a:solidFill>
                  <a:latin typeface="Garet"/>
                  <a:ea typeface="Garet"/>
                  <a:cs typeface="Garet"/>
                  <a:sym typeface="Garet"/>
                </a:rPr>
                <a:t> Code</a:t>
              </a:r>
              <a:r>
                <a:rPr lang="en-US" sz="3196">
                  <a:solidFill>
                    <a:srgbClr val="000000"/>
                  </a:solidFill>
                  <a:latin typeface="Garet"/>
                  <a:ea typeface="Garet"/>
                  <a:cs typeface="Garet"/>
                  <a:sym typeface="Garet"/>
                </a:rPr>
                <a:t> cực kỳ an toàn.</a:t>
              </a:r>
            </a:p>
          </p:txBody>
        </p:sp>
      </p:grpSp>
      <p:sp>
        <p:nvSpPr>
          <p:cNvPr name="Freeform 17" id="17"/>
          <p:cNvSpPr/>
          <p:nvPr/>
        </p:nvSpPr>
        <p:spPr>
          <a:xfrm flipH="false" flipV="false" rot="0">
            <a:off x="681122" y="3677737"/>
            <a:ext cx="9289767" cy="4711833"/>
          </a:xfrm>
          <a:custGeom>
            <a:avLst/>
            <a:gdLst/>
            <a:ahLst/>
            <a:cxnLst/>
            <a:rect r="r" b="b" t="t" l="l"/>
            <a:pathLst>
              <a:path h="4711833" w="9289767">
                <a:moveTo>
                  <a:pt x="0" y="0"/>
                </a:moveTo>
                <a:lnTo>
                  <a:pt x="9289767" y="0"/>
                </a:lnTo>
                <a:lnTo>
                  <a:pt x="9289767" y="4711834"/>
                </a:lnTo>
                <a:lnTo>
                  <a:pt x="0" y="4711834"/>
                </a:lnTo>
                <a:lnTo>
                  <a:pt x="0" y="0"/>
                </a:lnTo>
                <a:close/>
              </a:path>
            </a:pathLst>
          </a:custGeom>
          <a:blipFill>
            <a:blip r:embed="rId4"/>
            <a:stretch>
              <a:fillRect l="-5517" t="-10375" r="-4912" b="-11004"/>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28</a:t>
            </a:r>
          </a:p>
        </p:txBody>
      </p:sp>
      <p:sp>
        <p:nvSpPr>
          <p:cNvPr name="TextBox 19" id="19"/>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Cancellation</a:t>
            </a:r>
          </a:p>
        </p:txBody>
      </p:sp>
      <p:sp>
        <p:nvSpPr>
          <p:cNvPr name="TextBox 20" id="20"/>
          <p:cNvSpPr txBox="true"/>
          <p:nvPr/>
        </p:nvSpPr>
        <p:spPr>
          <a:xfrm rot="0">
            <a:off x="1964529" y="1909069"/>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sp>
        <p:nvSpPr>
          <p:cNvPr name="TextBox 21" id="21"/>
          <p:cNvSpPr txBox="true"/>
          <p:nvPr/>
        </p:nvSpPr>
        <p:spPr>
          <a:xfrm rot="0">
            <a:off x="3725757" y="1979684"/>
            <a:ext cx="2238137"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Timeout</a:t>
            </a:r>
          </a:p>
        </p:txBody>
      </p:sp>
      <p:sp>
        <p:nvSpPr>
          <p:cNvPr name="TextBox 22" id="22"/>
          <p:cNvSpPr txBox="true"/>
          <p:nvPr/>
        </p:nvSpPr>
        <p:spPr>
          <a:xfrm rot="0">
            <a:off x="4055441" y="8663157"/>
            <a:ext cx="190845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21: Timeout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29</a:t>
            </a:r>
          </a:p>
        </p:txBody>
      </p:sp>
      <p:sp>
        <p:nvSpPr>
          <p:cNvPr name="TextBox 13" id="13"/>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Exception Handling</a:t>
            </a:r>
          </a:p>
        </p:txBody>
      </p:sp>
      <p:sp>
        <p:nvSpPr>
          <p:cNvPr name="TextBox 14" id="14"/>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15" id="15"/>
          <p:cNvSpPr txBox="true"/>
          <p:nvPr/>
        </p:nvSpPr>
        <p:spPr>
          <a:xfrm rot="0">
            <a:off x="3065785" y="2465141"/>
            <a:ext cx="823031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Lan truyền lỗi: Launch và Async</a:t>
            </a:r>
          </a:p>
        </p:txBody>
      </p:sp>
      <p:grpSp>
        <p:nvGrpSpPr>
          <p:cNvPr name="Group 16" id="16"/>
          <p:cNvGrpSpPr/>
          <p:nvPr/>
        </p:nvGrpSpPr>
        <p:grpSpPr>
          <a:xfrm rot="0">
            <a:off x="1326641" y="3897995"/>
            <a:ext cx="15093593" cy="5441735"/>
            <a:chOff x="0" y="0"/>
            <a:chExt cx="20124791" cy="7255646"/>
          </a:xfrm>
        </p:grpSpPr>
        <p:grpSp>
          <p:nvGrpSpPr>
            <p:cNvPr name="Group 17" id="17"/>
            <p:cNvGrpSpPr/>
            <p:nvPr/>
          </p:nvGrpSpPr>
          <p:grpSpPr>
            <a:xfrm rot="0">
              <a:off x="0" y="0"/>
              <a:ext cx="20124791" cy="7255646"/>
              <a:chOff x="0" y="0"/>
              <a:chExt cx="14030693" cy="5058524"/>
            </a:xfrm>
          </p:grpSpPr>
          <p:sp>
            <p:nvSpPr>
              <p:cNvPr name="Freeform 18" id="18"/>
              <p:cNvSpPr/>
              <p:nvPr/>
            </p:nvSpPr>
            <p:spPr>
              <a:xfrm flipH="false" flipV="false" rot="0">
                <a:off x="0" y="0"/>
                <a:ext cx="14030692" cy="5058524"/>
              </a:xfrm>
              <a:custGeom>
                <a:avLst/>
                <a:gdLst/>
                <a:ahLst/>
                <a:cxnLst/>
                <a:rect r="r" b="b" t="t" l="l"/>
                <a:pathLst>
                  <a:path h="5058524" w="14030692">
                    <a:moveTo>
                      <a:pt x="7412" y="0"/>
                    </a:moveTo>
                    <a:lnTo>
                      <a:pt x="14023280" y="0"/>
                    </a:lnTo>
                    <a:cubicBezTo>
                      <a:pt x="14027375" y="0"/>
                      <a:pt x="14030692" y="3318"/>
                      <a:pt x="14030692" y="7412"/>
                    </a:cubicBezTo>
                    <a:lnTo>
                      <a:pt x="14030692" y="5051113"/>
                    </a:lnTo>
                    <a:cubicBezTo>
                      <a:pt x="14030692" y="5053078"/>
                      <a:pt x="14029911" y="5054964"/>
                      <a:pt x="14028522" y="5056353"/>
                    </a:cubicBezTo>
                    <a:cubicBezTo>
                      <a:pt x="14027131" y="5057743"/>
                      <a:pt x="14025246" y="5058524"/>
                      <a:pt x="14023280" y="5058524"/>
                    </a:cubicBezTo>
                    <a:lnTo>
                      <a:pt x="7412" y="5058524"/>
                    </a:lnTo>
                    <a:cubicBezTo>
                      <a:pt x="3318" y="5058524"/>
                      <a:pt x="0" y="5055206"/>
                      <a:pt x="0" y="5051113"/>
                    </a:cubicBezTo>
                    <a:lnTo>
                      <a:pt x="0" y="7412"/>
                    </a:lnTo>
                    <a:cubicBezTo>
                      <a:pt x="0" y="3318"/>
                      <a:pt x="3318" y="0"/>
                      <a:pt x="7412" y="0"/>
                    </a:cubicBezTo>
                    <a:close/>
                  </a:path>
                </a:pathLst>
              </a:custGeom>
              <a:solidFill>
                <a:srgbClr val="E8ECEC"/>
              </a:solidFill>
            </p:spPr>
          </p:sp>
          <p:sp>
            <p:nvSpPr>
              <p:cNvPr name="TextBox 19" id="19"/>
              <p:cNvSpPr txBox="true"/>
              <p:nvPr/>
            </p:nvSpPr>
            <p:spPr>
              <a:xfrm>
                <a:off x="0" y="-38100"/>
                <a:ext cx="14030693" cy="5096624"/>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561623" y="63774"/>
              <a:ext cx="19235320" cy="7191872"/>
            </a:xfrm>
            <a:prstGeom prst="rect">
              <a:avLst/>
            </a:prstGeom>
          </p:spPr>
          <p:txBody>
            <a:bodyPr anchor="t" rtlCol="false" tIns="0" lIns="0" bIns="0" rIns="0">
              <a:spAutoFit/>
            </a:bodyPr>
            <a:lstStyle/>
            <a:p>
              <a:pPr algn="just" marL="690035" indent="-345018" lvl="1">
                <a:lnSpc>
                  <a:spcPts val="6232"/>
                </a:lnSpc>
                <a:buFont typeface="Arial"/>
                <a:buChar char="•"/>
              </a:pPr>
              <a:r>
                <a:rPr lang="en-US" sz="3196">
                  <a:solidFill>
                    <a:srgbClr val="000000"/>
                  </a:solidFill>
                  <a:latin typeface="Garet"/>
                  <a:ea typeface="Garet"/>
                  <a:cs typeface="Garet"/>
                  <a:sym typeface="Garet"/>
                </a:rPr>
                <a:t>launch: coi lỗi là 'uncaught exception'. Nghĩa là ném lỗi cái là crash ngay lập tức.</a:t>
              </a:r>
            </a:p>
            <a:p>
              <a:pPr algn="just" marL="690035" indent="-345018" lvl="1">
                <a:lnSpc>
                  <a:spcPts val="6232"/>
                </a:lnSpc>
                <a:buFont typeface="Arial"/>
                <a:buChar char="•"/>
              </a:pPr>
              <a:r>
                <a:rPr lang="en-US" sz="3196">
                  <a:solidFill>
                    <a:srgbClr val="000000"/>
                  </a:solidFill>
                  <a:latin typeface="Garet"/>
                  <a:ea typeface="Garet"/>
                  <a:cs typeface="Garet"/>
                  <a:sym typeface="Garet"/>
                </a:rPr>
                <a:t>async: 'giấu' lỗi vào trong đối tượng kết quả (Deferred). Lỗi sẽ không nổ ra cho đến khi gọi hàm .await().</a:t>
              </a:r>
            </a:p>
            <a:p>
              <a:pPr algn="just">
                <a:lnSpc>
                  <a:spcPts val="6232"/>
                </a:lnSpc>
              </a:pPr>
              <a:r>
                <a:rPr lang="en-US" sz="3196">
                  <a:solidFill>
                    <a:srgbClr val="000000"/>
                  </a:solidFill>
                  <a:latin typeface="Garet"/>
                  <a:ea typeface="Garet"/>
                  <a:cs typeface="Garet"/>
                  <a:sym typeface="Garet"/>
                </a:rPr>
                <a:t> ⟶ Vì vậy: Với launch phải bắt lỗi ngay, còn async</a:t>
              </a:r>
              <a:r>
                <a:rPr lang="en-US" sz="3196">
                  <a:solidFill>
                    <a:srgbClr val="000000"/>
                  </a:solidFill>
                  <a:latin typeface="Garet"/>
                  <a:ea typeface="Garet"/>
                  <a:cs typeface="Garet"/>
                  <a:sym typeface="Garet"/>
                </a:rPr>
                <a:t> thì</a:t>
              </a:r>
              <a:r>
                <a:rPr lang="en-US" sz="3196">
                  <a:solidFill>
                    <a:srgbClr val="000000"/>
                  </a:solidFill>
                  <a:latin typeface="Garet"/>
                  <a:ea typeface="Garet"/>
                  <a:cs typeface="Garet"/>
                  <a:sym typeface="Garet"/>
                </a:rPr>
                <a:t> phải try-catch chỗ await."</a:t>
              </a:r>
            </a:p>
            <a:p>
              <a:pPr algn="just">
                <a:lnSpc>
                  <a:spcPts val="6232"/>
                </a:lnSpc>
              </a:pP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77601" y="112108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3745777" y="7561171"/>
            <a:ext cx="10796446" cy="1087045"/>
          </a:xfrm>
          <a:custGeom>
            <a:avLst/>
            <a:gdLst/>
            <a:ahLst/>
            <a:cxnLst/>
            <a:rect r="r" b="b" t="t" l="l"/>
            <a:pathLst>
              <a:path h="1087045" w="10796446">
                <a:moveTo>
                  <a:pt x="0" y="0"/>
                </a:moveTo>
                <a:lnTo>
                  <a:pt x="10796446" y="0"/>
                </a:lnTo>
                <a:lnTo>
                  <a:pt x="10796446" y="1087045"/>
                </a:lnTo>
                <a:lnTo>
                  <a:pt x="0" y="1087045"/>
                </a:lnTo>
                <a:lnTo>
                  <a:pt x="0" y="0"/>
                </a:lnTo>
                <a:close/>
              </a:path>
            </a:pathLst>
          </a:custGeom>
          <a:blipFill>
            <a:blip r:embed="rId4"/>
            <a:stretch>
              <a:fillRect l="0" t="-35322" r="0" b="0"/>
            </a:stretch>
          </a:blipFill>
        </p:spPr>
      </p:sp>
      <p:sp>
        <p:nvSpPr>
          <p:cNvPr name="Freeform 13" id="13"/>
          <p:cNvSpPr/>
          <p:nvPr/>
        </p:nvSpPr>
        <p:spPr>
          <a:xfrm flipH="false" flipV="false" rot="0">
            <a:off x="380309" y="2787974"/>
            <a:ext cx="8763691" cy="4359921"/>
          </a:xfrm>
          <a:custGeom>
            <a:avLst/>
            <a:gdLst/>
            <a:ahLst/>
            <a:cxnLst/>
            <a:rect r="r" b="b" t="t" l="l"/>
            <a:pathLst>
              <a:path h="4359921" w="8763691">
                <a:moveTo>
                  <a:pt x="0" y="0"/>
                </a:moveTo>
                <a:lnTo>
                  <a:pt x="8763691" y="0"/>
                </a:lnTo>
                <a:lnTo>
                  <a:pt x="8763691" y="4359920"/>
                </a:lnTo>
                <a:lnTo>
                  <a:pt x="0" y="4359920"/>
                </a:lnTo>
                <a:lnTo>
                  <a:pt x="0" y="0"/>
                </a:lnTo>
                <a:close/>
              </a:path>
            </a:pathLst>
          </a:custGeom>
          <a:blipFill>
            <a:blip r:embed="rId5"/>
            <a:stretch>
              <a:fillRect l="-3183" t="-7077" r="-2640" b="-6192"/>
            </a:stretch>
          </a:blipFill>
        </p:spPr>
      </p:sp>
      <p:sp>
        <p:nvSpPr>
          <p:cNvPr name="Freeform 14" id="14"/>
          <p:cNvSpPr/>
          <p:nvPr/>
        </p:nvSpPr>
        <p:spPr>
          <a:xfrm flipH="false" flipV="false" rot="0">
            <a:off x="9763952" y="2784272"/>
            <a:ext cx="7929800" cy="4367324"/>
          </a:xfrm>
          <a:custGeom>
            <a:avLst/>
            <a:gdLst/>
            <a:ahLst/>
            <a:cxnLst/>
            <a:rect r="r" b="b" t="t" l="l"/>
            <a:pathLst>
              <a:path h="4367324" w="7929800">
                <a:moveTo>
                  <a:pt x="0" y="0"/>
                </a:moveTo>
                <a:lnTo>
                  <a:pt x="7929800" y="0"/>
                </a:lnTo>
                <a:lnTo>
                  <a:pt x="7929800" y="4367324"/>
                </a:lnTo>
                <a:lnTo>
                  <a:pt x="0" y="4367324"/>
                </a:lnTo>
                <a:lnTo>
                  <a:pt x="0" y="0"/>
                </a:lnTo>
                <a:close/>
              </a:path>
            </a:pathLst>
          </a:custGeom>
          <a:blipFill>
            <a:blip r:embed="rId6"/>
            <a:stretch>
              <a:fillRect l="-3334" t="-5865" r="-3111" b="-5992"/>
            </a:stretch>
          </a:blipFill>
        </p:spPr>
      </p:sp>
      <p:sp>
        <p:nvSpPr>
          <p:cNvPr name="TextBox 15" id="15"/>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30</a:t>
            </a:r>
          </a:p>
        </p:txBody>
      </p:sp>
      <p:sp>
        <p:nvSpPr>
          <p:cNvPr name="TextBox 16" id="16"/>
          <p:cNvSpPr txBox="true"/>
          <p:nvPr/>
        </p:nvSpPr>
        <p:spPr>
          <a:xfrm rot="0">
            <a:off x="3163250" y="26342"/>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Exception Handling</a:t>
            </a:r>
          </a:p>
        </p:txBody>
      </p:sp>
      <p:sp>
        <p:nvSpPr>
          <p:cNvPr name="TextBox 17" id="17"/>
          <p:cNvSpPr txBox="true"/>
          <p:nvPr/>
        </p:nvSpPr>
        <p:spPr>
          <a:xfrm rot="0">
            <a:off x="1961230" y="139429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18" id="18"/>
          <p:cNvSpPr txBox="true"/>
          <p:nvPr/>
        </p:nvSpPr>
        <p:spPr>
          <a:xfrm rot="0">
            <a:off x="3700374" y="1464910"/>
            <a:ext cx="823031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Lan truyền lỗi: Launch và Async</a:t>
            </a:r>
          </a:p>
        </p:txBody>
      </p:sp>
      <p:sp>
        <p:nvSpPr>
          <p:cNvPr name="TextBox 19" id="19"/>
          <p:cNvSpPr txBox="true"/>
          <p:nvPr/>
        </p:nvSpPr>
        <p:spPr>
          <a:xfrm rot="0">
            <a:off x="6288440" y="9019691"/>
            <a:ext cx="495764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22: Ví dụ về Async và kết quả khi chạy</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363022"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31</a:t>
            </a:r>
          </a:p>
        </p:txBody>
      </p:sp>
      <p:sp>
        <p:nvSpPr>
          <p:cNvPr name="TextBox 13" id="13"/>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Exception Handling</a:t>
            </a:r>
          </a:p>
        </p:txBody>
      </p:sp>
      <p:sp>
        <p:nvSpPr>
          <p:cNvPr name="TextBox 14" id="14"/>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TextBox 15" id="15"/>
          <p:cNvSpPr txBox="true"/>
          <p:nvPr/>
        </p:nvSpPr>
        <p:spPr>
          <a:xfrm rot="0">
            <a:off x="3128279" y="2465141"/>
            <a:ext cx="13088898"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CoroutineExceptionHandler (CEH) &amp; Aggregation</a:t>
            </a:r>
          </a:p>
        </p:txBody>
      </p:sp>
      <p:grpSp>
        <p:nvGrpSpPr>
          <p:cNvPr name="Group 16" id="16"/>
          <p:cNvGrpSpPr/>
          <p:nvPr/>
        </p:nvGrpSpPr>
        <p:grpSpPr>
          <a:xfrm rot="0">
            <a:off x="1326641" y="4037278"/>
            <a:ext cx="15093593" cy="3860585"/>
            <a:chOff x="0" y="0"/>
            <a:chExt cx="20124791" cy="5147446"/>
          </a:xfrm>
        </p:grpSpPr>
        <p:grpSp>
          <p:nvGrpSpPr>
            <p:cNvPr name="Group 17" id="17"/>
            <p:cNvGrpSpPr/>
            <p:nvPr/>
          </p:nvGrpSpPr>
          <p:grpSpPr>
            <a:xfrm rot="0">
              <a:off x="0" y="0"/>
              <a:ext cx="20124791" cy="5147446"/>
              <a:chOff x="0" y="0"/>
              <a:chExt cx="14030693" cy="3588720"/>
            </a:xfrm>
          </p:grpSpPr>
          <p:sp>
            <p:nvSpPr>
              <p:cNvPr name="Freeform 18" id="18"/>
              <p:cNvSpPr/>
              <p:nvPr/>
            </p:nvSpPr>
            <p:spPr>
              <a:xfrm flipH="false" flipV="false" rot="0">
                <a:off x="0" y="0"/>
                <a:ext cx="14030692" cy="3588720"/>
              </a:xfrm>
              <a:custGeom>
                <a:avLst/>
                <a:gdLst/>
                <a:ahLst/>
                <a:cxnLst/>
                <a:rect r="r" b="b" t="t" l="l"/>
                <a:pathLst>
                  <a:path h="3588720" w="14030692">
                    <a:moveTo>
                      <a:pt x="7412" y="0"/>
                    </a:moveTo>
                    <a:lnTo>
                      <a:pt x="14023280" y="0"/>
                    </a:lnTo>
                    <a:cubicBezTo>
                      <a:pt x="14027375" y="0"/>
                      <a:pt x="14030692" y="3318"/>
                      <a:pt x="14030692" y="7412"/>
                    </a:cubicBezTo>
                    <a:lnTo>
                      <a:pt x="14030692" y="3581308"/>
                    </a:lnTo>
                    <a:cubicBezTo>
                      <a:pt x="14030692" y="3583274"/>
                      <a:pt x="14029911" y="3585159"/>
                      <a:pt x="14028522" y="3586549"/>
                    </a:cubicBezTo>
                    <a:cubicBezTo>
                      <a:pt x="14027131" y="3587939"/>
                      <a:pt x="14025246" y="3588720"/>
                      <a:pt x="14023280" y="3588720"/>
                    </a:cubicBezTo>
                    <a:lnTo>
                      <a:pt x="7412" y="3588720"/>
                    </a:lnTo>
                    <a:cubicBezTo>
                      <a:pt x="3318" y="3588720"/>
                      <a:pt x="0" y="3585401"/>
                      <a:pt x="0" y="3581308"/>
                    </a:cubicBezTo>
                    <a:lnTo>
                      <a:pt x="0" y="7412"/>
                    </a:lnTo>
                    <a:cubicBezTo>
                      <a:pt x="0" y="3318"/>
                      <a:pt x="3318" y="0"/>
                      <a:pt x="7412" y="0"/>
                    </a:cubicBezTo>
                    <a:close/>
                  </a:path>
                </a:pathLst>
              </a:custGeom>
              <a:solidFill>
                <a:srgbClr val="E8ECEC"/>
              </a:solidFill>
            </p:spPr>
          </p:sp>
          <p:sp>
            <p:nvSpPr>
              <p:cNvPr name="TextBox 19" id="19"/>
              <p:cNvSpPr txBox="true"/>
              <p:nvPr/>
            </p:nvSpPr>
            <p:spPr>
              <a:xfrm>
                <a:off x="0" y="-38100"/>
                <a:ext cx="14030693" cy="362682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561623" y="63774"/>
              <a:ext cx="19235320" cy="50836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Để bắt các lỗi không mong muốn ở launch, ta dùng </a:t>
              </a:r>
              <a:r>
                <a:rPr lang="en-US" sz="3196" b="true">
                  <a:solidFill>
                    <a:srgbClr val="000000"/>
                  </a:solidFill>
                  <a:latin typeface="Garet Bold"/>
                  <a:ea typeface="Garet Bold"/>
                  <a:cs typeface="Garet Bold"/>
                  <a:sym typeface="Garet Bold"/>
                </a:rPr>
                <a:t>CoroutineExceptionHandler</a:t>
              </a:r>
            </a:p>
            <a:p>
              <a:pPr algn="just" marL="690035" indent="-345018" lvl="1">
                <a:lnSpc>
                  <a:spcPts val="6232"/>
                </a:lnSpc>
                <a:buFont typeface="Arial"/>
                <a:buChar char="•"/>
              </a:pPr>
              <a:r>
                <a:rPr lang="en-US" sz="3196">
                  <a:solidFill>
                    <a:srgbClr val="000000"/>
                  </a:solidFill>
                  <a:latin typeface="Garet"/>
                  <a:ea typeface="Garet"/>
                  <a:cs typeface="Garet"/>
                  <a:sym typeface="Garet"/>
                </a:rPr>
                <a:t>Nó chỉ hoạt động trên Root Coroutine.</a:t>
              </a:r>
            </a:p>
            <a:p>
              <a:pPr algn="just" marL="690035" indent="-345018" lvl="1">
                <a:lnSpc>
                  <a:spcPts val="6232"/>
                </a:lnSpc>
                <a:buFont typeface="Arial"/>
                <a:buChar char="•"/>
              </a:pPr>
              <a:r>
                <a:rPr lang="en-US" sz="3196">
                  <a:solidFill>
                    <a:srgbClr val="000000"/>
                  </a:solidFill>
                  <a:latin typeface="Garet"/>
                  <a:ea typeface="Garet"/>
                  <a:cs typeface="Garet"/>
                  <a:sym typeface="Garet"/>
                </a:rPr>
                <a:t>Aggregation (Gộp lỗi): Nếu nhiều coroutine con cùng lỗi một lúc, quy tắc là 'Ai lỗi trước người đó thắng'. </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363022"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32</a:t>
            </a:r>
          </a:p>
        </p:txBody>
      </p:sp>
      <p:sp>
        <p:nvSpPr>
          <p:cNvPr name="TextBox 13" id="13"/>
          <p:cNvSpPr txBox="true"/>
          <p:nvPr/>
        </p:nvSpPr>
        <p:spPr>
          <a:xfrm rot="0">
            <a:off x="2528662"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Exception Handling</a:t>
            </a:r>
          </a:p>
        </p:txBody>
      </p:sp>
      <p:sp>
        <p:nvSpPr>
          <p:cNvPr name="TextBox 14" id="14"/>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5" id="15"/>
          <p:cNvSpPr txBox="true"/>
          <p:nvPr/>
        </p:nvSpPr>
        <p:spPr>
          <a:xfrm rot="0">
            <a:off x="3366589" y="2465141"/>
            <a:ext cx="315396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Supervision</a:t>
            </a:r>
          </a:p>
        </p:txBody>
      </p:sp>
      <p:grpSp>
        <p:nvGrpSpPr>
          <p:cNvPr name="Group 16" id="16"/>
          <p:cNvGrpSpPr/>
          <p:nvPr/>
        </p:nvGrpSpPr>
        <p:grpSpPr>
          <a:xfrm rot="0">
            <a:off x="1243013" y="4432566"/>
            <a:ext cx="15093593" cy="3070010"/>
            <a:chOff x="0" y="0"/>
            <a:chExt cx="20124791" cy="4093346"/>
          </a:xfrm>
        </p:grpSpPr>
        <p:grpSp>
          <p:nvGrpSpPr>
            <p:cNvPr name="Group 17" id="17"/>
            <p:cNvGrpSpPr/>
            <p:nvPr/>
          </p:nvGrpSpPr>
          <p:grpSpPr>
            <a:xfrm rot="0">
              <a:off x="0" y="0"/>
              <a:ext cx="20124791" cy="4093346"/>
              <a:chOff x="0" y="0"/>
              <a:chExt cx="14030693" cy="2853817"/>
            </a:xfrm>
          </p:grpSpPr>
          <p:sp>
            <p:nvSpPr>
              <p:cNvPr name="Freeform 18" id="18"/>
              <p:cNvSpPr/>
              <p:nvPr/>
            </p:nvSpPr>
            <p:spPr>
              <a:xfrm flipH="false" flipV="false" rot="0">
                <a:off x="0" y="0"/>
                <a:ext cx="14030692" cy="2853817"/>
              </a:xfrm>
              <a:custGeom>
                <a:avLst/>
                <a:gdLst/>
                <a:ahLst/>
                <a:cxnLst/>
                <a:rect r="r" b="b" t="t" l="l"/>
                <a:pathLst>
                  <a:path h="2853817" w="14030692">
                    <a:moveTo>
                      <a:pt x="7412" y="0"/>
                    </a:moveTo>
                    <a:lnTo>
                      <a:pt x="14023280" y="0"/>
                    </a:lnTo>
                    <a:cubicBezTo>
                      <a:pt x="14027375" y="0"/>
                      <a:pt x="14030692" y="3318"/>
                      <a:pt x="14030692" y="7412"/>
                    </a:cubicBezTo>
                    <a:lnTo>
                      <a:pt x="14030692" y="2846406"/>
                    </a:lnTo>
                    <a:cubicBezTo>
                      <a:pt x="14030692" y="2848371"/>
                      <a:pt x="14029911" y="2850257"/>
                      <a:pt x="14028522" y="2851647"/>
                    </a:cubicBezTo>
                    <a:cubicBezTo>
                      <a:pt x="14027131" y="2853037"/>
                      <a:pt x="14025246" y="2853817"/>
                      <a:pt x="14023280" y="2853817"/>
                    </a:cubicBezTo>
                    <a:lnTo>
                      <a:pt x="7412" y="2853817"/>
                    </a:lnTo>
                    <a:cubicBezTo>
                      <a:pt x="5446" y="2853817"/>
                      <a:pt x="3561" y="2853037"/>
                      <a:pt x="2171" y="2851647"/>
                    </a:cubicBezTo>
                    <a:cubicBezTo>
                      <a:pt x="781" y="2850257"/>
                      <a:pt x="0" y="2848371"/>
                      <a:pt x="0" y="2846406"/>
                    </a:cubicBezTo>
                    <a:lnTo>
                      <a:pt x="0" y="7412"/>
                    </a:lnTo>
                    <a:cubicBezTo>
                      <a:pt x="0" y="3318"/>
                      <a:pt x="3318" y="0"/>
                      <a:pt x="7412" y="0"/>
                    </a:cubicBezTo>
                    <a:close/>
                  </a:path>
                </a:pathLst>
              </a:custGeom>
              <a:solidFill>
                <a:srgbClr val="E8ECEC"/>
              </a:solidFill>
            </p:spPr>
          </p:sp>
          <p:sp>
            <p:nvSpPr>
              <p:cNvPr name="TextBox 19" id="19"/>
              <p:cNvSpPr txBox="true"/>
              <p:nvPr/>
            </p:nvSpPr>
            <p:spPr>
              <a:xfrm>
                <a:off x="0" y="-38100"/>
                <a:ext cx="14030693" cy="289191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561623" y="63774"/>
              <a:ext cx="19235320" cy="4029572"/>
            </a:xfrm>
            <a:prstGeom prst="rect">
              <a:avLst/>
            </a:prstGeom>
          </p:spPr>
          <p:txBody>
            <a:bodyPr anchor="t" rtlCol="false" tIns="0" lIns="0" bIns="0" rIns="0">
              <a:spAutoFit/>
            </a:bodyPr>
            <a:lstStyle/>
            <a:p>
              <a:pPr algn="just">
                <a:lnSpc>
                  <a:spcPts val="6232"/>
                </a:lnSpc>
              </a:pPr>
              <a:r>
                <a:rPr lang="en-US" sz="3196" b="true">
                  <a:solidFill>
                    <a:srgbClr val="000000"/>
                  </a:solidFill>
                  <a:latin typeface="Garet Bold"/>
                  <a:ea typeface="Garet Bold"/>
                  <a:cs typeface="Garet Bold"/>
                  <a:sym typeface="Garet Bold"/>
                </a:rPr>
                <a:t>Normal Job:</a:t>
              </a:r>
              <a:r>
                <a:rPr lang="en-US" sz="3196">
                  <a:solidFill>
                    <a:srgbClr val="000000"/>
                  </a:solidFill>
                  <a:latin typeface="Garet"/>
                  <a:ea typeface="Garet"/>
                  <a:cs typeface="Garet"/>
                  <a:sym typeface="Garet"/>
                </a:rPr>
                <a:t> Hủy lan truyền 2 chiều.</a:t>
              </a:r>
            </a:p>
            <a:p>
              <a:pPr algn="just">
                <a:lnSpc>
                  <a:spcPts val="6232"/>
                </a:lnSpc>
              </a:pPr>
              <a:r>
                <a:rPr lang="en-US" sz="3196" b="true">
                  <a:solidFill>
                    <a:srgbClr val="000000"/>
                  </a:solidFill>
                  <a:latin typeface="Garet Bold"/>
                  <a:ea typeface="Garet Bold"/>
                  <a:cs typeface="Garet Bold"/>
                  <a:sym typeface="Garet Bold"/>
                </a:rPr>
                <a:t>Superv</a:t>
              </a:r>
              <a:r>
                <a:rPr lang="en-US" sz="3196" b="true">
                  <a:solidFill>
                    <a:srgbClr val="000000"/>
                  </a:solidFill>
                  <a:latin typeface="Garet Bold"/>
                  <a:ea typeface="Garet Bold"/>
                  <a:cs typeface="Garet Bold"/>
                  <a:sym typeface="Garet Bold"/>
                </a:rPr>
                <a:t>isorJob:</a:t>
              </a:r>
              <a:r>
                <a:rPr lang="en-US" sz="3196">
                  <a:solidFill>
                    <a:srgbClr val="000000"/>
                  </a:solidFill>
                  <a:latin typeface="Garet"/>
                  <a:ea typeface="Garet"/>
                  <a:cs typeface="Garet"/>
                  <a:sym typeface="Garet"/>
                </a:rPr>
                <a:t> Hủy chỉ đi 1 chiều từ trên xuống. Nếu con bị lỗi, cha không bị ảnh hưởng, các anh em</a:t>
              </a:r>
              <a:r>
                <a:rPr lang="en-US" sz="3196">
                  <a:solidFill>
                    <a:srgbClr val="000000"/>
                  </a:solidFill>
                  <a:latin typeface="Garet"/>
                  <a:ea typeface="Garet"/>
                  <a:cs typeface="Garet"/>
                  <a:sym typeface="Garet"/>
                </a:rPr>
                <a:t> khác</a:t>
              </a:r>
              <a:r>
                <a:rPr lang="en-US" sz="3196">
                  <a:solidFill>
                    <a:srgbClr val="000000"/>
                  </a:solidFill>
                  <a:latin typeface="Garet"/>
                  <a:ea typeface="Garet"/>
                  <a:cs typeface="Garet"/>
                  <a:sym typeface="Garet"/>
                </a:rPr>
                <a:t> vẫn sống khỏe.</a:t>
              </a:r>
            </a:p>
            <a:p>
              <a:pPr algn="just">
                <a:lnSpc>
                  <a:spcPts val="6232"/>
                </a:lnSpc>
              </a:pP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018647" y="970915"/>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2209928" y="7240942"/>
            <a:ext cx="13868144" cy="1660394"/>
          </a:xfrm>
          <a:custGeom>
            <a:avLst/>
            <a:gdLst/>
            <a:ahLst/>
            <a:cxnLst/>
            <a:rect r="r" b="b" t="t" l="l"/>
            <a:pathLst>
              <a:path h="1660394" w="13868144">
                <a:moveTo>
                  <a:pt x="0" y="0"/>
                </a:moveTo>
                <a:lnTo>
                  <a:pt x="13868144" y="0"/>
                </a:lnTo>
                <a:lnTo>
                  <a:pt x="13868144" y="1660394"/>
                </a:lnTo>
                <a:lnTo>
                  <a:pt x="0" y="1660394"/>
                </a:lnTo>
                <a:lnTo>
                  <a:pt x="0" y="0"/>
                </a:lnTo>
                <a:close/>
              </a:path>
            </a:pathLst>
          </a:custGeom>
          <a:blipFill>
            <a:blip r:embed="rId4"/>
            <a:stretch>
              <a:fillRect l="0" t="-1157" r="0" b="-1157"/>
            </a:stretch>
          </a:blipFill>
        </p:spPr>
      </p:sp>
      <p:sp>
        <p:nvSpPr>
          <p:cNvPr name="Freeform 13" id="13"/>
          <p:cNvSpPr/>
          <p:nvPr/>
        </p:nvSpPr>
        <p:spPr>
          <a:xfrm flipH="false" flipV="false" rot="0">
            <a:off x="311532" y="2657483"/>
            <a:ext cx="9422277" cy="4045519"/>
          </a:xfrm>
          <a:custGeom>
            <a:avLst/>
            <a:gdLst/>
            <a:ahLst/>
            <a:cxnLst/>
            <a:rect r="r" b="b" t="t" l="l"/>
            <a:pathLst>
              <a:path h="4045519" w="9422277">
                <a:moveTo>
                  <a:pt x="0" y="0"/>
                </a:moveTo>
                <a:lnTo>
                  <a:pt x="9422277" y="0"/>
                </a:lnTo>
                <a:lnTo>
                  <a:pt x="9422277" y="4045519"/>
                </a:lnTo>
                <a:lnTo>
                  <a:pt x="0" y="4045519"/>
                </a:lnTo>
                <a:lnTo>
                  <a:pt x="0" y="0"/>
                </a:lnTo>
                <a:close/>
              </a:path>
            </a:pathLst>
          </a:custGeom>
          <a:blipFill>
            <a:blip r:embed="rId5"/>
            <a:stretch>
              <a:fillRect l="-3072" t="-7870" r="-3225" b="-7870"/>
            </a:stretch>
          </a:blipFill>
        </p:spPr>
      </p:sp>
      <p:sp>
        <p:nvSpPr>
          <p:cNvPr name="Freeform 14" id="14"/>
          <p:cNvSpPr/>
          <p:nvPr/>
        </p:nvSpPr>
        <p:spPr>
          <a:xfrm flipH="false" flipV="false" rot="0">
            <a:off x="10148554" y="3085541"/>
            <a:ext cx="7545198" cy="3189404"/>
          </a:xfrm>
          <a:custGeom>
            <a:avLst/>
            <a:gdLst/>
            <a:ahLst/>
            <a:cxnLst/>
            <a:rect r="r" b="b" t="t" l="l"/>
            <a:pathLst>
              <a:path h="3189404" w="7545198">
                <a:moveTo>
                  <a:pt x="0" y="0"/>
                </a:moveTo>
                <a:lnTo>
                  <a:pt x="7545198" y="0"/>
                </a:lnTo>
                <a:lnTo>
                  <a:pt x="7545198" y="3189404"/>
                </a:lnTo>
                <a:lnTo>
                  <a:pt x="0" y="3189404"/>
                </a:lnTo>
                <a:lnTo>
                  <a:pt x="0" y="0"/>
                </a:lnTo>
                <a:close/>
              </a:path>
            </a:pathLst>
          </a:custGeom>
          <a:blipFill>
            <a:blip r:embed="rId6"/>
            <a:stretch>
              <a:fillRect l="-3953" t="-8844" r="-3764" b="-9969"/>
            </a:stretch>
          </a:blipFill>
        </p:spPr>
      </p:sp>
      <p:sp>
        <p:nvSpPr>
          <p:cNvPr name="TextBox 15" id="15"/>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33</a:t>
            </a:r>
          </a:p>
        </p:txBody>
      </p:sp>
      <p:sp>
        <p:nvSpPr>
          <p:cNvPr name="TextBox 16" id="16"/>
          <p:cNvSpPr txBox="true"/>
          <p:nvPr/>
        </p:nvSpPr>
        <p:spPr>
          <a:xfrm rot="0">
            <a:off x="3304296" y="-123825"/>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Exception Handling</a:t>
            </a:r>
          </a:p>
        </p:txBody>
      </p:sp>
      <p:sp>
        <p:nvSpPr>
          <p:cNvPr name="TextBox 17" id="17"/>
          <p:cNvSpPr txBox="true"/>
          <p:nvPr/>
        </p:nvSpPr>
        <p:spPr>
          <a:xfrm rot="0">
            <a:off x="2102276" y="1244127"/>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8" id="18"/>
          <p:cNvSpPr txBox="true"/>
          <p:nvPr/>
        </p:nvSpPr>
        <p:spPr>
          <a:xfrm rot="0">
            <a:off x="4142223" y="1314742"/>
            <a:ext cx="315396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Supervision</a:t>
            </a:r>
          </a:p>
        </p:txBody>
      </p:sp>
      <p:sp>
        <p:nvSpPr>
          <p:cNvPr name="TextBox 19" id="19"/>
          <p:cNvSpPr txBox="true"/>
          <p:nvPr/>
        </p:nvSpPr>
        <p:spPr>
          <a:xfrm rot="0">
            <a:off x="6338947" y="9401175"/>
            <a:ext cx="5610106"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23: Ví dụ về Supervision và kết quả khi chạy</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06336" y="12244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368698" y="2936029"/>
            <a:ext cx="15177222" cy="1488860"/>
            <a:chOff x="0" y="0"/>
            <a:chExt cx="20236296" cy="1985146"/>
          </a:xfrm>
        </p:grpSpPr>
        <p:grpSp>
          <p:nvGrpSpPr>
            <p:cNvPr name="Group 13" id="13"/>
            <p:cNvGrpSpPr/>
            <p:nvPr/>
          </p:nvGrpSpPr>
          <p:grpSpPr>
            <a:xfrm rot="0">
              <a:off x="0" y="0"/>
              <a:ext cx="20236296" cy="1985146"/>
              <a:chOff x="0" y="0"/>
              <a:chExt cx="14108432" cy="1384013"/>
            </a:xfrm>
          </p:grpSpPr>
          <p:sp>
            <p:nvSpPr>
              <p:cNvPr name="Freeform 14" id="14"/>
              <p:cNvSpPr/>
              <p:nvPr/>
            </p:nvSpPr>
            <p:spPr>
              <a:xfrm flipH="false" flipV="false" rot="0">
                <a:off x="0" y="0"/>
                <a:ext cx="14108432" cy="1384013"/>
              </a:xfrm>
              <a:custGeom>
                <a:avLst/>
                <a:gdLst/>
                <a:ahLst/>
                <a:cxnLst/>
                <a:rect r="r" b="b" t="t" l="l"/>
                <a:pathLst>
                  <a:path h="1384013" w="14108432">
                    <a:moveTo>
                      <a:pt x="7371" y="0"/>
                    </a:moveTo>
                    <a:lnTo>
                      <a:pt x="14101062" y="0"/>
                    </a:lnTo>
                    <a:cubicBezTo>
                      <a:pt x="14105131" y="0"/>
                      <a:pt x="14108432" y="3300"/>
                      <a:pt x="14108432" y="7371"/>
                    </a:cubicBezTo>
                    <a:lnTo>
                      <a:pt x="14108432" y="1376642"/>
                    </a:lnTo>
                    <a:cubicBezTo>
                      <a:pt x="14108432" y="1380713"/>
                      <a:pt x="14105131" y="1384013"/>
                      <a:pt x="14101062" y="1384013"/>
                    </a:cubicBezTo>
                    <a:lnTo>
                      <a:pt x="7371" y="1384013"/>
                    </a:lnTo>
                    <a:cubicBezTo>
                      <a:pt x="3300" y="1384013"/>
                      <a:pt x="0" y="1380713"/>
                      <a:pt x="0" y="1376642"/>
                    </a:cubicBezTo>
                    <a:lnTo>
                      <a:pt x="0" y="7371"/>
                    </a:lnTo>
                    <a:cubicBezTo>
                      <a:pt x="0" y="3300"/>
                      <a:pt x="3300" y="0"/>
                      <a:pt x="7371" y="0"/>
                    </a:cubicBezTo>
                    <a:close/>
                  </a:path>
                </a:pathLst>
              </a:custGeom>
              <a:solidFill>
                <a:srgbClr val="E8ECEC"/>
              </a:solidFill>
            </p:spPr>
          </p:sp>
          <p:sp>
            <p:nvSpPr>
              <p:cNvPr name="TextBox 15" id="15"/>
              <p:cNvSpPr txBox="true"/>
              <p:nvPr/>
            </p:nvSpPr>
            <p:spPr>
              <a:xfrm>
                <a:off x="0" y="-38100"/>
                <a:ext cx="14108432" cy="14221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2463" y="63774"/>
              <a:ext cx="19408203" cy="19213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Sequence trả về tất cả các </a:t>
              </a:r>
              <a:r>
                <a:rPr lang="en-US" sz="3196">
                  <a:solidFill>
                    <a:srgbClr val="000000"/>
                  </a:solidFill>
                  <a:latin typeface="Garet"/>
                  <a:ea typeface="Garet"/>
                  <a:cs typeface="Garet"/>
                  <a:sym typeface="Garet"/>
                </a:rPr>
                <a:t>g</a:t>
              </a:r>
              <a:r>
                <a:rPr lang="en-US" sz="3196">
                  <a:solidFill>
                    <a:srgbClr val="000000"/>
                  </a:solidFill>
                  <a:latin typeface="Garet"/>
                  <a:ea typeface="Garet"/>
                  <a:cs typeface="Garet"/>
                  <a:sym typeface="Garet"/>
                </a:rPr>
                <a:t>i</a:t>
              </a:r>
              <a:r>
                <a:rPr lang="en-US" sz="3196">
                  <a:solidFill>
                    <a:srgbClr val="000000"/>
                  </a:solidFill>
                  <a:latin typeface="Garet"/>
                  <a:ea typeface="Garet"/>
                  <a:cs typeface="Garet"/>
                  <a:sym typeface="Garet"/>
                </a:rPr>
                <a:t>á </a:t>
              </a:r>
              <a:r>
                <a:rPr lang="en-US" sz="3196">
                  <a:solidFill>
                    <a:srgbClr val="000000"/>
                  </a:solidFill>
                  <a:latin typeface="Garet"/>
                  <a:ea typeface="Garet"/>
                  <a:cs typeface="Garet"/>
                  <a:sym typeface="Garet"/>
                </a:rPr>
                <a:t>trị</a:t>
              </a:r>
              <a:r>
                <a:rPr lang="en-US" sz="3196">
                  <a:solidFill>
                    <a:srgbClr val="000000"/>
                  </a:solidFill>
                  <a:latin typeface="Garet"/>
                  <a:ea typeface="Garet"/>
                  <a:cs typeface="Garet"/>
                  <a:sym typeface="Garet"/>
                </a:rPr>
                <a:t> c</a:t>
              </a:r>
              <a:r>
                <a:rPr lang="en-US" sz="3196">
                  <a:solidFill>
                    <a:srgbClr val="000000"/>
                  </a:solidFill>
                  <a:latin typeface="Garet"/>
                  <a:ea typeface="Garet"/>
                  <a:cs typeface="Garet"/>
                  <a:sym typeface="Garet"/>
                </a:rPr>
                <a:t>ù</a:t>
              </a:r>
              <a:r>
                <a:rPr lang="en-US" sz="3196">
                  <a:solidFill>
                    <a:srgbClr val="000000"/>
                  </a:solidFill>
                  <a:latin typeface="Garet"/>
                  <a:ea typeface="Garet"/>
                  <a:cs typeface="Garet"/>
                  <a:sym typeface="Garet"/>
                </a:rPr>
                <a:t>n</a:t>
              </a:r>
              <a:r>
                <a:rPr lang="en-US" sz="3196">
                  <a:solidFill>
                    <a:srgbClr val="000000"/>
                  </a:solidFill>
                  <a:latin typeface="Garet"/>
                  <a:ea typeface="Garet"/>
                  <a:cs typeface="Garet"/>
                  <a:sym typeface="Garet"/>
                </a:rPr>
                <a:t>g 1 lúc, nghĩa là tất cá các hoạt động</a:t>
              </a:r>
              <a:r>
                <a:rPr lang="en-US" sz="3196">
                  <a:solidFill>
                    <a:srgbClr val="000000"/>
                  </a:solidFill>
                  <a:latin typeface="Garet"/>
                  <a:ea typeface="Garet"/>
                  <a:cs typeface="Garet"/>
                  <a:sym typeface="Garet"/>
                </a:rPr>
                <a:t> tr</a:t>
              </a:r>
              <a:r>
                <a:rPr lang="en-US" sz="3196">
                  <a:solidFill>
                    <a:srgbClr val="000000"/>
                  </a:solidFill>
                  <a:latin typeface="Garet"/>
                  <a:ea typeface="Garet"/>
                  <a:cs typeface="Garet"/>
                  <a:sym typeface="Garet"/>
                </a:rPr>
                <a:t>o</a:t>
              </a:r>
              <a:r>
                <a:rPr lang="en-US" sz="3196">
                  <a:solidFill>
                    <a:srgbClr val="000000"/>
                  </a:solidFill>
                  <a:latin typeface="Garet"/>
                  <a:ea typeface="Garet"/>
                  <a:cs typeface="Garet"/>
                  <a:sym typeface="Garet"/>
                </a:rPr>
                <a:t>ng</a:t>
              </a:r>
              <a:r>
                <a:rPr lang="en-US" sz="3196">
                  <a:solidFill>
                    <a:srgbClr val="000000"/>
                  </a:solidFill>
                  <a:latin typeface="Garet"/>
                  <a:ea typeface="Garet"/>
                  <a:cs typeface="Garet"/>
                  <a:sym typeface="Garet"/>
                </a:rPr>
                <a:t> Sequence đều phải hoàn thành thì hàm print mới chạy</a:t>
              </a:r>
            </a:p>
          </p:txBody>
        </p:sp>
      </p:grpSp>
      <p:sp>
        <p:nvSpPr>
          <p:cNvPr name="Freeform 17" id="17"/>
          <p:cNvSpPr/>
          <p:nvPr/>
        </p:nvSpPr>
        <p:spPr>
          <a:xfrm flipH="false" flipV="false" rot="0">
            <a:off x="2638552" y="4675748"/>
            <a:ext cx="13010896" cy="4582552"/>
          </a:xfrm>
          <a:custGeom>
            <a:avLst/>
            <a:gdLst/>
            <a:ahLst/>
            <a:cxnLst/>
            <a:rect r="r" b="b" t="t" l="l"/>
            <a:pathLst>
              <a:path h="4582552" w="13010896">
                <a:moveTo>
                  <a:pt x="0" y="0"/>
                </a:moveTo>
                <a:lnTo>
                  <a:pt x="13010896" y="0"/>
                </a:lnTo>
                <a:lnTo>
                  <a:pt x="13010896" y="4582552"/>
                </a:lnTo>
                <a:lnTo>
                  <a:pt x="0" y="4582552"/>
                </a:lnTo>
                <a:lnTo>
                  <a:pt x="0" y="0"/>
                </a:lnTo>
                <a:close/>
              </a:path>
            </a:pathLst>
          </a:custGeom>
          <a:blipFill>
            <a:blip r:embed="rId4"/>
            <a:stretch>
              <a:fillRect l="-3206" t="-9104" r="-3206" b="-9104"/>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34</a:t>
            </a:r>
          </a:p>
        </p:txBody>
      </p:sp>
      <p:sp>
        <p:nvSpPr>
          <p:cNvPr name="TextBox 19" id="19"/>
          <p:cNvSpPr txBox="true"/>
          <p:nvPr/>
        </p:nvSpPr>
        <p:spPr>
          <a:xfrm rot="0">
            <a:off x="3082460"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1889965"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1" id="21"/>
          <p:cNvSpPr txBox="true"/>
          <p:nvPr/>
        </p:nvSpPr>
        <p:spPr>
          <a:xfrm rot="0">
            <a:off x="3706773" y="1568291"/>
            <a:ext cx="621994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Khác biệt với Sequence</a:t>
            </a:r>
          </a:p>
        </p:txBody>
      </p:sp>
      <p:sp>
        <p:nvSpPr>
          <p:cNvPr name="TextBox 22" id="22"/>
          <p:cNvSpPr txBox="true"/>
          <p:nvPr/>
        </p:nvSpPr>
        <p:spPr>
          <a:xfrm rot="0">
            <a:off x="7404860" y="9695597"/>
            <a:ext cx="222515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24: Sequence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661681" y="1121082"/>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512548" y="3992421"/>
            <a:ext cx="4733803" cy="3860585"/>
            <a:chOff x="0" y="0"/>
            <a:chExt cx="6311737" cy="5147446"/>
          </a:xfrm>
        </p:grpSpPr>
        <p:grpSp>
          <p:nvGrpSpPr>
            <p:cNvPr name="Group 13" id="13"/>
            <p:cNvGrpSpPr/>
            <p:nvPr/>
          </p:nvGrpSpPr>
          <p:grpSpPr>
            <a:xfrm rot="0">
              <a:off x="0" y="0"/>
              <a:ext cx="6311737" cy="5147446"/>
              <a:chOff x="0" y="0"/>
              <a:chExt cx="4400445" cy="3588720"/>
            </a:xfrm>
          </p:grpSpPr>
          <p:sp>
            <p:nvSpPr>
              <p:cNvPr name="Freeform 14" id="14"/>
              <p:cNvSpPr/>
              <p:nvPr/>
            </p:nvSpPr>
            <p:spPr>
              <a:xfrm flipH="false" flipV="false" rot="0">
                <a:off x="0" y="0"/>
                <a:ext cx="4400445" cy="3588720"/>
              </a:xfrm>
              <a:custGeom>
                <a:avLst/>
                <a:gdLst/>
                <a:ahLst/>
                <a:cxnLst/>
                <a:rect r="r" b="b" t="t" l="l"/>
                <a:pathLst>
                  <a:path h="3588720" w="4400445">
                    <a:moveTo>
                      <a:pt x="23632" y="0"/>
                    </a:moveTo>
                    <a:lnTo>
                      <a:pt x="4376813" y="0"/>
                    </a:lnTo>
                    <a:cubicBezTo>
                      <a:pt x="4389865" y="0"/>
                      <a:pt x="4400445" y="10580"/>
                      <a:pt x="4400445" y="23632"/>
                    </a:cubicBezTo>
                    <a:lnTo>
                      <a:pt x="4400445" y="3565088"/>
                    </a:lnTo>
                    <a:cubicBezTo>
                      <a:pt x="4400445" y="3571356"/>
                      <a:pt x="4397956" y="3577366"/>
                      <a:pt x="4393524" y="3581798"/>
                    </a:cubicBezTo>
                    <a:cubicBezTo>
                      <a:pt x="4389092" y="3586230"/>
                      <a:pt x="4383081" y="3588720"/>
                      <a:pt x="4376813" y="3588720"/>
                    </a:cubicBezTo>
                    <a:lnTo>
                      <a:pt x="23632" y="3588720"/>
                    </a:lnTo>
                    <a:cubicBezTo>
                      <a:pt x="10580" y="3588720"/>
                      <a:pt x="0" y="3578139"/>
                      <a:pt x="0" y="3565088"/>
                    </a:cubicBezTo>
                    <a:lnTo>
                      <a:pt x="0" y="23632"/>
                    </a:lnTo>
                    <a:cubicBezTo>
                      <a:pt x="0" y="10580"/>
                      <a:pt x="10580" y="0"/>
                      <a:pt x="23632" y="0"/>
                    </a:cubicBezTo>
                    <a:close/>
                  </a:path>
                </a:pathLst>
              </a:custGeom>
              <a:solidFill>
                <a:srgbClr val="E8ECEC"/>
              </a:solidFill>
            </p:spPr>
          </p:sp>
          <p:sp>
            <p:nvSpPr>
              <p:cNvPr name="TextBox 15" id="15"/>
              <p:cNvSpPr txBox="true"/>
              <p:nvPr/>
            </p:nvSpPr>
            <p:spPr>
              <a:xfrm>
                <a:off x="0" y="-38100"/>
                <a:ext cx="4400445" cy="362682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16172" y="63774"/>
              <a:ext cx="6053453" cy="50836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Ngược lại, Flow sẽ trả về các </a:t>
              </a:r>
              <a:r>
                <a:rPr lang="en-US" sz="3196">
                  <a:solidFill>
                    <a:srgbClr val="000000"/>
                  </a:solidFill>
                  <a:latin typeface="Garet"/>
                  <a:ea typeface="Garet"/>
                  <a:cs typeface="Garet"/>
                  <a:sym typeface="Garet"/>
                </a:rPr>
                <a:t>g</a:t>
              </a:r>
              <a:r>
                <a:rPr lang="en-US" sz="3196">
                  <a:solidFill>
                    <a:srgbClr val="000000"/>
                  </a:solidFill>
                  <a:latin typeface="Garet"/>
                  <a:ea typeface="Garet"/>
                  <a:cs typeface="Garet"/>
                  <a:sym typeface="Garet"/>
                </a:rPr>
                <a:t>i</a:t>
              </a:r>
              <a:r>
                <a:rPr lang="en-US" sz="3196">
                  <a:solidFill>
                    <a:srgbClr val="000000"/>
                  </a:solidFill>
                  <a:latin typeface="Garet"/>
                  <a:ea typeface="Garet"/>
                  <a:cs typeface="Garet"/>
                  <a:sym typeface="Garet"/>
                </a:rPr>
                <a:t>á </a:t>
              </a:r>
              <a:r>
                <a:rPr lang="en-US" sz="3196">
                  <a:solidFill>
                    <a:srgbClr val="000000"/>
                  </a:solidFill>
                  <a:latin typeface="Garet"/>
                  <a:ea typeface="Garet"/>
                  <a:cs typeface="Garet"/>
                  <a:sym typeface="Garet"/>
                </a:rPr>
                <a:t>trị</a:t>
              </a:r>
              <a:r>
                <a:rPr lang="en-US" sz="3196">
                  <a:solidFill>
                    <a:srgbClr val="000000"/>
                  </a:solidFill>
                  <a:latin typeface="Garet"/>
                  <a:ea typeface="Garet"/>
                  <a:cs typeface="Garet"/>
                  <a:sym typeface="Garet"/>
                </a:rPr>
                <a:t> theo tuần</a:t>
              </a:r>
              <a:r>
                <a:rPr lang="en-US" sz="3196">
                  <a:solidFill>
                    <a:srgbClr val="000000"/>
                  </a:solidFill>
                  <a:latin typeface="Garet"/>
                  <a:ea typeface="Garet"/>
                  <a:cs typeface="Garet"/>
                  <a:sym typeface="Garet"/>
                </a:rPr>
                <a:t> tự mà không phải chờ tất cả dữ liệ</a:t>
              </a:r>
              <a:r>
                <a:rPr lang="en-US" sz="3196">
                  <a:solidFill>
                    <a:srgbClr val="000000"/>
                  </a:solidFill>
                  <a:latin typeface="Garet"/>
                  <a:ea typeface="Garet"/>
                  <a:cs typeface="Garet"/>
                  <a:sym typeface="Garet"/>
                </a:rPr>
                <a:t>u được tính toán xong</a:t>
              </a:r>
            </a:p>
          </p:txBody>
        </p:sp>
      </p:grpSp>
      <p:sp>
        <p:nvSpPr>
          <p:cNvPr name="Freeform 17" id="17"/>
          <p:cNvSpPr/>
          <p:nvPr/>
        </p:nvSpPr>
        <p:spPr>
          <a:xfrm flipH="false" flipV="false" rot="0">
            <a:off x="5787494" y="2545338"/>
            <a:ext cx="12127647" cy="6754750"/>
          </a:xfrm>
          <a:custGeom>
            <a:avLst/>
            <a:gdLst/>
            <a:ahLst/>
            <a:cxnLst/>
            <a:rect r="r" b="b" t="t" l="l"/>
            <a:pathLst>
              <a:path h="6754750" w="12127647">
                <a:moveTo>
                  <a:pt x="0" y="0"/>
                </a:moveTo>
                <a:lnTo>
                  <a:pt x="12127647" y="0"/>
                </a:lnTo>
                <a:lnTo>
                  <a:pt x="12127647" y="6754750"/>
                </a:lnTo>
                <a:lnTo>
                  <a:pt x="0" y="6754750"/>
                </a:lnTo>
                <a:lnTo>
                  <a:pt x="0" y="0"/>
                </a:lnTo>
                <a:close/>
              </a:path>
            </a:pathLst>
          </a:custGeom>
          <a:blipFill>
            <a:blip r:embed="rId4"/>
            <a:stretch>
              <a:fillRect l="-2966" t="-5159" r="-2762" b="-5178"/>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35</a:t>
            </a:r>
          </a:p>
        </p:txBody>
      </p:sp>
      <p:sp>
        <p:nvSpPr>
          <p:cNvPr name="TextBox 19" id="19"/>
          <p:cNvSpPr txBox="true"/>
          <p:nvPr/>
        </p:nvSpPr>
        <p:spPr>
          <a:xfrm rot="0">
            <a:off x="2937805" y="26342"/>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1745309" y="139429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21" id="21"/>
          <p:cNvSpPr txBox="true"/>
          <p:nvPr/>
        </p:nvSpPr>
        <p:spPr>
          <a:xfrm rot="0">
            <a:off x="3562118" y="1464910"/>
            <a:ext cx="621994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Khác biệt với Sequence</a:t>
            </a:r>
          </a:p>
        </p:txBody>
      </p:sp>
      <p:sp>
        <p:nvSpPr>
          <p:cNvPr name="TextBox 22" id="22"/>
          <p:cNvSpPr txBox="true"/>
          <p:nvPr/>
        </p:nvSpPr>
        <p:spPr>
          <a:xfrm rot="0">
            <a:off x="11148190" y="9606062"/>
            <a:ext cx="1548646"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25: Flow</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94661" y="12244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5554596" y="2919399"/>
            <a:ext cx="7178808" cy="5945790"/>
          </a:xfrm>
          <a:custGeom>
            <a:avLst/>
            <a:gdLst/>
            <a:ahLst/>
            <a:cxnLst/>
            <a:rect r="r" b="b" t="t" l="l"/>
            <a:pathLst>
              <a:path h="5945790" w="7178808">
                <a:moveTo>
                  <a:pt x="0" y="0"/>
                </a:moveTo>
                <a:lnTo>
                  <a:pt x="7178808" y="0"/>
                </a:lnTo>
                <a:lnTo>
                  <a:pt x="7178808" y="5945791"/>
                </a:lnTo>
                <a:lnTo>
                  <a:pt x="0" y="5945791"/>
                </a:lnTo>
                <a:lnTo>
                  <a:pt x="0" y="0"/>
                </a:lnTo>
                <a:close/>
              </a:path>
            </a:pathLst>
          </a:custGeom>
          <a:blipFill>
            <a:blip r:embed="rId4"/>
            <a:stretch>
              <a:fillRect l="-9272" t="-11895" r="-9851" b="-11895"/>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36</a:t>
            </a:r>
          </a:p>
        </p:txBody>
      </p:sp>
      <p:sp>
        <p:nvSpPr>
          <p:cNvPr name="TextBox 14" id="14"/>
          <p:cNvSpPr txBox="true"/>
          <p:nvPr/>
        </p:nvSpPr>
        <p:spPr>
          <a:xfrm rot="0">
            <a:off x="3570785"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2378290"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TextBox 16" id="16"/>
          <p:cNvSpPr txBox="true"/>
          <p:nvPr/>
        </p:nvSpPr>
        <p:spPr>
          <a:xfrm rot="0">
            <a:off x="4195099" y="1568291"/>
            <a:ext cx="621994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Khác biệt với Sequence</a:t>
            </a:r>
          </a:p>
        </p:txBody>
      </p:sp>
      <p:sp>
        <p:nvSpPr>
          <p:cNvPr name="TextBox 17" id="17"/>
          <p:cNvSpPr txBox="true"/>
          <p:nvPr/>
        </p:nvSpPr>
        <p:spPr>
          <a:xfrm rot="0">
            <a:off x="6849539" y="9508272"/>
            <a:ext cx="5264706"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26: Kết quả chạy của từng số mỗi 100ms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94661" y="12244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341351" y="3615745"/>
            <a:ext cx="6884179" cy="4037400"/>
          </a:xfrm>
          <a:custGeom>
            <a:avLst/>
            <a:gdLst/>
            <a:ahLst/>
            <a:cxnLst/>
            <a:rect r="r" b="b" t="t" l="l"/>
            <a:pathLst>
              <a:path h="4037400" w="6884179">
                <a:moveTo>
                  <a:pt x="0" y="0"/>
                </a:moveTo>
                <a:lnTo>
                  <a:pt x="6884179" y="0"/>
                </a:lnTo>
                <a:lnTo>
                  <a:pt x="6884179" y="4037400"/>
                </a:lnTo>
                <a:lnTo>
                  <a:pt x="0" y="4037400"/>
                </a:lnTo>
                <a:lnTo>
                  <a:pt x="0" y="0"/>
                </a:lnTo>
                <a:close/>
              </a:path>
            </a:pathLst>
          </a:custGeom>
          <a:blipFill>
            <a:blip r:embed="rId4"/>
            <a:stretch>
              <a:fillRect l="-6537" t="-10652" r="-6392" b="-10899"/>
            </a:stretch>
          </a:blipFill>
        </p:spPr>
      </p:sp>
      <p:sp>
        <p:nvSpPr>
          <p:cNvPr name="Freeform 13" id="13"/>
          <p:cNvSpPr/>
          <p:nvPr/>
        </p:nvSpPr>
        <p:spPr>
          <a:xfrm flipH="false" flipV="false" rot="0">
            <a:off x="7640770" y="3148630"/>
            <a:ext cx="10244370" cy="4971630"/>
          </a:xfrm>
          <a:custGeom>
            <a:avLst/>
            <a:gdLst/>
            <a:ahLst/>
            <a:cxnLst/>
            <a:rect r="r" b="b" t="t" l="l"/>
            <a:pathLst>
              <a:path h="4971630" w="10244370">
                <a:moveTo>
                  <a:pt x="0" y="0"/>
                </a:moveTo>
                <a:lnTo>
                  <a:pt x="10244370" y="0"/>
                </a:lnTo>
                <a:lnTo>
                  <a:pt x="10244370" y="4971630"/>
                </a:lnTo>
                <a:lnTo>
                  <a:pt x="0" y="4971630"/>
                </a:lnTo>
                <a:lnTo>
                  <a:pt x="0" y="0"/>
                </a:lnTo>
                <a:close/>
              </a:path>
            </a:pathLst>
          </a:custGeom>
          <a:blipFill>
            <a:blip r:embed="rId5"/>
            <a:stretch>
              <a:fillRect l="-4929" t="-11176" r="-5387" b="-11574"/>
            </a:stretch>
          </a:blipFill>
        </p:spPr>
      </p:sp>
      <p:sp>
        <p:nvSpPr>
          <p:cNvPr name="TextBox 14" id="14"/>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37</a:t>
            </a:r>
          </a:p>
        </p:txBody>
      </p:sp>
      <p:sp>
        <p:nvSpPr>
          <p:cNvPr name="TextBox 15" id="15"/>
          <p:cNvSpPr txBox="true"/>
          <p:nvPr/>
        </p:nvSpPr>
        <p:spPr>
          <a:xfrm rot="0">
            <a:off x="3570785"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6" id="16"/>
          <p:cNvSpPr txBox="true"/>
          <p:nvPr/>
        </p:nvSpPr>
        <p:spPr>
          <a:xfrm rot="0">
            <a:off x="2378290"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TextBox 17" id="17"/>
          <p:cNvSpPr txBox="true"/>
          <p:nvPr/>
        </p:nvSpPr>
        <p:spPr>
          <a:xfrm rot="0">
            <a:off x="4085561" y="1568291"/>
            <a:ext cx="867739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Đặc tính “Cold Stream” của Flow</a:t>
            </a:r>
          </a:p>
        </p:txBody>
      </p:sp>
      <p:sp>
        <p:nvSpPr>
          <p:cNvPr name="TextBox 18" id="18"/>
          <p:cNvSpPr txBox="true"/>
          <p:nvPr/>
        </p:nvSpPr>
        <p:spPr>
          <a:xfrm rot="0">
            <a:off x="6580859" y="9695597"/>
            <a:ext cx="4540330"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27: Ví dụ về Cold Stream của Flow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5943373" y="3196158"/>
            <a:ext cx="6891169" cy="6342686"/>
          </a:xfrm>
          <a:custGeom>
            <a:avLst/>
            <a:gdLst/>
            <a:ahLst/>
            <a:cxnLst/>
            <a:rect r="r" b="b" t="t" l="l"/>
            <a:pathLst>
              <a:path h="6342686" w="6891169">
                <a:moveTo>
                  <a:pt x="0" y="0"/>
                </a:moveTo>
                <a:lnTo>
                  <a:pt x="6891170" y="0"/>
                </a:lnTo>
                <a:lnTo>
                  <a:pt x="6891170" y="6342686"/>
                </a:lnTo>
                <a:lnTo>
                  <a:pt x="0" y="6342686"/>
                </a:lnTo>
                <a:lnTo>
                  <a:pt x="0" y="0"/>
                </a:lnTo>
                <a:close/>
              </a:path>
            </a:pathLst>
          </a:custGeom>
          <a:blipFill>
            <a:blip r:embed="rId4"/>
            <a:stretch>
              <a:fillRect l="-7143" t="-7305" r="-7283" b="-7072"/>
            </a:stretch>
          </a:blipFill>
        </p:spPr>
      </p:sp>
      <p:sp>
        <p:nvSpPr>
          <p:cNvPr name="TextBox 13" id="13"/>
          <p:cNvSpPr txBox="true"/>
          <p:nvPr/>
        </p:nvSpPr>
        <p:spPr>
          <a:xfrm rot="0">
            <a:off x="1767470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38</a:t>
            </a:r>
          </a:p>
        </p:txBody>
      </p:sp>
      <p:sp>
        <p:nvSpPr>
          <p:cNvPr name="TextBox 14" id="14"/>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TextBox 16" id="16"/>
          <p:cNvSpPr txBox="true"/>
          <p:nvPr/>
        </p:nvSpPr>
        <p:spPr>
          <a:xfrm rot="0">
            <a:off x="3033912" y="2465141"/>
            <a:ext cx="867739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Đặc tính “Cold Stream” của Flow</a:t>
            </a:r>
          </a:p>
        </p:txBody>
      </p:sp>
      <p:sp>
        <p:nvSpPr>
          <p:cNvPr name="TextBox 17" id="17"/>
          <p:cNvSpPr txBox="true"/>
          <p:nvPr/>
        </p:nvSpPr>
        <p:spPr>
          <a:xfrm rot="0">
            <a:off x="6958310" y="9650829"/>
            <a:ext cx="4371380"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28: Kết quả khi chạy Cold Stream</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5626827" y="3196158"/>
            <a:ext cx="7307237" cy="6295570"/>
          </a:xfrm>
          <a:custGeom>
            <a:avLst/>
            <a:gdLst/>
            <a:ahLst/>
            <a:cxnLst/>
            <a:rect r="r" b="b" t="t" l="l"/>
            <a:pathLst>
              <a:path h="6295570" w="7307237">
                <a:moveTo>
                  <a:pt x="0" y="0"/>
                </a:moveTo>
                <a:lnTo>
                  <a:pt x="7307236" y="0"/>
                </a:lnTo>
                <a:lnTo>
                  <a:pt x="7307236" y="6295570"/>
                </a:lnTo>
                <a:lnTo>
                  <a:pt x="0" y="6295570"/>
                </a:lnTo>
                <a:lnTo>
                  <a:pt x="0" y="0"/>
                </a:lnTo>
                <a:close/>
              </a:path>
            </a:pathLst>
          </a:custGeom>
          <a:blipFill>
            <a:blip r:embed="rId4"/>
            <a:stretch>
              <a:fillRect l="-4911" t="-6105" r="-4822" b="-6614"/>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39</a:t>
            </a:r>
          </a:p>
        </p:txBody>
      </p:sp>
      <p:sp>
        <p:nvSpPr>
          <p:cNvPr name="TextBox 14" id="14"/>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6" id="16"/>
          <p:cNvSpPr txBox="true"/>
          <p:nvPr/>
        </p:nvSpPr>
        <p:spPr>
          <a:xfrm rot="0">
            <a:off x="3090667" y="2465141"/>
            <a:ext cx="574095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Tính tuần tự của Flow</a:t>
            </a:r>
          </a:p>
        </p:txBody>
      </p:sp>
      <p:sp>
        <p:nvSpPr>
          <p:cNvPr name="TextBox 17" id="17"/>
          <p:cNvSpPr txBox="true"/>
          <p:nvPr/>
        </p:nvSpPr>
        <p:spPr>
          <a:xfrm rot="0">
            <a:off x="5553135" y="9695597"/>
            <a:ext cx="7181731"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29: Lọc các số nguyên chẵn và ánh xạ chúng thành chuỗi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13488074" y="3650345"/>
            <a:ext cx="2932160" cy="5607955"/>
          </a:xfrm>
          <a:custGeom>
            <a:avLst/>
            <a:gdLst/>
            <a:ahLst/>
            <a:cxnLst/>
            <a:rect r="r" b="b" t="t" l="l"/>
            <a:pathLst>
              <a:path h="5607955" w="2932160">
                <a:moveTo>
                  <a:pt x="0" y="0"/>
                </a:moveTo>
                <a:lnTo>
                  <a:pt x="2932160" y="0"/>
                </a:lnTo>
                <a:lnTo>
                  <a:pt x="2932160" y="5607955"/>
                </a:lnTo>
                <a:lnTo>
                  <a:pt x="0" y="5607955"/>
                </a:lnTo>
                <a:lnTo>
                  <a:pt x="0" y="0"/>
                </a:lnTo>
                <a:close/>
              </a:path>
            </a:pathLst>
          </a:custGeom>
          <a:blipFill>
            <a:blip r:embed="rId4"/>
            <a:stretch>
              <a:fillRect l="-31442" t="-30980" r="-383318" b="-26133"/>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40</a:t>
            </a:r>
          </a:p>
        </p:txBody>
      </p:sp>
      <p:sp>
        <p:nvSpPr>
          <p:cNvPr name="TextBox 14" id="14"/>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TextBox 16" id="16"/>
          <p:cNvSpPr txBox="true"/>
          <p:nvPr/>
        </p:nvSpPr>
        <p:spPr>
          <a:xfrm rot="0">
            <a:off x="3090667" y="2465141"/>
            <a:ext cx="5740956"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Tính tuần tự của Flow</a:t>
            </a:r>
          </a:p>
        </p:txBody>
      </p:sp>
      <p:sp>
        <p:nvSpPr>
          <p:cNvPr name="TextBox 17" id="17"/>
          <p:cNvSpPr txBox="true"/>
          <p:nvPr/>
        </p:nvSpPr>
        <p:spPr>
          <a:xfrm rot="0">
            <a:off x="14116550" y="9320947"/>
            <a:ext cx="196095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30: Kết quả </a:t>
            </a:r>
          </a:p>
        </p:txBody>
      </p:sp>
      <p:grpSp>
        <p:nvGrpSpPr>
          <p:cNvPr name="Group 18" id="18"/>
          <p:cNvGrpSpPr/>
          <p:nvPr/>
        </p:nvGrpSpPr>
        <p:grpSpPr>
          <a:xfrm rot="0">
            <a:off x="1243013" y="3709643"/>
            <a:ext cx="11105284" cy="5489360"/>
            <a:chOff x="0" y="0"/>
            <a:chExt cx="14807046" cy="7319146"/>
          </a:xfrm>
        </p:grpSpPr>
        <p:grpSp>
          <p:nvGrpSpPr>
            <p:cNvPr name="Group 19" id="19"/>
            <p:cNvGrpSpPr/>
            <p:nvPr/>
          </p:nvGrpSpPr>
          <p:grpSpPr>
            <a:xfrm rot="0">
              <a:off x="0" y="0"/>
              <a:ext cx="14807046" cy="7255646"/>
              <a:chOff x="0" y="0"/>
              <a:chExt cx="10323243" cy="5058524"/>
            </a:xfrm>
          </p:grpSpPr>
          <p:sp>
            <p:nvSpPr>
              <p:cNvPr name="Freeform 20" id="20"/>
              <p:cNvSpPr/>
              <p:nvPr/>
            </p:nvSpPr>
            <p:spPr>
              <a:xfrm flipH="false" flipV="false" rot="0">
                <a:off x="0" y="0"/>
                <a:ext cx="10323243" cy="5058524"/>
              </a:xfrm>
              <a:custGeom>
                <a:avLst/>
                <a:gdLst/>
                <a:ahLst/>
                <a:cxnLst/>
                <a:rect r="r" b="b" t="t" l="l"/>
                <a:pathLst>
                  <a:path h="5058524" w="10323243">
                    <a:moveTo>
                      <a:pt x="10073" y="0"/>
                    </a:moveTo>
                    <a:lnTo>
                      <a:pt x="10313170" y="0"/>
                    </a:lnTo>
                    <a:cubicBezTo>
                      <a:pt x="10315841" y="0"/>
                      <a:pt x="10318404" y="1061"/>
                      <a:pt x="10320293" y="2950"/>
                    </a:cubicBezTo>
                    <a:cubicBezTo>
                      <a:pt x="10322182" y="4840"/>
                      <a:pt x="10323243" y="7402"/>
                      <a:pt x="10323243" y="10073"/>
                    </a:cubicBezTo>
                    <a:lnTo>
                      <a:pt x="10323243" y="5048451"/>
                    </a:lnTo>
                    <a:cubicBezTo>
                      <a:pt x="10323243" y="5054014"/>
                      <a:pt x="10318733" y="5058524"/>
                      <a:pt x="10313170" y="5058524"/>
                    </a:cubicBezTo>
                    <a:lnTo>
                      <a:pt x="10073" y="5058524"/>
                    </a:lnTo>
                    <a:cubicBezTo>
                      <a:pt x="4510" y="5058524"/>
                      <a:pt x="0" y="5054014"/>
                      <a:pt x="0" y="5048451"/>
                    </a:cubicBezTo>
                    <a:lnTo>
                      <a:pt x="0" y="10073"/>
                    </a:lnTo>
                    <a:cubicBezTo>
                      <a:pt x="0" y="4510"/>
                      <a:pt x="4510" y="0"/>
                      <a:pt x="10073" y="0"/>
                    </a:cubicBezTo>
                    <a:close/>
                  </a:path>
                </a:pathLst>
              </a:custGeom>
              <a:solidFill>
                <a:srgbClr val="E8ECEC"/>
              </a:solidFill>
            </p:spPr>
          </p:sp>
          <p:sp>
            <p:nvSpPr>
              <p:cNvPr name="TextBox 21" id="21"/>
              <p:cNvSpPr txBox="true"/>
              <p:nvPr/>
            </p:nvSpPr>
            <p:spPr>
              <a:xfrm>
                <a:off x="0" y="-38100"/>
                <a:ext cx="10323243" cy="5096624"/>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372463" y="127274"/>
              <a:ext cx="14296453" cy="71918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Quan sát kết quả, ta thấy tính tuần tự:</a:t>
              </a:r>
            </a:p>
            <a:p>
              <a:pPr algn="just" marL="690035" indent="-345018" lvl="1">
                <a:lnSpc>
                  <a:spcPts val="6232"/>
                </a:lnSpc>
                <a:buFont typeface="Arial"/>
                <a:buChar char="•"/>
              </a:pPr>
              <a:r>
                <a:rPr lang="en-US" sz="3196">
                  <a:solidFill>
                    <a:srgbClr val="000000"/>
                  </a:solidFill>
                  <a:latin typeface="Garet"/>
                  <a:ea typeface="Garet"/>
                  <a:cs typeface="Garet"/>
                  <a:sym typeface="Garet"/>
                </a:rPr>
                <a:t>Filter 1 chạy.</a:t>
              </a:r>
              <a:r>
                <a:rPr lang="en-US" sz="3196">
                  <a:solidFill>
                    <a:srgbClr val="000000"/>
                  </a:solidFill>
                  <a:latin typeface="Garet"/>
                  <a:ea typeface="Garet"/>
                  <a:cs typeface="Garet"/>
                  <a:sym typeface="Garet"/>
                </a:rPr>
                <a:t> 1 % 2 !=</a:t>
              </a:r>
              <a:r>
                <a:rPr lang="en-US" sz="3196">
                  <a:solidFill>
                    <a:srgbClr val="000000"/>
                  </a:solidFill>
                  <a:latin typeface="Garet"/>
                  <a:ea typeface="Garet"/>
                  <a:cs typeface="Garet"/>
                  <a:sym typeface="Garet"/>
                </a:rPr>
                <a:t> 0 nên không chạy Map.</a:t>
              </a:r>
            </a:p>
            <a:p>
              <a:pPr algn="just" marL="690035" indent="-345018" lvl="1">
                <a:lnSpc>
                  <a:spcPts val="6232"/>
                </a:lnSpc>
                <a:buFont typeface="Arial"/>
                <a:buChar char="•"/>
              </a:pPr>
              <a:r>
                <a:rPr lang="en-US" sz="3196">
                  <a:solidFill>
                    <a:srgbClr val="000000"/>
                  </a:solidFill>
                  <a:latin typeface="Garet"/>
                  <a:ea typeface="Garet"/>
                  <a:cs typeface="Garet"/>
                  <a:sym typeface="Garet"/>
                </a:rPr>
                <a:t>Filter 2 chạy. 2 % 2 == 0 nên chạy Map 2</a:t>
              </a:r>
              <a:r>
                <a:rPr lang="en-US" sz="3196">
                  <a:solidFill>
                    <a:srgbClr val="000000"/>
                  </a:solidFill>
                  <a:latin typeface="Garet"/>
                  <a:ea typeface="Garet"/>
                  <a:cs typeface="Garet"/>
                  <a:sym typeface="Garet"/>
                </a:rPr>
                <a:t>.</a:t>
              </a:r>
            </a:p>
            <a:p>
              <a:pPr algn="just" marL="690035" indent="-345018" lvl="1">
                <a:lnSpc>
                  <a:spcPts val="6232"/>
                </a:lnSpc>
                <a:buFont typeface="Arial"/>
                <a:buChar char="•"/>
              </a:pPr>
              <a:r>
                <a:rPr lang="en-US" sz="3196">
                  <a:solidFill>
                    <a:srgbClr val="000000"/>
                  </a:solidFill>
                  <a:latin typeface="Garet"/>
                  <a:ea typeface="Garet"/>
                  <a:cs typeface="Garet"/>
                  <a:sym typeface="Garet"/>
                </a:rPr>
                <a:t>Sa</a:t>
              </a:r>
              <a:r>
                <a:rPr lang="en-US" sz="3196">
                  <a:solidFill>
                    <a:srgbClr val="000000"/>
                  </a:solidFill>
                  <a:latin typeface="Garet"/>
                  <a:ea typeface="Garet"/>
                  <a:cs typeface="Garet"/>
                  <a:sym typeface="Garet"/>
                </a:rPr>
                <a:t>u khi Map 2 hoàn thành, chạy Collect string 2.</a:t>
              </a:r>
            </a:p>
            <a:p>
              <a:pPr algn="just" marL="690035" indent="-345018" lvl="1">
                <a:lnSpc>
                  <a:spcPts val="6232"/>
                </a:lnSpc>
                <a:buFont typeface="Arial"/>
                <a:buChar char="•"/>
              </a:pPr>
              <a:r>
                <a:rPr lang="en-US" sz="3196">
                  <a:solidFill>
                    <a:srgbClr val="000000"/>
                  </a:solidFill>
                  <a:latin typeface="Garet"/>
                  <a:ea typeface="Garet"/>
                  <a:cs typeface="Garet"/>
                  <a:sym typeface="Garet"/>
                </a:rPr>
                <a:t>Lặp lại cho Filter 3 (bỏ qua Map và Collect).</a:t>
              </a:r>
            </a:p>
            <a:p>
              <a:pPr algn="just" marL="690035" indent="-345018" lvl="1">
                <a:lnSpc>
                  <a:spcPts val="6232"/>
                </a:lnSpc>
                <a:buFont typeface="Arial"/>
                <a:buChar char="•"/>
              </a:pPr>
              <a:r>
                <a:rPr lang="en-US" sz="3196">
                  <a:solidFill>
                    <a:srgbClr val="000000"/>
                  </a:solidFill>
                  <a:latin typeface="Garet"/>
                  <a:ea typeface="Garet"/>
                  <a:cs typeface="Garet"/>
                  <a:sym typeface="Garet"/>
                </a:rPr>
                <a:t>Filter 4 -&gt; Map 4 -&gt; Collect string 4.</a:t>
              </a:r>
            </a:p>
            <a:p>
              <a:pPr algn="just" marL="690035" indent="-345018" lvl="1">
                <a:lnSpc>
                  <a:spcPts val="6232"/>
                </a:lnSpc>
                <a:buFont typeface="Arial"/>
                <a:buChar char="•"/>
              </a:pPr>
              <a:r>
                <a:rPr lang="en-US" sz="3196">
                  <a:solidFill>
                    <a:srgbClr val="000000"/>
                  </a:solidFill>
                  <a:latin typeface="Garet"/>
                  <a:ea typeface="Garet"/>
                  <a:cs typeface="Garet"/>
                  <a:sym typeface="Garet"/>
                </a:rPr>
                <a:t>Filter 5 (bỏ qua Map và Collect).</a:t>
              </a:r>
            </a:p>
          </p:txBody>
        </p:sp>
      </p:gr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94661" y="1224464"/>
            <a:ext cx="1424256" cy="1424256"/>
          </a:xfrm>
          <a:custGeom>
            <a:avLst/>
            <a:gdLst/>
            <a:ahLst/>
            <a:cxnLst/>
            <a:rect r="r" b="b" t="t" l="l"/>
            <a:pathLst>
              <a:path h="1424256" w="1424256">
                <a:moveTo>
                  <a:pt x="0" y="0"/>
                </a:moveTo>
                <a:lnTo>
                  <a:pt x="1424256" y="0"/>
                </a:lnTo>
                <a:lnTo>
                  <a:pt x="1424256"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250662" y="2864065"/>
            <a:ext cx="15177222" cy="2279435"/>
            <a:chOff x="0" y="0"/>
            <a:chExt cx="20236296" cy="3039246"/>
          </a:xfrm>
        </p:grpSpPr>
        <p:grpSp>
          <p:nvGrpSpPr>
            <p:cNvPr name="Group 13" id="13"/>
            <p:cNvGrpSpPr/>
            <p:nvPr/>
          </p:nvGrpSpPr>
          <p:grpSpPr>
            <a:xfrm rot="0">
              <a:off x="0" y="0"/>
              <a:ext cx="20236296" cy="3039246"/>
              <a:chOff x="0" y="0"/>
              <a:chExt cx="14108432" cy="2118915"/>
            </a:xfrm>
          </p:grpSpPr>
          <p:sp>
            <p:nvSpPr>
              <p:cNvPr name="Freeform 14" id="14"/>
              <p:cNvSpPr/>
              <p:nvPr/>
            </p:nvSpPr>
            <p:spPr>
              <a:xfrm flipH="false" flipV="false" rot="0">
                <a:off x="0" y="0"/>
                <a:ext cx="14108432" cy="2118915"/>
              </a:xfrm>
              <a:custGeom>
                <a:avLst/>
                <a:gdLst/>
                <a:ahLst/>
                <a:cxnLst/>
                <a:rect r="r" b="b" t="t" l="l"/>
                <a:pathLst>
                  <a:path h="2118915" w="14108432">
                    <a:moveTo>
                      <a:pt x="7371" y="0"/>
                    </a:moveTo>
                    <a:lnTo>
                      <a:pt x="14101062" y="0"/>
                    </a:lnTo>
                    <a:cubicBezTo>
                      <a:pt x="14105131" y="0"/>
                      <a:pt x="14108432" y="3300"/>
                      <a:pt x="14108432" y="7371"/>
                    </a:cubicBezTo>
                    <a:lnTo>
                      <a:pt x="14108432" y="2111544"/>
                    </a:lnTo>
                    <a:cubicBezTo>
                      <a:pt x="14108432" y="2115615"/>
                      <a:pt x="14105131" y="2118915"/>
                      <a:pt x="14101062" y="2118915"/>
                    </a:cubicBezTo>
                    <a:lnTo>
                      <a:pt x="7371" y="2118915"/>
                    </a:lnTo>
                    <a:cubicBezTo>
                      <a:pt x="3300" y="2118915"/>
                      <a:pt x="0" y="2115615"/>
                      <a:pt x="0" y="2111544"/>
                    </a:cubicBezTo>
                    <a:lnTo>
                      <a:pt x="0" y="7371"/>
                    </a:lnTo>
                    <a:cubicBezTo>
                      <a:pt x="0" y="3300"/>
                      <a:pt x="3300" y="0"/>
                      <a:pt x="7371" y="0"/>
                    </a:cubicBezTo>
                    <a:close/>
                  </a:path>
                </a:pathLst>
              </a:custGeom>
              <a:solidFill>
                <a:srgbClr val="E8ECEC"/>
              </a:solidFill>
            </p:spPr>
          </p:sp>
          <p:sp>
            <p:nvSpPr>
              <p:cNvPr name="TextBox 15" id="15"/>
              <p:cNvSpPr txBox="true"/>
              <p:nvPr/>
            </p:nvSpPr>
            <p:spPr>
              <a:xfrm>
                <a:off x="0" y="-38100"/>
                <a:ext cx="14108432" cy="215701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2463" y="63774"/>
              <a:ext cx="19408203" cy="2975472"/>
            </a:xfrm>
            <a:prstGeom prst="rect">
              <a:avLst/>
            </a:prstGeom>
          </p:spPr>
          <p:txBody>
            <a:bodyPr anchor="t" rtlCol="false" tIns="0" lIns="0" bIns="0" rIns="0">
              <a:spAutoFit/>
            </a:bodyPr>
            <a:lstStyle/>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Sử dụng flow { ... }:</a:t>
              </a:r>
              <a:r>
                <a:rPr lang="en-US" sz="3196">
                  <a:solidFill>
                    <a:srgbClr val="000000"/>
                  </a:solidFill>
                  <a:latin typeface="Garet"/>
                  <a:ea typeface="Garet"/>
                  <a:cs typeface="Garet"/>
                  <a:sym typeface="Garet"/>
                </a:rPr>
                <a:t> Đây là builder cơ bản nhất, cho phép bạn sử dụng hàm emit() để phát ra các giá trị từ bên trong một suspend lambda.</a:t>
              </a:r>
            </a:p>
          </p:txBody>
        </p:sp>
      </p:grpSp>
      <p:sp>
        <p:nvSpPr>
          <p:cNvPr name="Freeform 17" id="17"/>
          <p:cNvSpPr/>
          <p:nvPr/>
        </p:nvSpPr>
        <p:spPr>
          <a:xfrm flipH="false" flipV="false" rot="0">
            <a:off x="3087877" y="5362575"/>
            <a:ext cx="12112246" cy="4290614"/>
          </a:xfrm>
          <a:custGeom>
            <a:avLst/>
            <a:gdLst/>
            <a:ahLst/>
            <a:cxnLst/>
            <a:rect r="r" b="b" t="t" l="l"/>
            <a:pathLst>
              <a:path h="4290614" w="12112246">
                <a:moveTo>
                  <a:pt x="0" y="0"/>
                </a:moveTo>
                <a:lnTo>
                  <a:pt x="12112246" y="0"/>
                </a:lnTo>
                <a:lnTo>
                  <a:pt x="12112246" y="4290614"/>
                </a:lnTo>
                <a:lnTo>
                  <a:pt x="0" y="4290614"/>
                </a:lnTo>
                <a:lnTo>
                  <a:pt x="0" y="0"/>
                </a:lnTo>
                <a:close/>
              </a:path>
            </a:pathLst>
          </a:custGeom>
          <a:blipFill>
            <a:blip r:embed="rId4"/>
            <a:stretch>
              <a:fillRect l="-4913" t="-11904" r="-4906" b="-12878"/>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41</a:t>
            </a:r>
          </a:p>
        </p:txBody>
      </p:sp>
      <p:sp>
        <p:nvSpPr>
          <p:cNvPr name="TextBox 19" id="19"/>
          <p:cNvSpPr txBox="true"/>
          <p:nvPr/>
        </p:nvSpPr>
        <p:spPr>
          <a:xfrm rot="0">
            <a:off x="3570785"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2378290"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sp>
        <p:nvSpPr>
          <p:cNvPr name="TextBox 21" id="21"/>
          <p:cNvSpPr txBox="true"/>
          <p:nvPr/>
        </p:nvSpPr>
        <p:spPr>
          <a:xfrm rot="0">
            <a:off x="4287632" y="1568291"/>
            <a:ext cx="4259699"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Xây dựng 1 Flow</a:t>
            </a:r>
          </a:p>
        </p:txBody>
      </p:sp>
      <p:sp>
        <p:nvSpPr>
          <p:cNvPr name="TextBox 22" id="22"/>
          <p:cNvSpPr txBox="true"/>
          <p:nvPr/>
        </p:nvSpPr>
        <p:spPr>
          <a:xfrm rot="0">
            <a:off x="6417482" y="9838155"/>
            <a:ext cx="484358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31: Xây dựng Flow sử dụng flow { ... } </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243013" y="2121314"/>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243013" y="3740833"/>
            <a:ext cx="15177222" cy="1488860"/>
            <a:chOff x="0" y="0"/>
            <a:chExt cx="20236296" cy="1985146"/>
          </a:xfrm>
        </p:grpSpPr>
        <p:grpSp>
          <p:nvGrpSpPr>
            <p:cNvPr name="Group 13" id="13"/>
            <p:cNvGrpSpPr/>
            <p:nvPr/>
          </p:nvGrpSpPr>
          <p:grpSpPr>
            <a:xfrm rot="0">
              <a:off x="0" y="0"/>
              <a:ext cx="20236296" cy="1985146"/>
              <a:chOff x="0" y="0"/>
              <a:chExt cx="14108432" cy="1384013"/>
            </a:xfrm>
          </p:grpSpPr>
          <p:sp>
            <p:nvSpPr>
              <p:cNvPr name="Freeform 14" id="14"/>
              <p:cNvSpPr/>
              <p:nvPr/>
            </p:nvSpPr>
            <p:spPr>
              <a:xfrm flipH="false" flipV="false" rot="0">
                <a:off x="0" y="0"/>
                <a:ext cx="14108432" cy="1384013"/>
              </a:xfrm>
              <a:custGeom>
                <a:avLst/>
                <a:gdLst/>
                <a:ahLst/>
                <a:cxnLst/>
                <a:rect r="r" b="b" t="t" l="l"/>
                <a:pathLst>
                  <a:path h="1384013" w="14108432">
                    <a:moveTo>
                      <a:pt x="7371" y="0"/>
                    </a:moveTo>
                    <a:lnTo>
                      <a:pt x="14101062" y="0"/>
                    </a:lnTo>
                    <a:cubicBezTo>
                      <a:pt x="14105131" y="0"/>
                      <a:pt x="14108432" y="3300"/>
                      <a:pt x="14108432" y="7371"/>
                    </a:cubicBezTo>
                    <a:lnTo>
                      <a:pt x="14108432" y="1376642"/>
                    </a:lnTo>
                    <a:cubicBezTo>
                      <a:pt x="14108432" y="1380713"/>
                      <a:pt x="14105131" y="1384013"/>
                      <a:pt x="14101062" y="1384013"/>
                    </a:cubicBezTo>
                    <a:lnTo>
                      <a:pt x="7371" y="1384013"/>
                    </a:lnTo>
                    <a:cubicBezTo>
                      <a:pt x="3300" y="1384013"/>
                      <a:pt x="0" y="1380713"/>
                      <a:pt x="0" y="1376642"/>
                    </a:cubicBezTo>
                    <a:lnTo>
                      <a:pt x="0" y="7371"/>
                    </a:lnTo>
                    <a:cubicBezTo>
                      <a:pt x="0" y="3300"/>
                      <a:pt x="3300" y="0"/>
                      <a:pt x="7371" y="0"/>
                    </a:cubicBezTo>
                    <a:close/>
                  </a:path>
                </a:pathLst>
              </a:custGeom>
              <a:solidFill>
                <a:srgbClr val="E8ECEC"/>
              </a:solidFill>
            </p:spPr>
          </p:sp>
          <p:sp>
            <p:nvSpPr>
              <p:cNvPr name="TextBox 15" id="15"/>
              <p:cNvSpPr txBox="true"/>
              <p:nvPr/>
            </p:nvSpPr>
            <p:spPr>
              <a:xfrm>
                <a:off x="0" y="-38100"/>
                <a:ext cx="14108432" cy="1422113"/>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2463" y="63774"/>
              <a:ext cx="19408203" cy="1921372"/>
            </a:xfrm>
            <a:prstGeom prst="rect">
              <a:avLst/>
            </a:prstGeom>
          </p:spPr>
          <p:txBody>
            <a:bodyPr anchor="t" rtlCol="false" tIns="0" lIns="0" bIns="0" rIns="0">
              <a:spAutoFit/>
            </a:bodyPr>
            <a:lstStyle/>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Sử dụng flowOf()</a:t>
              </a:r>
              <a:r>
                <a:rPr lang="en-US" sz="3196">
                  <a:solidFill>
                    <a:srgbClr val="000000"/>
                  </a:solidFill>
                  <a:latin typeface="Garet"/>
                  <a:ea typeface="Garet"/>
                  <a:cs typeface="Garet"/>
                  <a:sym typeface="Garet"/>
                </a:rPr>
                <a:t>:</a:t>
              </a:r>
              <a:r>
                <a:rPr lang="en-US" sz="3196">
                  <a:solidFill>
                    <a:srgbClr val="000000"/>
                  </a:solidFill>
                  <a:latin typeface="Garet"/>
                  <a:ea typeface="Garet"/>
                  <a:cs typeface="Garet"/>
                  <a:sym typeface="Garet"/>
                </a:rPr>
                <a:t> Builder này dùng để định nghĩa một Flow phát ra một tập hợp các giá trị cố định.</a:t>
              </a:r>
            </a:p>
          </p:txBody>
        </p:sp>
      </p:grpSp>
      <p:sp>
        <p:nvSpPr>
          <p:cNvPr name="Freeform 17" id="17"/>
          <p:cNvSpPr/>
          <p:nvPr/>
        </p:nvSpPr>
        <p:spPr>
          <a:xfrm flipH="false" flipV="false" rot="0">
            <a:off x="1735736" y="5960311"/>
            <a:ext cx="14816529" cy="2429259"/>
          </a:xfrm>
          <a:custGeom>
            <a:avLst/>
            <a:gdLst/>
            <a:ahLst/>
            <a:cxnLst/>
            <a:rect r="r" b="b" t="t" l="l"/>
            <a:pathLst>
              <a:path h="2429259" w="14816529">
                <a:moveTo>
                  <a:pt x="0" y="0"/>
                </a:moveTo>
                <a:lnTo>
                  <a:pt x="14816528" y="0"/>
                </a:lnTo>
                <a:lnTo>
                  <a:pt x="14816528" y="2429260"/>
                </a:lnTo>
                <a:lnTo>
                  <a:pt x="0" y="2429260"/>
                </a:lnTo>
                <a:lnTo>
                  <a:pt x="0" y="0"/>
                </a:lnTo>
                <a:close/>
              </a:path>
            </a:pathLst>
          </a:custGeom>
          <a:blipFill>
            <a:blip r:embed="rId4"/>
            <a:stretch>
              <a:fillRect l="-2956" t="-17224" r="-2771" b="-15776"/>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42</a:t>
            </a:r>
          </a:p>
        </p:txBody>
      </p:sp>
      <p:sp>
        <p:nvSpPr>
          <p:cNvPr name="TextBox 19" id="19"/>
          <p:cNvSpPr txBox="true"/>
          <p:nvPr/>
        </p:nvSpPr>
        <p:spPr>
          <a:xfrm rot="0">
            <a:off x="2519137" y="102657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1326641" y="239452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sp>
        <p:nvSpPr>
          <p:cNvPr name="TextBox 21" id="21"/>
          <p:cNvSpPr txBox="true"/>
          <p:nvPr/>
        </p:nvSpPr>
        <p:spPr>
          <a:xfrm rot="0">
            <a:off x="3235983" y="2465141"/>
            <a:ext cx="4259699"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Xây dựng 1 Flow</a:t>
            </a:r>
          </a:p>
        </p:txBody>
      </p:sp>
      <p:sp>
        <p:nvSpPr>
          <p:cNvPr name="TextBox 22" id="22"/>
          <p:cNvSpPr txBox="true"/>
          <p:nvPr/>
        </p:nvSpPr>
        <p:spPr>
          <a:xfrm rot="0">
            <a:off x="6456267" y="8753674"/>
            <a:ext cx="475071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32: Xây dựng Flow sử dụng flowOf()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67766"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1028700" y="3058294"/>
            <a:ext cx="15177222" cy="2279435"/>
            <a:chOff x="0" y="0"/>
            <a:chExt cx="20236296" cy="3039246"/>
          </a:xfrm>
        </p:grpSpPr>
        <p:grpSp>
          <p:nvGrpSpPr>
            <p:cNvPr name="Group 13" id="13"/>
            <p:cNvGrpSpPr/>
            <p:nvPr/>
          </p:nvGrpSpPr>
          <p:grpSpPr>
            <a:xfrm rot="0">
              <a:off x="0" y="0"/>
              <a:ext cx="20236296" cy="3039246"/>
              <a:chOff x="0" y="0"/>
              <a:chExt cx="14108432" cy="2118915"/>
            </a:xfrm>
          </p:grpSpPr>
          <p:sp>
            <p:nvSpPr>
              <p:cNvPr name="Freeform 14" id="14"/>
              <p:cNvSpPr/>
              <p:nvPr/>
            </p:nvSpPr>
            <p:spPr>
              <a:xfrm flipH="false" flipV="false" rot="0">
                <a:off x="0" y="0"/>
                <a:ext cx="14108432" cy="2118915"/>
              </a:xfrm>
              <a:custGeom>
                <a:avLst/>
                <a:gdLst/>
                <a:ahLst/>
                <a:cxnLst/>
                <a:rect r="r" b="b" t="t" l="l"/>
                <a:pathLst>
                  <a:path h="2118915" w="14108432">
                    <a:moveTo>
                      <a:pt x="7371" y="0"/>
                    </a:moveTo>
                    <a:lnTo>
                      <a:pt x="14101062" y="0"/>
                    </a:lnTo>
                    <a:cubicBezTo>
                      <a:pt x="14105131" y="0"/>
                      <a:pt x="14108432" y="3300"/>
                      <a:pt x="14108432" y="7371"/>
                    </a:cubicBezTo>
                    <a:lnTo>
                      <a:pt x="14108432" y="2111544"/>
                    </a:lnTo>
                    <a:cubicBezTo>
                      <a:pt x="14108432" y="2115615"/>
                      <a:pt x="14105131" y="2118915"/>
                      <a:pt x="14101062" y="2118915"/>
                    </a:cubicBezTo>
                    <a:lnTo>
                      <a:pt x="7371" y="2118915"/>
                    </a:lnTo>
                    <a:cubicBezTo>
                      <a:pt x="3300" y="2118915"/>
                      <a:pt x="0" y="2115615"/>
                      <a:pt x="0" y="2111544"/>
                    </a:cubicBezTo>
                    <a:lnTo>
                      <a:pt x="0" y="7371"/>
                    </a:lnTo>
                    <a:cubicBezTo>
                      <a:pt x="0" y="3300"/>
                      <a:pt x="3300" y="0"/>
                      <a:pt x="7371" y="0"/>
                    </a:cubicBezTo>
                    <a:close/>
                  </a:path>
                </a:pathLst>
              </a:custGeom>
              <a:solidFill>
                <a:srgbClr val="E8ECEC"/>
              </a:solidFill>
            </p:spPr>
          </p:sp>
          <p:sp>
            <p:nvSpPr>
              <p:cNvPr name="TextBox 15" id="15"/>
              <p:cNvSpPr txBox="true"/>
              <p:nvPr/>
            </p:nvSpPr>
            <p:spPr>
              <a:xfrm>
                <a:off x="0" y="-38100"/>
                <a:ext cx="14108432" cy="215701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72463" y="63774"/>
              <a:ext cx="19408203" cy="2975472"/>
            </a:xfrm>
            <a:prstGeom prst="rect">
              <a:avLst/>
            </a:prstGeom>
          </p:spPr>
          <p:txBody>
            <a:bodyPr anchor="t" rtlCol="false" tIns="0" lIns="0" bIns="0" rIns="0">
              <a:spAutoFit/>
            </a:bodyPr>
            <a:lstStyle/>
            <a:p>
              <a:pPr algn="just" marL="690035" indent="-345018" lvl="1">
                <a:lnSpc>
                  <a:spcPts val="6232"/>
                </a:lnSpc>
                <a:buFont typeface="Arial"/>
                <a:buChar char="•"/>
              </a:pPr>
              <a:r>
                <a:rPr lang="en-US" b="true" sz="3196">
                  <a:solidFill>
                    <a:srgbClr val="000000"/>
                  </a:solidFill>
                  <a:latin typeface="Garet Bold"/>
                  <a:ea typeface="Garet Bold"/>
                  <a:cs typeface="Garet Bold"/>
                  <a:sym typeface="Garet Bold"/>
                </a:rPr>
                <a:t>Sử dụng .asFlow()</a:t>
              </a:r>
              <a:r>
                <a:rPr lang="en-US" sz="3196">
                  <a:solidFill>
                    <a:srgbClr val="000000"/>
                  </a:solidFill>
                  <a:latin typeface="Garet"/>
                  <a:ea typeface="Garet"/>
                  <a:cs typeface="Garet"/>
                  <a:sym typeface="Garet"/>
                </a:rPr>
                <a:t> </a:t>
              </a:r>
              <a:r>
                <a:rPr lang="en-US" b="true" sz="3196">
                  <a:solidFill>
                    <a:srgbClr val="000000"/>
                  </a:solidFill>
                  <a:latin typeface="Garet Bold"/>
                  <a:ea typeface="Garet Bold"/>
                  <a:cs typeface="Garet Bold"/>
                  <a:sym typeface="Garet Bold"/>
                </a:rPr>
                <a:t>extens</a:t>
              </a:r>
              <a:r>
                <a:rPr lang="en-US" b="true" sz="3196">
                  <a:solidFill>
                    <a:srgbClr val="000000"/>
                  </a:solidFill>
                  <a:latin typeface="Garet Bold"/>
                  <a:ea typeface="Garet Bold"/>
                  <a:cs typeface="Garet Bold"/>
                  <a:sym typeface="Garet Bold"/>
                </a:rPr>
                <a:t>ion function</a:t>
              </a:r>
              <a:r>
                <a:rPr lang="en-US" sz="3196">
                  <a:solidFill>
                    <a:srgbClr val="000000"/>
                  </a:solidFill>
                  <a:latin typeface="Garet"/>
                  <a:ea typeface="Garet"/>
                  <a:cs typeface="Garet"/>
                  <a:sym typeface="Garet"/>
                </a:rPr>
                <a:t>: Cho phép chuyển đổi các kiểu dữ liệu đã có như Collection (List, Set) hoặc Range thành Flow.// Chuyển đổi một Range số nguyên thành một Flow</a:t>
              </a:r>
            </a:p>
          </p:txBody>
        </p:sp>
      </p:grpSp>
      <p:sp>
        <p:nvSpPr>
          <p:cNvPr name="Freeform 17" id="17"/>
          <p:cNvSpPr/>
          <p:nvPr/>
        </p:nvSpPr>
        <p:spPr>
          <a:xfrm flipH="false" flipV="false" rot="0">
            <a:off x="2215330" y="5713139"/>
            <a:ext cx="13522177" cy="3545161"/>
          </a:xfrm>
          <a:custGeom>
            <a:avLst/>
            <a:gdLst/>
            <a:ahLst/>
            <a:cxnLst/>
            <a:rect r="r" b="b" t="t" l="l"/>
            <a:pathLst>
              <a:path h="3545161" w="13522177">
                <a:moveTo>
                  <a:pt x="0" y="0"/>
                </a:moveTo>
                <a:lnTo>
                  <a:pt x="13522177" y="0"/>
                </a:lnTo>
                <a:lnTo>
                  <a:pt x="13522177" y="3545161"/>
                </a:lnTo>
                <a:lnTo>
                  <a:pt x="0" y="3545161"/>
                </a:lnTo>
                <a:lnTo>
                  <a:pt x="0" y="0"/>
                </a:lnTo>
                <a:close/>
              </a:path>
            </a:pathLst>
          </a:custGeom>
          <a:blipFill>
            <a:blip r:embed="rId4"/>
            <a:stretch>
              <a:fillRect l="-3569" t="-12340" r="-3793" b="-17167"/>
            </a:stretch>
          </a:blipFill>
        </p:spPr>
      </p:sp>
      <p:sp>
        <p:nvSpPr>
          <p:cNvPr name="TextBox 18" id="18"/>
          <p:cNvSpPr txBox="true"/>
          <p:nvPr/>
        </p:nvSpPr>
        <p:spPr>
          <a:xfrm rot="0">
            <a:off x="17703277"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43</a:t>
            </a:r>
          </a:p>
        </p:txBody>
      </p:sp>
      <p:sp>
        <p:nvSpPr>
          <p:cNvPr name="TextBox 19" id="19"/>
          <p:cNvSpPr txBox="true"/>
          <p:nvPr/>
        </p:nvSpPr>
        <p:spPr>
          <a:xfrm rot="0">
            <a:off x="3143890"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1951394"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sp>
        <p:nvSpPr>
          <p:cNvPr name="TextBox 21" id="21"/>
          <p:cNvSpPr txBox="true"/>
          <p:nvPr/>
        </p:nvSpPr>
        <p:spPr>
          <a:xfrm rot="0">
            <a:off x="3860737" y="1568291"/>
            <a:ext cx="4259699"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Xây dựng 1 Flow</a:t>
            </a:r>
          </a:p>
        </p:txBody>
      </p:sp>
      <p:sp>
        <p:nvSpPr>
          <p:cNvPr name="TextBox 22" id="22"/>
          <p:cNvSpPr txBox="true"/>
          <p:nvPr/>
        </p:nvSpPr>
        <p:spPr>
          <a:xfrm rot="0">
            <a:off x="6708696" y="9629775"/>
            <a:ext cx="4870609"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33: Xây dựng Flow sử dụng .asFlow()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867766" y="1224464"/>
            <a:ext cx="1424256" cy="1424256"/>
          </a:xfrm>
          <a:custGeom>
            <a:avLst/>
            <a:gdLst/>
            <a:ahLst/>
            <a:cxnLst/>
            <a:rect r="r" b="b" t="t" l="l"/>
            <a:pathLst>
              <a:path h="1424256" w="1424256">
                <a:moveTo>
                  <a:pt x="0" y="0"/>
                </a:moveTo>
                <a:lnTo>
                  <a:pt x="1424255" y="0"/>
                </a:lnTo>
                <a:lnTo>
                  <a:pt x="1424255" y="1424255"/>
                </a:lnTo>
                <a:lnTo>
                  <a:pt x="0" y="1424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2705102" y="2783579"/>
            <a:ext cx="13370078" cy="6278522"/>
          </a:xfrm>
          <a:custGeom>
            <a:avLst/>
            <a:gdLst/>
            <a:ahLst/>
            <a:cxnLst/>
            <a:rect r="r" b="b" t="t" l="l"/>
            <a:pathLst>
              <a:path h="6278522" w="13370078">
                <a:moveTo>
                  <a:pt x="0" y="0"/>
                </a:moveTo>
                <a:lnTo>
                  <a:pt x="13370078" y="0"/>
                </a:lnTo>
                <a:lnTo>
                  <a:pt x="13370078" y="6278522"/>
                </a:lnTo>
                <a:lnTo>
                  <a:pt x="0" y="6278522"/>
                </a:lnTo>
                <a:lnTo>
                  <a:pt x="0" y="0"/>
                </a:lnTo>
                <a:close/>
              </a:path>
            </a:pathLst>
          </a:custGeom>
          <a:blipFill>
            <a:blip r:embed="rId4"/>
            <a:stretch>
              <a:fillRect l="-2627" t="-6263" r="-2737" b="-5362"/>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44</a:t>
            </a:r>
          </a:p>
        </p:txBody>
      </p:sp>
      <p:sp>
        <p:nvSpPr>
          <p:cNvPr name="TextBox 14" id="14"/>
          <p:cNvSpPr txBox="true"/>
          <p:nvPr/>
        </p:nvSpPr>
        <p:spPr>
          <a:xfrm rot="0">
            <a:off x="3143890"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1951394" y="149767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05</a:t>
            </a:r>
          </a:p>
        </p:txBody>
      </p:sp>
      <p:sp>
        <p:nvSpPr>
          <p:cNvPr name="TextBox 16" id="16"/>
          <p:cNvSpPr txBox="true"/>
          <p:nvPr/>
        </p:nvSpPr>
        <p:spPr>
          <a:xfrm rot="0">
            <a:off x="3462326" y="1568291"/>
            <a:ext cx="12612853"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Toán tử trung gian (Intermediate Operators)</a:t>
            </a:r>
          </a:p>
        </p:txBody>
      </p:sp>
      <p:sp>
        <p:nvSpPr>
          <p:cNvPr name="TextBox 17" id="17"/>
          <p:cNvSpPr txBox="true"/>
          <p:nvPr/>
        </p:nvSpPr>
        <p:spPr>
          <a:xfrm rot="0">
            <a:off x="7689608" y="9508272"/>
            <a:ext cx="4120872"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34: Ví dụ về toán tử trung gian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98046" y="1650344"/>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12" id="12"/>
          <p:cNvGrpSpPr/>
          <p:nvPr/>
        </p:nvGrpSpPr>
        <p:grpSpPr>
          <a:xfrm rot="0">
            <a:off x="525879" y="3628252"/>
            <a:ext cx="5612680" cy="4651160"/>
            <a:chOff x="0" y="0"/>
            <a:chExt cx="7483573" cy="6201546"/>
          </a:xfrm>
        </p:grpSpPr>
        <p:grpSp>
          <p:nvGrpSpPr>
            <p:cNvPr name="Group 13" id="13"/>
            <p:cNvGrpSpPr/>
            <p:nvPr/>
          </p:nvGrpSpPr>
          <p:grpSpPr>
            <a:xfrm rot="0">
              <a:off x="0" y="0"/>
              <a:ext cx="7483573" cy="6201546"/>
              <a:chOff x="0" y="0"/>
              <a:chExt cx="5217431" cy="4323622"/>
            </a:xfrm>
          </p:grpSpPr>
          <p:sp>
            <p:nvSpPr>
              <p:cNvPr name="Freeform 14" id="14"/>
              <p:cNvSpPr/>
              <p:nvPr/>
            </p:nvSpPr>
            <p:spPr>
              <a:xfrm flipH="false" flipV="false" rot="0">
                <a:off x="0" y="0"/>
                <a:ext cx="5217431" cy="4323622"/>
              </a:xfrm>
              <a:custGeom>
                <a:avLst/>
                <a:gdLst/>
                <a:ahLst/>
                <a:cxnLst/>
                <a:rect r="r" b="b" t="t" l="l"/>
                <a:pathLst>
                  <a:path h="4323622" w="5217431">
                    <a:moveTo>
                      <a:pt x="19931" y="0"/>
                    </a:moveTo>
                    <a:lnTo>
                      <a:pt x="5197500" y="0"/>
                    </a:lnTo>
                    <a:cubicBezTo>
                      <a:pt x="5208508" y="0"/>
                      <a:pt x="5217431" y="8924"/>
                      <a:pt x="5217431" y="19931"/>
                    </a:cubicBezTo>
                    <a:lnTo>
                      <a:pt x="5217431" y="4303690"/>
                    </a:lnTo>
                    <a:cubicBezTo>
                      <a:pt x="5217431" y="4314698"/>
                      <a:pt x="5208508" y="4323622"/>
                      <a:pt x="5197500" y="4323622"/>
                    </a:cubicBezTo>
                    <a:lnTo>
                      <a:pt x="19931" y="4323622"/>
                    </a:lnTo>
                    <a:cubicBezTo>
                      <a:pt x="8924" y="4323622"/>
                      <a:pt x="0" y="4314698"/>
                      <a:pt x="0" y="4303690"/>
                    </a:cubicBezTo>
                    <a:lnTo>
                      <a:pt x="0" y="19931"/>
                    </a:lnTo>
                    <a:cubicBezTo>
                      <a:pt x="0" y="8924"/>
                      <a:pt x="8924" y="0"/>
                      <a:pt x="19931" y="0"/>
                    </a:cubicBezTo>
                    <a:close/>
                  </a:path>
                </a:pathLst>
              </a:custGeom>
              <a:solidFill>
                <a:srgbClr val="E8ECEC"/>
              </a:solidFill>
            </p:spPr>
          </p:sp>
          <p:sp>
            <p:nvSpPr>
              <p:cNvPr name="TextBox 15" id="15"/>
              <p:cNvSpPr txBox="true"/>
              <p:nvPr/>
            </p:nvSpPr>
            <p:spPr>
              <a:xfrm>
                <a:off x="0" y="-38100"/>
                <a:ext cx="5217431" cy="4361722"/>
              </a:xfrm>
              <a:prstGeom prst="rect">
                <a:avLst/>
              </a:prstGeom>
            </p:spPr>
            <p:txBody>
              <a:bodyPr anchor="ctr" rtlCol="false" tIns="50800" lIns="50800" bIns="50800" rIns="50800"/>
              <a:lstStyle/>
              <a:p>
                <a:pPr algn="just">
                  <a:lnSpc>
                    <a:spcPts val="2659"/>
                  </a:lnSpc>
                </a:pPr>
              </a:p>
            </p:txBody>
          </p:sp>
        </p:grpSp>
        <p:sp>
          <p:nvSpPr>
            <p:cNvPr name="TextBox 16" id="16"/>
            <p:cNvSpPr txBox="true"/>
            <p:nvPr/>
          </p:nvSpPr>
          <p:spPr>
            <a:xfrm rot="0">
              <a:off x="137740" y="63774"/>
              <a:ext cx="7177337" cy="6137772"/>
            </a:xfrm>
            <a:prstGeom prst="rect">
              <a:avLst/>
            </a:prstGeom>
          </p:spPr>
          <p:txBody>
            <a:bodyPr anchor="t" rtlCol="false" tIns="0" lIns="0" bIns="0" rIns="0">
              <a:spAutoFit/>
            </a:bodyPr>
            <a:lstStyle/>
            <a:p>
              <a:pPr algn="just">
                <a:lnSpc>
                  <a:spcPts val="6232"/>
                </a:lnSpc>
              </a:pPr>
              <a:r>
                <a:rPr lang="en-US" sz="3196">
                  <a:solidFill>
                    <a:srgbClr val="000000"/>
                  </a:solidFill>
                  <a:latin typeface="Garet"/>
                  <a:ea typeface="Garet"/>
                  <a:cs typeface="Garet"/>
                  <a:sym typeface="Garet"/>
                </a:rPr>
                <a:t>sử dụng transform chúng ta có thể phát ra một chuỗi trước khi thực hiện một yêu cầu bất đồng bộ chạy dài và theo sau là phản hồi</a:t>
              </a:r>
            </a:p>
          </p:txBody>
        </p:sp>
      </p:grpSp>
      <p:sp>
        <p:nvSpPr>
          <p:cNvPr name="Freeform 17" id="17"/>
          <p:cNvSpPr/>
          <p:nvPr/>
        </p:nvSpPr>
        <p:spPr>
          <a:xfrm flipH="false" flipV="false" rot="0">
            <a:off x="6593411" y="3639581"/>
            <a:ext cx="11321730" cy="4477000"/>
          </a:xfrm>
          <a:custGeom>
            <a:avLst/>
            <a:gdLst/>
            <a:ahLst/>
            <a:cxnLst/>
            <a:rect r="r" b="b" t="t" l="l"/>
            <a:pathLst>
              <a:path h="4477000" w="11321730">
                <a:moveTo>
                  <a:pt x="0" y="0"/>
                </a:moveTo>
                <a:lnTo>
                  <a:pt x="11321730" y="0"/>
                </a:lnTo>
                <a:lnTo>
                  <a:pt x="11321730" y="4477000"/>
                </a:lnTo>
                <a:lnTo>
                  <a:pt x="0" y="4477000"/>
                </a:lnTo>
                <a:lnTo>
                  <a:pt x="0" y="0"/>
                </a:lnTo>
                <a:close/>
              </a:path>
            </a:pathLst>
          </a:custGeom>
          <a:blipFill>
            <a:blip r:embed="rId4"/>
            <a:stretch>
              <a:fillRect l="-3790" t="-12143" r="-4551" b="-11491"/>
            </a:stretch>
          </a:blipFill>
        </p:spPr>
      </p:sp>
      <p:sp>
        <p:nvSpPr>
          <p:cNvPr name="TextBox 18" id="18"/>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45</a:t>
            </a:r>
          </a:p>
        </p:txBody>
      </p:sp>
      <p:sp>
        <p:nvSpPr>
          <p:cNvPr name="TextBox 19" id="19"/>
          <p:cNvSpPr txBox="true"/>
          <p:nvPr/>
        </p:nvSpPr>
        <p:spPr>
          <a:xfrm rot="0">
            <a:off x="2913266" y="837441"/>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20" id="20"/>
          <p:cNvSpPr txBox="true"/>
          <p:nvPr/>
        </p:nvSpPr>
        <p:spPr>
          <a:xfrm rot="0">
            <a:off x="2381675" y="1923556"/>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05.1</a:t>
            </a:r>
          </a:p>
        </p:txBody>
      </p:sp>
      <p:sp>
        <p:nvSpPr>
          <p:cNvPr name="TextBox 21" id="21"/>
          <p:cNvSpPr txBox="true"/>
          <p:nvPr/>
        </p:nvSpPr>
        <p:spPr>
          <a:xfrm rot="0">
            <a:off x="4130732" y="1994171"/>
            <a:ext cx="5469103"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Toán tử Transform</a:t>
            </a:r>
          </a:p>
        </p:txBody>
      </p:sp>
      <p:sp>
        <p:nvSpPr>
          <p:cNvPr name="TextBox 22" id="22"/>
          <p:cNvSpPr txBox="true"/>
          <p:nvPr/>
        </p:nvSpPr>
        <p:spPr>
          <a:xfrm rot="0">
            <a:off x="6771902" y="9695597"/>
            <a:ext cx="4119444"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35: Ví dụ về toán tử Transform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55250" y="2496559"/>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2" id="12"/>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46</a:t>
            </a:r>
          </a:p>
        </p:txBody>
      </p:sp>
      <p:sp>
        <p:nvSpPr>
          <p:cNvPr name="TextBox 13" id="13"/>
          <p:cNvSpPr txBox="true"/>
          <p:nvPr/>
        </p:nvSpPr>
        <p:spPr>
          <a:xfrm rot="0">
            <a:off x="2631374" y="1401819"/>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4" id="14"/>
          <p:cNvSpPr txBox="true"/>
          <p:nvPr/>
        </p:nvSpPr>
        <p:spPr>
          <a:xfrm rot="0">
            <a:off x="1438879" y="2769771"/>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05.2</a:t>
            </a:r>
          </a:p>
        </p:txBody>
      </p:sp>
      <p:sp>
        <p:nvSpPr>
          <p:cNvPr name="TextBox 15" id="15"/>
          <p:cNvSpPr txBox="true"/>
          <p:nvPr/>
        </p:nvSpPr>
        <p:spPr>
          <a:xfrm rot="0">
            <a:off x="3029464" y="2840386"/>
            <a:ext cx="1434207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Toán tử giới hạn kích thước (Size-limiting operators)</a:t>
            </a:r>
          </a:p>
        </p:txBody>
      </p:sp>
      <p:grpSp>
        <p:nvGrpSpPr>
          <p:cNvPr name="Group 16" id="16"/>
          <p:cNvGrpSpPr/>
          <p:nvPr/>
        </p:nvGrpSpPr>
        <p:grpSpPr>
          <a:xfrm rot="0">
            <a:off x="1774783" y="4528986"/>
            <a:ext cx="15177222" cy="3860585"/>
            <a:chOff x="0" y="0"/>
            <a:chExt cx="20236296" cy="5147446"/>
          </a:xfrm>
        </p:grpSpPr>
        <p:grpSp>
          <p:nvGrpSpPr>
            <p:cNvPr name="Group 17" id="17"/>
            <p:cNvGrpSpPr/>
            <p:nvPr/>
          </p:nvGrpSpPr>
          <p:grpSpPr>
            <a:xfrm rot="0">
              <a:off x="0" y="0"/>
              <a:ext cx="20236296" cy="5147446"/>
              <a:chOff x="0" y="0"/>
              <a:chExt cx="14108432" cy="3588720"/>
            </a:xfrm>
          </p:grpSpPr>
          <p:sp>
            <p:nvSpPr>
              <p:cNvPr name="Freeform 18" id="18"/>
              <p:cNvSpPr/>
              <p:nvPr/>
            </p:nvSpPr>
            <p:spPr>
              <a:xfrm flipH="false" flipV="false" rot="0">
                <a:off x="0" y="0"/>
                <a:ext cx="14108432" cy="3588720"/>
              </a:xfrm>
              <a:custGeom>
                <a:avLst/>
                <a:gdLst/>
                <a:ahLst/>
                <a:cxnLst/>
                <a:rect r="r" b="b" t="t" l="l"/>
                <a:pathLst>
                  <a:path h="3588720" w="14108432">
                    <a:moveTo>
                      <a:pt x="7371" y="0"/>
                    </a:moveTo>
                    <a:lnTo>
                      <a:pt x="14101062" y="0"/>
                    </a:lnTo>
                    <a:cubicBezTo>
                      <a:pt x="14105131" y="0"/>
                      <a:pt x="14108432" y="3300"/>
                      <a:pt x="14108432" y="7371"/>
                    </a:cubicBezTo>
                    <a:lnTo>
                      <a:pt x="14108432" y="3581349"/>
                    </a:lnTo>
                    <a:cubicBezTo>
                      <a:pt x="14108432" y="3585420"/>
                      <a:pt x="14105131" y="3588720"/>
                      <a:pt x="14101062" y="3588720"/>
                    </a:cubicBezTo>
                    <a:lnTo>
                      <a:pt x="7371" y="3588720"/>
                    </a:lnTo>
                    <a:cubicBezTo>
                      <a:pt x="3300" y="3588720"/>
                      <a:pt x="0" y="3585420"/>
                      <a:pt x="0" y="3581349"/>
                    </a:cubicBezTo>
                    <a:lnTo>
                      <a:pt x="0" y="7371"/>
                    </a:lnTo>
                    <a:cubicBezTo>
                      <a:pt x="0" y="3300"/>
                      <a:pt x="3300" y="0"/>
                      <a:pt x="7371" y="0"/>
                    </a:cubicBezTo>
                    <a:close/>
                  </a:path>
                </a:pathLst>
              </a:custGeom>
              <a:solidFill>
                <a:srgbClr val="E8ECEC"/>
              </a:solidFill>
            </p:spPr>
          </p:sp>
          <p:sp>
            <p:nvSpPr>
              <p:cNvPr name="TextBox 19" id="19"/>
              <p:cNvSpPr txBox="true"/>
              <p:nvPr/>
            </p:nvSpPr>
            <p:spPr>
              <a:xfrm>
                <a:off x="0" y="-38100"/>
                <a:ext cx="14108432" cy="362682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372463" y="63774"/>
              <a:ext cx="19408203" cy="5083672"/>
            </a:xfrm>
            <a:prstGeom prst="rect">
              <a:avLst/>
            </a:prstGeom>
          </p:spPr>
          <p:txBody>
            <a:bodyPr anchor="t" rtlCol="false" tIns="0" lIns="0" bIns="0" rIns="0">
              <a:spAutoFit/>
            </a:bodyPr>
            <a:lstStyle/>
            <a:p>
              <a:pPr algn="just" marL="690035" indent="-345018" lvl="1">
                <a:lnSpc>
                  <a:spcPts val="6232"/>
                </a:lnSpc>
                <a:buFont typeface="Arial"/>
                <a:buChar char="•"/>
              </a:pPr>
              <a:r>
                <a:rPr lang="en-US" sz="3196">
                  <a:solidFill>
                    <a:srgbClr val="000000"/>
                  </a:solidFill>
                  <a:latin typeface="Garet"/>
                  <a:ea typeface="Garet"/>
                  <a:cs typeface="Garet"/>
                  <a:sym typeface="Garet"/>
                </a:rPr>
                <a:t>Các toán</a:t>
              </a:r>
              <a:r>
                <a:rPr lang="en-US" sz="3196">
                  <a:solidFill>
                    <a:srgbClr val="000000"/>
                  </a:solidFill>
                  <a:latin typeface="Garet"/>
                  <a:ea typeface="Garet"/>
                  <a:cs typeface="Garet"/>
                  <a:sym typeface="Garet"/>
                </a:rPr>
                <a:t> tử trung gian giới hạn kích thước như take sẽ hủy việc thực thi của flow khi giới hạn tương ứng đạt được. </a:t>
              </a:r>
            </a:p>
            <a:p>
              <a:pPr algn="just" marL="690035" indent="-345018" lvl="1">
                <a:lnSpc>
                  <a:spcPts val="6232"/>
                </a:lnSpc>
                <a:buFont typeface="Arial"/>
                <a:buChar char="•"/>
              </a:pPr>
              <a:r>
                <a:rPr lang="en-US" sz="3196">
                  <a:solidFill>
                    <a:srgbClr val="000000"/>
                  </a:solidFill>
                  <a:latin typeface="Garet"/>
                  <a:ea typeface="Garet"/>
                  <a:cs typeface="Garet"/>
                  <a:sym typeface="Garet"/>
                </a:rPr>
                <a:t>Việc hủy trong coroutine luôn được thực hiện bằng cách ném ra một ngoại lệ, để tất cả các hàm quản lý tài nguyên (như khối try { ... } finally { ... }) hoạt động bình thường t</a:t>
              </a:r>
              <a:r>
                <a:rPr lang="en-US" sz="3196">
                  <a:solidFill>
                    <a:srgbClr val="000000"/>
                  </a:solidFill>
                  <a:latin typeface="Garet"/>
                  <a:ea typeface="Garet"/>
                  <a:cs typeface="Garet"/>
                  <a:sym typeface="Garet"/>
                </a:rPr>
                <a:t>rong trường hợp hủy.</a:t>
              </a:r>
            </a:p>
          </p:txBody>
        </p:sp>
      </p:gr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67766" y="-1614217"/>
            <a:ext cx="3735531" cy="37355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29195" y="8389571"/>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6420234" y="-1717598"/>
            <a:ext cx="3735531" cy="37355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84939" y="1028700"/>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4215271" y="2239306"/>
            <a:ext cx="9857458" cy="7522848"/>
          </a:xfrm>
          <a:custGeom>
            <a:avLst/>
            <a:gdLst/>
            <a:ahLst/>
            <a:cxnLst/>
            <a:rect r="r" b="b" t="t" l="l"/>
            <a:pathLst>
              <a:path h="7522848" w="9857458">
                <a:moveTo>
                  <a:pt x="0" y="0"/>
                </a:moveTo>
                <a:lnTo>
                  <a:pt x="9857458" y="0"/>
                </a:lnTo>
                <a:lnTo>
                  <a:pt x="9857458" y="7522847"/>
                </a:lnTo>
                <a:lnTo>
                  <a:pt x="0" y="7522847"/>
                </a:lnTo>
                <a:lnTo>
                  <a:pt x="0" y="0"/>
                </a:lnTo>
                <a:close/>
              </a:path>
            </a:pathLst>
          </a:custGeom>
          <a:blipFill>
            <a:blip r:embed="rId4"/>
            <a:stretch>
              <a:fillRect l="-3390" t="-4231" r="-3552" b="-4020"/>
            </a:stretch>
          </a:blipFill>
        </p:spPr>
      </p:sp>
      <p:sp>
        <p:nvSpPr>
          <p:cNvPr name="TextBox 13" id="13"/>
          <p:cNvSpPr txBox="true"/>
          <p:nvPr/>
        </p:nvSpPr>
        <p:spPr>
          <a:xfrm rot="0">
            <a:off x="17693752" y="9558437"/>
            <a:ext cx="44277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47</a:t>
            </a:r>
          </a:p>
        </p:txBody>
      </p:sp>
      <p:sp>
        <p:nvSpPr>
          <p:cNvPr name="TextBox 14" id="14"/>
          <p:cNvSpPr txBox="true"/>
          <p:nvPr/>
        </p:nvSpPr>
        <p:spPr>
          <a:xfrm rot="0">
            <a:off x="2731720" y="129724"/>
            <a:ext cx="13688515" cy="1094740"/>
          </a:xfrm>
          <a:prstGeom prst="rect">
            <a:avLst/>
          </a:prstGeom>
        </p:spPr>
        <p:txBody>
          <a:bodyPr anchor="t" rtlCol="false" tIns="0" lIns="0" bIns="0" rIns="0">
            <a:spAutoFit/>
          </a:bodyPr>
          <a:lstStyle/>
          <a:p>
            <a:pPr algn="ctr">
              <a:lnSpc>
                <a:spcPts val="8959"/>
              </a:lnSpc>
              <a:spcBef>
                <a:spcPct val="0"/>
              </a:spcBef>
            </a:pPr>
            <a:r>
              <a:rPr lang="en-US" b="true" sz="6399">
                <a:solidFill>
                  <a:srgbClr val="000000"/>
                </a:solidFill>
                <a:latin typeface="Montserrat Bold"/>
                <a:ea typeface="Montserrat Bold"/>
                <a:cs typeface="Montserrat Bold"/>
                <a:sym typeface="Montserrat Bold"/>
              </a:rPr>
              <a:t>Asynchronous Flow</a:t>
            </a:r>
          </a:p>
        </p:txBody>
      </p:sp>
      <p:sp>
        <p:nvSpPr>
          <p:cNvPr name="TextBox 15" id="15"/>
          <p:cNvSpPr txBox="true"/>
          <p:nvPr/>
        </p:nvSpPr>
        <p:spPr>
          <a:xfrm rot="0">
            <a:off x="1468568" y="1301912"/>
            <a:ext cx="1340627"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05.2</a:t>
            </a:r>
          </a:p>
        </p:txBody>
      </p:sp>
      <p:sp>
        <p:nvSpPr>
          <p:cNvPr name="TextBox 16" id="16"/>
          <p:cNvSpPr txBox="true"/>
          <p:nvPr/>
        </p:nvSpPr>
        <p:spPr>
          <a:xfrm rot="0">
            <a:off x="3059153" y="1372527"/>
            <a:ext cx="14342074" cy="669926"/>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Garet Bold"/>
                <a:ea typeface="Garet Bold"/>
                <a:cs typeface="Garet Bold"/>
                <a:sym typeface="Garet Bold"/>
              </a:rPr>
              <a:t>Toán tử giới hạn kích thước (Size-limiting operators)</a:t>
            </a:r>
          </a:p>
        </p:txBody>
      </p:sp>
      <p:sp>
        <p:nvSpPr>
          <p:cNvPr name="TextBox 17" id="17"/>
          <p:cNvSpPr txBox="true"/>
          <p:nvPr/>
        </p:nvSpPr>
        <p:spPr>
          <a:xfrm rot="0">
            <a:off x="6849407" y="9920905"/>
            <a:ext cx="5115283"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36: Ví dụ về toán tử giới hạn kích thước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18366" y="2494851"/>
            <a:ext cx="12010467" cy="3603885"/>
          </a:xfrm>
          <a:prstGeom prst="rect">
            <a:avLst/>
          </a:prstGeom>
        </p:spPr>
        <p:txBody>
          <a:bodyPr anchor="t" rtlCol="false" tIns="0" lIns="0" bIns="0" rIns="0">
            <a:spAutoFit/>
          </a:bodyPr>
          <a:lstStyle/>
          <a:p>
            <a:pPr algn="l" marL="0" indent="0" lvl="0">
              <a:lnSpc>
                <a:spcPts val="14510"/>
              </a:lnSpc>
              <a:spcBef>
                <a:spcPct val="0"/>
              </a:spcBef>
            </a:pPr>
            <a:r>
              <a:rPr lang="en-US" b="true" sz="10364">
                <a:solidFill>
                  <a:srgbClr val="051D40"/>
                </a:solidFill>
                <a:latin typeface="Montserrat Bold"/>
                <a:ea typeface="Montserrat Bold"/>
                <a:cs typeface="Montserrat Bold"/>
                <a:sym typeface="Montserrat Bold"/>
              </a:rPr>
              <a:t>THANK YOU FOR LISTENING!</a:t>
            </a:r>
          </a:p>
        </p:txBody>
      </p:sp>
      <p:grpSp>
        <p:nvGrpSpPr>
          <p:cNvPr name="Group 3" id="3"/>
          <p:cNvGrpSpPr/>
          <p:nvPr/>
        </p:nvGrpSpPr>
        <p:grpSpPr>
          <a:xfrm rot="0">
            <a:off x="12398912" y="0"/>
            <a:ext cx="5889088" cy="756959"/>
            <a:chOff x="0" y="0"/>
            <a:chExt cx="1551036" cy="199364"/>
          </a:xfrm>
        </p:grpSpPr>
        <p:sp>
          <p:nvSpPr>
            <p:cNvPr name="Freeform 4" id="4"/>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5" id="5"/>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398912" y="9530041"/>
            <a:ext cx="5889088" cy="756959"/>
            <a:chOff x="0" y="0"/>
            <a:chExt cx="1551036" cy="199364"/>
          </a:xfrm>
        </p:grpSpPr>
        <p:sp>
          <p:nvSpPr>
            <p:cNvPr name="Freeform 7" id="7"/>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8" id="8"/>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4925441" y="3609788"/>
            <a:ext cx="9392643" cy="9529477"/>
          </a:xfrm>
          <a:custGeom>
            <a:avLst/>
            <a:gdLst/>
            <a:ahLst/>
            <a:cxnLst/>
            <a:rect r="r" b="b" t="t" l="l"/>
            <a:pathLst>
              <a:path h="9529477" w="9392643">
                <a:moveTo>
                  <a:pt x="0" y="0"/>
                </a:moveTo>
                <a:lnTo>
                  <a:pt x="9392643" y="0"/>
                </a:lnTo>
                <a:lnTo>
                  <a:pt x="9392643" y="9529476"/>
                </a:lnTo>
                <a:lnTo>
                  <a:pt x="0" y="9529476"/>
                </a:lnTo>
                <a:lnTo>
                  <a:pt x="0" y="0"/>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772331" y="-493308"/>
            <a:ext cx="1286950" cy="128695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750355" y="1028700"/>
            <a:ext cx="2068010" cy="1754419"/>
          </a:xfrm>
          <a:custGeom>
            <a:avLst/>
            <a:gdLst/>
            <a:ahLst/>
            <a:cxnLst/>
            <a:rect r="r" b="b" t="t" l="l"/>
            <a:pathLst>
              <a:path h="1754419" w="2068010">
                <a:moveTo>
                  <a:pt x="0" y="0"/>
                </a:moveTo>
                <a:lnTo>
                  <a:pt x="2068011" y="0"/>
                </a:lnTo>
                <a:lnTo>
                  <a:pt x="2068011" y="1754419"/>
                </a:lnTo>
                <a:lnTo>
                  <a:pt x="0" y="1754419"/>
                </a:lnTo>
                <a:lnTo>
                  <a:pt x="0" y="0"/>
                </a:lnTo>
                <a:close/>
              </a:path>
            </a:pathLst>
          </a:custGeom>
          <a:blipFill>
            <a:blip r:embed="rId4"/>
            <a:stretch>
              <a:fillRect l="0" t="0" r="0" b="0"/>
            </a:stretch>
          </a:blipFill>
        </p:spPr>
      </p:sp>
      <p:sp>
        <p:nvSpPr>
          <p:cNvPr name="Freeform 14" id="14"/>
          <p:cNvSpPr/>
          <p:nvPr/>
        </p:nvSpPr>
        <p:spPr>
          <a:xfrm flipH="false" flipV="false" rot="0">
            <a:off x="2293314" y="-246303"/>
            <a:ext cx="3090916" cy="1275003"/>
          </a:xfrm>
          <a:custGeom>
            <a:avLst/>
            <a:gdLst/>
            <a:ahLst/>
            <a:cxnLst/>
            <a:rect r="r" b="b" t="t" l="l"/>
            <a:pathLst>
              <a:path h="1275003" w="3090916">
                <a:moveTo>
                  <a:pt x="0" y="0"/>
                </a:moveTo>
                <a:lnTo>
                  <a:pt x="3090916" y="0"/>
                </a:lnTo>
                <a:lnTo>
                  <a:pt x="3090916" y="1275003"/>
                </a:lnTo>
                <a:lnTo>
                  <a:pt x="0" y="1275003"/>
                </a:lnTo>
                <a:lnTo>
                  <a:pt x="0" y="0"/>
                </a:lnTo>
                <a:close/>
              </a:path>
            </a:pathLst>
          </a:custGeom>
          <a:blipFill>
            <a:blip r:embed="rId5"/>
            <a:stretch>
              <a:fillRect l="0" t="0" r="0" b="0"/>
            </a:stretch>
          </a:blipFill>
        </p:spPr>
      </p:sp>
      <p:sp>
        <p:nvSpPr>
          <p:cNvPr name="Freeform 15" id="15"/>
          <p:cNvSpPr/>
          <p:nvPr/>
        </p:nvSpPr>
        <p:spPr>
          <a:xfrm flipH="false" flipV="false" rot="0">
            <a:off x="4633889" y="8743988"/>
            <a:ext cx="2989894" cy="1572106"/>
          </a:xfrm>
          <a:custGeom>
            <a:avLst/>
            <a:gdLst/>
            <a:ahLst/>
            <a:cxnLst/>
            <a:rect r="r" b="b" t="t" l="l"/>
            <a:pathLst>
              <a:path h="1572106" w="2989894">
                <a:moveTo>
                  <a:pt x="0" y="0"/>
                </a:moveTo>
                <a:lnTo>
                  <a:pt x="2989894" y="0"/>
                </a:lnTo>
                <a:lnTo>
                  <a:pt x="2989894" y="1572105"/>
                </a:lnTo>
                <a:lnTo>
                  <a:pt x="0" y="1572105"/>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DAG7rEw79kg</dc:identifier>
  <dcterms:modified xsi:type="dcterms:W3CDTF">2011-08-01T06:04:30Z</dcterms:modified>
  <cp:revision>1</cp:revision>
  <dc:title>White and Blue Professional Modern Technology Pitch Deck Presentation</dc:title>
</cp:coreProperties>
</file>