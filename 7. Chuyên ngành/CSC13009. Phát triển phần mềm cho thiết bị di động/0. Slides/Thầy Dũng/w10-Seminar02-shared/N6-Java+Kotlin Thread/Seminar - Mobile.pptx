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Garet" charset="1" panose="00000000000000000000"/>
      <p:regular r:id="rId26"/>
    </p:embeddedFont>
    <p:embeddedFont>
      <p:font typeface="Garet Bold" charset="1" panose="00000000000000000000"/>
      <p:regular r:id="rId27"/>
    </p:embeddedFont>
    <p:embeddedFont>
      <p:font typeface="Open Sans" charset="1" panose="00000000000000000000"/>
      <p:regular r:id="rId28"/>
    </p:embeddedFont>
    <p:embeddedFont>
      <p:font typeface="Inter" charset="1" panose="020B0502030000000004"/>
      <p:regular r:id="rId29"/>
    </p:embeddedFont>
    <p:embeddedFont>
      <p:font typeface="Inter Italics" charset="1" panose="020B0502030000000004"/>
      <p:regular r:id="rId30"/>
    </p:embeddedFont>
    <p:embeddedFont>
      <p:font typeface="Garet Italics" charset="1" panose="0000000000000000000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3.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a:grpSpLocks noChangeAspect="true"/>
          </p:cNvGrpSpPr>
          <p:nvPr/>
        </p:nvGrpSpPr>
        <p:grpSpPr>
          <a:xfrm rot="0">
            <a:off x="12624385" y="0"/>
            <a:ext cx="4634915" cy="10287000"/>
            <a:chOff x="0" y="0"/>
            <a:chExt cx="2858770" cy="6344920"/>
          </a:xfrm>
        </p:grpSpPr>
        <p:sp>
          <p:nvSpPr>
            <p:cNvPr name="Freeform 3" id="3"/>
            <p:cNvSpPr/>
            <p:nvPr/>
          </p:nvSpPr>
          <p:spPr>
            <a:xfrm flipH="false" flipV="false" rot="0">
              <a:off x="0" y="0"/>
              <a:ext cx="2858770" cy="6344920"/>
            </a:xfrm>
            <a:custGeom>
              <a:avLst/>
              <a:gdLst/>
              <a:ahLst/>
              <a:cxnLst/>
              <a:rect r="r" b="b" t="t" l="l"/>
              <a:pathLst>
                <a:path h="6344920" w="2858770">
                  <a:moveTo>
                    <a:pt x="1827530" y="6344920"/>
                  </a:moveTo>
                  <a:lnTo>
                    <a:pt x="0" y="6344920"/>
                  </a:lnTo>
                  <a:lnTo>
                    <a:pt x="0" y="1031240"/>
                  </a:lnTo>
                  <a:cubicBezTo>
                    <a:pt x="0" y="461010"/>
                    <a:pt x="461010" y="0"/>
                    <a:pt x="1031240" y="0"/>
                  </a:cubicBezTo>
                  <a:lnTo>
                    <a:pt x="2858770" y="0"/>
                  </a:lnTo>
                  <a:lnTo>
                    <a:pt x="2858770" y="5313680"/>
                  </a:lnTo>
                  <a:cubicBezTo>
                    <a:pt x="2858770" y="5883910"/>
                    <a:pt x="2397760" y="6344920"/>
                    <a:pt x="1827530" y="6344920"/>
                  </a:cubicBezTo>
                  <a:close/>
                </a:path>
              </a:pathLst>
            </a:custGeom>
            <a:blipFill>
              <a:blip r:embed="rId2"/>
              <a:stretch>
                <a:fillRect l="-24250" t="0" r="-24250" b="0"/>
              </a:stretch>
            </a:blipFill>
          </p:spPr>
        </p:sp>
      </p:grpSp>
      <p:grpSp>
        <p:nvGrpSpPr>
          <p:cNvPr name="Group 4" id="4"/>
          <p:cNvGrpSpPr/>
          <p:nvPr/>
        </p:nvGrpSpPr>
        <p:grpSpPr>
          <a:xfrm rot="0">
            <a:off x="17259300" y="7109187"/>
            <a:ext cx="1028700" cy="3177813"/>
            <a:chOff x="0" y="0"/>
            <a:chExt cx="812800" cy="2510865"/>
          </a:xfrm>
        </p:grpSpPr>
        <p:sp>
          <p:nvSpPr>
            <p:cNvPr name="Freeform 5" id="5"/>
            <p:cNvSpPr/>
            <p:nvPr/>
          </p:nvSpPr>
          <p:spPr>
            <a:xfrm flipH="false" flipV="false" rot="0">
              <a:off x="0" y="0"/>
              <a:ext cx="812800" cy="2510865"/>
            </a:xfrm>
            <a:custGeom>
              <a:avLst/>
              <a:gdLst/>
              <a:ahLst/>
              <a:cxnLst/>
              <a:rect r="r" b="b" t="t" l="l"/>
              <a:pathLst>
                <a:path h="2510865" w="812800">
                  <a:moveTo>
                    <a:pt x="0" y="0"/>
                  </a:moveTo>
                  <a:lnTo>
                    <a:pt x="812800" y="0"/>
                  </a:lnTo>
                  <a:lnTo>
                    <a:pt x="812800" y="2510865"/>
                  </a:lnTo>
                  <a:lnTo>
                    <a:pt x="0" y="2510865"/>
                  </a:lnTo>
                  <a:close/>
                </a:path>
              </a:pathLst>
            </a:custGeom>
            <a:solidFill>
              <a:srgbClr val="111B88"/>
            </a:solidFill>
          </p:spPr>
        </p:sp>
        <p:sp>
          <p:nvSpPr>
            <p:cNvPr name="TextBox 6" id="6"/>
            <p:cNvSpPr txBox="true"/>
            <p:nvPr/>
          </p:nvSpPr>
          <p:spPr>
            <a:xfrm>
              <a:off x="0" y="-38100"/>
              <a:ext cx="812800" cy="2548965"/>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7189285" y="8036082"/>
            <a:ext cx="11842469" cy="3177813"/>
            <a:chOff x="0" y="0"/>
            <a:chExt cx="9357013" cy="2510865"/>
          </a:xfrm>
        </p:grpSpPr>
        <p:sp>
          <p:nvSpPr>
            <p:cNvPr name="Freeform 8" id="8"/>
            <p:cNvSpPr/>
            <p:nvPr/>
          </p:nvSpPr>
          <p:spPr>
            <a:xfrm flipH="false" flipV="false" rot="0">
              <a:off x="0" y="0"/>
              <a:ext cx="9357013" cy="2510865"/>
            </a:xfrm>
            <a:custGeom>
              <a:avLst/>
              <a:gdLst/>
              <a:ahLst/>
              <a:cxnLst/>
              <a:rect r="r" b="b" t="t" l="l"/>
              <a:pathLst>
                <a:path h="2510865" w="9357013">
                  <a:moveTo>
                    <a:pt x="0" y="0"/>
                  </a:moveTo>
                  <a:lnTo>
                    <a:pt x="9357013" y="0"/>
                  </a:lnTo>
                  <a:lnTo>
                    <a:pt x="9357013" y="2510865"/>
                  </a:lnTo>
                  <a:lnTo>
                    <a:pt x="0" y="2510865"/>
                  </a:lnTo>
                  <a:close/>
                </a:path>
              </a:pathLst>
            </a:custGeom>
            <a:solidFill>
              <a:srgbClr val="F6F6F6"/>
            </a:solidFill>
          </p:spPr>
        </p:sp>
        <p:sp>
          <p:nvSpPr>
            <p:cNvPr name="TextBox 9" id="9"/>
            <p:cNvSpPr txBox="true"/>
            <p:nvPr/>
          </p:nvSpPr>
          <p:spPr>
            <a:xfrm>
              <a:off x="0" y="-38100"/>
              <a:ext cx="9357013" cy="2548965"/>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7259300" y="0"/>
            <a:ext cx="1028700" cy="1028700"/>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111B88"/>
            </a:solidFill>
          </p:spPr>
        </p:sp>
        <p:sp>
          <p:nvSpPr>
            <p:cNvPr name="TextBox 12" id="12"/>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609914" y="0"/>
            <a:ext cx="1694792" cy="10287000"/>
            <a:chOff x="0" y="0"/>
            <a:chExt cx="446365" cy="2709333"/>
          </a:xfrm>
        </p:grpSpPr>
        <p:sp>
          <p:nvSpPr>
            <p:cNvPr name="Freeform 14" id="14"/>
            <p:cNvSpPr/>
            <p:nvPr/>
          </p:nvSpPr>
          <p:spPr>
            <a:xfrm flipH="false" flipV="false" rot="0">
              <a:off x="0" y="0"/>
              <a:ext cx="446365" cy="2709333"/>
            </a:xfrm>
            <a:custGeom>
              <a:avLst/>
              <a:gdLst/>
              <a:ahLst/>
              <a:cxnLst/>
              <a:rect r="r" b="b" t="t" l="l"/>
              <a:pathLst>
                <a:path h="2709333" w="446365">
                  <a:moveTo>
                    <a:pt x="223183" y="0"/>
                  </a:moveTo>
                  <a:lnTo>
                    <a:pt x="223183" y="0"/>
                  </a:lnTo>
                  <a:cubicBezTo>
                    <a:pt x="282374" y="0"/>
                    <a:pt x="339142" y="23514"/>
                    <a:pt x="380996" y="65369"/>
                  </a:cubicBezTo>
                  <a:cubicBezTo>
                    <a:pt x="422851" y="107224"/>
                    <a:pt x="446365" y="163991"/>
                    <a:pt x="446365" y="223183"/>
                  </a:cubicBezTo>
                  <a:lnTo>
                    <a:pt x="446365" y="2486151"/>
                  </a:lnTo>
                  <a:cubicBezTo>
                    <a:pt x="446365" y="2609411"/>
                    <a:pt x="346443" y="2709333"/>
                    <a:pt x="223183" y="2709333"/>
                  </a:cubicBezTo>
                  <a:lnTo>
                    <a:pt x="223183" y="2709333"/>
                  </a:lnTo>
                  <a:cubicBezTo>
                    <a:pt x="99922" y="2709333"/>
                    <a:pt x="0" y="2609411"/>
                    <a:pt x="0" y="2486151"/>
                  </a:cubicBezTo>
                  <a:lnTo>
                    <a:pt x="0" y="223183"/>
                  </a:lnTo>
                  <a:cubicBezTo>
                    <a:pt x="0" y="99922"/>
                    <a:pt x="99922" y="0"/>
                    <a:pt x="223183" y="0"/>
                  </a:cubicBezTo>
                  <a:close/>
                </a:path>
              </a:pathLst>
            </a:custGeom>
            <a:solidFill>
              <a:srgbClr val="111B88"/>
            </a:solidFill>
          </p:spPr>
        </p:sp>
        <p:sp>
          <p:nvSpPr>
            <p:cNvPr name="TextBox 15" id="15"/>
            <p:cNvSpPr txBox="true"/>
            <p:nvPr/>
          </p:nvSpPr>
          <p:spPr>
            <a:xfrm>
              <a:off x="0" y="-38100"/>
              <a:ext cx="446365" cy="2747433"/>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5321043" y="6991036"/>
            <a:ext cx="3408455" cy="928334"/>
            <a:chOff x="0" y="0"/>
            <a:chExt cx="897700" cy="244500"/>
          </a:xfrm>
        </p:grpSpPr>
        <p:sp>
          <p:nvSpPr>
            <p:cNvPr name="Freeform 17" id="17"/>
            <p:cNvSpPr/>
            <p:nvPr/>
          </p:nvSpPr>
          <p:spPr>
            <a:xfrm flipH="false" flipV="false" rot="0">
              <a:off x="0" y="0"/>
              <a:ext cx="897700" cy="244500"/>
            </a:xfrm>
            <a:custGeom>
              <a:avLst/>
              <a:gdLst/>
              <a:ahLst/>
              <a:cxnLst/>
              <a:rect r="r" b="b" t="t" l="l"/>
              <a:pathLst>
                <a:path h="244500" w="897700">
                  <a:moveTo>
                    <a:pt x="115841" y="0"/>
                  </a:moveTo>
                  <a:lnTo>
                    <a:pt x="781859" y="0"/>
                  </a:lnTo>
                  <a:cubicBezTo>
                    <a:pt x="845836" y="0"/>
                    <a:pt x="897700" y="51864"/>
                    <a:pt x="897700" y="115841"/>
                  </a:cubicBezTo>
                  <a:lnTo>
                    <a:pt x="897700" y="128659"/>
                  </a:lnTo>
                  <a:cubicBezTo>
                    <a:pt x="897700" y="159382"/>
                    <a:pt x="885496" y="188846"/>
                    <a:pt x="863771" y="210571"/>
                  </a:cubicBezTo>
                  <a:cubicBezTo>
                    <a:pt x="842047" y="232295"/>
                    <a:pt x="812582" y="244500"/>
                    <a:pt x="781859" y="244500"/>
                  </a:cubicBezTo>
                  <a:lnTo>
                    <a:pt x="115841" y="244500"/>
                  </a:lnTo>
                  <a:cubicBezTo>
                    <a:pt x="51864" y="244500"/>
                    <a:pt x="0" y="192636"/>
                    <a:pt x="0" y="128659"/>
                  </a:cubicBezTo>
                  <a:lnTo>
                    <a:pt x="0" y="115841"/>
                  </a:lnTo>
                  <a:cubicBezTo>
                    <a:pt x="0" y="85118"/>
                    <a:pt x="12205" y="55653"/>
                    <a:pt x="33929" y="33929"/>
                  </a:cubicBezTo>
                  <a:cubicBezTo>
                    <a:pt x="55653" y="12205"/>
                    <a:pt x="85118" y="0"/>
                    <a:pt x="115841" y="0"/>
                  </a:cubicBezTo>
                  <a:close/>
                </a:path>
              </a:pathLst>
            </a:custGeom>
            <a:solidFill>
              <a:srgbClr val="111B88"/>
            </a:solidFill>
          </p:spPr>
        </p:sp>
        <p:sp>
          <p:nvSpPr>
            <p:cNvPr name="TextBox 18" id="18"/>
            <p:cNvSpPr txBox="true"/>
            <p:nvPr/>
          </p:nvSpPr>
          <p:spPr>
            <a:xfrm>
              <a:off x="0" y="-66675"/>
              <a:ext cx="897700" cy="311175"/>
            </a:xfrm>
            <a:prstGeom prst="rect">
              <a:avLst/>
            </a:prstGeom>
          </p:spPr>
          <p:txBody>
            <a:bodyPr anchor="ctr" rtlCol="false" tIns="50800" lIns="50800" bIns="50800" rIns="50800"/>
            <a:lstStyle/>
            <a:p>
              <a:pPr algn="ctr">
                <a:lnSpc>
                  <a:spcPts val="5599"/>
                </a:lnSpc>
              </a:pPr>
              <a:r>
                <a:rPr lang="en-US" sz="3999">
                  <a:solidFill>
                    <a:srgbClr val="FFFFFF"/>
                  </a:solidFill>
                  <a:latin typeface="Garet"/>
                  <a:ea typeface="Garet"/>
                  <a:cs typeface="Garet"/>
                  <a:sym typeface="Garet"/>
                </a:rPr>
                <a:t>Nhóm 6</a:t>
              </a:r>
            </a:p>
          </p:txBody>
        </p:sp>
      </p:grpSp>
      <p:grpSp>
        <p:nvGrpSpPr>
          <p:cNvPr name="Group 19" id="19"/>
          <p:cNvGrpSpPr/>
          <p:nvPr/>
        </p:nvGrpSpPr>
        <p:grpSpPr>
          <a:xfrm rot="0">
            <a:off x="8484493" y="9014056"/>
            <a:ext cx="2545888" cy="2545888"/>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111B88">
                  <a:alpha val="9804"/>
                </a:srgbClr>
              </a:solidFill>
              <a:prstDash val="solid"/>
              <a:miter/>
            </a:ln>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22" id="22"/>
          <p:cNvSpPr/>
          <p:nvPr/>
        </p:nvSpPr>
        <p:spPr>
          <a:xfrm flipH="false" flipV="false" rot="0">
            <a:off x="1309511" y="391199"/>
            <a:ext cx="3090916" cy="1275003"/>
          </a:xfrm>
          <a:custGeom>
            <a:avLst/>
            <a:gdLst/>
            <a:ahLst/>
            <a:cxnLst/>
            <a:rect r="r" b="b" t="t" l="l"/>
            <a:pathLst>
              <a:path h="1275003" w="3090916">
                <a:moveTo>
                  <a:pt x="0" y="0"/>
                </a:moveTo>
                <a:lnTo>
                  <a:pt x="3090916" y="0"/>
                </a:lnTo>
                <a:lnTo>
                  <a:pt x="3090916" y="1275002"/>
                </a:lnTo>
                <a:lnTo>
                  <a:pt x="0" y="1275002"/>
                </a:lnTo>
                <a:lnTo>
                  <a:pt x="0" y="0"/>
                </a:lnTo>
                <a:close/>
              </a:path>
            </a:pathLst>
          </a:custGeom>
          <a:blipFill>
            <a:blip r:embed="rId3"/>
            <a:stretch>
              <a:fillRect l="0" t="0" r="0" b="0"/>
            </a:stretch>
          </a:blipFill>
        </p:spPr>
      </p:sp>
      <p:grpSp>
        <p:nvGrpSpPr>
          <p:cNvPr name="Group 23" id="23"/>
          <p:cNvGrpSpPr/>
          <p:nvPr/>
        </p:nvGrpSpPr>
        <p:grpSpPr>
          <a:xfrm rot="0">
            <a:off x="827023" y="2452153"/>
            <a:ext cx="12055216" cy="3444198"/>
            <a:chOff x="0" y="0"/>
            <a:chExt cx="16073622" cy="4592264"/>
          </a:xfrm>
        </p:grpSpPr>
        <p:sp>
          <p:nvSpPr>
            <p:cNvPr name="TextBox 24" id="24"/>
            <p:cNvSpPr txBox="true"/>
            <p:nvPr/>
          </p:nvSpPr>
          <p:spPr>
            <a:xfrm rot="0">
              <a:off x="1421113" y="-95250"/>
              <a:ext cx="13231396" cy="2724688"/>
            </a:xfrm>
            <a:prstGeom prst="rect">
              <a:avLst/>
            </a:prstGeom>
          </p:spPr>
          <p:txBody>
            <a:bodyPr anchor="t" rtlCol="false" tIns="0" lIns="0" bIns="0" rIns="0">
              <a:spAutoFit/>
            </a:bodyPr>
            <a:lstStyle/>
            <a:p>
              <a:pPr algn="ctr">
                <a:lnSpc>
                  <a:spcPts val="8260"/>
                </a:lnSpc>
              </a:pPr>
              <a:r>
                <a:rPr lang="en-US" b="true" sz="6073">
                  <a:solidFill>
                    <a:srgbClr val="111B88"/>
                  </a:solidFill>
                  <a:latin typeface="Garet Bold"/>
                  <a:ea typeface="Garet Bold"/>
                  <a:cs typeface="Garet Bold"/>
                  <a:sym typeface="Garet Bold"/>
                </a:rPr>
                <a:t>PHÁT TRIỂN PHẦN MỀM CHO THIẾT BỊ DI ĐỘNG</a:t>
              </a:r>
            </a:p>
          </p:txBody>
        </p:sp>
        <p:sp>
          <p:nvSpPr>
            <p:cNvPr name="TextBox 25" id="25"/>
            <p:cNvSpPr txBox="true"/>
            <p:nvPr/>
          </p:nvSpPr>
          <p:spPr>
            <a:xfrm rot="0">
              <a:off x="0" y="3475142"/>
              <a:ext cx="16073622" cy="1117121"/>
            </a:xfrm>
            <a:prstGeom prst="rect">
              <a:avLst/>
            </a:prstGeom>
          </p:spPr>
          <p:txBody>
            <a:bodyPr anchor="t" rtlCol="false" tIns="0" lIns="0" bIns="0" rIns="0">
              <a:spAutoFit/>
            </a:bodyPr>
            <a:lstStyle/>
            <a:p>
              <a:pPr algn="ctr">
                <a:lnSpc>
                  <a:spcPts val="7107"/>
                </a:lnSpc>
              </a:pPr>
              <a:r>
                <a:rPr lang="en-US" b="true" sz="5076">
                  <a:solidFill>
                    <a:srgbClr val="000000"/>
                  </a:solidFill>
                  <a:latin typeface="Garet Bold"/>
                  <a:ea typeface="Garet Bold"/>
                  <a:cs typeface="Garet Bold"/>
                  <a:sym typeface="Garet Bold"/>
                </a:rPr>
                <a:t>SEMINAR: JAVA/KOTLIN THREAD</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682015" y="0"/>
            <a:ext cx="5429066" cy="10287000"/>
            <a:chOff x="0" y="0"/>
            <a:chExt cx="7238755" cy="13716000"/>
          </a:xfrm>
        </p:grpSpPr>
        <p:pic>
          <p:nvPicPr>
            <p:cNvPr name="Picture 3" id="3"/>
            <p:cNvPicPr>
              <a:picLocks noChangeAspect="true"/>
            </p:cNvPicPr>
            <p:nvPr/>
          </p:nvPicPr>
          <p:blipFill>
            <a:blip r:embed="rId2"/>
            <a:srcRect l="35174" t="0" r="35174" b="0"/>
            <a:stretch>
              <a:fillRect/>
            </a:stretch>
          </p:blipFill>
          <p:spPr>
            <a:xfrm flipH="false" flipV="false">
              <a:off x="0" y="0"/>
              <a:ext cx="7238755" cy="13716000"/>
            </a:xfrm>
            <a:prstGeom prst="rect">
              <a:avLst/>
            </a:prstGeom>
          </p:spPr>
        </p:pic>
      </p:grpSp>
      <p:grpSp>
        <p:nvGrpSpPr>
          <p:cNvPr name="Group 4" id="4"/>
          <p:cNvGrpSpPr/>
          <p:nvPr/>
        </p:nvGrpSpPr>
        <p:grpSpPr>
          <a:xfrm rot="0">
            <a:off x="17259300" y="0"/>
            <a:ext cx="1694792" cy="10287000"/>
            <a:chOff x="0" y="0"/>
            <a:chExt cx="446365" cy="2709333"/>
          </a:xfrm>
        </p:grpSpPr>
        <p:sp>
          <p:nvSpPr>
            <p:cNvPr name="Freeform 5" id="5"/>
            <p:cNvSpPr/>
            <p:nvPr/>
          </p:nvSpPr>
          <p:spPr>
            <a:xfrm flipH="false" flipV="false" rot="0">
              <a:off x="0" y="0"/>
              <a:ext cx="446365" cy="2709333"/>
            </a:xfrm>
            <a:custGeom>
              <a:avLst/>
              <a:gdLst/>
              <a:ahLst/>
              <a:cxnLst/>
              <a:rect r="r" b="b" t="t" l="l"/>
              <a:pathLst>
                <a:path h="2709333" w="446365">
                  <a:moveTo>
                    <a:pt x="223183" y="0"/>
                  </a:moveTo>
                  <a:lnTo>
                    <a:pt x="223183" y="0"/>
                  </a:lnTo>
                  <a:cubicBezTo>
                    <a:pt x="282374" y="0"/>
                    <a:pt x="339142" y="23514"/>
                    <a:pt x="380996" y="65369"/>
                  </a:cubicBezTo>
                  <a:cubicBezTo>
                    <a:pt x="422851" y="107224"/>
                    <a:pt x="446365" y="163991"/>
                    <a:pt x="446365" y="223183"/>
                  </a:cubicBezTo>
                  <a:lnTo>
                    <a:pt x="446365" y="2486151"/>
                  </a:lnTo>
                  <a:cubicBezTo>
                    <a:pt x="446365" y="2609411"/>
                    <a:pt x="346443" y="2709333"/>
                    <a:pt x="223183" y="2709333"/>
                  </a:cubicBezTo>
                  <a:lnTo>
                    <a:pt x="223183" y="2709333"/>
                  </a:lnTo>
                  <a:cubicBezTo>
                    <a:pt x="99922" y="2709333"/>
                    <a:pt x="0" y="2609411"/>
                    <a:pt x="0" y="2486151"/>
                  </a:cubicBezTo>
                  <a:lnTo>
                    <a:pt x="0" y="223183"/>
                  </a:lnTo>
                  <a:cubicBezTo>
                    <a:pt x="0" y="99922"/>
                    <a:pt x="99922" y="0"/>
                    <a:pt x="223183" y="0"/>
                  </a:cubicBezTo>
                  <a:close/>
                </a:path>
              </a:pathLst>
            </a:custGeom>
            <a:solidFill>
              <a:srgbClr val="111B88"/>
            </a:solidFill>
          </p:spPr>
        </p:sp>
        <p:sp>
          <p:nvSpPr>
            <p:cNvPr name="TextBox 6" id="6"/>
            <p:cNvSpPr txBox="true"/>
            <p:nvPr/>
          </p:nvSpPr>
          <p:spPr>
            <a:xfrm>
              <a:off x="0" y="-38100"/>
              <a:ext cx="446365" cy="2747433"/>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0">
            <a:off x="0" y="7109187"/>
            <a:ext cx="682015" cy="3177813"/>
            <a:chOff x="0" y="0"/>
            <a:chExt cx="538876" cy="2510865"/>
          </a:xfrm>
        </p:grpSpPr>
        <p:sp>
          <p:nvSpPr>
            <p:cNvPr name="Freeform 8" id="8"/>
            <p:cNvSpPr/>
            <p:nvPr/>
          </p:nvSpPr>
          <p:spPr>
            <a:xfrm flipH="false" flipV="false" rot="0">
              <a:off x="0" y="0"/>
              <a:ext cx="538876" cy="2510865"/>
            </a:xfrm>
            <a:custGeom>
              <a:avLst/>
              <a:gdLst/>
              <a:ahLst/>
              <a:cxnLst/>
              <a:rect r="r" b="b" t="t" l="l"/>
              <a:pathLst>
                <a:path h="2510865" w="538876">
                  <a:moveTo>
                    <a:pt x="0" y="0"/>
                  </a:moveTo>
                  <a:lnTo>
                    <a:pt x="538876" y="0"/>
                  </a:lnTo>
                  <a:lnTo>
                    <a:pt x="538876" y="2510865"/>
                  </a:lnTo>
                  <a:lnTo>
                    <a:pt x="0" y="2510865"/>
                  </a:lnTo>
                  <a:close/>
                </a:path>
              </a:pathLst>
            </a:custGeom>
            <a:solidFill>
              <a:srgbClr val="111B88"/>
            </a:solidFill>
          </p:spPr>
        </p:sp>
        <p:sp>
          <p:nvSpPr>
            <p:cNvPr name="TextBox 9" id="9"/>
            <p:cNvSpPr txBox="true"/>
            <p:nvPr/>
          </p:nvSpPr>
          <p:spPr>
            <a:xfrm>
              <a:off x="0" y="-38100"/>
              <a:ext cx="538876" cy="2548965"/>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0" y="0"/>
            <a:ext cx="682015" cy="1028700"/>
            <a:chOff x="0" y="0"/>
            <a:chExt cx="538876" cy="812800"/>
          </a:xfrm>
        </p:grpSpPr>
        <p:sp>
          <p:nvSpPr>
            <p:cNvPr name="Freeform 11" id="11"/>
            <p:cNvSpPr/>
            <p:nvPr/>
          </p:nvSpPr>
          <p:spPr>
            <a:xfrm flipH="false" flipV="false" rot="0">
              <a:off x="0" y="0"/>
              <a:ext cx="538876" cy="812800"/>
            </a:xfrm>
            <a:custGeom>
              <a:avLst/>
              <a:gdLst/>
              <a:ahLst/>
              <a:cxnLst/>
              <a:rect r="r" b="b" t="t" l="l"/>
              <a:pathLst>
                <a:path h="812800" w="538876">
                  <a:moveTo>
                    <a:pt x="0" y="0"/>
                  </a:moveTo>
                  <a:lnTo>
                    <a:pt x="538876" y="0"/>
                  </a:lnTo>
                  <a:lnTo>
                    <a:pt x="538876" y="812800"/>
                  </a:lnTo>
                  <a:lnTo>
                    <a:pt x="0" y="812800"/>
                  </a:lnTo>
                  <a:close/>
                </a:path>
              </a:pathLst>
            </a:custGeom>
            <a:solidFill>
              <a:srgbClr val="111B88"/>
            </a:solidFill>
          </p:spPr>
        </p:sp>
        <p:sp>
          <p:nvSpPr>
            <p:cNvPr name="TextBox 12" id="12"/>
            <p:cNvSpPr txBox="true"/>
            <p:nvPr/>
          </p:nvSpPr>
          <p:spPr>
            <a:xfrm>
              <a:off x="0" y="-38100"/>
              <a:ext cx="538876" cy="850900"/>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5011231" y="1028700"/>
            <a:ext cx="1652841" cy="1652841"/>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238884" y="0"/>
                  </a:moveTo>
                  <a:lnTo>
                    <a:pt x="573916" y="0"/>
                  </a:lnTo>
                  <a:cubicBezTo>
                    <a:pt x="705848" y="0"/>
                    <a:pt x="812800" y="106952"/>
                    <a:pt x="812800" y="238884"/>
                  </a:cubicBezTo>
                  <a:lnTo>
                    <a:pt x="812800" y="573916"/>
                  </a:lnTo>
                  <a:cubicBezTo>
                    <a:pt x="812800" y="705848"/>
                    <a:pt x="705848" y="812800"/>
                    <a:pt x="573916" y="812800"/>
                  </a:cubicBezTo>
                  <a:lnTo>
                    <a:pt x="238884" y="812800"/>
                  </a:lnTo>
                  <a:cubicBezTo>
                    <a:pt x="106952" y="812800"/>
                    <a:pt x="0" y="705848"/>
                    <a:pt x="0" y="573916"/>
                  </a:cubicBezTo>
                  <a:lnTo>
                    <a:pt x="0" y="238884"/>
                  </a:lnTo>
                  <a:cubicBezTo>
                    <a:pt x="0" y="106952"/>
                    <a:pt x="106952" y="0"/>
                    <a:pt x="238884" y="0"/>
                  </a:cubicBezTo>
                  <a:close/>
                </a:path>
              </a:pathLst>
            </a:custGeom>
            <a:solidFill>
              <a:srgbClr val="111B88">
                <a:alpha val="29804"/>
              </a:srgbClr>
            </a:solidFill>
          </p:spPr>
        </p:sp>
        <p:sp>
          <p:nvSpPr>
            <p:cNvPr name="TextBox 15" id="15"/>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4814124" y="816351"/>
            <a:ext cx="771724" cy="771724"/>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111B88">
                  <a:alpha val="40000"/>
                </a:srgbClr>
              </a:solidFill>
              <a:prstDash val="solid"/>
              <a:miter/>
            </a:ln>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3514685" y="8703806"/>
            <a:ext cx="3744615" cy="3744615"/>
            <a:chOff x="0" y="0"/>
            <a:chExt cx="812800" cy="812800"/>
          </a:xfrm>
        </p:grpSpPr>
        <p:sp>
          <p:nvSpPr>
            <p:cNvPr name="Freeform 20" id="2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111B88">
                  <a:alpha val="19608"/>
                </a:srgbClr>
              </a:solidFill>
              <a:prstDash val="solid"/>
              <a:miter/>
            </a:ln>
          </p:spPr>
        </p:sp>
        <p:sp>
          <p:nvSpPr>
            <p:cNvPr name="TextBox 21" id="21"/>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6489486" y="1845596"/>
            <a:ext cx="1105748" cy="1105748"/>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111B88"/>
            </a:solidFill>
          </p:spPr>
        </p:sp>
        <p:sp>
          <p:nvSpPr>
            <p:cNvPr name="TextBox 24" id="24"/>
            <p:cNvSpPr txBox="true"/>
            <p:nvPr/>
          </p:nvSpPr>
          <p:spPr>
            <a:xfrm>
              <a:off x="63500" y="-3175"/>
              <a:ext cx="685800" cy="752475"/>
            </a:xfrm>
            <a:prstGeom prst="rect">
              <a:avLst/>
            </a:prstGeom>
          </p:spPr>
          <p:txBody>
            <a:bodyPr anchor="ctr" rtlCol="false" tIns="44470" lIns="44470" bIns="44470" rIns="44470"/>
            <a:lstStyle/>
            <a:p>
              <a:pPr algn="ctr">
                <a:lnSpc>
                  <a:spcPts val="4759"/>
                </a:lnSpc>
              </a:pPr>
              <a:r>
                <a:rPr lang="en-US" b="true" sz="3399">
                  <a:solidFill>
                    <a:srgbClr val="FFFFFF"/>
                  </a:solidFill>
                  <a:latin typeface="Garet Bold"/>
                  <a:ea typeface="Garet Bold"/>
                  <a:cs typeface="Garet Bold"/>
                  <a:sym typeface="Garet Bold"/>
                </a:rPr>
                <a:t>01</a:t>
              </a:r>
            </a:p>
          </p:txBody>
        </p:sp>
      </p:grpSp>
      <p:grpSp>
        <p:nvGrpSpPr>
          <p:cNvPr name="Group 25" id="25"/>
          <p:cNvGrpSpPr/>
          <p:nvPr/>
        </p:nvGrpSpPr>
        <p:grpSpPr>
          <a:xfrm rot="0">
            <a:off x="6489486" y="3192632"/>
            <a:ext cx="1105748" cy="1105748"/>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111B88"/>
            </a:solidFill>
          </p:spPr>
        </p:sp>
        <p:sp>
          <p:nvSpPr>
            <p:cNvPr name="TextBox 27" id="27"/>
            <p:cNvSpPr txBox="true"/>
            <p:nvPr/>
          </p:nvSpPr>
          <p:spPr>
            <a:xfrm>
              <a:off x="63500" y="-3175"/>
              <a:ext cx="685800" cy="752475"/>
            </a:xfrm>
            <a:prstGeom prst="rect">
              <a:avLst/>
            </a:prstGeom>
          </p:spPr>
          <p:txBody>
            <a:bodyPr anchor="ctr" rtlCol="false" tIns="44470" lIns="44470" bIns="44470" rIns="44470"/>
            <a:lstStyle/>
            <a:p>
              <a:pPr algn="ctr">
                <a:lnSpc>
                  <a:spcPts val="4759"/>
                </a:lnSpc>
              </a:pPr>
              <a:r>
                <a:rPr lang="en-US" b="true" sz="3399">
                  <a:solidFill>
                    <a:srgbClr val="FFFFFF"/>
                  </a:solidFill>
                  <a:latin typeface="Garet Bold"/>
                  <a:ea typeface="Garet Bold"/>
                  <a:cs typeface="Garet Bold"/>
                  <a:sym typeface="Garet Bold"/>
                </a:rPr>
                <a:t>02</a:t>
              </a:r>
            </a:p>
          </p:txBody>
        </p:sp>
      </p:grpSp>
      <p:grpSp>
        <p:nvGrpSpPr>
          <p:cNvPr name="Group 28" id="28"/>
          <p:cNvGrpSpPr/>
          <p:nvPr/>
        </p:nvGrpSpPr>
        <p:grpSpPr>
          <a:xfrm rot="0">
            <a:off x="6489486" y="4539668"/>
            <a:ext cx="1105748" cy="1105748"/>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111B88"/>
            </a:solidFill>
          </p:spPr>
        </p:sp>
        <p:sp>
          <p:nvSpPr>
            <p:cNvPr name="TextBox 30" id="30"/>
            <p:cNvSpPr txBox="true"/>
            <p:nvPr/>
          </p:nvSpPr>
          <p:spPr>
            <a:xfrm>
              <a:off x="63500" y="-3175"/>
              <a:ext cx="685800" cy="752475"/>
            </a:xfrm>
            <a:prstGeom prst="rect">
              <a:avLst/>
            </a:prstGeom>
          </p:spPr>
          <p:txBody>
            <a:bodyPr anchor="ctr" rtlCol="false" tIns="44470" lIns="44470" bIns="44470" rIns="44470"/>
            <a:lstStyle/>
            <a:p>
              <a:pPr algn="ctr">
                <a:lnSpc>
                  <a:spcPts val="4759"/>
                </a:lnSpc>
              </a:pPr>
              <a:r>
                <a:rPr lang="en-US" b="true" sz="3399">
                  <a:solidFill>
                    <a:srgbClr val="FFFFFF"/>
                  </a:solidFill>
                  <a:latin typeface="Garet Bold"/>
                  <a:ea typeface="Garet Bold"/>
                  <a:cs typeface="Garet Bold"/>
                  <a:sym typeface="Garet Bold"/>
                </a:rPr>
                <a:t>03</a:t>
              </a:r>
            </a:p>
          </p:txBody>
        </p:sp>
      </p:grpSp>
      <p:grpSp>
        <p:nvGrpSpPr>
          <p:cNvPr name="Group 31" id="31"/>
          <p:cNvGrpSpPr/>
          <p:nvPr/>
        </p:nvGrpSpPr>
        <p:grpSpPr>
          <a:xfrm rot="0">
            <a:off x="6489486" y="5883541"/>
            <a:ext cx="1105748" cy="1105748"/>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111B88"/>
            </a:solidFill>
          </p:spPr>
        </p:sp>
        <p:sp>
          <p:nvSpPr>
            <p:cNvPr name="TextBox 33" id="33"/>
            <p:cNvSpPr txBox="true"/>
            <p:nvPr/>
          </p:nvSpPr>
          <p:spPr>
            <a:xfrm>
              <a:off x="63500" y="-3175"/>
              <a:ext cx="685800" cy="752475"/>
            </a:xfrm>
            <a:prstGeom prst="rect">
              <a:avLst/>
            </a:prstGeom>
          </p:spPr>
          <p:txBody>
            <a:bodyPr anchor="ctr" rtlCol="false" tIns="44470" lIns="44470" bIns="44470" rIns="44470"/>
            <a:lstStyle/>
            <a:p>
              <a:pPr algn="ctr">
                <a:lnSpc>
                  <a:spcPts val="4759"/>
                </a:lnSpc>
              </a:pPr>
              <a:r>
                <a:rPr lang="en-US" b="true" sz="3399">
                  <a:solidFill>
                    <a:srgbClr val="FFFFFF"/>
                  </a:solidFill>
                  <a:latin typeface="Garet Bold"/>
                  <a:ea typeface="Garet Bold"/>
                  <a:cs typeface="Garet Bold"/>
                  <a:sym typeface="Garet Bold"/>
                </a:rPr>
                <a:t>04</a:t>
              </a:r>
            </a:p>
          </p:txBody>
        </p:sp>
      </p:grpSp>
      <p:sp>
        <p:nvSpPr>
          <p:cNvPr name="TextBox 34" id="34"/>
          <p:cNvSpPr txBox="true"/>
          <p:nvPr/>
        </p:nvSpPr>
        <p:spPr>
          <a:xfrm rot="0">
            <a:off x="7985267" y="2039702"/>
            <a:ext cx="8385797" cy="669925"/>
          </a:xfrm>
          <a:prstGeom prst="rect">
            <a:avLst/>
          </a:prstGeom>
        </p:spPr>
        <p:txBody>
          <a:bodyPr anchor="t" rtlCol="false" tIns="0" lIns="0" bIns="0" rIns="0">
            <a:spAutoFit/>
          </a:bodyPr>
          <a:lstStyle/>
          <a:p>
            <a:pPr algn="l">
              <a:lnSpc>
                <a:spcPts val="5599"/>
              </a:lnSpc>
            </a:pPr>
            <a:r>
              <a:rPr lang="en-US" sz="3999">
                <a:solidFill>
                  <a:srgbClr val="000000"/>
                </a:solidFill>
                <a:latin typeface="Garet"/>
                <a:ea typeface="Garet"/>
                <a:cs typeface="Garet"/>
                <a:sym typeface="Garet"/>
              </a:rPr>
              <a:t>Giới thiệu &amp; đặt vấn đề</a:t>
            </a:r>
          </a:p>
        </p:txBody>
      </p:sp>
      <p:sp>
        <p:nvSpPr>
          <p:cNvPr name="TextBox 35" id="35"/>
          <p:cNvSpPr txBox="true"/>
          <p:nvPr/>
        </p:nvSpPr>
        <p:spPr>
          <a:xfrm rot="0">
            <a:off x="7985267" y="3377214"/>
            <a:ext cx="9117110" cy="669925"/>
          </a:xfrm>
          <a:prstGeom prst="rect">
            <a:avLst/>
          </a:prstGeom>
        </p:spPr>
        <p:txBody>
          <a:bodyPr anchor="t" rtlCol="false" tIns="0" lIns="0" bIns="0" rIns="0">
            <a:spAutoFit/>
          </a:bodyPr>
          <a:lstStyle/>
          <a:p>
            <a:pPr algn="l">
              <a:lnSpc>
                <a:spcPts val="5599"/>
              </a:lnSpc>
            </a:pPr>
            <a:r>
              <a:rPr lang="en-US" sz="3999">
                <a:solidFill>
                  <a:srgbClr val="000000"/>
                </a:solidFill>
                <a:latin typeface="Garet"/>
                <a:ea typeface="Garet"/>
                <a:cs typeface="Garet"/>
                <a:sym typeface="Garet"/>
              </a:rPr>
              <a:t>Tạo và quản lý threads trong kotlin</a:t>
            </a:r>
          </a:p>
        </p:txBody>
      </p:sp>
      <p:sp>
        <p:nvSpPr>
          <p:cNvPr name="TextBox 36" id="36"/>
          <p:cNvSpPr txBox="true"/>
          <p:nvPr/>
        </p:nvSpPr>
        <p:spPr>
          <a:xfrm rot="0">
            <a:off x="7985267" y="4723398"/>
            <a:ext cx="8385797" cy="669925"/>
          </a:xfrm>
          <a:prstGeom prst="rect">
            <a:avLst/>
          </a:prstGeom>
        </p:spPr>
        <p:txBody>
          <a:bodyPr anchor="t" rtlCol="false" tIns="0" lIns="0" bIns="0" rIns="0">
            <a:spAutoFit/>
          </a:bodyPr>
          <a:lstStyle/>
          <a:p>
            <a:pPr algn="l">
              <a:lnSpc>
                <a:spcPts val="5599"/>
              </a:lnSpc>
            </a:pPr>
            <a:r>
              <a:rPr lang="en-US" sz="3999">
                <a:solidFill>
                  <a:srgbClr val="000000"/>
                </a:solidFill>
                <a:latin typeface="Garet"/>
                <a:ea typeface="Garet"/>
                <a:cs typeface="Garet"/>
                <a:sym typeface="Garet"/>
              </a:rPr>
              <a:t>Dữ liệu chia sẻ và đồng bộ hóa</a:t>
            </a:r>
          </a:p>
        </p:txBody>
      </p:sp>
      <p:sp>
        <p:nvSpPr>
          <p:cNvPr name="TextBox 37" id="37"/>
          <p:cNvSpPr txBox="true"/>
          <p:nvPr/>
        </p:nvSpPr>
        <p:spPr>
          <a:xfrm rot="0">
            <a:off x="7985267" y="6068123"/>
            <a:ext cx="8385797" cy="669925"/>
          </a:xfrm>
          <a:prstGeom prst="rect">
            <a:avLst/>
          </a:prstGeom>
        </p:spPr>
        <p:txBody>
          <a:bodyPr anchor="t" rtlCol="false" tIns="0" lIns="0" bIns="0" rIns="0">
            <a:spAutoFit/>
          </a:bodyPr>
          <a:lstStyle/>
          <a:p>
            <a:pPr algn="l">
              <a:lnSpc>
                <a:spcPts val="5599"/>
              </a:lnSpc>
            </a:pPr>
            <a:r>
              <a:rPr lang="en-US" sz="3999">
                <a:solidFill>
                  <a:srgbClr val="000000"/>
                </a:solidFill>
                <a:latin typeface="Garet"/>
                <a:ea typeface="Garet"/>
                <a:cs typeface="Garet"/>
                <a:sym typeface="Garet"/>
              </a:rPr>
              <a:t>Giao tiếp giữa các threads</a:t>
            </a:r>
          </a:p>
        </p:txBody>
      </p:sp>
      <p:sp>
        <p:nvSpPr>
          <p:cNvPr name="TextBox 38" id="38"/>
          <p:cNvSpPr txBox="true"/>
          <p:nvPr/>
        </p:nvSpPr>
        <p:spPr>
          <a:xfrm rot="0">
            <a:off x="7297118" y="308828"/>
            <a:ext cx="7494647" cy="1155768"/>
          </a:xfrm>
          <a:prstGeom prst="rect">
            <a:avLst/>
          </a:prstGeom>
        </p:spPr>
        <p:txBody>
          <a:bodyPr anchor="t" rtlCol="false" tIns="0" lIns="0" bIns="0" rIns="0">
            <a:spAutoFit/>
          </a:bodyPr>
          <a:lstStyle/>
          <a:p>
            <a:pPr algn="l">
              <a:lnSpc>
                <a:spcPts val="9487"/>
              </a:lnSpc>
            </a:pPr>
            <a:r>
              <a:rPr lang="en-US" sz="6776" b="true">
                <a:solidFill>
                  <a:srgbClr val="000000"/>
                </a:solidFill>
                <a:latin typeface="Garet Bold"/>
                <a:ea typeface="Garet Bold"/>
                <a:cs typeface="Garet Bold"/>
                <a:sym typeface="Garet Bold"/>
              </a:rPr>
              <a:t>NỘI DUNG</a:t>
            </a:r>
          </a:p>
        </p:txBody>
      </p:sp>
      <p:grpSp>
        <p:nvGrpSpPr>
          <p:cNvPr name="Group 39" id="39"/>
          <p:cNvGrpSpPr/>
          <p:nvPr/>
        </p:nvGrpSpPr>
        <p:grpSpPr>
          <a:xfrm rot="0">
            <a:off x="6489486" y="7227414"/>
            <a:ext cx="1105748" cy="1105748"/>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111B88"/>
            </a:solidFill>
          </p:spPr>
        </p:sp>
        <p:sp>
          <p:nvSpPr>
            <p:cNvPr name="TextBox 41" id="41"/>
            <p:cNvSpPr txBox="true"/>
            <p:nvPr/>
          </p:nvSpPr>
          <p:spPr>
            <a:xfrm>
              <a:off x="63500" y="-3175"/>
              <a:ext cx="685800" cy="752475"/>
            </a:xfrm>
            <a:prstGeom prst="rect">
              <a:avLst/>
            </a:prstGeom>
          </p:spPr>
          <p:txBody>
            <a:bodyPr anchor="ctr" rtlCol="false" tIns="44470" lIns="44470" bIns="44470" rIns="44470"/>
            <a:lstStyle/>
            <a:p>
              <a:pPr algn="ctr">
                <a:lnSpc>
                  <a:spcPts val="4759"/>
                </a:lnSpc>
              </a:pPr>
              <a:r>
                <a:rPr lang="en-US" b="true" sz="3399">
                  <a:solidFill>
                    <a:srgbClr val="FFFFFF"/>
                  </a:solidFill>
                  <a:latin typeface="Garet Bold"/>
                  <a:ea typeface="Garet Bold"/>
                  <a:cs typeface="Garet Bold"/>
                  <a:sym typeface="Garet Bold"/>
                </a:rPr>
                <a:t>05</a:t>
              </a:r>
            </a:p>
          </p:txBody>
        </p:sp>
      </p:grpSp>
      <p:sp>
        <p:nvSpPr>
          <p:cNvPr name="TextBox 42" id="42"/>
          <p:cNvSpPr txBox="true"/>
          <p:nvPr/>
        </p:nvSpPr>
        <p:spPr>
          <a:xfrm rot="0">
            <a:off x="7976234" y="7414323"/>
            <a:ext cx="8385797" cy="669925"/>
          </a:xfrm>
          <a:prstGeom prst="rect">
            <a:avLst/>
          </a:prstGeom>
        </p:spPr>
        <p:txBody>
          <a:bodyPr anchor="t" rtlCol="false" tIns="0" lIns="0" bIns="0" rIns="0">
            <a:spAutoFit/>
          </a:bodyPr>
          <a:lstStyle/>
          <a:p>
            <a:pPr algn="l">
              <a:lnSpc>
                <a:spcPts val="5599"/>
              </a:lnSpc>
            </a:pPr>
            <a:r>
              <a:rPr lang="en-US" sz="3999">
                <a:solidFill>
                  <a:srgbClr val="000000"/>
                </a:solidFill>
                <a:latin typeface="Garet"/>
                <a:ea typeface="Garet"/>
                <a:cs typeface="Garet"/>
                <a:sym typeface="Garet"/>
              </a:rPr>
              <a:t>Các khái niệm nâng cao</a:t>
            </a:r>
          </a:p>
        </p:txBody>
      </p:sp>
      <p:grpSp>
        <p:nvGrpSpPr>
          <p:cNvPr name="Group 43" id="43"/>
          <p:cNvGrpSpPr/>
          <p:nvPr/>
        </p:nvGrpSpPr>
        <p:grpSpPr>
          <a:xfrm rot="0">
            <a:off x="6498519" y="8609387"/>
            <a:ext cx="1105748" cy="1105748"/>
            <a:chOff x="0" y="0"/>
            <a:chExt cx="812800" cy="812800"/>
          </a:xfrm>
        </p:grpSpPr>
        <p:sp>
          <p:nvSpPr>
            <p:cNvPr name="Freeform 44" id="44"/>
            <p:cNvSpPr/>
            <p:nvPr/>
          </p:nvSpPr>
          <p:spPr>
            <a:xfrm flipH="false" flipV="false" rot="0">
              <a:off x="0" y="0"/>
              <a:ext cx="812800" cy="812800"/>
            </a:xfrm>
            <a:custGeom>
              <a:avLst/>
              <a:gdLst/>
              <a:ahLst/>
              <a:cxnLst/>
              <a:rect r="r" b="b" t="t" l="l"/>
              <a:pathLst>
                <a:path h="812800" w="812800">
                  <a:moveTo>
                    <a:pt x="652780" y="0"/>
                  </a:moveTo>
                  <a:lnTo>
                    <a:pt x="160020" y="0"/>
                  </a:lnTo>
                  <a:lnTo>
                    <a:pt x="0" y="160020"/>
                  </a:lnTo>
                  <a:lnTo>
                    <a:pt x="0" y="652780"/>
                  </a:lnTo>
                  <a:lnTo>
                    <a:pt x="160020" y="812800"/>
                  </a:lnTo>
                  <a:lnTo>
                    <a:pt x="652780" y="812800"/>
                  </a:lnTo>
                  <a:lnTo>
                    <a:pt x="812800" y="652780"/>
                  </a:lnTo>
                  <a:lnTo>
                    <a:pt x="812800" y="160020"/>
                  </a:lnTo>
                  <a:lnTo>
                    <a:pt x="652780" y="0"/>
                  </a:lnTo>
                  <a:close/>
                </a:path>
              </a:pathLst>
            </a:custGeom>
            <a:solidFill>
              <a:srgbClr val="111B88"/>
            </a:solidFill>
          </p:spPr>
        </p:sp>
        <p:sp>
          <p:nvSpPr>
            <p:cNvPr name="TextBox 45" id="45"/>
            <p:cNvSpPr txBox="true"/>
            <p:nvPr/>
          </p:nvSpPr>
          <p:spPr>
            <a:xfrm>
              <a:off x="63500" y="-3175"/>
              <a:ext cx="685800" cy="752475"/>
            </a:xfrm>
            <a:prstGeom prst="rect">
              <a:avLst/>
            </a:prstGeom>
          </p:spPr>
          <p:txBody>
            <a:bodyPr anchor="ctr" rtlCol="false" tIns="44470" lIns="44470" bIns="44470" rIns="44470"/>
            <a:lstStyle/>
            <a:p>
              <a:pPr algn="ctr">
                <a:lnSpc>
                  <a:spcPts val="4759"/>
                </a:lnSpc>
              </a:pPr>
              <a:r>
                <a:rPr lang="en-US" b="true" sz="3399">
                  <a:solidFill>
                    <a:srgbClr val="FFFFFF"/>
                  </a:solidFill>
                  <a:latin typeface="Garet Bold"/>
                  <a:ea typeface="Garet Bold"/>
                  <a:cs typeface="Garet Bold"/>
                  <a:sym typeface="Garet Bold"/>
                </a:rPr>
                <a:t>05</a:t>
              </a:r>
            </a:p>
          </p:txBody>
        </p:sp>
      </p:grpSp>
      <p:sp>
        <p:nvSpPr>
          <p:cNvPr name="TextBox 46" id="46"/>
          <p:cNvSpPr txBox="true"/>
          <p:nvPr/>
        </p:nvSpPr>
        <p:spPr>
          <a:xfrm rot="0">
            <a:off x="7985267" y="8796296"/>
            <a:ext cx="8385797" cy="669925"/>
          </a:xfrm>
          <a:prstGeom prst="rect">
            <a:avLst/>
          </a:prstGeom>
        </p:spPr>
        <p:txBody>
          <a:bodyPr anchor="t" rtlCol="false" tIns="0" lIns="0" bIns="0" rIns="0">
            <a:spAutoFit/>
          </a:bodyPr>
          <a:lstStyle/>
          <a:p>
            <a:pPr algn="l">
              <a:lnSpc>
                <a:spcPts val="5599"/>
              </a:lnSpc>
            </a:pPr>
            <a:r>
              <a:rPr lang="en-US" sz="3999">
                <a:solidFill>
                  <a:srgbClr val="000000"/>
                </a:solidFill>
                <a:latin typeface="Garet"/>
                <a:ea typeface="Garet"/>
                <a:cs typeface="Garet"/>
                <a:sym typeface="Garet"/>
              </a:rPr>
              <a:t>Kết luận &amp; định hướng tương lai</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740861" y="6749958"/>
            <a:ext cx="4596322" cy="459632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0" cap="sq">
              <a:solidFill>
                <a:srgbClr val="F6F6F6"/>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5324660" y="9048119"/>
            <a:ext cx="596043" cy="59604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FFFFFF"/>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782825" y="3159833"/>
            <a:ext cx="10941821" cy="6894499"/>
            <a:chOff x="0" y="0"/>
            <a:chExt cx="14589095" cy="9192665"/>
          </a:xfrm>
        </p:grpSpPr>
        <p:grpSp>
          <p:nvGrpSpPr>
            <p:cNvPr name="Group 9" id="9"/>
            <p:cNvGrpSpPr/>
            <p:nvPr/>
          </p:nvGrpSpPr>
          <p:grpSpPr>
            <a:xfrm rot="0">
              <a:off x="0" y="0"/>
              <a:ext cx="14589095" cy="9192665"/>
              <a:chOff x="0" y="0"/>
              <a:chExt cx="20015680" cy="12611985"/>
            </a:xfrm>
          </p:grpSpPr>
          <p:sp>
            <p:nvSpPr>
              <p:cNvPr name="Freeform 10" id="10"/>
              <p:cNvSpPr/>
              <p:nvPr/>
            </p:nvSpPr>
            <p:spPr>
              <a:xfrm flipH="false" flipV="false" rot="0">
                <a:off x="0" y="0"/>
                <a:ext cx="20015681" cy="12611985"/>
              </a:xfrm>
              <a:custGeom>
                <a:avLst/>
                <a:gdLst/>
                <a:ahLst/>
                <a:cxnLst/>
                <a:rect r="r" b="b" t="t" l="l"/>
                <a:pathLst>
                  <a:path h="12611985" w="20015681">
                    <a:moveTo>
                      <a:pt x="36085" y="0"/>
                    </a:moveTo>
                    <a:lnTo>
                      <a:pt x="19979596" y="0"/>
                    </a:lnTo>
                    <a:cubicBezTo>
                      <a:pt x="19999525" y="0"/>
                      <a:pt x="20015681" y="16156"/>
                      <a:pt x="20015681" y="36085"/>
                    </a:cubicBezTo>
                    <a:lnTo>
                      <a:pt x="20015681" y="12575900"/>
                    </a:lnTo>
                    <a:cubicBezTo>
                      <a:pt x="20015681" y="12595830"/>
                      <a:pt x="19999525" y="12611985"/>
                      <a:pt x="19979596" y="12611985"/>
                    </a:cubicBezTo>
                    <a:lnTo>
                      <a:pt x="36085" y="12611985"/>
                    </a:lnTo>
                    <a:cubicBezTo>
                      <a:pt x="16156" y="12611985"/>
                      <a:pt x="0" y="12595830"/>
                      <a:pt x="0" y="12575900"/>
                    </a:cubicBezTo>
                    <a:lnTo>
                      <a:pt x="0" y="36085"/>
                    </a:lnTo>
                    <a:cubicBezTo>
                      <a:pt x="0" y="16156"/>
                      <a:pt x="16156" y="0"/>
                      <a:pt x="36085" y="0"/>
                    </a:cubicBezTo>
                    <a:close/>
                  </a:path>
                </a:pathLst>
              </a:custGeom>
              <a:solidFill>
                <a:srgbClr val="E8ECEC"/>
              </a:solidFill>
            </p:spPr>
          </p:sp>
          <p:sp>
            <p:nvSpPr>
              <p:cNvPr name="TextBox 11" id="11"/>
              <p:cNvSpPr txBox="true"/>
              <p:nvPr/>
            </p:nvSpPr>
            <p:spPr>
              <a:xfrm>
                <a:off x="0" y="-57150"/>
                <a:ext cx="20015680" cy="12669135"/>
              </a:xfrm>
              <a:prstGeom prst="rect">
                <a:avLst/>
              </a:prstGeom>
            </p:spPr>
            <p:txBody>
              <a:bodyPr anchor="ctr" rtlCol="false" tIns="7314" lIns="7314" bIns="7314" rIns="7314"/>
              <a:lstStyle/>
              <a:p>
                <a:pPr algn="ctr">
                  <a:lnSpc>
                    <a:spcPts val="4199"/>
                  </a:lnSpc>
                </a:pPr>
              </a:p>
            </p:txBody>
          </p:sp>
        </p:grpSp>
        <p:sp>
          <p:nvSpPr>
            <p:cNvPr name="TextBox 12" id="12"/>
            <p:cNvSpPr txBox="true"/>
            <p:nvPr/>
          </p:nvSpPr>
          <p:spPr>
            <a:xfrm rot="0">
              <a:off x="327833" y="116537"/>
              <a:ext cx="13659348" cy="8734537"/>
            </a:xfrm>
            <a:prstGeom prst="rect">
              <a:avLst/>
            </a:prstGeom>
          </p:spPr>
          <p:txBody>
            <a:bodyPr anchor="t" rtlCol="false" tIns="0" lIns="0" bIns="0" rIns="0">
              <a:spAutoFit/>
            </a:bodyPr>
            <a:lstStyle/>
            <a:p>
              <a:pPr algn="just" marL="588138" indent="-294069" lvl="1">
                <a:lnSpc>
                  <a:spcPts val="5312"/>
                </a:lnSpc>
                <a:buFont typeface="Arial"/>
                <a:buChar char="•"/>
              </a:pPr>
              <a:r>
                <a:rPr lang="en-US" sz="2724">
                  <a:solidFill>
                    <a:srgbClr val="111B88"/>
                  </a:solidFill>
                  <a:latin typeface="Garet"/>
                  <a:ea typeface="Garet"/>
                  <a:cs typeface="Garet"/>
                  <a:sym typeface="Garet"/>
                </a:rPr>
                <a:t>Định nghĩa:</a:t>
              </a:r>
              <a:r>
                <a:rPr lang="en-US" sz="2724">
                  <a:solidFill>
                    <a:srgbClr val="000000"/>
                  </a:solidFill>
                  <a:latin typeface="Garet"/>
                  <a:ea typeface="Garet"/>
                  <a:cs typeface="Garet"/>
                  <a:sym typeface="Garet"/>
                </a:rPr>
                <a:t> Khả năng của chương trình xử lý nhiều tác vụ cùng một lúc.</a:t>
              </a:r>
            </a:p>
            <a:p>
              <a:pPr algn="just" marL="588138" indent="-294069" lvl="1">
                <a:lnSpc>
                  <a:spcPts val="5312"/>
                </a:lnSpc>
                <a:buFont typeface="Arial"/>
                <a:buChar char="•"/>
              </a:pPr>
              <a:r>
                <a:rPr lang="en-US" sz="2724">
                  <a:solidFill>
                    <a:srgbClr val="111B88"/>
                  </a:solidFill>
                  <a:latin typeface="Garet"/>
                  <a:ea typeface="Garet"/>
                  <a:cs typeface="Garet"/>
                  <a:sym typeface="Garet"/>
                </a:rPr>
                <a:t>Phân biệt:</a:t>
              </a:r>
            </a:p>
            <a:p>
              <a:pPr algn="just" marL="1176275" indent="-392092" lvl="2">
                <a:lnSpc>
                  <a:spcPts val="5312"/>
                </a:lnSpc>
                <a:buFont typeface="Arial"/>
                <a:buChar char="⚬"/>
              </a:pPr>
              <a:r>
                <a:rPr lang="en-US" b="true" sz="2724">
                  <a:solidFill>
                    <a:srgbClr val="000000"/>
                  </a:solidFill>
                  <a:latin typeface="Garet Bold"/>
                  <a:ea typeface="Garet Bold"/>
                  <a:cs typeface="Garet Bold"/>
                  <a:sym typeface="Garet Bold"/>
                </a:rPr>
                <a:t>Concurrency </a:t>
              </a:r>
              <a:r>
                <a:rPr lang="en-US" sz="2724">
                  <a:solidFill>
                    <a:srgbClr val="000000"/>
                  </a:solidFill>
                  <a:latin typeface="Garet"/>
                  <a:ea typeface="Garet"/>
                  <a:cs typeface="Garet"/>
                  <a:sym typeface="Garet"/>
                </a:rPr>
                <a:t>(Đa luồng): Xử lý nhiều việc trong cùng một khoảng thời gian (có thể luân phiên).</a:t>
              </a:r>
            </a:p>
            <a:p>
              <a:pPr algn="just" marL="1176275" indent="-392092" lvl="2">
                <a:lnSpc>
                  <a:spcPts val="5312"/>
                </a:lnSpc>
                <a:buFont typeface="Arial"/>
                <a:buChar char="⚬"/>
              </a:pPr>
              <a:r>
                <a:rPr lang="en-US" b="true" sz="2724">
                  <a:solidFill>
                    <a:srgbClr val="000000"/>
                  </a:solidFill>
                  <a:latin typeface="Garet Bold"/>
                  <a:ea typeface="Garet Bold"/>
                  <a:cs typeface="Garet Bold"/>
                  <a:sym typeface="Garet Bold"/>
                </a:rPr>
                <a:t>Parallelism</a:t>
              </a:r>
              <a:r>
                <a:rPr lang="en-US" sz="2724">
                  <a:solidFill>
                    <a:srgbClr val="000000"/>
                  </a:solidFill>
                  <a:latin typeface="Garet"/>
                  <a:ea typeface="Garet"/>
                  <a:cs typeface="Garet"/>
                  <a:sym typeface="Garet"/>
                </a:rPr>
                <a:t> (Song song): Thực hiện nhiều việc chính xác cùng một lúc (yêu cầu phần cứng đa nhân).</a:t>
              </a:r>
            </a:p>
            <a:p>
              <a:pPr algn="just" marL="588138" indent="-294069" lvl="1">
                <a:lnSpc>
                  <a:spcPts val="5312"/>
                </a:lnSpc>
                <a:buFont typeface="Arial"/>
                <a:buChar char="•"/>
              </a:pPr>
              <a:r>
                <a:rPr lang="en-US" sz="2724">
                  <a:solidFill>
                    <a:srgbClr val="111B88"/>
                  </a:solidFill>
                  <a:latin typeface="Garet"/>
                  <a:ea typeface="Garet"/>
                  <a:cs typeface="Garet"/>
                  <a:sym typeface="Garet"/>
                </a:rPr>
                <a:t>Tại sao quan trọng?</a:t>
              </a:r>
              <a:r>
                <a:rPr lang="en-US" sz="2724">
                  <a:solidFill>
                    <a:srgbClr val="000000"/>
                  </a:solidFill>
                  <a:latin typeface="Garet"/>
                  <a:ea typeface="Garet"/>
                  <a:cs typeface="Garet"/>
                  <a:sym typeface="Garet"/>
                </a:rPr>
                <a:t> Giúp ứng dụng phản hồi nhanh hơn và tận dụng tối đa tài nguyên CPU.</a:t>
              </a:r>
            </a:p>
          </p:txBody>
        </p:sp>
      </p:grpSp>
      <p:grpSp>
        <p:nvGrpSpPr>
          <p:cNvPr name="Group 13" id="13"/>
          <p:cNvGrpSpPr/>
          <p:nvPr/>
        </p:nvGrpSpPr>
        <p:grpSpPr>
          <a:xfrm rot="0">
            <a:off x="782825" y="2032419"/>
            <a:ext cx="8183972" cy="1223101"/>
            <a:chOff x="0" y="0"/>
            <a:chExt cx="10911962" cy="1630801"/>
          </a:xfrm>
        </p:grpSpPr>
        <p:grpSp>
          <p:nvGrpSpPr>
            <p:cNvPr name="Group 14" id="14"/>
            <p:cNvGrpSpPr/>
            <p:nvPr/>
          </p:nvGrpSpPr>
          <p:grpSpPr>
            <a:xfrm rot="0">
              <a:off x="0" y="0"/>
              <a:ext cx="976449" cy="976449"/>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1B88"/>
              </a:solidFill>
              <a:ln cap="sq">
                <a:noFill/>
                <a:prstDash val="solid"/>
                <a:miter/>
              </a:ln>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2939"/>
                  </a:lnSpc>
                </a:pPr>
                <a:r>
                  <a:rPr lang="en-US" b="true" sz="2099">
                    <a:solidFill>
                      <a:srgbClr val="FFFFFF"/>
                    </a:solidFill>
                    <a:latin typeface="Garet Bold"/>
                    <a:ea typeface="Garet Bold"/>
                    <a:cs typeface="Garet Bold"/>
                    <a:sym typeface="Garet Bold"/>
                  </a:rPr>
                  <a:t>1</a:t>
                </a:r>
              </a:p>
            </p:txBody>
          </p:sp>
        </p:grpSp>
        <p:sp>
          <p:nvSpPr>
            <p:cNvPr name="TextBox 17" id="17"/>
            <p:cNvSpPr txBox="true"/>
            <p:nvPr/>
          </p:nvSpPr>
          <p:spPr>
            <a:xfrm rot="0">
              <a:off x="1331077" y="79073"/>
              <a:ext cx="9580885" cy="1551728"/>
            </a:xfrm>
            <a:prstGeom prst="rect">
              <a:avLst/>
            </a:prstGeom>
          </p:spPr>
          <p:txBody>
            <a:bodyPr anchor="t" rtlCol="false" tIns="0" lIns="0" bIns="0" rIns="0">
              <a:spAutoFit/>
            </a:bodyPr>
            <a:lstStyle/>
            <a:p>
              <a:pPr algn="l">
                <a:lnSpc>
                  <a:spcPts val="4759"/>
                </a:lnSpc>
              </a:pPr>
              <a:r>
                <a:rPr lang="en-US" sz="3399" b="true">
                  <a:solidFill>
                    <a:srgbClr val="000000"/>
                  </a:solidFill>
                  <a:latin typeface="Garet Bold"/>
                  <a:ea typeface="Garet Bold"/>
                  <a:cs typeface="Garet Bold"/>
                  <a:sym typeface="Garet Bold"/>
                </a:rPr>
                <a:t> Đa luồng (Concurrency) là gì?</a:t>
              </a:r>
            </a:p>
            <a:p>
              <a:pPr algn="l">
                <a:lnSpc>
                  <a:spcPts val="4759"/>
                </a:lnSpc>
              </a:pPr>
            </a:p>
          </p:txBody>
        </p:sp>
      </p:grpSp>
      <p:grpSp>
        <p:nvGrpSpPr>
          <p:cNvPr name="Group 18" id="18"/>
          <p:cNvGrpSpPr/>
          <p:nvPr/>
        </p:nvGrpSpPr>
        <p:grpSpPr>
          <a:xfrm rot="0">
            <a:off x="769898" y="178769"/>
            <a:ext cx="16748203" cy="1231093"/>
            <a:chOff x="0" y="0"/>
            <a:chExt cx="22330938" cy="1641457"/>
          </a:xfrm>
        </p:grpSpPr>
        <p:grpSp>
          <p:nvGrpSpPr>
            <p:cNvPr name="Group 19" id="19"/>
            <p:cNvGrpSpPr/>
            <p:nvPr/>
          </p:nvGrpSpPr>
          <p:grpSpPr>
            <a:xfrm rot="0">
              <a:off x="0" y="0"/>
              <a:ext cx="3390257" cy="1641457"/>
              <a:chOff x="0" y="0"/>
              <a:chExt cx="729373" cy="353140"/>
            </a:xfrm>
          </p:grpSpPr>
          <p:sp>
            <p:nvSpPr>
              <p:cNvPr name="Freeform 20" id="20"/>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111B88"/>
              </a:solidFill>
            </p:spPr>
          </p:sp>
          <p:sp>
            <p:nvSpPr>
              <p:cNvPr name="TextBox 21" id="21"/>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22" id="22"/>
            <p:cNvSpPr txBox="true"/>
            <p:nvPr/>
          </p:nvSpPr>
          <p:spPr>
            <a:xfrm rot="0">
              <a:off x="69855" y="311805"/>
              <a:ext cx="3250547" cy="979748"/>
            </a:xfrm>
            <a:prstGeom prst="rect">
              <a:avLst/>
            </a:prstGeom>
          </p:spPr>
          <p:txBody>
            <a:bodyPr anchor="t" rtlCol="false" tIns="0" lIns="0" bIns="0" rIns="0">
              <a:spAutoFit/>
            </a:bodyPr>
            <a:lstStyle/>
            <a:p>
              <a:pPr algn="ctr">
                <a:lnSpc>
                  <a:spcPts val="3073"/>
                </a:lnSpc>
              </a:pPr>
              <a:r>
                <a:rPr lang="en-US" sz="2195">
                  <a:solidFill>
                    <a:srgbClr val="FFFFFF"/>
                  </a:solidFill>
                  <a:latin typeface="Garet"/>
                  <a:ea typeface="Garet"/>
                  <a:cs typeface="Garet"/>
                  <a:sym typeface="Garet"/>
                </a:rPr>
                <a:t>Giới thiệu &amp;</a:t>
              </a:r>
            </a:p>
            <a:p>
              <a:pPr algn="ctr">
                <a:lnSpc>
                  <a:spcPts val="3073"/>
                </a:lnSpc>
              </a:pPr>
              <a:r>
                <a:rPr lang="en-US" sz="2195">
                  <a:solidFill>
                    <a:srgbClr val="FFFFFF"/>
                  </a:solidFill>
                  <a:latin typeface="Garet"/>
                  <a:ea typeface="Garet"/>
                  <a:cs typeface="Garet"/>
                  <a:sym typeface="Garet"/>
                </a:rPr>
                <a:t> đặt vấn đề</a:t>
              </a:r>
            </a:p>
          </p:txBody>
        </p:sp>
        <p:grpSp>
          <p:nvGrpSpPr>
            <p:cNvPr name="Group 23" id="23"/>
            <p:cNvGrpSpPr/>
            <p:nvPr/>
          </p:nvGrpSpPr>
          <p:grpSpPr>
            <a:xfrm rot="0">
              <a:off x="3703251" y="0"/>
              <a:ext cx="3390257" cy="1641457"/>
              <a:chOff x="0" y="0"/>
              <a:chExt cx="729373" cy="353140"/>
            </a:xfrm>
          </p:grpSpPr>
          <p:sp>
            <p:nvSpPr>
              <p:cNvPr name="Freeform 24" id="24"/>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25" id="25"/>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26" id="26"/>
            <p:cNvSpPr txBox="true"/>
            <p:nvPr/>
          </p:nvSpPr>
          <p:spPr>
            <a:xfrm rot="0">
              <a:off x="3754062" y="141009"/>
              <a:ext cx="3250547" cy="1487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Tạo &amp; quản lý Threads trong Kotlin</a:t>
              </a:r>
            </a:p>
          </p:txBody>
        </p:sp>
        <p:grpSp>
          <p:nvGrpSpPr>
            <p:cNvPr name="Group 27" id="27"/>
            <p:cNvGrpSpPr/>
            <p:nvPr/>
          </p:nvGrpSpPr>
          <p:grpSpPr>
            <a:xfrm rot="0">
              <a:off x="7525308" y="0"/>
              <a:ext cx="3390257" cy="1641457"/>
              <a:chOff x="0" y="0"/>
              <a:chExt cx="729373" cy="353140"/>
            </a:xfrm>
          </p:grpSpPr>
          <p:sp>
            <p:nvSpPr>
              <p:cNvPr name="Freeform 28" id="28"/>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29" id="29"/>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0" id="30"/>
            <p:cNvSpPr txBox="true"/>
            <p:nvPr/>
          </p:nvSpPr>
          <p:spPr>
            <a:xfrm rot="0">
              <a:off x="7595164"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Dữ liệu chia sẻ và đồng bộ hóa</a:t>
              </a:r>
            </a:p>
          </p:txBody>
        </p:sp>
        <p:grpSp>
          <p:nvGrpSpPr>
            <p:cNvPr name="Group 31" id="31"/>
            <p:cNvGrpSpPr/>
            <p:nvPr/>
          </p:nvGrpSpPr>
          <p:grpSpPr>
            <a:xfrm rot="0">
              <a:off x="11347366" y="0"/>
              <a:ext cx="3390257" cy="1641457"/>
              <a:chOff x="0" y="0"/>
              <a:chExt cx="729373" cy="353140"/>
            </a:xfrm>
          </p:grpSpPr>
          <p:sp>
            <p:nvSpPr>
              <p:cNvPr name="Freeform 32" id="32"/>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33" id="33"/>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4" id="34"/>
            <p:cNvSpPr txBox="true"/>
            <p:nvPr/>
          </p:nvSpPr>
          <p:spPr>
            <a:xfrm rot="0">
              <a:off x="11417221"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Giao tiếp giữa các threads</a:t>
              </a:r>
            </a:p>
          </p:txBody>
        </p:sp>
        <p:grpSp>
          <p:nvGrpSpPr>
            <p:cNvPr name="Group 35" id="35"/>
            <p:cNvGrpSpPr/>
            <p:nvPr/>
          </p:nvGrpSpPr>
          <p:grpSpPr>
            <a:xfrm rot="0">
              <a:off x="15144023" y="0"/>
              <a:ext cx="3390257" cy="1641457"/>
              <a:chOff x="0" y="0"/>
              <a:chExt cx="729373" cy="353140"/>
            </a:xfrm>
          </p:grpSpPr>
          <p:sp>
            <p:nvSpPr>
              <p:cNvPr name="Freeform 36" id="36"/>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37" id="37"/>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8" id="38"/>
            <p:cNvSpPr txBox="true"/>
            <p:nvPr/>
          </p:nvSpPr>
          <p:spPr>
            <a:xfrm rot="0">
              <a:off x="15213879"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Các khái niệm nâng cao</a:t>
              </a:r>
            </a:p>
          </p:txBody>
        </p:sp>
        <p:grpSp>
          <p:nvGrpSpPr>
            <p:cNvPr name="Group 39" id="39"/>
            <p:cNvGrpSpPr/>
            <p:nvPr/>
          </p:nvGrpSpPr>
          <p:grpSpPr>
            <a:xfrm rot="0">
              <a:off x="18940681" y="0"/>
              <a:ext cx="3390257" cy="1641457"/>
              <a:chOff x="0" y="0"/>
              <a:chExt cx="729373" cy="353140"/>
            </a:xfrm>
          </p:grpSpPr>
          <p:sp>
            <p:nvSpPr>
              <p:cNvPr name="Freeform 40" id="40"/>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41" id="41"/>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42" id="42"/>
            <p:cNvSpPr txBox="true"/>
            <p:nvPr/>
          </p:nvSpPr>
          <p:spPr>
            <a:xfrm rot="0">
              <a:off x="19010536"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Kết luận và định hướng tương lai</a:t>
              </a:r>
            </a:p>
          </p:txBody>
        </p:sp>
      </p:grpSp>
      <p:sp>
        <p:nvSpPr>
          <p:cNvPr name="Freeform 43" id="43"/>
          <p:cNvSpPr/>
          <p:nvPr/>
        </p:nvSpPr>
        <p:spPr>
          <a:xfrm flipH="false" flipV="false" rot="0">
            <a:off x="12307231" y="2181142"/>
            <a:ext cx="5172771" cy="7077158"/>
          </a:xfrm>
          <a:custGeom>
            <a:avLst/>
            <a:gdLst/>
            <a:ahLst/>
            <a:cxnLst/>
            <a:rect r="r" b="b" t="t" l="l"/>
            <a:pathLst>
              <a:path h="7077158" w="5172771">
                <a:moveTo>
                  <a:pt x="0" y="0"/>
                </a:moveTo>
                <a:lnTo>
                  <a:pt x="5172771" y="0"/>
                </a:lnTo>
                <a:lnTo>
                  <a:pt x="5172771" y="7077158"/>
                </a:lnTo>
                <a:lnTo>
                  <a:pt x="0" y="7077158"/>
                </a:lnTo>
                <a:lnTo>
                  <a:pt x="0" y="0"/>
                </a:lnTo>
                <a:close/>
              </a:path>
            </a:pathLst>
          </a:custGeom>
          <a:blipFill>
            <a:blip r:embed="rId2"/>
            <a:stretch>
              <a:fillRect l="0" t="0" r="0" b="-8955"/>
            </a:stretch>
          </a:blipFill>
        </p:spPr>
      </p:sp>
      <p:sp>
        <p:nvSpPr>
          <p:cNvPr name="TextBox 44" id="44"/>
          <p:cNvSpPr txBox="true"/>
          <p:nvPr/>
        </p:nvSpPr>
        <p:spPr>
          <a:xfrm rot="0">
            <a:off x="17693752" y="9558437"/>
            <a:ext cx="345270" cy="460390"/>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1</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5740861" y="6749958"/>
            <a:ext cx="4596322" cy="459632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0" cap="sq">
              <a:solidFill>
                <a:srgbClr val="F6F6F6"/>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5324660" y="9048119"/>
            <a:ext cx="596043" cy="59604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FFFFFF"/>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8" id="8"/>
          <p:cNvSpPr txBox="true"/>
          <p:nvPr/>
        </p:nvSpPr>
        <p:spPr>
          <a:xfrm rot="0">
            <a:off x="17798527" y="9587012"/>
            <a:ext cx="345270"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2</a:t>
            </a:r>
          </a:p>
        </p:txBody>
      </p:sp>
      <p:sp>
        <p:nvSpPr>
          <p:cNvPr name="TextBox 9" id="9"/>
          <p:cNvSpPr txBox="true"/>
          <p:nvPr/>
        </p:nvSpPr>
        <p:spPr>
          <a:xfrm rot="0">
            <a:off x="13457524" y="9220200"/>
            <a:ext cx="3127415" cy="323215"/>
          </a:xfrm>
          <a:prstGeom prst="rect">
            <a:avLst/>
          </a:prstGeom>
        </p:spPr>
        <p:txBody>
          <a:bodyPr anchor="t" rtlCol="false" tIns="0" lIns="0" bIns="0" rIns="0">
            <a:spAutoFit/>
          </a:bodyPr>
          <a:lstStyle/>
          <a:p>
            <a:pPr algn="ctr">
              <a:lnSpc>
                <a:spcPts val="2659"/>
              </a:lnSpc>
              <a:spcBef>
                <a:spcPct val="0"/>
              </a:spcBef>
            </a:pPr>
            <a:r>
              <a:rPr lang="en-US" sz="1899">
                <a:solidFill>
                  <a:srgbClr val="000000"/>
                </a:solidFill>
                <a:latin typeface="Inter"/>
                <a:ea typeface="Inter"/>
                <a:cs typeface="Inter"/>
                <a:sym typeface="Inter"/>
              </a:rPr>
              <a:t>Hình 1: Khái niệm về Sketch</a:t>
            </a:r>
          </a:p>
        </p:txBody>
      </p:sp>
      <p:grpSp>
        <p:nvGrpSpPr>
          <p:cNvPr name="Group 10" id="10"/>
          <p:cNvGrpSpPr/>
          <p:nvPr/>
        </p:nvGrpSpPr>
        <p:grpSpPr>
          <a:xfrm rot="0">
            <a:off x="581802" y="3294226"/>
            <a:ext cx="17111950" cy="6854313"/>
            <a:chOff x="0" y="0"/>
            <a:chExt cx="22815933" cy="9139084"/>
          </a:xfrm>
        </p:grpSpPr>
        <p:grpSp>
          <p:nvGrpSpPr>
            <p:cNvPr name="Group 11" id="11"/>
            <p:cNvGrpSpPr/>
            <p:nvPr/>
          </p:nvGrpSpPr>
          <p:grpSpPr>
            <a:xfrm rot="0">
              <a:off x="0" y="0"/>
              <a:ext cx="22815933" cy="9139084"/>
              <a:chOff x="0" y="0"/>
              <a:chExt cx="31302587" cy="12538474"/>
            </a:xfrm>
          </p:grpSpPr>
          <p:sp>
            <p:nvSpPr>
              <p:cNvPr name="Freeform 12" id="12"/>
              <p:cNvSpPr/>
              <p:nvPr/>
            </p:nvSpPr>
            <p:spPr>
              <a:xfrm flipH="false" flipV="false" rot="0">
                <a:off x="0" y="0"/>
                <a:ext cx="31302589" cy="12538474"/>
              </a:xfrm>
              <a:custGeom>
                <a:avLst/>
                <a:gdLst/>
                <a:ahLst/>
                <a:cxnLst/>
                <a:rect r="r" b="b" t="t" l="l"/>
                <a:pathLst>
                  <a:path h="12538474" w="31302589">
                    <a:moveTo>
                      <a:pt x="23074" y="0"/>
                    </a:moveTo>
                    <a:lnTo>
                      <a:pt x="31279514" y="0"/>
                    </a:lnTo>
                    <a:cubicBezTo>
                      <a:pt x="31285635" y="0"/>
                      <a:pt x="31291504" y="2431"/>
                      <a:pt x="31295829" y="6758"/>
                    </a:cubicBezTo>
                    <a:cubicBezTo>
                      <a:pt x="31300158" y="11085"/>
                      <a:pt x="31302589" y="16954"/>
                      <a:pt x="31302589" y="23074"/>
                    </a:cubicBezTo>
                    <a:lnTo>
                      <a:pt x="31302589" y="12515400"/>
                    </a:lnTo>
                    <a:cubicBezTo>
                      <a:pt x="31302589" y="12521520"/>
                      <a:pt x="31300158" y="12527389"/>
                      <a:pt x="31295829" y="12531716"/>
                    </a:cubicBezTo>
                    <a:cubicBezTo>
                      <a:pt x="31291504" y="12536043"/>
                      <a:pt x="31285635" y="12538474"/>
                      <a:pt x="31279514" y="12538474"/>
                    </a:cubicBezTo>
                    <a:lnTo>
                      <a:pt x="23074" y="12538474"/>
                    </a:lnTo>
                    <a:cubicBezTo>
                      <a:pt x="16954" y="12538474"/>
                      <a:pt x="11085" y="12536043"/>
                      <a:pt x="6758" y="12531716"/>
                    </a:cubicBezTo>
                    <a:cubicBezTo>
                      <a:pt x="2431" y="12527389"/>
                      <a:pt x="0" y="12521520"/>
                      <a:pt x="0" y="12515400"/>
                    </a:cubicBezTo>
                    <a:lnTo>
                      <a:pt x="0" y="23074"/>
                    </a:lnTo>
                    <a:cubicBezTo>
                      <a:pt x="0" y="16954"/>
                      <a:pt x="2431" y="11085"/>
                      <a:pt x="6758" y="6758"/>
                    </a:cubicBezTo>
                    <a:cubicBezTo>
                      <a:pt x="11085" y="2431"/>
                      <a:pt x="16954" y="0"/>
                      <a:pt x="23074" y="0"/>
                    </a:cubicBezTo>
                    <a:close/>
                  </a:path>
                </a:pathLst>
              </a:custGeom>
              <a:solidFill>
                <a:srgbClr val="E8ECEC"/>
              </a:solidFill>
            </p:spPr>
          </p:sp>
          <p:sp>
            <p:nvSpPr>
              <p:cNvPr name="TextBox 13" id="13"/>
              <p:cNvSpPr txBox="true"/>
              <p:nvPr/>
            </p:nvSpPr>
            <p:spPr>
              <a:xfrm>
                <a:off x="0" y="-57150"/>
                <a:ext cx="31302587" cy="12595624"/>
              </a:xfrm>
              <a:prstGeom prst="rect">
                <a:avLst/>
              </a:prstGeom>
            </p:spPr>
            <p:txBody>
              <a:bodyPr anchor="ctr" rtlCol="false" tIns="7314" lIns="7314" bIns="7314" rIns="7314"/>
              <a:lstStyle/>
              <a:p>
                <a:pPr algn="ctr">
                  <a:lnSpc>
                    <a:spcPts val="4199"/>
                  </a:lnSpc>
                </a:pPr>
              </a:p>
            </p:txBody>
          </p:sp>
        </p:grpSp>
        <p:sp>
          <p:nvSpPr>
            <p:cNvPr name="TextBox 14" id="14"/>
            <p:cNvSpPr txBox="true"/>
            <p:nvPr/>
          </p:nvSpPr>
          <p:spPr>
            <a:xfrm rot="0">
              <a:off x="52483" y="30824"/>
              <a:ext cx="22228366" cy="8734537"/>
            </a:xfrm>
            <a:prstGeom prst="rect">
              <a:avLst/>
            </a:prstGeom>
          </p:spPr>
          <p:txBody>
            <a:bodyPr anchor="t" rtlCol="false" tIns="0" lIns="0" bIns="0" rIns="0">
              <a:spAutoFit/>
            </a:bodyPr>
            <a:lstStyle/>
            <a:p>
              <a:pPr algn="just" marL="588138" indent="-294069" lvl="1">
                <a:lnSpc>
                  <a:spcPts val="5312"/>
                </a:lnSpc>
                <a:buFont typeface="Arial"/>
                <a:buChar char="•"/>
              </a:pPr>
              <a:r>
                <a:rPr lang="en-US" sz="2724">
                  <a:solidFill>
                    <a:srgbClr val="111B88"/>
                  </a:solidFill>
                  <a:latin typeface="Garet"/>
                  <a:ea typeface="Garet"/>
                  <a:cs typeface="Garet"/>
                  <a:sym typeface="Garet"/>
                </a:rPr>
                <a:t>Vấn đề của đơn luồng (Single-thread):</a:t>
              </a:r>
            </a:p>
            <a:p>
              <a:pPr algn="just" marL="1176275" indent="-392092" lvl="2">
                <a:lnSpc>
                  <a:spcPts val="5312"/>
                </a:lnSpc>
                <a:buFont typeface="Arial"/>
                <a:buChar char="⚬"/>
              </a:pPr>
              <a:r>
                <a:rPr lang="en-US" sz="2724">
                  <a:solidFill>
                    <a:srgbClr val="000000"/>
                  </a:solidFill>
                  <a:latin typeface="Garet"/>
                  <a:ea typeface="Garet"/>
                  <a:cs typeface="Garet"/>
                  <a:sym typeface="Garet"/>
                </a:rPr>
                <a:t>Nếu một tác vụ nặng (như tải file, xử lý ảnh) chạy trên luồng chính (Main Thread), giao diện người dùng (UI) sẽ bị đóng băng.</a:t>
              </a:r>
            </a:p>
            <a:p>
              <a:pPr algn="just" marL="1176275" indent="-392092" lvl="2">
                <a:lnSpc>
                  <a:spcPts val="5312"/>
                </a:lnSpc>
                <a:buFont typeface="Arial"/>
                <a:buChar char="⚬"/>
              </a:pPr>
              <a:r>
                <a:rPr lang="en-US" sz="2724">
                  <a:solidFill>
                    <a:srgbClr val="000000"/>
                  </a:solidFill>
                  <a:latin typeface="Garet"/>
                  <a:ea typeface="Garet"/>
                  <a:cs typeface="Garet"/>
                  <a:sym typeface="Garet"/>
                </a:rPr>
                <a:t>Nếu bạn chặn Main Thread quá 16ms -&gt; Lag (Jank).</a:t>
              </a:r>
            </a:p>
            <a:p>
              <a:pPr algn="just" marL="1176275" indent="-392092" lvl="2">
                <a:lnSpc>
                  <a:spcPts val="5312"/>
                </a:lnSpc>
                <a:buFont typeface="Arial"/>
                <a:buChar char="⚬"/>
              </a:pPr>
              <a:r>
                <a:rPr lang="en-US" sz="2724">
                  <a:solidFill>
                    <a:srgbClr val="000000"/>
                  </a:solidFill>
                  <a:latin typeface="Garet"/>
                  <a:ea typeface="Garet"/>
                  <a:cs typeface="Garet"/>
                  <a:sym typeface="Garet"/>
                </a:rPr>
                <a:t>Nếu chặn quá 5 giây -&gt; ANR (Application Not Responding).</a:t>
              </a:r>
            </a:p>
            <a:p>
              <a:pPr algn="just" marL="588138" indent="-294069" lvl="1">
                <a:lnSpc>
                  <a:spcPts val="5312"/>
                </a:lnSpc>
                <a:buFont typeface="Arial"/>
                <a:buChar char="•"/>
              </a:pPr>
              <a:r>
                <a:rPr lang="en-US" sz="2724">
                  <a:solidFill>
                    <a:srgbClr val="111B88"/>
                  </a:solidFill>
                  <a:latin typeface="Garet"/>
                  <a:ea typeface="Garet"/>
                  <a:cs typeface="Garet"/>
                  <a:sym typeface="Garet"/>
                </a:rPr>
                <a:t>Giải pháp với Thread:</a:t>
              </a:r>
            </a:p>
            <a:p>
              <a:pPr algn="just" marL="1176275" indent="-392092" lvl="2">
                <a:lnSpc>
                  <a:spcPts val="5312"/>
                </a:lnSpc>
                <a:buFont typeface="Arial"/>
                <a:buChar char="⚬"/>
              </a:pPr>
              <a:r>
                <a:rPr lang="en-US" sz="2724">
                  <a:solidFill>
                    <a:srgbClr val="000000"/>
                  </a:solidFill>
                  <a:latin typeface="Garet"/>
                  <a:ea typeface="Garet"/>
                  <a:cs typeface="Garet"/>
                  <a:sym typeface="Garet"/>
                </a:rPr>
                <a:t>Đẩy tác vụ nặng xuống luồng nền (Background Thread).</a:t>
              </a:r>
            </a:p>
            <a:p>
              <a:pPr algn="just" marL="1176275" indent="-392092" lvl="2">
                <a:lnSpc>
                  <a:spcPts val="5312"/>
                </a:lnSpc>
                <a:buFont typeface="Arial"/>
                <a:buChar char="⚬"/>
              </a:pPr>
              <a:r>
                <a:rPr lang="en-US" sz="2724">
                  <a:solidFill>
                    <a:srgbClr val="000000"/>
                  </a:solidFill>
                  <a:latin typeface="Garet"/>
                  <a:ea typeface="Garet"/>
                  <a:cs typeface="Garet"/>
                  <a:sym typeface="Garet"/>
                </a:rPr>
                <a:t>Giữ luồng chính rảnh rỗi để phản hồi người dùng.</a:t>
              </a:r>
            </a:p>
            <a:p>
              <a:pPr algn="just" marL="588138" indent="-294069" lvl="1">
                <a:lnSpc>
                  <a:spcPts val="5312"/>
                </a:lnSpc>
                <a:buFont typeface="Arial"/>
                <a:buChar char="•"/>
              </a:pPr>
              <a:r>
                <a:rPr lang="en-US" sz="2724">
                  <a:solidFill>
                    <a:srgbClr val="111B88"/>
                  </a:solidFill>
                  <a:latin typeface="Garet"/>
                  <a:ea typeface="Garet"/>
                  <a:cs typeface="Garet"/>
                  <a:sym typeface="Garet"/>
                </a:rPr>
                <a:t>Trong môi trường JVM: </a:t>
              </a:r>
              <a:r>
                <a:rPr lang="en-US" sz="2724">
                  <a:solidFill>
                    <a:srgbClr val="000000"/>
                  </a:solidFill>
                  <a:latin typeface="Garet"/>
                  <a:ea typeface="Garet"/>
                  <a:cs typeface="Garet"/>
                  <a:sym typeface="Garet"/>
                </a:rPr>
                <a:t>Mỗi Java/Kotlin Thread thường tương ứng trực tiếp với một Thread của hệ điều hành (OS Thread).</a:t>
              </a:r>
            </a:p>
          </p:txBody>
        </p:sp>
      </p:grpSp>
      <p:grpSp>
        <p:nvGrpSpPr>
          <p:cNvPr name="Group 15" id="15"/>
          <p:cNvGrpSpPr/>
          <p:nvPr/>
        </p:nvGrpSpPr>
        <p:grpSpPr>
          <a:xfrm rot="0">
            <a:off x="782825" y="2356269"/>
            <a:ext cx="8183972" cy="732337"/>
            <a:chOff x="0" y="0"/>
            <a:chExt cx="10911962" cy="976449"/>
          </a:xfrm>
        </p:grpSpPr>
        <p:grpSp>
          <p:nvGrpSpPr>
            <p:cNvPr name="Group 16" id="16"/>
            <p:cNvGrpSpPr/>
            <p:nvPr/>
          </p:nvGrpSpPr>
          <p:grpSpPr>
            <a:xfrm rot="0">
              <a:off x="0" y="0"/>
              <a:ext cx="976449" cy="976449"/>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1B88"/>
              </a:solidFill>
              <a:ln cap="sq">
                <a:noFill/>
                <a:prstDash val="solid"/>
                <a:miter/>
              </a:ln>
            </p:spPr>
          </p:sp>
          <p:sp>
            <p:nvSpPr>
              <p:cNvPr name="TextBox 18" id="18"/>
              <p:cNvSpPr txBox="true"/>
              <p:nvPr/>
            </p:nvSpPr>
            <p:spPr>
              <a:xfrm>
                <a:off x="76200" y="28575"/>
                <a:ext cx="660400" cy="708025"/>
              </a:xfrm>
              <a:prstGeom prst="rect">
                <a:avLst/>
              </a:prstGeom>
            </p:spPr>
            <p:txBody>
              <a:bodyPr anchor="ctr" rtlCol="false" tIns="50800" lIns="50800" bIns="50800" rIns="50800"/>
              <a:lstStyle/>
              <a:p>
                <a:pPr algn="ctr">
                  <a:lnSpc>
                    <a:spcPts val="2939"/>
                  </a:lnSpc>
                </a:pPr>
                <a:r>
                  <a:rPr lang="en-US" b="true" sz="2099">
                    <a:solidFill>
                      <a:srgbClr val="FFFFFF"/>
                    </a:solidFill>
                    <a:latin typeface="Garet Bold"/>
                    <a:ea typeface="Garet Bold"/>
                    <a:cs typeface="Garet Bold"/>
                    <a:sym typeface="Garet Bold"/>
                  </a:rPr>
                  <a:t>2</a:t>
                </a:r>
              </a:p>
            </p:txBody>
          </p:sp>
        </p:grpSp>
        <p:sp>
          <p:nvSpPr>
            <p:cNvPr name="TextBox 19" id="19"/>
            <p:cNvSpPr txBox="true"/>
            <p:nvPr/>
          </p:nvSpPr>
          <p:spPr>
            <a:xfrm rot="0">
              <a:off x="1331077" y="79073"/>
              <a:ext cx="9580885" cy="751628"/>
            </a:xfrm>
            <a:prstGeom prst="rect">
              <a:avLst/>
            </a:prstGeom>
          </p:spPr>
          <p:txBody>
            <a:bodyPr anchor="t" rtlCol="false" tIns="0" lIns="0" bIns="0" rIns="0">
              <a:spAutoFit/>
            </a:bodyPr>
            <a:lstStyle/>
            <a:p>
              <a:pPr algn="l">
                <a:lnSpc>
                  <a:spcPts val="4759"/>
                </a:lnSpc>
              </a:pPr>
              <a:r>
                <a:rPr lang="en-US" sz="3399" b="true">
                  <a:solidFill>
                    <a:srgbClr val="000000"/>
                  </a:solidFill>
                  <a:latin typeface="Garet Bold"/>
                  <a:ea typeface="Garet Bold"/>
                  <a:cs typeface="Garet Bold"/>
                  <a:sym typeface="Garet Bold"/>
                </a:rPr>
                <a:t>Tại sao chúng ta cần thread?</a:t>
              </a:r>
            </a:p>
          </p:txBody>
        </p:sp>
      </p:grpSp>
      <p:grpSp>
        <p:nvGrpSpPr>
          <p:cNvPr name="Group 20" id="20"/>
          <p:cNvGrpSpPr/>
          <p:nvPr/>
        </p:nvGrpSpPr>
        <p:grpSpPr>
          <a:xfrm rot="0">
            <a:off x="769898" y="178769"/>
            <a:ext cx="16748203" cy="1231093"/>
            <a:chOff x="0" y="0"/>
            <a:chExt cx="22330938" cy="1641457"/>
          </a:xfrm>
        </p:grpSpPr>
        <p:grpSp>
          <p:nvGrpSpPr>
            <p:cNvPr name="Group 21" id="21"/>
            <p:cNvGrpSpPr/>
            <p:nvPr/>
          </p:nvGrpSpPr>
          <p:grpSpPr>
            <a:xfrm rot="0">
              <a:off x="0" y="0"/>
              <a:ext cx="3390257" cy="1641457"/>
              <a:chOff x="0" y="0"/>
              <a:chExt cx="729373" cy="353140"/>
            </a:xfrm>
          </p:grpSpPr>
          <p:sp>
            <p:nvSpPr>
              <p:cNvPr name="Freeform 22" id="22"/>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111B88"/>
              </a:solidFill>
            </p:spPr>
          </p:sp>
          <p:sp>
            <p:nvSpPr>
              <p:cNvPr name="TextBox 23" id="23"/>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24" id="24"/>
            <p:cNvSpPr txBox="true"/>
            <p:nvPr/>
          </p:nvSpPr>
          <p:spPr>
            <a:xfrm rot="0">
              <a:off x="69855" y="311805"/>
              <a:ext cx="3250547" cy="979748"/>
            </a:xfrm>
            <a:prstGeom prst="rect">
              <a:avLst/>
            </a:prstGeom>
          </p:spPr>
          <p:txBody>
            <a:bodyPr anchor="t" rtlCol="false" tIns="0" lIns="0" bIns="0" rIns="0">
              <a:spAutoFit/>
            </a:bodyPr>
            <a:lstStyle/>
            <a:p>
              <a:pPr algn="ctr">
                <a:lnSpc>
                  <a:spcPts val="3073"/>
                </a:lnSpc>
              </a:pPr>
              <a:r>
                <a:rPr lang="en-US" sz="2195">
                  <a:solidFill>
                    <a:srgbClr val="FFFFFF"/>
                  </a:solidFill>
                  <a:latin typeface="Garet"/>
                  <a:ea typeface="Garet"/>
                  <a:cs typeface="Garet"/>
                  <a:sym typeface="Garet"/>
                </a:rPr>
                <a:t>Giới thiệu &amp;</a:t>
              </a:r>
            </a:p>
            <a:p>
              <a:pPr algn="ctr">
                <a:lnSpc>
                  <a:spcPts val="3073"/>
                </a:lnSpc>
              </a:pPr>
              <a:r>
                <a:rPr lang="en-US" sz="2195">
                  <a:solidFill>
                    <a:srgbClr val="FFFFFF"/>
                  </a:solidFill>
                  <a:latin typeface="Garet"/>
                  <a:ea typeface="Garet"/>
                  <a:cs typeface="Garet"/>
                  <a:sym typeface="Garet"/>
                </a:rPr>
                <a:t> đặt vấn đề</a:t>
              </a:r>
            </a:p>
          </p:txBody>
        </p:sp>
        <p:grpSp>
          <p:nvGrpSpPr>
            <p:cNvPr name="Group 25" id="25"/>
            <p:cNvGrpSpPr/>
            <p:nvPr/>
          </p:nvGrpSpPr>
          <p:grpSpPr>
            <a:xfrm rot="0">
              <a:off x="3703251" y="0"/>
              <a:ext cx="3390257" cy="1641457"/>
              <a:chOff x="0" y="0"/>
              <a:chExt cx="729373" cy="353140"/>
            </a:xfrm>
          </p:grpSpPr>
          <p:sp>
            <p:nvSpPr>
              <p:cNvPr name="Freeform 26" id="26"/>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27" id="27"/>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28" id="28"/>
            <p:cNvSpPr txBox="true"/>
            <p:nvPr/>
          </p:nvSpPr>
          <p:spPr>
            <a:xfrm rot="0">
              <a:off x="3754062" y="141009"/>
              <a:ext cx="3250547" cy="1487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Tạo &amp; quản lý Threads trong Kotlin</a:t>
              </a:r>
            </a:p>
          </p:txBody>
        </p:sp>
        <p:grpSp>
          <p:nvGrpSpPr>
            <p:cNvPr name="Group 29" id="29"/>
            <p:cNvGrpSpPr/>
            <p:nvPr/>
          </p:nvGrpSpPr>
          <p:grpSpPr>
            <a:xfrm rot="0">
              <a:off x="7525308" y="0"/>
              <a:ext cx="3390257" cy="1641457"/>
              <a:chOff x="0" y="0"/>
              <a:chExt cx="729373" cy="353140"/>
            </a:xfrm>
          </p:grpSpPr>
          <p:sp>
            <p:nvSpPr>
              <p:cNvPr name="Freeform 30" id="30"/>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31" id="31"/>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2" id="32"/>
            <p:cNvSpPr txBox="true"/>
            <p:nvPr/>
          </p:nvSpPr>
          <p:spPr>
            <a:xfrm rot="0">
              <a:off x="7595164"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Dữ liệu chia sẻ và đồng bộ hóa</a:t>
              </a:r>
            </a:p>
          </p:txBody>
        </p:sp>
        <p:grpSp>
          <p:nvGrpSpPr>
            <p:cNvPr name="Group 33" id="33"/>
            <p:cNvGrpSpPr/>
            <p:nvPr/>
          </p:nvGrpSpPr>
          <p:grpSpPr>
            <a:xfrm rot="0">
              <a:off x="11347366" y="0"/>
              <a:ext cx="3390257" cy="1641457"/>
              <a:chOff x="0" y="0"/>
              <a:chExt cx="729373" cy="353140"/>
            </a:xfrm>
          </p:grpSpPr>
          <p:sp>
            <p:nvSpPr>
              <p:cNvPr name="Freeform 34" id="34"/>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35" id="35"/>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6" id="36"/>
            <p:cNvSpPr txBox="true"/>
            <p:nvPr/>
          </p:nvSpPr>
          <p:spPr>
            <a:xfrm rot="0">
              <a:off x="11417221"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Giao tiếp giữa các threads</a:t>
              </a:r>
            </a:p>
          </p:txBody>
        </p:sp>
        <p:grpSp>
          <p:nvGrpSpPr>
            <p:cNvPr name="Group 37" id="37"/>
            <p:cNvGrpSpPr/>
            <p:nvPr/>
          </p:nvGrpSpPr>
          <p:grpSpPr>
            <a:xfrm rot="0">
              <a:off x="15144023" y="0"/>
              <a:ext cx="3390257" cy="1641457"/>
              <a:chOff x="0" y="0"/>
              <a:chExt cx="729373" cy="353140"/>
            </a:xfrm>
          </p:grpSpPr>
          <p:sp>
            <p:nvSpPr>
              <p:cNvPr name="Freeform 38" id="38"/>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39" id="39"/>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40" id="40"/>
            <p:cNvSpPr txBox="true"/>
            <p:nvPr/>
          </p:nvSpPr>
          <p:spPr>
            <a:xfrm rot="0">
              <a:off x="15213879"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Các khái niệm nâng cao</a:t>
              </a:r>
            </a:p>
          </p:txBody>
        </p:sp>
        <p:grpSp>
          <p:nvGrpSpPr>
            <p:cNvPr name="Group 41" id="41"/>
            <p:cNvGrpSpPr/>
            <p:nvPr/>
          </p:nvGrpSpPr>
          <p:grpSpPr>
            <a:xfrm rot="0">
              <a:off x="18940681" y="0"/>
              <a:ext cx="3390257" cy="1641457"/>
              <a:chOff x="0" y="0"/>
              <a:chExt cx="729373" cy="353140"/>
            </a:xfrm>
          </p:grpSpPr>
          <p:sp>
            <p:nvSpPr>
              <p:cNvPr name="Freeform 42" id="42"/>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43" id="43"/>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44" id="44"/>
            <p:cNvSpPr txBox="true"/>
            <p:nvPr/>
          </p:nvSpPr>
          <p:spPr>
            <a:xfrm rot="0">
              <a:off x="19010536"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Kết luận và định hướng tương lai</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740861" y="6749958"/>
            <a:ext cx="4596322" cy="459632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0" cap="sq">
              <a:solidFill>
                <a:srgbClr val="F6F6F6"/>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5324660" y="9048119"/>
            <a:ext cx="596043" cy="59604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FFFFFF"/>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563432" y="3579370"/>
            <a:ext cx="7411182" cy="3438807"/>
            <a:chOff x="0" y="0"/>
            <a:chExt cx="9881576" cy="4585076"/>
          </a:xfrm>
        </p:grpSpPr>
        <p:grpSp>
          <p:nvGrpSpPr>
            <p:cNvPr name="Group 9" id="9"/>
            <p:cNvGrpSpPr/>
            <p:nvPr/>
          </p:nvGrpSpPr>
          <p:grpSpPr>
            <a:xfrm rot="0">
              <a:off x="114300" y="0"/>
              <a:ext cx="9767276" cy="4086185"/>
              <a:chOff x="0" y="0"/>
              <a:chExt cx="13400328" cy="5606089"/>
            </a:xfrm>
          </p:grpSpPr>
          <p:sp>
            <p:nvSpPr>
              <p:cNvPr name="Freeform 10" id="10"/>
              <p:cNvSpPr/>
              <p:nvPr/>
            </p:nvSpPr>
            <p:spPr>
              <a:xfrm flipH="false" flipV="false" rot="0">
                <a:off x="0" y="0"/>
                <a:ext cx="13400328" cy="5606089"/>
              </a:xfrm>
              <a:custGeom>
                <a:avLst/>
                <a:gdLst/>
                <a:ahLst/>
                <a:cxnLst/>
                <a:rect r="r" b="b" t="t" l="l"/>
                <a:pathLst>
                  <a:path h="5606089" w="13400328">
                    <a:moveTo>
                      <a:pt x="53899" y="0"/>
                    </a:moveTo>
                    <a:lnTo>
                      <a:pt x="13346429" y="0"/>
                    </a:lnTo>
                    <a:cubicBezTo>
                      <a:pt x="13360724" y="0"/>
                      <a:pt x="13374433" y="5679"/>
                      <a:pt x="13384541" y="15787"/>
                    </a:cubicBezTo>
                    <a:cubicBezTo>
                      <a:pt x="13394649" y="25895"/>
                      <a:pt x="13400328" y="39604"/>
                      <a:pt x="13400328" y="53899"/>
                    </a:cubicBezTo>
                    <a:lnTo>
                      <a:pt x="13400328" y="5552189"/>
                    </a:lnTo>
                    <a:cubicBezTo>
                      <a:pt x="13400328" y="5566484"/>
                      <a:pt x="13394649" y="5580194"/>
                      <a:pt x="13384541" y="5590302"/>
                    </a:cubicBezTo>
                    <a:cubicBezTo>
                      <a:pt x="13374433" y="5600410"/>
                      <a:pt x="13360724" y="5606089"/>
                      <a:pt x="13346429" y="5606089"/>
                    </a:cubicBezTo>
                    <a:lnTo>
                      <a:pt x="53899" y="5606089"/>
                    </a:lnTo>
                    <a:cubicBezTo>
                      <a:pt x="39604" y="5606089"/>
                      <a:pt x="25895" y="5600410"/>
                      <a:pt x="15787" y="5590302"/>
                    </a:cubicBezTo>
                    <a:cubicBezTo>
                      <a:pt x="5679" y="5580194"/>
                      <a:pt x="0" y="5566484"/>
                      <a:pt x="0" y="5552189"/>
                    </a:cubicBezTo>
                    <a:lnTo>
                      <a:pt x="0" y="53899"/>
                    </a:lnTo>
                    <a:cubicBezTo>
                      <a:pt x="0" y="39604"/>
                      <a:pt x="5679" y="25895"/>
                      <a:pt x="15787" y="15787"/>
                    </a:cubicBezTo>
                    <a:cubicBezTo>
                      <a:pt x="25895" y="5679"/>
                      <a:pt x="39604" y="0"/>
                      <a:pt x="53899" y="0"/>
                    </a:cubicBezTo>
                    <a:close/>
                  </a:path>
                </a:pathLst>
              </a:custGeom>
              <a:solidFill>
                <a:srgbClr val="E8ECEC"/>
              </a:solidFill>
            </p:spPr>
          </p:sp>
          <p:sp>
            <p:nvSpPr>
              <p:cNvPr name="TextBox 11" id="11"/>
              <p:cNvSpPr txBox="true"/>
              <p:nvPr/>
            </p:nvSpPr>
            <p:spPr>
              <a:xfrm>
                <a:off x="0" y="-57150"/>
                <a:ext cx="13400328" cy="5663239"/>
              </a:xfrm>
              <a:prstGeom prst="rect">
                <a:avLst/>
              </a:prstGeom>
            </p:spPr>
            <p:txBody>
              <a:bodyPr anchor="ctr" rtlCol="false" tIns="7314" lIns="7314" bIns="7314" rIns="7314"/>
              <a:lstStyle/>
              <a:p>
                <a:pPr algn="ctr">
                  <a:lnSpc>
                    <a:spcPts val="4199"/>
                  </a:lnSpc>
                </a:pPr>
              </a:p>
            </p:txBody>
          </p:sp>
        </p:grpSp>
        <p:sp>
          <p:nvSpPr>
            <p:cNvPr name="TextBox 12" id="12"/>
            <p:cNvSpPr txBox="true"/>
            <p:nvPr/>
          </p:nvSpPr>
          <p:spPr>
            <a:xfrm rot="0">
              <a:off x="0" y="295540"/>
              <a:ext cx="9726991" cy="4289537"/>
            </a:xfrm>
            <a:prstGeom prst="rect">
              <a:avLst/>
            </a:prstGeom>
          </p:spPr>
          <p:txBody>
            <a:bodyPr anchor="t" rtlCol="false" tIns="0" lIns="0" bIns="0" rIns="0">
              <a:spAutoFit/>
            </a:bodyPr>
            <a:lstStyle/>
            <a:p>
              <a:pPr algn="just" marL="588138" indent="-294069" lvl="1">
                <a:lnSpc>
                  <a:spcPts val="5312"/>
                </a:lnSpc>
                <a:buFont typeface="Arial"/>
                <a:buChar char="•"/>
              </a:pPr>
              <a:r>
                <a:rPr lang="en-US" sz="2724">
                  <a:solidFill>
                    <a:srgbClr val="000000"/>
                  </a:solidFill>
                  <a:latin typeface="Garet"/>
                  <a:ea typeface="Garet"/>
                  <a:cs typeface="Garet"/>
                  <a:sym typeface="Garet"/>
                </a:rPr>
                <a:t>Sử d</a:t>
              </a:r>
              <a:r>
                <a:rPr lang="en-US" sz="2724">
                  <a:solidFill>
                    <a:srgbClr val="000000"/>
                  </a:solidFill>
                  <a:latin typeface="Garet"/>
                  <a:ea typeface="Garet"/>
                  <a:cs typeface="Garet"/>
                  <a:sym typeface="Garet"/>
                </a:rPr>
                <a:t>ụng class </a:t>
              </a:r>
              <a:r>
                <a:rPr lang="en-US" sz="2724">
                  <a:solidFill>
                    <a:srgbClr val="A31515"/>
                  </a:solidFill>
                  <a:latin typeface="Garet"/>
                  <a:ea typeface="Garet"/>
                  <a:cs typeface="Garet"/>
                  <a:sym typeface="Garet"/>
                </a:rPr>
                <a:t>Thread</a:t>
              </a:r>
              <a:r>
                <a:rPr lang="en-US" sz="2724">
                  <a:solidFill>
                    <a:srgbClr val="000000"/>
                  </a:solidFill>
                  <a:latin typeface="Garet"/>
                  <a:ea typeface="Garet"/>
                  <a:cs typeface="Garet"/>
                  <a:sym typeface="Garet"/>
                </a:rPr>
                <a:t> và interface </a:t>
              </a:r>
              <a:r>
                <a:rPr lang="en-US" sz="2724">
                  <a:solidFill>
                    <a:srgbClr val="A31515"/>
                  </a:solidFill>
                  <a:latin typeface="Garet"/>
                  <a:ea typeface="Garet"/>
                  <a:cs typeface="Garet"/>
                  <a:sym typeface="Garet"/>
                </a:rPr>
                <a:t>Runnable.</a:t>
              </a:r>
            </a:p>
            <a:p>
              <a:pPr algn="just" marL="588138" indent="-294069" lvl="1">
                <a:lnSpc>
                  <a:spcPts val="5312"/>
                </a:lnSpc>
                <a:buFont typeface="Arial"/>
                <a:buChar char="•"/>
              </a:pPr>
              <a:r>
                <a:rPr lang="en-US" sz="2724">
                  <a:solidFill>
                    <a:srgbClr val="000000"/>
                  </a:solidFill>
                  <a:latin typeface="Garet"/>
                  <a:ea typeface="Garet"/>
                  <a:cs typeface="Garet"/>
                  <a:sym typeface="Garet"/>
                </a:rPr>
                <a:t>Đây là cách cơ bản nhất nhưng mã nguồn hơi dài dòng.</a:t>
              </a:r>
            </a:p>
            <a:p>
              <a:pPr algn="just">
                <a:lnSpc>
                  <a:spcPts val="5312"/>
                </a:lnSpc>
              </a:pPr>
            </a:p>
          </p:txBody>
        </p:sp>
      </p:grpSp>
      <p:grpSp>
        <p:nvGrpSpPr>
          <p:cNvPr name="Group 13" id="13"/>
          <p:cNvGrpSpPr/>
          <p:nvPr/>
        </p:nvGrpSpPr>
        <p:grpSpPr>
          <a:xfrm rot="0">
            <a:off x="782825" y="2356269"/>
            <a:ext cx="11474879" cy="1223101"/>
            <a:chOff x="0" y="0"/>
            <a:chExt cx="15299839" cy="1630801"/>
          </a:xfrm>
        </p:grpSpPr>
        <p:grpSp>
          <p:nvGrpSpPr>
            <p:cNvPr name="Group 14" id="14"/>
            <p:cNvGrpSpPr/>
            <p:nvPr/>
          </p:nvGrpSpPr>
          <p:grpSpPr>
            <a:xfrm rot="0">
              <a:off x="0" y="0"/>
              <a:ext cx="976449" cy="976449"/>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1B88"/>
              </a:solidFill>
              <a:ln cap="sq">
                <a:noFill/>
                <a:prstDash val="solid"/>
                <a:miter/>
              </a:ln>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2939"/>
                  </a:lnSpc>
                </a:pPr>
                <a:r>
                  <a:rPr lang="en-US" b="true" sz="2099">
                    <a:solidFill>
                      <a:srgbClr val="FFFFFF"/>
                    </a:solidFill>
                    <a:latin typeface="Garet Bold"/>
                    <a:ea typeface="Garet Bold"/>
                    <a:cs typeface="Garet Bold"/>
                    <a:sym typeface="Garet Bold"/>
                  </a:rPr>
                  <a:t>1</a:t>
                </a:r>
              </a:p>
            </p:txBody>
          </p:sp>
        </p:grpSp>
        <p:sp>
          <p:nvSpPr>
            <p:cNvPr name="TextBox 17" id="17"/>
            <p:cNvSpPr txBox="true"/>
            <p:nvPr/>
          </p:nvSpPr>
          <p:spPr>
            <a:xfrm rot="0">
              <a:off x="1331077" y="79073"/>
              <a:ext cx="13968762" cy="1551728"/>
            </a:xfrm>
            <a:prstGeom prst="rect">
              <a:avLst/>
            </a:prstGeom>
          </p:spPr>
          <p:txBody>
            <a:bodyPr anchor="t" rtlCol="false" tIns="0" lIns="0" bIns="0" rIns="0">
              <a:spAutoFit/>
            </a:bodyPr>
            <a:lstStyle/>
            <a:p>
              <a:pPr algn="l">
                <a:lnSpc>
                  <a:spcPts val="4759"/>
                </a:lnSpc>
              </a:pPr>
              <a:r>
                <a:rPr lang="en-US" sz="3399" b="true">
                  <a:solidFill>
                    <a:srgbClr val="000000"/>
                  </a:solidFill>
                  <a:latin typeface="Garet Bold"/>
                  <a:ea typeface="Garet Bold"/>
                  <a:cs typeface="Garet Bold"/>
                  <a:sym typeface="Garet Bold"/>
                </a:rPr>
                <a:t> Cách tạo thread (Kiểu Java truyền thống)</a:t>
              </a:r>
            </a:p>
            <a:p>
              <a:pPr algn="l">
                <a:lnSpc>
                  <a:spcPts val="4759"/>
                </a:lnSpc>
              </a:pPr>
            </a:p>
          </p:txBody>
        </p:sp>
      </p:grpSp>
      <p:grpSp>
        <p:nvGrpSpPr>
          <p:cNvPr name="Group 18" id="18"/>
          <p:cNvGrpSpPr/>
          <p:nvPr/>
        </p:nvGrpSpPr>
        <p:grpSpPr>
          <a:xfrm rot="0">
            <a:off x="769898" y="178769"/>
            <a:ext cx="16748203" cy="1231093"/>
            <a:chOff x="0" y="0"/>
            <a:chExt cx="22330938" cy="1641457"/>
          </a:xfrm>
        </p:grpSpPr>
        <p:grpSp>
          <p:nvGrpSpPr>
            <p:cNvPr name="Group 19" id="19"/>
            <p:cNvGrpSpPr/>
            <p:nvPr/>
          </p:nvGrpSpPr>
          <p:grpSpPr>
            <a:xfrm rot="0">
              <a:off x="0" y="0"/>
              <a:ext cx="3390257" cy="1641457"/>
              <a:chOff x="0" y="0"/>
              <a:chExt cx="729373" cy="353140"/>
            </a:xfrm>
          </p:grpSpPr>
          <p:sp>
            <p:nvSpPr>
              <p:cNvPr name="Freeform 20" id="20"/>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21" id="21"/>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22" id="22"/>
            <p:cNvSpPr txBox="true"/>
            <p:nvPr/>
          </p:nvSpPr>
          <p:spPr>
            <a:xfrm rot="0">
              <a:off x="69855"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Giới thiệu &amp;</a:t>
              </a:r>
            </a:p>
            <a:p>
              <a:pPr algn="ctr">
                <a:lnSpc>
                  <a:spcPts val="3073"/>
                </a:lnSpc>
              </a:pPr>
              <a:r>
                <a:rPr lang="en-US" sz="2195">
                  <a:solidFill>
                    <a:srgbClr val="000000"/>
                  </a:solidFill>
                  <a:latin typeface="Garet"/>
                  <a:ea typeface="Garet"/>
                  <a:cs typeface="Garet"/>
                  <a:sym typeface="Garet"/>
                </a:rPr>
                <a:t> đặt vấn đề</a:t>
              </a:r>
            </a:p>
          </p:txBody>
        </p:sp>
        <p:grpSp>
          <p:nvGrpSpPr>
            <p:cNvPr name="Group 23" id="23"/>
            <p:cNvGrpSpPr/>
            <p:nvPr/>
          </p:nvGrpSpPr>
          <p:grpSpPr>
            <a:xfrm rot="0">
              <a:off x="3703251" y="0"/>
              <a:ext cx="3390257" cy="1641457"/>
              <a:chOff x="0" y="0"/>
              <a:chExt cx="729373" cy="353140"/>
            </a:xfrm>
          </p:grpSpPr>
          <p:sp>
            <p:nvSpPr>
              <p:cNvPr name="Freeform 24" id="24"/>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111B88"/>
              </a:solidFill>
            </p:spPr>
          </p:sp>
          <p:sp>
            <p:nvSpPr>
              <p:cNvPr name="TextBox 25" id="25"/>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26" id="26"/>
            <p:cNvSpPr txBox="true"/>
            <p:nvPr/>
          </p:nvSpPr>
          <p:spPr>
            <a:xfrm rot="0">
              <a:off x="3754062" y="141009"/>
              <a:ext cx="3250547" cy="1487748"/>
            </a:xfrm>
            <a:prstGeom prst="rect">
              <a:avLst/>
            </a:prstGeom>
          </p:spPr>
          <p:txBody>
            <a:bodyPr anchor="t" rtlCol="false" tIns="0" lIns="0" bIns="0" rIns="0">
              <a:spAutoFit/>
            </a:bodyPr>
            <a:lstStyle/>
            <a:p>
              <a:pPr algn="ctr">
                <a:lnSpc>
                  <a:spcPts val="3073"/>
                </a:lnSpc>
              </a:pPr>
              <a:r>
                <a:rPr lang="en-US" sz="2195">
                  <a:solidFill>
                    <a:srgbClr val="FFFFFF"/>
                  </a:solidFill>
                  <a:latin typeface="Garet"/>
                  <a:ea typeface="Garet"/>
                  <a:cs typeface="Garet"/>
                  <a:sym typeface="Garet"/>
                </a:rPr>
                <a:t>Tạo &amp; quản lý Threads trong Kotlin</a:t>
              </a:r>
            </a:p>
          </p:txBody>
        </p:sp>
        <p:grpSp>
          <p:nvGrpSpPr>
            <p:cNvPr name="Group 27" id="27"/>
            <p:cNvGrpSpPr/>
            <p:nvPr/>
          </p:nvGrpSpPr>
          <p:grpSpPr>
            <a:xfrm rot="0">
              <a:off x="7525308" y="0"/>
              <a:ext cx="3390257" cy="1641457"/>
              <a:chOff x="0" y="0"/>
              <a:chExt cx="729373" cy="353140"/>
            </a:xfrm>
          </p:grpSpPr>
          <p:sp>
            <p:nvSpPr>
              <p:cNvPr name="Freeform 28" id="28"/>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29" id="29"/>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0" id="30"/>
            <p:cNvSpPr txBox="true"/>
            <p:nvPr/>
          </p:nvSpPr>
          <p:spPr>
            <a:xfrm rot="0">
              <a:off x="7595164"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Dữ liệu chia sẻ và đồng bộ hóa</a:t>
              </a:r>
            </a:p>
          </p:txBody>
        </p:sp>
        <p:grpSp>
          <p:nvGrpSpPr>
            <p:cNvPr name="Group 31" id="31"/>
            <p:cNvGrpSpPr/>
            <p:nvPr/>
          </p:nvGrpSpPr>
          <p:grpSpPr>
            <a:xfrm rot="0">
              <a:off x="11347366" y="0"/>
              <a:ext cx="3390257" cy="1641457"/>
              <a:chOff x="0" y="0"/>
              <a:chExt cx="729373" cy="353140"/>
            </a:xfrm>
          </p:grpSpPr>
          <p:sp>
            <p:nvSpPr>
              <p:cNvPr name="Freeform 32" id="32"/>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33" id="33"/>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4" id="34"/>
            <p:cNvSpPr txBox="true"/>
            <p:nvPr/>
          </p:nvSpPr>
          <p:spPr>
            <a:xfrm rot="0">
              <a:off x="11417221"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Giao tiếp giữa các threads</a:t>
              </a:r>
            </a:p>
          </p:txBody>
        </p:sp>
        <p:grpSp>
          <p:nvGrpSpPr>
            <p:cNvPr name="Group 35" id="35"/>
            <p:cNvGrpSpPr/>
            <p:nvPr/>
          </p:nvGrpSpPr>
          <p:grpSpPr>
            <a:xfrm rot="0">
              <a:off x="15144023" y="0"/>
              <a:ext cx="3390257" cy="1641457"/>
              <a:chOff x="0" y="0"/>
              <a:chExt cx="729373" cy="353140"/>
            </a:xfrm>
          </p:grpSpPr>
          <p:sp>
            <p:nvSpPr>
              <p:cNvPr name="Freeform 36" id="36"/>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37" id="37"/>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8" id="38"/>
            <p:cNvSpPr txBox="true"/>
            <p:nvPr/>
          </p:nvSpPr>
          <p:spPr>
            <a:xfrm rot="0">
              <a:off x="15213879"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Các khái niệm nâng cao</a:t>
              </a:r>
            </a:p>
          </p:txBody>
        </p:sp>
        <p:grpSp>
          <p:nvGrpSpPr>
            <p:cNvPr name="Group 39" id="39"/>
            <p:cNvGrpSpPr/>
            <p:nvPr/>
          </p:nvGrpSpPr>
          <p:grpSpPr>
            <a:xfrm rot="0">
              <a:off x="18940681" y="0"/>
              <a:ext cx="3390257" cy="1641457"/>
              <a:chOff x="0" y="0"/>
              <a:chExt cx="729373" cy="353140"/>
            </a:xfrm>
          </p:grpSpPr>
          <p:sp>
            <p:nvSpPr>
              <p:cNvPr name="Freeform 40" id="40"/>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41" id="41"/>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42" id="42"/>
            <p:cNvSpPr txBox="true"/>
            <p:nvPr/>
          </p:nvSpPr>
          <p:spPr>
            <a:xfrm rot="0">
              <a:off x="19010536"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Kết luận và định hướng tương lai</a:t>
              </a:r>
            </a:p>
          </p:txBody>
        </p:sp>
      </p:grpSp>
      <p:sp>
        <p:nvSpPr>
          <p:cNvPr name="Freeform 43" id="43"/>
          <p:cNvSpPr/>
          <p:nvPr/>
        </p:nvSpPr>
        <p:spPr>
          <a:xfrm flipH="false" flipV="false" rot="0">
            <a:off x="8519923" y="3579370"/>
            <a:ext cx="9135729" cy="4529237"/>
          </a:xfrm>
          <a:custGeom>
            <a:avLst/>
            <a:gdLst/>
            <a:ahLst/>
            <a:cxnLst/>
            <a:rect r="r" b="b" t="t" l="l"/>
            <a:pathLst>
              <a:path h="4529237" w="9135729">
                <a:moveTo>
                  <a:pt x="0" y="0"/>
                </a:moveTo>
                <a:lnTo>
                  <a:pt x="9135729" y="0"/>
                </a:lnTo>
                <a:lnTo>
                  <a:pt x="9135729" y="4529237"/>
                </a:lnTo>
                <a:lnTo>
                  <a:pt x="0" y="4529237"/>
                </a:lnTo>
                <a:lnTo>
                  <a:pt x="0" y="0"/>
                </a:lnTo>
                <a:close/>
              </a:path>
            </a:pathLst>
          </a:custGeom>
          <a:blipFill>
            <a:blip r:embed="rId2"/>
            <a:stretch>
              <a:fillRect l="-10632" t="-19435" r="-49838" b="-18094"/>
            </a:stretch>
          </a:blipFill>
        </p:spPr>
      </p:sp>
      <p:sp>
        <p:nvSpPr>
          <p:cNvPr name="TextBox 44" id="44"/>
          <p:cNvSpPr txBox="true"/>
          <p:nvPr/>
        </p:nvSpPr>
        <p:spPr>
          <a:xfrm rot="0">
            <a:off x="17798527" y="9587012"/>
            <a:ext cx="345270"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3</a:t>
            </a:r>
          </a:p>
        </p:txBody>
      </p:sp>
      <p:sp>
        <p:nvSpPr>
          <p:cNvPr name="TextBox 45" id="45"/>
          <p:cNvSpPr txBox="true"/>
          <p:nvPr/>
        </p:nvSpPr>
        <p:spPr>
          <a:xfrm rot="0">
            <a:off x="11241128" y="8188057"/>
            <a:ext cx="3693319" cy="290195"/>
          </a:xfrm>
          <a:prstGeom prst="rect">
            <a:avLst/>
          </a:prstGeom>
        </p:spPr>
        <p:txBody>
          <a:bodyPr anchor="t" rtlCol="false" tIns="0" lIns="0" bIns="0" rIns="0">
            <a:spAutoFit/>
          </a:bodyPr>
          <a:lstStyle/>
          <a:p>
            <a:pPr algn="ctr">
              <a:lnSpc>
                <a:spcPts val="2380"/>
              </a:lnSpc>
              <a:spcBef>
                <a:spcPct val="0"/>
              </a:spcBef>
            </a:pPr>
            <a:r>
              <a:rPr lang="en-US" sz="1700" i="true">
                <a:solidFill>
                  <a:srgbClr val="000000"/>
                </a:solidFill>
                <a:latin typeface="Inter Italics"/>
                <a:ea typeface="Inter Italics"/>
                <a:cs typeface="Inter Italics"/>
                <a:sym typeface="Inter Italics"/>
              </a:rPr>
              <a:t>Ảnh 1: Tạo thread sử dụng Runnable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740861" y="6749958"/>
            <a:ext cx="4596322" cy="459632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0" cap="sq">
              <a:solidFill>
                <a:srgbClr val="F6F6F6"/>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5324660" y="9048119"/>
            <a:ext cx="596043" cy="59604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FFFFFF"/>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646073" y="3465939"/>
            <a:ext cx="7248403" cy="3355122"/>
            <a:chOff x="0" y="0"/>
            <a:chExt cx="9664537" cy="4473496"/>
          </a:xfrm>
        </p:grpSpPr>
        <p:grpSp>
          <p:nvGrpSpPr>
            <p:cNvPr name="Group 9" id="9"/>
            <p:cNvGrpSpPr/>
            <p:nvPr/>
          </p:nvGrpSpPr>
          <p:grpSpPr>
            <a:xfrm rot="0">
              <a:off x="50800" y="0"/>
              <a:ext cx="9613737" cy="3826162"/>
              <a:chOff x="0" y="0"/>
              <a:chExt cx="13189680" cy="5249348"/>
            </a:xfrm>
          </p:grpSpPr>
          <p:sp>
            <p:nvSpPr>
              <p:cNvPr name="Freeform 10" id="10"/>
              <p:cNvSpPr/>
              <p:nvPr/>
            </p:nvSpPr>
            <p:spPr>
              <a:xfrm flipH="false" flipV="false" rot="0">
                <a:off x="0" y="0"/>
                <a:ext cx="13189680" cy="5249348"/>
              </a:xfrm>
              <a:custGeom>
                <a:avLst/>
                <a:gdLst/>
                <a:ahLst/>
                <a:cxnLst/>
                <a:rect r="r" b="b" t="t" l="l"/>
                <a:pathLst>
                  <a:path h="5249348" w="13189680">
                    <a:moveTo>
                      <a:pt x="54760" y="0"/>
                    </a:moveTo>
                    <a:lnTo>
                      <a:pt x="13134921" y="0"/>
                    </a:lnTo>
                    <a:cubicBezTo>
                      <a:pt x="13149444" y="0"/>
                      <a:pt x="13163372" y="5769"/>
                      <a:pt x="13173641" y="16039"/>
                    </a:cubicBezTo>
                    <a:cubicBezTo>
                      <a:pt x="13183912" y="26308"/>
                      <a:pt x="13189680" y="40237"/>
                      <a:pt x="13189680" y="54760"/>
                    </a:cubicBezTo>
                    <a:lnTo>
                      <a:pt x="13189680" y="5194588"/>
                    </a:lnTo>
                    <a:cubicBezTo>
                      <a:pt x="13189680" y="5224831"/>
                      <a:pt x="13165164" y="5249348"/>
                      <a:pt x="13134921" y="5249348"/>
                    </a:cubicBezTo>
                    <a:lnTo>
                      <a:pt x="54760" y="5249348"/>
                    </a:lnTo>
                    <a:cubicBezTo>
                      <a:pt x="40237" y="5249348"/>
                      <a:pt x="26308" y="5243579"/>
                      <a:pt x="16039" y="5233309"/>
                    </a:cubicBezTo>
                    <a:cubicBezTo>
                      <a:pt x="5769" y="5223040"/>
                      <a:pt x="0" y="5209111"/>
                      <a:pt x="0" y="5194588"/>
                    </a:cubicBezTo>
                    <a:lnTo>
                      <a:pt x="0" y="54760"/>
                    </a:lnTo>
                    <a:cubicBezTo>
                      <a:pt x="0" y="40237"/>
                      <a:pt x="5769" y="26308"/>
                      <a:pt x="16039" y="16039"/>
                    </a:cubicBezTo>
                    <a:cubicBezTo>
                      <a:pt x="26308" y="5769"/>
                      <a:pt x="40237" y="0"/>
                      <a:pt x="54760" y="0"/>
                    </a:cubicBezTo>
                    <a:close/>
                  </a:path>
                </a:pathLst>
              </a:custGeom>
              <a:solidFill>
                <a:srgbClr val="E8ECEC"/>
              </a:solidFill>
            </p:spPr>
          </p:sp>
          <p:sp>
            <p:nvSpPr>
              <p:cNvPr name="TextBox 11" id="11"/>
              <p:cNvSpPr txBox="true"/>
              <p:nvPr/>
            </p:nvSpPr>
            <p:spPr>
              <a:xfrm>
                <a:off x="0" y="-57150"/>
                <a:ext cx="13189680" cy="5306498"/>
              </a:xfrm>
              <a:prstGeom prst="rect">
                <a:avLst/>
              </a:prstGeom>
            </p:spPr>
            <p:txBody>
              <a:bodyPr anchor="ctr" rtlCol="false" tIns="7314" lIns="7314" bIns="7314" rIns="7314"/>
              <a:lstStyle/>
              <a:p>
                <a:pPr algn="ctr">
                  <a:lnSpc>
                    <a:spcPts val="4199"/>
                  </a:lnSpc>
                </a:pPr>
              </a:p>
            </p:txBody>
          </p:sp>
        </p:grpSp>
        <p:sp>
          <p:nvSpPr>
            <p:cNvPr name="TextBox 12" id="12"/>
            <p:cNvSpPr txBox="true"/>
            <p:nvPr/>
          </p:nvSpPr>
          <p:spPr>
            <a:xfrm rot="0">
              <a:off x="0" y="183959"/>
              <a:ext cx="9469516" cy="4289537"/>
            </a:xfrm>
            <a:prstGeom prst="rect">
              <a:avLst/>
            </a:prstGeom>
          </p:spPr>
          <p:txBody>
            <a:bodyPr anchor="t" rtlCol="false" tIns="0" lIns="0" bIns="0" rIns="0">
              <a:spAutoFit/>
            </a:bodyPr>
            <a:lstStyle/>
            <a:p>
              <a:pPr algn="l" marL="588138" indent="-294069" lvl="1">
                <a:lnSpc>
                  <a:spcPts val="5312"/>
                </a:lnSpc>
                <a:buFont typeface="Arial"/>
                <a:buChar char="•"/>
              </a:pPr>
              <a:r>
                <a:rPr lang="en-US" sz="2724">
                  <a:solidFill>
                    <a:srgbClr val="000000"/>
                  </a:solidFill>
                  <a:latin typeface="Garet"/>
                  <a:ea typeface="Garet"/>
                  <a:cs typeface="Garet"/>
                  <a:sym typeface="Garet"/>
                </a:rPr>
                <a:t>Kotlin cu</a:t>
              </a:r>
              <a:r>
                <a:rPr lang="en-US" sz="2724">
                  <a:solidFill>
                    <a:srgbClr val="000000"/>
                  </a:solidFill>
                  <a:latin typeface="Garet"/>
                  <a:ea typeface="Garet"/>
                  <a:cs typeface="Garet"/>
                  <a:sym typeface="Garet"/>
                </a:rPr>
                <a:t>ng cấp hàm tiện ích </a:t>
              </a:r>
              <a:r>
                <a:rPr lang="en-US" sz="2724">
                  <a:solidFill>
                    <a:srgbClr val="A31515"/>
                  </a:solidFill>
                  <a:latin typeface="Garet"/>
                  <a:ea typeface="Garet"/>
                  <a:cs typeface="Garet"/>
                  <a:sym typeface="Garet"/>
                </a:rPr>
                <a:t>thread() </a:t>
              </a:r>
              <a:r>
                <a:rPr lang="en-US" sz="2724">
                  <a:solidFill>
                    <a:srgbClr val="000000"/>
                  </a:solidFill>
                  <a:latin typeface="Garet"/>
                  <a:ea typeface="Garet"/>
                  <a:cs typeface="Garet"/>
                  <a:sym typeface="Garet"/>
                </a:rPr>
                <a:t>trong gói kotlin.concurrent.</a:t>
              </a:r>
            </a:p>
            <a:p>
              <a:pPr algn="l" marL="588138" indent="-294069" lvl="1">
                <a:lnSpc>
                  <a:spcPts val="5312"/>
                </a:lnSpc>
                <a:buFont typeface="Arial"/>
                <a:buChar char="•"/>
              </a:pPr>
              <a:r>
                <a:rPr lang="en-US" sz="2724">
                  <a:solidFill>
                    <a:srgbClr val="000000"/>
                  </a:solidFill>
                  <a:latin typeface="Garet"/>
                  <a:ea typeface="Garet"/>
                  <a:cs typeface="Garet"/>
                  <a:sym typeface="Garet"/>
                </a:rPr>
                <a:t>Ngắn</a:t>
              </a:r>
              <a:r>
                <a:rPr lang="en-US" sz="2724">
                  <a:solidFill>
                    <a:srgbClr val="000000"/>
                  </a:solidFill>
                  <a:latin typeface="Garet"/>
                  <a:ea typeface="Garet"/>
                  <a:cs typeface="Garet"/>
                  <a:sym typeface="Garet"/>
                </a:rPr>
                <a:t> gọn hơn, tự động gọi </a:t>
              </a:r>
              <a:r>
                <a:rPr lang="en-US" sz="2724">
                  <a:solidFill>
                    <a:srgbClr val="A31515"/>
                  </a:solidFill>
                  <a:latin typeface="Garet"/>
                  <a:ea typeface="Garet"/>
                  <a:cs typeface="Garet"/>
                  <a:sym typeface="Garet"/>
                </a:rPr>
                <a:t>start()</a:t>
              </a:r>
              <a:r>
                <a:rPr lang="en-US" sz="2724">
                  <a:solidFill>
                    <a:srgbClr val="000000"/>
                  </a:solidFill>
                  <a:latin typeface="Garet"/>
                  <a:ea typeface="Garet"/>
                  <a:cs typeface="Garet"/>
                  <a:sym typeface="Garet"/>
                </a:rPr>
                <a:t> mặc định.</a:t>
              </a:r>
            </a:p>
            <a:p>
              <a:pPr algn="l">
                <a:lnSpc>
                  <a:spcPts val="5312"/>
                </a:lnSpc>
              </a:pPr>
            </a:p>
          </p:txBody>
        </p:sp>
      </p:grpSp>
      <p:grpSp>
        <p:nvGrpSpPr>
          <p:cNvPr name="Group 13" id="13"/>
          <p:cNvGrpSpPr/>
          <p:nvPr/>
        </p:nvGrpSpPr>
        <p:grpSpPr>
          <a:xfrm rot="0">
            <a:off x="782825" y="2356269"/>
            <a:ext cx="12791242" cy="1223101"/>
            <a:chOff x="0" y="0"/>
            <a:chExt cx="17054990" cy="1630801"/>
          </a:xfrm>
        </p:grpSpPr>
        <p:grpSp>
          <p:nvGrpSpPr>
            <p:cNvPr name="Group 14" id="14"/>
            <p:cNvGrpSpPr/>
            <p:nvPr/>
          </p:nvGrpSpPr>
          <p:grpSpPr>
            <a:xfrm rot="0">
              <a:off x="0" y="0"/>
              <a:ext cx="976449" cy="976449"/>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1B88"/>
              </a:solidFill>
              <a:ln cap="sq">
                <a:noFill/>
                <a:prstDash val="solid"/>
                <a:miter/>
              </a:ln>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2939"/>
                  </a:lnSpc>
                </a:pPr>
                <a:r>
                  <a:rPr lang="en-US" b="true" sz="2099">
                    <a:solidFill>
                      <a:srgbClr val="FFFFFF"/>
                    </a:solidFill>
                    <a:latin typeface="Garet Bold"/>
                    <a:ea typeface="Garet Bold"/>
                    <a:cs typeface="Garet Bold"/>
                    <a:sym typeface="Garet Bold"/>
                  </a:rPr>
                  <a:t>2</a:t>
                </a:r>
              </a:p>
            </p:txBody>
          </p:sp>
        </p:grpSp>
        <p:sp>
          <p:nvSpPr>
            <p:cNvPr name="TextBox 17" id="17"/>
            <p:cNvSpPr txBox="true"/>
            <p:nvPr/>
          </p:nvSpPr>
          <p:spPr>
            <a:xfrm rot="0">
              <a:off x="1331077" y="79073"/>
              <a:ext cx="15723913" cy="1551728"/>
            </a:xfrm>
            <a:prstGeom prst="rect">
              <a:avLst/>
            </a:prstGeom>
          </p:spPr>
          <p:txBody>
            <a:bodyPr anchor="t" rtlCol="false" tIns="0" lIns="0" bIns="0" rIns="0">
              <a:spAutoFit/>
            </a:bodyPr>
            <a:lstStyle/>
            <a:p>
              <a:pPr algn="l">
                <a:lnSpc>
                  <a:spcPts val="4759"/>
                </a:lnSpc>
              </a:pPr>
              <a:r>
                <a:rPr lang="en-US" sz="3399" b="true">
                  <a:solidFill>
                    <a:srgbClr val="000000"/>
                  </a:solidFill>
                  <a:latin typeface="Garet Bold"/>
                  <a:ea typeface="Garet Bold"/>
                  <a:cs typeface="Garet Bold"/>
                  <a:sym typeface="Garet Bold"/>
                </a:rPr>
                <a:t>Cách tạo thread (Kiểu Kotlin - Helper function)</a:t>
              </a:r>
            </a:p>
            <a:p>
              <a:pPr algn="l">
                <a:lnSpc>
                  <a:spcPts val="4759"/>
                </a:lnSpc>
              </a:pPr>
            </a:p>
          </p:txBody>
        </p:sp>
      </p:grpSp>
      <p:grpSp>
        <p:nvGrpSpPr>
          <p:cNvPr name="Group 18" id="18"/>
          <p:cNvGrpSpPr/>
          <p:nvPr/>
        </p:nvGrpSpPr>
        <p:grpSpPr>
          <a:xfrm rot="0">
            <a:off x="769898" y="178769"/>
            <a:ext cx="16748203" cy="1231093"/>
            <a:chOff x="0" y="0"/>
            <a:chExt cx="22330938" cy="1641457"/>
          </a:xfrm>
        </p:grpSpPr>
        <p:grpSp>
          <p:nvGrpSpPr>
            <p:cNvPr name="Group 19" id="19"/>
            <p:cNvGrpSpPr/>
            <p:nvPr/>
          </p:nvGrpSpPr>
          <p:grpSpPr>
            <a:xfrm rot="0">
              <a:off x="0" y="0"/>
              <a:ext cx="3390257" cy="1641457"/>
              <a:chOff x="0" y="0"/>
              <a:chExt cx="729373" cy="353140"/>
            </a:xfrm>
          </p:grpSpPr>
          <p:sp>
            <p:nvSpPr>
              <p:cNvPr name="Freeform 20" id="20"/>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21" id="21"/>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22" id="22"/>
            <p:cNvSpPr txBox="true"/>
            <p:nvPr/>
          </p:nvSpPr>
          <p:spPr>
            <a:xfrm rot="0">
              <a:off x="69855"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Giới thiệu &amp;</a:t>
              </a:r>
            </a:p>
            <a:p>
              <a:pPr algn="ctr">
                <a:lnSpc>
                  <a:spcPts val="3073"/>
                </a:lnSpc>
              </a:pPr>
              <a:r>
                <a:rPr lang="en-US" sz="2195">
                  <a:solidFill>
                    <a:srgbClr val="000000"/>
                  </a:solidFill>
                  <a:latin typeface="Garet"/>
                  <a:ea typeface="Garet"/>
                  <a:cs typeface="Garet"/>
                  <a:sym typeface="Garet"/>
                </a:rPr>
                <a:t> đặt vấn đề</a:t>
              </a:r>
            </a:p>
          </p:txBody>
        </p:sp>
        <p:grpSp>
          <p:nvGrpSpPr>
            <p:cNvPr name="Group 23" id="23"/>
            <p:cNvGrpSpPr/>
            <p:nvPr/>
          </p:nvGrpSpPr>
          <p:grpSpPr>
            <a:xfrm rot="0">
              <a:off x="3703251" y="0"/>
              <a:ext cx="3390257" cy="1641457"/>
              <a:chOff x="0" y="0"/>
              <a:chExt cx="729373" cy="353140"/>
            </a:xfrm>
          </p:grpSpPr>
          <p:sp>
            <p:nvSpPr>
              <p:cNvPr name="Freeform 24" id="24"/>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111B88"/>
              </a:solidFill>
            </p:spPr>
          </p:sp>
          <p:sp>
            <p:nvSpPr>
              <p:cNvPr name="TextBox 25" id="25"/>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26" id="26"/>
            <p:cNvSpPr txBox="true"/>
            <p:nvPr/>
          </p:nvSpPr>
          <p:spPr>
            <a:xfrm rot="0">
              <a:off x="3754062" y="141009"/>
              <a:ext cx="3250547" cy="1487748"/>
            </a:xfrm>
            <a:prstGeom prst="rect">
              <a:avLst/>
            </a:prstGeom>
          </p:spPr>
          <p:txBody>
            <a:bodyPr anchor="t" rtlCol="false" tIns="0" lIns="0" bIns="0" rIns="0">
              <a:spAutoFit/>
            </a:bodyPr>
            <a:lstStyle/>
            <a:p>
              <a:pPr algn="ctr">
                <a:lnSpc>
                  <a:spcPts val="3073"/>
                </a:lnSpc>
              </a:pPr>
              <a:r>
                <a:rPr lang="en-US" sz="2195">
                  <a:solidFill>
                    <a:srgbClr val="FFFFFF"/>
                  </a:solidFill>
                  <a:latin typeface="Garet"/>
                  <a:ea typeface="Garet"/>
                  <a:cs typeface="Garet"/>
                  <a:sym typeface="Garet"/>
                </a:rPr>
                <a:t>Tạo &amp; quản lý Threads trong Kotlin</a:t>
              </a:r>
            </a:p>
          </p:txBody>
        </p:sp>
        <p:grpSp>
          <p:nvGrpSpPr>
            <p:cNvPr name="Group 27" id="27"/>
            <p:cNvGrpSpPr/>
            <p:nvPr/>
          </p:nvGrpSpPr>
          <p:grpSpPr>
            <a:xfrm rot="0">
              <a:off x="7525308" y="0"/>
              <a:ext cx="3390257" cy="1641457"/>
              <a:chOff x="0" y="0"/>
              <a:chExt cx="729373" cy="353140"/>
            </a:xfrm>
          </p:grpSpPr>
          <p:sp>
            <p:nvSpPr>
              <p:cNvPr name="Freeform 28" id="28"/>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29" id="29"/>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0" id="30"/>
            <p:cNvSpPr txBox="true"/>
            <p:nvPr/>
          </p:nvSpPr>
          <p:spPr>
            <a:xfrm rot="0">
              <a:off x="7595164"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Dữ liệu chia sẻ và đồng bộ hóa</a:t>
              </a:r>
            </a:p>
          </p:txBody>
        </p:sp>
        <p:grpSp>
          <p:nvGrpSpPr>
            <p:cNvPr name="Group 31" id="31"/>
            <p:cNvGrpSpPr/>
            <p:nvPr/>
          </p:nvGrpSpPr>
          <p:grpSpPr>
            <a:xfrm rot="0">
              <a:off x="11347366" y="0"/>
              <a:ext cx="3390257" cy="1641457"/>
              <a:chOff x="0" y="0"/>
              <a:chExt cx="729373" cy="353140"/>
            </a:xfrm>
          </p:grpSpPr>
          <p:sp>
            <p:nvSpPr>
              <p:cNvPr name="Freeform 32" id="32"/>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33" id="33"/>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4" id="34"/>
            <p:cNvSpPr txBox="true"/>
            <p:nvPr/>
          </p:nvSpPr>
          <p:spPr>
            <a:xfrm rot="0">
              <a:off x="11417221"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Giao tiếp giữa các threads</a:t>
              </a:r>
            </a:p>
          </p:txBody>
        </p:sp>
        <p:grpSp>
          <p:nvGrpSpPr>
            <p:cNvPr name="Group 35" id="35"/>
            <p:cNvGrpSpPr/>
            <p:nvPr/>
          </p:nvGrpSpPr>
          <p:grpSpPr>
            <a:xfrm rot="0">
              <a:off x="15144023" y="0"/>
              <a:ext cx="3390257" cy="1641457"/>
              <a:chOff x="0" y="0"/>
              <a:chExt cx="729373" cy="353140"/>
            </a:xfrm>
          </p:grpSpPr>
          <p:sp>
            <p:nvSpPr>
              <p:cNvPr name="Freeform 36" id="36"/>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37" id="37"/>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8" id="38"/>
            <p:cNvSpPr txBox="true"/>
            <p:nvPr/>
          </p:nvSpPr>
          <p:spPr>
            <a:xfrm rot="0">
              <a:off x="15213879"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Các khái niệm nâng cao</a:t>
              </a:r>
            </a:p>
          </p:txBody>
        </p:sp>
        <p:grpSp>
          <p:nvGrpSpPr>
            <p:cNvPr name="Group 39" id="39"/>
            <p:cNvGrpSpPr/>
            <p:nvPr/>
          </p:nvGrpSpPr>
          <p:grpSpPr>
            <a:xfrm rot="0">
              <a:off x="18940681" y="0"/>
              <a:ext cx="3390257" cy="1641457"/>
              <a:chOff x="0" y="0"/>
              <a:chExt cx="729373" cy="353140"/>
            </a:xfrm>
          </p:grpSpPr>
          <p:sp>
            <p:nvSpPr>
              <p:cNvPr name="Freeform 40" id="40"/>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41" id="41"/>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42" id="42"/>
            <p:cNvSpPr txBox="true"/>
            <p:nvPr/>
          </p:nvSpPr>
          <p:spPr>
            <a:xfrm rot="0">
              <a:off x="19010536"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Kết luận và định hướng tương lai</a:t>
              </a:r>
            </a:p>
          </p:txBody>
        </p:sp>
      </p:grpSp>
      <p:sp>
        <p:nvSpPr>
          <p:cNvPr name="Freeform 43" id="43"/>
          <p:cNvSpPr/>
          <p:nvPr/>
        </p:nvSpPr>
        <p:spPr>
          <a:xfrm flipH="false" flipV="false" rot="0">
            <a:off x="8343438" y="3391734"/>
            <a:ext cx="9340789" cy="4268219"/>
          </a:xfrm>
          <a:custGeom>
            <a:avLst/>
            <a:gdLst/>
            <a:ahLst/>
            <a:cxnLst/>
            <a:rect r="r" b="b" t="t" l="l"/>
            <a:pathLst>
              <a:path h="4268219" w="9340789">
                <a:moveTo>
                  <a:pt x="0" y="0"/>
                </a:moveTo>
                <a:lnTo>
                  <a:pt x="9340789" y="0"/>
                </a:lnTo>
                <a:lnTo>
                  <a:pt x="9340789" y="4268219"/>
                </a:lnTo>
                <a:lnTo>
                  <a:pt x="0" y="4268219"/>
                </a:lnTo>
                <a:lnTo>
                  <a:pt x="0" y="0"/>
                </a:lnTo>
                <a:close/>
              </a:path>
            </a:pathLst>
          </a:custGeom>
          <a:blipFill>
            <a:blip r:embed="rId2"/>
            <a:stretch>
              <a:fillRect l="-9040" t="-21060" r="-52200" b="-22336"/>
            </a:stretch>
          </a:blipFill>
        </p:spPr>
      </p:sp>
      <p:sp>
        <p:nvSpPr>
          <p:cNvPr name="TextBox 44" id="44"/>
          <p:cNvSpPr txBox="true"/>
          <p:nvPr/>
        </p:nvSpPr>
        <p:spPr>
          <a:xfrm rot="0">
            <a:off x="17798527" y="9587012"/>
            <a:ext cx="345270"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4</a:t>
            </a:r>
          </a:p>
        </p:txBody>
      </p:sp>
      <p:sp>
        <p:nvSpPr>
          <p:cNvPr name="TextBox 45" id="45"/>
          <p:cNvSpPr txBox="true"/>
          <p:nvPr/>
        </p:nvSpPr>
        <p:spPr>
          <a:xfrm rot="0">
            <a:off x="10529742" y="7760067"/>
            <a:ext cx="4968180" cy="290195"/>
          </a:xfrm>
          <a:prstGeom prst="rect">
            <a:avLst/>
          </a:prstGeom>
        </p:spPr>
        <p:txBody>
          <a:bodyPr anchor="t" rtlCol="false" tIns="0" lIns="0" bIns="0" rIns="0">
            <a:spAutoFit/>
          </a:bodyPr>
          <a:lstStyle/>
          <a:p>
            <a:pPr algn="ctr">
              <a:lnSpc>
                <a:spcPts val="2380"/>
              </a:lnSpc>
              <a:spcBef>
                <a:spcPct val="0"/>
              </a:spcBef>
            </a:pPr>
            <a:r>
              <a:rPr lang="en-US" sz="1700" i="true">
                <a:solidFill>
                  <a:srgbClr val="000000"/>
                </a:solidFill>
                <a:latin typeface="Inter Italics"/>
                <a:ea typeface="Inter Italics"/>
                <a:cs typeface="Inter Italics"/>
                <a:sym typeface="Inter Italics"/>
              </a:rPr>
              <a:t>Ảnh 2: Tạo thread sử dụng hàm tiện ích thread() </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740861" y="6749958"/>
            <a:ext cx="4596322" cy="459632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0" cap="sq">
              <a:solidFill>
                <a:srgbClr val="F6F6F6"/>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5065858" y="8776430"/>
            <a:ext cx="596043" cy="59604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FFFFFF"/>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714524" y="2780432"/>
            <a:ext cx="7813814" cy="5627799"/>
            <a:chOff x="0" y="0"/>
            <a:chExt cx="10418418" cy="7503732"/>
          </a:xfrm>
        </p:grpSpPr>
        <p:grpSp>
          <p:nvGrpSpPr>
            <p:cNvPr name="Group 9" id="9"/>
            <p:cNvGrpSpPr/>
            <p:nvPr/>
          </p:nvGrpSpPr>
          <p:grpSpPr>
            <a:xfrm rot="0">
              <a:off x="0" y="0"/>
              <a:ext cx="10418418" cy="7503732"/>
              <a:chOff x="0" y="0"/>
              <a:chExt cx="14293671" cy="10294834"/>
            </a:xfrm>
          </p:grpSpPr>
          <p:sp>
            <p:nvSpPr>
              <p:cNvPr name="Freeform 10" id="10"/>
              <p:cNvSpPr/>
              <p:nvPr/>
            </p:nvSpPr>
            <p:spPr>
              <a:xfrm flipH="false" flipV="false" rot="0">
                <a:off x="0" y="0"/>
                <a:ext cx="14293672" cy="10294834"/>
              </a:xfrm>
              <a:custGeom>
                <a:avLst/>
                <a:gdLst/>
                <a:ahLst/>
                <a:cxnLst/>
                <a:rect r="r" b="b" t="t" l="l"/>
                <a:pathLst>
                  <a:path h="10294834" w="14293672">
                    <a:moveTo>
                      <a:pt x="50531" y="0"/>
                    </a:moveTo>
                    <a:lnTo>
                      <a:pt x="14243141" y="0"/>
                    </a:lnTo>
                    <a:cubicBezTo>
                      <a:pt x="14256542" y="0"/>
                      <a:pt x="14269396" y="5324"/>
                      <a:pt x="14278871" y="14800"/>
                    </a:cubicBezTo>
                    <a:cubicBezTo>
                      <a:pt x="14288348" y="24276"/>
                      <a:pt x="14293672" y="37129"/>
                      <a:pt x="14293672" y="50531"/>
                    </a:cubicBezTo>
                    <a:lnTo>
                      <a:pt x="14293672" y="10244303"/>
                    </a:lnTo>
                    <a:cubicBezTo>
                      <a:pt x="14293672" y="10257704"/>
                      <a:pt x="14288348" y="10270557"/>
                      <a:pt x="14278871" y="10280034"/>
                    </a:cubicBezTo>
                    <a:cubicBezTo>
                      <a:pt x="14269396" y="10289510"/>
                      <a:pt x="14256542" y="10294834"/>
                      <a:pt x="14243141" y="10294834"/>
                    </a:cubicBezTo>
                    <a:lnTo>
                      <a:pt x="50531" y="10294834"/>
                    </a:lnTo>
                    <a:cubicBezTo>
                      <a:pt x="37129" y="10294834"/>
                      <a:pt x="24276" y="10289510"/>
                      <a:pt x="14800" y="10280034"/>
                    </a:cubicBezTo>
                    <a:cubicBezTo>
                      <a:pt x="5324" y="10270557"/>
                      <a:pt x="0" y="10257704"/>
                      <a:pt x="0" y="10244303"/>
                    </a:cubicBezTo>
                    <a:lnTo>
                      <a:pt x="0" y="50531"/>
                    </a:lnTo>
                    <a:cubicBezTo>
                      <a:pt x="0" y="37129"/>
                      <a:pt x="5324" y="24276"/>
                      <a:pt x="14800" y="14800"/>
                    </a:cubicBezTo>
                    <a:cubicBezTo>
                      <a:pt x="24276" y="5324"/>
                      <a:pt x="37129" y="0"/>
                      <a:pt x="50531" y="0"/>
                    </a:cubicBezTo>
                    <a:close/>
                  </a:path>
                </a:pathLst>
              </a:custGeom>
              <a:solidFill>
                <a:srgbClr val="E8ECEC"/>
              </a:solidFill>
            </p:spPr>
          </p:sp>
          <p:sp>
            <p:nvSpPr>
              <p:cNvPr name="TextBox 11" id="11"/>
              <p:cNvSpPr txBox="true"/>
              <p:nvPr/>
            </p:nvSpPr>
            <p:spPr>
              <a:xfrm>
                <a:off x="0" y="-57150"/>
                <a:ext cx="14293671" cy="10351984"/>
              </a:xfrm>
              <a:prstGeom prst="rect">
                <a:avLst/>
              </a:prstGeom>
            </p:spPr>
            <p:txBody>
              <a:bodyPr anchor="ctr" rtlCol="false" tIns="7314" lIns="7314" bIns="7314" rIns="7314"/>
              <a:lstStyle/>
              <a:p>
                <a:pPr algn="ctr">
                  <a:lnSpc>
                    <a:spcPts val="4199"/>
                  </a:lnSpc>
                </a:pPr>
              </a:p>
            </p:txBody>
          </p:sp>
        </p:grpSp>
        <p:sp>
          <p:nvSpPr>
            <p:cNvPr name="TextBox 12" id="12"/>
            <p:cNvSpPr txBox="true"/>
            <p:nvPr/>
          </p:nvSpPr>
          <p:spPr>
            <a:xfrm rot="0">
              <a:off x="225849" y="131758"/>
              <a:ext cx="9966720" cy="6956537"/>
            </a:xfrm>
            <a:prstGeom prst="rect">
              <a:avLst/>
            </a:prstGeom>
          </p:spPr>
          <p:txBody>
            <a:bodyPr anchor="t" rtlCol="false" tIns="0" lIns="0" bIns="0" rIns="0">
              <a:spAutoFit/>
            </a:bodyPr>
            <a:lstStyle/>
            <a:p>
              <a:pPr algn="l" marL="588138" indent="-294069" lvl="1">
                <a:lnSpc>
                  <a:spcPts val="5312"/>
                </a:lnSpc>
                <a:buFont typeface="Arial"/>
                <a:buChar char="•"/>
              </a:pPr>
              <a:r>
                <a:rPr lang="en-US" sz="2724">
                  <a:solidFill>
                    <a:srgbClr val="000000"/>
                  </a:solidFill>
                  <a:latin typeface="Garet"/>
                  <a:ea typeface="Garet"/>
                  <a:cs typeface="Garet"/>
                  <a:sym typeface="Garet"/>
                </a:rPr>
                <a:t>Các trạng thái: New -&gt; Runnable -&gt; Runni</a:t>
              </a:r>
              <a:r>
                <a:rPr lang="en-US" sz="2724">
                  <a:solidFill>
                    <a:srgbClr val="000000"/>
                  </a:solidFill>
                  <a:latin typeface="Garet"/>
                  <a:ea typeface="Garet"/>
                  <a:cs typeface="Garet"/>
                  <a:sym typeface="Garet"/>
                </a:rPr>
                <a:t>ng -&gt; Blocked/Waiting -&gt; Terminated.</a:t>
              </a:r>
            </a:p>
            <a:p>
              <a:pPr algn="l" marL="588138" indent="-294069" lvl="1">
                <a:lnSpc>
                  <a:spcPts val="5312"/>
                </a:lnSpc>
                <a:buFont typeface="Arial"/>
                <a:buChar char="•"/>
              </a:pPr>
              <a:r>
                <a:rPr lang="en-US" sz="2724">
                  <a:solidFill>
                    <a:srgbClr val="A31515"/>
                  </a:solidFill>
                  <a:latin typeface="Garet"/>
                  <a:ea typeface="Garet"/>
                  <a:cs typeface="Garet"/>
                  <a:sym typeface="Garet"/>
                </a:rPr>
                <a:t>Thread.sleep(millis):</a:t>
              </a:r>
              <a:r>
                <a:rPr lang="en-US" sz="2724">
                  <a:solidFill>
                    <a:srgbClr val="000000"/>
                  </a:solidFill>
                  <a:latin typeface="Garet"/>
                  <a:ea typeface="Garet"/>
                  <a:cs typeface="Garet"/>
                  <a:sym typeface="Garet"/>
                </a:rPr>
                <a:t> Tạm dừng thread hiện tại một khoảng thời gian.</a:t>
              </a:r>
            </a:p>
            <a:p>
              <a:pPr algn="l" marL="588138" indent="-294069" lvl="1">
                <a:lnSpc>
                  <a:spcPts val="5312"/>
                </a:lnSpc>
                <a:buFont typeface="Arial"/>
                <a:buChar char="•"/>
              </a:pPr>
              <a:r>
                <a:rPr lang="en-US" sz="2724">
                  <a:solidFill>
                    <a:srgbClr val="A31515"/>
                  </a:solidFill>
                  <a:latin typeface="Garet"/>
                  <a:ea typeface="Garet"/>
                  <a:cs typeface="Garet"/>
                  <a:sym typeface="Garet"/>
                </a:rPr>
                <a:t>thread.join():</a:t>
              </a:r>
              <a:r>
                <a:rPr lang="en-US" sz="2724">
                  <a:solidFill>
                    <a:srgbClr val="000000"/>
                  </a:solidFill>
                  <a:latin typeface="Garet"/>
                  <a:ea typeface="Garet"/>
                  <a:cs typeface="Garet"/>
                  <a:sym typeface="Garet"/>
                </a:rPr>
                <a:t> Bắt thread hiện tại (ví dụ: mai</a:t>
              </a:r>
              <a:r>
                <a:rPr lang="en-US" sz="2724">
                  <a:solidFill>
                    <a:srgbClr val="000000"/>
                  </a:solidFill>
                  <a:latin typeface="Garet"/>
                  <a:ea typeface="Garet"/>
                  <a:cs typeface="Garet"/>
                  <a:sym typeface="Garet"/>
                </a:rPr>
                <a:t>n)</a:t>
              </a:r>
              <a:r>
                <a:rPr lang="en-US" sz="2724">
                  <a:solidFill>
                    <a:srgbClr val="000000"/>
                  </a:solidFill>
                  <a:latin typeface="Garet"/>
                  <a:ea typeface="Garet"/>
                  <a:cs typeface="Garet"/>
                  <a:sym typeface="Garet"/>
                </a:rPr>
                <a:t> phải chờ cho đến khi thread kia chạy xong mới được đi tiếp.</a:t>
              </a:r>
            </a:p>
          </p:txBody>
        </p:sp>
      </p:grpSp>
      <p:grpSp>
        <p:nvGrpSpPr>
          <p:cNvPr name="Group 13" id="13"/>
          <p:cNvGrpSpPr/>
          <p:nvPr/>
        </p:nvGrpSpPr>
        <p:grpSpPr>
          <a:xfrm rot="0">
            <a:off x="782825" y="1633531"/>
            <a:ext cx="732337" cy="73233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1B88"/>
            </a:solidFill>
            <a:ln cap="sq">
              <a:noFill/>
              <a:prstDash val="solid"/>
              <a:miter/>
            </a:ln>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a:lnSpc>
                  <a:spcPts val="2939"/>
                </a:lnSpc>
              </a:pPr>
              <a:r>
                <a:rPr lang="en-US" b="true" sz="2099">
                  <a:solidFill>
                    <a:srgbClr val="FFFFFF"/>
                  </a:solidFill>
                  <a:latin typeface="Garet Bold"/>
                  <a:ea typeface="Garet Bold"/>
                  <a:cs typeface="Garet Bold"/>
                  <a:sym typeface="Garet Bold"/>
                </a:rPr>
                <a:t>3</a:t>
              </a:r>
            </a:p>
          </p:txBody>
        </p:sp>
      </p:grpSp>
      <p:sp>
        <p:nvSpPr>
          <p:cNvPr name="TextBox 16" id="16"/>
          <p:cNvSpPr txBox="true"/>
          <p:nvPr/>
        </p:nvSpPr>
        <p:spPr>
          <a:xfrm rot="0">
            <a:off x="1781133" y="1676167"/>
            <a:ext cx="11792934" cy="1180465"/>
          </a:xfrm>
          <a:prstGeom prst="rect">
            <a:avLst/>
          </a:prstGeom>
        </p:spPr>
        <p:txBody>
          <a:bodyPr anchor="t" rtlCol="false" tIns="0" lIns="0" bIns="0" rIns="0">
            <a:spAutoFit/>
          </a:bodyPr>
          <a:lstStyle/>
          <a:p>
            <a:pPr algn="l">
              <a:lnSpc>
                <a:spcPts val="4759"/>
              </a:lnSpc>
            </a:pPr>
            <a:r>
              <a:rPr lang="en-US" sz="3399" b="true">
                <a:solidFill>
                  <a:srgbClr val="000000"/>
                </a:solidFill>
                <a:latin typeface="Garet Bold"/>
                <a:ea typeface="Garet Bold"/>
                <a:cs typeface="Garet Bold"/>
                <a:sym typeface="Garet Bold"/>
              </a:rPr>
              <a:t>Vòng đời và điều khiển cơ  bản</a:t>
            </a:r>
          </a:p>
        </p:txBody>
      </p:sp>
      <p:grpSp>
        <p:nvGrpSpPr>
          <p:cNvPr name="Group 17" id="17"/>
          <p:cNvGrpSpPr/>
          <p:nvPr/>
        </p:nvGrpSpPr>
        <p:grpSpPr>
          <a:xfrm rot="0">
            <a:off x="769898" y="178769"/>
            <a:ext cx="16748203" cy="1231093"/>
            <a:chOff x="0" y="0"/>
            <a:chExt cx="22330938" cy="1641457"/>
          </a:xfrm>
        </p:grpSpPr>
        <p:grpSp>
          <p:nvGrpSpPr>
            <p:cNvPr name="Group 18" id="18"/>
            <p:cNvGrpSpPr/>
            <p:nvPr/>
          </p:nvGrpSpPr>
          <p:grpSpPr>
            <a:xfrm rot="0">
              <a:off x="0" y="0"/>
              <a:ext cx="3390257" cy="1641457"/>
              <a:chOff x="0" y="0"/>
              <a:chExt cx="729373" cy="353140"/>
            </a:xfrm>
          </p:grpSpPr>
          <p:sp>
            <p:nvSpPr>
              <p:cNvPr name="Freeform 19" id="19"/>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20" id="20"/>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21" id="21"/>
            <p:cNvSpPr txBox="true"/>
            <p:nvPr/>
          </p:nvSpPr>
          <p:spPr>
            <a:xfrm rot="0">
              <a:off x="69855"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Giới thiệu &amp;</a:t>
              </a:r>
            </a:p>
            <a:p>
              <a:pPr algn="ctr">
                <a:lnSpc>
                  <a:spcPts val="3073"/>
                </a:lnSpc>
              </a:pPr>
              <a:r>
                <a:rPr lang="en-US" sz="2195">
                  <a:solidFill>
                    <a:srgbClr val="000000"/>
                  </a:solidFill>
                  <a:latin typeface="Garet"/>
                  <a:ea typeface="Garet"/>
                  <a:cs typeface="Garet"/>
                  <a:sym typeface="Garet"/>
                </a:rPr>
                <a:t> đặt vấn đề</a:t>
              </a:r>
            </a:p>
          </p:txBody>
        </p:sp>
        <p:grpSp>
          <p:nvGrpSpPr>
            <p:cNvPr name="Group 22" id="22"/>
            <p:cNvGrpSpPr/>
            <p:nvPr/>
          </p:nvGrpSpPr>
          <p:grpSpPr>
            <a:xfrm rot="0">
              <a:off x="3703251" y="0"/>
              <a:ext cx="3390257" cy="1641457"/>
              <a:chOff x="0" y="0"/>
              <a:chExt cx="729373" cy="353140"/>
            </a:xfrm>
          </p:grpSpPr>
          <p:sp>
            <p:nvSpPr>
              <p:cNvPr name="Freeform 23" id="23"/>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111B88"/>
              </a:solidFill>
            </p:spPr>
          </p:sp>
          <p:sp>
            <p:nvSpPr>
              <p:cNvPr name="TextBox 24" id="24"/>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25" id="25"/>
            <p:cNvSpPr txBox="true"/>
            <p:nvPr/>
          </p:nvSpPr>
          <p:spPr>
            <a:xfrm rot="0">
              <a:off x="3754062" y="141009"/>
              <a:ext cx="3250547" cy="1487748"/>
            </a:xfrm>
            <a:prstGeom prst="rect">
              <a:avLst/>
            </a:prstGeom>
          </p:spPr>
          <p:txBody>
            <a:bodyPr anchor="t" rtlCol="false" tIns="0" lIns="0" bIns="0" rIns="0">
              <a:spAutoFit/>
            </a:bodyPr>
            <a:lstStyle/>
            <a:p>
              <a:pPr algn="ctr">
                <a:lnSpc>
                  <a:spcPts val="3073"/>
                </a:lnSpc>
              </a:pPr>
              <a:r>
                <a:rPr lang="en-US" sz="2195">
                  <a:solidFill>
                    <a:srgbClr val="FFFFFF"/>
                  </a:solidFill>
                  <a:latin typeface="Garet"/>
                  <a:ea typeface="Garet"/>
                  <a:cs typeface="Garet"/>
                  <a:sym typeface="Garet"/>
                </a:rPr>
                <a:t>Tạo &amp; quản lý Threads trong Kotlin</a:t>
              </a:r>
            </a:p>
          </p:txBody>
        </p:sp>
        <p:grpSp>
          <p:nvGrpSpPr>
            <p:cNvPr name="Group 26" id="26"/>
            <p:cNvGrpSpPr/>
            <p:nvPr/>
          </p:nvGrpSpPr>
          <p:grpSpPr>
            <a:xfrm rot="0">
              <a:off x="7525308" y="0"/>
              <a:ext cx="3390257" cy="1641457"/>
              <a:chOff x="0" y="0"/>
              <a:chExt cx="729373" cy="353140"/>
            </a:xfrm>
          </p:grpSpPr>
          <p:sp>
            <p:nvSpPr>
              <p:cNvPr name="Freeform 27" id="27"/>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28" id="28"/>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29" id="29"/>
            <p:cNvSpPr txBox="true"/>
            <p:nvPr/>
          </p:nvSpPr>
          <p:spPr>
            <a:xfrm rot="0">
              <a:off x="7595164"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Dữ liệu chia sẻ và đồng bộ hóa</a:t>
              </a:r>
            </a:p>
          </p:txBody>
        </p:sp>
        <p:grpSp>
          <p:nvGrpSpPr>
            <p:cNvPr name="Group 30" id="30"/>
            <p:cNvGrpSpPr/>
            <p:nvPr/>
          </p:nvGrpSpPr>
          <p:grpSpPr>
            <a:xfrm rot="0">
              <a:off x="11347366" y="0"/>
              <a:ext cx="3390257" cy="1641457"/>
              <a:chOff x="0" y="0"/>
              <a:chExt cx="729373" cy="353140"/>
            </a:xfrm>
          </p:grpSpPr>
          <p:sp>
            <p:nvSpPr>
              <p:cNvPr name="Freeform 31" id="31"/>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32" id="32"/>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3" id="33"/>
            <p:cNvSpPr txBox="true"/>
            <p:nvPr/>
          </p:nvSpPr>
          <p:spPr>
            <a:xfrm rot="0">
              <a:off x="11417221"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Giao tiếp giữa các threads</a:t>
              </a:r>
            </a:p>
          </p:txBody>
        </p:sp>
        <p:grpSp>
          <p:nvGrpSpPr>
            <p:cNvPr name="Group 34" id="34"/>
            <p:cNvGrpSpPr/>
            <p:nvPr/>
          </p:nvGrpSpPr>
          <p:grpSpPr>
            <a:xfrm rot="0">
              <a:off x="15144023" y="0"/>
              <a:ext cx="3390257" cy="1641457"/>
              <a:chOff x="0" y="0"/>
              <a:chExt cx="729373" cy="353140"/>
            </a:xfrm>
          </p:grpSpPr>
          <p:sp>
            <p:nvSpPr>
              <p:cNvPr name="Freeform 35" id="35"/>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36" id="36"/>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7" id="37"/>
            <p:cNvSpPr txBox="true"/>
            <p:nvPr/>
          </p:nvSpPr>
          <p:spPr>
            <a:xfrm rot="0">
              <a:off x="15213879"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Các khái niệm nâng cao</a:t>
              </a:r>
            </a:p>
          </p:txBody>
        </p:sp>
        <p:grpSp>
          <p:nvGrpSpPr>
            <p:cNvPr name="Group 38" id="38"/>
            <p:cNvGrpSpPr/>
            <p:nvPr/>
          </p:nvGrpSpPr>
          <p:grpSpPr>
            <a:xfrm rot="0">
              <a:off x="18940681" y="0"/>
              <a:ext cx="3390257" cy="1641457"/>
              <a:chOff x="0" y="0"/>
              <a:chExt cx="729373" cy="353140"/>
            </a:xfrm>
          </p:grpSpPr>
          <p:sp>
            <p:nvSpPr>
              <p:cNvPr name="Freeform 39" id="39"/>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40" id="40"/>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41" id="41"/>
            <p:cNvSpPr txBox="true"/>
            <p:nvPr/>
          </p:nvSpPr>
          <p:spPr>
            <a:xfrm rot="0">
              <a:off x="19010536"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Kết luận và định hướng tương lai</a:t>
              </a:r>
            </a:p>
          </p:txBody>
        </p:sp>
      </p:grpSp>
      <p:sp>
        <p:nvSpPr>
          <p:cNvPr name="Freeform 42" id="42"/>
          <p:cNvSpPr/>
          <p:nvPr/>
        </p:nvSpPr>
        <p:spPr>
          <a:xfrm flipH="false" flipV="false" rot="0">
            <a:off x="9037821" y="2837582"/>
            <a:ext cx="8527906" cy="4381863"/>
          </a:xfrm>
          <a:custGeom>
            <a:avLst/>
            <a:gdLst/>
            <a:ahLst/>
            <a:cxnLst/>
            <a:rect r="r" b="b" t="t" l="l"/>
            <a:pathLst>
              <a:path h="4381863" w="8527906">
                <a:moveTo>
                  <a:pt x="0" y="0"/>
                </a:moveTo>
                <a:lnTo>
                  <a:pt x="8527906" y="0"/>
                </a:lnTo>
                <a:lnTo>
                  <a:pt x="8527906" y="4381863"/>
                </a:lnTo>
                <a:lnTo>
                  <a:pt x="0" y="4381863"/>
                </a:lnTo>
                <a:lnTo>
                  <a:pt x="0" y="0"/>
                </a:lnTo>
                <a:close/>
              </a:path>
            </a:pathLst>
          </a:custGeom>
          <a:blipFill>
            <a:blip r:embed="rId2"/>
            <a:stretch>
              <a:fillRect l="-9250" t="-18566" r="-50590" b="-19691"/>
            </a:stretch>
          </a:blipFill>
        </p:spPr>
      </p:sp>
      <p:sp>
        <p:nvSpPr>
          <p:cNvPr name="TextBox 43" id="43"/>
          <p:cNvSpPr txBox="true"/>
          <p:nvPr/>
        </p:nvSpPr>
        <p:spPr>
          <a:xfrm rot="0">
            <a:off x="17798527" y="9587012"/>
            <a:ext cx="345270"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5</a:t>
            </a:r>
          </a:p>
        </p:txBody>
      </p:sp>
      <p:sp>
        <p:nvSpPr>
          <p:cNvPr name="TextBox 44" id="44"/>
          <p:cNvSpPr txBox="true"/>
          <p:nvPr/>
        </p:nvSpPr>
        <p:spPr>
          <a:xfrm rot="0">
            <a:off x="11026043" y="7316791"/>
            <a:ext cx="4551462" cy="290195"/>
          </a:xfrm>
          <a:prstGeom prst="rect">
            <a:avLst/>
          </a:prstGeom>
        </p:spPr>
        <p:txBody>
          <a:bodyPr anchor="t" rtlCol="false" tIns="0" lIns="0" bIns="0" rIns="0">
            <a:spAutoFit/>
          </a:bodyPr>
          <a:lstStyle/>
          <a:p>
            <a:pPr algn="ctr">
              <a:lnSpc>
                <a:spcPts val="2380"/>
              </a:lnSpc>
              <a:spcBef>
                <a:spcPct val="0"/>
              </a:spcBef>
            </a:pPr>
            <a:r>
              <a:rPr lang="en-US" sz="1700" i="true">
                <a:solidFill>
                  <a:srgbClr val="000000"/>
                </a:solidFill>
                <a:latin typeface="Inter Italics"/>
                <a:ea typeface="Inter Italics"/>
                <a:cs typeface="Inter Italics"/>
                <a:sym typeface="Inter Italics"/>
              </a:rPr>
              <a:t>Ảnh 3: Sử dụng sleep() và join() trong thread</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740861" y="6749958"/>
            <a:ext cx="4596322" cy="459632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0" cap="sq">
              <a:solidFill>
                <a:srgbClr val="F6F6F6"/>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5324660" y="9048119"/>
            <a:ext cx="596043" cy="59604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FFFFFF"/>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502024" y="1917481"/>
            <a:ext cx="17296502" cy="2467968"/>
            <a:chOff x="0" y="0"/>
            <a:chExt cx="23062003" cy="3290624"/>
          </a:xfrm>
        </p:grpSpPr>
        <p:grpSp>
          <p:nvGrpSpPr>
            <p:cNvPr name="Group 9" id="9"/>
            <p:cNvGrpSpPr/>
            <p:nvPr/>
          </p:nvGrpSpPr>
          <p:grpSpPr>
            <a:xfrm rot="0">
              <a:off x="0" y="1317121"/>
              <a:ext cx="23062003" cy="1973503"/>
              <a:chOff x="0" y="0"/>
              <a:chExt cx="31640186" cy="2707571"/>
            </a:xfrm>
          </p:grpSpPr>
          <p:sp>
            <p:nvSpPr>
              <p:cNvPr name="Freeform 10" id="10"/>
              <p:cNvSpPr/>
              <p:nvPr/>
            </p:nvSpPr>
            <p:spPr>
              <a:xfrm flipH="false" flipV="false" rot="0">
                <a:off x="0" y="0"/>
                <a:ext cx="31640187" cy="2707571"/>
              </a:xfrm>
              <a:custGeom>
                <a:avLst/>
                <a:gdLst/>
                <a:ahLst/>
                <a:cxnLst/>
                <a:rect r="r" b="b" t="t" l="l"/>
                <a:pathLst>
                  <a:path h="2707571" w="31640187">
                    <a:moveTo>
                      <a:pt x="22828" y="0"/>
                    </a:moveTo>
                    <a:lnTo>
                      <a:pt x="31617360" y="0"/>
                    </a:lnTo>
                    <a:cubicBezTo>
                      <a:pt x="31629967" y="0"/>
                      <a:pt x="31640187" y="10220"/>
                      <a:pt x="31640187" y="22828"/>
                    </a:cubicBezTo>
                    <a:lnTo>
                      <a:pt x="31640187" y="2684743"/>
                    </a:lnTo>
                    <a:cubicBezTo>
                      <a:pt x="31640187" y="2697351"/>
                      <a:pt x="31629967" y="2707571"/>
                      <a:pt x="31617360" y="2707571"/>
                    </a:cubicBezTo>
                    <a:lnTo>
                      <a:pt x="22828" y="2707571"/>
                    </a:lnTo>
                    <a:cubicBezTo>
                      <a:pt x="10220" y="2707571"/>
                      <a:pt x="0" y="2697351"/>
                      <a:pt x="0" y="2684743"/>
                    </a:cubicBezTo>
                    <a:lnTo>
                      <a:pt x="0" y="22828"/>
                    </a:lnTo>
                    <a:cubicBezTo>
                      <a:pt x="0" y="10220"/>
                      <a:pt x="10220" y="0"/>
                      <a:pt x="22828" y="0"/>
                    </a:cubicBezTo>
                    <a:close/>
                  </a:path>
                </a:pathLst>
              </a:custGeom>
              <a:solidFill>
                <a:srgbClr val="E8ECEC"/>
              </a:solidFill>
            </p:spPr>
          </p:sp>
          <p:sp>
            <p:nvSpPr>
              <p:cNvPr name="TextBox 11" id="11"/>
              <p:cNvSpPr txBox="true"/>
              <p:nvPr/>
            </p:nvSpPr>
            <p:spPr>
              <a:xfrm>
                <a:off x="0" y="-57150"/>
                <a:ext cx="31640186" cy="2764721"/>
              </a:xfrm>
              <a:prstGeom prst="rect">
                <a:avLst/>
              </a:prstGeom>
            </p:spPr>
            <p:txBody>
              <a:bodyPr anchor="ctr" rtlCol="false" tIns="7314" lIns="7314" bIns="7314" rIns="7314"/>
              <a:lstStyle/>
              <a:p>
                <a:pPr algn="ctr">
                  <a:lnSpc>
                    <a:spcPts val="4199"/>
                  </a:lnSpc>
                </a:pPr>
              </a:p>
            </p:txBody>
          </p:sp>
        </p:grpSp>
        <p:sp>
          <p:nvSpPr>
            <p:cNvPr name="TextBox 12" id="12"/>
            <p:cNvSpPr txBox="true"/>
            <p:nvPr/>
          </p:nvSpPr>
          <p:spPr>
            <a:xfrm rot="0">
              <a:off x="405945" y="1397354"/>
              <a:ext cx="22250114" cy="1622537"/>
            </a:xfrm>
            <a:prstGeom prst="rect">
              <a:avLst/>
            </a:prstGeom>
          </p:spPr>
          <p:txBody>
            <a:bodyPr anchor="t" rtlCol="false" tIns="0" lIns="0" bIns="0" rIns="0">
              <a:spAutoFit/>
            </a:bodyPr>
            <a:lstStyle/>
            <a:p>
              <a:pPr algn="just">
                <a:lnSpc>
                  <a:spcPts val="5312"/>
                </a:lnSpc>
              </a:pPr>
              <a:r>
                <a:rPr lang="en-US" sz="2724">
                  <a:solidFill>
                    <a:srgbClr val="111B88"/>
                  </a:solidFill>
                  <a:latin typeface="Garet"/>
                  <a:ea typeface="Garet"/>
                  <a:cs typeface="Garet"/>
                  <a:sym typeface="Garet"/>
                </a:rPr>
                <a:t>Mục tiêu: </a:t>
              </a:r>
              <a:r>
                <a:rPr lang="en-US" sz="2724">
                  <a:solidFill>
                    <a:srgbClr val="000000"/>
                  </a:solidFill>
                  <a:latin typeface="Garet"/>
                  <a:ea typeface="Garet"/>
                  <a:cs typeface="Garet"/>
                  <a:sym typeface="Garet"/>
                </a:rPr>
                <a:t>Chứng minh rằ</a:t>
              </a:r>
              <a:r>
                <a:rPr lang="en-US" sz="2724">
                  <a:solidFill>
                    <a:srgbClr val="000000"/>
                  </a:solidFill>
                  <a:latin typeface="Garet"/>
                  <a:ea typeface="Garet"/>
                  <a:cs typeface="Garet"/>
                  <a:sym typeface="Garet"/>
                </a:rPr>
                <a:t>ng thứ tự thực thi của các thread là không thể đoán trước (Non-deterministic) và phụ thuộc vào Hệ điều hành (OS Scheduler).</a:t>
              </a:r>
            </a:p>
          </p:txBody>
        </p:sp>
        <p:grpSp>
          <p:nvGrpSpPr>
            <p:cNvPr name="Group 13" id="13"/>
            <p:cNvGrpSpPr/>
            <p:nvPr/>
          </p:nvGrpSpPr>
          <p:grpSpPr>
            <a:xfrm rot="0">
              <a:off x="374401" y="0"/>
              <a:ext cx="976449" cy="976449"/>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1B88"/>
              </a:solidFill>
              <a:ln cap="sq">
                <a:noFill/>
                <a:prstDash val="solid"/>
                <a:miter/>
              </a:ln>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a:lnSpc>
                    <a:spcPts val="2939"/>
                  </a:lnSpc>
                </a:pPr>
                <a:r>
                  <a:rPr lang="en-US" b="true" sz="2099">
                    <a:solidFill>
                      <a:srgbClr val="FFFFFF"/>
                    </a:solidFill>
                    <a:latin typeface="Garet Bold"/>
                    <a:ea typeface="Garet Bold"/>
                    <a:cs typeface="Garet Bold"/>
                    <a:sym typeface="Garet Bold"/>
                  </a:rPr>
                  <a:t>4</a:t>
                </a:r>
              </a:p>
            </p:txBody>
          </p:sp>
        </p:grpSp>
        <p:sp>
          <p:nvSpPr>
            <p:cNvPr name="TextBox 16" id="16"/>
            <p:cNvSpPr txBox="true"/>
            <p:nvPr/>
          </p:nvSpPr>
          <p:spPr>
            <a:xfrm rot="0">
              <a:off x="1705478" y="79073"/>
              <a:ext cx="15723913" cy="1551728"/>
            </a:xfrm>
            <a:prstGeom prst="rect">
              <a:avLst/>
            </a:prstGeom>
          </p:spPr>
          <p:txBody>
            <a:bodyPr anchor="t" rtlCol="false" tIns="0" lIns="0" bIns="0" rIns="0">
              <a:spAutoFit/>
            </a:bodyPr>
            <a:lstStyle/>
            <a:p>
              <a:pPr algn="l">
                <a:lnSpc>
                  <a:spcPts val="4759"/>
                </a:lnSpc>
              </a:pPr>
              <a:r>
                <a:rPr lang="en-US" sz="3399" b="true">
                  <a:solidFill>
                    <a:srgbClr val="000000"/>
                  </a:solidFill>
                  <a:latin typeface="Garet Bold"/>
                  <a:ea typeface="Garet Bold"/>
                  <a:cs typeface="Garet Bold"/>
                  <a:sym typeface="Garet Bold"/>
                </a:rPr>
                <a:t>Demo thực tế - Cuộc đua giữa các Threads</a:t>
              </a:r>
            </a:p>
            <a:p>
              <a:pPr algn="l">
                <a:lnSpc>
                  <a:spcPts val="4759"/>
                </a:lnSpc>
              </a:pPr>
            </a:p>
          </p:txBody>
        </p:sp>
      </p:grpSp>
      <p:grpSp>
        <p:nvGrpSpPr>
          <p:cNvPr name="Group 17" id="17"/>
          <p:cNvGrpSpPr/>
          <p:nvPr/>
        </p:nvGrpSpPr>
        <p:grpSpPr>
          <a:xfrm rot="0">
            <a:off x="769898" y="178769"/>
            <a:ext cx="16748203" cy="1231093"/>
            <a:chOff x="0" y="0"/>
            <a:chExt cx="22330938" cy="1641457"/>
          </a:xfrm>
        </p:grpSpPr>
        <p:grpSp>
          <p:nvGrpSpPr>
            <p:cNvPr name="Group 18" id="18"/>
            <p:cNvGrpSpPr/>
            <p:nvPr/>
          </p:nvGrpSpPr>
          <p:grpSpPr>
            <a:xfrm rot="0">
              <a:off x="0" y="0"/>
              <a:ext cx="3390257" cy="1641457"/>
              <a:chOff x="0" y="0"/>
              <a:chExt cx="729373" cy="353140"/>
            </a:xfrm>
          </p:grpSpPr>
          <p:sp>
            <p:nvSpPr>
              <p:cNvPr name="Freeform 19" id="19"/>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20" id="20"/>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21" id="21"/>
            <p:cNvSpPr txBox="true"/>
            <p:nvPr/>
          </p:nvSpPr>
          <p:spPr>
            <a:xfrm rot="0">
              <a:off x="69855"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Giới thiệu &amp;</a:t>
              </a:r>
            </a:p>
            <a:p>
              <a:pPr algn="ctr">
                <a:lnSpc>
                  <a:spcPts val="3073"/>
                </a:lnSpc>
              </a:pPr>
              <a:r>
                <a:rPr lang="en-US" sz="2195">
                  <a:solidFill>
                    <a:srgbClr val="000000"/>
                  </a:solidFill>
                  <a:latin typeface="Garet"/>
                  <a:ea typeface="Garet"/>
                  <a:cs typeface="Garet"/>
                  <a:sym typeface="Garet"/>
                </a:rPr>
                <a:t> đặt vấn đề</a:t>
              </a:r>
            </a:p>
          </p:txBody>
        </p:sp>
        <p:grpSp>
          <p:nvGrpSpPr>
            <p:cNvPr name="Group 22" id="22"/>
            <p:cNvGrpSpPr/>
            <p:nvPr/>
          </p:nvGrpSpPr>
          <p:grpSpPr>
            <a:xfrm rot="0">
              <a:off x="3703251" y="0"/>
              <a:ext cx="3390257" cy="1641457"/>
              <a:chOff x="0" y="0"/>
              <a:chExt cx="729373" cy="353140"/>
            </a:xfrm>
          </p:grpSpPr>
          <p:sp>
            <p:nvSpPr>
              <p:cNvPr name="Freeform 23" id="23"/>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111B88"/>
              </a:solidFill>
            </p:spPr>
          </p:sp>
          <p:sp>
            <p:nvSpPr>
              <p:cNvPr name="TextBox 24" id="24"/>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25" id="25"/>
            <p:cNvSpPr txBox="true"/>
            <p:nvPr/>
          </p:nvSpPr>
          <p:spPr>
            <a:xfrm rot="0">
              <a:off x="3754062" y="141009"/>
              <a:ext cx="3250547" cy="1487748"/>
            </a:xfrm>
            <a:prstGeom prst="rect">
              <a:avLst/>
            </a:prstGeom>
          </p:spPr>
          <p:txBody>
            <a:bodyPr anchor="t" rtlCol="false" tIns="0" lIns="0" bIns="0" rIns="0">
              <a:spAutoFit/>
            </a:bodyPr>
            <a:lstStyle/>
            <a:p>
              <a:pPr algn="ctr">
                <a:lnSpc>
                  <a:spcPts val="3073"/>
                </a:lnSpc>
              </a:pPr>
              <a:r>
                <a:rPr lang="en-US" sz="2195">
                  <a:solidFill>
                    <a:srgbClr val="FFFFFF"/>
                  </a:solidFill>
                  <a:latin typeface="Garet"/>
                  <a:ea typeface="Garet"/>
                  <a:cs typeface="Garet"/>
                  <a:sym typeface="Garet"/>
                </a:rPr>
                <a:t>Tạo &amp; quản lý Threads trong Kotlin</a:t>
              </a:r>
            </a:p>
          </p:txBody>
        </p:sp>
        <p:grpSp>
          <p:nvGrpSpPr>
            <p:cNvPr name="Group 26" id="26"/>
            <p:cNvGrpSpPr/>
            <p:nvPr/>
          </p:nvGrpSpPr>
          <p:grpSpPr>
            <a:xfrm rot="0">
              <a:off x="7525308" y="0"/>
              <a:ext cx="3390257" cy="1641457"/>
              <a:chOff x="0" y="0"/>
              <a:chExt cx="729373" cy="353140"/>
            </a:xfrm>
          </p:grpSpPr>
          <p:sp>
            <p:nvSpPr>
              <p:cNvPr name="Freeform 27" id="27"/>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28" id="28"/>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29" id="29"/>
            <p:cNvSpPr txBox="true"/>
            <p:nvPr/>
          </p:nvSpPr>
          <p:spPr>
            <a:xfrm rot="0">
              <a:off x="7595164"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Dữ liệu chia sẻ và đồng bộ hóa</a:t>
              </a:r>
            </a:p>
          </p:txBody>
        </p:sp>
        <p:grpSp>
          <p:nvGrpSpPr>
            <p:cNvPr name="Group 30" id="30"/>
            <p:cNvGrpSpPr/>
            <p:nvPr/>
          </p:nvGrpSpPr>
          <p:grpSpPr>
            <a:xfrm rot="0">
              <a:off x="11347366" y="0"/>
              <a:ext cx="3390257" cy="1641457"/>
              <a:chOff x="0" y="0"/>
              <a:chExt cx="729373" cy="353140"/>
            </a:xfrm>
          </p:grpSpPr>
          <p:sp>
            <p:nvSpPr>
              <p:cNvPr name="Freeform 31" id="31"/>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32" id="32"/>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3" id="33"/>
            <p:cNvSpPr txBox="true"/>
            <p:nvPr/>
          </p:nvSpPr>
          <p:spPr>
            <a:xfrm rot="0">
              <a:off x="11417221"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Giao tiếp giữa các threads</a:t>
              </a:r>
            </a:p>
          </p:txBody>
        </p:sp>
        <p:grpSp>
          <p:nvGrpSpPr>
            <p:cNvPr name="Group 34" id="34"/>
            <p:cNvGrpSpPr/>
            <p:nvPr/>
          </p:nvGrpSpPr>
          <p:grpSpPr>
            <a:xfrm rot="0">
              <a:off x="15144023" y="0"/>
              <a:ext cx="3390257" cy="1641457"/>
              <a:chOff x="0" y="0"/>
              <a:chExt cx="729373" cy="353140"/>
            </a:xfrm>
          </p:grpSpPr>
          <p:sp>
            <p:nvSpPr>
              <p:cNvPr name="Freeform 35" id="35"/>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36" id="36"/>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7" id="37"/>
            <p:cNvSpPr txBox="true"/>
            <p:nvPr/>
          </p:nvSpPr>
          <p:spPr>
            <a:xfrm rot="0">
              <a:off x="15213879"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Các khái niệm nâng cao</a:t>
              </a:r>
            </a:p>
          </p:txBody>
        </p:sp>
        <p:grpSp>
          <p:nvGrpSpPr>
            <p:cNvPr name="Group 38" id="38"/>
            <p:cNvGrpSpPr/>
            <p:nvPr/>
          </p:nvGrpSpPr>
          <p:grpSpPr>
            <a:xfrm rot="0">
              <a:off x="18940681" y="0"/>
              <a:ext cx="3390257" cy="1641457"/>
              <a:chOff x="0" y="0"/>
              <a:chExt cx="729373" cy="353140"/>
            </a:xfrm>
          </p:grpSpPr>
          <p:sp>
            <p:nvSpPr>
              <p:cNvPr name="Freeform 39" id="39"/>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40" id="40"/>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41" id="41"/>
            <p:cNvSpPr txBox="true"/>
            <p:nvPr/>
          </p:nvSpPr>
          <p:spPr>
            <a:xfrm rot="0">
              <a:off x="19010536"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Kết luận và định hướng tương lai</a:t>
              </a:r>
            </a:p>
          </p:txBody>
        </p:sp>
      </p:grpSp>
      <p:sp>
        <p:nvSpPr>
          <p:cNvPr name="Freeform 42" id="42"/>
          <p:cNvSpPr/>
          <p:nvPr/>
        </p:nvSpPr>
        <p:spPr>
          <a:xfrm flipH="false" flipV="false" rot="0">
            <a:off x="4184833" y="4536036"/>
            <a:ext cx="9918333" cy="4722264"/>
          </a:xfrm>
          <a:custGeom>
            <a:avLst/>
            <a:gdLst/>
            <a:ahLst/>
            <a:cxnLst/>
            <a:rect r="r" b="b" t="t" l="l"/>
            <a:pathLst>
              <a:path h="4722264" w="9918333">
                <a:moveTo>
                  <a:pt x="0" y="0"/>
                </a:moveTo>
                <a:lnTo>
                  <a:pt x="9918334" y="0"/>
                </a:lnTo>
                <a:lnTo>
                  <a:pt x="9918334" y="4722264"/>
                </a:lnTo>
                <a:lnTo>
                  <a:pt x="0" y="4722264"/>
                </a:lnTo>
                <a:lnTo>
                  <a:pt x="0" y="0"/>
                </a:lnTo>
                <a:close/>
              </a:path>
            </a:pathLst>
          </a:custGeom>
          <a:blipFill>
            <a:blip r:embed="rId2"/>
            <a:stretch>
              <a:fillRect l="0" t="-10831" r="0" b="-6349"/>
            </a:stretch>
          </a:blipFill>
        </p:spPr>
      </p:sp>
      <p:sp>
        <p:nvSpPr>
          <p:cNvPr name="TextBox 43" id="43"/>
          <p:cNvSpPr txBox="true"/>
          <p:nvPr/>
        </p:nvSpPr>
        <p:spPr>
          <a:xfrm rot="0">
            <a:off x="17798527" y="9587012"/>
            <a:ext cx="345270"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6</a:t>
            </a:r>
          </a:p>
        </p:txBody>
      </p:sp>
      <p:sp>
        <p:nvSpPr>
          <p:cNvPr name="TextBox 44" id="44"/>
          <p:cNvSpPr txBox="true"/>
          <p:nvPr/>
        </p:nvSpPr>
        <p:spPr>
          <a:xfrm rot="0">
            <a:off x="6987704" y="9382542"/>
            <a:ext cx="4325144" cy="290195"/>
          </a:xfrm>
          <a:prstGeom prst="rect">
            <a:avLst/>
          </a:prstGeom>
        </p:spPr>
        <p:txBody>
          <a:bodyPr anchor="t" rtlCol="false" tIns="0" lIns="0" bIns="0" rIns="0">
            <a:spAutoFit/>
          </a:bodyPr>
          <a:lstStyle/>
          <a:p>
            <a:pPr algn="ctr">
              <a:lnSpc>
                <a:spcPts val="2380"/>
              </a:lnSpc>
              <a:spcBef>
                <a:spcPct val="0"/>
              </a:spcBef>
            </a:pPr>
            <a:r>
              <a:rPr lang="en-US" sz="1700" i="true">
                <a:solidFill>
                  <a:srgbClr val="000000"/>
                </a:solidFill>
                <a:latin typeface="Inter Italics"/>
                <a:ea typeface="Inter Italics"/>
                <a:cs typeface="Inter Italics"/>
                <a:sym typeface="Inter Italics"/>
              </a:rPr>
              <a:t>Ảnh 4: Minh họa thứ tự thực thi các thread</a:t>
            </a:r>
          </a:p>
        </p:txBody>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5740861" y="6749958"/>
            <a:ext cx="4596322" cy="459632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0" cap="sq">
              <a:solidFill>
                <a:srgbClr val="F6F6F6"/>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5324660" y="9048119"/>
            <a:ext cx="596043" cy="59604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FFFFFF"/>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502024" y="3401813"/>
            <a:ext cx="17296502" cy="5944328"/>
            <a:chOff x="0" y="0"/>
            <a:chExt cx="23062003" cy="7925770"/>
          </a:xfrm>
        </p:grpSpPr>
        <p:grpSp>
          <p:nvGrpSpPr>
            <p:cNvPr name="Group 9" id="9"/>
            <p:cNvGrpSpPr/>
            <p:nvPr/>
          </p:nvGrpSpPr>
          <p:grpSpPr>
            <a:xfrm rot="0">
              <a:off x="0" y="0"/>
              <a:ext cx="23062003" cy="7351431"/>
              <a:chOff x="0" y="0"/>
              <a:chExt cx="31640186" cy="10085882"/>
            </a:xfrm>
          </p:grpSpPr>
          <p:sp>
            <p:nvSpPr>
              <p:cNvPr name="Freeform 10" id="10"/>
              <p:cNvSpPr/>
              <p:nvPr/>
            </p:nvSpPr>
            <p:spPr>
              <a:xfrm flipH="false" flipV="false" rot="0">
                <a:off x="0" y="0"/>
                <a:ext cx="31640187" cy="10085882"/>
              </a:xfrm>
              <a:custGeom>
                <a:avLst/>
                <a:gdLst/>
                <a:ahLst/>
                <a:cxnLst/>
                <a:rect r="r" b="b" t="t" l="l"/>
                <a:pathLst>
                  <a:path h="10085882" w="31640187">
                    <a:moveTo>
                      <a:pt x="22828" y="0"/>
                    </a:moveTo>
                    <a:lnTo>
                      <a:pt x="31617360" y="0"/>
                    </a:lnTo>
                    <a:cubicBezTo>
                      <a:pt x="31629967" y="0"/>
                      <a:pt x="31640187" y="10220"/>
                      <a:pt x="31640187" y="22828"/>
                    </a:cubicBezTo>
                    <a:lnTo>
                      <a:pt x="31640187" y="10063055"/>
                    </a:lnTo>
                    <a:cubicBezTo>
                      <a:pt x="31640187" y="10075662"/>
                      <a:pt x="31629967" y="10085882"/>
                      <a:pt x="31617360" y="10085882"/>
                    </a:cubicBezTo>
                    <a:lnTo>
                      <a:pt x="22828" y="10085882"/>
                    </a:lnTo>
                    <a:cubicBezTo>
                      <a:pt x="10220" y="10085882"/>
                      <a:pt x="0" y="10075662"/>
                      <a:pt x="0" y="10063055"/>
                    </a:cubicBezTo>
                    <a:lnTo>
                      <a:pt x="0" y="22828"/>
                    </a:lnTo>
                    <a:cubicBezTo>
                      <a:pt x="0" y="10220"/>
                      <a:pt x="10220" y="0"/>
                      <a:pt x="22828" y="0"/>
                    </a:cubicBezTo>
                    <a:close/>
                  </a:path>
                </a:pathLst>
              </a:custGeom>
              <a:solidFill>
                <a:srgbClr val="E8ECEC"/>
              </a:solidFill>
            </p:spPr>
          </p:sp>
          <p:sp>
            <p:nvSpPr>
              <p:cNvPr name="TextBox 11" id="11"/>
              <p:cNvSpPr txBox="true"/>
              <p:nvPr/>
            </p:nvSpPr>
            <p:spPr>
              <a:xfrm>
                <a:off x="0" y="-57150"/>
                <a:ext cx="31640186" cy="10143032"/>
              </a:xfrm>
              <a:prstGeom prst="rect">
                <a:avLst/>
              </a:prstGeom>
            </p:spPr>
            <p:txBody>
              <a:bodyPr anchor="ctr" rtlCol="false" tIns="7314" lIns="7314" bIns="7314" rIns="7314"/>
              <a:lstStyle/>
              <a:p>
                <a:pPr algn="ctr">
                  <a:lnSpc>
                    <a:spcPts val="4199"/>
                  </a:lnSpc>
                </a:pPr>
              </a:p>
            </p:txBody>
          </p:sp>
        </p:grpSp>
        <p:sp>
          <p:nvSpPr>
            <p:cNvPr name="TextBox 12" id="12"/>
            <p:cNvSpPr txBox="true"/>
            <p:nvPr/>
          </p:nvSpPr>
          <p:spPr>
            <a:xfrm rot="0">
              <a:off x="405945" y="80233"/>
              <a:ext cx="22250114" cy="7845537"/>
            </a:xfrm>
            <a:prstGeom prst="rect">
              <a:avLst/>
            </a:prstGeom>
          </p:spPr>
          <p:txBody>
            <a:bodyPr anchor="t" rtlCol="false" tIns="0" lIns="0" bIns="0" rIns="0">
              <a:spAutoFit/>
            </a:bodyPr>
            <a:lstStyle/>
            <a:p>
              <a:pPr algn="just" marL="588138" indent="-294069" lvl="1">
                <a:lnSpc>
                  <a:spcPts val="5312"/>
                </a:lnSpc>
                <a:buFont typeface="Arial"/>
                <a:buChar char="•"/>
              </a:pPr>
              <a:r>
                <a:rPr lang="en-US" sz="2724">
                  <a:solidFill>
                    <a:srgbClr val="111B88"/>
                  </a:solidFill>
                  <a:latin typeface="Garet"/>
                  <a:ea typeface="Garet"/>
                  <a:cs typeface="Garet"/>
                  <a:sym typeface="Garet"/>
                </a:rPr>
                <a:t>Sự xen kẽ (Interleaving):</a:t>
              </a:r>
              <a:r>
                <a:rPr lang="en-US" sz="2724">
                  <a:solidFill>
                    <a:srgbClr val="000000"/>
                  </a:solidFill>
                  <a:latin typeface="Garet"/>
                  <a:ea typeface="Garet"/>
                  <a:cs typeface="Garet"/>
                  <a:sym typeface="Garet"/>
                </a:rPr>
                <a:t> Các dòng log không in ra theo</a:t>
              </a:r>
              <a:r>
                <a:rPr lang="en-US" sz="2724">
                  <a:solidFill>
                    <a:srgbClr val="000000"/>
                  </a:solidFill>
                  <a:latin typeface="Garet"/>
                  <a:ea typeface="Garet"/>
                  <a:cs typeface="Garet"/>
                  <a:sym typeface="Garet"/>
                </a:rPr>
                <a:t> thứ tự Xanh hết -&gt; Đỏ hết -&gt; Vàng hết. Chúng in lộn xộn vào nhau. Điều này chứng tỏ CPU đang chuyển đổi qua lại giữa các thread rất nhanh (Context Switching).</a:t>
              </a:r>
            </a:p>
            <a:p>
              <a:pPr algn="just" marL="588138" indent="-294069" lvl="1">
                <a:lnSpc>
                  <a:spcPts val="5312"/>
                </a:lnSpc>
                <a:buFont typeface="Arial"/>
                <a:buChar char="•"/>
              </a:pPr>
              <a:r>
                <a:rPr lang="en-US" sz="2724">
                  <a:solidFill>
                    <a:srgbClr val="111B88"/>
                  </a:solidFill>
                  <a:latin typeface="Garet"/>
                  <a:ea typeface="Garet"/>
                  <a:cs typeface="Garet"/>
                  <a:sym typeface="Garet"/>
                </a:rPr>
                <a:t>Thứ tự không đảm bảo: </a:t>
              </a:r>
              <a:r>
                <a:rPr lang="en-US" sz="2724">
                  <a:solidFill>
                    <a:srgbClr val="000000"/>
                  </a:solidFill>
                  <a:latin typeface="Garet"/>
                  <a:ea typeface="Garet"/>
                  <a:cs typeface="Garet"/>
                  <a:sym typeface="Garet"/>
                </a:rPr>
                <a:t>Không ai biết trước thread nào sẽ chạy dòng code nào trước. Thread-Vàng được khởi tạo cuối cùng nhưng có thể chạy xong đầu tiên.</a:t>
              </a:r>
            </a:p>
            <a:p>
              <a:pPr algn="just" marL="588138" indent="-294069" lvl="1">
                <a:lnSpc>
                  <a:spcPts val="5312"/>
                </a:lnSpc>
                <a:buFont typeface="Arial"/>
                <a:buChar char="•"/>
              </a:pPr>
              <a:r>
                <a:rPr lang="en-US" sz="2724">
                  <a:solidFill>
                    <a:srgbClr val="111B88"/>
                  </a:solidFill>
                  <a:latin typeface="Garet"/>
                  <a:ea typeface="Garet"/>
                  <a:cs typeface="Garet"/>
                  <a:sym typeface="Garet"/>
                </a:rPr>
                <a:t>Main Thread không chờ: </a:t>
              </a:r>
              <a:r>
                <a:rPr lang="en-US" sz="2724">
                  <a:solidFill>
                    <a:srgbClr val="000000"/>
                  </a:solidFill>
                  <a:latin typeface="Garet"/>
                  <a:ea typeface="Garet"/>
                  <a:cs typeface="Garet"/>
                  <a:sym typeface="Garet"/>
                </a:rPr>
                <a:t>Dòng log của Main thread ("KẾT THÚC CUỘC ĐUA") in ra xong xuôi trong khi các thread con vẫn đang chạy. Điều này nhắc lại khái niệm Bất đồng bộ (Asynchronous).</a:t>
              </a:r>
            </a:p>
            <a:p>
              <a:pPr algn="just">
                <a:lnSpc>
                  <a:spcPts val="5312"/>
                </a:lnSpc>
              </a:pPr>
            </a:p>
          </p:txBody>
        </p:sp>
      </p:grpSp>
      <p:grpSp>
        <p:nvGrpSpPr>
          <p:cNvPr name="Group 13" id="13"/>
          <p:cNvGrpSpPr/>
          <p:nvPr/>
        </p:nvGrpSpPr>
        <p:grpSpPr>
          <a:xfrm rot="0">
            <a:off x="782825" y="2356269"/>
            <a:ext cx="732337" cy="732337"/>
            <a:chOff x="0" y="0"/>
            <a:chExt cx="812800" cy="812800"/>
          </a:xfrm>
        </p:grpSpPr>
        <p:sp>
          <p:nvSpPr>
            <p:cNvPr name="Freeform 14" id="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1B88"/>
            </a:solidFill>
            <a:ln cap="sq">
              <a:noFill/>
              <a:prstDash val="solid"/>
              <a:miter/>
            </a:ln>
          </p:spPr>
        </p:sp>
        <p:sp>
          <p:nvSpPr>
            <p:cNvPr name="TextBox 15" id="15"/>
            <p:cNvSpPr txBox="true"/>
            <p:nvPr/>
          </p:nvSpPr>
          <p:spPr>
            <a:xfrm>
              <a:off x="76200" y="28575"/>
              <a:ext cx="660400" cy="708025"/>
            </a:xfrm>
            <a:prstGeom prst="rect">
              <a:avLst/>
            </a:prstGeom>
          </p:spPr>
          <p:txBody>
            <a:bodyPr anchor="ctr" rtlCol="false" tIns="50800" lIns="50800" bIns="50800" rIns="50800"/>
            <a:lstStyle/>
            <a:p>
              <a:pPr algn="ctr">
                <a:lnSpc>
                  <a:spcPts val="2939"/>
                </a:lnSpc>
              </a:pPr>
              <a:r>
                <a:rPr lang="en-US" b="true" sz="2099">
                  <a:solidFill>
                    <a:srgbClr val="FFFFFF"/>
                  </a:solidFill>
                  <a:latin typeface="Garet Bold"/>
                  <a:ea typeface="Garet Bold"/>
                  <a:cs typeface="Garet Bold"/>
                  <a:sym typeface="Garet Bold"/>
                </a:rPr>
                <a:t>4</a:t>
              </a:r>
            </a:p>
          </p:txBody>
        </p:sp>
      </p:grpSp>
      <p:sp>
        <p:nvSpPr>
          <p:cNvPr name="TextBox 16" id="16"/>
          <p:cNvSpPr txBox="true"/>
          <p:nvPr/>
        </p:nvSpPr>
        <p:spPr>
          <a:xfrm rot="0">
            <a:off x="1781133" y="2398905"/>
            <a:ext cx="11792934" cy="1180465"/>
          </a:xfrm>
          <a:prstGeom prst="rect">
            <a:avLst/>
          </a:prstGeom>
        </p:spPr>
        <p:txBody>
          <a:bodyPr anchor="t" rtlCol="false" tIns="0" lIns="0" bIns="0" rIns="0">
            <a:spAutoFit/>
          </a:bodyPr>
          <a:lstStyle/>
          <a:p>
            <a:pPr algn="l">
              <a:lnSpc>
                <a:spcPts val="4759"/>
              </a:lnSpc>
            </a:pPr>
            <a:r>
              <a:rPr lang="en-US" sz="3399" b="true">
                <a:solidFill>
                  <a:srgbClr val="000000"/>
                </a:solidFill>
                <a:latin typeface="Garet Bold"/>
                <a:ea typeface="Garet Bold"/>
                <a:cs typeface="Garet Bold"/>
                <a:sym typeface="Garet Bold"/>
              </a:rPr>
              <a:t>Demo thực tế - Cuộc đua giữa các Threads</a:t>
            </a:r>
          </a:p>
          <a:p>
            <a:pPr algn="l">
              <a:lnSpc>
                <a:spcPts val="4759"/>
              </a:lnSpc>
            </a:pPr>
          </a:p>
        </p:txBody>
      </p:sp>
      <p:sp>
        <p:nvSpPr>
          <p:cNvPr name="TextBox 17" id="17"/>
          <p:cNvSpPr txBox="true"/>
          <p:nvPr/>
        </p:nvSpPr>
        <p:spPr>
          <a:xfrm rot="0">
            <a:off x="17798527" y="9587012"/>
            <a:ext cx="345270"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7</a:t>
            </a:r>
          </a:p>
        </p:txBody>
      </p:sp>
      <p:grpSp>
        <p:nvGrpSpPr>
          <p:cNvPr name="Group 18" id="18"/>
          <p:cNvGrpSpPr/>
          <p:nvPr/>
        </p:nvGrpSpPr>
        <p:grpSpPr>
          <a:xfrm rot="0">
            <a:off x="769898" y="178769"/>
            <a:ext cx="16748203" cy="1231093"/>
            <a:chOff x="0" y="0"/>
            <a:chExt cx="22330938" cy="1641457"/>
          </a:xfrm>
        </p:grpSpPr>
        <p:grpSp>
          <p:nvGrpSpPr>
            <p:cNvPr name="Group 19" id="19"/>
            <p:cNvGrpSpPr/>
            <p:nvPr/>
          </p:nvGrpSpPr>
          <p:grpSpPr>
            <a:xfrm rot="0">
              <a:off x="0" y="0"/>
              <a:ext cx="3390257" cy="1641457"/>
              <a:chOff x="0" y="0"/>
              <a:chExt cx="729373" cy="353140"/>
            </a:xfrm>
          </p:grpSpPr>
          <p:sp>
            <p:nvSpPr>
              <p:cNvPr name="Freeform 20" id="20"/>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21" id="21"/>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22" id="22"/>
            <p:cNvSpPr txBox="true"/>
            <p:nvPr/>
          </p:nvSpPr>
          <p:spPr>
            <a:xfrm rot="0">
              <a:off x="69855"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Giới thiệu &amp;</a:t>
              </a:r>
            </a:p>
            <a:p>
              <a:pPr algn="ctr">
                <a:lnSpc>
                  <a:spcPts val="3073"/>
                </a:lnSpc>
              </a:pPr>
              <a:r>
                <a:rPr lang="en-US" sz="2195">
                  <a:solidFill>
                    <a:srgbClr val="000000"/>
                  </a:solidFill>
                  <a:latin typeface="Garet"/>
                  <a:ea typeface="Garet"/>
                  <a:cs typeface="Garet"/>
                  <a:sym typeface="Garet"/>
                </a:rPr>
                <a:t> đặt vấn đề</a:t>
              </a:r>
            </a:p>
          </p:txBody>
        </p:sp>
        <p:grpSp>
          <p:nvGrpSpPr>
            <p:cNvPr name="Group 23" id="23"/>
            <p:cNvGrpSpPr/>
            <p:nvPr/>
          </p:nvGrpSpPr>
          <p:grpSpPr>
            <a:xfrm rot="0">
              <a:off x="3703251" y="0"/>
              <a:ext cx="3390257" cy="1641457"/>
              <a:chOff x="0" y="0"/>
              <a:chExt cx="729373" cy="353140"/>
            </a:xfrm>
          </p:grpSpPr>
          <p:sp>
            <p:nvSpPr>
              <p:cNvPr name="Freeform 24" id="24"/>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111B88"/>
              </a:solidFill>
            </p:spPr>
          </p:sp>
          <p:sp>
            <p:nvSpPr>
              <p:cNvPr name="TextBox 25" id="25"/>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26" id="26"/>
            <p:cNvSpPr txBox="true"/>
            <p:nvPr/>
          </p:nvSpPr>
          <p:spPr>
            <a:xfrm rot="0">
              <a:off x="3754062" y="141009"/>
              <a:ext cx="3250547" cy="1487748"/>
            </a:xfrm>
            <a:prstGeom prst="rect">
              <a:avLst/>
            </a:prstGeom>
          </p:spPr>
          <p:txBody>
            <a:bodyPr anchor="t" rtlCol="false" tIns="0" lIns="0" bIns="0" rIns="0">
              <a:spAutoFit/>
            </a:bodyPr>
            <a:lstStyle/>
            <a:p>
              <a:pPr algn="ctr">
                <a:lnSpc>
                  <a:spcPts val="3073"/>
                </a:lnSpc>
              </a:pPr>
              <a:r>
                <a:rPr lang="en-US" sz="2195">
                  <a:solidFill>
                    <a:srgbClr val="FFFFFF"/>
                  </a:solidFill>
                  <a:latin typeface="Garet"/>
                  <a:ea typeface="Garet"/>
                  <a:cs typeface="Garet"/>
                  <a:sym typeface="Garet"/>
                </a:rPr>
                <a:t>Tạo &amp; quản lý Threads trong Kotlin</a:t>
              </a:r>
            </a:p>
          </p:txBody>
        </p:sp>
        <p:grpSp>
          <p:nvGrpSpPr>
            <p:cNvPr name="Group 27" id="27"/>
            <p:cNvGrpSpPr/>
            <p:nvPr/>
          </p:nvGrpSpPr>
          <p:grpSpPr>
            <a:xfrm rot="0">
              <a:off x="7525308" y="0"/>
              <a:ext cx="3390257" cy="1641457"/>
              <a:chOff x="0" y="0"/>
              <a:chExt cx="729373" cy="353140"/>
            </a:xfrm>
          </p:grpSpPr>
          <p:sp>
            <p:nvSpPr>
              <p:cNvPr name="Freeform 28" id="28"/>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29" id="29"/>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0" id="30"/>
            <p:cNvSpPr txBox="true"/>
            <p:nvPr/>
          </p:nvSpPr>
          <p:spPr>
            <a:xfrm rot="0">
              <a:off x="7595164"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Dữ liệu chia sẻ và đồng bộ hóa</a:t>
              </a:r>
            </a:p>
          </p:txBody>
        </p:sp>
        <p:grpSp>
          <p:nvGrpSpPr>
            <p:cNvPr name="Group 31" id="31"/>
            <p:cNvGrpSpPr/>
            <p:nvPr/>
          </p:nvGrpSpPr>
          <p:grpSpPr>
            <a:xfrm rot="0">
              <a:off x="11347366" y="0"/>
              <a:ext cx="3390257" cy="1641457"/>
              <a:chOff x="0" y="0"/>
              <a:chExt cx="729373" cy="353140"/>
            </a:xfrm>
          </p:grpSpPr>
          <p:sp>
            <p:nvSpPr>
              <p:cNvPr name="Freeform 32" id="32"/>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33" id="33"/>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4" id="34"/>
            <p:cNvSpPr txBox="true"/>
            <p:nvPr/>
          </p:nvSpPr>
          <p:spPr>
            <a:xfrm rot="0">
              <a:off x="11417221"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Giao tiếp giữa các threads</a:t>
              </a:r>
            </a:p>
          </p:txBody>
        </p:sp>
        <p:grpSp>
          <p:nvGrpSpPr>
            <p:cNvPr name="Group 35" id="35"/>
            <p:cNvGrpSpPr/>
            <p:nvPr/>
          </p:nvGrpSpPr>
          <p:grpSpPr>
            <a:xfrm rot="0">
              <a:off x="15144023" y="0"/>
              <a:ext cx="3390257" cy="1641457"/>
              <a:chOff x="0" y="0"/>
              <a:chExt cx="729373" cy="353140"/>
            </a:xfrm>
          </p:grpSpPr>
          <p:sp>
            <p:nvSpPr>
              <p:cNvPr name="Freeform 36" id="36"/>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37" id="37"/>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8" id="38"/>
            <p:cNvSpPr txBox="true"/>
            <p:nvPr/>
          </p:nvSpPr>
          <p:spPr>
            <a:xfrm rot="0">
              <a:off x="15213879"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Các khái niệm nâng cao</a:t>
              </a:r>
            </a:p>
          </p:txBody>
        </p:sp>
        <p:grpSp>
          <p:nvGrpSpPr>
            <p:cNvPr name="Group 39" id="39"/>
            <p:cNvGrpSpPr/>
            <p:nvPr/>
          </p:nvGrpSpPr>
          <p:grpSpPr>
            <a:xfrm rot="0">
              <a:off x="18940681" y="0"/>
              <a:ext cx="3390257" cy="1641457"/>
              <a:chOff x="0" y="0"/>
              <a:chExt cx="729373" cy="353140"/>
            </a:xfrm>
          </p:grpSpPr>
          <p:sp>
            <p:nvSpPr>
              <p:cNvPr name="Freeform 40" id="40"/>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41" id="41"/>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42" id="42"/>
            <p:cNvSpPr txBox="true"/>
            <p:nvPr/>
          </p:nvSpPr>
          <p:spPr>
            <a:xfrm rot="0">
              <a:off x="19010536"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Kết luận và định hướng tương lai</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740861" y="6749958"/>
            <a:ext cx="4596322" cy="459632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0" cap="sq">
              <a:solidFill>
                <a:srgbClr val="F6F6F6"/>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5324660" y="9048119"/>
            <a:ext cx="596043" cy="59604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FFFFFF"/>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891661" y="3288837"/>
            <a:ext cx="6302434" cy="3880308"/>
            <a:chOff x="0" y="0"/>
            <a:chExt cx="8403245" cy="5173744"/>
          </a:xfrm>
        </p:grpSpPr>
        <p:grpSp>
          <p:nvGrpSpPr>
            <p:cNvPr name="Group 9" id="9"/>
            <p:cNvGrpSpPr/>
            <p:nvPr/>
          </p:nvGrpSpPr>
          <p:grpSpPr>
            <a:xfrm rot="0">
              <a:off x="0" y="0"/>
              <a:ext cx="8403245" cy="5173744"/>
              <a:chOff x="0" y="0"/>
              <a:chExt cx="11528931" cy="7098179"/>
            </a:xfrm>
          </p:grpSpPr>
          <p:sp>
            <p:nvSpPr>
              <p:cNvPr name="Freeform 10" id="10"/>
              <p:cNvSpPr/>
              <p:nvPr/>
            </p:nvSpPr>
            <p:spPr>
              <a:xfrm flipH="false" flipV="false" rot="0">
                <a:off x="0" y="0"/>
                <a:ext cx="11528931" cy="7098178"/>
              </a:xfrm>
              <a:custGeom>
                <a:avLst/>
                <a:gdLst/>
                <a:ahLst/>
                <a:cxnLst/>
                <a:rect r="r" b="b" t="t" l="l"/>
                <a:pathLst>
                  <a:path h="7098178" w="11528931">
                    <a:moveTo>
                      <a:pt x="62648" y="0"/>
                    </a:moveTo>
                    <a:lnTo>
                      <a:pt x="11466283" y="0"/>
                    </a:lnTo>
                    <a:cubicBezTo>
                      <a:pt x="11482898" y="0"/>
                      <a:pt x="11498833" y="6600"/>
                      <a:pt x="11510582" y="18349"/>
                    </a:cubicBezTo>
                    <a:cubicBezTo>
                      <a:pt x="11522331" y="30098"/>
                      <a:pt x="11528931" y="46033"/>
                      <a:pt x="11528931" y="62648"/>
                    </a:cubicBezTo>
                    <a:lnTo>
                      <a:pt x="11528931" y="7035530"/>
                    </a:lnTo>
                    <a:cubicBezTo>
                      <a:pt x="11528931" y="7070130"/>
                      <a:pt x="11500882" y="7098178"/>
                      <a:pt x="11466283" y="7098178"/>
                    </a:cubicBezTo>
                    <a:lnTo>
                      <a:pt x="62648" y="7098178"/>
                    </a:lnTo>
                    <a:cubicBezTo>
                      <a:pt x="28049" y="7098178"/>
                      <a:pt x="0" y="7070130"/>
                      <a:pt x="0" y="7035530"/>
                    </a:cubicBezTo>
                    <a:lnTo>
                      <a:pt x="0" y="62648"/>
                    </a:lnTo>
                    <a:cubicBezTo>
                      <a:pt x="0" y="46033"/>
                      <a:pt x="6600" y="30098"/>
                      <a:pt x="18349" y="18349"/>
                    </a:cubicBezTo>
                    <a:cubicBezTo>
                      <a:pt x="30098" y="6600"/>
                      <a:pt x="46033" y="0"/>
                      <a:pt x="62648" y="0"/>
                    </a:cubicBezTo>
                    <a:close/>
                  </a:path>
                </a:pathLst>
              </a:custGeom>
              <a:solidFill>
                <a:srgbClr val="E8ECEC"/>
              </a:solidFill>
            </p:spPr>
          </p:sp>
          <p:sp>
            <p:nvSpPr>
              <p:cNvPr name="TextBox 11" id="11"/>
              <p:cNvSpPr txBox="true"/>
              <p:nvPr/>
            </p:nvSpPr>
            <p:spPr>
              <a:xfrm>
                <a:off x="0" y="-57150"/>
                <a:ext cx="11528931" cy="7155329"/>
              </a:xfrm>
              <a:prstGeom prst="rect">
                <a:avLst/>
              </a:prstGeom>
            </p:spPr>
            <p:txBody>
              <a:bodyPr anchor="ctr" rtlCol="false" tIns="7314" lIns="7314" bIns="7314" rIns="7314"/>
              <a:lstStyle/>
              <a:p>
                <a:pPr algn="ctr">
                  <a:lnSpc>
                    <a:spcPts val="4199"/>
                  </a:lnSpc>
                </a:pPr>
              </a:p>
            </p:txBody>
          </p:sp>
        </p:grpSp>
        <p:sp>
          <p:nvSpPr>
            <p:cNvPr name="TextBox 12" id="12"/>
            <p:cNvSpPr txBox="true"/>
            <p:nvPr/>
          </p:nvSpPr>
          <p:spPr>
            <a:xfrm rot="0">
              <a:off x="215900" y="373644"/>
              <a:ext cx="7950619" cy="4289537"/>
            </a:xfrm>
            <a:prstGeom prst="rect">
              <a:avLst/>
            </a:prstGeom>
          </p:spPr>
          <p:txBody>
            <a:bodyPr anchor="t" rtlCol="false" tIns="0" lIns="0" bIns="0" rIns="0">
              <a:spAutoFit/>
            </a:bodyPr>
            <a:lstStyle/>
            <a:p>
              <a:pPr algn="just">
                <a:lnSpc>
                  <a:spcPts val="5312"/>
                </a:lnSpc>
              </a:pPr>
              <a:r>
                <a:rPr lang="en-US" sz="2724">
                  <a:solidFill>
                    <a:srgbClr val="000000"/>
                  </a:solidFill>
                  <a:latin typeface="Garet"/>
                  <a:ea typeface="Garet"/>
                  <a:cs typeface="Garet"/>
                  <a:sym typeface="Garet"/>
                </a:rPr>
                <a:t>Xảy ra khi </a:t>
              </a:r>
              <a:r>
                <a:rPr lang="en-US" sz="2724">
                  <a:solidFill>
                    <a:srgbClr val="000000"/>
                  </a:solidFill>
                  <a:latin typeface="Garet"/>
                  <a:ea typeface="Garet"/>
                  <a:cs typeface="Garet"/>
                  <a:sym typeface="Garet"/>
                </a:rPr>
                <a:t>nhiều thread cùng truy cập và sửa đổi một biến chung (shared mutable state) cùng lúc. Điều này dẫn đến dữ liệu bị sai lệch không đoán trước được.</a:t>
              </a:r>
            </a:p>
          </p:txBody>
        </p:sp>
      </p:grpSp>
      <p:grpSp>
        <p:nvGrpSpPr>
          <p:cNvPr name="Group 13" id="13"/>
          <p:cNvGrpSpPr/>
          <p:nvPr/>
        </p:nvGrpSpPr>
        <p:grpSpPr>
          <a:xfrm rot="0">
            <a:off x="769898" y="1895350"/>
            <a:ext cx="12791242" cy="1223101"/>
            <a:chOff x="0" y="0"/>
            <a:chExt cx="17054990" cy="1630801"/>
          </a:xfrm>
        </p:grpSpPr>
        <p:grpSp>
          <p:nvGrpSpPr>
            <p:cNvPr name="Group 14" id="14"/>
            <p:cNvGrpSpPr/>
            <p:nvPr/>
          </p:nvGrpSpPr>
          <p:grpSpPr>
            <a:xfrm rot="0">
              <a:off x="0" y="0"/>
              <a:ext cx="976449" cy="976449"/>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1B88"/>
              </a:solidFill>
              <a:ln cap="sq">
                <a:noFill/>
                <a:prstDash val="solid"/>
                <a:miter/>
              </a:ln>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2939"/>
                  </a:lnSpc>
                </a:pPr>
                <a:r>
                  <a:rPr lang="en-US" b="true" sz="2099">
                    <a:solidFill>
                      <a:srgbClr val="FFFFFF"/>
                    </a:solidFill>
                    <a:latin typeface="Garet Bold"/>
                    <a:ea typeface="Garet Bold"/>
                    <a:cs typeface="Garet Bold"/>
                    <a:sym typeface="Garet Bold"/>
                  </a:rPr>
                  <a:t>1</a:t>
                </a:r>
              </a:p>
            </p:txBody>
          </p:sp>
        </p:grpSp>
        <p:sp>
          <p:nvSpPr>
            <p:cNvPr name="TextBox 17" id="17"/>
            <p:cNvSpPr txBox="true"/>
            <p:nvPr/>
          </p:nvSpPr>
          <p:spPr>
            <a:xfrm rot="0">
              <a:off x="1331077" y="79073"/>
              <a:ext cx="15723913" cy="1551728"/>
            </a:xfrm>
            <a:prstGeom prst="rect">
              <a:avLst/>
            </a:prstGeom>
          </p:spPr>
          <p:txBody>
            <a:bodyPr anchor="t" rtlCol="false" tIns="0" lIns="0" bIns="0" rIns="0">
              <a:spAutoFit/>
            </a:bodyPr>
            <a:lstStyle/>
            <a:p>
              <a:pPr algn="l">
                <a:lnSpc>
                  <a:spcPts val="4759"/>
                </a:lnSpc>
              </a:pPr>
              <a:r>
                <a:rPr lang="en-US" sz="3399" b="true">
                  <a:solidFill>
                    <a:srgbClr val="000000"/>
                  </a:solidFill>
                  <a:latin typeface="Garet Bold"/>
                  <a:ea typeface="Garet Bold"/>
                  <a:cs typeface="Garet Bold"/>
                  <a:sym typeface="Garet Bold"/>
                </a:rPr>
                <a:t>Vấn đề Race conditions</a:t>
              </a:r>
            </a:p>
            <a:p>
              <a:pPr algn="l">
                <a:lnSpc>
                  <a:spcPts val="4759"/>
                </a:lnSpc>
              </a:pPr>
            </a:p>
          </p:txBody>
        </p:sp>
      </p:grpSp>
      <p:grpSp>
        <p:nvGrpSpPr>
          <p:cNvPr name="Group 18" id="18"/>
          <p:cNvGrpSpPr/>
          <p:nvPr/>
        </p:nvGrpSpPr>
        <p:grpSpPr>
          <a:xfrm rot="0">
            <a:off x="769898" y="178769"/>
            <a:ext cx="16748203" cy="1231093"/>
            <a:chOff x="0" y="0"/>
            <a:chExt cx="22330938" cy="1641457"/>
          </a:xfrm>
        </p:grpSpPr>
        <p:grpSp>
          <p:nvGrpSpPr>
            <p:cNvPr name="Group 19" id="19"/>
            <p:cNvGrpSpPr/>
            <p:nvPr/>
          </p:nvGrpSpPr>
          <p:grpSpPr>
            <a:xfrm rot="0">
              <a:off x="0" y="0"/>
              <a:ext cx="3390257" cy="1641457"/>
              <a:chOff x="0" y="0"/>
              <a:chExt cx="729373" cy="353140"/>
            </a:xfrm>
          </p:grpSpPr>
          <p:sp>
            <p:nvSpPr>
              <p:cNvPr name="Freeform 20" id="20"/>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21" id="21"/>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22" id="22"/>
            <p:cNvSpPr txBox="true"/>
            <p:nvPr/>
          </p:nvSpPr>
          <p:spPr>
            <a:xfrm rot="0">
              <a:off x="69855"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Giới thiệu &amp;</a:t>
              </a:r>
            </a:p>
            <a:p>
              <a:pPr algn="ctr">
                <a:lnSpc>
                  <a:spcPts val="3073"/>
                </a:lnSpc>
              </a:pPr>
              <a:r>
                <a:rPr lang="en-US" sz="2195">
                  <a:solidFill>
                    <a:srgbClr val="000000"/>
                  </a:solidFill>
                  <a:latin typeface="Garet"/>
                  <a:ea typeface="Garet"/>
                  <a:cs typeface="Garet"/>
                  <a:sym typeface="Garet"/>
                </a:rPr>
                <a:t> đặt vấn đề</a:t>
              </a:r>
            </a:p>
          </p:txBody>
        </p:sp>
        <p:grpSp>
          <p:nvGrpSpPr>
            <p:cNvPr name="Group 23" id="23"/>
            <p:cNvGrpSpPr/>
            <p:nvPr/>
          </p:nvGrpSpPr>
          <p:grpSpPr>
            <a:xfrm rot="0">
              <a:off x="3703251" y="0"/>
              <a:ext cx="3390257" cy="1641457"/>
              <a:chOff x="0" y="0"/>
              <a:chExt cx="729373" cy="353140"/>
            </a:xfrm>
          </p:grpSpPr>
          <p:sp>
            <p:nvSpPr>
              <p:cNvPr name="Freeform 24" id="24"/>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25" id="25"/>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26" id="26"/>
            <p:cNvSpPr txBox="true"/>
            <p:nvPr/>
          </p:nvSpPr>
          <p:spPr>
            <a:xfrm rot="0">
              <a:off x="3754062" y="141009"/>
              <a:ext cx="3250547" cy="1487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Tạo &amp; quản lý Threads trong Kotlin</a:t>
              </a:r>
            </a:p>
          </p:txBody>
        </p:sp>
        <p:grpSp>
          <p:nvGrpSpPr>
            <p:cNvPr name="Group 27" id="27"/>
            <p:cNvGrpSpPr/>
            <p:nvPr/>
          </p:nvGrpSpPr>
          <p:grpSpPr>
            <a:xfrm rot="0">
              <a:off x="7525308" y="0"/>
              <a:ext cx="3390257" cy="1641457"/>
              <a:chOff x="0" y="0"/>
              <a:chExt cx="729373" cy="353140"/>
            </a:xfrm>
          </p:grpSpPr>
          <p:sp>
            <p:nvSpPr>
              <p:cNvPr name="Freeform 28" id="28"/>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111B88"/>
              </a:solidFill>
            </p:spPr>
          </p:sp>
          <p:sp>
            <p:nvSpPr>
              <p:cNvPr name="TextBox 29" id="29"/>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0" id="30"/>
            <p:cNvSpPr txBox="true"/>
            <p:nvPr/>
          </p:nvSpPr>
          <p:spPr>
            <a:xfrm rot="0">
              <a:off x="7595164" y="311805"/>
              <a:ext cx="3250547" cy="979748"/>
            </a:xfrm>
            <a:prstGeom prst="rect">
              <a:avLst/>
            </a:prstGeom>
          </p:spPr>
          <p:txBody>
            <a:bodyPr anchor="t" rtlCol="false" tIns="0" lIns="0" bIns="0" rIns="0">
              <a:spAutoFit/>
            </a:bodyPr>
            <a:lstStyle/>
            <a:p>
              <a:pPr algn="ctr">
                <a:lnSpc>
                  <a:spcPts val="3073"/>
                </a:lnSpc>
              </a:pPr>
              <a:r>
                <a:rPr lang="en-US" sz="2195">
                  <a:solidFill>
                    <a:srgbClr val="FFFFFF"/>
                  </a:solidFill>
                  <a:latin typeface="Garet"/>
                  <a:ea typeface="Garet"/>
                  <a:cs typeface="Garet"/>
                  <a:sym typeface="Garet"/>
                </a:rPr>
                <a:t>Dữ liệu chia sẻ và đồng bộ hóa</a:t>
              </a:r>
            </a:p>
          </p:txBody>
        </p:sp>
        <p:grpSp>
          <p:nvGrpSpPr>
            <p:cNvPr name="Group 31" id="31"/>
            <p:cNvGrpSpPr/>
            <p:nvPr/>
          </p:nvGrpSpPr>
          <p:grpSpPr>
            <a:xfrm rot="0">
              <a:off x="11347366" y="0"/>
              <a:ext cx="3390257" cy="1641457"/>
              <a:chOff x="0" y="0"/>
              <a:chExt cx="729373" cy="353140"/>
            </a:xfrm>
          </p:grpSpPr>
          <p:sp>
            <p:nvSpPr>
              <p:cNvPr name="Freeform 32" id="32"/>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33" id="33"/>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4" id="34"/>
            <p:cNvSpPr txBox="true"/>
            <p:nvPr/>
          </p:nvSpPr>
          <p:spPr>
            <a:xfrm rot="0">
              <a:off x="11417221"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Giao tiếp giữa các threads</a:t>
              </a:r>
            </a:p>
          </p:txBody>
        </p:sp>
        <p:grpSp>
          <p:nvGrpSpPr>
            <p:cNvPr name="Group 35" id="35"/>
            <p:cNvGrpSpPr/>
            <p:nvPr/>
          </p:nvGrpSpPr>
          <p:grpSpPr>
            <a:xfrm rot="0">
              <a:off x="15144023" y="0"/>
              <a:ext cx="3390257" cy="1641457"/>
              <a:chOff x="0" y="0"/>
              <a:chExt cx="729373" cy="353140"/>
            </a:xfrm>
          </p:grpSpPr>
          <p:sp>
            <p:nvSpPr>
              <p:cNvPr name="Freeform 36" id="36"/>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37" id="37"/>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8" id="38"/>
            <p:cNvSpPr txBox="true"/>
            <p:nvPr/>
          </p:nvSpPr>
          <p:spPr>
            <a:xfrm rot="0">
              <a:off x="15213879"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Các khái niệm nâng cao</a:t>
              </a:r>
            </a:p>
          </p:txBody>
        </p:sp>
        <p:grpSp>
          <p:nvGrpSpPr>
            <p:cNvPr name="Group 39" id="39"/>
            <p:cNvGrpSpPr/>
            <p:nvPr/>
          </p:nvGrpSpPr>
          <p:grpSpPr>
            <a:xfrm rot="0">
              <a:off x="18940681" y="0"/>
              <a:ext cx="3390257" cy="1641457"/>
              <a:chOff x="0" y="0"/>
              <a:chExt cx="729373" cy="353140"/>
            </a:xfrm>
          </p:grpSpPr>
          <p:sp>
            <p:nvSpPr>
              <p:cNvPr name="Freeform 40" id="40"/>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41" id="41"/>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42" id="42"/>
            <p:cNvSpPr txBox="true"/>
            <p:nvPr/>
          </p:nvSpPr>
          <p:spPr>
            <a:xfrm rot="0">
              <a:off x="19010536"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Kết luận và định hướng tương lai</a:t>
              </a:r>
            </a:p>
          </p:txBody>
        </p:sp>
      </p:grpSp>
      <p:sp>
        <p:nvSpPr>
          <p:cNvPr name="TextBox 43" id="43"/>
          <p:cNvSpPr txBox="true"/>
          <p:nvPr/>
        </p:nvSpPr>
        <p:spPr>
          <a:xfrm rot="0">
            <a:off x="17798527" y="9587012"/>
            <a:ext cx="345270"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8</a:t>
            </a:r>
          </a:p>
        </p:txBody>
      </p:sp>
      <p:sp>
        <p:nvSpPr>
          <p:cNvPr name="Freeform 44" id="44"/>
          <p:cNvSpPr/>
          <p:nvPr/>
        </p:nvSpPr>
        <p:spPr>
          <a:xfrm flipH="false" flipV="false" rot="0">
            <a:off x="8059401" y="2691686"/>
            <a:ext cx="9314199" cy="5959927"/>
          </a:xfrm>
          <a:custGeom>
            <a:avLst/>
            <a:gdLst/>
            <a:ahLst/>
            <a:cxnLst/>
            <a:rect r="r" b="b" t="t" l="l"/>
            <a:pathLst>
              <a:path h="5959927" w="9314199">
                <a:moveTo>
                  <a:pt x="0" y="0"/>
                </a:moveTo>
                <a:lnTo>
                  <a:pt x="9314199" y="0"/>
                </a:lnTo>
                <a:lnTo>
                  <a:pt x="9314199" y="5959927"/>
                </a:lnTo>
                <a:lnTo>
                  <a:pt x="0" y="5959927"/>
                </a:lnTo>
                <a:lnTo>
                  <a:pt x="0" y="0"/>
                </a:lnTo>
                <a:close/>
              </a:path>
            </a:pathLst>
          </a:custGeom>
          <a:blipFill>
            <a:blip r:embed="rId2"/>
            <a:stretch>
              <a:fillRect l="0" t="0" r="-22998" b="0"/>
            </a:stretch>
          </a:blipFill>
        </p:spPr>
      </p:sp>
      <p:sp>
        <p:nvSpPr>
          <p:cNvPr name="TextBox 45" id="45"/>
          <p:cNvSpPr txBox="true"/>
          <p:nvPr/>
        </p:nvSpPr>
        <p:spPr>
          <a:xfrm rot="0">
            <a:off x="9916994" y="8757924"/>
            <a:ext cx="5599013" cy="290195"/>
          </a:xfrm>
          <a:prstGeom prst="rect">
            <a:avLst/>
          </a:prstGeom>
        </p:spPr>
        <p:txBody>
          <a:bodyPr anchor="t" rtlCol="false" tIns="0" lIns="0" bIns="0" rIns="0">
            <a:spAutoFit/>
          </a:bodyPr>
          <a:lstStyle/>
          <a:p>
            <a:pPr algn="ctr">
              <a:lnSpc>
                <a:spcPts val="2380"/>
              </a:lnSpc>
              <a:spcBef>
                <a:spcPct val="0"/>
              </a:spcBef>
            </a:pPr>
            <a:r>
              <a:rPr lang="en-US" sz="1700" i="true">
                <a:solidFill>
                  <a:srgbClr val="000000"/>
                </a:solidFill>
                <a:latin typeface="Inter Italics"/>
                <a:ea typeface="Inter Italics"/>
                <a:cs typeface="Inter Italics"/>
                <a:sym typeface="Inter Italics"/>
              </a:rPr>
              <a:t>Ảnh 5: Vấn đề khi nhiều thread sử dụng cùng một biến </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740861" y="6749958"/>
            <a:ext cx="4596322" cy="459632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0" cap="sq">
              <a:solidFill>
                <a:srgbClr val="F6F6F6"/>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5324660" y="9048119"/>
            <a:ext cx="596043" cy="59604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FFFFFF"/>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769898" y="178769"/>
            <a:ext cx="16748203" cy="1231093"/>
            <a:chOff x="0" y="0"/>
            <a:chExt cx="22330938" cy="1641457"/>
          </a:xfrm>
        </p:grpSpPr>
        <p:grpSp>
          <p:nvGrpSpPr>
            <p:cNvPr name="Group 9" id="9"/>
            <p:cNvGrpSpPr/>
            <p:nvPr/>
          </p:nvGrpSpPr>
          <p:grpSpPr>
            <a:xfrm rot="0">
              <a:off x="0" y="0"/>
              <a:ext cx="3390257" cy="1641457"/>
              <a:chOff x="0" y="0"/>
              <a:chExt cx="729373" cy="353140"/>
            </a:xfrm>
          </p:grpSpPr>
          <p:sp>
            <p:nvSpPr>
              <p:cNvPr name="Freeform 10" id="10"/>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11" id="11"/>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12" id="12"/>
            <p:cNvSpPr txBox="true"/>
            <p:nvPr/>
          </p:nvSpPr>
          <p:spPr>
            <a:xfrm rot="0">
              <a:off x="69855"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Giới thiệu &amp;</a:t>
              </a:r>
            </a:p>
            <a:p>
              <a:pPr algn="ctr">
                <a:lnSpc>
                  <a:spcPts val="3073"/>
                </a:lnSpc>
              </a:pPr>
              <a:r>
                <a:rPr lang="en-US" sz="2195">
                  <a:solidFill>
                    <a:srgbClr val="000000"/>
                  </a:solidFill>
                  <a:latin typeface="Garet"/>
                  <a:ea typeface="Garet"/>
                  <a:cs typeface="Garet"/>
                  <a:sym typeface="Garet"/>
                </a:rPr>
                <a:t> đặt vấn đề</a:t>
              </a:r>
            </a:p>
          </p:txBody>
        </p:sp>
        <p:grpSp>
          <p:nvGrpSpPr>
            <p:cNvPr name="Group 13" id="13"/>
            <p:cNvGrpSpPr/>
            <p:nvPr/>
          </p:nvGrpSpPr>
          <p:grpSpPr>
            <a:xfrm rot="0">
              <a:off x="3703251" y="0"/>
              <a:ext cx="3390257" cy="1641457"/>
              <a:chOff x="0" y="0"/>
              <a:chExt cx="729373" cy="353140"/>
            </a:xfrm>
          </p:grpSpPr>
          <p:sp>
            <p:nvSpPr>
              <p:cNvPr name="Freeform 14" id="14"/>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15" id="15"/>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16" id="16"/>
            <p:cNvSpPr txBox="true"/>
            <p:nvPr/>
          </p:nvSpPr>
          <p:spPr>
            <a:xfrm rot="0">
              <a:off x="3754062" y="141009"/>
              <a:ext cx="3250547" cy="1487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Tạo &amp; quản lý Threads trong Kotlin</a:t>
              </a:r>
            </a:p>
          </p:txBody>
        </p:sp>
        <p:grpSp>
          <p:nvGrpSpPr>
            <p:cNvPr name="Group 17" id="17"/>
            <p:cNvGrpSpPr/>
            <p:nvPr/>
          </p:nvGrpSpPr>
          <p:grpSpPr>
            <a:xfrm rot="0">
              <a:off x="7525308" y="0"/>
              <a:ext cx="3390257" cy="1641457"/>
              <a:chOff x="0" y="0"/>
              <a:chExt cx="729373" cy="353140"/>
            </a:xfrm>
          </p:grpSpPr>
          <p:sp>
            <p:nvSpPr>
              <p:cNvPr name="Freeform 18" id="18"/>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111B88"/>
              </a:solidFill>
            </p:spPr>
          </p:sp>
          <p:sp>
            <p:nvSpPr>
              <p:cNvPr name="TextBox 19" id="19"/>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20" id="20"/>
            <p:cNvSpPr txBox="true"/>
            <p:nvPr/>
          </p:nvSpPr>
          <p:spPr>
            <a:xfrm rot="0">
              <a:off x="7595164" y="311805"/>
              <a:ext cx="3250547" cy="979748"/>
            </a:xfrm>
            <a:prstGeom prst="rect">
              <a:avLst/>
            </a:prstGeom>
          </p:spPr>
          <p:txBody>
            <a:bodyPr anchor="t" rtlCol="false" tIns="0" lIns="0" bIns="0" rIns="0">
              <a:spAutoFit/>
            </a:bodyPr>
            <a:lstStyle/>
            <a:p>
              <a:pPr algn="ctr">
                <a:lnSpc>
                  <a:spcPts val="3073"/>
                </a:lnSpc>
              </a:pPr>
              <a:r>
                <a:rPr lang="en-US" sz="2195">
                  <a:solidFill>
                    <a:srgbClr val="FFFFFF"/>
                  </a:solidFill>
                  <a:latin typeface="Garet"/>
                  <a:ea typeface="Garet"/>
                  <a:cs typeface="Garet"/>
                  <a:sym typeface="Garet"/>
                </a:rPr>
                <a:t>Dữ liệu chia sẻ và đồng bộ hóa</a:t>
              </a:r>
            </a:p>
          </p:txBody>
        </p:sp>
        <p:grpSp>
          <p:nvGrpSpPr>
            <p:cNvPr name="Group 21" id="21"/>
            <p:cNvGrpSpPr/>
            <p:nvPr/>
          </p:nvGrpSpPr>
          <p:grpSpPr>
            <a:xfrm rot="0">
              <a:off x="11347366" y="0"/>
              <a:ext cx="3390257" cy="1641457"/>
              <a:chOff x="0" y="0"/>
              <a:chExt cx="729373" cy="353140"/>
            </a:xfrm>
          </p:grpSpPr>
          <p:sp>
            <p:nvSpPr>
              <p:cNvPr name="Freeform 22" id="22"/>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23" id="23"/>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24" id="24"/>
            <p:cNvSpPr txBox="true"/>
            <p:nvPr/>
          </p:nvSpPr>
          <p:spPr>
            <a:xfrm rot="0">
              <a:off x="11417221"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Giao tiếp giữa các threads</a:t>
              </a:r>
            </a:p>
          </p:txBody>
        </p:sp>
        <p:grpSp>
          <p:nvGrpSpPr>
            <p:cNvPr name="Group 25" id="25"/>
            <p:cNvGrpSpPr/>
            <p:nvPr/>
          </p:nvGrpSpPr>
          <p:grpSpPr>
            <a:xfrm rot="0">
              <a:off x="15144023" y="0"/>
              <a:ext cx="3390257" cy="1641457"/>
              <a:chOff x="0" y="0"/>
              <a:chExt cx="729373" cy="353140"/>
            </a:xfrm>
          </p:grpSpPr>
          <p:sp>
            <p:nvSpPr>
              <p:cNvPr name="Freeform 26" id="26"/>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27" id="27"/>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28" id="28"/>
            <p:cNvSpPr txBox="true"/>
            <p:nvPr/>
          </p:nvSpPr>
          <p:spPr>
            <a:xfrm rot="0">
              <a:off x="15213879"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Các khái niệm nâng cao</a:t>
              </a:r>
            </a:p>
          </p:txBody>
        </p:sp>
        <p:grpSp>
          <p:nvGrpSpPr>
            <p:cNvPr name="Group 29" id="29"/>
            <p:cNvGrpSpPr/>
            <p:nvPr/>
          </p:nvGrpSpPr>
          <p:grpSpPr>
            <a:xfrm rot="0">
              <a:off x="18940681" y="0"/>
              <a:ext cx="3390257" cy="1641457"/>
              <a:chOff x="0" y="0"/>
              <a:chExt cx="729373" cy="353140"/>
            </a:xfrm>
          </p:grpSpPr>
          <p:sp>
            <p:nvSpPr>
              <p:cNvPr name="Freeform 30" id="30"/>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31" id="31"/>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2" id="32"/>
            <p:cNvSpPr txBox="true"/>
            <p:nvPr/>
          </p:nvSpPr>
          <p:spPr>
            <a:xfrm rot="0">
              <a:off x="19010536"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Kết luận và định hướng tương lai</a:t>
              </a:r>
            </a:p>
          </p:txBody>
        </p:sp>
      </p:grpSp>
      <p:grpSp>
        <p:nvGrpSpPr>
          <p:cNvPr name="Group 33" id="33"/>
          <p:cNvGrpSpPr/>
          <p:nvPr/>
        </p:nvGrpSpPr>
        <p:grpSpPr>
          <a:xfrm rot="0">
            <a:off x="782825" y="2002447"/>
            <a:ext cx="732337" cy="732337"/>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1B88"/>
            </a:solidFill>
            <a:ln cap="sq">
              <a:noFill/>
              <a:prstDash val="solid"/>
              <a:miter/>
            </a:ln>
          </p:spPr>
        </p:sp>
        <p:sp>
          <p:nvSpPr>
            <p:cNvPr name="TextBox 35" id="35"/>
            <p:cNvSpPr txBox="true"/>
            <p:nvPr/>
          </p:nvSpPr>
          <p:spPr>
            <a:xfrm>
              <a:off x="76200" y="28575"/>
              <a:ext cx="660400" cy="708025"/>
            </a:xfrm>
            <a:prstGeom prst="rect">
              <a:avLst/>
            </a:prstGeom>
          </p:spPr>
          <p:txBody>
            <a:bodyPr anchor="ctr" rtlCol="false" tIns="50800" lIns="50800" bIns="50800" rIns="50800"/>
            <a:lstStyle/>
            <a:p>
              <a:pPr algn="ctr">
                <a:lnSpc>
                  <a:spcPts val="2939"/>
                </a:lnSpc>
              </a:pPr>
              <a:r>
                <a:rPr lang="en-US" b="true" sz="2099">
                  <a:solidFill>
                    <a:srgbClr val="FFFFFF"/>
                  </a:solidFill>
                  <a:latin typeface="Garet Bold"/>
                  <a:ea typeface="Garet Bold"/>
                  <a:cs typeface="Garet Bold"/>
                  <a:sym typeface="Garet Bold"/>
                </a:rPr>
                <a:t>2</a:t>
              </a:r>
            </a:p>
          </p:txBody>
        </p:sp>
      </p:grpSp>
      <p:grpSp>
        <p:nvGrpSpPr>
          <p:cNvPr name="Group 36" id="36"/>
          <p:cNvGrpSpPr/>
          <p:nvPr/>
        </p:nvGrpSpPr>
        <p:grpSpPr>
          <a:xfrm rot="0">
            <a:off x="1028700" y="3076426"/>
            <a:ext cx="5632576" cy="4191298"/>
            <a:chOff x="0" y="0"/>
            <a:chExt cx="7510101" cy="5588398"/>
          </a:xfrm>
        </p:grpSpPr>
        <p:grpSp>
          <p:nvGrpSpPr>
            <p:cNvPr name="Group 37" id="37"/>
            <p:cNvGrpSpPr/>
            <p:nvPr/>
          </p:nvGrpSpPr>
          <p:grpSpPr>
            <a:xfrm rot="0">
              <a:off x="0" y="0"/>
              <a:ext cx="7510101" cy="5588398"/>
              <a:chOff x="0" y="0"/>
              <a:chExt cx="10303572" cy="7667068"/>
            </a:xfrm>
          </p:grpSpPr>
          <p:sp>
            <p:nvSpPr>
              <p:cNvPr name="Freeform 38" id="38"/>
              <p:cNvSpPr/>
              <p:nvPr/>
            </p:nvSpPr>
            <p:spPr>
              <a:xfrm flipH="false" flipV="false" rot="0">
                <a:off x="0" y="0"/>
                <a:ext cx="10303572" cy="7667068"/>
              </a:xfrm>
              <a:custGeom>
                <a:avLst/>
                <a:gdLst/>
                <a:ahLst/>
                <a:cxnLst/>
                <a:rect r="r" b="b" t="t" l="l"/>
                <a:pathLst>
                  <a:path h="7667068" w="10303572">
                    <a:moveTo>
                      <a:pt x="70099" y="0"/>
                    </a:moveTo>
                    <a:lnTo>
                      <a:pt x="10233473" y="0"/>
                    </a:lnTo>
                    <a:cubicBezTo>
                      <a:pt x="10252064" y="0"/>
                      <a:pt x="10269894" y="7385"/>
                      <a:pt x="10283041" y="20532"/>
                    </a:cubicBezTo>
                    <a:cubicBezTo>
                      <a:pt x="10296186" y="33678"/>
                      <a:pt x="10303572" y="51508"/>
                      <a:pt x="10303572" y="70099"/>
                    </a:cubicBezTo>
                    <a:lnTo>
                      <a:pt x="10303572" y="7596970"/>
                    </a:lnTo>
                    <a:cubicBezTo>
                      <a:pt x="10303572" y="7615561"/>
                      <a:pt x="10296186" y="7633391"/>
                      <a:pt x="10283041" y="7646537"/>
                    </a:cubicBezTo>
                    <a:cubicBezTo>
                      <a:pt x="10269894" y="7659683"/>
                      <a:pt x="10252064" y="7667068"/>
                      <a:pt x="10233473" y="7667068"/>
                    </a:cubicBezTo>
                    <a:lnTo>
                      <a:pt x="70099" y="7667068"/>
                    </a:lnTo>
                    <a:cubicBezTo>
                      <a:pt x="31384" y="7667068"/>
                      <a:pt x="0" y="7635684"/>
                      <a:pt x="0" y="7596970"/>
                    </a:cubicBezTo>
                    <a:lnTo>
                      <a:pt x="0" y="70099"/>
                    </a:lnTo>
                    <a:cubicBezTo>
                      <a:pt x="0" y="51508"/>
                      <a:pt x="7385" y="33678"/>
                      <a:pt x="20532" y="20532"/>
                    </a:cubicBezTo>
                    <a:cubicBezTo>
                      <a:pt x="33678" y="7385"/>
                      <a:pt x="51508" y="0"/>
                      <a:pt x="70099" y="0"/>
                    </a:cubicBezTo>
                    <a:close/>
                  </a:path>
                </a:pathLst>
              </a:custGeom>
              <a:solidFill>
                <a:srgbClr val="E8ECEC"/>
              </a:solidFill>
            </p:spPr>
          </p:sp>
          <p:sp>
            <p:nvSpPr>
              <p:cNvPr name="TextBox 39" id="39"/>
              <p:cNvSpPr txBox="true"/>
              <p:nvPr/>
            </p:nvSpPr>
            <p:spPr>
              <a:xfrm>
                <a:off x="0" y="-57150"/>
                <a:ext cx="10303572" cy="7724218"/>
              </a:xfrm>
              <a:prstGeom prst="rect">
                <a:avLst/>
              </a:prstGeom>
            </p:spPr>
            <p:txBody>
              <a:bodyPr anchor="ctr" rtlCol="false" tIns="7314" lIns="7314" bIns="7314" rIns="7314"/>
              <a:lstStyle/>
              <a:p>
                <a:pPr algn="ctr">
                  <a:lnSpc>
                    <a:spcPts val="4199"/>
                  </a:lnSpc>
                </a:pPr>
              </a:p>
            </p:txBody>
          </p:sp>
        </p:grpSp>
        <p:sp>
          <p:nvSpPr>
            <p:cNvPr name="TextBox 40" id="40"/>
            <p:cNvSpPr txBox="true"/>
            <p:nvPr/>
          </p:nvSpPr>
          <p:spPr>
            <a:xfrm rot="0">
              <a:off x="176467" y="147765"/>
              <a:ext cx="7157167" cy="5178537"/>
            </a:xfrm>
            <a:prstGeom prst="rect">
              <a:avLst/>
            </a:prstGeom>
          </p:spPr>
          <p:txBody>
            <a:bodyPr anchor="t" rtlCol="false" tIns="0" lIns="0" bIns="0" rIns="0">
              <a:spAutoFit/>
            </a:bodyPr>
            <a:lstStyle/>
            <a:p>
              <a:pPr algn="l" marL="588138" indent="-294069" lvl="1">
                <a:lnSpc>
                  <a:spcPts val="5312"/>
                </a:lnSpc>
                <a:buFont typeface="Arial"/>
                <a:buChar char="•"/>
              </a:pPr>
              <a:r>
                <a:rPr lang="en-US" sz="2724">
                  <a:solidFill>
                    <a:srgbClr val="000000"/>
                  </a:solidFill>
                  <a:latin typeface="Garet"/>
                  <a:ea typeface="Garet"/>
                  <a:cs typeface="Garet"/>
                  <a:sym typeface="Garet"/>
                </a:rPr>
                <a:t>Từ khóa </a:t>
              </a:r>
              <a:r>
                <a:rPr lang="en-US" sz="2724">
                  <a:solidFill>
                    <a:srgbClr val="A31515"/>
                  </a:solidFill>
                  <a:latin typeface="Garet"/>
                  <a:ea typeface="Garet"/>
                  <a:cs typeface="Garet"/>
                  <a:sym typeface="Garet"/>
                </a:rPr>
                <a:t>@Sy</a:t>
              </a:r>
              <a:r>
                <a:rPr lang="en-US" sz="2724">
                  <a:solidFill>
                    <a:srgbClr val="A31515"/>
                  </a:solidFill>
                  <a:latin typeface="Garet"/>
                  <a:ea typeface="Garet"/>
                  <a:cs typeface="Garet"/>
                  <a:sym typeface="Garet"/>
                </a:rPr>
                <a:t>nchronized</a:t>
              </a:r>
              <a:r>
                <a:rPr lang="en-US" sz="2724">
                  <a:solidFill>
                    <a:srgbClr val="000000"/>
                  </a:solidFill>
                  <a:latin typeface="Garet"/>
                  <a:ea typeface="Garet"/>
                  <a:cs typeface="Garet"/>
                  <a:sym typeface="Garet"/>
                </a:rPr>
                <a:t> (cho hàm) hoặc khối </a:t>
              </a:r>
              <a:r>
                <a:rPr lang="en-US" sz="2724">
                  <a:solidFill>
                    <a:srgbClr val="A31515"/>
                  </a:solidFill>
                  <a:latin typeface="Garet"/>
                  <a:ea typeface="Garet"/>
                  <a:cs typeface="Garet"/>
                  <a:sym typeface="Garet"/>
                </a:rPr>
                <a:t>synchronized(lock).</a:t>
              </a:r>
            </a:p>
            <a:p>
              <a:pPr algn="l" marL="588138" indent="-294069" lvl="1">
                <a:lnSpc>
                  <a:spcPts val="5312"/>
                </a:lnSpc>
                <a:buFont typeface="Arial"/>
                <a:buChar char="•"/>
              </a:pPr>
              <a:r>
                <a:rPr lang="en-US" sz="2724">
                  <a:solidFill>
                    <a:srgbClr val="000000"/>
                  </a:solidFill>
                  <a:latin typeface="Garet"/>
                  <a:ea typeface="Garet"/>
                  <a:cs typeface="Garet"/>
                  <a:sym typeface="Garet"/>
                </a:rPr>
                <a:t>Đảm bảo tại một thời điểm, chỉ có 1 thread được phép chạy đoạn code đó.</a:t>
              </a:r>
            </a:p>
          </p:txBody>
        </p:sp>
      </p:grpSp>
      <p:sp>
        <p:nvSpPr>
          <p:cNvPr name="Freeform 41" id="41"/>
          <p:cNvSpPr/>
          <p:nvPr/>
        </p:nvSpPr>
        <p:spPr>
          <a:xfrm flipH="false" flipV="false" rot="0">
            <a:off x="7472411" y="2826277"/>
            <a:ext cx="9799325" cy="6432023"/>
          </a:xfrm>
          <a:custGeom>
            <a:avLst/>
            <a:gdLst/>
            <a:ahLst/>
            <a:cxnLst/>
            <a:rect r="r" b="b" t="t" l="l"/>
            <a:pathLst>
              <a:path h="6432023" w="9799325">
                <a:moveTo>
                  <a:pt x="0" y="0"/>
                </a:moveTo>
                <a:lnTo>
                  <a:pt x="9799325" y="0"/>
                </a:lnTo>
                <a:lnTo>
                  <a:pt x="9799325" y="6432023"/>
                </a:lnTo>
                <a:lnTo>
                  <a:pt x="0" y="6432023"/>
                </a:lnTo>
                <a:lnTo>
                  <a:pt x="0" y="0"/>
                </a:lnTo>
                <a:close/>
              </a:path>
            </a:pathLst>
          </a:custGeom>
          <a:blipFill>
            <a:blip r:embed="rId2"/>
            <a:stretch>
              <a:fillRect l="0" t="-1001" r="0" b="-1001"/>
            </a:stretch>
          </a:blipFill>
        </p:spPr>
      </p:sp>
      <p:sp>
        <p:nvSpPr>
          <p:cNvPr name="TextBox 42" id="42"/>
          <p:cNvSpPr txBox="true"/>
          <p:nvPr/>
        </p:nvSpPr>
        <p:spPr>
          <a:xfrm rot="0">
            <a:off x="1781133" y="2045082"/>
            <a:ext cx="11792934" cy="580390"/>
          </a:xfrm>
          <a:prstGeom prst="rect">
            <a:avLst/>
          </a:prstGeom>
        </p:spPr>
        <p:txBody>
          <a:bodyPr anchor="t" rtlCol="false" tIns="0" lIns="0" bIns="0" rIns="0">
            <a:spAutoFit/>
          </a:bodyPr>
          <a:lstStyle/>
          <a:p>
            <a:pPr algn="l">
              <a:lnSpc>
                <a:spcPts val="4759"/>
              </a:lnSpc>
            </a:pPr>
            <a:r>
              <a:rPr lang="en-US" sz="3399" b="true">
                <a:solidFill>
                  <a:srgbClr val="000000"/>
                </a:solidFill>
                <a:latin typeface="Garet Bold"/>
                <a:ea typeface="Garet Bold"/>
                <a:cs typeface="Garet Bold"/>
                <a:sym typeface="Garet Bold"/>
              </a:rPr>
              <a:t>Giải pháp đồng bộ hóa (Synchronized)</a:t>
            </a:r>
          </a:p>
        </p:txBody>
      </p:sp>
      <p:sp>
        <p:nvSpPr>
          <p:cNvPr name="TextBox 43" id="43"/>
          <p:cNvSpPr txBox="true"/>
          <p:nvPr/>
        </p:nvSpPr>
        <p:spPr>
          <a:xfrm rot="0">
            <a:off x="17798527" y="9587012"/>
            <a:ext cx="345270"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9</a:t>
            </a:r>
          </a:p>
        </p:txBody>
      </p:sp>
      <p:sp>
        <p:nvSpPr>
          <p:cNvPr name="TextBox 44" id="44"/>
          <p:cNvSpPr txBox="true"/>
          <p:nvPr/>
        </p:nvSpPr>
        <p:spPr>
          <a:xfrm rot="0">
            <a:off x="9398388" y="9353967"/>
            <a:ext cx="5947371" cy="290195"/>
          </a:xfrm>
          <a:prstGeom prst="rect">
            <a:avLst/>
          </a:prstGeom>
        </p:spPr>
        <p:txBody>
          <a:bodyPr anchor="t" rtlCol="false" tIns="0" lIns="0" bIns="0" rIns="0">
            <a:spAutoFit/>
          </a:bodyPr>
          <a:lstStyle/>
          <a:p>
            <a:pPr algn="ctr">
              <a:lnSpc>
                <a:spcPts val="2380"/>
              </a:lnSpc>
              <a:spcBef>
                <a:spcPct val="0"/>
              </a:spcBef>
            </a:pPr>
            <a:r>
              <a:rPr lang="en-US" sz="1700" i="true">
                <a:solidFill>
                  <a:srgbClr val="000000"/>
                </a:solidFill>
                <a:latin typeface="Inter Italics"/>
                <a:ea typeface="Inter Italics"/>
                <a:cs typeface="Inter Italics"/>
                <a:sym typeface="Inter Italics"/>
              </a:rPr>
              <a:t>Ảnh 6: Đồng bộ hóa với synchronized() khi sử dụng thread</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740861" y="6749958"/>
            <a:ext cx="4596322" cy="459632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0" cap="sq">
              <a:solidFill>
                <a:srgbClr val="F6F6F6"/>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5324660" y="9048119"/>
            <a:ext cx="596043" cy="59604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FFFFFF"/>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769898" y="178769"/>
            <a:ext cx="16748203" cy="1231093"/>
            <a:chOff x="0" y="0"/>
            <a:chExt cx="22330938" cy="1641457"/>
          </a:xfrm>
        </p:grpSpPr>
        <p:grpSp>
          <p:nvGrpSpPr>
            <p:cNvPr name="Group 9" id="9"/>
            <p:cNvGrpSpPr/>
            <p:nvPr/>
          </p:nvGrpSpPr>
          <p:grpSpPr>
            <a:xfrm rot="0">
              <a:off x="0" y="0"/>
              <a:ext cx="3390257" cy="1641457"/>
              <a:chOff x="0" y="0"/>
              <a:chExt cx="729373" cy="353140"/>
            </a:xfrm>
          </p:grpSpPr>
          <p:sp>
            <p:nvSpPr>
              <p:cNvPr name="Freeform 10" id="10"/>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11" id="11"/>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12" id="12"/>
            <p:cNvSpPr txBox="true"/>
            <p:nvPr/>
          </p:nvSpPr>
          <p:spPr>
            <a:xfrm rot="0">
              <a:off x="69855"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Giới thiệu &amp;</a:t>
              </a:r>
            </a:p>
            <a:p>
              <a:pPr algn="ctr">
                <a:lnSpc>
                  <a:spcPts val="3073"/>
                </a:lnSpc>
              </a:pPr>
              <a:r>
                <a:rPr lang="en-US" sz="2195">
                  <a:solidFill>
                    <a:srgbClr val="000000"/>
                  </a:solidFill>
                  <a:latin typeface="Garet"/>
                  <a:ea typeface="Garet"/>
                  <a:cs typeface="Garet"/>
                  <a:sym typeface="Garet"/>
                </a:rPr>
                <a:t> đặt vấn đề</a:t>
              </a:r>
            </a:p>
          </p:txBody>
        </p:sp>
        <p:grpSp>
          <p:nvGrpSpPr>
            <p:cNvPr name="Group 13" id="13"/>
            <p:cNvGrpSpPr/>
            <p:nvPr/>
          </p:nvGrpSpPr>
          <p:grpSpPr>
            <a:xfrm rot="0">
              <a:off x="3703251" y="0"/>
              <a:ext cx="3390257" cy="1641457"/>
              <a:chOff x="0" y="0"/>
              <a:chExt cx="729373" cy="353140"/>
            </a:xfrm>
          </p:grpSpPr>
          <p:sp>
            <p:nvSpPr>
              <p:cNvPr name="Freeform 14" id="14"/>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15" id="15"/>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16" id="16"/>
            <p:cNvSpPr txBox="true"/>
            <p:nvPr/>
          </p:nvSpPr>
          <p:spPr>
            <a:xfrm rot="0">
              <a:off x="3754062" y="141009"/>
              <a:ext cx="3250547" cy="1487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Tạo &amp; quản lý Threads trong Kotlin</a:t>
              </a:r>
            </a:p>
          </p:txBody>
        </p:sp>
        <p:grpSp>
          <p:nvGrpSpPr>
            <p:cNvPr name="Group 17" id="17"/>
            <p:cNvGrpSpPr/>
            <p:nvPr/>
          </p:nvGrpSpPr>
          <p:grpSpPr>
            <a:xfrm rot="0">
              <a:off x="7525308" y="0"/>
              <a:ext cx="3390257" cy="1641457"/>
              <a:chOff x="0" y="0"/>
              <a:chExt cx="729373" cy="353140"/>
            </a:xfrm>
          </p:grpSpPr>
          <p:sp>
            <p:nvSpPr>
              <p:cNvPr name="Freeform 18" id="18"/>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111B88"/>
              </a:solidFill>
            </p:spPr>
          </p:sp>
          <p:sp>
            <p:nvSpPr>
              <p:cNvPr name="TextBox 19" id="19"/>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20" id="20"/>
            <p:cNvSpPr txBox="true"/>
            <p:nvPr/>
          </p:nvSpPr>
          <p:spPr>
            <a:xfrm rot="0">
              <a:off x="7595164" y="311805"/>
              <a:ext cx="3250547" cy="979748"/>
            </a:xfrm>
            <a:prstGeom prst="rect">
              <a:avLst/>
            </a:prstGeom>
          </p:spPr>
          <p:txBody>
            <a:bodyPr anchor="t" rtlCol="false" tIns="0" lIns="0" bIns="0" rIns="0">
              <a:spAutoFit/>
            </a:bodyPr>
            <a:lstStyle/>
            <a:p>
              <a:pPr algn="ctr">
                <a:lnSpc>
                  <a:spcPts val="3073"/>
                </a:lnSpc>
              </a:pPr>
              <a:r>
                <a:rPr lang="en-US" sz="2195">
                  <a:solidFill>
                    <a:srgbClr val="FFFFFF"/>
                  </a:solidFill>
                  <a:latin typeface="Garet"/>
                  <a:ea typeface="Garet"/>
                  <a:cs typeface="Garet"/>
                  <a:sym typeface="Garet"/>
                </a:rPr>
                <a:t>Dữ liệu chia sẻ và đồng bộ hóa</a:t>
              </a:r>
            </a:p>
          </p:txBody>
        </p:sp>
        <p:grpSp>
          <p:nvGrpSpPr>
            <p:cNvPr name="Group 21" id="21"/>
            <p:cNvGrpSpPr/>
            <p:nvPr/>
          </p:nvGrpSpPr>
          <p:grpSpPr>
            <a:xfrm rot="0">
              <a:off x="11347366" y="0"/>
              <a:ext cx="3390257" cy="1641457"/>
              <a:chOff x="0" y="0"/>
              <a:chExt cx="729373" cy="353140"/>
            </a:xfrm>
          </p:grpSpPr>
          <p:sp>
            <p:nvSpPr>
              <p:cNvPr name="Freeform 22" id="22"/>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23" id="23"/>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24" id="24"/>
            <p:cNvSpPr txBox="true"/>
            <p:nvPr/>
          </p:nvSpPr>
          <p:spPr>
            <a:xfrm rot="0">
              <a:off x="11417221"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Giao tiếp giữa các threads</a:t>
              </a:r>
            </a:p>
          </p:txBody>
        </p:sp>
        <p:grpSp>
          <p:nvGrpSpPr>
            <p:cNvPr name="Group 25" id="25"/>
            <p:cNvGrpSpPr/>
            <p:nvPr/>
          </p:nvGrpSpPr>
          <p:grpSpPr>
            <a:xfrm rot="0">
              <a:off x="15144023" y="0"/>
              <a:ext cx="3390257" cy="1641457"/>
              <a:chOff x="0" y="0"/>
              <a:chExt cx="729373" cy="353140"/>
            </a:xfrm>
          </p:grpSpPr>
          <p:sp>
            <p:nvSpPr>
              <p:cNvPr name="Freeform 26" id="26"/>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27" id="27"/>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28" id="28"/>
            <p:cNvSpPr txBox="true"/>
            <p:nvPr/>
          </p:nvSpPr>
          <p:spPr>
            <a:xfrm rot="0">
              <a:off x="15213879"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Các khái niệm nâng cao</a:t>
              </a:r>
            </a:p>
          </p:txBody>
        </p:sp>
        <p:grpSp>
          <p:nvGrpSpPr>
            <p:cNvPr name="Group 29" id="29"/>
            <p:cNvGrpSpPr/>
            <p:nvPr/>
          </p:nvGrpSpPr>
          <p:grpSpPr>
            <a:xfrm rot="0">
              <a:off x="18940681" y="0"/>
              <a:ext cx="3390257" cy="1641457"/>
              <a:chOff x="0" y="0"/>
              <a:chExt cx="729373" cy="353140"/>
            </a:xfrm>
          </p:grpSpPr>
          <p:sp>
            <p:nvSpPr>
              <p:cNvPr name="Freeform 30" id="30"/>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31" id="31"/>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2" id="32"/>
            <p:cNvSpPr txBox="true"/>
            <p:nvPr/>
          </p:nvSpPr>
          <p:spPr>
            <a:xfrm rot="0">
              <a:off x="19010536"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Kết luận và định hướng tương lai</a:t>
              </a:r>
            </a:p>
          </p:txBody>
        </p:sp>
      </p:grpSp>
      <p:sp>
        <p:nvSpPr>
          <p:cNvPr name="Freeform 33" id="33"/>
          <p:cNvSpPr/>
          <p:nvPr/>
        </p:nvSpPr>
        <p:spPr>
          <a:xfrm flipH="false" flipV="false" rot="0">
            <a:off x="10112566" y="2779780"/>
            <a:ext cx="7405536" cy="6608482"/>
          </a:xfrm>
          <a:custGeom>
            <a:avLst/>
            <a:gdLst/>
            <a:ahLst/>
            <a:cxnLst/>
            <a:rect r="r" b="b" t="t" l="l"/>
            <a:pathLst>
              <a:path h="6608482" w="7405536">
                <a:moveTo>
                  <a:pt x="0" y="0"/>
                </a:moveTo>
                <a:lnTo>
                  <a:pt x="7405536" y="0"/>
                </a:lnTo>
                <a:lnTo>
                  <a:pt x="7405536" y="6608482"/>
                </a:lnTo>
                <a:lnTo>
                  <a:pt x="0" y="6608482"/>
                </a:lnTo>
                <a:lnTo>
                  <a:pt x="0" y="0"/>
                </a:lnTo>
                <a:close/>
              </a:path>
            </a:pathLst>
          </a:custGeom>
          <a:blipFill>
            <a:blip r:embed="rId2"/>
            <a:stretch>
              <a:fillRect l="0" t="0" r="0" b="0"/>
            </a:stretch>
          </a:blipFill>
        </p:spPr>
      </p:sp>
      <p:grpSp>
        <p:nvGrpSpPr>
          <p:cNvPr name="Group 34" id="34"/>
          <p:cNvGrpSpPr/>
          <p:nvPr/>
        </p:nvGrpSpPr>
        <p:grpSpPr>
          <a:xfrm rot="0">
            <a:off x="769898" y="2779780"/>
            <a:ext cx="8641976" cy="5435358"/>
            <a:chOff x="0" y="0"/>
            <a:chExt cx="11522634" cy="7247144"/>
          </a:xfrm>
        </p:grpSpPr>
        <p:grpSp>
          <p:nvGrpSpPr>
            <p:cNvPr name="Group 35" id="35"/>
            <p:cNvGrpSpPr/>
            <p:nvPr/>
          </p:nvGrpSpPr>
          <p:grpSpPr>
            <a:xfrm rot="0">
              <a:off x="0" y="0"/>
              <a:ext cx="11522634" cy="7247144"/>
              <a:chOff x="0" y="0"/>
              <a:chExt cx="15808613" cy="9942804"/>
            </a:xfrm>
          </p:grpSpPr>
          <p:sp>
            <p:nvSpPr>
              <p:cNvPr name="Freeform 36" id="36"/>
              <p:cNvSpPr/>
              <p:nvPr/>
            </p:nvSpPr>
            <p:spPr>
              <a:xfrm flipH="false" flipV="false" rot="0">
                <a:off x="0" y="0"/>
                <a:ext cx="15808613" cy="9942804"/>
              </a:xfrm>
              <a:custGeom>
                <a:avLst/>
                <a:gdLst/>
                <a:ahLst/>
                <a:cxnLst/>
                <a:rect r="r" b="b" t="t" l="l"/>
                <a:pathLst>
                  <a:path h="9942804" w="15808613">
                    <a:moveTo>
                      <a:pt x="45688" y="0"/>
                    </a:moveTo>
                    <a:lnTo>
                      <a:pt x="15762925" y="0"/>
                    </a:lnTo>
                    <a:cubicBezTo>
                      <a:pt x="15788159" y="0"/>
                      <a:pt x="15808613" y="20455"/>
                      <a:pt x="15808613" y="45688"/>
                    </a:cubicBezTo>
                    <a:lnTo>
                      <a:pt x="15808613" y="9897115"/>
                    </a:lnTo>
                    <a:cubicBezTo>
                      <a:pt x="15808613" y="9922349"/>
                      <a:pt x="15788159" y="9942804"/>
                      <a:pt x="15762925" y="9942804"/>
                    </a:cubicBezTo>
                    <a:lnTo>
                      <a:pt x="45688" y="9942804"/>
                    </a:lnTo>
                    <a:cubicBezTo>
                      <a:pt x="20455" y="9942804"/>
                      <a:pt x="0" y="9922349"/>
                      <a:pt x="0" y="9897115"/>
                    </a:cubicBezTo>
                    <a:lnTo>
                      <a:pt x="0" y="45688"/>
                    </a:lnTo>
                    <a:cubicBezTo>
                      <a:pt x="0" y="20455"/>
                      <a:pt x="20455" y="0"/>
                      <a:pt x="45688" y="0"/>
                    </a:cubicBezTo>
                    <a:close/>
                  </a:path>
                </a:pathLst>
              </a:custGeom>
              <a:solidFill>
                <a:srgbClr val="E8ECEC"/>
              </a:solidFill>
            </p:spPr>
          </p:sp>
          <p:sp>
            <p:nvSpPr>
              <p:cNvPr name="TextBox 37" id="37"/>
              <p:cNvSpPr txBox="true"/>
              <p:nvPr/>
            </p:nvSpPr>
            <p:spPr>
              <a:xfrm>
                <a:off x="0" y="-57150"/>
                <a:ext cx="15808613" cy="9999954"/>
              </a:xfrm>
              <a:prstGeom prst="rect">
                <a:avLst/>
              </a:prstGeom>
            </p:spPr>
            <p:txBody>
              <a:bodyPr anchor="ctr" rtlCol="false" tIns="7314" lIns="7314" bIns="7314" rIns="7314"/>
              <a:lstStyle/>
              <a:p>
                <a:pPr algn="ctr">
                  <a:lnSpc>
                    <a:spcPts val="4199"/>
                  </a:lnSpc>
                </a:pPr>
              </a:p>
            </p:txBody>
          </p:sp>
        </p:grpSp>
        <p:sp>
          <p:nvSpPr>
            <p:cNvPr name="TextBox 38" id="38"/>
            <p:cNvSpPr txBox="true"/>
            <p:nvPr/>
          </p:nvSpPr>
          <p:spPr>
            <a:xfrm rot="0">
              <a:off x="0" y="24977"/>
              <a:ext cx="11230202" cy="6956537"/>
            </a:xfrm>
            <a:prstGeom prst="rect">
              <a:avLst/>
            </a:prstGeom>
          </p:spPr>
          <p:txBody>
            <a:bodyPr anchor="t" rtlCol="false" tIns="0" lIns="0" bIns="0" rIns="0">
              <a:spAutoFit/>
            </a:bodyPr>
            <a:lstStyle/>
            <a:p>
              <a:pPr algn="just" marL="588138" indent="-294069" lvl="1">
                <a:lnSpc>
                  <a:spcPts val="5312"/>
                </a:lnSpc>
                <a:buFont typeface="Arial"/>
                <a:buChar char="•"/>
              </a:pPr>
              <a:r>
                <a:rPr lang="en-US" sz="2724">
                  <a:solidFill>
                    <a:srgbClr val="A31515"/>
                  </a:solidFill>
                  <a:latin typeface="Garet"/>
                  <a:ea typeface="Garet"/>
                  <a:cs typeface="Garet"/>
                  <a:sym typeface="Garet"/>
                </a:rPr>
                <a:t>@Volatile:</a:t>
              </a:r>
              <a:r>
                <a:rPr lang="en-US" sz="2724">
                  <a:solidFill>
                    <a:srgbClr val="000000"/>
                  </a:solidFill>
                  <a:latin typeface="Garet"/>
                  <a:ea typeface="Garet"/>
                  <a:cs typeface="Garet"/>
                  <a:sym typeface="Garet"/>
                </a:rPr>
                <a:t> Đảm bảo mọi thread đều </a:t>
              </a:r>
              <a:r>
                <a:rPr lang="en-US" sz="2724">
                  <a:solidFill>
                    <a:srgbClr val="000000"/>
                  </a:solidFill>
                  <a:latin typeface="Garet"/>
                  <a:ea typeface="Garet"/>
                  <a:cs typeface="Garet"/>
                  <a:sym typeface="Garet"/>
                </a:rPr>
                <a:t>nhìn thấy giá trị mới nhất của biến ngay khi nó thay đổi (nhưng không đảm bảo tính nguyên tử cho phép cộng/trừ).</a:t>
              </a:r>
            </a:p>
            <a:p>
              <a:pPr algn="l" marL="588138" indent="-294069" lvl="1">
                <a:lnSpc>
                  <a:spcPts val="5312"/>
                </a:lnSpc>
                <a:buFont typeface="Arial"/>
                <a:buChar char="•"/>
              </a:pPr>
              <a:r>
                <a:rPr lang="en-US" sz="2724">
                  <a:solidFill>
                    <a:srgbClr val="A31515"/>
                  </a:solidFill>
                  <a:latin typeface="Garet"/>
                  <a:ea typeface="Garet"/>
                  <a:cs typeface="Garet"/>
                  <a:sym typeface="Garet"/>
                </a:rPr>
                <a:t>Atomic Classes</a:t>
              </a:r>
              <a:r>
                <a:rPr lang="en-US" sz="2724">
                  <a:solidFill>
                    <a:srgbClr val="000000"/>
                  </a:solidFill>
                  <a:latin typeface="Garet"/>
                  <a:ea typeface="Garet"/>
                  <a:cs typeface="Garet"/>
                  <a:sym typeface="Garet"/>
                </a:rPr>
                <a:t> (AtomicInteger, AtomicBoolean): Các lớp bọc sẵn an toàn cho thread, hiệu năng cao hơn synchronized cho các phép toán đơn giản.</a:t>
              </a:r>
            </a:p>
          </p:txBody>
        </p:sp>
      </p:grpSp>
      <p:grpSp>
        <p:nvGrpSpPr>
          <p:cNvPr name="Group 39" id="39"/>
          <p:cNvGrpSpPr/>
          <p:nvPr/>
        </p:nvGrpSpPr>
        <p:grpSpPr>
          <a:xfrm rot="0">
            <a:off x="769898" y="1771218"/>
            <a:ext cx="12791242" cy="732337"/>
            <a:chOff x="0" y="0"/>
            <a:chExt cx="17054990" cy="976449"/>
          </a:xfrm>
        </p:grpSpPr>
        <p:grpSp>
          <p:nvGrpSpPr>
            <p:cNvPr name="Group 40" id="40"/>
            <p:cNvGrpSpPr/>
            <p:nvPr/>
          </p:nvGrpSpPr>
          <p:grpSpPr>
            <a:xfrm rot="0">
              <a:off x="0" y="0"/>
              <a:ext cx="976449" cy="976449"/>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1B88"/>
              </a:solidFill>
              <a:ln cap="sq">
                <a:noFill/>
                <a:prstDash val="solid"/>
                <a:miter/>
              </a:ln>
            </p:spPr>
          </p:sp>
          <p:sp>
            <p:nvSpPr>
              <p:cNvPr name="TextBox 42" id="42"/>
              <p:cNvSpPr txBox="true"/>
              <p:nvPr/>
            </p:nvSpPr>
            <p:spPr>
              <a:xfrm>
                <a:off x="76200" y="28575"/>
                <a:ext cx="660400" cy="708025"/>
              </a:xfrm>
              <a:prstGeom prst="rect">
                <a:avLst/>
              </a:prstGeom>
            </p:spPr>
            <p:txBody>
              <a:bodyPr anchor="ctr" rtlCol="false" tIns="50800" lIns="50800" bIns="50800" rIns="50800"/>
              <a:lstStyle/>
              <a:p>
                <a:pPr algn="ctr">
                  <a:lnSpc>
                    <a:spcPts val="2939"/>
                  </a:lnSpc>
                </a:pPr>
                <a:r>
                  <a:rPr lang="en-US" b="true" sz="2099">
                    <a:solidFill>
                      <a:srgbClr val="FFFFFF"/>
                    </a:solidFill>
                    <a:latin typeface="Garet Bold"/>
                    <a:ea typeface="Garet Bold"/>
                    <a:cs typeface="Garet Bold"/>
                    <a:sym typeface="Garet Bold"/>
                  </a:rPr>
                  <a:t>3</a:t>
                </a:r>
              </a:p>
            </p:txBody>
          </p:sp>
        </p:grpSp>
        <p:sp>
          <p:nvSpPr>
            <p:cNvPr name="TextBox 43" id="43"/>
            <p:cNvSpPr txBox="true"/>
            <p:nvPr/>
          </p:nvSpPr>
          <p:spPr>
            <a:xfrm rot="0">
              <a:off x="1331077" y="79073"/>
              <a:ext cx="15723913" cy="751628"/>
            </a:xfrm>
            <a:prstGeom prst="rect">
              <a:avLst/>
            </a:prstGeom>
          </p:spPr>
          <p:txBody>
            <a:bodyPr anchor="t" rtlCol="false" tIns="0" lIns="0" bIns="0" rIns="0">
              <a:spAutoFit/>
            </a:bodyPr>
            <a:lstStyle/>
            <a:p>
              <a:pPr algn="l">
                <a:lnSpc>
                  <a:spcPts val="4759"/>
                </a:lnSpc>
              </a:pPr>
              <a:r>
                <a:rPr lang="en-US" sz="3399" b="true">
                  <a:solidFill>
                    <a:srgbClr val="000000"/>
                  </a:solidFill>
                  <a:latin typeface="Garet Bold"/>
                  <a:ea typeface="Garet Bold"/>
                  <a:cs typeface="Garet Bold"/>
                  <a:sym typeface="Garet Bold"/>
                </a:rPr>
                <a:t>Các công cụ khác (Volatile &amp; Atomic)</a:t>
              </a:r>
            </a:p>
          </p:txBody>
        </p:sp>
      </p:grpSp>
      <p:sp>
        <p:nvSpPr>
          <p:cNvPr name="TextBox 44" id="44"/>
          <p:cNvSpPr txBox="true"/>
          <p:nvPr/>
        </p:nvSpPr>
        <p:spPr>
          <a:xfrm rot="0">
            <a:off x="17660959" y="9587012"/>
            <a:ext cx="48283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10</a:t>
            </a:r>
          </a:p>
        </p:txBody>
      </p:sp>
      <p:sp>
        <p:nvSpPr>
          <p:cNvPr name="TextBox 45" id="45"/>
          <p:cNvSpPr txBox="true"/>
          <p:nvPr/>
        </p:nvSpPr>
        <p:spPr>
          <a:xfrm rot="0">
            <a:off x="12143776" y="9480014"/>
            <a:ext cx="3146822" cy="290195"/>
          </a:xfrm>
          <a:prstGeom prst="rect">
            <a:avLst/>
          </a:prstGeom>
        </p:spPr>
        <p:txBody>
          <a:bodyPr anchor="t" rtlCol="false" tIns="0" lIns="0" bIns="0" rIns="0">
            <a:spAutoFit/>
          </a:bodyPr>
          <a:lstStyle/>
          <a:p>
            <a:pPr algn="ctr">
              <a:lnSpc>
                <a:spcPts val="2380"/>
              </a:lnSpc>
              <a:spcBef>
                <a:spcPct val="0"/>
              </a:spcBef>
            </a:pPr>
            <a:r>
              <a:rPr lang="en-US" sz="1700" i="true">
                <a:solidFill>
                  <a:srgbClr val="000000"/>
                </a:solidFill>
                <a:latin typeface="Inter Italics"/>
                <a:ea typeface="Inter Italics"/>
                <a:cs typeface="Inter Italics"/>
                <a:sym typeface="Inter Italics"/>
              </a:rPr>
              <a:t>Ảnh 7: Sử dụng Atomic classes</a:t>
            </a:r>
          </a:p>
        </p:txBody>
      </p:sp>
    </p:spTree>
  </p:cSld>
  <p:clrMapOvr>
    <a:masterClrMapping/>
  </p:clrMapOvr>
</p:sld>
</file>

<file path=ppt/slides/slide1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5740861" y="6749958"/>
            <a:ext cx="4596322" cy="459632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0" cap="sq">
              <a:solidFill>
                <a:srgbClr val="F6F6F6"/>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5324660" y="9048119"/>
            <a:ext cx="596043" cy="59604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FFFFFF"/>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502024" y="3312338"/>
            <a:ext cx="17296502" cy="3437620"/>
            <a:chOff x="0" y="0"/>
            <a:chExt cx="31640186" cy="6288377"/>
          </a:xfrm>
        </p:grpSpPr>
        <p:sp>
          <p:nvSpPr>
            <p:cNvPr name="Freeform 9" id="9"/>
            <p:cNvSpPr/>
            <p:nvPr/>
          </p:nvSpPr>
          <p:spPr>
            <a:xfrm flipH="false" flipV="false" rot="0">
              <a:off x="0" y="0"/>
              <a:ext cx="31640187" cy="6288377"/>
            </a:xfrm>
            <a:custGeom>
              <a:avLst/>
              <a:gdLst/>
              <a:ahLst/>
              <a:cxnLst/>
              <a:rect r="r" b="b" t="t" l="l"/>
              <a:pathLst>
                <a:path h="6288377" w="31640187">
                  <a:moveTo>
                    <a:pt x="22828" y="0"/>
                  </a:moveTo>
                  <a:lnTo>
                    <a:pt x="31617360" y="0"/>
                  </a:lnTo>
                  <a:cubicBezTo>
                    <a:pt x="31629967" y="0"/>
                    <a:pt x="31640187" y="10220"/>
                    <a:pt x="31640187" y="22828"/>
                  </a:cubicBezTo>
                  <a:lnTo>
                    <a:pt x="31640187" y="6265550"/>
                  </a:lnTo>
                  <a:cubicBezTo>
                    <a:pt x="31640187" y="6278157"/>
                    <a:pt x="31629967" y="6288377"/>
                    <a:pt x="31617360" y="6288377"/>
                  </a:cubicBezTo>
                  <a:lnTo>
                    <a:pt x="22828" y="6288377"/>
                  </a:lnTo>
                  <a:cubicBezTo>
                    <a:pt x="10220" y="6288377"/>
                    <a:pt x="0" y="6278157"/>
                    <a:pt x="0" y="6265550"/>
                  </a:cubicBezTo>
                  <a:lnTo>
                    <a:pt x="0" y="22828"/>
                  </a:lnTo>
                  <a:cubicBezTo>
                    <a:pt x="0" y="10220"/>
                    <a:pt x="10220" y="0"/>
                    <a:pt x="22828" y="0"/>
                  </a:cubicBezTo>
                  <a:close/>
                </a:path>
              </a:pathLst>
            </a:custGeom>
            <a:solidFill>
              <a:srgbClr val="E8ECEC"/>
            </a:solidFill>
          </p:spPr>
        </p:sp>
        <p:sp>
          <p:nvSpPr>
            <p:cNvPr name="TextBox 10" id="10"/>
            <p:cNvSpPr txBox="true"/>
            <p:nvPr/>
          </p:nvSpPr>
          <p:spPr>
            <a:xfrm>
              <a:off x="0" y="-57150"/>
              <a:ext cx="31640186" cy="6345527"/>
            </a:xfrm>
            <a:prstGeom prst="rect">
              <a:avLst/>
            </a:prstGeom>
          </p:spPr>
          <p:txBody>
            <a:bodyPr anchor="ctr" rtlCol="false" tIns="7314" lIns="7314" bIns="7314" rIns="7314"/>
            <a:lstStyle/>
            <a:p>
              <a:pPr algn="ctr">
                <a:lnSpc>
                  <a:spcPts val="4199"/>
                </a:lnSpc>
              </a:pPr>
            </a:p>
          </p:txBody>
        </p:sp>
      </p:grpSp>
      <p:grpSp>
        <p:nvGrpSpPr>
          <p:cNvPr name="Group 11" id="11"/>
          <p:cNvGrpSpPr/>
          <p:nvPr/>
        </p:nvGrpSpPr>
        <p:grpSpPr>
          <a:xfrm rot="0">
            <a:off x="782825" y="2356269"/>
            <a:ext cx="732337" cy="73233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1B88"/>
            </a:solidFill>
            <a:ln cap="sq">
              <a:noFill/>
              <a:prstDash val="solid"/>
              <a:miter/>
            </a:ln>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2939"/>
                </a:lnSpc>
              </a:pPr>
              <a:r>
                <a:rPr lang="en-US" b="true" sz="2099">
                  <a:solidFill>
                    <a:srgbClr val="FFFFFF"/>
                  </a:solidFill>
                  <a:latin typeface="Garet Bold"/>
                  <a:ea typeface="Garet Bold"/>
                  <a:cs typeface="Garet Bold"/>
                  <a:sym typeface="Garet Bold"/>
                </a:rPr>
                <a:t>1</a:t>
              </a:r>
            </a:p>
          </p:txBody>
        </p:sp>
      </p:grpSp>
      <p:grpSp>
        <p:nvGrpSpPr>
          <p:cNvPr name="Group 14" id="14"/>
          <p:cNvGrpSpPr/>
          <p:nvPr/>
        </p:nvGrpSpPr>
        <p:grpSpPr>
          <a:xfrm rot="0">
            <a:off x="769898" y="178769"/>
            <a:ext cx="16748203" cy="1231093"/>
            <a:chOff x="0" y="0"/>
            <a:chExt cx="22330938" cy="1641457"/>
          </a:xfrm>
        </p:grpSpPr>
        <p:grpSp>
          <p:nvGrpSpPr>
            <p:cNvPr name="Group 15" id="15"/>
            <p:cNvGrpSpPr/>
            <p:nvPr/>
          </p:nvGrpSpPr>
          <p:grpSpPr>
            <a:xfrm rot="0">
              <a:off x="0" y="0"/>
              <a:ext cx="3390257" cy="1641457"/>
              <a:chOff x="0" y="0"/>
              <a:chExt cx="729373" cy="353140"/>
            </a:xfrm>
          </p:grpSpPr>
          <p:sp>
            <p:nvSpPr>
              <p:cNvPr name="Freeform 16" id="16"/>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17" id="17"/>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18" id="18"/>
            <p:cNvSpPr txBox="true"/>
            <p:nvPr/>
          </p:nvSpPr>
          <p:spPr>
            <a:xfrm rot="0">
              <a:off x="69855"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Giới thiệu &amp;</a:t>
              </a:r>
            </a:p>
            <a:p>
              <a:pPr algn="ctr">
                <a:lnSpc>
                  <a:spcPts val="3073"/>
                </a:lnSpc>
              </a:pPr>
              <a:r>
                <a:rPr lang="en-US" sz="2195">
                  <a:solidFill>
                    <a:srgbClr val="000000"/>
                  </a:solidFill>
                  <a:latin typeface="Garet"/>
                  <a:ea typeface="Garet"/>
                  <a:cs typeface="Garet"/>
                  <a:sym typeface="Garet"/>
                </a:rPr>
                <a:t> đặt vấn đề</a:t>
              </a:r>
            </a:p>
          </p:txBody>
        </p:sp>
        <p:grpSp>
          <p:nvGrpSpPr>
            <p:cNvPr name="Group 19" id="19"/>
            <p:cNvGrpSpPr/>
            <p:nvPr/>
          </p:nvGrpSpPr>
          <p:grpSpPr>
            <a:xfrm rot="0">
              <a:off x="3703251" y="0"/>
              <a:ext cx="3390257" cy="1641457"/>
              <a:chOff x="0" y="0"/>
              <a:chExt cx="729373" cy="353140"/>
            </a:xfrm>
          </p:grpSpPr>
          <p:sp>
            <p:nvSpPr>
              <p:cNvPr name="Freeform 20" id="20"/>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21" id="21"/>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22" id="22"/>
            <p:cNvSpPr txBox="true"/>
            <p:nvPr/>
          </p:nvSpPr>
          <p:spPr>
            <a:xfrm rot="0">
              <a:off x="3754062" y="141009"/>
              <a:ext cx="3250547" cy="1487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Tạo &amp; quản lý Threads trong Kotlin</a:t>
              </a:r>
            </a:p>
          </p:txBody>
        </p:sp>
        <p:grpSp>
          <p:nvGrpSpPr>
            <p:cNvPr name="Group 23" id="23"/>
            <p:cNvGrpSpPr/>
            <p:nvPr/>
          </p:nvGrpSpPr>
          <p:grpSpPr>
            <a:xfrm rot="0">
              <a:off x="7525308" y="0"/>
              <a:ext cx="3390257" cy="1641457"/>
              <a:chOff x="0" y="0"/>
              <a:chExt cx="729373" cy="353140"/>
            </a:xfrm>
          </p:grpSpPr>
          <p:sp>
            <p:nvSpPr>
              <p:cNvPr name="Freeform 24" id="24"/>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25" id="25"/>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26" id="26"/>
            <p:cNvSpPr txBox="true"/>
            <p:nvPr/>
          </p:nvSpPr>
          <p:spPr>
            <a:xfrm rot="0">
              <a:off x="7595164"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Dữ liệu chia sẻ và đồng bộ hóa</a:t>
              </a:r>
            </a:p>
          </p:txBody>
        </p:sp>
        <p:grpSp>
          <p:nvGrpSpPr>
            <p:cNvPr name="Group 27" id="27"/>
            <p:cNvGrpSpPr/>
            <p:nvPr/>
          </p:nvGrpSpPr>
          <p:grpSpPr>
            <a:xfrm rot="0">
              <a:off x="11347366" y="0"/>
              <a:ext cx="3390257" cy="1641457"/>
              <a:chOff x="0" y="0"/>
              <a:chExt cx="729373" cy="353140"/>
            </a:xfrm>
          </p:grpSpPr>
          <p:sp>
            <p:nvSpPr>
              <p:cNvPr name="Freeform 28" id="28"/>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111B88"/>
              </a:solidFill>
            </p:spPr>
          </p:sp>
          <p:sp>
            <p:nvSpPr>
              <p:cNvPr name="TextBox 29" id="29"/>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0" id="30"/>
            <p:cNvSpPr txBox="true"/>
            <p:nvPr/>
          </p:nvSpPr>
          <p:spPr>
            <a:xfrm rot="0">
              <a:off x="11417221" y="311805"/>
              <a:ext cx="3250547" cy="979748"/>
            </a:xfrm>
            <a:prstGeom prst="rect">
              <a:avLst/>
            </a:prstGeom>
          </p:spPr>
          <p:txBody>
            <a:bodyPr anchor="t" rtlCol="false" tIns="0" lIns="0" bIns="0" rIns="0">
              <a:spAutoFit/>
            </a:bodyPr>
            <a:lstStyle/>
            <a:p>
              <a:pPr algn="ctr">
                <a:lnSpc>
                  <a:spcPts val="3073"/>
                </a:lnSpc>
              </a:pPr>
              <a:r>
                <a:rPr lang="en-US" sz="2195">
                  <a:solidFill>
                    <a:srgbClr val="FFFFFF"/>
                  </a:solidFill>
                  <a:latin typeface="Garet"/>
                  <a:ea typeface="Garet"/>
                  <a:cs typeface="Garet"/>
                  <a:sym typeface="Garet"/>
                </a:rPr>
                <a:t>Giao tiếp giữa các threads</a:t>
              </a:r>
            </a:p>
          </p:txBody>
        </p:sp>
        <p:grpSp>
          <p:nvGrpSpPr>
            <p:cNvPr name="Group 31" id="31"/>
            <p:cNvGrpSpPr/>
            <p:nvPr/>
          </p:nvGrpSpPr>
          <p:grpSpPr>
            <a:xfrm rot="0">
              <a:off x="15144023" y="0"/>
              <a:ext cx="3390257" cy="1641457"/>
              <a:chOff x="0" y="0"/>
              <a:chExt cx="729373" cy="353140"/>
            </a:xfrm>
          </p:grpSpPr>
          <p:sp>
            <p:nvSpPr>
              <p:cNvPr name="Freeform 32" id="32"/>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33" id="33"/>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4" id="34"/>
            <p:cNvSpPr txBox="true"/>
            <p:nvPr/>
          </p:nvSpPr>
          <p:spPr>
            <a:xfrm rot="0">
              <a:off x="15213879"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Các khái niệm nâng cao</a:t>
              </a:r>
            </a:p>
          </p:txBody>
        </p:sp>
        <p:grpSp>
          <p:nvGrpSpPr>
            <p:cNvPr name="Group 35" id="35"/>
            <p:cNvGrpSpPr/>
            <p:nvPr/>
          </p:nvGrpSpPr>
          <p:grpSpPr>
            <a:xfrm rot="0">
              <a:off x="18940681" y="0"/>
              <a:ext cx="3390257" cy="1641457"/>
              <a:chOff x="0" y="0"/>
              <a:chExt cx="729373" cy="353140"/>
            </a:xfrm>
          </p:grpSpPr>
          <p:sp>
            <p:nvSpPr>
              <p:cNvPr name="Freeform 36" id="36"/>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37" id="37"/>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8" id="38"/>
            <p:cNvSpPr txBox="true"/>
            <p:nvPr/>
          </p:nvSpPr>
          <p:spPr>
            <a:xfrm rot="0">
              <a:off x="19010536"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Kết luận và định hướng tương lai</a:t>
              </a:r>
            </a:p>
          </p:txBody>
        </p:sp>
      </p:grpSp>
      <p:sp>
        <p:nvSpPr>
          <p:cNvPr name="TextBox 39" id="39"/>
          <p:cNvSpPr txBox="true"/>
          <p:nvPr/>
        </p:nvSpPr>
        <p:spPr>
          <a:xfrm rot="0">
            <a:off x="1781133" y="2398905"/>
            <a:ext cx="11792934" cy="580390"/>
          </a:xfrm>
          <a:prstGeom prst="rect">
            <a:avLst/>
          </a:prstGeom>
        </p:spPr>
        <p:txBody>
          <a:bodyPr anchor="t" rtlCol="false" tIns="0" lIns="0" bIns="0" rIns="0">
            <a:spAutoFit/>
          </a:bodyPr>
          <a:lstStyle/>
          <a:p>
            <a:pPr algn="l">
              <a:lnSpc>
                <a:spcPts val="4759"/>
              </a:lnSpc>
            </a:pPr>
            <a:r>
              <a:rPr lang="en-US" sz="3399" b="true">
                <a:solidFill>
                  <a:srgbClr val="000000"/>
                </a:solidFill>
                <a:latin typeface="Garet Bold"/>
                <a:ea typeface="Garet Bold"/>
                <a:cs typeface="Garet Bold"/>
                <a:sym typeface="Garet Bold"/>
              </a:rPr>
              <a:t>Cơ chế wait() và notify(): </a:t>
            </a:r>
          </a:p>
        </p:txBody>
      </p:sp>
      <p:sp>
        <p:nvSpPr>
          <p:cNvPr name="TextBox 40" id="40"/>
          <p:cNvSpPr txBox="true"/>
          <p:nvPr/>
        </p:nvSpPr>
        <p:spPr>
          <a:xfrm rot="0">
            <a:off x="17660959" y="9587012"/>
            <a:ext cx="482838"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11</a:t>
            </a:r>
          </a:p>
        </p:txBody>
      </p:sp>
      <p:sp>
        <p:nvSpPr>
          <p:cNvPr name="TextBox 41" id="41"/>
          <p:cNvSpPr txBox="true"/>
          <p:nvPr/>
        </p:nvSpPr>
        <p:spPr>
          <a:xfrm rot="0">
            <a:off x="800207" y="3606792"/>
            <a:ext cx="16687585" cy="3264778"/>
          </a:xfrm>
          <a:prstGeom prst="rect">
            <a:avLst/>
          </a:prstGeom>
        </p:spPr>
        <p:txBody>
          <a:bodyPr anchor="t" rtlCol="false" tIns="0" lIns="0" bIns="0" rIns="0">
            <a:spAutoFit/>
          </a:bodyPr>
          <a:lstStyle/>
          <a:p>
            <a:pPr algn="just" marL="588138" indent="-294069" lvl="1">
              <a:lnSpc>
                <a:spcPts val="5312"/>
              </a:lnSpc>
              <a:buFont typeface="Arial"/>
              <a:buChar char="•"/>
            </a:pPr>
            <a:r>
              <a:rPr lang="en-US" sz="2724">
                <a:solidFill>
                  <a:srgbClr val="000000"/>
                </a:solidFill>
                <a:latin typeface="Garet"/>
                <a:ea typeface="Garet"/>
                <a:cs typeface="Garet"/>
                <a:sym typeface="Garet"/>
              </a:rPr>
              <a:t>Dùng để phối hợp giữa các thread (một thread chờ tín hiệu từ thread khác).</a:t>
            </a:r>
          </a:p>
          <a:p>
            <a:pPr algn="just" marL="588138" indent="-294069" lvl="1">
              <a:lnSpc>
                <a:spcPts val="5312"/>
              </a:lnSpc>
              <a:buFont typeface="Arial"/>
              <a:buChar char="•"/>
            </a:pPr>
            <a:r>
              <a:rPr lang="en-US" sz="2724">
                <a:solidFill>
                  <a:srgbClr val="A31515"/>
                </a:solidFill>
                <a:latin typeface="Garet"/>
                <a:ea typeface="Garet"/>
                <a:cs typeface="Garet"/>
                <a:sym typeface="Garet"/>
              </a:rPr>
              <a:t>wait()</a:t>
            </a:r>
            <a:r>
              <a:rPr lang="en-US" sz="2724">
                <a:solidFill>
                  <a:srgbClr val="000000"/>
                </a:solidFill>
                <a:latin typeface="Garet"/>
                <a:ea typeface="Garet"/>
                <a:cs typeface="Garet"/>
                <a:sym typeface="Garet"/>
              </a:rPr>
              <a:t>: Nhả khóa và đi ngủ chờ tín hiệu.</a:t>
            </a:r>
          </a:p>
          <a:p>
            <a:pPr algn="just" marL="588138" indent="-294069" lvl="1">
              <a:lnSpc>
                <a:spcPts val="5312"/>
              </a:lnSpc>
              <a:buFont typeface="Arial"/>
              <a:buChar char="•"/>
            </a:pPr>
            <a:r>
              <a:rPr lang="en-US" sz="2724">
                <a:solidFill>
                  <a:srgbClr val="A31515"/>
                </a:solidFill>
                <a:latin typeface="Garet"/>
                <a:ea typeface="Garet"/>
                <a:cs typeface="Garet"/>
                <a:sym typeface="Garet"/>
              </a:rPr>
              <a:t>notify()</a:t>
            </a:r>
            <a:r>
              <a:rPr lang="en-US" sz="2724">
                <a:solidFill>
                  <a:srgbClr val="000000"/>
                </a:solidFill>
                <a:latin typeface="Garet"/>
                <a:ea typeface="Garet"/>
                <a:cs typeface="Garet"/>
                <a:sym typeface="Garet"/>
              </a:rPr>
              <a:t> /</a:t>
            </a:r>
            <a:r>
              <a:rPr lang="en-US" sz="2724">
                <a:solidFill>
                  <a:srgbClr val="A31515"/>
                </a:solidFill>
                <a:latin typeface="Garet"/>
                <a:ea typeface="Garet"/>
                <a:cs typeface="Garet"/>
                <a:sym typeface="Garet"/>
              </a:rPr>
              <a:t> notifyAll()</a:t>
            </a:r>
            <a:r>
              <a:rPr lang="en-US" sz="2724">
                <a:solidFill>
                  <a:srgbClr val="000000"/>
                </a:solidFill>
                <a:latin typeface="Garet"/>
                <a:ea typeface="Garet"/>
                <a:cs typeface="Garet"/>
                <a:sym typeface="Garet"/>
              </a:rPr>
              <a:t>: Đánh thức các thread đang chờ dậy làm việc.</a:t>
            </a:r>
          </a:p>
          <a:p>
            <a:pPr algn="just">
              <a:lnSpc>
                <a:spcPts val="5312"/>
              </a:lnSpc>
            </a:pPr>
            <a:r>
              <a:rPr lang="en-US" sz="2724">
                <a:solidFill>
                  <a:srgbClr val="000000"/>
                </a:solidFill>
                <a:latin typeface="Garet"/>
                <a:ea typeface="Garet"/>
                <a:cs typeface="Garet"/>
                <a:sym typeface="Garet"/>
              </a:rPr>
              <a:t>  </a:t>
            </a:r>
            <a:r>
              <a:rPr lang="en-US" sz="2724" i="true">
                <a:solidFill>
                  <a:srgbClr val="000000"/>
                </a:solidFill>
                <a:latin typeface="Garet Italics"/>
                <a:ea typeface="Garet Italics"/>
                <a:cs typeface="Garet Italics"/>
                <a:sym typeface="Garet Italics"/>
              </a:rPr>
              <a:t> Lưu ý</a:t>
            </a:r>
            <a:r>
              <a:rPr lang="en-US" sz="2724">
                <a:solidFill>
                  <a:srgbClr val="000000"/>
                </a:solidFill>
                <a:latin typeface="Garet"/>
                <a:ea typeface="Garet"/>
                <a:cs typeface="Garet"/>
                <a:sym typeface="Garet"/>
              </a:rPr>
              <a:t>: Phải được gọi bên trong khối synchronized.</a:t>
            </a:r>
          </a:p>
          <a:p>
            <a:pPr algn="just">
              <a:lnSpc>
                <a:spcPts val="5312"/>
              </a:lnSpc>
            </a:pPr>
          </a:p>
        </p:txBody>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5740861" y="6749958"/>
            <a:ext cx="4596322" cy="459632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0" cap="sq">
              <a:solidFill>
                <a:srgbClr val="F6F6F6"/>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5324660" y="9048119"/>
            <a:ext cx="596043" cy="59604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FFFFFF"/>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502024" y="3312338"/>
            <a:ext cx="17296502" cy="2551068"/>
            <a:chOff x="0" y="0"/>
            <a:chExt cx="31640186" cy="4666624"/>
          </a:xfrm>
        </p:grpSpPr>
        <p:sp>
          <p:nvSpPr>
            <p:cNvPr name="Freeform 9" id="9"/>
            <p:cNvSpPr/>
            <p:nvPr/>
          </p:nvSpPr>
          <p:spPr>
            <a:xfrm flipH="false" flipV="false" rot="0">
              <a:off x="0" y="0"/>
              <a:ext cx="31640187" cy="4666624"/>
            </a:xfrm>
            <a:custGeom>
              <a:avLst/>
              <a:gdLst/>
              <a:ahLst/>
              <a:cxnLst/>
              <a:rect r="r" b="b" t="t" l="l"/>
              <a:pathLst>
                <a:path h="4666624" w="31640187">
                  <a:moveTo>
                    <a:pt x="22828" y="0"/>
                  </a:moveTo>
                  <a:lnTo>
                    <a:pt x="31617360" y="0"/>
                  </a:lnTo>
                  <a:cubicBezTo>
                    <a:pt x="31629967" y="0"/>
                    <a:pt x="31640187" y="10220"/>
                    <a:pt x="31640187" y="22828"/>
                  </a:cubicBezTo>
                  <a:lnTo>
                    <a:pt x="31640187" y="4643796"/>
                  </a:lnTo>
                  <a:cubicBezTo>
                    <a:pt x="31640187" y="4656403"/>
                    <a:pt x="31629967" y="4666624"/>
                    <a:pt x="31617360" y="4666624"/>
                  </a:cubicBezTo>
                  <a:lnTo>
                    <a:pt x="22828" y="4666624"/>
                  </a:lnTo>
                  <a:cubicBezTo>
                    <a:pt x="10220" y="4666624"/>
                    <a:pt x="0" y="4656403"/>
                    <a:pt x="0" y="4643796"/>
                  </a:cubicBezTo>
                  <a:lnTo>
                    <a:pt x="0" y="22828"/>
                  </a:lnTo>
                  <a:cubicBezTo>
                    <a:pt x="0" y="10220"/>
                    <a:pt x="10220" y="0"/>
                    <a:pt x="22828" y="0"/>
                  </a:cubicBezTo>
                  <a:close/>
                </a:path>
              </a:pathLst>
            </a:custGeom>
            <a:solidFill>
              <a:srgbClr val="E8ECEC"/>
            </a:solidFill>
          </p:spPr>
        </p:sp>
        <p:sp>
          <p:nvSpPr>
            <p:cNvPr name="TextBox 10" id="10"/>
            <p:cNvSpPr txBox="true"/>
            <p:nvPr/>
          </p:nvSpPr>
          <p:spPr>
            <a:xfrm>
              <a:off x="0" y="-57150"/>
              <a:ext cx="31640186" cy="4723774"/>
            </a:xfrm>
            <a:prstGeom prst="rect">
              <a:avLst/>
            </a:prstGeom>
          </p:spPr>
          <p:txBody>
            <a:bodyPr anchor="ctr" rtlCol="false" tIns="7314" lIns="7314" bIns="7314" rIns="7314"/>
            <a:lstStyle/>
            <a:p>
              <a:pPr algn="ctr">
                <a:lnSpc>
                  <a:spcPts val="4199"/>
                </a:lnSpc>
              </a:pPr>
            </a:p>
          </p:txBody>
        </p:sp>
      </p:grpSp>
      <p:grpSp>
        <p:nvGrpSpPr>
          <p:cNvPr name="Group 11" id="11"/>
          <p:cNvGrpSpPr/>
          <p:nvPr/>
        </p:nvGrpSpPr>
        <p:grpSpPr>
          <a:xfrm rot="0">
            <a:off x="782825" y="2356269"/>
            <a:ext cx="732337" cy="73233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1B88"/>
            </a:solidFill>
            <a:ln cap="sq">
              <a:noFill/>
              <a:prstDash val="solid"/>
              <a:miter/>
            </a:ln>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2939"/>
                </a:lnSpc>
              </a:pPr>
              <a:r>
                <a:rPr lang="en-US" b="true" sz="2099">
                  <a:solidFill>
                    <a:srgbClr val="FFFFFF"/>
                  </a:solidFill>
                  <a:latin typeface="Garet Bold"/>
                  <a:ea typeface="Garet Bold"/>
                  <a:cs typeface="Garet Bold"/>
                  <a:sym typeface="Garet Bold"/>
                </a:rPr>
                <a:t>2</a:t>
              </a:r>
            </a:p>
          </p:txBody>
        </p:sp>
      </p:grpSp>
      <p:grpSp>
        <p:nvGrpSpPr>
          <p:cNvPr name="Group 14" id="14"/>
          <p:cNvGrpSpPr/>
          <p:nvPr/>
        </p:nvGrpSpPr>
        <p:grpSpPr>
          <a:xfrm rot="0">
            <a:off x="769898" y="178769"/>
            <a:ext cx="16748203" cy="1231093"/>
            <a:chOff x="0" y="0"/>
            <a:chExt cx="22330938" cy="1641457"/>
          </a:xfrm>
        </p:grpSpPr>
        <p:grpSp>
          <p:nvGrpSpPr>
            <p:cNvPr name="Group 15" id="15"/>
            <p:cNvGrpSpPr/>
            <p:nvPr/>
          </p:nvGrpSpPr>
          <p:grpSpPr>
            <a:xfrm rot="0">
              <a:off x="0" y="0"/>
              <a:ext cx="3390257" cy="1641457"/>
              <a:chOff x="0" y="0"/>
              <a:chExt cx="729373" cy="353140"/>
            </a:xfrm>
          </p:grpSpPr>
          <p:sp>
            <p:nvSpPr>
              <p:cNvPr name="Freeform 16" id="16"/>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17" id="17"/>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18" id="18"/>
            <p:cNvSpPr txBox="true"/>
            <p:nvPr/>
          </p:nvSpPr>
          <p:spPr>
            <a:xfrm rot="0">
              <a:off x="69855"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Giới thiệu &amp;</a:t>
              </a:r>
            </a:p>
            <a:p>
              <a:pPr algn="ctr">
                <a:lnSpc>
                  <a:spcPts val="3073"/>
                </a:lnSpc>
              </a:pPr>
              <a:r>
                <a:rPr lang="en-US" sz="2195">
                  <a:solidFill>
                    <a:srgbClr val="000000"/>
                  </a:solidFill>
                  <a:latin typeface="Garet"/>
                  <a:ea typeface="Garet"/>
                  <a:cs typeface="Garet"/>
                  <a:sym typeface="Garet"/>
                </a:rPr>
                <a:t> đặt vấn đề</a:t>
              </a:r>
            </a:p>
          </p:txBody>
        </p:sp>
        <p:grpSp>
          <p:nvGrpSpPr>
            <p:cNvPr name="Group 19" id="19"/>
            <p:cNvGrpSpPr/>
            <p:nvPr/>
          </p:nvGrpSpPr>
          <p:grpSpPr>
            <a:xfrm rot="0">
              <a:off x="3703251" y="0"/>
              <a:ext cx="3390257" cy="1641457"/>
              <a:chOff x="0" y="0"/>
              <a:chExt cx="729373" cy="353140"/>
            </a:xfrm>
          </p:grpSpPr>
          <p:sp>
            <p:nvSpPr>
              <p:cNvPr name="Freeform 20" id="20"/>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21" id="21"/>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22" id="22"/>
            <p:cNvSpPr txBox="true"/>
            <p:nvPr/>
          </p:nvSpPr>
          <p:spPr>
            <a:xfrm rot="0">
              <a:off x="3754062" y="141009"/>
              <a:ext cx="3250547" cy="1487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Tạo &amp; quản lý Threads trong Kotlin</a:t>
              </a:r>
            </a:p>
          </p:txBody>
        </p:sp>
        <p:grpSp>
          <p:nvGrpSpPr>
            <p:cNvPr name="Group 23" id="23"/>
            <p:cNvGrpSpPr/>
            <p:nvPr/>
          </p:nvGrpSpPr>
          <p:grpSpPr>
            <a:xfrm rot="0">
              <a:off x="7525308" y="0"/>
              <a:ext cx="3390257" cy="1641457"/>
              <a:chOff x="0" y="0"/>
              <a:chExt cx="729373" cy="353140"/>
            </a:xfrm>
          </p:grpSpPr>
          <p:sp>
            <p:nvSpPr>
              <p:cNvPr name="Freeform 24" id="24"/>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25" id="25"/>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26" id="26"/>
            <p:cNvSpPr txBox="true"/>
            <p:nvPr/>
          </p:nvSpPr>
          <p:spPr>
            <a:xfrm rot="0">
              <a:off x="7595164"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Dữ liệu chia sẻ và đồng bộ hóa</a:t>
              </a:r>
            </a:p>
          </p:txBody>
        </p:sp>
        <p:grpSp>
          <p:nvGrpSpPr>
            <p:cNvPr name="Group 27" id="27"/>
            <p:cNvGrpSpPr/>
            <p:nvPr/>
          </p:nvGrpSpPr>
          <p:grpSpPr>
            <a:xfrm rot="0">
              <a:off x="11347366" y="0"/>
              <a:ext cx="3390257" cy="1641457"/>
              <a:chOff x="0" y="0"/>
              <a:chExt cx="729373" cy="353140"/>
            </a:xfrm>
          </p:grpSpPr>
          <p:sp>
            <p:nvSpPr>
              <p:cNvPr name="Freeform 28" id="28"/>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111B88"/>
              </a:solidFill>
            </p:spPr>
          </p:sp>
          <p:sp>
            <p:nvSpPr>
              <p:cNvPr name="TextBox 29" id="29"/>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0" id="30"/>
            <p:cNvSpPr txBox="true"/>
            <p:nvPr/>
          </p:nvSpPr>
          <p:spPr>
            <a:xfrm rot="0">
              <a:off x="11417221" y="311805"/>
              <a:ext cx="3250547" cy="979748"/>
            </a:xfrm>
            <a:prstGeom prst="rect">
              <a:avLst/>
            </a:prstGeom>
          </p:spPr>
          <p:txBody>
            <a:bodyPr anchor="t" rtlCol="false" tIns="0" lIns="0" bIns="0" rIns="0">
              <a:spAutoFit/>
            </a:bodyPr>
            <a:lstStyle/>
            <a:p>
              <a:pPr algn="ctr">
                <a:lnSpc>
                  <a:spcPts val="3073"/>
                </a:lnSpc>
              </a:pPr>
              <a:r>
                <a:rPr lang="en-US" sz="2195">
                  <a:solidFill>
                    <a:srgbClr val="FFFFFF"/>
                  </a:solidFill>
                  <a:latin typeface="Garet"/>
                  <a:ea typeface="Garet"/>
                  <a:cs typeface="Garet"/>
                  <a:sym typeface="Garet"/>
                </a:rPr>
                <a:t>Giao tiếp giữa các threads</a:t>
              </a:r>
            </a:p>
          </p:txBody>
        </p:sp>
        <p:grpSp>
          <p:nvGrpSpPr>
            <p:cNvPr name="Group 31" id="31"/>
            <p:cNvGrpSpPr/>
            <p:nvPr/>
          </p:nvGrpSpPr>
          <p:grpSpPr>
            <a:xfrm rot="0">
              <a:off x="15144023" y="0"/>
              <a:ext cx="3390257" cy="1641457"/>
              <a:chOff x="0" y="0"/>
              <a:chExt cx="729373" cy="353140"/>
            </a:xfrm>
          </p:grpSpPr>
          <p:sp>
            <p:nvSpPr>
              <p:cNvPr name="Freeform 32" id="32"/>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33" id="33"/>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4" id="34"/>
            <p:cNvSpPr txBox="true"/>
            <p:nvPr/>
          </p:nvSpPr>
          <p:spPr>
            <a:xfrm rot="0">
              <a:off x="15213879"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Các khái niệm nâng cao</a:t>
              </a:r>
            </a:p>
          </p:txBody>
        </p:sp>
        <p:grpSp>
          <p:nvGrpSpPr>
            <p:cNvPr name="Group 35" id="35"/>
            <p:cNvGrpSpPr/>
            <p:nvPr/>
          </p:nvGrpSpPr>
          <p:grpSpPr>
            <a:xfrm rot="0">
              <a:off x="18940681" y="0"/>
              <a:ext cx="3390257" cy="1641457"/>
              <a:chOff x="0" y="0"/>
              <a:chExt cx="729373" cy="353140"/>
            </a:xfrm>
          </p:grpSpPr>
          <p:sp>
            <p:nvSpPr>
              <p:cNvPr name="Freeform 36" id="36"/>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37" id="37"/>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8" id="38"/>
            <p:cNvSpPr txBox="true"/>
            <p:nvPr/>
          </p:nvSpPr>
          <p:spPr>
            <a:xfrm rot="0">
              <a:off x="19010536"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Kết luận và định hướng tương lai</a:t>
              </a:r>
            </a:p>
          </p:txBody>
        </p:sp>
      </p:grpSp>
      <p:sp>
        <p:nvSpPr>
          <p:cNvPr name="TextBox 39" id="39"/>
          <p:cNvSpPr txBox="true"/>
          <p:nvPr/>
        </p:nvSpPr>
        <p:spPr>
          <a:xfrm rot="0">
            <a:off x="1781133" y="2398905"/>
            <a:ext cx="14085741" cy="580390"/>
          </a:xfrm>
          <a:prstGeom prst="rect">
            <a:avLst/>
          </a:prstGeom>
        </p:spPr>
        <p:txBody>
          <a:bodyPr anchor="t" rtlCol="false" tIns="0" lIns="0" bIns="0" rIns="0">
            <a:spAutoFit/>
          </a:bodyPr>
          <a:lstStyle/>
          <a:p>
            <a:pPr algn="l">
              <a:lnSpc>
                <a:spcPts val="4759"/>
              </a:lnSpc>
            </a:pPr>
            <a:r>
              <a:rPr lang="en-US" sz="3399" b="true">
                <a:solidFill>
                  <a:srgbClr val="000000"/>
                </a:solidFill>
                <a:latin typeface="Garet Bold"/>
                <a:ea typeface="Garet Bold"/>
                <a:cs typeface="Garet Bold"/>
                <a:sym typeface="Garet Bold"/>
              </a:rPr>
              <a:t>Ví dụ mô hình sản xuất - tiêu thụ (Producer - Consumer)</a:t>
            </a:r>
          </a:p>
        </p:txBody>
      </p:sp>
      <p:sp>
        <p:nvSpPr>
          <p:cNvPr name="TextBox 40" id="40"/>
          <p:cNvSpPr txBox="true"/>
          <p:nvPr/>
        </p:nvSpPr>
        <p:spPr>
          <a:xfrm rot="0">
            <a:off x="17706815" y="9587012"/>
            <a:ext cx="436982"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12</a:t>
            </a:r>
          </a:p>
        </p:txBody>
      </p:sp>
      <p:sp>
        <p:nvSpPr>
          <p:cNvPr name="TextBox 41" id="41"/>
          <p:cNvSpPr txBox="true"/>
          <p:nvPr/>
        </p:nvSpPr>
        <p:spPr>
          <a:xfrm rot="0">
            <a:off x="800207" y="3453939"/>
            <a:ext cx="16687585" cy="1931278"/>
          </a:xfrm>
          <a:prstGeom prst="rect">
            <a:avLst/>
          </a:prstGeom>
        </p:spPr>
        <p:txBody>
          <a:bodyPr anchor="t" rtlCol="false" tIns="0" lIns="0" bIns="0" rIns="0">
            <a:spAutoFit/>
          </a:bodyPr>
          <a:lstStyle/>
          <a:p>
            <a:pPr algn="just" marL="588138" indent="-294069" lvl="1">
              <a:lnSpc>
                <a:spcPts val="5312"/>
              </a:lnSpc>
              <a:buFont typeface="Arial"/>
              <a:buChar char="•"/>
            </a:pPr>
            <a:r>
              <a:rPr lang="en-US" sz="2724">
                <a:solidFill>
                  <a:srgbClr val="000000"/>
                </a:solidFill>
                <a:latin typeface="Garet"/>
                <a:ea typeface="Garet"/>
                <a:cs typeface="Garet"/>
                <a:sym typeface="Garet"/>
              </a:rPr>
              <a:t>Bao gồm 2 thread:</a:t>
            </a:r>
          </a:p>
          <a:p>
            <a:pPr algn="just" marL="1176275" indent="-392092" lvl="2">
              <a:lnSpc>
                <a:spcPts val="5312"/>
              </a:lnSpc>
              <a:buFont typeface="Arial"/>
              <a:buChar char="⚬"/>
            </a:pPr>
            <a:r>
              <a:rPr lang="en-US" sz="2724">
                <a:solidFill>
                  <a:srgbClr val="A31515"/>
                </a:solidFill>
                <a:latin typeface="Garet"/>
                <a:ea typeface="Garet"/>
                <a:cs typeface="Garet"/>
                <a:sym typeface="Garet"/>
              </a:rPr>
              <a:t>Thread producer</a:t>
            </a:r>
            <a:r>
              <a:rPr lang="en-US" sz="2724">
                <a:solidFill>
                  <a:srgbClr val="000000"/>
                </a:solidFill>
                <a:latin typeface="Garet"/>
                <a:ea typeface="Garet"/>
                <a:cs typeface="Garet"/>
                <a:sym typeface="Garet"/>
              </a:rPr>
              <a:t>: Sản xuất sản phẩm (thêm dữ liệu vào hàng đợi).</a:t>
            </a:r>
          </a:p>
          <a:p>
            <a:pPr algn="just" marL="1176275" indent="-392092" lvl="2">
              <a:lnSpc>
                <a:spcPts val="5312"/>
              </a:lnSpc>
              <a:buFont typeface="Arial"/>
              <a:buChar char="⚬"/>
            </a:pPr>
            <a:r>
              <a:rPr lang="en-US" sz="2724">
                <a:solidFill>
                  <a:srgbClr val="A31515"/>
                </a:solidFill>
                <a:latin typeface="Garet"/>
                <a:ea typeface="Garet"/>
                <a:cs typeface="Garet"/>
                <a:sym typeface="Garet"/>
              </a:rPr>
              <a:t>Thread Consumer</a:t>
            </a:r>
            <a:r>
              <a:rPr lang="en-US" sz="2724">
                <a:solidFill>
                  <a:srgbClr val="000000"/>
                </a:solidFill>
                <a:latin typeface="Garet"/>
                <a:ea typeface="Garet"/>
                <a:cs typeface="Garet"/>
                <a:sym typeface="Garet"/>
              </a:rPr>
              <a:t>: Tiêu thụ sản phẩm (lấy dữ liệu từ hàng đợi để xử lý).</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8ECEC"/>
        </a:solidFill>
      </p:bgPr>
    </p:bg>
    <p:spTree>
      <p:nvGrpSpPr>
        <p:cNvPr id="1" name=""/>
        <p:cNvGrpSpPr/>
        <p:nvPr/>
      </p:nvGrpSpPr>
      <p:grpSpPr>
        <a:xfrm>
          <a:off x="0" y="0"/>
          <a:ext cx="0" cy="0"/>
          <a:chOff x="0" y="0"/>
          <a:chExt cx="0" cy="0"/>
        </a:xfrm>
      </p:grpSpPr>
      <p:sp>
        <p:nvSpPr>
          <p:cNvPr name="Freeform 2" id="2"/>
          <p:cNvSpPr/>
          <p:nvPr/>
        </p:nvSpPr>
        <p:spPr>
          <a:xfrm flipH="false" flipV="false" rot="0">
            <a:off x="3718098" y="66675"/>
            <a:ext cx="10851804" cy="9473942"/>
          </a:xfrm>
          <a:custGeom>
            <a:avLst/>
            <a:gdLst/>
            <a:ahLst/>
            <a:cxnLst/>
            <a:rect r="r" b="b" t="t" l="l"/>
            <a:pathLst>
              <a:path h="9473942" w="10851804">
                <a:moveTo>
                  <a:pt x="0" y="0"/>
                </a:moveTo>
                <a:lnTo>
                  <a:pt x="10851804" y="0"/>
                </a:lnTo>
                <a:lnTo>
                  <a:pt x="10851804" y="9473942"/>
                </a:lnTo>
                <a:lnTo>
                  <a:pt x="0" y="9473942"/>
                </a:lnTo>
                <a:lnTo>
                  <a:pt x="0" y="0"/>
                </a:lnTo>
                <a:close/>
              </a:path>
            </a:pathLst>
          </a:custGeom>
          <a:blipFill>
            <a:blip r:embed="rId2"/>
            <a:stretch>
              <a:fillRect l="-6151" t="-6764" r="-6397" b="-7327"/>
            </a:stretch>
          </a:blipFill>
        </p:spPr>
      </p:sp>
      <p:grpSp>
        <p:nvGrpSpPr>
          <p:cNvPr name="Group 3" id="3"/>
          <p:cNvGrpSpPr/>
          <p:nvPr/>
        </p:nvGrpSpPr>
        <p:grpSpPr>
          <a:xfrm rot="0">
            <a:off x="15740861" y="6749958"/>
            <a:ext cx="4596322" cy="4596322"/>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0" cap="sq">
              <a:solidFill>
                <a:srgbClr val="F6F6F6"/>
              </a:solidFill>
              <a:prstDash val="solid"/>
              <a:miter/>
            </a:ln>
          </p:spPr>
        </p:sp>
        <p:sp>
          <p:nvSpPr>
            <p:cNvPr name="TextBox 5" id="5"/>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7706815" y="9587012"/>
            <a:ext cx="436982"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13</a:t>
            </a:r>
          </a:p>
        </p:txBody>
      </p:sp>
      <p:sp>
        <p:nvSpPr>
          <p:cNvPr name="TextBox 7" id="7"/>
          <p:cNvSpPr txBox="true"/>
          <p:nvPr/>
        </p:nvSpPr>
        <p:spPr>
          <a:xfrm rot="0">
            <a:off x="7029599" y="9634637"/>
            <a:ext cx="4228802" cy="290195"/>
          </a:xfrm>
          <a:prstGeom prst="rect">
            <a:avLst/>
          </a:prstGeom>
        </p:spPr>
        <p:txBody>
          <a:bodyPr anchor="t" rtlCol="false" tIns="0" lIns="0" bIns="0" rIns="0">
            <a:spAutoFit/>
          </a:bodyPr>
          <a:lstStyle/>
          <a:p>
            <a:pPr algn="ctr">
              <a:lnSpc>
                <a:spcPts val="2380"/>
              </a:lnSpc>
              <a:spcBef>
                <a:spcPct val="0"/>
              </a:spcBef>
            </a:pPr>
            <a:r>
              <a:rPr lang="en-US" sz="1700" i="true">
                <a:solidFill>
                  <a:srgbClr val="000000"/>
                </a:solidFill>
                <a:latin typeface="Inter Italics"/>
                <a:ea typeface="Inter Italics"/>
                <a:cs typeface="Inter Italics"/>
                <a:sym typeface="Inter Italics"/>
              </a:rPr>
              <a:t>Ảnh 8: Cài đặt mô hình sản xuất - tiêu thụ</a:t>
            </a:r>
          </a:p>
        </p:txBody>
      </p:sp>
    </p:spTree>
  </p:cSld>
  <p:clrMapOvr>
    <a:masterClrMapping/>
  </p:clrMapOvr>
</p:sld>
</file>

<file path=ppt/slides/slide1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5740861" y="6749958"/>
            <a:ext cx="4596322" cy="459632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0" cap="sq">
              <a:solidFill>
                <a:srgbClr val="F6F6F6"/>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5324660" y="9048119"/>
            <a:ext cx="596043" cy="59604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FFFFFF"/>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495749" y="3525801"/>
            <a:ext cx="17296502" cy="3406378"/>
            <a:chOff x="0" y="0"/>
            <a:chExt cx="31640186" cy="6231228"/>
          </a:xfrm>
        </p:grpSpPr>
        <p:sp>
          <p:nvSpPr>
            <p:cNvPr name="Freeform 9" id="9"/>
            <p:cNvSpPr/>
            <p:nvPr/>
          </p:nvSpPr>
          <p:spPr>
            <a:xfrm flipH="false" flipV="false" rot="0">
              <a:off x="0" y="0"/>
              <a:ext cx="31640187" cy="6231228"/>
            </a:xfrm>
            <a:custGeom>
              <a:avLst/>
              <a:gdLst/>
              <a:ahLst/>
              <a:cxnLst/>
              <a:rect r="r" b="b" t="t" l="l"/>
              <a:pathLst>
                <a:path h="6231228" w="31640187">
                  <a:moveTo>
                    <a:pt x="22828" y="0"/>
                  </a:moveTo>
                  <a:lnTo>
                    <a:pt x="31617360" y="0"/>
                  </a:lnTo>
                  <a:cubicBezTo>
                    <a:pt x="31629967" y="0"/>
                    <a:pt x="31640187" y="10220"/>
                    <a:pt x="31640187" y="22828"/>
                  </a:cubicBezTo>
                  <a:lnTo>
                    <a:pt x="31640187" y="6208401"/>
                  </a:lnTo>
                  <a:cubicBezTo>
                    <a:pt x="31640187" y="6221008"/>
                    <a:pt x="31629967" y="6231228"/>
                    <a:pt x="31617360" y="6231228"/>
                  </a:cubicBezTo>
                  <a:lnTo>
                    <a:pt x="22828" y="6231228"/>
                  </a:lnTo>
                  <a:cubicBezTo>
                    <a:pt x="10220" y="6231228"/>
                    <a:pt x="0" y="6221008"/>
                    <a:pt x="0" y="6208401"/>
                  </a:cubicBezTo>
                  <a:lnTo>
                    <a:pt x="0" y="22828"/>
                  </a:lnTo>
                  <a:cubicBezTo>
                    <a:pt x="0" y="10220"/>
                    <a:pt x="10220" y="0"/>
                    <a:pt x="22828" y="0"/>
                  </a:cubicBezTo>
                  <a:close/>
                </a:path>
              </a:pathLst>
            </a:custGeom>
            <a:solidFill>
              <a:srgbClr val="E8ECEC"/>
            </a:solidFill>
          </p:spPr>
        </p:sp>
        <p:sp>
          <p:nvSpPr>
            <p:cNvPr name="TextBox 10" id="10"/>
            <p:cNvSpPr txBox="true"/>
            <p:nvPr/>
          </p:nvSpPr>
          <p:spPr>
            <a:xfrm>
              <a:off x="0" y="-57150"/>
              <a:ext cx="31640186" cy="6288378"/>
            </a:xfrm>
            <a:prstGeom prst="rect">
              <a:avLst/>
            </a:prstGeom>
          </p:spPr>
          <p:txBody>
            <a:bodyPr anchor="ctr" rtlCol="false" tIns="7314" lIns="7314" bIns="7314" rIns="7314"/>
            <a:lstStyle/>
            <a:p>
              <a:pPr algn="ctr">
                <a:lnSpc>
                  <a:spcPts val="4199"/>
                </a:lnSpc>
              </a:pPr>
            </a:p>
          </p:txBody>
        </p:sp>
      </p:grpSp>
      <p:grpSp>
        <p:nvGrpSpPr>
          <p:cNvPr name="Group 11" id="11"/>
          <p:cNvGrpSpPr/>
          <p:nvPr/>
        </p:nvGrpSpPr>
        <p:grpSpPr>
          <a:xfrm rot="0">
            <a:off x="782825" y="2356269"/>
            <a:ext cx="732337" cy="73233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1B88"/>
            </a:solidFill>
            <a:ln cap="sq">
              <a:noFill/>
              <a:prstDash val="solid"/>
              <a:miter/>
            </a:ln>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2939"/>
                </a:lnSpc>
              </a:pPr>
              <a:r>
                <a:rPr lang="en-US" b="true" sz="2099">
                  <a:solidFill>
                    <a:srgbClr val="FFFFFF"/>
                  </a:solidFill>
                  <a:latin typeface="Garet Bold"/>
                  <a:ea typeface="Garet Bold"/>
                  <a:cs typeface="Garet Bold"/>
                  <a:sym typeface="Garet Bold"/>
                </a:rPr>
                <a:t>1</a:t>
              </a:r>
            </a:p>
          </p:txBody>
        </p:sp>
      </p:grpSp>
      <p:grpSp>
        <p:nvGrpSpPr>
          <p:cNvPr name="Group 14" id="14"/>
          <p:cNvGrpSpPr/>
          <p:nvPr/>
        </p:nvGrpSpPr>
        <p:grpSpPr>
          <a:xfrm rot="0">
            <a:off x="769898" y="178769"/>
            <a:ext cx="16748203" cy="1231093"/>
            <a:chOff x="0" y="0"/>
            <a:chExt cx="22330938" cy="1641457"/>
          </a:xfrm>
        </p:grpSpPr>
        <p:grpSp>
          <p:nvGrpSpPr>
            <p:cNvPr name="Group 15" id="15"/>
            <p:cNvGrpSpPr/>
            <p:nvPr/>
          </p:nvGrpSpPr>
          <p:grpSpPr>
            <a:xfrm rot="0">
              <a:off x="0" y="0"/>
              <a:ext cx="3390257" cy="1641457"/>
              <a:chOff x="0" y="0"/>
              <a:chExt cx="729373" cy="353140"/>
            </a:xfrm>
          </p:grpSpPr>
          <p:sp>
            <p:nvSpPr>
              <p:cNvPr name="Freeform 16" id="16"/>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17" id="17"/>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18" id="18"/>
            <p:cNvSpPr txBox="true"/>
            <p:nvPr/>
          </p:nvSpPr>
          <p:spPr>
            <a:xfrm rot="0">
              <a:off x="69855"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Giới thiệu &amp;</a:t>
              </a:r>
            </a:p>
            <a:p>
              <a:pPr algn="ctr">
                <a:lnSpc>
                  <a:spcPts val="3073"/>
                </a:lnSpc>
              </a:pPr>
              <a:r>
                <a:rPr lang="en-US" sz="2195">
                  <a:solidFill>
                    <a:srgbClr val="000000"/>
                  </a:solidFill>
                  <a:latin typeface="Garet"/>
                  <a:ea typeface="Garet"/>
                  <a:cs typeface="Garet"/>
                  <a:sym typeface="Garet"/>
                </a:rPr>
                <a:t> đặt vấn đề</a:t>
              </a:r>
            </a:p>
          </p:txBody>
        </p:sp>
        <p:grpSp>
          <p:nvGrpSpPr>
            <p:cNvPr name="Group 19" id="19"/>
            <p:cNvGrpSpPr/>
            <p:nvPr/>
          </p:nvGrpSpPr>
          <p:grpSpPr>
            <a:xfrm rot="0">
              <a:off x="3703251" y="0"/>
              <a:ext cx="3390257" cy="1641457"/>
              <a:chOff x="0" y="0"/>
              <a:chExt cx="729373" cy="353140"/>
            </a:xfrm>
          </p:grpSpPr>
          <p:sp>
            <p:nvSpPr>
              <p:cNvPr name="Freeform 20" id="20"/>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21" id="21"/>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22" id="22"/>
            <p:cNvSpPr txBox="true"/>
            <p:nvPr/>
          </p:nvSpPr>
          <p:spPr>
            <a:xfrm rot="0">
              <a:off x="3754062" y="141009"/>
              <a:ext cx="3250547" cy="1487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Tạo &amp; quản lý Threads trong Kotlin</a:t>
              </a:r>
            </a:p>
          </p:txBody>
        </p:sp>
        <p:grpSp>
          <p:nvGrpSpPr>
            <p:cNvPr name="Group 23" id="23"/>
            <p:cNvGrpSpPr/>
            <p:nvPr/>
          </p:nvGrpSpPr>
          <p:grpSpPr>
            <a:xfrm rot="0">
              <a:off x="7525308" y="0"/>
              <a:ext cx="3390257" cy="1641457"/>
              <a:chOff x="0" y="0"/>
              <a:chExt cx="729373" cy="353140"/>
            </a:xfrm>
          </p:grpSpPr>
          <p:sp>
            <p:nvSpPr>
              <p:cNvPr name="Freeform 24" id="24"/>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25" id="25"/>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26" id="26"/>
            <p:cNvSpPr txBox="true"/>
            <p:nvPr/>
          </p:nvSpPr>
          <p:spPr>
            <a:xfrm rot="0">
              <a:off x="7595164"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Dữ liệu chia sẻ và đồng bộ hóa</a:t>
              </a:r>
            </a:p>
          </p:txBody>
        </p:sp>
        <p:grpSp>
          <p:nvGrpSpPr>
            <p:cNvPr name="Group 27" id="27"/>
            <p:cNvGrpSpPr/>
            <p:nvPr/>
          </p:nvGrpSpPr>
          <p:grpSpPr>
            <a:xfrm rot="0">
              <a:off x="11347366" y="0"/>
              <a:ext cx="3390257" cy="1641457"/>
              <a:chOff x="0" y="0"/>
              <a:chExt cx="729373" cy="353140"/>
            </a:xfrm>
          </p:grpSpPr>
          <p:sp>
            <p:nvSpPr>
              <p:cNvPr name="Freeform 28" id="28"/>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29" id="29"/>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0" id="30"/>
            <p:cNvSpPr txBox="true"/>
            <p:nvPr/>
          </p:nvSpPr>
          <p:spPr>
            <a:xfrm rot="0">
              <a:off x="11417221"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Giao tiếp giữa các threads</a:t>
              </a:r>
            </a:p>
          </p:txBody>
        </p:sp>
        <p:grpSp>
          <p:nvGrpSpPr>
            <p:cNvPr name="Group 31" id="31"/>
            <p:cNvGrpSpPr/>
            <p:nvPr/>
          </p:nvGrpSpPr>
          <p:grpSpPr>
            <a:xfrm rot="0">
              <a:off x="15144023" y="0"/>
              <a:ext cx="3390257" cy="1641457"/>
              <a:chOff x="0" y="0"/>
              <a:chExt cx="729373" cy="353140"/>
            </a:xfrm>
          </p:grpSpPr>
          <p:sp>
            <p:nvSpPr>
              <p:cNvPr name="Freeform 32" id="32"/>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111B88"/>
              </a:solidFill>
            </p:spPr>
          </p:sp>
          <p:sp>
            <p:nvSpPr>
              <p:cNvPr name="TextBox 33" id="33"/>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4" id="34"/>
            <p:cNvSpPr txBox="true"/>
            <p:nvPr/>
          </p:nvSpPr>
          <p:spPr>
            <a:xfrm rot="0">
              <a:off x="15213879" y="311805"/>
              <a:ext cx="3250547" cy="979748"/>
            </a:xfrm>
            <a:prstGeom prst="rect">
              <a:avLst/>
            </a:prstGeom>
          </p:spPr>
          <p:txBody>
            <a:bodyPr anchor="t" rtlCol="false" tIns="0" lIns="0" bIns="0" rIns="0">
              <a:spAutoFit/>
            </a:bodyPr>
            <a:lstStyle/>
            <a:p>
              <a:pPr algn="ctr">
                <a:lnSpc>
                  <a:spcPts val="3073"/>
                </a:lnSpc>
              </a:pPr>
              <a:r>
                <a:rPr lang="en-US" sz="2195">
                  <a:solidFill>
                    <a:srgbClr val="FFFFFF"/>
                  </a:solidFill>
                  <a:latin typeface="Garet"/>
                  <a:ea typeface="Garet"/>
                  <a:cs typeface="Garet"/>
                  <a:sym typeface="Garet"/>
                </a:rPr>
                <a:t>Các khái niệm nâng cao</a:t>
              </a:r>
            </a:p>
          </p:txBody>
        </p:sp>
        <p:grpSp>
          <p:nvGrpSpPr>
            <p:cNvPr name="Group 35" id="35"/>
            <p:cNvGrpSpPr/>
            <p:nvPr/>
          </p:nvGrpSpPr>
          <p:grpSpPr>
            <a:xfrm rot="0">
              <a:off x="18940681" y="0"/>
              <a:ext cx="3390257" cy="1641457"/>
              <a:chOff x="0" y="0"/>
              <a:chExt cx="729373" cy="353140"/>
            </a:xfrm>
          </p:grpSpPr>
          <p:sp>
            <p:nvSpPr>
              <p:cNvPr name="Freeform 36" id="36"/>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37" id="37"/>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8" id="38"/>
            <p:cNvSpPr txBox="true"/>
            <p:nvPr/>
          </p:nvSpPr>
          <p:spPr>
            <a:xfrm rot="0">
              <a:off x="19010536"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Kết luận và định hướng tương lai</a:t>
              </a:r>
            </a:p>
          </p:txBody>
        </p:sp>
      </p:grpSp>
      <p:sp>
        <p:nvSpPr>
          <p:cNvPr name="TextBox 39" id="39"/>
          <p:cNvSpPr txBox="true"/>
          <p:nvPr/>
        </p:nvSpPr>
        <p:spPr>
          <a:xfrm rot="0">
            <a:off x="1781133" y="2398905"/>
            <a:ext cx="14085741" cy="580390"/>
          </a:xfrm>
          <a:prstGeom prst="rect">
            <a:avLst/>
          </a:prstGeom>
        </p:spPr>
        <p:txBody>
          <a:bodyPr anchor="t" rtlCol="false" tIns="0" lIns="0" bIns="0" rIns="0">
            <a:spAutoFit/>
          </a:bodyPr>
          <a:lstStyle/>
          <a:p>
            <a:pPr algn="l">
              <a:lnSpc>
                <a:spcPts val="4759"/>
              </a:lnSpc>
            </a:pPr>
            <a:r>
              <a:rPr lang="en-US" sz="3399" b="true">
                <a:solidFill>
                  <a:srgbClr val="000000"/>
                </a:solidFill>
                <a:latin typeface="Garet Bold"/>
                <a:ea typeface="Garet Bold"/>
                <a:cs typeface="Garet Bold"/>
                <a:sym typeface="Garet Bold"/>
              </a:rPr>
              <a:t>Tại sao cần thread pool?</a:t>
            </a:r>
          </a:p>
        </p:txBody>
      </p:sp>
      <p:sp>
        <p:nvSpPr>
          <p:cNvPr name="TextBox 40" id="40"/>
          <p:cNvSpPr txBox="true"/>
          <p:nvPr/>
        </p:nvSpPr>
        <p:spPr>
          <a:xfrm rot="0">
            <a:off x="17669968" y="9587012"/>
            <a:ext cx="473829"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14</a:t>
            </a:r>
          </a:p>
        </p:txBody>
      </p:sp>
      <p:sp>
        <p:nvSpPr>
          <p:cNvPr name="TextBox 41" id="41"/>
          <p:cNvSpPr txBox="true"/>
          <p:nvPr/>
        </p:nvSpPr>
        <p:spPr>
          <a:xfrm rot="0">
            <a:off x="806483" y="3841081"/>
            <a:ext cx="16687585" cy="3264778"/>
          </a:xfrm>
          <a:prstGeom prst="rect">
            <a:avLst/>
          </a:prstGeom>
        </p:spPr>
        <p:txBody>
          <a:bodyPr anchor="t" rtlCol="false" tIns="0" lIns="0" bIns="0" rIns="0">
            <a:spAutoFit/>
          </a:bodyPr>
          <a:lstStyle/>
          <a:p>
            <a:pPr algn="just" marL="588138" indent="-294069" lvl="1">
              <a:lnSpc>
                <a:spcPts val="5312"/>
              </a:lnSpc>
              <a:buFont typeface="Arial"/>
              <a:buChar char="•"/>
            </a:pPr>
            <a:r>
              <a:rPr lang="en-US" sz="2724">
                <a:solidFill>
                  <a:srgbClr val="000000"/>
                </a:solidFill>
                <a:latin typeface="Garet"/>
                <a:ea typeface="Garet"/>
                <a:cs typeface="Garet"/>
                <a:sym typeface="Garet"/>
              </a:rPr>
              <a:t>Việc tạo mới một thread (</a:t>
            </a:r>
            <a:r>
              <a:rPr lang="en-US" sz="2724">
                <a:solidFill>
                  <a:srgbClr val="A31515"/>
                </a:solidFill>
                <a:latin typeface="Garet"/>
                <a:ea typeface="Garet"/>
                <a:cs typeface="Garet"/>
                <a:sym typeface="Garet"/>
              </a:rPr>
              <a:t>new Thread()</a:t>
            </a:r>
            <a:r>
              <a:rPr lang="en-US" sz="2724">
                <a:solidFill>
                  <a:srgbClr val="000000"/>
                </a:solidFill>
                <a:latin typeface="Garet"/>
                <a:ea typeface="Garet"/>
                <a:cs typeface="Garet"/>
                <a:sym typeface="Garet"/>
              </a:rPr>
              <a:t>) tốn rất nhiều tài nguyên hệ thống (RAM, CPU overhead).</a:t>
            </a:r>
          </a:p>
          <a:p>
            <a:pPr algn="just" marL="588138" indent="-294069" lvl="1">
              <a:lnSpc>
                <a:spcPts val="5312"/>
              </a:lnSpc>
              <a:buFont typeface="Arial"/>
              <a:buChar char="•"/>
            </a:pPr>
            <a:r>
              <a:rPr lang="en-US" sz="2724">
                <a:solidFill>
                  <a:srgbClr val="A31515"/>
                </a:solidFill>
                <a:latin typeface="Garet"/>
                <a:ea typeface="Garet"/>
                <a:cs typeface="Garet"/>
                <a:sym typeface="Garet"/>
              </a:rPr>
              <a:t>Thread Pool</a:t>
            </a:r>
            <a:r>
              <a:rPr lang="en-US" sz="2724">
                <a:solidFill>
                  <a:srgbClr val="000000"/>
                </a:solidFill>
                <a:latin typeface="Garet"/>
                <a:ea typeface="Garet"/>
                <a:cs typeface="Garet"/>
                <a:sym typeface="Garet"/>
              </a:rPr>
              <a:t>: Tạo sẵn một nhóm các thread và tái sử dụng chúng cho nhiều tác vụ khác nhau.</a:t>
            </a:r>
          </a:p>
          <a:p>
            <a:pPr algn="just">
              <a:lnSpc>
                <a:spcPts val="5312"/>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740861" y="6749958"/>
            <a:ext cx="4596322" cy="459632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0" cap="sq">
              <a:solidFill>
                <a:srgbClr val="F6F6F6"/>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5324660" y="9048119"/>
            <a:ext cx="596043" cy="59604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FFFFFF"/>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782825" y="2356269"/>
            <a:ext cx="732337" cy="732337"/>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1B88"/>
            </a:solidFill>
            <a:ln cap="sq">
              <a:noFill/>
              <a:prstDash val="solid"/>
              <a:miter/>
            </a:ln>
          </p:spPr>
        </p:sp>
        <p:sp>
          <p:nvSpPr>
            <p:cNvPr name="TextBox 10" id="10"/>
            <p:cNvSpPr txBox="true"/>
            <p:nvPr/>
          </p:nvSpPr>
          <p:spPr>
            <a:xfrm>
              <a:off x="76200" y="28575"/>
              <a:ext cx="660400" cy="708025"/>
            </a:xfrm>
            <a:prstGeom prst="rect">
              <a:avLst/>
            </a:prstGeom>
          </p:spPr>
          <p:txBody>
            <a:bodyPr anchor="ctr" rtlCol="false" tIns="50800" lIns="50800" bIns="50800" rIns="50800"/>
            <a:lstStyle/>
            <a:p>
              <a:pPr algn="ctr">
                <a:lnSpc>
                  <a:spcPts val="2939"/>
                </a:lnSpc>
              </a:pPr>
              <a:r>
                <a:rPr lang="en-US" b="true" sz="2099">
                  <a:solidFill>
                    <a:srgbClr val="FFFFFF"/>
                  </a:solidFill>
                  <a:latin typeface="Garet Bold"/>
                  <a:ea typeface="Garet Bold"/>
                  <a:cs typeface="Garet Bold"/>
                  <a:sym typeface="Garet Bold"/>
                </a:rPr>
                <a:t>2</a:t>
              </a:r>
            </a:p>
          </p:txBody>
        </p:sp>
      </p:grpSp>
      <p:grpSp>
        <p:nvGrpSpPr>
          <p:cNvPr name="Group 11" id="11"/>
          <p:cNvGrpSpPr/>
          <p:nvPr/>
        </p:nvGrpSpPr>
        <p:grpSpPr>
          <a:xfrm rot="0">
            <a:off x="769898" y="178769"/>
            <a:ext cx="16748203" cy="1231093"/>
            <a:chOff x="0" y="0"/>
            <a:chExt cx="22330938" cy="1641457"/>
          </a:xfrm>
        </p:grpSpPr>
        <p:grpSp>
          <p:nvGrpSpPr>
            <p:cNvPr name="Group 12" id="12"/>
            <p:cNvGrpSpPr/>
            <p:nvPr/>
          </p:nvGrpSpPr>
          <p:grpSpPr>
            <a:xfrm rot="0">
              <a:off x="0" y="0"/>
              <a:ext cx="3390257" cy="1641457"/>
              <a:chOff x="0" y="0"/>
              <a:chExt cx="729373" cy="353140"/>
            </a:xfrm>
          </p:grpSpPr>
          <p:sp>
            <p:nvSpPr>
              <p:cNvPr name="Freeform 13" id="13"/>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14" id="14"/>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15" id="15"/>
            <p:cNvSpPr txBox="true"/>
            <p:nvPr/>
          </p:nvSpPr>
          <p:spPr>
            <a:xfrm rot="0">
              <a:off x="69855"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Giới thiệu &amp;</a:t>
              </a:r>
            </a:p>
            <a:p>
              <a:pPr algn="ctr">
                <a:lnSpc>
                  <a:spcPts val="3073"/>
                </a:lnSpc>
              </a:pPr>
              <a:r>
                <a:rPr lang="en-US" sz="2195">
                  <a:solidFill>
                    <a:srgbClr val="000000"/>
                  </a:solidFill>
                  <a:latin typeface="Garet"/>
                  <a:ea typeface="Garet"/>
                  <a:cs typeface="Garet"/>
                  <a:sym typeface="Garet"/>
                </a:rPr>
                <a:t> đặt vấn đề</a:t>
              </a:r>
            </a:p>
          </p:txBody>
        </p:sp>
        <p:grpSp>
          <p:nvGrpSpPr>
            <p:cNvPr name="Group 16" id="16"/>
            <p:cNvGrpSpPr/>
            <p:nvPr/>
          </p:nvGrpSpPr>
          <p:grpSpPr>
            <a:xfrm rot="0">
              <a:off x="3703251" y="0"/>
              <a:ext cx="3390257" cy="1641457"/>
              <a:chOff x="0" y="0"/>
              <a:chExt cx="729373" cy="353140"/>
            </a:xfrm>
          </p:grpSpPr>
          <p:sp>
            <p:nvSpPr>
              <p:cNvPr name="Freeform 17" id="17"/>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18" id="18"/>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19" id="19"/>
            <p:cNvSpPr txBox="true"/>
            <p:nvPr/>
          </p:nvSpPr>
          <p:spPr>
            <a:xfrm rot="0">
              <a:off x="3754062" y="141009"/>
              <a:ext cx="3250547" cy="1487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Tạo &amp; quản lý Threads trong Kotlin</a:t>
              </a:r>
            </a:p>
          </p:txBody>
        </p:sp>
        <p:grpSp>
          <p:nvGrpSpPr>
            <p:cNvPr name="Group 20" id="20"/>
            <p:cNvGrpSpPr/>
            <p:nvPr/>
          </p:nvGrpSpPr>
          <p:grpSpPr>
            <a:xfrm rot="0">
              <a:off x="7525308" y="0"/>
              <a:ext cx="3390257" cy="1641457"/>
              <a:chOff x="0" y="0"/>
              <a:chExt cx="729373" cy="353140"/>
            </a:xfrm>
          </p:grpSpPr>
          <p:sp>
            <p:nvSpPr>
              <p:cNvPr name="Freeform 21" id="21"/>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22" id="22"/>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23" id="23"/>
            <p:cNvSpPr txBox="true"/>
            <p:nvPr/>
          </p:nvSpPr>
          <p:spPr>
            <a:xfrm rot="0">
              <a:off x="7595164"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Dữ liệu chia sẻ và đồng bộ hóa</a:t>
              </a:r>
            </a:p>
          </p:txBody>
        </p:sp>
        <p:grpSp>
          <p:nvGrpSpPr>
            <p:cNvPr name="Group 24" id="24"/>
            <p:cNvGrpSpPr/>
            <p:nvPr/>
          </p:nvGrpSpPr>
          <p:grpSpPr>
            <a:xfrm rot="0">
              <a:off x="11347366" y="0"/>
              <a:ext cx="3390257" cy="1641457"/>
              <a:chOff x="0" y="0"/>
              <a:chExt cx="729373" cy="353140"/>
            </a:xfrm>
          </p:grpSpPr>
          <p:sp>
            <p:nvSpPr>
              <p:cNvPr name="Freeform 25" id="25"/>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26" id="26"/>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27" id="27"/>
            <p:cNvSpPr txBox="true"/>
            <p:nvPr/>
          </p:nvSpPr>
          <p:spPr>
            <a:xfrm rot="0">
              <a:off x="11417221"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Giao tiếp giữa các threads</a:t>
              </a:r>
            </a:p>
          </p:txBody>
        </p:sp>
        <p:grpSp>
          <p:nvGrpSpPr>
            <p:cNvPr name="Group 28" id="28"/>
            <p:cNvGrpSpPr/>
            <p:nvPr/>
          </p:nvGrpSpPr>
          <p:grpSpPr>
            <a:xfrm rot="0">
              <a:off x="15144023" y="0"/>
              <a:ext cx="3390257" cy="1641457"/>
              <a:chOff x="0" y="0"/>
              <a:chExt cx="729373" cy="353140"/>
            </a:xfrm>
          </p:grpSpPr>
          <p:sp>
            <p:nvSpPr>
              <p:cNvPr name="Freeform 29" id="29"/>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111B88"/>
              </a:solidFill>
            </p:spPr>
          </p:sp>
          <p:sp>
            <p:nvSpPr>
              <p:cNvPr name="TextBox 30" id="30"/>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1" id="31"/>
            <p:cNvSpPr txBox="true"/>
            <p:nvPr/>
          </p:nvSpPr>
          <p:spPr>
            <a:xfrm rot="0">
              <a:off x="15213879" y="311805"/>
              <a:ext cx="3250547" cy="979748"/>
            </a:xfrm>
            <a:prstGeom prst="rect">
              <a:avLst/>
            </a:prstGeom>
          </p:spPr>
          <p:txBody>
            <a:bodyPr anchor="t" rtlCol="false" tIns="0" lIns="0" bIns="0" rIns="0">
              <a:spAutoFit/>
            </a:bodyPr>
            <a:lstStyle/>
            <a:p>
              <a:pPr algn="ctr">
                <a:lnSpc>
                  <a:spcPts val="3073"/>
                </a:lnSpc>
              </a:pPr>
              <a:r>
                <a:rPr lang="en-US" sz="2195">
                  <a:solidFill>
                    <a:srgbClr val="FFFFFF"/>
                  </a:solidFill>
                  <a:latin typeface="Garet"/>
                  <a:ea typeface="Garet"/>
                  <a:cs typeface="Garet"/>
                  <a:sym typeface="Garet"/>
                </a:rPr>
                <a:t>Các khái niệm nâng cao</a:t>
              </a:r>
            </a:p>
          </p:txBody>
        </p:sp>
        <p:grpSp>
          <p:nvGrpSpPr>
            <p:cNvPr name="Group 32" id="32"/>
            <p:cNvGrpSpPr/>
            <p:nvPr/>
          </p:nvGrpSpPr>
          <p:grpSpPr>
            <a:xfrm rot="0">
              <a:off x="18940681" y="0"/>
              <a:ext cx="3390257" cy="1641457"/>
              <a:chOff x="0" y="0"/>
              <a:chExt cx="729373" cy="353140"/>
            </a:xfrm>
          </p:grpSpPr>
          <p:sp>
            <p:nvSpPr>
              <p:cNvPr name="Freeform 33" id="33"/>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34" id="34"/>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5" id="35"/>
            <p:cNvSpPr txBox="true"/>
            <p:nvPr/>
          </p:nvSpPr>
          <p:spPr>
            <a:xfrm rot="0">
              <a:off x="19010536"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Kết luận và định hướng tương lai</a:t>
              </a:r>
            </a:p>
          </p:txBody>
        </p:sp>
      </p:grpSp>
      <p:sp>
        <p:nvSpPr>
          <p:cNvPr name="Freeform 36" id="36"/>
          <p:cNvSpPr/>
          <p:nvPr/>
        </p:nvSpPr>
        <p:spPr>
          <a:xfrm flipH="false" flipV="false" rot="0">
            <a:off x="8121018" y="3402738"/>
            <a:ext cx="9640924" cy="4903902"/>
          </a:xfrm>
          <a:custGeom>
            <a:avLst/>
            <a:gdLst/>
            <a:ahLst/>
            <a:cxnLst/>
            <a:rect r="r" b="b" t="t" l="l"/>
            <a:pathLst>
              <a:path h="4903902" w="9640924">
                <a:moveTo>
                  <a:pt x="0" y="0"/>
                </a:moveTo>
                <a:lnTo>
                  <a:pt x="9640924" y="0"/>
                </a:lnTo>
                <a:lnTo>
                  <a:pt x="9640924" y="4903902"/>
                </a:lnTo>
                <a:lnTo>
                  <a:pt x="0" y="4903902"/>
                </a:lnTo>
                <a:lnTo>
                  <a:pt x="0" y="0"/>
                </a:lnTo>
                <a:close/>
              </a:path>
            </a:pathLst>
          </a:custGeom>
          <a:blipFill>
            <a:blip r:embed="rId2"/>
            <a:stretch>
              <a:fillRect l="-7473" t="-17731" r="-24086" b="-16763"/>
            </a:stretch>
          </a:blipFill>
        </p:spPr>
      </p:sp>
      <p:sp>
        <p:nvSpPr>
          <p:cNvPr name="TextBox 37" id="37"/>
          <p:cNvSpPr txBox="true"/>
          <p:nvPr/>
        </p:nvSpPr>
        <p:spPr>
          <a:xfrm rot="0">
            <a:off x="1781133" y="2398905"/>
            <a:ext cx="14085741" cy="580390"/>
          </a:xfrm>
          <a:prstGeom prst="rect">
            <a:avLst/>
          </a:prstGeom>
        </p:spPr>
        <p:txBody>
          <a:bodyPr anchor="t" rtlCol="false" tIns="0" lIns="0" bIns="0" rIns="0">
            <a:spAutoFit/>
          </a:bodyPr>
          <a:lstStyle/>
          <a:p>
            <a:pPr algn="l">
              <a:lnSpc>
                <a:spcPts val="4759"/>
              </a:lnSpc>
            </a:pPr>
            <a:r>
              <a:rPr lang="en-US" sz="3399" b="true">
                <a:solidFill>
                  <a:srgbClr val="000000"/>
                </a:solidFill>
                <a:latin typeface="Garet Bold"/>
                <a:ea typeface="Garet Bold"/>
                <a:cs typeface="Garet Bold"/>
                <a:sym typeface="Garet Bold"/>
              </a:rPr>
              <a:t>Sử dụng Executors</a:t>
            </a:r>
          </a:p>
        </p:txBody>
      </p:sp>
      <p:sp>
        <p:nvSpPr>
          <p:cNvPr name="TextBox 38" id="38"/>
          <p:cNvSpPr txBox="true"/>
          <p:nvPr/>
        </p:nvSpPr>
        <p:spPr>
          <a:xfrm rot="0">
            <a:off x="17761942" y="9587012"/>
            <a:ext cx="381855"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15</a:t>
            </a:r>
          </a:p>
        </p:txBody>
      </p:sp>
      <p:grpSp>
        <p:nvGrpSpPr>
          <p:cNvPr name="Group 39" id="39"/>
          <p:cNvGrpSpPr/>
          <p:nvPr/>
        </p:nvGrpSpPr>
        <p:grpSpPr>
          <a:xfrm rot="0">
            <a:off x="484490" y="3412263"/>
            <a:ext cx="7351120" cy="2851732"/>
            <a:chOff x="0" y="0"/>
            <a:chExt cx="9801493" cy="3802309"/>
          </a:xfrm>
        </p:grpSpPr>
        <p:grpSp>
          <p:nvGrpSpPr>
            <p:cNvPr name="Group 40" id="40"/>
            <p:cNvGrpSpPr/>
            <p:nvPr/>
          </p:nvGrpSpPr>
          <p:grpSpPr>
            <a:xfrm rot="0">
              <a:off x="38100" y="0"/>
              <a:ext cx="9573346" cy="3802309"/>
              <a:chOff x="0" y="0"/>
              <a:chExt cx="13134264" cy="5216622"/>
            </a:xfrm>
          </p:grpSpPr>
          <p:sp>
            <p:nvSpPr>
              <p:cNvPr name="Freeform 41" id="41"/>
              <p:cNvSpPr/>
              <p:nvPr/>
            </p:nvSpPr>
            <p:spPr>
              <a:xfrm flipH="false" flipV="false" rot="0">
                <a:off x="0" y="0"/>
                <a:ext cx="13134263" cy="5216622"/>
              </a:xfrm>
              <a:custGeom>
                <a:avLst/>
                <a:gdLst/>
                <a:ahLst/>
                <a:cxnLst/>
                <a:rect r="r" b="b" t="t" l="l"/>
                <a:pathLst>
                  <a:path h="5216622" w="13134263">
                    <a:moveTo>
                      <a:pt x="54991" y="0"/>
                    </a:moveTo>
                    <a:lnTo>
                      <a:pt x="13079271" y="0"/>
                    </a:lnTo>
                    <a:cubicBezTo>
                      <a:pt x="13109643" y="0"/>
                      <a:pt x="13134263" y="24620"/>
                      <a:pt x="13134263" y="54991"/>
                    </a:cubicBezTo>
                    <a:lnTo>
                      <a:pt x="13134263" y="5161631"/>
                    </a:lnTo>
                    <a:cubicBezTo>
                      <a:pt x="13134263" y="5192002"/>
                      <a:pt x="13109643" y="5216622"/>
                      <a:pt x="13079271" y="5216622"/>
                    </a:cubicBezTo>
                    <a:lnTo>
                      <a:pt x="54991" y="5216622"/>
                    </a:lnTo>
                    <a:cubicBezTo>
                      <a:pt x="24620" y="5216622"/>
                      <a:pt x="0" y="5192002"/>
                      <a:pt x="0" y="5161631"/>
                    </a:cubicBezTo>
                    <a:lnTo>
                      <a:pt x="0" y="54991"/>
                    </a:lnTo>
                    <a:cubicBezTo>
                      <a:pt x="0" y="24620"/>
                      <a:pt x="24620" y="0"/>
                      <a:pt x="54991" y="0"/>
                    </a:cubicBezTo>
                    <a:close/>
                  </a:path>
                </a:pathLst>
              </a:custGeom>
              <a:solidFill>
                <a:srgbClr val="E8ECEC"/>
              </a:solidFill>
            </p:spPr>
          </p:sp>
          <p:sp>
            <p:nvSpPr>
              <p:cNvPr name="TextBox 42" id="42"/>
              <p:cNvSpPr txBox="true"/>
              <p:nvPr/>
            </p:nvSpPr>
            <p:spPr>
              <a:xfrm>
                <a:off x="0" y="-57150"/>
                <a:ext cx="13134264" cy="5273772"/>
              </a:xfrm>
              <a:prstGeom prst="rect">
                <a:avLst/>
              </a:prstGeom>
            </p:spPr>
            <p:txBody>
              <a:bodyPr anchor="ctr" rtlCol="false" tIns="7314" lIns="7314" bIns="7314" rIns="7314"/>
              <a:lstStyle/>
              <a:p>
                <a:pPr algn="ctr">
                  <a:lnSpc>
                    <a:spcPts val="4199"/>
                  </a:lnSpc>
                </a:pPr>
              </a:p>
            </p:txBody>
          </p:sp>
        </p:grpSp>
        <p:sp>
          <p:nvSpPr>
            <p:cNvPr name="TextBox 43" id="43"/>
            <p:cNvSpPr txBox="true"/>
            <p:nvPr/>
          </p:nvSpPr>
          <p:spPr>
            <a:xfrm rot="0">
              <a:off x="0" y="105636"/>
              <a:ext cx="9801493" cy="3400537"/>
            </a:xfrm>
            <a:prstGeom prst="rect">
              <a:avLst/>
            </a:prstGeom>
          </p:spPr>
          <p:txBody>
            <a:bodyPr anchor="t" rtlCol="false" tIns="0" lIns="0" bIns="0" rIns="0">
              <a:spAutoFit/>
            </a:bodyPr>
            <a:lstStyle/>
            <a:p>
              <a:pPr algn="just" marL="588138" indent="-294069" lvl="1">
                <a:lnSpc>
                  <a:spcPts val="5312"/>
                </a:lnSpc>
                <a:buFont typeface="Arial"/>
                <a:buChar char="•"/>
              </a:pPr>
              <a:r>
                <a:rPr lang="en-US" sz="2724">
                  <a:solidFill>
                    <a:srgbClr val="A31515"/>
                  </a:solidFill>
                  <a:latin typeface="Garet"/>
                  <a:ea typeface="Garet"/>
                  <a:cs typeface="Garet"/>
                  <a:sym typeface="Garet"/>
                </a:rPr>
                <a:t>Executors.newFixedThreadPool(n)</a:t>
              </a:r>
              <a:r>
                <a:rPr lang="en-US" sz="2724">
                  <a:solidFill>
                    <a:srgbClr val="000000"/>
                  </a:solidFill>
                  <a:latin typeface="Garet"/>
                  <a:ea typeface="Garet"/>
                  <a:cs typeface="Garet"/>
                  <a:sym typeface="Garet"/>
                </a:rPr>
                <a:t>: Tạo pool với cố định n thread.</a:t>
              </a:r>
            </a:p>
            <a:p>
              <a:pPr algn="just" marL="588138" indent="-294069" lvl="1">
                <a:lnSpc>
                  <a:spcPts val="5312"/>
                </a:lnSpc>
                <a:buFont typeface="Arial"/>
                <a:buChar char="•"/>
              </a:pPr>
              <a:r>
                <a:rPr lang="en-US" sz="2724">
                  <a:solidFill>
                    <a:srgbClr val="A31515"/>
                  </a:solidFill>
                  <a:latin typeface="Garet"/>
                  <a:ea typeface="Garet"/>
                  <a:cs typeface="Garet"/>
                  <a:sym typeface="Garet"/>
                </a:rPr>
                <a:t>Executors.newCachedThreadPool()</a:t>
              </a:r>
              <a:r>
                <a:rPr lang="en-US" sz="2724">
                  <a:solidFill>
                    <a:srgbClr val="000000"/>
                  </a:solidFill>
                  <a:latin typeface="Garet"/>
                  <a:ea typeface="Garet"/>
                  <a:cs typeface="Garet"/>
                  <a:sym typeface="Garet"/>
                </a:rPr>
                <a:t>: Tạo pool co giãn theo nhu cầu.</a:t>
              </a:r>
            </a:p>
          </p:txBody>
        </p:sp>
      </p:grpSp>
      <p:sp>
        <p:nvSpPr>
          <p:cNvPr name="TextBox 44" id="44"/>
          <p:cNvSpPr txBox="true"/>
          <p:nvPr/>
        </p:nvSpPr>
        <p:spPr>
          <a:xfrm rot="0">
            <a:off x="11051264" y="8421559"/>
            <a:ext cx="3780433" cy="290195"/>
          </a:xfrm>
          <a:prstGeom prst="rect">
            <a:avLst/>
          </a:prstGeom>
        </p:spPr>
        <p:txBody>
          <a:bodyPr anchor="t" rtlCol="false" tIns="0" lIns="0" bIns="0" rIns="0">
            <a:spAutoFit/>
          </a:bodyPr>
          <a:lstStyle/>
          <a:p>
            <a:pPr algn="ctr">
              <a:lnSpc>
                <a:spcPts val="2380"/>
              </a:lnSpc>
              <a:spcBef>
                <a:spcPct val="0"/>
              </a:spcBef>
            </a:pPr>
            <a:r>
              <a:rPr lang="en-US" sz="1700" i="true">
                <a:solidFill>
                  <a:srgbClr val="000000"/>
                </a:solidFill>
                <a:latin typeface="Inter Italics"/>
                <a:ea typeface="Inter Italics"/>
                <a:cs typeface="Inter Italics"/>
                <a:sym typeface="Inter Italics"/>
              </a:rPr>
              <a:t>Ảnh 9: Tạo thread pool với Executors</a:t>
            </a:r>
          </a:p>
        </p:txBody>
      </p:sp>
    </p:spTree>
  </p:cSld>
  <p:clrMapOvr>
    <a:masterClrMapping/>
  </p:clrMapOvr>
</p:sld>
</file>

<file path=ppt/slides/slide1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5740861" y="6749958"/>
            <a:ext cx="4596322" cy="459632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0" cap="sq">
              <a:solidFill>
                <a:srgbClr val="F6F6F6"/>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5324660" y="9048119"/>
            <a:ext cx="596043" cy="59604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FFFFFF"/>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465440" y="3225059"/>
            <a:ext cx="17296502" cy="5653329"/>
            <a:chOff x="0" y="0"/>
            <a:chExt cx="31640186" cy="10341535"/>
          </a:xfrm>
        </p:grpSpPr>
        <p:sp>
          <p:nvSpPr>
            <p:cNvPr name="Freeform 9" id="9"/>
            <p:cNvSpPr/>
            <p:nvPr/>
          </p:nvSpPr>
          <p:spPr>
            <a:xfrm flipH="false" flipV="false" rot="0">
              <a:off x="0" y="0"/>
              <a:ext cx="31640187" cy="10341535"/>
            </a:xfrm>
            <a:custGeom>
              <a:avLst/>
              <a:gdLst/>
              <a:ahLst/>
              <a:cxnLst/>
              <a:rect r="r" b="b" t="t" l="l"/>
              <a:pathLst>
                <a:path h="10341535" w="31640187">
                  <a:moveTo>
                    <a:pt x="22828" y="0"/>
                  </a:moveTo>
                  <a:lnTo>
                    <a:pt x="31617360" y="0"/>
                  </a:lnTo>
                  <a:cubicBezTo>
                    <a:pt x="31629967" y="0"/>
                    <a:pt x="31640187" y="10220"/>
                    <a:pt x="31640187" y="22828"/>
                  </a:cubicBezTo>
                  <a:lnTo>
                    <a:pt x="31640187" y="10318708"/>
                  </a:lnTo>
                  <a:cubicBezTo>
                    <a:pt x="31640187" y="10331315"/>
                    <a:pt x="31629967" y="10341535"/>
                    <a:pt x="31617360" y="10341535"/>
                  </a:cubicBezTo>
                  <a:lnTo>
                    <a:pt x="22828" y="10341535"/>
                  </a:lnTo>
                  <a:cubicBezTo>
                    <a:pt x="10220" y="10341535"/>
                    <a:pt x="0" y="10331315"/>
                    <a:pt x="0" y="10318708"/>
                  </a:cubicBezTo>
                  <a:lnTo>
                    <a:pt x="0" y="22828"/>
                  </a:lnTo>
                  <a:cubicBezTo>
                    <a:pt x="0" y="10220"/>
                    <a:pt x="10220" y="0"/>
                    <a:pt x="22828" y="0"/>
                  </a:cubicBezTo>
                  <a:close/>
                </a:path>
              </a:pathLst>
            </a:custGeom>
            <a:solidFill>
              <a:srgbClr val="E8ECEC"/>
            </a:solidFill>
          </p:spPr>
        </p:sp>
        <p:sp>
          <p:nvSpPr>
            <p:cNvPr name="TextBox 10" id="10"/>
            <p:cNvSpPr txBox="true"/>
            <p:nvPr/>
          </p:nvSpPr>
          <p:spPr>
            <a:xfrm>
              <a:off x="0" y="-57150"/>
              <a:ext cx="31640186" cy="10398685"/>
            </a:xfrm>
            <a:prstGeom prst="rect">
              <a:avLst/>
            </a:prstGeom>
          </p:spPr>
          <p:txBody>
            <a:bodyPr anchor="ctr" rtlCol="false" tIns="7314" lIns="7314" bIns="7314" rIns="7314"/>
            <a:lstStyle/>
            <a:p>
              <a:pPr algn="ctr">
                <a:lnSpc>
                  <a:spcPts val="4199"/>
                </a:lnSpc>
              </a:pPr>
            </a:p>
          </p:txBody>
        </p:sp>
      </p:grpSp>
      <p:grpSp>
        <p:nvGrpSpPr>
          <p:cNvPr name="Group 11" id="11"/>
          <p:cNvGrpSpPr/>
          <p:nvPr/>
        </p:nvGrpSpPr>
        <p:grpSpPr>
          <a:xfrm rot="0">
            <a:off x="782825" y="2356269"/>
            <a:ext cx="732337" cy="73233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1B88"/>
            </a:solidFill>
            <a:ln cap="sq">
              <a:noFill/>
              <a:prstDash val="solid"/>
              <a:miter/>
            </a:ln>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2939"/>
                </a:lnSpc>
              </a:pPr>
              <a:r>
                <a:rPr lang="en-US" b="true" sz="2099">
                  <a:solidFill>
                    <a:srgbClr val="FFFFFF"/>
                  </a:solidFill>
                  <a:latin typeface="Garet Bold"/>
                  <a:ea typeface="Garet Bold"/>
                  <a:cs typeface="Garet Bold"/>
                  <a:sym typeface="Garet Bold"/>
                </a:rPr>
                <a:t>1</a:t>
              </a:r>
            </a:p>
          </p:txBody>
        </p:sp>
      </p:grpSp>
      <p:grpSp>
        <p:nvGrpSpPr>
          <p:cNvPr name="Group 14" id="14"/>
          <p:cNvGrpSpPr/>
          <p:nvPr/>
        </p:nvGrpSpPr>
        <p:grpSpPr>
          <a:xfrm rot="0">
            <a:off x="769898" y="178769"/>
            <a:ext cx="16748203" cy="1231093"/>
            <a:chOff x="0" y="0"/>
            <a:chExt cx="22330938" cy="1641457"/>
          </a:xfrm>
        </p:grpSpPr>
        <p:grpSp>
          <p:nvGrpSpPr>
            <p:cNvPr name="Group 15" id="15"/>
            <p:cNvGrpSpPr/>
            <p:nvPr/>
          </p:nvGrpSpPr>
          <p:grpSpPr>
            <a:xfrm rot="0">
              <a:off x="0" y="0"/>
              <a:ext cx="3390257" cy="1641457"/>
              <a:chOff x="0" y="0"/>
              <a:chExt cx="729373" cy="353140"/>
            </a:xfrm>
          </p:grpSpPr>
          <p:sp>
            <p:nvSpPr>
              <p:cNvPr name="Freeform 16" id="16"/>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17" id="17"/>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18" id="18"/>
            <p:cNvSpPr txBox="true"/>
            <p:nvPr/>
          </p:nvSpPr>
          <p:spPr>
            <a:xfrm rot="0">
              <a:off x="69855"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Giới thiệu &amp;</a:t>
              </a:r>
            </a:p>
            <a:p>
              <a:pPr algn="ctr">
                <a:lnSpc>
                  <a:spcPts val="3073"/>
                </a:lnSpc>
              </a:pPr>
              <a:r>
                <a:rPr lang="en-US" sz="2195">
                  <a:solidFill>
                    <a:srgbClr val="000000"/>
                  </a:solidFill>
                  <a:latin typeface="Garet"/>
                  <a:ea typeface="Garet"/>
                  <a:cs typeface="Garet"/>
                  <a:sym typeface="Garet"/>
                </a:rPr>
                <a:t> đặt vấn đề</a:t>
              </a:r>
            </a:p>
          </p:txBody>
        </p:sp>
        <p:grpSp>
          <p:nvGrpSpPr>
            <p:cNvPr name="Group 19" id="19"/>
            <p:cNvGrpSpPr/>
            <p:nvPr/>
          </p:nvGrpSpPr>
          <p:grpSpPr>
            <a:xfrm rot="0">
              <a:off x="3703251" y="0"/>
              <a:ext cx="3390257" cy="1641457"/>
              <a:chOff x="0" y="0"/>
              <a:chExt cx="729373" cy="353140"/>
            </a:xfrm>
          </p:grpSpPr>
          <p:sp>
            <p:nvSpPr>
              <p:cNvPr name="Freeform 20" id="20"/>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21" id="21"/>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22" id="22"/>
            <p:cNvSpPr txBox="true"/>
            <p:nvPr/>
          </p:nvSpPr>
          <p:spPr>
            <a:xfrm rot="0">
              <a:off x="3754062" y="141009"/>
              <a:ext cx="3250547" cy="1487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Tạo &amp; quản lý Threads trong Kotlin</a:t>
              </a:r>
            </a:p>
          </p:txBody>
        </p:sp>
        <p:grpSp>
          <p:nvGrpSpPr>
            <p:cNvPr name="Group 23" id="23"/>
            <p:cNvGrpSpPr/>
            <p:nvPr/>
          </p:nvGrpSpPr>
          <p:grpSpPr>
            <a:xfrm rot="0">
              <a:off x="7525308" y="0"/>
              <a:ext cx="3390257" cy="1641457"/>
              <a:chOff x="0" y="0"/>
              <a:chExt cx="729373" cy="353140"/>
            </a:xfrm>
          </p:grpSpPr>
          <p:sp>
            <p:nvSpPr>
              <p:cNvPr name="Freeform 24" id="24"/>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25" id="25"/>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26" id="26"/>
            <p:cNvSpPr txBox="true"/>
            <p:nvPr/>
          </p:nvSpPr>
          <p:spPr>
            <a:xfrm rot="0">
              <a:off x="7595164"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Dữ liệu chia sẻ và đồng bộ hóa</a:t>
              </a:r>
            </a:p>
          </p:txBody>
        </p:sp>
        <p:grpSp>
          <p:nvGrpSpPr>
            <p:cNvPr name="Group 27" id="27"/>
            <p:cNvGrpSpPr/>
            <p:nvPr/>
          </p:nvGrpSpPr>
          <p:grpSpPr>
            <a:xfrm rot="0">
              <a:off x="11347366" y="0"/>
              <a:ext cx="3390257" cy="1641457"/>
              <a:chOff x="0" y="0"/>
              <a:chExt cx="729373" cy="353140"/>
            </a:xfrm>
          </p:grpSpPr>
          <p:sp>
            <p:nvSpPr>
              <p:cNvPr name="Freeform 28" id="28"/>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29" id="29"/>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0" id="30"/>
            <p:cNvSpPr txBox="true"/>
            <p:nvPr/>
          </p:nvSpPr>
          <p:spPr>
            <a:xfrm rot="0">
              <a:off x="11417221"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Giao tiếp giữa các threads</a:t>
              </a:r>
            </a:p>
          </p:txBody>
        </p:sp>
        <p:grpSp>
          <p:nvGrpSpPr>
            <p:cNvPr name="Group 31" id="31"/>
            <p:cNvGrpSpPr/>
            <p:nvPr/>
          </p:nvGrpSpPr>
          <p:grpSpPr>
            <a:xfrm rot="0">
              <a:off x="15144023" y="0"/>
              <a:ext cx="3390257" cy="1641457"/>
              <a:chOff x="0" y="0"/>
              <a:chExt cx="729373" cy="353140"/>
            </a:xfrm>
          </p:grpSpPr>
          <p:sp>
            <p:nvSpPr>
              <p:cNvPr name="Freeform 32" id="32"/>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33" id="33"/>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4" id="34"/>
            <p:cNvSpPr txBox="true"/>
            <p:nvPr/>
          </p:nvSpPr>
          <p:spPr>
            <a:xfrm rot="0">
              <a:off x="15213879"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Các khái niệm nâng cao</a:t>
              </a:r>
            </a:p>
          </p:txBody>
        </p:sp>
        <p:grpSp>
          <p:nvGrpSpPr>
            <p:cNvPr name="Group 35" id="35"/>
            <p:cNvGrpSpPr/>
            <p:nvPr/>
          </p:nvGrpSpPr>
          <p:grpSpPr>
            <a:xfrm rot="0">
              <a:off x="18940681" y="0"/>
              <a:ext cx="3390257" cy="1641457"/>
              <a:chOff x="0" y="0"/>
              <a:chExt cx="729373" cy="353140"/>
            </a:xfrm>
          </p:grpSpPr>
          <p:sp>
            <p:nvSpPr>
              <p:cNvPr name="Freeform 36" id="36"/>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111B88"/>
              </a:solidFill>
            </p:spPr>
          </p:sp>
          <p:sp>
            <p:nvSpPr>
              <p:cNvPr name="TextBox 37" id="37"/>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8" id="38"/>
            <p:cNvSpPr txBox="true"/>
            <p:nvPr/>
          </p:nvSpPr>
          <p:spPr>
            <a:xfrm rot="0">
              <a:off x="19010536" y="311805"/>
              <a:ext cx="3250547" cy="979748"/>
            </a:xfrm>
            <a:prstGeom prst="rect">
              <a:avLst/>
            </a:prstGeom>
          </p:spPr>
          <p:txBody>
            <a:bodyPr anchor="t" rtlCol="false" tIns="0" lIns="0" bIns="0" rIns="0">
              <a:spAutoFit/>
            </a:bodyPr>
            <a:lstStyle/>
            <a:p>
              <a:pPr algn="ctr">
                <a:lnSpc>
                  <a:spcPts val="3073"/>
                </a:lnSpc>
              </a:pPr>
              <a:r>
                <a:rPr lang="en-US" sz="2195">
                  <a:solidFill>
                    <a:srgbClr val="FFFFFF"/>
                  </a:solidFill>
                  <a:latin typeface="Garet"/>
                  <a:ea typeface="Garet"/>
                  <a:cs typeface="Garet"/>
                  <a:sym typeface="Garet"/>
                </a:rPr>
                <a:t>Kết luận và định hướng tương lai</a:t>
              </a:r>
            </a:p>
          </p:txBody>
        </p:sp>
      </p:grpSp>
      <p:sp>
        <p:nvSpPr>
          <p:cNvPr name="TextBox 39" id="39"/>
          <p:cNvSpPr txBox="true"/>
          <p:nvPr/>
        </p:nvSpPr>
        <p:spPr>
          <a:xfrm rot="0">
            <a:off x="1781133" y="2398905"/>
            <a:ext cx="14085741" cy="580390"/>
          </a:xfrm>
          <a:prstGeom prst="rect">
            <a:avLst/>
          </a:prstGeom>
        </p:spPr>
        <p:txBody>
          <a:bodyPr anchor="t" rtlCol="false" tIns="0" lIns="0" bIns="0" rIns="0">
            <a:spAutoFit/>
          </a:bodyPr>
          <a:lstStyle/>
          <a:p>
            <a:pPr algn="l">
              <a:lnSpc>
                <a:spcPts val="4759"/>
              </a:lnSpc>
            </a:pPr>
            <a:r>
              <a:rPr lang="en-US" sz="3399" b="true">
                <a:solidFill>
                  <a:srgbClr val="000000"/>
                </a:solidFill>
                <a:latin typeface="Garet Bold"/>
                <a:ea typeface="Garet Bold"/>
                <a:cs typeface="Garet Bold"/>
                <a:sym typeface="Garet Bold"/>
              </a:rPr>
              <a:t>Tổng kết ưu và nhược điểm</a:t>
            </a:r>
          </a:p>
        </p:txBody>
      </p:sp>
      <p:sp>
        <p:nvSpPr>
          <p:cNvPr name="TextBox 40" id="40"/>
          <p:cNvSpPr txBox="true"/>
          <p:nvPr/>
        </p:nvSpPr>
        <p:spPr>
          <a:xfrm rot="0">
            <a:off x="17761942" y="9587012"/>
            <a:ext cx="381855"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16</a:t>
            </a:r>
          </a:p>
        </p:txBody>
      </p:sp>
      <p:sp>
        <p:nvSpPr>
          <p:cNvPr name="TextBox 41" id="41"/>
          <p:cNvSpPr txBox="true"/>
          <p:nvPr/>
        </p:nvSpPr>
        <p:spPr>
          <a:xfrm rot="0">
            <a:off x="769898" y="3212222"/>
            <a:ext cx="16687585" cy="5265028"/>
          </a:xfrm>
          <a:prstGeom prst="rect">
            <a:avLst/>
          </a:prstGeom>
        </p:spPr>
        <p:txBody>
          <a:bodyPr anchor="t" rtlCol="false" tIns="0" lIns="0" bIns="0" rIns="0">
            <a:spAutoFit/>
          </a:bodyPr>
          <a:lstStyle/>
          <a:p>
            <a:pPr algn="just" marL="588138" indent="-294069" lvl="1">
              <a:lnSpc>
                <a:spcPts val="5312"/>
              </a:lnSpc>
              <a:buFont typeface="Arial"/>
              <a:buChar char="•"/>
            </a:pPr>
            <a:r>
              <a:rPr lang="en-US" b="true" sz="2724">
                <a:solidFill>
                  <a:srgbClr val="000000"/>
                </a:solidFill>
                <a:latin typeface="Garet Bold"/>
                <a:ea typeface="Garet Bold"/>
                <a:cs typeface="Garet Bold"/>
                <a:sym typeface="Garet Bold"/>
              </a:rPr>
              <a:t>Ưu điểm:</a:t>
            </a:r>
            <a:r>
              <a:rPr lang="en-US" b="true" sz="2724">
                <a:solidFill>
                  <a:srgbClr val="111B88"/>
                </a:solidFill>
                <a:latin typeface="Garet Bold"/>
                <a:ea typeface="Garet Bold"/>
                <a:cs typeface="Garet Bold"/>
                <a:sym typeface="Garet Bold"/>
              </a:rPr>
              <a:t> </a:t>
            </a:r>
          </a:p>
          <a:p>
            <a:pPr algn="just" marL="1176275" indent="-392092" lvl="2">
              <a:lnSpc>
                <a:spcPts val="5312"/>
              </a:lnSpc>
              <a:buFont typeface="Arial"/>
              <a:buChar char="⚬"/>
            </a:pPr>
            <a:r>
              <a:rPr lang="en-US" sz="2724">
                <a:solidFill>
                  <a:srgbClr val="000000"/>
                </a:solidFill>
                <a:latin typeface="Garet"/>
                <a:ea typeface="Garet"/>
                <a:cs typeface="Garet"/>
                <a:sym typeface="Garet"/>
              </a:rPr>
              <a:t>Mô hình quen thuộc, có sẵn trong Java/Kotlin standard library.</a:t>
            </a:r>
          </a:p>
          <a:p>
            <a:pPr algn="just" marL="1176275" indent="-392092" lvl="2">
              <a:lnSpc>
                <a:spcPts val="5312"/>
              </a:lnSpc>
              <a:buFont typeface="Arial"/>
              <a:buChar char="⚬"/>
            </a:pPr>
            <a:r>
              <a:rPr lang="en-US" sz="2724">
                <a:solidFill>
                  <a:srgbClr val="000000"/>
                </a:solidFill>
                <a:latin typeface="Garet"/>
                <a:ea typeface="Garet"/>
                <a:cs typeface="Garet"/>
                <a:sym typeface="Garet"/>
              </a:rPr>
              <a:t>Kiểm soát chi tiết việc thực thi.</a:t>
            </a:r>
          </a:p>
          <a:p>
            <a:pPr algn="just" marL="588138" indent="-294069" lvl="1">
              <a:lnSpc>
                <a:spcPts val="5312"/>
              </a:lnSpc>
              <a:buFont typeface="Arial"/>
              <a:buChar char="•"/>
            </a:pPr>
            <a:r>
              <a:rPr lang="en-US" b="true" sz="2724">
                <a:solidFill>
                  <a:srgbClr val="000000"/>
                </a:solidFill>
                <a:latin typeface="Garet Bold"/>
                <a:ea typeface="Garet Bold"/>
                <a:cs typeface="Garet Bold"/>
                <a:sym typeface="Garet Bold"/>
              </a:rPr>
              <a:t>Nhược điểm:</a:t>
            </a:r>
            <a:r>
              <a:rPr lang="en-US" b="true" sz="2724">
                <a:solidFill>
                  <a:srgbClr val="111B88"/>
                </a:solidFill>
                <a:latin typeface="Garet Bold"/>
                <a:ea typeface="Garet Bold"/>
                <a:cs typeface="Garet Bold"/>
                <a:sym typeface="Garet Bold"/>
              </a:rPr>
              <a:t> </a:t>
            </a:r>
          </a:p>
          <a:p>
            <a:pPr algn="just" marL="1176275" indent="-392092" lvl="2">
              <a:lnSpc>
                <a:spcPts val="5312"/>
              </a:lnSpc>
              <a:buFont typeface="Arial"/>
              <a:buChar char="⚬"/>
            </a:pPr>
            <a:r>
              <a:rPr lang="en-US" sz="2724">
                <a:solidFill>
                  <a:srgbClr val="111B88"/>
                </a:solidFill>
                <a:latin typeface="Garet"/>
                <a:ea typeface="Garet"/>
                <a:cs typeface="Garet"/>
                <a:sym typeface="Garet"/>
              </a:rPr>
              <a:t>Tốn kém</a:t>
            </a:r>
            <a:r>
              <a:rPr lang="en-US" sz="2724">
                <a:solidFill>
                  <a:srgbClr val="000000"/>
                </a:solidFill>
                <a:latin typeface="Garet"/>
                <a:ea typeface="Garet"/>
                <a:cs typeface="Garet"/>
                <a:sym typeface="Garet"/>
              </a:rPr>
              <a:t>: Mỗi thread tốn khoảng 1-2MB RAM stack size. Không thể tạo hàng ngàn thread (C10k problem).</a:t>
            </a:r>
          </a:p>
          <a:p>
            <a:pPr algn="just" marL="1176275" indent="-392092" lvl="2">
              <a:lnSpc>
                <a:spcPts val="5312"/>
              </a:lnSpc>
              <a:buFont typeface="Arial"/>
              <a:buChar char="⚬"/>
            </a:pPr>
            <a:r>
              <a:rPr lang="en-US" sz="2724">
                <a:solidFill>
                  <a:srgbClr val="111B88"/>
                </a:solidFill>
                <a:latin typeface="Garet"/>
                <a:ea typeface="Garet"/>
                <a:cs typeface="Garet"/>
                <a:sym typeface="Garet"/>
              </a:rPr>
              <a:t>Phức tạp</a:t>
            </a:r>
            <a:r>
              <a:rPr lang="en-US" sz="2724">
                <a:solidFill>
                  <a:srgbClr val="000000"/>
                </a:solidFill>
                <a:latin typeface="Garet"/>
                <a:ea typeface="Garet"/>
                <a:cs typeface="Garet"/>
                <a:sym typeface="Garet"/>
              </a:rPr>
              <a:t>: Dễ gặp lỗi Deadlock, Race Conditions.</a:t>
            </a:r>
          </a:p>
          <a:p>
            <a:pPr algn="just" marL="1176275" indent="-392092" lvl="2">
              <a:lnSpc>
                <a:spcPts val="5312"/>
              </a:lnSpc>
              <a:buFont typeface="Arial"/>
              <a:buChar char="⚬"/>
            </a:pPr>
            <a:r>
              <a:rPr lang="en-US" sz="2724">
                <a:solidFill>
                  <a:srgbClr val="111B88"/>
                </a:solidFill>
                <a:latin typeface="Garet"/>
                <a:ea typeface="Garet"/>
                <a:cs typeface="Garet"/>
                <a:sym typeface="Garet"/>
              </a:rPr>
              <a:t>Blocking</a:t>
            </a:r>
            <a:r>
              <a:rPr lang="en-US" sz="2724">
                <a:solidFill>
                  <a:srgbClr val="000000"/>
                </a:solidFill>
                <a:latin typeface="Garet"/>
                <a:ea typeface="Garet"/>
                <a:cs typeface="Garet"/>
                <a:sym typeface="Garet"/>
              </a:rPr>
              <a:t>: Khi chờ I/O, thread bị chặn hoàn toàn, gây lãng phí tài nguyên.</a:t>
            </a:r>
          </a:p>
        </p:txBody>
      </p:sp>
    </p:spTree>
  </p:cSld>
  <p:clrMapOvr>
    <a:masterClrMapping/>
  </p:clrMapOvr>
</p:sld>
</file>

<file path=ppt/slides/slide1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5740861" y="6749958"/>
            <a:ext cx="4596322" cy="459632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762000" cap="sq">
              <a:solidFill>
                <a:srgbClr val="F6F6F6"/>
              </a:solidFill>
              <a:prstDash val="solid"/>
              <a:miter/>
            </a:ln>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5324660" y="9048119"/>
            <a:ext cx="596043" cy="596043"/>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47625" cap="sq">
              <a:solidFill>
                <a:srgbClr val="FFFFFF"/>
              </a:solidFill>
              <a:prstDash val="solid"/>
              <a:miter/>
            </a:ln>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495749" y="3714191"/>
            <a:ext cx="17296502" cy="3803798"/>
            <a:chOff x="0" y="0"/>
            <a:chExt cx="31640186" cy="6958221"/>
          </a:xfrm>
        </p:grpSpPr>
        <p:sp>
          <p:nvSpPr>
            <p:cNvPr name="Freeform 9" id="9"/>
            <p:cNvSpPr/>
            <p:nvPr/>
          </p:nvSpPr>
          <p:spPr>
            <a:xfrm flipH="false" flipV="false" rot="0">
              <a:off x="0" y="0"/>
              <a:ext cx="31640187" cy="6958221"/>
            </a:xfrm>
            <a:custGeom>
              <a:avLst/>
              <a:gdLst/>
              <a:ahLst/>
              <a:cxnLst/>
              <a:rect r="r" b="b" t="t" l="l"/>
              <a:pathLst>
                <a:path h="6958221" w="31640187">
                  <a:moveTo>
                    <a:pt x="22828" y="0"/>
                  </a:moveTo>
                  <a:lnTo>
                    <a:pt x="31617360" y="0"/>
                  </a:lnTo>
                  <a:cubicBezTo>
                    <a:pt x="31629967" y="0"/>
                    <a:pt x="31640187" y="10220"/>
                    <a:pt x="31640187" y="22828"/>
                  </a:cubicBezTo>
                  <a:lnTo>
                    <a:pt x="31640187" y="6935394"/>
                  </a:lnTo>
                  <a:cubicBezTo>
                    <a:pt x="31640187" y="6948001"/>
                    <a:pt x="31629967" y="6958221"/>
                    <a:pt x="31617360" y="6958221"/>
                  </a:cubicBezTo>
                  <a:lnTo>
                    <a:pt x="22828" y="6958221"/>
                  </a:lnTo>
                  <a:cubicBezTo>
                    <a:pt x="10220" y="6958221"/>
                    <a:pt x="0" y="6948001"/>
                    <a:pt x="0" y="6935394"/>
                  </a:cubicBezTo>
                  <a:lnTo>
                    <a:pt x="0" y="22828"/>
                  </a:lnTo>
                  <a:cubicBezTo>
                    <a:pt x="0" y="10220"/>
                    <a:pt x="10220" y="0"/>
                    <a:pt x="22828" y="0"/>
                  </a:cubicBezTo>
                  <a:close/>
                </a:path>
              </a:pathLst>
            </a:custGeom>
            <a:solidFill>
              <a:srgbClr val="E8ECEC"/>
            </a:solidFill>
          </p:spPr>
        </p:sp>
        <p:sp>
          <p:nvSpPr>
            <p:cNvPr name="TextBox 10" id="10"/>
            <p:cNvSpPr txBox="true"/>
            <p:nvPr/>
          </p:nvSpPr>
          <p:spPr>
            <a:xfrm>
              <a:off x="0" y="-57150"/>
              <a:ext cx="31640186" cy="7015371"/>
            </a:xfrm>
            <a:prstGeom prst="rect">
              <a:avLst/>
            </a:prstGeom>
          </p:spPr>
          <p:txBody>
            <a:bodyPr anchor="ctr" rtlCol="false" tIns="7314" lIns="7314" bIns="7314" rIns="7314"/>
            <a:lstStyle/>
            <a:p>
              <a:pPr algn="ctr">
                <a:lnSpc>
                  <a:spcPts val="4199"/>
                </a:lnSpc>
              </a:pPr>
            </a:p>
          </p:txBody>
        </p:sp>
      </p:grpSp>
      <p:grpSp>
        <p:nvGrpSpPr>
          <p:cNvPr name="Group 11" id="11"/>
          <p:cNvGrpSpPr/>
          <p:nvPr/>
        </p:nvGrpSpPr>
        <p:grpSpPr>
          <a:xfrm rot="0">
            <a:off x="782825" y="2356269"/>
            <a:ext cx="732337" cy="732337"/>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11B88"/>
            </a:solidFill>
            <a:ln cap="sq">
              <a:noFill/>
              <a:prstDash val="solid"/>
              <a:miter/>
            </a:ln>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2939"/>
                </a:lnSpc>
              </a:pPr>
              <a:r>
                <a:rPr lang="en-US" b="true" sz="2099">
                  <a:solidFill>
                    <a:srgbClr val="FFFFFF"/>
                  </a:solidFill>
                  <a:latin typeface="Garet Bold"/>
                  <a:ea typeface="Garet Bold"/>
                  <a:cs typeface="Garet Bold"/>
                  <a:sym typeface="Garet Bold"/>
                </a:rPr>
                <a:t>2</a:t>
              </a:r>
            </a:p>
          </p:txBody>
        </p:sp>
      </p:grpSp>
      <p:grpSp>
        <p:nvGrpSpPr>
          <p:cNvPr name="Group 14" id="14"/>
          <p:cNvGrpSpPr/>
          <p:nvPr/>
        </p:nvGrpSpPr>
        <p:grpSpPr>
          <a:xfrm rot="0">
            <a:off x="769898" y="178769"/>
            <a:ext cx="16748203" cy="1231093"/>
            <a:chOff x="0" y="0"/>
            <a:chExt cx="22330938" cy="1641457"/>
          </a:xfrm>
        </p:grpSpPr>
        <p:grpSp>
          <p:nvGrpSpPr>
            <p:cNvPr name="Group 15" id="15"/>
            <p:cNvGrpSpPr/>
            <p:nvPr/>
          </p:nvGrpSpPr>
          <p:grpSpPr>
            <a:xfrm rot="0">
              <a:off x="0" y="0"/>
              <a:ext cx="3390257" cy="1641457"/>
              <a:chOff x="0" y="0"/>
              <a:chExt cx="729373" cy="353140"/>
            </a:xfrm>
          </p:grpSpPr>
          <p:sp>
            <p:nvSpPr>
              <p:cNvPr name="Freeform 16" id="16"/>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17" id="17"/>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18" id="18"/>
            <p:cNvSpPr txBox="true"/>
            <p:nvPr/>
          </p:nvSpPr>
          <p:spPr>
            <a:xfrm rot="0">
              <a:off x="69855"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Giới thiệu &amp;</a:t>
              </a:r>
            </a:p>
            <a:p>
              <a:pPr algn="ctr">
                <a:lnSpc>
                  <a:spcPts val="3073"/>
                </a:lnSpc>
              </a:pPr>
              <a:r>
                <a:rPr lang="en-US" sz="2195">
                  <a:solidFill>
                    <a:srgbClr val="000000"/>
                  </a:solidFill>
                  <a:latin typeface="Garet"/>
                  <a:ea typeface="Garet"/>
                  <a:cs typeface="Garet"/>
                  <a:sym typeface="Garet"/>
                </a:rPr>
                <a:t> đặt vấn đề</a:t>
              </a:r>
            </a:p>
          </p:txBody>
        </p:sp>
        <p:grpSp>
          <p:nvGrpSpPr>
            <p:cNvPr name="Group 19" id="19"/>
            <p:cNvGrpSpPr/>
            <p:nvPr/>
          </p:nvGrpSpPr>
          <p:grpSpPr>
            <a:xfrm rot="0">
              <a:off x="3703251" y="0"/>
              <a:ext cx="3390257" cy="1641457"/>
              <a:chOff x="0" y="0"/>
              <a:chExt cx="729373" cy="353140"/>
            </a:xfrm>
          </p:grpSpPr>
          <p:sp>
            <p:nvSpPr>
              <p:cNvPr name="Freeform 20" id="20"/>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21" id="21"/>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22" id="22"/>
            <p:cNvSpPr txBox="true"/>
            <p:nvPr/>
          </p:nvSpPr>
          <p:spPr>
            <a:xfrm rot="0">
              <a:off x="3754062" y="141009"/>
              <a:ext cx="3250547" cy="1487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Tạo &amp; quản lý Threads trong Kotlin</a:t>
              </a:r>
            </a:p>
          </p:txBody>
        </p:sp>
        <p:grpSp>
          <p:nvGrpSpPr>
            <p:cNvPr name="Group 23" id="23"/>
            <p:cNvGrpSpPr/>
            <p:nvPr/>
          </p:nvGrpSpPr>
          <p:grpSpPr>
            <a:xfrm rot="0">
              <a:off x="7525308" y="0"/>
              <a:ext cx="3390257" cy="1641457"/>
              <a:chOff x="0" y="0"/>
              <a:chExt cx="729373" cy="353140"/>
            </a:xfrm>
          </p:grpSpPr>
          <p:sp>
            <p:nvSpPr>
              <p:cNvPr name="Freeform 24" id="24"/>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25" id="25"/>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26" id="26"/>
            <p:cNvSpPr txBox="true"/>
            <p:nvPr/>
          </p:nvSpPr>
          <p:spPr>
            <a:xfrm rot="0">
              <a:off x="7595164"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Dữ liệu chia sẻ và đồng bộ hóa</a:t>
              </a:r>
            </a:p>
          </p:txBody>
        </p:sp>
        <p:grpSp>
          <p:nvGrpSpPr>
            <p:cNvPr name="Group 27" id="27"/>
            <p:cNvGrpSpPr/>
            <p:nvPr/>
          </p:nvGrpSpPr>
          <p:grpSpPr>
            <a:xfrm rot="0">
              <a:off x="11347366" y="0"/>
              <a:ext cx="3390257" cy="1641457"/>
              <a:chOff x="0" y="0"/>
              <a:chExt cx="729373" cy="353140"/>
            </a:xfrm>
          </p:grpSpPr>
          <p:sp>
            <p:nvSpPr>
              <p:cNvPr name="Freeform 28" id="28"/>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29" id="29"/>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0" id="30"/>
            <p:cNvSpPr txBox="true"/>
            <p:nvPr/>
          </p:nvSpPr>
          <p:spPr>
            <a:xfrm rot="0">
              <a:off x="11417221"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Giao tiếp giữa các threads</a:t>
              </a:r>
            </a:p>
          </p:txBody>
        </p:sp>
        <p:grpSp>
          <p:nvGrpSpPr>
            <p:cNvPr name="Group 31" id="31"/>
            <p:cNvGrpSpPr/>
            <p:nvPr/>
          </p:nvGrpSpPr>
          <p:grpSpPr>
            <a:xfrm rot="0">
              <a:off x="15144023" y="0"/>
              <a:ext cx="3390257" cy="1641457"/>
              <a:chOff x="0" y="0"/>
              <a:chExt cx="729373" cy="353140"/>
            </a:xfrm>
          </p:grpSpPr>
          <p:sp>
            <p:nvSpPr>
              <p:cNvPr name="Freeform 32" id="32"/>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E8ECEC"/>
              </a:solidFill>
            </p:spPr>
          </p:sp>
          <p:sp>
            <p:nvSpPr>
              <p:cNvPr name="TextBox 33" id="33"/>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4" id="34"/>
            <p:cNvSpPr txBox="true"/>
            <p:nvPr/>
          </p:nvSpPr>
          <p:spPr>
            <a:xfrm rot="0">
              <a:off x="15213879" y="311805"/>
              <a:ext cx="3250547" cy="979748"/>
            </a:xfrm>
            <a:prstGeom prst="rect">
              <a:avLst/>
            </a:prstGeom>
          </p:spPr>
          <p:txBody>
            <a:bodyPr anchor="t" rtlCol="false" tIns="0" lIns="0" bIns="0" rIns="0">
              <a:spAutoFit/>
            </a:bodyPr>
            <a:lstStyle/>
            <a:p>
              <a:pPr algn="ctr">
                <a:lnSpc>
                  <a:spcPts val="3073"/>
                </a:lnSpc>
              </a:pPr>
              <a:r>
                <a:rPr lang="en-US" sz="2195">
                  <a:solidFill>
                    <a:srgbClr val="000000"/>
                  </a:solidFill>
                  <a:latin typeface="Garet"/>
                  <a:ea typeface="Garet"/>
                  <a:cs typeface="Garet"/>
                  <a:sym typeface="Garet"/>
                </a:rPr>
                <a:t>Các khái niệm nâng cao</a:t>
              </a:r>
            </a:p>
          </p:txBody>
        </p:sp>
        <p:grpSp>
          <p:nvGrpSpPr>
            <p:cNvPr name="Group 35" id="35"/>
            <p:cNvGrpSpPr/>
            <p:nvPr/>
          </p:nvGrpSpPr>
          <p:grpSpPr>
            <a:xfrm rot="0">
              <a:off x="18940681" y="0"/>
              <a:ext cx="3390257" cy="1641457"/>
              <a:chOff x="0" y="0"/>
              <a:chExt cx="729373" cy="353140"/>
            </a:xfrm>
          </p:grpSpPr>
          <p:sp>
            <p:nvSpPr>
              <p:cNvPr name="Freeform 36" id="36"/>
              <p:cNvSpPr/>
              <p:nvPr/>
            </p:nvSpPr>
            <p:spPr>
              <a:xfrm flipH="false" flipV="false" rot="0">
                <a:off x="0" y="0"/>
                <a:ext cx="729373" cy="353140"/>
              </a:xfrm>
              <a:custGeom>
                <a:avLst/>
                <a:gdLst/>
                <a:ahLst/>
                <a:cxnLst/>
                <a:rect r="r" b="b" t="t" l="l"/>
                <a:pathLst>
                  <a:path h="353140" w="729373">
                    <a:moveTo>
                      <a:pt x="155283" y="0"/>
                    </a:moveTo>
                    <a:lnTo>
                      <a:pt x="574090" y="0"/>
                    </a:lnTo>
                    <a:cubicBezTo>
                      <a:pt x="615274" y="0"/>
                      <a:pt x="654771" y="16360"/>
                      <a:pt x="683892" y="45481"/>
                    </a:cubicBezTo>
                    <a:cubicBezTo>
                      <a:pt x="713013" y="74603"/>
                      <a:pt x="729373" y="114100"/>
                      <a:pt x="729373" y="155283"/>
                    </a:cubicBezTo>
                    <a:lnTo>
                      <a:pt x="729373" y="197857"/>
                    </a:lnTo>
                    <a:cubicBezTo>
                      <a:pt x="729373" y="239040"/>
                      <a:pt x="713013" y="278537"/>
                      <a:pt x="683892" y="307658"/>
                    </a:cubicBezTo>
                    <a:cubicBezTo>
                      <a:pt x="654771" y="336780"/>
                      <a:pt x="615274" y="353140"/>
                      <a:pt x="574090" y="353140"/>
                    </a:cubicBezTo>
                    <a:lnTo>
                      <a:pt x="155283" y="353140"/>
                    </a:lnTo>
                    <a:cubicBezTo>
                      <a:pt x="114100" y="353140"/>
                      <a:pt x="74603" y="336780"/>
                      <a:pt x="45481" y="307658"/>
                    </a:cubicBezTo>
                    <a:cubicBezTo>
                      <a:pt x="16360" y="278537"/>
                      <a:pt x="0" y="239040"/>
                      <a:pt x="0" y="197857"/>
                    </a:cubicBezTo>
                    <a:lnTo>
                      <a:pt x="0" y="155283"/>
                    </a:lnTo>
                    <a:cubicBezTo>
                      <a:pt x="0" y="114100"/>
                      <a:pt x="16360" y="74603"/>
                      <a:pt x="45481" y="45481"/>
                    </a:cubicBezTo>
                    <a:cubicBezTo>
                      <a:pt x="74603" y="16360"/>
                      <a:pt x="114100" y="0"/>
                      <a:pt x="155283" y="0"/>
                    </a:cubicBezTo>
                    <a:close/>
                  </a:path>
                </a:pathLst>
              </a:custGeom>
              <a:solidFill>
                <a:srgbClr val="111B88"/>
              </a:solidFill>
            </p:spPr>
          </p:sp>
          <p:sp>
            <p:nvSpPr>
              <p:cNvPr name="TextBox 37" id="37"/>
              <p:cNvSpPr txBox="true"/>
              <p:nvPr/>
            </p:nvSpPr>
            <p:spPr>
              <a:xfrm>
                <a:off x="0" y="-38100"/>
                <a:ext cx="729373" cy="391240"/>
              </a:xfrm>
              <a:prstGeom prst="rect">
                <a:avLst/>
              </a:prstGeom>
            </p:spPr>
            <p:txBody>
              <a:bodyPr anchor="ctr" rtlCol="false" tIns="46642" lIns="46642" bIns="46642" rIns="46642"/>
              <a:lstStyle/>
              <a:p>
                <a:pPr algn="ctr">
                  <a:lnSpc>
                    <a:spcPts val="2659"/>
                  </a:lnSpc>
                </a:pPr>
              </a:p>
            </p:txBody>
          </p:sp>
        </p:grpSp>
        <p:sp>
          <p:nvSpPr>
            <p:cNvPr name="TextBox 38" id="38"/>
            <p:cNvSpPr txBox="true"/>
            <p:nvPr/>
          </p:nvSpPr>
          <p:spPr>
            <a:xfrm rot="0">
              <a:off x="19010536" y="311805"/>
              <a:ext cx="3250547" cy="979748"/>
            </a:xfrm>
            <a:prstGeom prst="rect">
              <a:avLst/>
            </a:prstGeom>
          </p:spPr>
          <p:txBody>
            <a:bodyPr anchor="t" rtlCol="false" tIns="0" lIns="0" bIns="0" rIns="0">
              <a:spAutoFit/>
            </a:bodyPr>
            <a:lstStyle/>
            <a:p>
              <a:pPr algn="ctr">
                <a:lnSpc>
                  <a:spcPts val="3073"/>
                </a:lnSpc>
              </a:pPr>
              <a:r>
                <a:rPr lang="en-US" sz="2195">
                  <a:solidFill>
                    <a:srgbClr val="FFFFFF"/>
                  </a:solidFill>
                  <a:latin typeface="Garet"/>
                  <a:ea typeface="Garet"/>
                  <a:cs typeface="Garet"/>
                  <a:sym typeface="Garet"/>
                </a:rPr>
                <a:t>Kết luận và định hướng tương lai</a:t>
              </a:r>
            </a:p>
          </p:txBody>
        </p:sp>
      </p:grpSp>
      <p:sp>
        <p:nvSpPr>
          <p:cNvPr name="TextBox 39" id="39"/>
          <p:cNvSpPr txBox="true"/>
          <p:nvPr/>
        </p:nvSpPr>
        <p:spPr>
          <a:xfrm rot="0">
            <a:off x="1781133" y="2398905"/>
            <a:ext cx="14085741" cy="580390"/>
          </a:xfrm>
          <a:prstGeom prst="rect">
            <a:avLst/>
          </a:prstGeom>
        </p:spPr>
        <p:txBody>
          <a:bodyPr anchor="t" rtlCol="false" tIns="0" lIns="0" bIns="0" rIns="0">
            <a:spAutoFit/>
          </a:bodyPr>
          <a:lstStyle/>
          <a:p>
            <a:pPr algn="l">
              <a:lnSpc>
                <a:spcPts val="4759"/>
              </a:lnSpc>
            </a:pPr>
            <a:r>
              <a:rPr lang="en-US" sz="3399" b="true">
                <a:solidFill>
                  <a:srgbClr val="000000"/>
                </a:solidFill>
                <a:latin typeface="Garet Bold"/>
                <a:ea typeface="Garet Bold"/>
                <a:cs typeface="Garet Bold"/>
                <a:sym typeface="Garet Bold"/>
              </a:rPr>
              <a:t>Về bài thuyết trình tiếp theo</a:t>
            </a:r>
          </a:p>
        </p:txBody>
      </p:sp>
      <p:sp>
        <p:nvSpPr>
          <p:cNvPr name="TextBox 40" id="40"/>
          <p:cNvSpPr txBox="true"/>
          <p:nvPr/>
        </p:nvSpPr>
        <p:spPr>
          <a:xfrm rot="0">
            <a:off x="17691529" y="9587012"/>
            <a:ext cx="452267" cy="460375"/>
          </a:xfrm>
          <a:prstGeom prst="rect">
            <a:avLst/>
          </a:prstGeom>
        </p:spPr>
        <p:txBody>
          <a:bodyPr anchor="t" rtlCol="false" tIns="0" lIns="0" bIns="0" rIns="0">
            <a:spAutoFit/>
          </a:bodyPr>
          <a:lstStyle/>
          <a:p>
            <a:pPr algn="just">
              <a:lnSpc>
                <a:spcPts val="3874"/>
              </a:lnSpc>
            </a:pPr>
            <a:r>
              <a:rPr lang="en-US" sz="2499">
                <a:solidFill>
                  <a:srgbClr val="000000"/>
                </a:solidFill>
                <a:latin typeface="Open Sans"/>
                <a:ea typeface="Open Sans"/>
                <a:cs typeface="Open Sans"/>
                <a:sym typeface="Open Sans"/>
              </a:rPr>
              <a:t>17</a:t>
            </a:r>
          </a:p>
        </p:txBody>
      </p:sp>
      <p:sp>
        <p:nvSpPr>
          <p:cNvPr name="TextBox 41" id="41"/>
          <p:cNvSpPr txBox="true"/>
          <p:nvPr/>
        </p:nvSpPr>
        <p:spPr>
          <a:xfrm rot="0">
            <a:off x="769898" y="3841081"/>
            <a:ext cx="16687585" cy="3264778"/>
          </a:xfrm>
          <a:prstGeom prst="rect">
            <a:avLst/>
          </a:prstGeom>
        </p:spPr>
        <p:txBody>
          <a:bodyPr anchor="t" rtlCol="false" tIns="0" lIns="0" bIns="0" rIns="0">
            <a:spAutoFit/>
          </a:bodyPr>
          <a:lstStyle/>
          <a:p>
            <a:pPr algn="just" marL="588138" indent="-294069" lvl="1">
              <a:lnSpc>
                <a:spcPts val="5312"/>
              </a:lnSpc>
              <a:buFont typeface="Arial"/>
              <a:buChar char="•"/>
            </a:pPr>
            <a:r>
              <a:rPr lang="en-US" sz="2724">
                <a:solidFill>
                  <a:srgbClr val="000000"/>
                </a:solidFill>
                <a:latin typeface="Garet"/>
                <a:ea typeface="Garet"/>
                <a:cs typeface="Garet"/>
                <a:sym typeface="Garet"/>
              </a:rPr>
              <a:t>Các vấn đề trên dẫn đến sự ra</a:t>
            </a:r>
            <a:r>
              <a:rPr lang="en-US" sz="2724">
                <a:solidFill>
                  <a:srgbClr val="000000"/>
                </a:solidFill>
                <a:latin typeface="Garet"/>
                <a:ea typeface="Garet"/>
                <a:cs typeface="Garet"/>
                <a:sym typeface="Garet"/>
              </a:rPr>
              <a:t> đời</a:t>
            </a:r>
            <a:r>
              <a:rPr lang="en-US" sz="2724">
                <a:solidFill>
                  <a:srgbClr val="000000"/>
                </a:solidFill>
                <a:latin typeface="Garet"/>
                <a:ea typeface="Garet"/>
                <a:cs typeface="Garet"/>
                <a:sym typeface="Garet"/>
              </a:rPr>
              <a:t> </a:t>
            </a:r>
            <a:r>
              <a:rPr lang="en-US" sz="2724">
                <a:solidFill>
                  <a:srgbClr val="000000"/>
                </a:solidFill>
                <a:latin typeface="Garet"/>
                <a:ea typeface="Garet"/>
                <a:cs typeface="Garet"/>
                <a:sym typeface="Garet"/>
              </a:rPr>
              <a:t>của</a:t>
            </a:r>
            <a:r>
              <a:rPr lang="en-US" sz="2724">
                <a:solidFill>
                  <a:srgbClr val="000000"/>
                </a:solidFill>
                <a:latin typeface="Garet"/>
                <a:ea typeface="Garet"/>
                <a:cs typeface="Garet"/>
                <a:sym typeface="Garet"/>
              </a:rPr>
              <a:t> m</a:t>
            </a:r>
            <a:r>
              <a:rPr lang="en-US" sz="2724">
                <a:solidFill>
                  <a:srgbClr val="000000"/>
                </a:solidFill>
                <a:latin typeface="Garet"/>
                <a:ea typeface="Garet"/>
                <a:cs typeface="Garet"/>
                <a:sym typeface="Garet"/>
              </a:rPr>
              <a:t>ột giải p</a:t>
            </a:r>
            <a:r>
              <a:rPr lang="en-US" sz="2724">
                <a:solidFill>
                  <a:srgbClr val="000000"/>
                </a:solidFill>
                <a:latin typeface="Garet"/>
                <a:ea typeface="Garet"/>
                <a:cs typeface="Garet"/>
                <a:sym typeface="Garet"/>
              </a:rPr>
              <a:t>h</a:t>
            </a:r>
            <a:r>
              <a:rPr lang="en-US" sz="2724">
                <a:solidFill>
                  <a:srgbClr val="000000"/>
                </a:solidFill>
                <a:latin typeface="Garet"/>
                <a:ea typeface="Garet"/>
                <a:cs typeface="Garet"/>
                <a:sym typeface="Garet"/>
              </a:rPr>
              <a:t>á</a:t>
            </a:r>
            <a:r>
              <a:rPr lang="en-US" sz="2724">
                <a:solidFill>
                  <a:srgbClr val="000000"/>
                </a:solidFill>
                <a:latin typeface="Garet"/>
                <a:ea typeface="Garet"/>
                <a:cs typeface="Garet"/>
                <a:sym typeface="Garet"/>
              </a:rPr>
              <a:t>p</a:t>
            </a:r>
            <a:r>
              <a:rPr lang="en-US" sz="2724">
                <a:solidFill>
                  <a:srgbClr val="000000"/>
                </a:solidFill>
                <a:latin typeface="Garet"/>
                <a:ea typeface="Garet"/>
                <a:cs typeface="Garet"/>
                <a:sym typeface="Garet"/>
              </a:rPr>
              <a:t> hiện đại hơn.</a:t>
            </a:r>
          </a:p>
          <a:p>
            <a:pPr algn="just">
              <a:lnSpc>
                <a:spcPts val="5312"/>
              </a:lnSpc>
            </a:pPr>
            <a:r>
              <a:rPr lang="en-US" sz="2724">
                <a:solidFill>
                  <a:srgbClr val="000000"/>
                </a:solidFill>
                <a:latin typeface="Garet"/>
                <a:ea typeface="Garet"/>
                <a:cs typeface="Garet"/>
                <a:sym typeface="Garet"/>
              </a:rPr>
              <a:t>→ </a:t>
            </a:r>
            <a:r>
              <a:rPr lang="en-US" sz="2724">
                <a:solidFill>
                  <a:srgbClr val="111B88"/>
                </a:solidFill>
                <a:latin typeface="Garet"/>
                <a:ea typeface="Garet"/>
                <a:cs typeface="Garet"/>
                <a:sym typeface="Garet"/>
              </a:rPr>
              <a:t>Kotlin Coroutines</a:t>
            </a:r>
            <a:r>
              <a:rPr lang="en-US" sz="2724">
                <a:solidFill>
                  <a:srgbClr val="000000"/>
                </a:solidFill>
                <a:latin typeface="Garet"/>
                <a:ea typeface="Garet"/>
                <a:cs typeface="Garet"/>
                <a:sym typeface="Garet"/>
              </a:rPr>
              <a:t>:</a:t>
            </a:r>
          </a:p>
          <a:p>
            <a:pPr algn="just" marL="1176275" indent="-392092" lvl="2">
              <a:lnSpc>
                <a:spcPts val="5312"/>
              </a:lnSpc>
              <a:buFont typeface="Arial"/>
              <a:buChar char="⚬"/>
            </a:pPr>
            <a:r>
              <a:rPr lang="en-US" sz="2724">
                <a:solidFill>
                  <a:srgbClr val="000000"/>
                </a:solidFill>
                <a:latin typeface="Garet"/>
                <a:ea typeface="Garet"/>
                <a:cs typeface="Garet"/>
                <a:sym typeface="Garet"/>
              </a:rPr>
              <a:t>"Lightweight threads" (Luồng siêu nhẹ).</a:t>
            </a:r>
          </a:p>
          <a:p>
            <a:pPr algn="just" marL="1176275" indent="-392092" lvl="2">
              <a:lnSpc>
                <a:spcPts val="5312"/>
              </a:lnSpc>
              <a:buFont typeface="Arial"/>
              <a:buChar char="⚬"/>
            </a:pPr>
            <a:r>
              <a:rPr lang="en-US" sz="2724">
                <a:solidFill>
                  <a:srgbClr val="000000"/>
                </a:solidFill>
                <a:latin typeface="Garet"/>
                <a:ea typeface="Garet"/>
                <a:cs typeface="Garet"/>
                <a:sym typeface="Garet"/>
              </a:rPr>
              <a:t>Viết code bất đồng bộ theo phong cách tuần tự.</a:t>
            </a:r>
          </a:p>
          <a:p>
            <a:pPr algn="just" marL="1176275" indent="-392092" lvl="2">
              <a:lnSpc>
                <a:spcPts val="5312"/>
              </a:lnSpc>
              <a:buFont typeface="Arial"/>
              <a:buChar char="⚬"/>
            </a:pPr>
            <a:r>
              <a:rPr lang="en-US" sz="2724">
                <a:solidFill>
                  <a:srgbClr val="000000"/>
                </a:solidFill>
                <a:latin typeface="Garet"/>
                <a:ea typeface="Garet"/>
                <a:cs typeface="Garet"/>
                <a:sym typeface="Garet"/>
              </a:rPr>
              <a:t>Không chặn luồng (Non-blocking).</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7259300" y="7109187"/>
            <a:ext cx="1028700" cy="3177813"/>
            <a:chOff x="0" y="0"/>
            <a:chExt cx="812800" cy="2510865"/>
          </a:xfrm>
        </p:grpSpPr>
        <p:sp>
          <p:nvSpPr>
            <p:cNvPr name="Freeform 3" id="3"/>
            <p:cNvSpPr/>
            <p:nvPr/>
          </p:nvSpPr>
          <p:spPr>
            <a:xfrm flipH="false" flipV="false" rot="0">
              <a:off x="0" y="0"/>
              <a:ext cx="812800" cy="2510865"/>
            </a:xfrm>
            <a:custGeom>
              <a:avLst/>
              <a:gdLst/>
              <a:ahLst/>
              <a:cxnLst/>
              <a:rect r="r" b="b" t="t" l="l"/>
              <a:pathLst>
                <a:path h="2510865" w="812800">
                  <a:moveTo>
                    <a:pt x="0" y="0"/>
                  </a:moveTo>
                  <a:lnTo>
                    <a:pt x="812800" y="0"/>
                  </a:lnTo>
                  <a:lnTo>
                    <a:pt x="812800" y="2510865"/>
                  </a:lnTo>
                  <a:lnTo>
                    <a:pt x="0" y="2510865"/>
                  </a:lnTo>
                  <a:close/>
                </a:path>
              </a:pathLst>
            </a:custGeom>
            <a:solidFill>
              <a:srgbClr val="111B88"/>
            </a:solidFill>
          </p:spPr>
        </p:sp>
        <p:sp>
          <p:nvSpPr>
            <p:cNvPr name="TextBox 4" id="4"/>
            <p:cNvSpPr txBox="true"/>
            <p:nvPr/>
          </p:nvSpPr>
          <p:spPr>
            <a:xfrm>
              <a:off x="0" y="-38100"/>
              <a:ext cx="812800" cy="254896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0" y="7109187"/>
            <a:ext cx="11842469" cy="3177813"/>
            <a:chOff x="0" y="0"/>
            <a:chExt cx="9357013" cy="2510865"/>
          </a:xfrm>
        </p:grpSpPr>
        <p:sp>
          <p:nvSpPr>
            <p:cNvPr name="Freeform 6" id="6"/>
            <p:cNvSpPr/>
            <p:nvPr/>
          </p:nvSpPr>
          <p:spPr>
            <a:xfrm flipH="false" flipV="false" rot="0">
              <a:off x="0" y="0"/>
              <a:ext cx="9357013" cy="2510865"/>
            </a:xfrm>
            <a:custGeom>
              <a:avLst/>
              <a:gdLst/>
              <a:ahLst/>
              <a:cxnLst/>
              <a:rect r="r" b="b" t="t" l="l"/>
              <a:pathLst>
                <a:path h="2510865" w="9357013">
                  <a:moveTo>
                    <a:pt x="0" y="0"/>
                  </a:moveTo>
                  <a:lnTo>
                    <a:pt x="9357013" y="0"/>
                  </a:lnTo>
                  <a:lnTo>
                    <a:pt x="9357013" y="2510865"/>
                  </a:lnTo>
                  <a:lnTo>
                    <a:pt x="0" y="2510865"/>
                  </a:lnTo>
                  <a:close/>
                </a:path>
              </a:pathLst>
            </a:custGeom>
            <a:solidFill>
              <a:srgbClr val="F6F6F6"/>
            </a:solidFill>
          </p:spPr>
        </p:sp>
        <p:sp>
          <p:nvSpPr>
            <p:cNvPr name="TextBox 7" id="7"/>
            <p:cNvSpPr txBox="true"/>
            <p:nvPr/>
          </p:nvSpPr>
          <p:spPr>
            <a:xfrm>
              <a:off x="0" y="-38100"/>
              <a:ext cx="9357013" cy="2548965"/>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17259300" y="0"/>
            <a:ext cx="1028700" cy="102870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0" y="0"/>
                  </a:moveTo>
                  <a:lnTo>
                    <a:pt x="812800" y="0"/>
                  </a:lnTo>
                  <a:lnTo>
                    <a:pt x="812800" y="812800"/>
                  </a:lnTo>
                  <a:lnTo>
                    <a:pt x="0" y="812800"/>
                  </a:lnTo>
                  <a:close/>
                </a:path>
              </a:pathLst>
            </a:custGeom>
            <a:solidFill>
              <a:srgbClr val="111B88"/>
            </a:solidFill>
          </p:spPr>
        </p:sp>
        <p:sp>
          <p:nvSpPr>
            <p:cNvPr name="TextBox 10" id="10"/>
            <p:cNvSpPr txBox="true"/>
            <p:nvPr/>
          </p:nvSpPr>
          <p:spPr>
            <a:xfrm>
              <a:off x="0" y="-38100"/>
              <a:ext cx="812800" cy="8509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0">
            <a:off x="-609914" y="0"/>
            <a:ext cx="1694792" cy="10287000"/>
            <a:chOff x="0" y="0"/>
            <a:chExt cx="446365" cy="2709333"/>
          </a:xfrm>
        </p:grpSpPr>
        <p:sp>
          <p:nvSpPr>
            <p:cNvPr name="Freeform 12" id="12"/>
            <p:cNvSpPr/>
            <p:nvPr/>
          </p:nvSpPr>
          <p:spPr>
            <a:xfrm flipH="false" flipV="false" rot="0">
              <a:off x="0" y="0"/>
              <a:ext cx="446365" cy="2709333"/>
            </a:xfrm>
            <a:custGeom>
              <a:avLst/>
              <a:gdLst/>
              <a:ahLst/>
              <a:cxnLst/>
              <a:rect r="r" b="b" t="t" l="l"/>
              <a:pathLst>
                <a:path h="2709333" w="446365">
                  <a:moveTo>
                    <a:pt x="223183" y="0"/>
                  </a:moveTo>
                  <a:lnTo>
                    <a:pt x="223183" y="0"/>
                  </a:lnTo>
                  <a:cubicBezTo>
                    <a:pt x="282374" y="0"/>
                    <a:pt x="339142" y="23514"/>
                    <a:pt x="380996" y="65369"/>
                  </a:cubicBezTo>
                  <a:cubicBezTo>
                    <a:pt x="422851" y="107224"/>
                    <a:pt x="446365" y="163991"/>
                    <a:pt x="446365" y="223183"/>
                  </a:cubicBezTo>
                  <a:lnTo>
                    <a:pt x="446365" y="2486151"/>
                  </a:lnTo>
                  <a:cubicBezTo>
                    <a:pt x="446365" y="2609411"/>
                    <a:pt x="346443" y="2709333"/>
                    <a:pt x="223183" y="2709333"/>
                  </a:cubicBezTo>
                  <a:lnTo>
                    <a:pt x="223183" y="2709333"/>
                  </a:lnTo>
                  <a:cubicBezTo>
                    <a:pt x="99922" y="2709333"/>
                    <a:pt x="0" y="2609411"/>
                    <a:pt x="0" y="2486151"/>
                  </a:cubicBezTo>
                  <a:lnTo>
                    <a:pt x="0" y="223183"/>
                  </a:lnTo>
                  <a:cubicBezTo>
                    <a:pt x="0" y="99922"/>
                    <a:pt x="99922" y="0"/>
                    <a:pt x="223183" y="0"/>
                  </a:cubicBezTo>
                  <a:close/>
                </a:path>
              </a:pathLst>
            </a:custGeom>
            <a:solidFill>
              <a:srgbClr val="111B88"/>
            </a:solidFill>
          </p:spPr>
        </p:sp>
        <p:sp>
          <p:nvSpPr>
            <p:cNvPr name="TextBox 13" id="13"/>
            <p:cNvSpPr txBox="true"/>
            <p:nvPr/>
          </p:nvSpPr>
          <p:spPr>
            <a:xfrm>
              <a:off x="0" y="-38100"/>
              <a:ext cx="446365" cy="2747433"/>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653503" y="4648200"/>
            <a:ext cx="8766566" cy="495300"/>
          </a:xfrm>
          <a:prstGeom prst="rect">
            <a:avLst/>
          </a:prstGeom>
        </p:spPr>
        <p:txBody>
          <a:bodyPr anchor="t" rtlCol="false" tIns="0" lIns="0" bIns="0" rIns="0">
            <a:spAutoFit/>
          </a:bodyPr>
          <a:lstStyle/>
          <a:p>
            <a:pPr algn="l">
              <a:lnSpc>
                <a:spcPts val="4199"/>
              </a:lnSpc>
            </a:pPr>
            <a:r>
              <a:rPr lang="en-US" sz="2999" spc="299">
                <a:solidFill>
                  <a:srgbClr val="000000"/>
                </a:solidFill>
                <a:latin typeface="Garet"/>
                <a:ea typeface="Garet"/>
                <a:cs typeface="Garet"/>
                <a:sym typeface="Garet"/>
              </a:rPr>
              <a:t>FOR YOUR ATTENTION</a:t>
            </a:r>
          </a:p>
        </p:txBody>
      </p:sp>
      <p:sp>
        <p:nvSpPr>
          <p:cNvPr name="TextBox 15" id="15"/>
          <p:cNvSpPr txBox="true"/>
          <p:nvPr/>
        </p:nvSpPr>
        <p:spPr>
          <a:xfrm rot="0">
            <a:off x="1624423" y="3135538"/>
            <a:ext cx="8795646" cy="1523365"/>
          </a:xfrm>
          <a:prstGeom prst="rect">
            <a:avLst/>
          </a:prstGeom>
        </p:spPr>
        <p:txBody>
          <a:bodyPr anchor="t" rtlCol="false" tIns="0" lIns="0" bIns="0" rIns="0">
            <a:spAutoFit/>
          </a:bodyPr>
          <a:lstStyle/>
          <a:p>
            <a:pPr algn="l">
              <a:lnSpc>
                <a:spcPts val="11960"/>
              </a:lnSpc>
            </a:pPr>
            <a:r>
              <a:rPr lang="en-US" sz="10400" b="true">
                <a:solidFill>
                  <a:srgbClr val="000000"/>
                </a:solidFill>
                <a:latin typeface="Garet Bold"/>
                <a:ea typeface="Garet Bold"/>
                <a:cs typeface="Garet Bold"/>
                <a:sym typeface="Garet Bold"/>
              </a:rPr>
              <a:t>THANK YOU</a:t>
            </a:r>
          </a:p>
        </p:txBody>
      </p:sp>
      <p:grpSp>
        <p:nvGrpSpPr>
          <p:cNvPr name="Group 16" id="16"/>
          <p:cNvGrpSpPr/>
          <p:nvPr/>
        </p:nvGrpSpPr>
        <p:grpSpPr>
          <a:xfrm rot="0">
            <a:off x="8484493" y="9014056"/>
            <a:ext cx="2545888" cy="2545888"/>
            <a:chOff x="0" y="0"/>
            <a:chExt cx="812800" cy="812800"/>
          </a:xfrm>
        </p:grpSpPr>
        <p:sp>
          <p:nvSpPr>
            <p:cNvPr name="Freeform 17" id="1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571500" cap="sq">
              <a:solidFill>
                <a:srgbClr val="111B88">
                  <a:alpha val="9804"/>
                </a:srgbClr>
              </a:solidFill>
              <a:prstDash val="solid"/>
              <a:miter/>
            </a:ln>
          </p:spPr>
        </p:sp>
        <p:sp>
          <p:nvSpPr>
            <p:cNvPr name="TextBox 18" id="18"/>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9" id="19"/>
          <p:cNvGrpSpPr>
            <a:grpSpLocks noChangeAspect="true"/>
          </p:cNvGrpSpPr>
          <p:nvPr/>
        </p:nvGrpSpPr>
        <p:grpSpPr>
          <a:xfrm rot="0">
            <a:off x="12624385" y="0"/>
            <a:ext cx="4634915" cy="10287000"/>
            <a:chOff x="0" y="0"/>
            <a:chExt cx="2858770" cy="6344920"/>
          </a:xfrm>
        </p:grpSpPr>
        <p:sp>
          <p:nvSpPr>
            <p:cNvPr name="Freeform 20" id="20"/>
            <p:cNvSpPr/>
            <p:nvPr/>
          </p:nvSpPr>
          <p:spPr>
            <a:xfrm flipH="false" flipV="false" rot="0">
              <a:off x="0" y="0"/>
              <a:ext cx="2858770" cy="6344920"/>
            </a:xfrm>
            <a:custGeom>
              <a:avLst/>
              <a:gdLst/>
              <a:ahLst/>
              <a:cxnLst/>
              <a:rect r="r" b="b" t="t" l="l"/>
              <a:pathLst>
                <a:path h="6344920" w="2858770">
                  <a:moveTo>
                    <a:pt x="1827530" y="6344920"/>
                  </a:moveTo>
                  <a:lnTo>
                    <a:pt x="0" y="6344920"/>
                  </a:lnTo>
                  <a:lnTo>
                    <a:pt x="0" y="1031240"/>
                  </a:lnTo>
                  <a:cubicBezTo>
                    <a:pt x="0" y="461010"/>
                    <a:pt x="461010" y="0"/>
                    <a:pt x="1031240" y="0"/>
                  </a:cubicBezTo>
                  <a:lnTo>
                    <a:pt x="2858770" y="0"/>
                  </a:lnTo>
                  <a:lnTo>
                    <a:pt x="2858770" y="5313680"/>
                  </a:lnTo>
                  <a:cubicBezTo>
                    <a:pt x="2858770" y="5883910"/>
                    <a:pt x="2397760" y="6344920"/>
                    <a:pt x="1827530" y="6344920"/>
                  </a:cubicBezTo>
                  <a:close/>
                </a:path>
              </a:pathLst>
            </a:custGeom>
            <a:blipFill>
              <a:blip r:embed="rId2"/>
              <a:stretch>
                <a:fillRect l="-24250" t="0" r="-24250" b="0"/>
              </a:stretch>
            </a:blipFill>
          </p:spPr>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DAG7ciwk1M0</dc:identifier>
  <dcterms:modified xsi:type="dcterms:W3CDTF">2011-08-01T06:04:30Z</dcterms:modified>
  <cp:revision>1</cp:revision>
  <dc:title>Seminar - Mobile</dc:title>
</cp:coreProperties>
</file>