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League Spartan" charset="1" panose="00000800000000000000"/>
      <p:regular r:id="rId24"/>
    </p:embeddedFont>
    <p:embeddedFont>
      <p:font typeface="Roboto Bold" charset="1" panose="02000000000000000000"/>
      <p:regular r:id="rId25"/>
    </p:embeddedFont>
    <p:embeddedFont>
      <p:font typeface="Poppins Bold" charset="1" panose="00000800000000000000"/>
      <p:regular r:id="rId26"/>
    </p:embeddedFont>
    <p:embeddedFont>
      <p:font typeface="Poppins" charset="1" panose="00000500000000000000"/>
      <p:regular r:id="rId27"/>
    </p:embeddedFont>
    <p:embeddedFont>
      <p:font typeface="Noto Sans" charset="1" panose="020B0502040504020204"/>
      <p:regular r:id="rId28"/>
    </p:embeddedFont>
    <p:embeddedFont>
      <p:font typeface="Roboto" charset="1" panose="02000000000000000000"/>
      <p:regular r:id="rId29"/>
    </p:embeddedFont>
    <p:embeddedFont>
      <p:font typeface="Poppins Italics" charset="1" panose="0000050000000000000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2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220957" y="4506120"/>
            <a:ext cx="9846085" cy="1418757"/>
          </a:xfrm>
          <a:prstGeom prst="rect">
            <a:avLst/>
          </a:prstGeom>
        </p:spPr>
        <p:txBody>
          <a:bodyPr anchor="t" rtlCol="false" tIns="0" lIns="0" bIns="0" rIns="0">
            <a:spAutoFit/>
          </a:bodyPr>
          <a:lstStyle/>
          <a:p>
            <a:pPr algn="ctr">
              <a:lnSpc>
                <a:spcPts val="11572"/>
              </a:lnSpc>
            </a:pPr>
            <a:r>
              <a:rPr lang="en-US" b="true" sz="8265">
                <a:solidFill>
                  <a:srgbClr val="004AAD"/>
                </a:solidFill>
                <a:latin typeface="League Spartan"/>
                <a:ea typeface="League Spartan"/>
                <a:cs typeface="League Spartan"/>
                <a:sym typeface="League Spartan"/>
              </a:rPr>
              <a:t>GROUP 12</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4188898" y="2211190"/>
            <a:ext cx="9910203" cy="1846560"/>
          </a:xfrm>
          <a:prstGeom prst="rect">
            <a:avLst/>
          </a:prstGeom>
        </p:spPr>
        <p:txBody>
          <a:bodyPr anchor="t" rtlCol="false" tIns="0" lIns="0" bIns="0" rIns="0">
            <a:spAutoFit/>
          </a:bodyPr>
          <a:lstStyle/>
          <a:p>
            <a:pPr algn="ctr">
              <a:lnSpc>
                <a:spcPts val="7424"/>
              </a:lnSpc>
            </a:pPr>
            <a:r>
              <a:rPr lang="en-US" b="true" sz="5303">
                <a:solidFill>
                  <a:srgbClr val="303642"/>
                </a:solidFill>
                <a:latin typeface="Roboto Bold"/>
                <a:ea typeface="Roboto Bold"/>
                <a:cs typeface="Roboto Bold"/>
                <a:sym typeface="Roboto Bold"/>
              </a:rPr>
              <a:t>MENUS, ACTION BAR AND TAB, NAVIGATION COMPONENT</a:t>
            </a:r>
          </a:p>
        </p:txBody>
      </p:sp>
      <p:sp>
        <p:nvSpPr>
          <p:cNvPr name="TextBox 8" id="8"/>
          <p:cNvSpPr txBox="true"/>
          <p:nvPr/>
        </p:nvSpPr>
        <p:spPr>
          <a:xfrm rot="0">
            <a:off x="4880587" y="5852404"/>
            <a:ext cx="8526827" cy="2353840"/>
          </a:xfrm>
          <a:prstGeom prst="rect">
            <a:avLst/>
          </a:prstGeom>
        </p:spPr>
        <p:txBody>
          <a:bodyPr anchor="t" rtlCol="false" tIns="0" lIns="0" bIns="0" rIns="0">
            <a:spAutoFit/>
          </a:bodyPr>
          <a:lstStyle/>
          <a:p>
            <a:pPr algn="ctr">
              <a:lnSpc>
                <a:spcPts val="3107"/>
              </a:lnSpc>
            </a:pPr>
            <a:r>
              <a:rPr lang="en-US" sz="2219" b="true">
                <a:solidFill>
                  <a:srgbClr val="303642"/>
                </a:solidFill>
                <a:latin typeface="Poppins Bold"/>
                <a:ea typeface="Poppins Bold"/>
                <a:cs typeface="Poppins Bold"/>
                <a:sym typeface="Poppins Bold"/>
              </a:rPr>
              <a:t>Members:</a:t>
            </a:r>
          </a:p>
          <a:p>
            <a:pPr algn="ctr">
              <a:lnSpc>
                <a:spcPts val="3107"/>
              </a:lnSpc>
            </a:pPr>
            <a:r>
              <a:rPr lang="en-US" sz="2219">
                <a:solidFill>
                  <a:srgbClr val="303642"/>
                </a:solidFill>
                <a:latin typeface="Poppins"/>
                <a:ea typeface="Poppins"/>
                <a:cs typeface="Poppins"/>
                <a:sym typeface="Poppins"/>
              </a:rPr>
              <a:t>23120018 - Nguyễn Ngọc Thiên Ân</a:t>
            </a:r>
          </a:p>
          <a:p>
            <a:pPr algn="ctr">
              <a:lnSpc>
                <a:spcPts val="3107"/>
              </a:lnSpc>
            </a:pPr>
            <a:r>
              <a:rPr lang="en-US" sz="2219">
                <a:solidFill>
                  <a:srgbClr val="303642"/>
                </a:solidFill>
                <a:latin typeface="Poppins"/>
                <a:ea typeface="Poppins"/>
                <a:cs typeface="Poppins"/>
                <a:sym typeface="Poppins"/>
              </a:rPr>
              <a:t>23120021 - Hồ Hồ Gia Bảo</a:t>
            </a:r>
          </a:p>
          <a:p>
            <a:pPr algn="ctr">
              <a:lnSpc>
                <a:spcPts val="3107"/>
              </a:lnSpc>
            </a:pPr>
            <a:r>
              <a:rPr lang="en-US" sz="2219">
                <a:solidFill>
                  <a:srgbClr val="303642"/>
                </a:solidFill>
                <a:latin typeface="Poppins"/>
                <a:ea typeface="Poppins"/>
                <a:cs typeface="Poppins"/>
                <a:sym typeface="Poppins"/>
              </a:rPr>
              <a:t>23120040 - Hồ Hữu Hoàng Hải</a:t>
            </a:r>
          </a:p>
          <a:p>
            <a:pPr algn="ctr">
              <a:lnSpc>
                <a:spcPts val="3107"/>
              </a:lnSpc>
            </a:pPr>
            <a:r>
              <a:rPr lang="en-US" sz="2219">
                <a:solidFill>
                  <a:srgbClr val="303642"/>
                </a:solidFill>
                <a:latin typeface="Poppins"/>
                <a:ea typeface="Poppins"/>
                <a:cs typeface="Poppins"/>
                <a:sym typeface="Poppins"/>
              </a:rPr>
              <a:t>23120045 - Dương Khánh Khải Hưng</a:t>
            </a:r>
          </a:p>
          <a:p>
            <a:pPr algn="ctr">
              <a:lnSpc>
                <a:spcPts val="3107"/>
              </a:lnSpc>
              <a:spcBef>
                <a:spcPct val="0"/>
              </a:spcBef>
            </a:pPr>
            <a:r>
              <a:rPr lang="en-US" sz="2219">
                <a:solidFill>
                  <a:srgbClr val="303642"/>
                </a:solidFill>
                <a:latin typeface="Poppins"/>
                <a:ea typeface="Poppins"/>
                <a:cs typeface="Poppins"/>
                <a:sym typeface="Poppins"/>
              </a:rPr>
              <a:t>23120065 - Nguyễn Trọng Nhân</a:t>
            </a:r>
          </a:p>
        </p:txBody>
      </p:sp>
      <p:grpSp>
        <p:nvGrpSpPr>
          <p:cNvPr name="Group 9" id="9"/>
          <p:cNvGrpSpPr/>
          <p:nvPr/>
        </p:nvGrpSpPr>
        <p:grpSpPr>
          <a:xfrm rot="0">
            <a:off x="16467343" y="4057750"/>
            <a:ext cx="3086100" cy="2171499"/>
            <a:chOff x="0" y="0"/>
            <a:chExt cx="812800" cy="571917"/>
          </a:xfrm>
        </p:grpSpPr>
        <p:sp>
          <p:nvSpPr>
            <p:cNvPr name="Freeform 10" id="10"/>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1" id="11"/>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908043" y="0"/>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640583" y="1606753"/>
            <a:ext cx="1868266" cy="186826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10640583" y="4210291"/>
            <a:ext cx="1868266" cy="18682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10640583" y="6811982"/>
            <a:ext cx="1868266" cy="186826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70541" y="2006345"/>
            <a:ext cx="1601933" cy="6466659"/>
            <a:chOff x="0" y="0"/>
            <a:chExt cx="421908" cy="1703153"/>
          </a:xfrm>
        </p:grpSpPr>
        <p:sp>
          <p:nvSpPr>
            <p:cNvPr name="Freeform 16" id="16"/>
            <p:cNvSpPr/>
            <p:nvPr/>
          </p:nvSpPr>
          <p:spPr>
            <a:xfrm flipH="false" flipV="false" rot="0">
              <a:off x="0" y="0"/>
              <a:ext cx="421908" cy="1703153"/>
            </a:xfrm>
            <a:custGeom>
              <a:avLst/>
              <a:gdLst/>
              <a:ahLst/>
              <a:cxnLst/>
              <a:rect r="r" b="b" t="t" l="l"/>
              <a:pathLst>
                <a:path h="1703153" w="421908">
                  <a:moveTo>
                    <a:pt x="210954" y="0"/>
                  </a:moveTo>
                  <a:lnTo>
                    <a:pt x="210954" y="0"/>
                  </a:lnTo>
                  <a:cubicBezTo>
                    <a:pt x="266903" y="0"/>
                    <a:pt x="320560" y="22225"/>
                    <a:pt x="360121" y="61787"/>
                  </a:cubicBezTo>
                  <a:cubicBezTo>
                    <a:pt x="399683" y="101349"/>
                    <a:pt x="421908" y="155006"/>
                    <a:pt x="421908" y="210954"/>
                  </a:cubicBezTo>
                  <a:lnTo>
                    <a:pt x="421908" y="1492199"/>
                  </a:lnTo>
                  <a:cubicBezTo>
                    <a:pt x="421908" y="1548147"/>
                    <a:pt x="399683" y="1601804"/>
                    <a:pt x="360121" y="1641366"/>
                  </a:cubicBezTo>
                  <a:cubicBezTo>
                    <a:pt x="320560" y="1680928"/>
                    <a:pt x="266903" y="1703153"/>
                    <a:pt x="210954" y="1703153"/>
                  </a:cubicBezTo>
                  <a:lnTo>
                    <a:pt x="210954" y="1703153"/>
                  </a:lnTo>
                  <a:cubicBezTo>
                    <a:pt x="155006" y="1703153"/>
                    <a:pt x="101349" y="1680928"/>
                    <a:pt x="61787" y="1641366"/>
                  </a:cubicBezTo>
                  <a:cubicBezTo>
                    <a:pt x="22225" y="1601804"/>
                    <a:pt x="0" y="1548147"/>
                    <a:pt x="0" y="1492199"/>
                  </a:cubicBezTo>
                  <a:lnTo>
                    <a:pt x="0" y="210954"/>
                  </a:lnTo>
                  <a:cubicBezTo>
                    <a:pt x="0" y="155006"/>
                    <a:pt x="22225" y="101349"/>
                    <a:pt x="61787" y="61787"/>
                  </a:cubicBezTo>
                  <a:cubicBezTo>
                    <a:pt x="101349" y="22225"/>
                    <a:pt x="155006" y="0"/>
                    <a:pt x="210954" y="0"/>
                  </a:cubicBezTo>
                  <a:close/>
                </a:path>
              </a:pathLst>
            </a:custGeom>
            <a:solidFill>
              <a:srgbClr val="004AAD"/>
            </a:solidFill>
          </p:spPr>
        </p:sp>
        <p:sp>
          <p:nvSpPr>
            <p:cNvPr name="TextBox 17" id="17"/>
            <p:cNvSpPr txBox="true"/>
            <p:nvPr/>
          </p:nvSpPr>
          <p:spPr>
            <a:xfrm>
              <a:off x="0" y="-47625"/>
              <a:ext cx="421908" cy="1750778"/>
            </a:xfrm>
            <a:prstGeom prst="rect">
              <a:avLst/>
            </a:prstGeom>
          </p:spPr>
          <p:txBody>
            <a:bodyPr anchor="ctr" rtlCol="false" tIns="50800" lIns="50800" bIns="50800" rIns="50800"/>
            <a:lstStyle/>
            <a:p>
              <a:pPr algn="ctr">
                <a:lnSpc>
                  <a:spcPts val="2659"/>
                </a:lnSpc>
              </a:pPr>
            </a:p>
          </p:txBody>
        </p:sp>
      </p:grpSp>
      <p:sp>
        <p:nvSpPr>
          <p:cNvPr name="TextBox 18" id="18"/>
          <p:cNvSpPr txBox="true"/>
          <p:nvPr/>
        </p:nvSpPr>
        <p:spPr>
          <a:xfrm rot="0">
            <a:off x="11908043" y="866775"/>
            <a:ext cx="5508835" cy="817776"/>
          </a:xfrm>
          <a:prstGeom prst="rect">
            <a:avLst/>
          </a:prstGeom>
        </p:spPr>
        <p:txBody>
          <a:bodyPr anchor="t" rtlCol="false" tIns="0" lIns="0" bIns="0" rIns="0">
            <a:spAutoFit/>
          </a:bodyPr>
          <a:lstStyle/>
          <a:p>
            <a:pPr algn="r">
              <a:lnSpc>
                <a:spcPts val="6372"/>
              </a:lnSpc>
            </a:pPr>
            <a:r>
              <a:rPr lang="en-US" sz="4551">
                <a:solidFill>
                  <a:srgbClr val="FFFFFF"/>
                </a:solidFill>
                <a:latin typeface="Poppins"/>
                <a:ea typeface="Poppins"/>
                <a:cs typeface="Poppins"/>
                <a:sym typeface="Poppins"/>
              </a:rPr>
              <a:t>CÁC NỘI DUNG</a:t>
            </a:r>
          </a:p>
        </p:txBody>
      </p:sp>
      <p:sp>
        <p:nvSpPr>
          <p:cNvPr name="TextBox 19" id="19"/>
          <p:cNvSpPr txBox="true"/>
          <p:nvPr/>
        </p:nvSpPr>
        <p:spPr>
          <a:xfrm rot="0">
            <a:off x="13173498" y="1697059"/>
            <a:ext cx="4243380" cy="842397"/>
          </a:xfrm>
          <a:prstGeom prst="rect">
            <a:avLst/>
          </a:prstGeom>
        </p:spPr>
        <p:txBody>
          <a:bodyPr anchor="t" rtlCol="false" tIns="0" lIns="0" bIns="0" rIns="0">
            <a:spAutoFit/>
          </a:bodyPr>
          <a:lstStyle/>
          <a:p>
            <a:pPr algn="r">
              <a:lnSpc>
                <a:spcPts val="6591"/>
              </a:lnSpc>
            </a:pPr>
            <a:r>
              <a:rPr lang="en-US" b="true" sz="4708">
                <a:solidFill>
                  <a:srgbClr val="FFFFFF"/>
                </a:solidFill>
                <a:latin typeface="Poppins Bold"/>
                <a:ea typeface="Poppins Bold"/>
                <a:cs typeface="Poppins Bold"/>
                <a:sym typeface="Poppins Bold"/>
              </a:rPr>
              <a:t>CHÍNH</a:t>
            </a:r>
          </a:p>
        </p:txBody>
      </p:sp>
      <p:sp>
        <p:nvSpPr>
          <p:cNvPr name="TextBox 20" id="20"/>
          <p:cNvSpPr txBox="true"/>
          <p:nvPr/>
        </p:nvSpPr>
        <p:spPr>
          <a:xfrm rot="0">
            <a:off x="10755298" y="190147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name="TextBox 21" id="21"/>
          <p:cNvSpPr txBox="true"/>
          <p:nvPr/>
        </p:nvSpPr>
        <p:spPr>
          <a:xfrm rot="0">
            <a:off x="10755298" y="4495485"/>
            <a:ext cx="1638836" cy="1335977"/>
          </a:xfrm>
          <a:prstGeom prst="rect">
            <a:avLst/>
          </a:prstGeom>
        </p:spPr>
        <p:txBody>
          <a:bodyPr anchor="t" rtlCol="false" tIns="0" lIns="0" bIns="0" rIns="0">
            <a:spAutoFit/>
          </a:bodyPr>
          <a:lstStyle/>
          <a:p>
            <a:pPr algn="ctr">
              <a:lnSpc>
                <a:spcPts val="11002"/>
              </a:lnSpc>
            </a:pPr>
            <a:r>
              <a:rPr lang="en-US" b="true" sz="7859">
                <a:solidFill>
                  <a:srgbClr val="000000"/>
                </a:solidFill>
                <a:latin typeface="League Spartan"/>
                <a:ea typeface="League Spartan"/>
                <a:cs typeface="League Spartan"/>
                <a:sym typeface="League Spartan"/>
              </a:rPr>
              <a:t>2</a:t>
            </a:r>
          </a:p>
        </p:txBody>
      </p:sp>
      <p:sp>
        <p:nvSpPr>
          <p:cNvPr name="TextBox 22" id="22"/>
          <p:cNvSpPr txBox="true"/>
          <p:nvPr/>
        </p:nvSpPr>
        <p:spPr>
          <a:xfrm rot="0">
            <a:off x="10755298" y="709773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3</a:t>
            </a:r>
          </a:p>
        </p:txBody>
      </p:sp>
      <p:sp>
        <p:nvSpPr>
          <p:cNvPr name="TextBox 23" id="23"/>
          <p:cNvSpPr txBox="true"/>
          <p:nvPr/>
        </p:nvSpPr>
        <p:spPr>
          <a:xfrm rot="0">
            <a:off x="5949480" y="2345618"/>
            <a:ext cx="3671080" cy="523886"/>
          </a:xfrm>
          <a:prstGeom prst="rect">
            <a:avLst/>
          </a:prstGeom>
        </p:spPr>
        <p:txBody>
          <a:bodyPr anchor="t" rtlCol="false" tIns="0" lIns="0" bIns="0" rIns="0">
            <a:spAutoFit/>
          </a:bodyPr>
          <a:lstStyle/>
          <a:p>
            <a:pPr algn="r">
              <a:lnSpc>
                <a:spcPts val="4199"/>
              </a:lnSpc>
              <a:spcBef>
                <a:spcPct val="0"/>
              </a:spcBef>
            </a:pPr>
            <a:r>
              <a:rPr lang="en-US" sz="2999">
                <a:solidFill>
                  <a:srgbClr val="000000"/>
                </a:solidFill>
                <a:latin typeface="Poppins"/>
                <a:ea typeface="Poppins"/>
                <a:cs typeface="Poppins"/>
                <a:sym typeface="Poppins"/>
              </a:rPr>
              <a:t>Menu &amp; Action Bar</a:t>
            </a:r>
          </a:p>
        </p:txBody>
      </p:sp>
      <p:sp>
        <p:nvSpPr>
          <p:cNvPr name="TextBox 24" id="24"/>
          <p:cNvSpPr txBox="true"/>
          <p:nvPr/>
        </p:nvSpPr>
        <p:spPr>
          <a:xfrm rot="0">
            <a:off x="2808395" y="4939631"/>
            <a:ext cx="6812164" cy="523886"/>
          </a:xfrm>
          <a:prstGeom prst="rect">
            <a:avLst/>
          </a:prstGeom>
        </p:spPr>
        <p:txBody>
          <a:bodyPr anchor="t" rtlCol="false" tIns="0" lIns="0" bIns="0" rIns="0">
            <a:spAutoFit/>
          </a:bodyPr>
          <a:lstStyle/>
          <a:p>
            <a:pPr algn="r">
              <a:lnSpc>
                <a:spcPts val="4199"/>
              </a:lnSpc>
              <a:spcBef>
                <a:spcPct val="0"/>
              </a:spcBef>
            </a:pPr>
            <a:r>
              <a:rPr lang="en-US" sz="2999">
                <a:solidFill>
                  <a:srgbClr val="000000"/>
                </a:solidFill>
                <a:latin typeface="Poppins"/>
                <a:ea typeface="Poppins"/>
                <a:cs typeface="Poppins"/>
                <a:sym typeface="Poppins"/>
              </a:rPr>
              <a:t>TabLayout và Điều Hướng bằng Tab</a:t>
            </a:r>
          </a:p>
        </p:txBody>
      </p:sp>
      <p:sp>
        <p:nvSpPr>
          <p:cNvPr name="TextBox 25" id="25"/>
          <p:cNvSpPr txBox="true"/>
          <p:nvPr/>
        </p:nvSpPr>
        <p:spPr>
          <a:xfrm rot="0">
            <a:off x="5007154" y="7527562"/>
            <a:ext cx="4613405" cy="542991"/>
          </a:xfrm>
          <a:prstGeom prst="rect">
            <a:avLst/>
          </a:prstGeom>
        </p:spPr>
        <p:txBody>
          <a:bodyPr anchor="t" rtlCol="false" tIns="0" lIns="0" bIns="0" rIns="0">
            <a:spAutoFit/>
          </a:bodyPr>
          <a:lstStyle/>
          <a:p>
            <a:pPr algn="r">
              <a:lnSpc>
                <a:spcPts val="4200"/>
              </a:lnSpc>
              <a:spcBef>
                <a:spcPct val="0"/>
              </a:spcBef>
            </a:pPr>
            <a:r>
              <a:rPr lang="en-US" sz="3000">
                <a:solidFill>
                  <a:srgbClr val="000000"/>
                </a:solidFill>
                <a:latin typeface="Poppins"/>
                <a:ea typeface="Poppins"/>
                <a:cs typeface="Poppins"/>
                <a:sym typeface="Poppins"/>
              </a:rPr>
              <a:t>Navigation Component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792707" cy="10287000"/>
            <a:chOff x="0" y="0"/>
            <a:chExt cx="1789026" cy="2709333"/>
          </a:xfrm>
        </p:grpSpPr>
        <p:sp>
          <p:nvSpPr>
            <p:cNvPr name="Freeform 4" id="4"/>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004AAD"/>
            </a:solidFill>
          </p:spPr>
        </p:sp>
        <p:sp>
          <p:nvSpPr>
            <p:cNvPr name="TextBox 5" id="5"/>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446818" y="8630505"/>
            <a:ext cx="897167" cy="2183545"/>
            <a:chOff x="0" y="0"/>
            <a:chExt cx="236291" cy="575090"/>
          </a:xfrm>
        </p:grpSpPr>
        <p:sp>
          <p:nvSpPr>
            <p:cNvPr name="Freeform 7" id="7"/>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8" id="8"/>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grpSp>
        <p:nvGrpSpPr>
          <p:cNvPr name="Group 9" id="9"/>
          <p:cNvGrpSpPr>
            <a:grpSpLocks noChangeAspect="true"/>
          </p:cNvGrpSpPr>
          <p:nvPr/>
        </p:nvGrpSpPr>
        <p:grpSpPr>
          <a:xfrm rot="0">
            <a:off x="7489815" y="2030471"/>
            <a:ext cx="4505193" cy="6054293"/>
            <a:chOff x="0" y="0"/>
            <a:chExt cx="3663950" cy="4923790"/>
          </a:xfrm>
        </p:grpSpPr>
        <p:sp>
          <p:nvSpPr>
            <p:cNvPr name="Freeform 10" id="10"/>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0" t="0" r="0" b="-16469"/>
              </a:stretch>
            </a:blipFill>
          </p:spPr>
        </p:sp>
        <p:sp>
          <p:nvSpPr>
            <p:cNvPr name="Freeform 11" id="11"/>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grpSp>
        <p:nvGrpSpPr>
          <p:cNvPr name="Group 12" id="12"/>
          <p:cNvGrpSpPr>
            <a:grpSpLocks noChangeAspect="true"/>
          </p:cNvGrpSpPr>
          <p:nvPr/>
        </p:nvGrpSpPr>
        <p:grpSpPr>
          <a:xfrm rot="0">
            <a:off x="13138008" y="2030471"/>
            <a:ext cx="4505193" cy="6054293"/>
            <a:chOff x="0" y="0"/>
            <a:chExt cx="3663950" cy="4923790"/>
          </a:xfrm>
        </p:grpSpPr>
        <p:sp>
          <p:nvSpPr>
            <p:cNvPr name="Freeform 13" id="13"/>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4"/>
              <a:stretch>
                <a:fillRect l="-13680" t="0" r="-13680" b="0"/>
              </a:stretch>
            </a:blipFill>
          </p:spPr>
        </p:sp>
        <p:sp>
          <p:nvSpPr>
            <p:cNvPr name="Freeform 14" id="14"/>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sp>
        <p:nvSpPr>
          <p:cNvPr name="TextBox 15" id="15"/>
          <p:cNvSpPr txBox="true"/>
          <p:nvPr/>
        </p:nvSpPr>
        <p:spPr>
          <a:xfrm rot="0">
            <a:off x="709411" y="588435"/>
            <a:ext cx="4243380" cy="794772"/>
          </a:xfrm>
          <a:prstGeom prst="rect">
            <a:avLst/>
          </a:prstGeom>
        </p:spPr>
        <p:txBody>
          <a:bodyPr anchor="t" rtlCol="false" tIns="0" lIns="0" bIns="0" rIns="0">
            <a:spAutoFit/>
          </a:bodyPr>
          <a:lstStyle/>
          <a:p>
            <a:pPr algn="l">
              <a:lnSpc>
                <a:spcPts val="6591"/>
              </a:lnSpc>
            </a:pPr>
            <a:r>
              <a:rPr lang="en-US" b="true" sz="4708">
                <a:solidFill>
                  <a:srgbClr val="FFFFFF"/>
                </a:solidFill>
                <a:latin typeface="League Spartan"/>
                <a:ea typeface="League Spartan"/>
                <a:cs typeface="League Spartan"/>
                <a:sym typeface="League Spartan"/>
              </a:rPr>
              <a:t>1.</a:t>
            </a:r>
          </a:p>
        </p:txBody>
      </p:sp>
      <p:sp>
        <p:nvSpPr>
          <p:cNvPr name="TextBox 16" id="16"/>
          <p:cNvSpPr txBox="true"/>
          <p:nvPr/>
        </p:nvSpPr>
        <p:spPr>
          <a:xfrm rot="0">
            <a:off x="709411" y="1268907"/>
            <a:ext cx="4842085" cy="1422268"/>
          </a:xfrm>
          <a:prstGeom prst="rect">
            <a:avLst/>
          </a:prstGeom>
        </p:spPr>
        <p:txBody>
          <a:bodyPr anchor="t" rtlCol="false" tIns="0" lIns="0" bIns="0" rIns="0">
            <a:spAutoFit/>
          </a:bodyPr>
          <a:lstStyle/>
          <a:p>
            <a:pPr algn="l">
              <a:lnSpc>
                <a:spcPts val="5599"/>
              </a:lnSpc>
            </a:pPr>
            <a:r>
              <a:rPr lang="en-US" sz="3999">
                <a:solidFill>
                  <a:srgbClr val="FFFFFF"/>
                </a:solidFill>
                <a:latin typeface="Poppins"/>
                <a:ea typeface="Poppins"/>
                <a:cs typeface="Poppins"/>
                <a:sym typeface="Poppins"/>
              </a:rPr>
              <a:t>MENUS &amp; ACTION BAR/APP BAR</a:t>
            </a:r>
          </a:p>
        </p:txBody>
      </p:sp>
      <p:sp>
        <p:nvSpPr>
          <p:cNvPr name="TextBox 17" id="17"/>
          <p:cNvSpPr txBox="true"/>
          <p:nvPr/>
        </p:nvSpPr>
        <p:spPr>
          <a:xfrm rot="0">
            <a:off x="709411" y="3385429"/>
            <a:ext cx="5634574" cy="1860525"/>
          </a:xfrm>
          <a:prstGeom prst="rect">
            <a:avLst/>
          </a:prstGeom>
        </p:spPr>
        <p:txBody>
          <a:bodyPr anchor="t" rtlCol="false" tIns="0" lIns="0" bIns="0" rIns="0">
            <a:spAutoFit/>
          </a:bodyPr>
          <a:lstStyle/>
          <a:p>
            <a:pPr algn="l">
              <a:lnSpc>
                <a:spcPts val="2976"/>
              </a:lnSpc>
            </a:pPr>
            <a:r>
              <a:rPr lang="en-US" sz="2125">
                <a:solidFill>
                  <a:srgbClr val="FFFFFF"/>
                </a:solidFill>
                <a:latin typeface="Poppins"/>
                <a:ea typeface="Poppins"/>
                <a:cs typeface="Poppins"/>
                <a:sym typeface="Poppins"/>
              </a:rPr>
              <a:t>Menu là một thành phần giao diện người dùng phổ biến trong nhiều loại ứng dụng nhằm cung cấp các hành động và tùy chọn cho người dùng.</a:t>
            </a:r>
          </a:p>
          <a:p>
            <a:pPr algn="l">
              <a:lnSpc>
                <a:spcPts val="2976"/>
              </a:lnSpc>
              <a:spcBef>
                <a:spcPct val="0"/>
              </a:spcBef>
            </a:pPr>
          </a:p>
        </p:txBody>
      </p:sp>
      <p:sp>
        <p:nvSpPr>
          <p:cNvPr name="TextBox 18" id="18"/>
          <p:cNvSpPr txBox="true"/>
          <p:nvPr/>
        </p:nvSpPr>
        <p:spPr>
          <a:xfrm rot="0">
            <a:off x="709411" y="5188474"/>
            <a:ext cx="5634574" cy="2232000"/>
          </a:xfrm>
          <a:prstGeom prst="rect">
            <a:avLst/>
          </a:prstGeom>
        </p:spPr>
        <p:txBody>
          <a:bodyPr anchor="t" rtlCol="false" tIns="0" lIns="0" bIns="0" rIns="0">
            <a:spAutoFit/>
          </a:bodyPr>
          <a:lstStyle/>
          <a:p>
            <a:pPr algn="l">
              <a:lnSpc>
                <a:spcPts val="2976"/>
              </a:lnSpc>
            </a:pPr>
            <a:r>
              <a:rPr lang="en-US" sz="2125">
                <a:solidFill>
                  <a:srgbClr val="FFFFFF"/>
                </a:solidFill>
                <a:latin typeface="Poppins"/>
                <a:ea typeface="Poppins"/>
                <a:cs typeface="Poppins"/>
                <a:sym typeface="Poppins"/>
              </a:rPr>
              <a:t>Phân loại: 4 loại phổ biến, phục vụ mục đích khác nhau:</a:t>
            </a:r>
          </a:p>
          <a:p>
            <a:pPr algn="l" marL="458997" indent="-229499" lvl="1">
              <a:lnSpc>
                <a:spcPts val="2976"/>
              </a:lnSpc>
              <a:buFont typeface="Arial"/>
              <a:buChar char="•"/>
            </a:pPr>
            <a:r>
              <a:rPr lang="en-US" sz="2125">
                <a:solidFill>
                  <a:srgbClr val="FFFFFF"/>
                </a:solidFill>
                <a:latin typeface="Poppins"/>
                <a:ea typeface="Poppins"/>
                <a:cs typeface="Poppins"/>
                <a:sym typeface="Poppins"/>
              </a:rPr>
              <a:t>Options Menu / Action Bar</a:t>
            </a:r>
          </a:p>
          <a:p>
            <a:pPr algn="l" marL="458997" indent="-229499" lvl="1">
              <a:lnSpc>
                <a:spcPts val="2976"/>
              </a:lnSpc>
              <a:buFont typeface="Arial"/>
              <a:buChar char="•"/>
            </a:pPr>
            <a:r>
              <a:rPr lang="en-US" sz="2125">
                <a:solidFill>
                  <a:srgbClr val="FFFFFF"/>
                </a:solidFill>
                <a:latin typeface="Poppins"/>
                <a:ea typeface="Poppins"/>
                <a:cs typeface="Poppins"/>
                <a:sym typeface="Poppins"/>
              </a:rPr>
              <a:t>Context Menu</a:t>
            </a:r>
          </a:p>
          <a:p>
            <a:pPr algn="l" marL="458997" indent="-229499" lvl="1">
              <a:lnSpc>
                <a:spcPts val="2976"/>
              </a:lnSpc>
              <a:buFont typeface="Arial"/>
              <a:buChar char="•"/>
            </a:pPr>
            <a:r>
              <a:rPr lang="en-US" sz="2125">
                <a:solidFill>
                  <a:srgbClr val="FFFFFF"/>
                </a:solidFill>
                <a:latin typeface="Poppins"/>
                <a:ea typeface="Poppins"/>
                <a:cs typeface="Poppins"/>
                <a:sym typeface="Poppins"/>
              </a:rPr>
              <a:t>Contextual Action Mode (CAM)</a:t>
            </a:r>
          </a:p>
          <a:p>
            <a:pPr algn="l" marL="458997" indent="-229499" lvl="1">
              <a:lnSpc>
                <a:spcPts val="2976"/>
              </a:lnSpc>
              <a:spcBef>
                <a:spcPct val="0"/>
              </a:spcBef>
              <a:buFont typeface="Arial"/>
              <a:buChar char="•"/>
            </a:pPr>
            <a:r>
              <a:rPr lang="en-US" sz="2125">
                <a:solidFill>
                  <a:srgbClr val="FFFFFF"/>
                </a:solidFill>
                <a:latin typeface="Poppins"/>
                <a:ea typeface="Poppins"/>
                <a:cs typeface="Poppins"/>
                <a:sym typeface="Poppins"/>
              </a:rPr>
              <a:t>Pop-up Menus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7504501" y="1380905"/>
            <a:ext cx="7817925" cy="1058159"/>
          </a:xfrm>
          <a:custGeom>
            <a:avLst/>
            <a:gdLst/>
            <a:ahLst/>
            <a:cxnLst/>
            <a:rect r="r" b="b" t="t" l="l"/>
            <a:pathLst>
              <a:path h="1058159" w="7817925">
                <a:moveTo>
                  <a:pt x="0" y="0"/>
                </a:moveTo>
                <a:lnTo>
                  <a:pt x="7817925" y="0"/>
                </a:lnTo>
                <a:lnTo>
                  <a:pt x="7817925" y="1058158"/>
                </a:lnTo>
                <a:lnTo>
                  <a:pt x="0" y="1058158"/>
                </a:lnTo>
                <a:lnTo>
                  <a:pt x="0" y="0"/>
                </a:lnTo>
                <a:close/>
              </a:path>
            </a:pathLst>
          </a:custGeom>
          <a:blipFill>
            <a:blip r:embed="rId3"/>
            <a:stretch>
              <a:fillRect l="0" t="0" r="0" b="0"/>
            </a:stretch>
          </a:blipFill>
        </p:spPr>
      </p:sp>
      <p:sp>
        <p:nvSpPr>
          <p:cNvPr name="Freeform 7" id="7"/>
          <p:cNvSpPr/>
          <p:nvPr/>
        </p:nvSpPr>
        <p:spPr>
          <a:xfrm flipH="false" flipV="false" rot="0">
            <a:off x="9808434" y="2915519"/>
            <a:ext cx="8426041" cy="1056642"/>
          </a:xfrm>
          <a:custGeom>
            <a:avLst/>
            <a:gdLst/>
            <a:ahLst/>
            <a:cxnLst/>
            <a:rect r="r" b="b" t="t" l="l"/>
            <a:pathLst>
              <a:path h="1056642" w="8426041">
                <a:moveTo>
                  <a:pt x="0" y="0"/>
                </a:moveTo>
                <a:lnTo>
                  <a:pt x="8426041" y="0"/>
                </a:lnTo>
                <a:lnTo>
                  <a:pt x="8426041" y="1056641"/>
                </a:lnTo>
                <a:lnTo>
                  <a:pt x="0" y="1056641"/>
                </a:lnTo>
                <a:lnTo>
                  <a:pt x="0" y="0"/>
                </a:lnTo>
                <a:close/>
              </a:path>
            </a:pathLst>
          </a:custGeom>
          <a:blipFill>
            <a:blip r:embed="rId4"/>
            <a:stretch>
              <a:fillRect l="0" t="0" r="0" b="0"/>
            </a:stretch>
          </a:blipFill>
        </p:spPr>
      </p:sp>
      <p:sp>
        <p:nvSpPr>
          <p:cNvPr name="Freeform 8" id="8"/>
          <p:cNvSpPr/>
          <p:nvPr/>
        </p:nvSpPr>
        <p:spPr>
          <a:xfrm flipH="false" flipV="false" rot="0">
            <a:off x="6663274" y="4448410"/>
            <a:ext cx="7358180" cy="1570712"/>
          </a:xfrm>
          <a:custGeom>
            <a:avLst/>
            <a:gdLst/>
            <a:ahLst/>
            <a:cxnLst/>
            <a:rect r="r" b="b" t="t" l="l"/>
            <a:pathLst>
              <a:path h="1570712" w="7358180">
                <a:moveTo>
                  <a:pt x="0" y="0"/>
                </a:moveTo>
                <a:lnTo>
                  <a:pt x="7358180" y="0"/>
                </a:lnTo>
                <a:lnTo>
                  <a:pt x="7358180" y="1570712"/>
                </a:lnTo>
                <a:lnTo>
                  <a:pt x="0" y="1570712"/>
                </a:lnTo>
                <a:lnTo>
                  <a:pt x="0" y="0"/>
                </a:lnTo>
                <a:close/>
              </a:path>
            </a:pathLst>
          </a:custGeom>
          <a:blipFill>
            <a:blip r:embed="rId5"/>
            <a:stretch>
              <a:fillRect l="0" t="0" r="0" b="0"/>
            </a:stretch>
          </a:blipFill>
        </p:spPr>
      </p:sp>
      <p:sp>
        <p:nvSpPr>
          <p:cNvPr name="Freeform 9" id="9"/>
          <p:cNvSpPr/>
          <p:nvPr/>
        </p:nvSpPr>
        <p:spPr>
          <a:xfrm flipH="false" flipV="false" rot="0">
            <a:off x="12588606" y="6345672"/>
            <a:ext cx="4460193" cy="3061434"/>
          </a:xfrm>
          <a:custGeom>
            <a:avLst/>
            <a:gdLst/>
            <a:ahLst/>
            <a:cxnLst/>
            <a:rect r="r" b="b" t="t" l="l"/>
            <a:pathLst>
              <a:path h="3061434" w="4460193">
                <a:moveTo>
                  <a:pt x="0" y="0"/>
                </a:moveTo>
                <a:lnTo>
                  <a:pt x="4460193" y="0"/>
                </a:lnTo>
                <a:lnTo>
                  <a:pt x="4460193" y="3061434"/>
                </a:lnTo>
                <a:lnTo>
                  <a:pt x="0" y="3061434"/>
                </a:lnTo>
                <a:lnTo>
                  <a:pt x="0" y="0"/>
                </a:lnTo>
                <a:close/>
              </a:path>
            </a:pathLst>
          </a:custGeom>
          <a:blipFill>
            <a:blip r:embed="rId6"/>
            <a:stretch>
              <a:fillRect l="0" t="0" r="0" b="0"/>
            </a:stretch>
          </a:blipFill>
        </p:spPr>
      </p:sp>
      <p:sp>
        <p:nvSpPr>
          <p:cNvPr name="TextBox 10" id="10"/>
          <p:cNvSpPr txBox="true"/>
          <p:nvPr/>
        </p:nvSpPr>
        <p:spPr>
          <a:xfrm rot="0">
            <a:off x="1028700" y="681358"/>
            <a:ext cx="4926844" cy="1571625"/>
          </a:xfrm>
          <a:prstGeom prst="rect">
            <a:avLst/>
          </a:prstGeom>
        </p:spPr>
        <p:txBody>
          <a:bodyPr anchor="t" rtlCol="false" tIns="0" lIns="0" bIns="0" rIns="0">
            <a:spAutoFit/>
          </a:bodyPr>
          <a:lstStyle/>
          <a:p>
            <a:pPr algn="l">
              <a:lnSpc>
                <a:spcPts val="6299"/>
              </a:lnSpc>
            </a:pPr>
            <a:r>
              <a:rPr lang="en-US" b="true" sz="4500">
                <a:solidFill>
                  <a:srgbClr val="004AAD"/>
                </a:solidFill>
                <a:latin typeface="League Spartan"/>
                <a:ea typeface="League Spartan"/>
                <a:cs typeface="League Spartan"/>
                <a:sym typeface="League Spartan"/>
              </a:rPr>
              <a:t>OPTIONS MENU / ACTION BAR</a:t>
            </a:r>
          </a:p>
        </p:txBody>
      </p:sp>
      <p:sp>
        <p:nvSpPr>
          <p:cNvPr name="TextBox 11" id="11"/>
          <p:cNvSpPr txBox="true"/>
          <p:nvPr/>
        </p:nvSpPr>
        <p:spPr>
          <a:xfrm rot="0">
            <a:off x="1028700" y="2711013"/>
            <a:ext cx="5634574" cy="745968"/>
          </a:xfrm>
          <a:prstGeom prst="rect">
            <a:avLst/>
          </a:prstGeom>
        </p:spPr>
        <p:txBody>
          <a:bodyPr anchor="t" rtlCol="false" tIns="0" lIns="0" bIns="0" rIns="0">
            <a:spAutoFit/>
          </a:bodyPr>
          <a:lstStyle/>
          <a:p>
            <a:pPr algn="l" marL="458997" indent="-229499" lvl="1">
              <a:lnSpc>
                <a:spcPts val="2976"/>
              </a:lnSpc>
              <a:spcBef>
                <a:spcPct val="0"/>
              </a:spcBef>
              <a:buFont typeface="Arial"/>
              <a:buChar char="•"/>
            </a:pPr>
            <a:r>
              <a:rPr lang="en-US" sz="2125">
                <a:solidFill>
                  <a:srgbClr val="000000"/>
                </a:solidFill>
                <a:latin typeface="Poppins"/>
                <a:ea typeface="Poppins"/>
                <a:cs typeface="Poppins"/>
                <a:sym typeface="Poppins"/>
              </a:rPr>
              <a:t>Định nghĩa: Menu hiển thị trong Thanh Ứng Dụng (App Bar).</a:t>
            </a:r>
          </a:p>
        </p:txBody>
      </p:sp>
      <p:sp>
        <p:nvSpPr>
          <p:cNvPr name="TextBox 12" id="12"/>
          <p:cNvSpPr txBox="true"/>
          <p:nvPr/>
        </p:nvSpPr>
        <p:spPr>
          <a:xfrm rot="0">
            <a:off x="1028700" y="3531979"/>
            <a:ext cx="5634574" cy="3346425"/>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000000"/>
                </a:solidFill>
                <a:latin typeface="Poppins"/>
                <a:ea typeface="Poppins"/>
                <a:cs typeface="Poppins"/>
                <a:sym typeface="Poppins"/>
              </a:rPr>
              <a:t>Cơ chế:</a:t>
            </a:r>
          </a:p>
          <a:p>
            <a:pPr algn="l" marL="917995" indent="-305998" lvl="2">
              <a:lnSpc>
                <a:spcPts val="2976"/>
              </a:lnSpc>
              <a:buFont typeface="Arial"/>
              <a:buChar char="⚬"/>
            </a:pPr>
            <a:r>
              <a:rPr lang="en-US" sz="2125">
                <a:solidFill>
                  <a:srgbClr val="000000"/>
                </a:solidFill>
                <a:latin typeface="Poppins"/>
                <a:ea typeface="Poppins"/>
                <a:cs typeface="Poppins"/>
                <a:sym typeface="Poppins"/>
              </a:rPr>
              <a:t>Thiết lập: Gọi </a:t>
            </a:r>
            <a:r>
              <a:rPr lang="en-US" sz="2125">
                <a:solidFill>
                  <a:srgbClr val="007A3F"/>
                </a:solidFill>
                <a:latin typeface="Poppins"/>
                <a:ea typeface="Poppins"/>
                <a:cs typeface="Poppins"/>
                <a:sym typeface="Poppins"/>
              </a:rPr>
              <a:t>setSupportActionBar(toolbar) </a:t>
            </a:r>
            <a:r>
              <a:rPr lang="en-US" sz="2125">
                <a:solidFill>
                  <a:srgbClr val="000000"/>
                </a:solidFill>
                <a:latin typeface="Poppins"/>
                <a:ea typeface="Poppins"/>
                <a:cs typeface="Poppins"/>
                <a:sym typeface="Poppins"/>
              </a:rPr>
              <a:t>trong </a:t>
            </a:r>
            <a:r>
              <a:rPr lang="en-US" sz="2125">
                <a:solidFill>
                  <a:srgbClr val="007A3F"/>
                </a:solidFill>
                <a:latin typeface="Poppins"/>
                <a:ea typeface="Poppins"/>
                <a:cs typeface="Poppins"/>
                <a:sym typeface="Poppins"/>
              </a:rPr>
              <a:t>onCreate()</a:t>
            </a:r>
            <a:r>
              <a:rPr lang="en-US" sz="2125">
                <a:solidFill>
                  <a:srgbClr val="000000"/>
                </a:solidFill>
                <a:latin typeface="Poppins"/>
                <a:ea typeface="Poppins"/>
                <a:cs typeface="Poppins"/>
                <a:sym typeface="Poppins"/>
              </a:rPr>
              <a:t> để đăng ký App Bar.</a:t>
            </a:r>
          </a:p>
          <a:p>
            <a:pPr algn="l" marL="917995" indent="-305998" lvl="2">
              <a:lnSpc>
                <a:spcPts val="2976"/>
              </a:lnSpc>
              <a:buFont typeface="Arial"/>
              <a:buChar char="⚬"/>
            </a:pPr>
            <a:r>
              <a:rPr lang="en-US" sz="2125">
                <a:solidFill>
                  <a:srgbClr val="000000"/>
                </a:solidFill>
                <a:latin typeface="Poppins"/>
                <a:ea typeface="Poppins"/>
                <a:cs typeface="Poppins"/>
                <a:sym typeface="Poppins"/>
              </a:rPr>
              <a:t>Tạo Menu: Ghi đè phương thức </a:t>
            </a:r>
            <a:r>
              <a:rPr lang="en-US" sz="2125">
                <a:solidFill>
                  <a:srgbClr val="007A3F"/>
                </a:solidFill>
                <a:latin typeface="Poppins"/>
                <a:ea typeface="Poppins"/>
                <a:cs typeface="Poppins"/>
                <a:sym typeface="Poppins"/>
              </a:rPr>
              <a:t>onCreateOptionsMenu(...)</a:t>
            </a:r>
            <a:r>
              <a:rPr lang="en-US" sz="2125">
                <a:solidFill>
                  <a:srgbClr val="000000"/>
                </a:solidFill>
                <a:latin typeface="Poppins"/>
                <a:ea typeface="Poppins"/>
                <a:cs typeface="Poppins"/>
                <a:sym typeface="Poppins"/>
              </a:rPr>
              <a:t>.</a:t>
            </a:r>
          </a:p>
          <a:p>
            <a:pPr algn="l" marL="917995" indent="-305998" lvl="2">
              <a:lnSpc>
                <a:spcPts val="2976"/>
              </a:lnSpc>
              <a:spcBef>
                <a:spcPct val="0"/>
              </a:spcBef>
              <a:buFont typeface="Arial"/>
              <a:buChar char="⚬"/>
            </a:pPr>
            <a:r>
              <a:rPr lang="en-US" sz="2125">
                <a:solidFill>
                  <a:srgbClr val="000000"/>
                </a:solidFill>
                <a:latin typeface="Poppins"/>
                <a:ea typeface="Poppins"/>
                <a:cs typeface="Poppins"/>
                <a:sym typeface="Poppins"/>
              </a:rPr>
              <a:t>Xử lý sự kiện: Ghi đè phương thức </a:t>
            </a:r>
            <a:r>
              <a:rPr lang="en-US" sz="2125">
                <a:solidFill>
                  <a:srgbClr val="007A3F"/>
                </a:solidFill>
                <a:latin typeface="Poppins"/>
                <a:ea typeface="Poppins"/>
                <a:cs typeface="Poppins"/>
                <a:sym typeface="Poppins"/>
              </a:rPr>
              <a:t>onOptionsItemSelected(...)</a:t>
            </a:r>
            <a:r>
              <a:rPr lang="en-US" sz="2125">
                <a:solidFill>
                  <a:srgbClr val="000000"/>
                </a:solidFill>
                <a:latin typeface="Poppins"/>
                <a:ea typeface="Poppins"/>
                <a:cs typeface="Poppins"/>
                <a:sym typeface="Poppins"/>
              </a:rPr>
              <a:t>.</a:t>
            </a:r>
          </a:p>
        </p:txBody>
      </p:sp>
      <p:sp>
        <p:nvSpPr>
          <p:cNvPr name="TextBox 13" id="13"/>
          <p:cNvSpPr txBox="true"/>
          <p:nvPr/>
        </p:nvSpPr>
        <p:spPr>
          <a:xfrm rot="0">
            <a:off x="1028700" y="6803631"/>
            <a:ext cx="5634574" cy="2603475"/>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000000"/>
                </a:solidFill>
                <a:latin typeface="Poppins"/>
                <a:ea typeface="Poppins"/>
                <a:cs typeface="Poppins"/>
                <a:sym typeface="Poppins"/>
              </a:rPr>
              <a:t>Action Bar Items: Sử dụng thuộc tính </a:t>
            </a:r>
            <a:r>
              <a:rPr lang="en-US" sz="2125">
                <a:solidFill>
                  <a:srgbClr val="007A3F"/>
                </a:solidFill>
                <a:latin typeface="Poppins"/>
                <a:ea typeface="Poppins"/>
                <a:cs typeface="Poppins"/>
                <a:sym typeface="Poppins"/>
              </a:rPr>
              <a:t>android:showAsAction</a:t>
            </a:r>
            <a:r>
              <a:rPr lang="en-US" sz="2125">
                <a:solidFill>
                  <a:srgbClr val="000000"/>
                </a:solidFill>
                <a:latin typeface="Poppins"/>
                <a:ea typeface="Poppins"/>
                <a:cs typeface="Poppins"/>
                <a:sym typeface="Poppins"/>
              </a:rPr>
              <a:t> trong XML để đẩy mục menu lên hiển thị trực tiếp trên Action Bar qua các giá trị: always, ifRoom, never, withText, collapseActionView</a:t>
            </a:r>
          </a:p>
          <a:p>
            <a:pPr algn="l">
              <a:lnSpc>
                <a:spcPts val="2976"/>
              </a:lnSpc>
              <a:spcBef>
                <a:spcPct val="0"/>
              </a:spcBef>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65638" y="925830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1028700" y="2622234"/>
            <a:ext cx="3507919" cy="4714108"/>
            <a:chOff x="0" y="0"/>
            <a:chExt cx="3663950" cy="4923790"/>
          </a:xfrm>
        </p:grpSpPr>
        <p:sp>
          <p:nvSpPr>
            <p:cNvPr name="Freeform 7" id="7"/>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0" t="-50039" r="0" b="-11482"/>
              </a:stretch>
            </a:blipFill>
          </p:spPr>
        </p:sp>
        <p:sp>
          <p:nvSpPr>
            <p:cNvPr name="Freeform 8" id="8"/>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sp>
        <p:nvSpPr>
          <p:cNvPr name="Freeform 9" id="9"/>
          <p:cNvSpPr/>
          <p:nvPr/>
        </p:nvSpPr>
        <p:spPr>
          <a:xfrm flipH="false" flipV="false" rot="0">
            <a:off x="1028700" y="8058358"/>
            <a:ext cx="8144737" cy="1199942"/>
          </a:xfrm>
          <a:custGeom>
            <a:avLst/>
            <a:gdLst/>
            <a:ahLst/>
            <a:cxnLst/>
            <a:rect r="r" b="b" t="t" l="l"/>
            <a:pathLst>
              <a:path h="1199942" w="8144737">
                <a:moveTo>
                  <a:pt x="0" y="0"/>
                </a:moveTo>
                <a:lnTo>
                  <a:pt x="8144737" y="0"/>
                </a:lnTo>
                <a:lnTo>
                  <a:pt x="8144737" y="1199942"/>
                </a:lnTo>
                <a:lnTo>
                  <a:pt x="0" y="1199942"/>
                </a:lnTo>
                <a:lnTo>
                  <a:pt x="0" y="0"/>
                </a:lnTo>
                <a:close/>
              </a:path>
            </a:pathLst>
          </a:custGeom>
          <a:blipFill>
            <a:blip r:embed="rId4"/>
            <a:stretch>
              <a:fillRect l="0" t="0" r="0" b="0"/>
            </a:stretch>
          </a:blipFill>
        </p:spPr>
      </p:sp>
      <p:sp>
        <p:nvSpPr>
          <p:cNvPr name="Freeform 10" id="10"/>
          <p:cNvSpPr/>
          <p:nvPr/>
        </p:nvSpPr>
        <p:spPr>
          <a:xfrm flipH="false" flipV="false" rot="0">
            <a:off x="4864811" y="2139664"/>
            <a:ext cx="4636818" cy="1456368"/>
          </a:xfrm>
          <a:custGeom>
            <a:avLst/>
            <a:gdLst/>
            <a:ahLst/>
            <a:cxnLst/>
            <a:rect r="r" b="b" t="t" l="l"/>
            <a:pathLst>
              <a:path h="1456368" w="4636818">
                <a:moveTo>
                  <a:pt x="0" y="0"/>
                </a:moveTo>
                <a:lnTo>
                  <a:pt x="4636819" y="0"/>
                </a:lnTo>
                <a:lnTo>
                  <a:pt x="4636819" y="1456368"/>
                </a:lnTo>
                <a:lnTo>
                  <a:pt x="0" y="1456368"/>
                </a:lnTo>
                <a:lnTo>
                  <a:pt x="0" y="0"/>
                </a:lnTo>
                <a:close/>
              </a:path>
            </a:pathLst>
          </a:custGeom>
          <a:blipFill>
            <a:blip r:embed="rId5"/>
            <a:stretch>
              <a:fillRect l="0" t="0" r="0" b="0"/>
            </a:stretch>
          </a:blipFill>
        </p:spPr>
      </p:sp>
      <p:sp>
        <p:nvSpPr>
          <p:cNvPr name="Freeform 11" id="11"/>
          <p:cNvSpPr/>
          <p:nvPr/>
        </p:nvSpPr>
        <p:spPr>
          <a:xfrm flipH="false" flipV="false" rot="0">
            <a:off x="5223149" y="3929740"/>
            <a:ext cx="3643471" cy="3794911"/>
          </a:xfrm>
          <a:custGeom>
            <a:avLst/>
            <a:gdLst/>
            <a:ahLst/>
            <a:cxnLst/>
            <a:rect r="r" b="b" t="t" l="l"/>
            <a:pathLst>
              <a:path h="3794911" w="3643471">
                <a:moveTo>
                  <a:pt x="0" y="0"/>
                </a:moveTo>
                <a:lnTo>
                  <a:pt x="3643471" y="0"/>
                </a:lnTo>
                <a:lnTo>
                  <a:pt x="3643471" y="3794911"/>
                </a:lnTo>
                <a:lnTo>
                  <a:pt x="0" y="3794911"/>
                </a:lnTo>
                <a:lnTo>
                  <a:pt x="0" y="0"/>
                </a:lnTo>
                <a:close/>
              </a:path>
            </a:pathLst>
          </a:custGeom>
          <a:blipFill>
            <a:blip r:embed="rId6"/>
            <a:stretch>
              <a:fillRect l="0" t="0" r="0" b="0"/>
            </a:stretch>
          </a:blipFill>
        </p:spPr>
      </p:sp>
      <p:sp>
        <p:nvSpPr>
          <p:cNvPr name="TextBox 12" id="12"/>
          <p:cNvSpPr txBox="true"/>
          <p:nvPr/>
        </p:nvSpPr>
        <p:spPr>
          <a:xfrm rot="0">
            <a:off x="10884797" y="2244409"/>
            <a:ext cx="4360254" cy="679450"/>
          </a:xfrm>
          <a:prstGeom prst="rect">
            <a:avLst/>
          </a:prstGeom>
        </p:spPr>
        <p:txBody>
          <a:bodyPr anchor="t" rtlCol="false" tIns="0" lIns="0" bIns="0" rIns="0">
            <a:spAutoFit/>
          </a:bodyPr>
          <a:lstStyle/>
          <a:p>
            <a:pPr algn="l">
              <a:lnSpc>
                <a:spcPts val="5599"/>
              </a:lnSpc>
            </a:pPr>
            <a:r>
              <a:rPr lang="en-US" sz="3999">
                <a:solidFill>
                  <a:srgbClr val="004AAD"/>
                </a:solidFill>
                <a:latin typeface="League Spartan"/>
                <a:ea typeface="League Spartan"/>
                <a:cs typeface="League Spartan"/>
                <a:sym typeface="League Spartan"/>
              </a:rPr>
              <a:t>CONTEXT MENU </a:t>
            </a:r>
          </a:p>
        </p:txBody>
      </p:sp>
      <p:sp>
        <p:nvSpPr>
          <p:cNvPr name="TextBox 13" id="13"/>
          <p:cNvSpPr txBox="true"/>
          <p:nvPr/>
        </p:nvSpPr>
        <p:spPr>
          <a:xfrm rot="0">
            <a:off x="9501630" y="3622731"/>
            <a:ext cx="7126589" cy="39465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000000"/>
                </a:solidFill>
                <a:latin typeface="Poppins Bold"/>
                <a:ea typeface="Poppins Bold"/>
                <a:cs typeface="Poppins Bold"/>
                <a:sym typeface="Poppins Bold"/>
              </a:rPr>
              <a:t>Context Menu (Menu Ngữ cảnh):</a:t>
            </a:r>
          </a:p>
          <a:p>
            <a:pPr algn="l" marL="1079499" indent="-359833" lvl="2">
              <a:lnSpc>
                <a:spcPts val="3499"/>
              </a:lnSpc>
              <a:buFont typeface="Arial"/>
              <a:buChar char="⚬"/>
            </a:pPr>
            <a:r>
              <a:rPr lang="en-US" sz="2499">
                <a:solidFill>
                  <a:srgbClr val="000000"/>
                </a:solidFill>
                <a:latin typeface="Poppins"/>
                <a:ea typeface="Poppins"/>
                <a:cs typeface="Poppins"/>
                <a:sym typeface="Poppins"/>
              </a:rPr>
              <a:t>Hoạt động: Xuất hiện khi nhấn giữ lâu trên một View.</a:t>
            </a:r>
          </a:p>
          <a:p>
            <a:pPr algn="l" marL="1079499" indent="-359833" lvl="2">
              <a:lnSpc>
                <a:spcPts val="3499"/>
              </a:lnSpc>
              <a:buFont typeface="Arial"/>
              <a:buChar char="⚬"/>
            </a:pPr>
            <a:r>
              <a:rPr lang="en-US" sz="2499">
                <a:solidFill>
                  <a:srgbClr val="000000"/>
                </a:solidFill>
                <a:latin typeface="Poppins"/>
                <a:ea typeface="Poppins"/>
                <a:cs typeface="Poppins"/>
                <a:sym typeface="Poppins"/>
              </a:rPr>
              <a:t>Đăng ký: Dùng </a:t>
            </a:r>
            <a:r>
              <a:rPr lang="en-US" sz="2499">
                <a:solidFill>
                  <a:srgbClr val="007A3F"/>
                </a:solidFill>
                <a:latin typeface="Poppins"/>
                <a:ea typeface="Poppins"/>
                <a:cs typeface="Poppins"/>
                <a:sym typeface="Poppins"/>
              </a:rPr>
              <a:t>registerForContextMenu(view)</a:t>
            </a:r>
            <a:r>
              <a:rPr lang="en-US" sz="2499">
                <a:solidFill>
                  <a:srgbClr val="000000"/>
                </a:solidFill>
                <a:latin typeface="Poppins"/>
                <a:ea typeface="Poppins"/>
                <a:cs typeface="Poppins"/>
                <a:sym typeface="Poppins"/>
              </a:rPr>
              <a:t>.</a:t>
            </a:r>
          </a:p>
          <a:p>
            <a:pPr algn="l" marL="1079499" indent="-359833" lvl="2">
              <a:lnSpc>
                <a:spcPts val="3499"/>
              </a:lnSpc>
              <a:buFont typeface="Arial"/>
              <a:buChar char="⚬"/>
            </a:pPr>
            <a:r>
              <a:rPr lang="en-US" sz="2499">
                <a:solidFill>
                  <a:srgbClr val="000000"/>
                </a:solidFill>
                <a:latin typeface="Poppins"/>
                <a:ea typeface="Poppins"/>
                <a:cs typeface="Poppins"/>
                <a:sym typeface="Poppins"/>
              </a:rPr>
              <a:t>Định nghĩa: Ghi đè </a:t>
            </a:r>
            <a:r>
              <a:rPr lang="en-US" sz="2499">
                <a:solidFill>
                  <a:srgbClr val="007A3F"/>
                </a:solidFill>
                <a:latin typeface="Poppins"/>
                <a:ea typeface="Poppins"/>
                <a:cs typeface="Poppins"/>
                <a:sym typeface="Poppins"/>
              </a:rPr>
              <a:t>onCreateContextMenu(...)</a:t>
            </a:r>
            <a:r>
              <a:rPr lang="en-US" sz="2499">
                <a:solidFill>
                  <a:srgbClr val="000000"/>
                </a:solidFill>
                <a:latin typeface="Poppins"/>
                <a:ea typeface="Poppins"/>
                <a:cs typeface="Poppins"/>
                <a:sym typeface="Poppins"/>
              </a:rPr>
              <a:t>.</a:t>
            </a:r>
          </a:p>
          <a:p>
            <a:pPr algn="l" marL="1079499" indent="-359833" lvl="2">
              <a:lnSpc>
                <a:spcPts val="3499"/>
              </a:lnSpc>
              <a:spcBef>
                <a:spcPct val="0"/>
              </a:spcBef>
              <a:buFont typeface="Arial"/>
              <a:buChar char="⚬"/>
            </a:pPr>
            <a:r>
              <a:rPr lang="en-US" sz="2499">
                <a:solidFill>
                  <a:srgbClr val="000000"/>
                </a:solidFill>
                <a:latin typeface="Poppins"/>
                <a:ea typeface="Poppins"/>
                <a:cs typeface="Poppins"/>
                <a:sym typeface="Poppins"/>
              </a:rPr>
              <a:t>Xử lý: Ghi đè </a:t>
            </a:r>
            <a:r>
              <a:rPr lang="en-US" sz="2499">
                <a:solidFill>
                  <a:srgbClr val="007A3F"/>
                </a:solidFill>
                <a:latin typeface="Poppins"/>
                <a:ea typeface="Poppins"/>
                <a:cs typeface="Poppins"/>
                <a:sym typeface="Poppins"/>
              </a:rPr>
              <a:t>onContextItemSelected(...)</a:t>
            </a:r>
            <a:r>
              <a:rPr lang="en-US" sz="2499">
                <a:solidFill>
                  <a:srgbClr val="000000"/>
                </a:solidFill>
                <a:latin typeface="Poppins"/>
                <a:ea typeface="Poppins"/>
                <a:cs typeface="Poppins"/>
                <a:sym typeface="Poppins"/>
              </a:rPr>
              <a: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365638" y="925830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10281741" y="1045031"/>
            <a:ext cx="3210600" cy="4314557"/>
            <a:chOff x="0" y="0"/>
            <a:chExt cx="3663950" cy="4923790"/>
          </a:xfrm>
        </p:grpSpPr>
        <p:sp>
          <p:nvSpPr>
            <p:cNvPr name="Freeform 7" id="7"/>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0" t="-1271" r="0" b="-64311"/>
              </a:stretch>
            </a:blipFill>
          </p:spPr>
        </p:sp>
        <p:sp>
          <p:nvSpPr>
            <p:cNvPr name="Freeform 8" id="8"/>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sp>
        <p:nvSpPr>
          <p:cNvPr name="Freeform 9" id="9"/>
          <p:cNvSpPr/>
          <p:nvPr/>
        </p:nvSpPr>
        <p:spPr>
          <a:xfrm flipH="false" flipV="false" rot="0">
            <a:off x="1404669" y="7347440"/>
            <a:ext cx="8088214" cy="1910860"/>
          </a:xfrm>
          <a:custGeom>
            <a:avLst/>
            <a:gdLst/>
            <a:ahLst/>
            <a:cxnLst/>
            <a:rect r="r" b="b" t="t" l="l"/>
            <a:pathLst>
              <a:path h="1910860" w="8088214">
                <a:moveTo>
                  <a:pt x="0" y="0"/>
                </a:moveTo>
                <a:lnTo>
                  <a:pt x="8088214" y="0"/>
                </a:lnTo>
                <a:lnTo>
                  <a:pt x="8088214" y="1910860"/>
                </a:lnTo>
                <a:lnTo>
                  <a:pt x="0" y="1910860"/>
                </a:lnTo>
                <a:lnTo>
                  <a:pt x="0" y="0"/>
                </a:lnTo>
                <a:close/>
              </a:path>
            </a:pathLst>
          </a:custGeom>
          <a:blipFill>
            <a:blip r:embed="rId4"/>
            <a:stretch>
              <a:fillRect l="0" t="-175" r="0" b="-175"/>
            </a:stretch>
          </a:blipFill>
        </p:spPr>
      </p:sp>
      <p:sp>
        <p:nvSpPr>
          <p:cNvPr name="Freeform 10" id="10"/>
          <p:cNvSpPr/>
          <p:nvPr/>
        </p:nvSpPr>
        <p:spPr>
          <a:xfrm flipH="false" flipV="false" rot="0">
            <a:off x="9837309" y="7693295"/>
            <a:ext cx="8085859" cy="1565005"/>
          </a:xfrm>
          <a:custGeom>
            <a:avLst/>
            <a:gdLst/>
            <a:ahLst/>
            <a:cxnLst/>
            <a:rect r="r" b="b" t="t" l="l"/>
            <a:pathLst>
              <a:path h="1565005" w="8085859">
                <a:moveTo>
                  <a:pt x="0" y="0"/>
                </a:moveTo>
                <a:lnTo>
                  <a:pt x="8085859" y="0"/>
                </a:lnTo>
                <a:lnTo>
                  <a:pt x="8085859" y="1565005"/>
                </a:lnTo>
                <a:lnTo>
                  <a:pt x="0" y="1565005"/>
                </a:lnTo>
                <a:lnTo>
                  <a:pt x="0" y="0"/>
                </a:lnTo>
                <a:close/>
              </a:path>
            </a:pathLst>
          </a:custGeom>
          <a:blipFill>
            <a:blip r:embed="rId5"/>
            <a:stretch>
              <a:fillRect l="0" t="0" r="0" b="0"/>
            </a:stretch>
          </a:blipFill>
        </p:spPr>
      </p:sp>
      <p:sp>
        <p:nvSpPr>
          <p:cNvPr name="Freeform 11" id="11"/>
          <p:cNvSpPr/>
          <p:nvPr/>
        </p:nvSpPr>
        <p:spPr>
          <a:xfrm flipH="false" flipV="false" rot="0">
            <a:off x="13649082" y="1528009"/>
            <a:ext cx="4141213" cy="3615491"/>
          </a:xfrm>
          <a:custGeom>
            <a:avLst/>
            <a:gdLst/>
            <a:ahLst/>
            <a:cxnLst/>
            <a:rect r="r" b="b" t="t" l="l"/>
            <a:pathLst>
              <a:path h="3615491" w="4141213">
                <a:moveTo>
                  <a:pt x="0" y="0"/>
                </a:moveTo>
                <a:lnTo>
                  <a:pt x="4141213" y="0"/>
                </a:lnTo>
                <a:lnTo>
                  <a:pt x="4141213" y="3615491"/>
                </a:lnTo>
                <a:lnTo>
                  <a:pt x="0" y="3615491"/>
                </a:lnTo>
                <a:lnTo>
                  <a:pt x="0" y="0"/>
                </a:lnTo>
                <a:close/>
              </a:path>
            </a:pathLst>
          </a:custGeom>
          <a:blipFill>
            <a:blip r:embed="rId6"/>
            <a:stretch>
              <a:fillRect l="0" t="0" r="0" b="0"/>
            </a:stretch>
          </a:blipFill>
        </p:spPr>
      </p:sp>
      <p:sp>
        <p:nvSpPr>
          <p:cNvPr name="Freeform 12" id="12"/>
          <p:cNvSpPr/>
          <p:nvPr/>
        </p:nvSpPr>
        <p:spPr>
          <a:xfrm flipH="false" flipV="false" rot="0">
            <a:off x="10279904" y="5605982"/>
            <a:ext cx="7510391" cy="1334333"/>
          </a:xfrm>
          <a:custGeom>
            <a:avLst/>
            <a:gdLst/>
            <a:ahLst/>
            <a:cxnLst/>
            <a:rect r="r" b="b" t="t" l="l"/>
            <a:pathLst>
              <a:path h="1334333" w="7510391">
                <a:moveTo>
                  <a:pt x="0" y="0"/>
                </a:moveTo>
                <a:lnTo>
                  <a:pt x="7510391" y="0"/>
                </a:lnTo>
                <a:lnTo>
                  <a:pt x="7510391" y="1334333"/>
                </a:lnTo>
                <a:lnTo>
                  <a:pt x="0" y="1334333"/>
                </a:lnTo>
                <a:lnTo>
                  <a:pt x="0" y="0"/>
                </a:lnTo>
                <a:close/>
              </a:path>
            </a:pathLst>
          </a:custGeom>
          <a:blipFill>
            <a:blip r:embed="rId7"/>
            <a:stretch>
              <a:fillRect l="0" t="0" r="0" b="0"/>
            </a:stretch>
          </a:blipFill>
        </p:spPr>
      </p:sp>
      <p:sp>
        <p:nvSpPr>
          <p:cNvPr name="TextBox 13" id="13"/>
          <p:cNvSpPr txBox="true"/>
          <p:nvPr/>
        </p:nvSpPr>
        <p:spPr>
          <a:xfrm rot="0">
            <a:off x="1028700" y="2278285"/>
            <a:ext cx="8464183" cy="1384300"/>
          </a:xfrm>
          <a:prstGeom prst="rect">
            <a:avLst/>
          </a:prstGeom>
        </p:spPr>
        <p:txBody>
          <a:bodyPr anchor="t" rtlCol="false" tIns="0" lIns="0" bIns="0" rIns="0">
            <a:spAutoFit/>
          </a:bodyPr>
          <a:lstStyle/>
          <a:p>
            <a:pPr algn="l">
              <a:lnSpc>
                <a:spcPts val="5599"/>
              </a:lnSpc>
            </a:pPr>
            <a:r>
              <a:rPr lang="en-US" sz="3999">
                <a:solidFill>
                  <a:srgbClr val="004AAD"/>
                </a:solidFill>
                <a:latin typeface="League Spartan"/>
                <a:ea typeface="League Spartan"/>
                <a:cs typeface="League Spartan"/>
                <a:sym typeface="League Spartan"/>
              </a:rPr>
              <a:t> CONTEXTUAL ACTION MODE (CAM)</a:t>
            </a:r>
          </a:p>
        </p:txBody>
      </p:sp>
      <p:sp>
        <p:nvSpPr>
          <p:cNvPr name="TextBox 14" id="14"/>
          <p:cNvSpPr txBox="true"/>
          <p:nvPr/>
        </p:nvSpPr>
        <p:spPr>
          <a:xfrm rot="0">
            <a:off x="1028700" y="3843208"/>
            <a:ext cx="9253041" cy="2975610"/>
          </a:xfrm>
          <a:prstGeom prst="rect">
            <a:avLst/>
          </a:prstGeom>
        </p:spPr>
        <p:txBody>
          <a:bodyPr anchor="t" rtlCol="false" tIns="0" lIns="0" bIns="0" rIns="0">
            <a:spAutoFit/>
          </a:bodyPr>
          <a:lstStyle/>
          <a:p>
            <a:pPr algn="l" marL="453390" indent="-226695" lvl="1">
              <a:lnSpc>
                <a:spcPts val="2940"/>
              </a:lnSpc>
              <a:buFont typeface="Arial"/>
              <a:buChar char="•"/>
            </a:pPr>
            <a:r>
              <a:rPr lang="en-US" b="true" sz="2100">
                <a:solidFill>
                  <a:srgbClr val="000000"/>
                </a:solidFill>
                <a:latin typeface="Poppins Bold"/>
                <a:ea typeface="Poppins Bold"/>
                <a:cs typeface="Poppins Bold"/>
                <a:sym typeface="Poppins Bold"/>
              </a:rPr>
              <a:t>Contextual Action Mode (CAM):</a:t>
            </a:r>
          </a:p>
          <a:p>
            <a:pPr algn="l" marL="906780" indent="-302260" lvl="2">
              <a:lnSpc>
                <a:spcPts val="2940"/>
              </a:lnSpc>
              <a:buFont typeface="Arial"/>
              <a:buChar char="⚬"/>
            </a:pPr>
            <a:r>
              <a:rPr lang="en-US" sz="2100">
                <a:solidFill>
                  <a:srgbClr val="000000"/>
                </a:solidFill>
                <a:latin typeface="Poppins"/>
                <a:ea typeface="Poppins"/>
                <a:cs typeface="Poppins"/>
                <a:sym typeface="Poppins"/>
              </a:rPr>
              <a:t>Mục đích: Cung cấp Thanh Ứng Dụng Ngữ Cảnh riêng biệt (ví dụ: chọn nhiều email để xóa/đánh dấu).</a:t>
            </a:r>
          </a:p>
          <a:p>
            <a:pPr algn="l" marL="906780" indent="-302260" lvl="2">
              <a:lnSpc>
                <a:spcPts val="2940"/>
              </a:lnSpc>
              <a:buFont typeface="Arial"/>
              <a:buChar char="⚬"/>
            </a:pPr>
            <a:r>
              <a:rPr lang="en-US" sz="2100">
                <a:solidFill>
                  <a:srgbClr val="000000"/>
                </a:solidFill>
                <a:latin typeface="Poppins"/>
                <a:ea typeface="Poppins"/>
                <a:cs typeface="Poppins"/>
                <a:sym typeface="Poppins"/>
              </a:rPr>
              <a:t>Triển khai:</a:t>
            </a:r>
          </a:p>
          <a:p>
            <a:pPr algn="l" marL="1360170" indent="-340042" lvl="3">
              <a:lnSpc>
                <a:spcPts val="2940"/>
              </a:lnSpc>
              <a:buFont typeface="Arial"/>
              <a:buChar char="￭"/>
            </a:pPr>
            <a:r>
              <a:rPr lang="en-US" sz="2100">
                <a:solidFill>
                  <a:srgbClr val="000000"/>
                </a:solidFill>
                <a:latin typeface="Poppins"/>
                <a:ea typeface="Poppins"/>
                <a:cs typeface="Poppins"/>
                <a:sym typeface="Poppins"/>
              </a:rPr>
              <a:t>Gọi </a:t>
            </a:r>
            <a:r>
              <a:rPr lang="en-US" sz="2100">
                <a:solidFill>
                  <a:srgbClr val="007A3F"/>
                </a:solidFill>
                <a:latin typeface="Poppins"/>
                <a:ea typeface="Poppins"/>
                <a:cs typeface="Poppins"/>
                <a:sym typeface="Poppins"/>
              </a:rPr>
              <a:t>ActionMode.Callback</a:t>
            </a:r>
            <a:r>
              <a:rPr lang="en-US" sz="2100">
                <a:solidFill>
                  <a:srgbClr val="000000"/>
                </a:solidFill>
                <a:latin typeface="Poppins"/>
                <a:ea typeface="Poppins"/>
                <a:cs typeface="Poppins"/>
                <a:sym typeface="Poppins"/>
              </a:rPr>
              <a:t>. khi ActionMode được tạo lần đầu</a:t>
            </a:r>
          </a:p>
          <a:p>
            <a:pPr algn="l" marL="1360170" indent="-340042" lvl="3">
              <a:lnSpc>
                <a:spcPts val="2940"/>
              </a:lnSpc>
              <a:buFont typeface="Arial"/>
              <a:buChar char="￭"/>
            </a:pPr>
            <a:r>
              <a:rPr lang="en-US" sz="2100">
                <a:solidFill>
                  <a:srgbClr val="000000"/>
                </a:solidFill>
                <a:latin typeface="Poppins"/>
                <a:ea typeface="Poppins"/>
                <a:cs typeface="Poppins"/>
                <a:sym typeface="Poppins"/>
              </a:rPr>
              <a:t>Trong </a:t>
            </a:r>
            <a:r>
              <a:rPr lang="en-US" sz="2100">
                <a:solidFill>
                  <a:srgbClr val="007A3F"/>
                </a:solidFill>
                <a:latin typeface="Poppins"/>
                <a:ea typeface="Poppins"/>
                <a:cs typeface="Poppins"/>
                <a:sym typeface="Poppins"/>
              </a:rPr>
              <a:t>onCreateActionMode(...)</a:t>
            </a:r>
            <a:r>
              <a:rPr lang="en-US" sz="2100">
                <a:solidFill>
                  <a:srgbClr val="000000"/>
                </a:solidFill>
                <a:latin typeface="Poppins"/>
                <a:ea typeface="Poppins"/>
                <a:cs typeface="Poppins"/>
                <a:sym typeface="Poppins"/>
              </a:rPr>
              <a:t>, tạo menu</a:t>
            </a:r>
          </a:p>
          <a:p>
            <a:pPr algn="l" marL="1360170" indent="-340042" lvl="3">
              <a:lnSpc>
                <a:spcPts val="2940"/>
              </a:lnSpc>
              <a:buFont typeface="Arial"/>
              <a:buChar char="￭"/>
            </a:pPr>
            <a:r>
              <a:rPr lang="en-US" sz="2100">
                <a:solidFill>
                  <a:srgbClr val="000000"/>
                </a:solidFill>
                <a:latin typeface="Poppins"/>
                <a:ea typeface="Poppins"/>
                <a:cs typeface="Poppins"/>
                <a:sym typeface="Poppins"/>
              </a:rPr>
              <a:t>Trong </a:t>
            </a:r>
            <a:r>
              <a:rPr lang="en-US" sz="2100">
                <a:solidFill>
                  <a:srgbClr val="007A3F"/>
                </a:solidFill>
                <a:latin typeface="Poppins"/>
                <a:ea typeface="Poppins"/>
                <a:cs typeface="Poppins"/>
                <a:sym typeface="Poppins"/>
              </a:rPr>
              <a:t>onActionItemClicked(...)</a:t>
            </a:r>
            <a:r>
              <a:rPr lang="en-US" sz="2100">
                <a:solidFill>
                  <a:srgbClr val="000000"/>
                </a:solidFill>
                <a:latin typeface="Poppins"/>
                <a:ea typeface="Poppins"/>
                <a:cs typeface="Poppins"/>
                <a:sym typeface="Poppins"/>
              </a:rPr>
              <a:t>, xử lí các sự kiện click</a:t>
            </a:r>
          </a:p>
          <a:p>
            <a:pPr algn="l" marL="1360170" indent="-340042" lvl="3">
              <a:lnSpc>
                <a:spcPts val="2940"/>
              </a:lnSpc>
              <a:spcBef>
                <a:spcPct val="0"/>
              </a:spcBef>
              <a:buFont typeface="Arial"/>
              <a:buChar char="￭"/>
            </a:pPr>
            <a:r>
              <a:rPr lang="en-US" sz="2100">
                <a:solidFill>
                  <a:srgbClr val="000000"/>
                </a:solidFill>
                <a:latin typeface="Poppins"/>
                <a:ea typeface="Poppins"/>
                <a:cs typeface="Poppins"/>
                <a:sym typeface="Poppins"/>
              </a:rPr>
              <a:t>Gọi </a:t>
            </a:r>
            <a:r>
              <a:rPr lang="en-US" sz="2100">
                <a:solidFill>
                  <a:srgbClr val="007A3F"/>
                </a:solidFill>
                <a:latin typeface="Poppins"/>
                <a:ea typeface="Poppins"/>
                <a:cs typeface="Poppins"/>
                <a:sym typeface="Poppins"/>
              </a:rPr>
              <a:t>startActionMode(theActionModeCallback)</a:t>
            </a:r>
            <a:r>
              <a:rPr lang="en-US" sz="2100">
                <a:solidFill>
                  <a:srgbClr val="000000"/>
                </a:solidFill>
                <a:latin typeface="Poppins"/>
                <a:ea typeface="Poppins"/>
                <a:cs typeface="Poppins"/>
                <a:sym typeface="Poppins"/>
              </a:rPr>
              <a: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a:grpSpLocks noChangeAspect="true"/>
          </p:cNvGrpSpPr>
          <p:nvPr/>
        </p:nvGrpSpPr>
        <p:grpSpPr>
          <a:xfrm rot="0">
            <a:off x="7467458" y="657431"/>
            <a:ext cx="4505193" cy="6054293"/>
            <a:chOff x="0" y="0"/>
            <a:chExt cx="3663950" cy="4923790"/>
          </a:xfrm>
        </p:grpSpPr>
        <p:sp>
          <p:nvSpPr>
            <p:cNvPr name="Freeform 7" id="7"/>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0" t="-41884" r="0" b="-21868"/>
              </a:stretch>
            </a:blipFill>
          </p:spPr>
        </p:sp>
        <p:sp>
          <p:nvSpPr>
            <p:cNvPr name="Freeform 8" id="8"/>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sp>
        <p:nvSpPr>
          <p:cNvPr name="Freeform 9" id="9"/>
          <p:cNvSpPr/>
          <p:nvPr/>
        </p:nvSpPr>
        <p:spPr>
          <a:xfrm flipH="false" flipV="false" rot="0">
            <a:off x="7467458" y="7653819"/>
            <a:ext cx="8662195" cy="780818"/>
          </a:xfrm>
          <a:custGeom>
            <a:avLst/>
            <a:gdLst/>
            <a:ahLst/>
            <a:cxnLst/>
            <a:rect r="r" b="b" t="t" l="l"/>
            <a:pathLst>
              <a:path h="780818" w="8662195">
                <a:moveTo>
                  <a:pt x="0" y="0"/>
                </a:moveTo>
                <a:lnTo>
                  <a:pt x="8662194" y="0"/>
                </a:lnTo>
                <a:lnTo>
                  <a:pt x="8662194" y="780817"/>
                </a:lnTo>
                <a:lnTo>
                  <a:pt x="0" y="780817"/>
                </a:lnTo>
                <a:lnTo>
                  <a:pt x="0" y="0"/>
                </a:lnTo>
                <a:close/>
              </a:path>
            </a:pathLst>
          </a:custGeom>
          <a:blipFill>
            <a:blip r:embed="rId4"/>
            <a:stretch>
              <a:fillRect l="0" t="0" r="0" b="0"/>
            </a:stretch>
          </a:blipFill>
        </p:spPr>
      </p:sp>
      <p:sp>
        <p:nvSpPr>
          <p:cNvPr name="Freeform 10" id="10"/>
          <p:cNvSpPr/>
          <p:nvPr/>
        </p:nvSpPr>
        <p:spPr>
          <a:xfrm flipH="false" flipV="false" rot="0">
            <a:off x="12772751" y="2272080"/>
            <a:ext cx="5030022" cy="4439644"/>
          </a:xfrm>
          <a:custGeom>
            <a:avLst/>
            <a:gdLst/>
            <a:ahLst/>
            <a:cxnLst/>
            <a:rect r="r" b="b" t="t" l="l"/>
            <a:pathLst>
              <a:path h="4439644" w="5030022">
                <a:moveTo>
                  <a:pt x="0" y="0"/>
                </a:moveTo>
                <a:lnTo>
                  <a:pt x="5030022" y="0"/>
                </a:lnTo>
                <a:lnTo>
                  <a:pt x="5030022" y="4439644"/>
                </a:lnTo>
                <a:lnTo>
                  <a:pt x="0" y="4439644"/>
                </a:lnTo>
                <a:lnTo>
                  <a:pt x="0" y="0"/>
                </a:lnTo>
                <a:close/>
              </a:path>
            </a:pathLst>
          </a:custGeom>
          <a:blipFill>
            <a:blip r:embed="rId5"/>
            <a:stretch>
              <a:fillRect l="0" t="0" r="0" b="0"/>
            </a:stretch>
          </a:blipFill>
        </p:spPr>
      </p:sp>
      <p:sp>
        <p:nvSpPr>
          <p:cNvPr name="TextBox 11" id="11"/>
          <p:cNvSpPr txBox="true"/>
          <p:nvPr/>
        </p:nvSpPr>
        <p:spPr>
          <a:xfrm rot="0">
            <a:off x="1028700" y="939121"/>
            <a:ext cx="4243380" cy="1855758"/>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POP-UP MENUS</a:t>
            </a:r>
          </a:p>
        </p:txBody>
      </p:sp>
      <p:sp>
        <p:nvSpPr>
          <p:cNvPr name="TextBox 12" id="12"/>
          <p:cNvSpPr txBox="true"/>
          <p:nvPr/>
        </p:nvSpPr>
        <p:spPr>
          <a:xfrm rot="0">
            <a:off x="753855" y="2860353"/>
            <a:ext cx="5909419" cy="5574283"/>
          </a:xfrm>
          <a:prstGeom prst="rect">
            <a:avLst/>
          </a:prstGeom>
        </p:spPr>
        <p:txBody>
          <a:bodyPr anchor="t" rtlCol="false" tIns="0" lIns="0" bIns="0" rIns="0">
            <a:spAutoFit/>
          </a:bodyPr>
          <a:lstStyle/>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Mục đích</a:t>
            </a:r>
            <a:r>
              <a:rPr lang="en-US" sz="2125">
                <a:solidFill>
                  <a:srgbClr val="000000"/>
                </a:solidFill>
                <a:latin typeface="Poppins"/>
                <a:ea typeface="Poppins"/>
                <a:cs typeface="Poppins"/>
                <a:sym typeface="Poppins"/>
              </a:rPr>
              <a:t>: Được khuyến nghị cho các menu thuộc quy trình công việc giao diện người dùng (frontend workflow).</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Khác biệt</a:t>
            </a:r>
            <a:r>
              <a:rPr lang="en-US" sz="2125">
                <a:solidFill>
                  <a:srgbClr val="000000"/>
                </a:solidFill>
                <a:latin typeface="Poppins"/>
                <a:ea typeface="Poppins"/>
                <a:cs typeface="Poppins"/>
                <a:sym typeface="Poppins"/>
              </a:rPr>
              <a:t>: Khác với Context Menu (thường dùng cho cài đặt ít thay đổi).</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Hoạt động</a:t>
            </a:r>
            <a:r>
              <a:rPr lang="en-US" sz="2125">
                <a:solidFill>
                  <a:srgbClr val="000000"/>
                </a:solidFill>
                <a:latin typeface="Poppins"/>
                <a:ea typeface="Poppins"/>
                <a:cs typeface="Poppins"/>
                <a:sym typeface="Poppins"/>
              </a:rPr>
              <a:t>: Thường hiển thị sau khi người dùng tương tác với một View nhất định.</a:t>
            </a:r>
          </a:p>
          <a:p>
            <a:pPr algn="l" marL="458997" indent="-229499" lvl="1">
              <a:lnSpc>
                <a:spcPts val="2976"/>
              </a:lnSpc>
              <a:buFont typeface="Arial"/>
              <a:buChar char="•"/>
            </a:pPr>
            <a:r>
              <a:rPr lang="en-US" b="true" sz="2125">
                <a:solidFill>
                  <a:srgbClr val="000000"/>
                </a:solidFill>
                <a:latin typeface="Poppins Bold"/>
                <a:ea typeface="Poppins Bold"/>
                <a:cs typeface="Poppins Bold"/>
                <a:sym typeface="Poppins Bold"/>
              </a:rPr>
              <a:t>Tạo và Hiển thị</a:t>
            </a:r>
            <a:r>
              <a:rPr lang="en-US" sz="2125">
                <a:solidFill>
                  <a:srgbClr val="000000"/>
                </a:solidFill>
                <a:latin typeface="Poppins"/>
                <a:ea typeface="Poppins"/>
                <a:cs typeface="Poppins"/>
                <a:sym typeface="Poppins"/>
              </a:rPr>
              <a:t>:</a:t>
            </a:r>
          </a:p>
          <a:p>
            <a:pPr algn="l" marL="917995" indent="-305998" lvl="2">
              <a:lnSpc>
                <a:spcPts val="2976"/>
              </a:lnSpc>
              <a:buFont typeface="Arial"/>
              <a:buChar char="⚬"/>
            </a:pPr>
            <a:r>
              <a:rPr lang="en-US" sz="2125">
                <a:solidFill>
                  <a:srgbClr val="000000"/>
                </a:solidFill>
                <a:latin typeface="Poppins"/>
                <a:ea typeface="Poppins"/>
                <a:cs typeface="Poppins"/>
                <a:sym typeface="Poppins"/>
              </a:rPr>
              <a:t>Khởi tạo: </a:t>
            </a:r>
            <a:r>
              <a:rPr lang="en-US" sz="2125">
                <a:solidFill>
                  <a:srgbClr val="007A3F"/>
                </a:solidFill>
                <a:latin typeface="Poppins"/>
                <a:ea typeface="Poppins"/>
                <a:cs typeface="Poppins"/>
                <a:sym typeface="Poppins"/>
              </a:rPr>
              <a:t>PopupMenu(this, v)</a:t>
            </a:r>
            <a:r>
              <a:rPr lang="en-US" sz="2125">
                <a:solidFill>
                  <a:srgbClr val="000000"/>
                </a:solidFill>
                <a:latin typeface="Poppins"/>
                <a:ea typeface="Poppins"/>
                <a:cs typeface="Poppins"/>
                <a:sym typeface="Poppins"/>
              </a:rPr>
              <a:t> (trong đó v là View neo menu).</a:t>
            </a:r>
          </a:p>
          <a:p>
            <a:pPr algn="l" marL="917995" indent="-305998" lvl="2">
              <a:lnSpc>
                <a:spcPts val="2976"/>
              </a:lnSpc>
              <a:buFont typeface="Arial"/>
              <a:buChar char="⚬"/>
            </a:pPr>
            <a:r>
              <a:rPr lang="en-US" sz="2125">
                <a:solidFill>
                  <a:srgbClr val="000000"/>
                </a:solidFill>
                <a:latin typeface="Poppins"/>
                <a:ea typeface="Poppins"/>
                <a:cs typeface="Poppins"/>
                <a:sym typeface="Poppins"/>
              </a:rPr>
              <a:t>Thiết lập Listener: Dùng </a:t>
            </a:r>
            <a:r>
              <a:rPr lang="en-US" sz="2125">
                <a:solidFill>
                  <a:srgbClr val="007A3F"/>
                </a:solidFill>
                <a:latin typeface="Poppins"/>
                <a:ea typeface="Poppins"/>
                <a:cs typeface="Poppins"/>
                <a:sym typeface="Poppins"/>
              </a:rPr>
              <a:t>setOnMenuItemClickListener </a:t>
            </a:r>
            <a:r>
              <a:rPr lang="en-US" sz="2125">
                <a:solidFill>
                  <a:srgbClr val="000000"/>
                </a:solidFill>
                <a:latin typeface="Poppins"/>
                <a:ea typeface="Poppins"/>
                <a:cs typeface="Poppins"/>
                <a:sym typeface="Poppins"/>
              </a:rPr>
              <a:t>để phản ứng với việc chọn mục menu.</a:t>
            </a:r>
          </a:p>
          <a:p>
            <a:pPr algn="l">
              <a:lnSpc>
                <a:spcPts val="297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792707" cy="10287000"/>
            <a:chOff x="0" y="0"/>
            <a:chExt cx="1789026" cy="2709333"/>
          </a:xfrm>
        </p:grpSpPr>
        <p:sp>
          <p:nvSpPr>
            <p:cNvPr name="Freeform 4" id="4"/>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004AAD"/>
            </a:solidFill>
          </p:spPr>
        </p:sp>
        <p:sp>
          <p:nvSpPr>
            <p:cNvPr name="TextBox 5" id="5"/>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316474" y="8630505"/>
            <a:ext cx="897167" cy="2183545"/>
            <a:chOff x="0" y="0"/>
            <a:chExt cx="236291" cy="575090"/>
          </a:xfrm>
        </p:grpSpPr>
        <p:sp>
          <p:nvSpPr>
            <p:cNvPr name="Freeform 7" id="7"/>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8" id="8"/>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grpSp>
        <p:nvGrpSpPr>
          <p:cNvPr name="Group 9" id="9"/>
          <p:cNvGrpSpPr>
            <a:grpSpLocks noChangeAspect="true"/>
          </p:cNvGrpSpPr>
          <p:nvPr/>
        </p:nvGrpSpPr>
        <p:grpSpPr>
          <a:xfrm rot="0">
            <a:off x="9546917" y="814666"/>
            <a:ext cx="5747821" cy="7724195"/>
            <a:chOff x="0" y="0"/>
            <a:chExt cx="3663950" cy="4923790"/>
          </a:xfrm>
        </p:grpSpPr>
        <p:sp>
          <p:nvSpPr>
            <p:cNvPr name="Freeform 10" id="10"/>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0" t="0" r="0" b="-47965"/>
              </a:stretch>
            </a:blipFill>
          </p:spPr>
        </p:sp>
        <p:sp>
          <p:nvSpPr>
            <p:cNvPr name="Freeform 11" id="11"/>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sp>
        <p:nvSpPr>
          <p:cNvPr name="TextBox 12" id="12"/>
          <p:cNvSpPr txBox="true"/>
          <p:nvPr/>
        </p:nvSpPr>
        <p:spPr>
          <a:xfrm rot="0">
            <a:off x="709411" y="588435"/>
            <a:ext cx="4243380" cy="794772"/>
          </a:xfrm>
          <a:prstGeom prst="rect">
            <a:avLst/>
          </a:prstGeom>
        </p:spPr>
        <p:txBody>
          <a:bodyPr anchor="t" rtlCol="false" tIns="0" lIns="0" bIns="0" rIns="0">
            <a:spAutoFit/>
          </a:bodyPr>
          <a:lstStyle/>
          <a:p>
            <a:pPr algn="l">
              <a:lnSpc>
                <a:spcPts val="6591"/>
              </a:lnSpc>
            </a:pPr>
            <a:r>
              <a:rPr lang="en-US" sz="4708">
                <a:solidFill>
                  <a:srgbClr val="FFFFFF"/>
                </a:solidFill>
                <a:latin typeface="League Spartan"/>
                <a:ea typeface="League Spartan"/>
                <a:cs typeface="League Spartan"/>
                <a:sym typeface="League Spartan"/>
              </a:rPr>
              <a:t>2.</a:t>
            </a:r>
          </a:p>
        </p:txBody>
      </p:sp>
      <p:sp>
        <p:nvSpPr>
          <p:cNvPr name="TextBox 13" id="13"/>
          <p:cNvSpPr txBox="true"/>
          <p:nvPr/>
        </p:nvSpPr>
        <p:spPr>
          <a:xfrm rot="0">
            <a:off x="709411" y="1268907"/>
            <a:ext cx="3965199" cy="2127052"/>
          </a:xfrm>
          <a:prstGeom prst="rect">
            <a:avLst/>
          </a:prstGeom>
        </p:spPr>
        <p:txBody>
          <a:bodyPr anchor="t" rtlCol="false" tIns="0" lIns="0" bIns="0" rIns="0">
            <a:spAutoFit/>
          </a:bodyPr>
          <a:lstStyle/>
          <a:p>
            <a:pPr algn="l">
              <a:lnSpc>
                <a:spcPts val="5599"/>
              </a:lnSpc>
            </a:pPr>
            <a:r>
              <a:rPr lang="en-US" b="true" sz="3999">
                <a:solidFill>
                  <a:srgbClr val="FFFFFF"/>
                </a:solidFill>
                <a:latin typeface="Poppins Bold"/>
                <a:ea typeface="Poppins Bold"/>
                <a:cs typeface="Poppins Bold"/>
                <a:sym typeface="Poppins Bold"/>
              </a:rPr>
              <a:t>TABLAYOUT VÀ ĐIỀU HƯỚNG BẰNG TAB</a:t>
            </a:r>
          </a:p>
        </p:txBody>
      </p:sp>
      <p:sp>
        <p:nvSpPr>
          <p:cNvPr name="TextBox 14" id="14"/>
          <p:cNvSpPr txBox="true"/>
          <p:nvPr/>
        </p:nvSpPr>
        <p:spPr>
          <a:xfrm rot="0">
            <a:off x="579067" y="3418103"/>
            <a:ext cx="5634574" cy="1117377"/>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FFFFFF"/>
                </a:solidFill>
                <a:latin typeface="Poppins"/>
                <a:ea typeface="Poppins"/>
                <a:cs typeface="Poppins"/>
                <a:sym typeface="Poppins"/>
              </a:rPr>
              <a:t>Định nghĩa: Thành phần Material Design dùng để tạo giao diện điều hướng bằng các tab.</a:t>
            </a:r>
          </a:p>
        </p:txBody>
      </p:sp>
      <p:sp>
        <p:nvSpPr>
          <p:cNvPr name="TextBox 15" id="15"/>
          <p:cNvSpPr txBox="true"/>
          <p:nvPr/>
        </p:nvSpPr>
        <p:spPr>
          <a:xfrm rot="0">
            <a:off x="579067" y="4619614"/>
            <a:ext cx="5843979" cy="1860195"/>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FFFFFF"/>
                </a:solidFill>
                <a:latin typeface="Poppins"/>
                <a:ea typeface="Poppins"/>
                <a:cs typeface="Poppins"/>
                <a:sym typeface="Poppins"/>
              </a:rPr>
              <a:t>Mục đích sử dụng:</a:t>
            </a:r>
          </a:p>
          <a:p>
            <a:pPr algn="l" marL="917995" indent="-305998" lvl="2">
              <a:lnSpc>
                <a:spcPts val="2976"/>
              </a:lnSpc>
              <a:buFont typeface="Arial"/>
              <a:buChar char="⚬"/>
            </a:pPr>
            <a:r>
              <a:rPr lang="en-US" sz="2125">
                <a:solidFill>
                  <a:srgbClr val="FFFFFF"/>
                </a:solidFill>
                <a:latin typeface="Poppins"/>
                <a:ea typeface="Poppins"/>
                <a:cs typeface="Poppins"/>
                <a:sym typeface="Poppins"/>
              </a:rPr>
              <a:t>Phân chia các nhóm nội dung có liên quan.</a:t>
            </a:r>
          </a:p>
          <a:p>
            <a:pPr algn="l" marL="917995" indent="-305998" lvl="2">
              <a:lnSpc>
                <a:spcPts val="2976"/>
              </a:lnSpc>
              <a:buFont typeface="Arial"/>
              <a:buChar char="⚬"/>
            </a:pPr>
            <a:r>
              <a:rPr lang="en-US" sz="2125">
                <a:solidFill>
                  <a:srgbClr val="FFFFFF"/>
                </a:solidFill>
                <a:latin typeface="Poppins"/>
                <a:ea typeface="Poppins"/>
                <a:cs typeface="Poppins"/>
                <a:sym typeface="Poppins"/>
              </a:rPr>
              <a:t>Giúp giao diện gọn gàng, khoa học.</a:t>
            </a:r>
          </a:p>
          <a:p>
            <a:pPr algn="l" marL="917995" indent="-305998" lvl="2">
              <a:lnSpc>
                <a:spcPts val="2976"/>
              </a:lnSpc>
              <a:spcBef>
                <a:spcPct val="0"/>
              </a:spcBef>
              <a:buFont typeface="Arial"/>
              <a:buChar char="⚬"/>
            </a:pPr>
            <a:r>
              <a:rPr lang="en-US" sz="2125">
                <a:solidFill>
                  <a:srgbClr val="FFFFFF"/>
                </a:solidFill>
                <a:latin typeface="Poppins"/>
                <a:ea typeface="Poppins"/>
                <a:cs typeface="Poppins"/>
                <a:sym typeface="Poppins"/>
              </a:rPr>
              <a:t>Tăng Trải nghiệm Người dùng (UX).</a:t>
            </a:r>
          </a:p>
        </p:txBody>
      </p:sp>
      <p:sp>
        <p:nvSpPr>
          <p:cNvPr name="TextBox 16" id="16"/>
          <p:cNvSpPr txBox="true"/>
          <p:nvPr/>
        </p:nvSpPr>
        <p:spPr>
          <a:xfrm rot="0">
            <a:off x="579067" y="6563942"/>
            <a:ext cx="5634574" cy="2232000"/>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FFFFFF"/>
                </a:solidFill>
                <a:latin typeface="Poppins"/>
                <a:ea typeface="Poppins"/>
                <a:cs typeface="Poppins"/>
                <a:sym typeface="Poppins"/>
              </a:rPr>
              <a:t>TabLayout thường đi kèm với ViewPager2 và Fragment.</a:t>
            </a:r>
          </a:p>
          <a:p>
            <a:pPr algn="l">
              <a:lnSpc>
                <a:spcPts val="2976"/>
              </a:lnSpc>
            </a:pPr>
            <a:r>
              <a:rPr lang="en-US" sz="2125">
                <a:solidFill>
                  <a:srgbClr val="FFFFFF"/>
                </a:solidFill>
                <a:latin typeface="Poppins"/>
                <a:ea typeface="Poppins"/>
                <a:cs typeface="Poppins"/>
                <a:sym typeface="Poppins"/>
              </a:rPr>
              <a:t>     → Cho phép người dùng chuyển đổi linh hoạt giữa các màn hình khác nhau bằng cách nhấn vào tab hoặc vuốt màn hình</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57175" y="4122702"/>
            <a:ext cx="18802350" cy="2006600"/>
            <a:chOff x="0" y="0"/>
            <a:chExt cx="4952059" cy="528487"/>
          </a:xfrm>
        </p:grpSpPr>
        <p:sp>
          <p:nvSpPr>
            <p:cNvPr name="Freeform 4" id="4"/>
            <p:cNvSpPr/>
            <p:nvPr/>
          </p:nvSpPr>
          <p:spPr>
            <a:xfrm flipH="false" flipV="false" rot="0">
              <a:off x="0" y="0"/>
              <a:ext cx="4952059" cy="528487"/>
            </a:xfrm>
            <a:custGeom>
              <a:avLst/>
              <a:gdLst/>
              <a:ahLst/>
              <a:cxnLst/>
              <a:rect r="r" b="b" t="t" l="l"/>
              <a:pathLst>
                <a:path h="528487" w="4952059">
                  <a:moveTo>
                    <a:pt x="20999" y="0"/>
                  </a:moveTo>
                  <a:lnTo>
                    <a:pt x="4931060" y="0"/>
                  </a:lnTo>
                  <a:cubicBezTo>
                    <a:pt x="4936629" y="0"/>
                    <a:pt x="4941970" y="2212"/>
                    <a:pt x="4945909" y="6151"/>
                  </a:cubicBezTo>
                  <a:cubicBezTo>
                    <a:pt x="4949847" y="10089"/>
                    <a:pt x="4952059" y="15430"/>
                    <a:pt x="4952059" y="20999"/>
                  </a:cubicBezTo>
                  <a:lnTo>
                    <a:pt x="4952059" y="507488"/>
                  </a:lnTo>
                  <a:cubicBezTo>
                    <a:pt x="4952059" y="519086"/>
                    <a:pt x="4942658" y="528487"/>
                    <a:pt x="4931060" y="528487"/>
                  </a:cubicBezTo>
                  <a:lnTo>
                    <a:pt x="20999" y="528487"/>
                  </a:lnTo>
                  <a:cubicBezTo>
                    <a:pt x="15430" y="528487"/>
                    <a:pt x="10089" y="526275"/>
                    <a:pt x="6151" y="522337"/>
                  </a:cubicBezTo>
                  <a:cubicBezTo>
                    <a:pt x="2212" y="518399"/>
                    <a:pt x="0" y="513057"/>
                    <a:pt x="0" y="507488"/>
                  </a:cubicBezTo>
                  <a:lnTo>
                    <a:pt x="0" y="20999"/>
                  </a:lnTo>
                  <a:cubicBezTo>
                    <a:pt x="0" y="15430"/>
                    <a:pt x="2212" y="10089"/>
                    <a:pt x="6151" y="6151"/>
                  </a:cubicBezTo>
                  <a:cubicBezTo>
                    <a:pt x="10089" y="2212"/>
                    <a:pt x="15430" y="0"/>
                    <a:pt x="20999" y="0"/>
                  </a:cubicBezTo>
                  <a:close/>
                </a:path>
              </a:pathLst>
            </a:custGeom>
            <a:solidFill>
              <a:srgbClr val="004AAD"/>
            </a:solidFill>
          </p:spPr>
        </p:sp>
        <p:sp>
          <p:nvSpPr>
            <p:cNvPr name="TextBox 5" id="5"/>
            <p:cNvSpPr txBox="true"/>
            <p:nvPr/>
          </p:nvSpPr>
          <p:spPr>
            <a:xfrm>
              <a:off x="0" y="-47625"/>
              <a:ext cx="4952059" cy="57611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833395" y="287414"/>
            <a:ext cx="8621211" cy="2027631"/>
          </a:xfrm>
          <a:prstGeom prst="rect">
            <a:avLst/>
          </a:prstGeom>
        </p:spPr>
        <p:txBody>
          <a:bodyPr anchor="t" rtlCol="false" tIns="0" lIns="0" bIns="0" rIns="0">
            <a:spAutoFit/>
          </a:bodyPr>
          <a:lstStyle/>
          <a:p>
            <a:pPr algn="ctr">
              <a:lnSpc>
                <a:spcPts val="7940"/>
              </a:lnSpc>
            </a:pPr>
            <a:r>
              <a:rPr lang="en-US" b="true" sz="5672">
                <a:solidFill>
                  <a:srgbClr val="004AAD"/>
                </a:solidFill>
                <a:latin typeface="Poppins Bold"/>
                <a:ea typeface="Poppins Bold"/>
                <a:cs typeface="Poppins Bold"/>
                <a:sym typeface="Poppins Bold"/>
              </a:rPr>
              <a:t>CẤU TRÚC HOẠT ĐỘNG CỦA TABLAYOUT</a:t>
            </a:r>
          </a:p>
        </p:txBody>
      </p:sp>
      <p:sp>
        <p:nvSpPr>
          <p:cNvPr name="TextBox 7" id="7"/>
          <p:cNvSpPr txBox="true"/>
          <p:nvPr/>
        </p:nvSpPr>
        <p:spPr>
          <a:xfrm rot="0">
            <a:off x="5071087" y="2964840"/>
            <a:ext cx="8145827" cy="441391"/>
          </a:xfrm>
          <a:prstGeom prst="rect">
            <a:avLst/>
          </a:prstGeom>
        </p:spPr>
        <p:txBody>
          <a:bodyPr anchor="t" rtlCol="false" tIns="0" lIns="0" bIns="0" rIns="0">
            <a:spAutoFit/>
          </a:bodyPr>
          <a:lstStyle/>
          <a:p>
            <a:pPr algn="ctr">
              <a:lnSpc>
                <a:spcPts val="3499"/>
              </a:lnSpc>
              <a:spcBef>
                <a:spcPct val="0"/>
              </a:spcBef>
            </a:pPr>
            <a:r>
              <a:rPr lang="en-US" sz="2499">
                <a:solidFill>
                  <a:srgbClr val="303642"/>
                </a:solidFill>
                <a:latin typeface="Poppins"/>
                <a:ea typeface="Poppins"/>
                <a:cs typeface="Poppins"/>
                <a:sym typeface="Poppins"/>
              </a:rPr>
              <a:t>TabLayout ⇄ ViewPager2 ⇄ Fragment</a:t>
            </a:r>
          </a:p>
        </p:txBody>
      </p:sp>
      <p:sp>
        <p:nvSpPr>
          <p:cNvPr name="TextBox 8" id="8"/>
          <p:cNvSpPr txBox="true"/>
          <p:nvPr/>
        </p:nvSpPr>
        <p:spPr>
          <a:xfrm rot="0">
            <a:off x="1028700" y="4659177"/>
            <a:ext cx="4749089" cy="960831"/>
          </a:xfrm>
          <a:prstGeom prst="rect">
            <a:avLst/>
          </a:prstGeom>
        </p:spPr>
        <p:txBody>
          <a:bodyPr anchor="t" rtlCol="false" tIns="0" lIns="0" bIns="0" rIns="0">
            <a:spAutoFit/>
          </a:bodyPr>
          <a:lstStyle/>
          <a:p>
            <a:pPr algn="ctr">
              <a:lnSpc>
                <a:spcPts val="7940"/>
              </a:lnSpc>
            </a:pPr>
            <a:r>
              <a:rPr lang="en-US" b="true" sz="5672">
                <a:solidFill>
                  <a:srgbClr val="FFFFFF"/>
                </a:solidFill>
                <a:latin typeface="League Spartan"/>
                <a:ea typeface="League Spartan"/>
                <a:cs typeface="League Spartan"/>
                <a:sym typeface="League Spartan"/>
              </a:rPr>
              <a:t>TABLAYOUT</a:t>
            </a:r>
          </a:p>
        </p:txBody>
      </p:sp>
      <p:sp>
        <p:nvSpPr>
          <p:cNvPr name="TextBox 9" id="9"/>
          <p:cNvSpPr txBox="true"/>
          <p:nvPr/>
        </p:nvSpPr>
        <p:spPr>
          <a:xfrm rot="0">
            <a:off x="6643889" y="4659177"/>
            <a:ext cx="5245086" cy="960831"/>
          </a:xfrm>
          <a:prstGeom prst="rect">
            <a:avLst/>
          </a:prstGeom>
        </p:spPr>
        <p:txBody>
          <a:bodyPr anchor="t" rtlCol="false" tIns="0" lIns="0" bIns="0" rIns="0">
            <a:spAutoFit/>
          </a:bodyPr>
          <a:lstStyle/>
          <a:p>
            <a:pPr algn="ctr">
              <a:lnSpc>
                <a:spcPts val="7940"/>
              </a:lnSpc>
            </a:pPr>
            <a:r>
              <a:rPr lang="en-US" sz="5672">
                <a:solidFill>
                  <a:srgbClr val="FFFFFF"/>
                </a:solidFill>
                <a:latin typeface="League Spartan"/>
                <a:ea typeface="League Spartan"/>
                <a:cs typeface="League Spartan"/>
                <a:sym typeface="League Spartan"/>
              </a:rPr>
              <a:t>VIEWPAGER2 </a:t>
            </a:r>
          </a:p>
        </p:txBody>
      </p:sp>
      <p:sp>
        <p:nvSpPr>
          <p:cNvPr name="TextBox 10" id="10"/>
          <p:cNvSpPr txBox="true"/>
          <p:nvPr/>
        </p:nvSpPr>
        <p:spPr>
          <a:xfrm rot="0">
            <a:off x="12856771" y="4659177"/>
            <a:ext cx="4402529" cy="960831"/>
          </a:xfrm>
          <a:prstGeom prst="rect">
            <a:avLst/>
          </a:prstGeom>
        </p:spPr>
        <p:txBody>
          <a:bodyPr anchor="t" rtlCol="false" tIns="0" lIns="0" bIns="0" rIns="0">
            <a:spAutoFit/>
          </a:bodyPr>
          <a:lstStyle/>
          <a:p>
            <a:pPr algn="ctr">
              <a:lnSpc>
                <a:spcPts val="7940"/>
              </a:lnSpc>
            </a:pPr>
            <a:r>
              <a:rPr lang="en-US" b="true" sz="5672">
                <a:solidFill>
                  <a:srgbClr val="FFFFFF"/>
                </a:solidFill>
                <a:latin typeface="League Spartan"/>
                <a:ea typeface="League Spartan"/>
                <a:cs typeface="League Spartan"/>
                <a:sym typeface="League Spartan"/>
              </a:rPr>
              <a:t>FRAGMENT</a:t>
            </a:r>
          </a:p>
        </p:txBody>
      </p:sp>
      <p:sp>
        <p:nvSpPr>
          <p:cNvPr name="TextBox 11" id="11"/>
          <p:cNvSpPr txBox="true"/>
          <p:nvPr/>
        </p:nvSpPr>
        <p:spPr>
          <a:xfrm rot="0">
            <a:off x="1279441" y="6614600"/>
            <a:ext cx="4247608" cy="791530"/>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Hiển thị các tab ở phía trên (hoặc dưới)</a:t>
            </a:r>
          </a:p>
        </p:txBody>
      </p:sp>
      <p:sp>
        <p:nvSpPr>
          <p:cNvPr name="TextBox 12" id="12"/>
          <p:cNvSpPr txBox="true"/>
          <p:nvPr/>
        </p:nvSpPr>
        <p:spPr>
          <a:xfrm rot="0">
            <a:off x="7020196" y="6614600"/>
            <a:ext cx="4247608" cy="791530"/>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Vùng nội dung có thể vuốt trái/phải</a:t>
            </a:r>
          </a:p>
        </p:txBody>
      </p:sp>
      <p:sp>
        <p:nvSpPr>
          <p:cNvPr name="TextBox 13" id="13"/>
          <p:cNvSpPr txBox="true"/>
          <p:nvPr/>
        </p:nvSpPr>
        <p:spPr>
          <a:xfrm rot="0">
            <a:off x="12934232" y="6614600"/>
            <a:ext cx="4247608" cy="791530"/>
          </a:xfrm>
          <a:prstGeom prst="rect">
            <a:avLst/>
          </a:prstGeom>
        </p:spPr>
        <p:txBody>
          <a:bodyPr anchor="t" rtlCol="false" tIns="0" lIns="0" bIns="0" rIns="0">
            <a:spAutoFit/>
          </a:bodyPr>
          <a:lstStyle/>
          <a:p>
            <a:pPr algn="ctr">
              <a:lnSpc>
                <a:spcPts val="3107"/>
              </a:lnSpc>
              <a:spcBef>
                <a:spcPct val="0"/>
              </a:spcBef>
            </a:pPr>
            <a:r>
              <a:rPr lang="en-US" sz="2219">
                <a:solidFill>
                  <a:srgbClr val="303642"/>
                </a:solidFill>
                <a:latin typeface="Poppins"/>
                <a:ea typeface="Poppins"/>
                <a:cs typeface="Poppins"/>
                <a:sym typeface="Poppins"/>
              </a:rPr>
              <a:t>Nội dung riêng biệt của từng tab</a:t>
            </a:r>
          </a:p>
        </p:txBody>
      </p:sp>
      <p:sp>
        <p:nvSpPr>
          <p:cNvPr name="TextBox 14" id="14"/>
          <p:cNvSpPr txBox="true"/>
          <p:nvPr/>
        </p:nvSpPr>
        <p:spPr>
          <a:xfrm rot="0">
            <a:off x="5736993" y="8210884"/>
            <a:ext cx="6814013" cy="1572652"/>
          </a:xfrm>
          <a:prstGeom prst="rect">
            <a:avLst/>
          </a:prstGeom>
        </p:spPr>
        <p:txBody>
          <a:bodyPr anchor="t" rtlCol="false" tIns="0" lIns="0" bIns="0" rIns="0">
            <a:spAutoFit/>
          </a:bodyPr>
          <a:lstStyle/>
          <a:p>
            <a:pPr algn="ctr">
              <a:lnSpc>
                <a:spcPts val="3108"/>
              </a:lnSpc>
              <a:spcBef>
                <a:spcPct val="0"/>
              </a:spcBef>
            </a:pPr>
            <a:r>
              <a:rPr lang="en-US" sz="2220">
                <a:solidFill>
                  <a:srgbClr val="303642"/>
                </a:solidFill>
                <a:latin typeface="Poppins"/>
                <a:ea typeface="Poppins"/>
                <a:cs typeface="Poppins"/>
                <a:sym typeface="Poppins"/>
              </a:rPr>
              <a:t>Tương tác:</a:t>
            </a:r>
          </a:p>
          <a:p>
            <a:pPr algn="l" marL="479298" indent="-239649" lvl="1">
              <a:lnSpc>
                <a:spcPts val="3108"/>
              </a:lnSpc>
              <a:spcBef>
                <a:spcPct val="0"/>
              </a:spcBef>
              <a:buFont typeface="Arial"/>
              <a:buChar char="•"/>
            </a:pPr>
            <a:r>
              <a:rPr lang="en-US" sz="2220">
                <a:solidFill>
                  <a:srgbClr val="303642"/>
                </a:solidFill>
                <a:latin typeface="Poppins"/>
                <a:ea typeface="Poppins"/>
                <a:cs typeface="Poppins"/>
                <a:sym typeface="Poppins"/>
              </a:rPr>
              <a:t>Nhấn vào tab → Fragment tương ứng hiển thị</a:t>
            </a:r>
          </a:p>
          <a:p>
            <a:pPr algn="l" marL="479298" indent="-239649" lvl="1">
              <a:lnSpc>
                <a:spcPts val="3108"/>
              </a:lnSpc>
              <a:spcBef>
                <a:spcPct val="0"/>
              </a:spcBef>
              <a:buFont typeface="Arial"/>
              <a:buChar char="•"/>
            </a:pPr>
            <a:r>
              <a:rPr lang="en-US" sz="2220">
                <a:solidFill>
                  <a:srgbClr val="303642"/>
                </a:solidFill>
                <a:latin typeface="Poppins"/>
                <a:ea typeface="Poppins"/>
                <a:cs typeface="Poppins"/>
                <a:sym typeface="Poppins"/>
              </a:rPr>
              <a:t>Vuốt màn hình → Tab tương ứng được chọn</a:t>
            </a:r>
          </a:p>
          <a:p>
            <a:pPr algn="ctr">
              <a:lnSpc>
                <a:spcPts val="3108"/>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48629"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7877148" y="1110371"/>
            <a:ext cx="3876702" cy="3784600"/>
            <a:chOff x="0" y="0"/>
            <a:chExt cx="1021024" cy="996767"/>
          </a:xfrm>
        </p:grpSpPr>
        <p:sp>
          <p:nvSpPr>
            <p:cNvPr name="Freeform 7" id="7"/>
            <p:cNvSpPr/>
            <p:nvPr/>
          </p:nvSpPr>
          <p:spPr>
            <a:xfrm flipH="false" flipV="false" rot="0">
              <a:off x="0" y="0"/>
              <a:ext cx="1021024" cy="996767"/>
            </a:xfrm>
            <a:custGeom>
              <a:avLst/>
              <a:gdLst/>
              <a:ahLst/>
              <a:cxnLst/>
              <a:rect r="r" b="b" t="t" l="l"/>
              <a:pathLst>
                <a:path h="996767" w="1021024">
                  <a:moveTo>
                    <a:pt x="101849" y="0"/>
                  </a:moveTo>
                  <a:lnTo>
                    <a:pt x="919175" y="0"/>
                  </a:lnTo>
                  <a:cubicBezTo>
                    <a:pt x="975425" y="0"/>
                    <a:pt x="1021024" y="45599"/>
                    <a:pt x="1021024" y="101849"/>
                  </a:cubicBezTo>
                  <a:lnTo>
                    <a:pt x="1021024" y="894918"/>
                  </a:lnTo>
                  <a:cubicBezTo>
                    <a:pt x="1021024" y="951168"/>
                    <a:pt x="975425" y="996767"/>
                    <a:pt x="919175" y="996767"/>
                  </a:cubicBezTo>
                  <a:lnTo>
                    <a:pt x="101849" y="996767"/>
                  </a:lnTo>
                  <a:cubicBezTo>
                    <a:pt x="45599" y="996767"/>
                    <a:pt x="0" y="951168"/>
                    <a:pt x="0" y="894918"/>
                  </a:cubicBezTo>
                  <a:lnTo>
                    <a:pt x="0" y="101849"/>
                  </a:lnTo>
                  <a:cubicBezTo>
                    <a:pt x="0" y="45599"/>
                    <a:pt x="45599" y="0"/>
                    <a:pt x="101849" y="0"/>
                  </a:cubicBezTo>
                  <a:close/>
                </a:path>
              </a:pathLst>
            </a:custGeom>
            <a:solidFill>
              <a:srgbClr val="004AAD"/>
            </a:solidFill>
          </p:spPr>
        </p:sp>
        <p:sp>
          <p:nvSpPr>
            <p:cNvPr name="TextBox 8" id="8"/>
            <p:cNvSpPr txBox="true"/>
            <p:nvPr/>
          </p:nvSpPr>
          <p:spPr>
            <a:xfrm>
              <a:off x="0" y="-47625"/>
              <a:ext cx="1021024" cy="104439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7877148" y="5473700"/>
            <a:ext cx="3876702" cy="3784600"/>
            <a:chOff x="0" y="0"/>
            <a:chExt cx="1021024" cy="996767"/>
          </a:xfrm>
        </p:grpSpPr>
        <p:sp>
          <p:nvSpPr>
            <p:cNvPr name="Freeform 10" id="10"/>
            <p:cNvSpPr/>
            <p:nvPr/>
          </p:nvSpPr>
          <p:spPr>
            <a:xfrm flipH="false" flipV="false" rot="0">
              <a:off x="0" y="0"/>
              <a:ext cx="1021024" cy="996767"/>
            </a:xfrm>
            <a:custGeom>
              <a:avLst/>
              <a:gdLst/>
              <a:ahLst/>
              <a:cxnLst/>
              <a:rect r="r" b="b" t="t" l="l"/>
              <a:pathLst>
                <a:path h="996767" w="1021024">
                  <a:moveTo>
                    <a:pt x="101849" y="0"/>
                  </a:moveTo>
                  <a:lnTo>
                    <a:pt x="919175" y="0"/>
                  </a:lnTo>
                  <a:cubicBezTo>
                    <a:pt x="975425" y="0"/>
                    <a:pt x="1021024" y="45599"/>
                    <a:pt x="1021024" y="101849"/>
                  </a:cubicBezTo>
                  <a:lnTo>
                    <a:pt x="1021024" y="894918"/>
                  </a:lnTo>
                  <a:cubicBezTo>
                    <a:pt x="1021024" y="951168"/>
                    <a:pt x="975425" y="996767"/>
                    <a:pt x="919175" y="996767"/>
                  </a:cubicBezTo>
                  <a:lnTo>
                    <a:pt x="101849" y="996767"/>
                  </a:lnTo>
                  <a:cubicBezTo>
                    <a:pt x="45599" y="996767"/>
                    <a:pt x="0" y="951168"/>
                    <a:pt x="0" y="894918"/>
                  </a:cubicBezTo>
                  <a:lnTo>
                    <a:pt x="0" y="101849"/>
                  </a:lnTo>
                  <a:cubicBezTo>
                    <a:pt x="0" y="45599"/>
                    <a:pt x="45599" y="0"/>
                    <a:pt x="101849" y="0"/>
                  </a:cubicBezTo>
                  <a:close/>
                </a:path>
              </a:pathLst>
            </a:custGeom>
            <a:solidFill>
              <a:srgbClr val="004AAD"/>
            </a:solidFill>
          </p:spPr>
        </p:sp>
        <p:sp>
          <p:nvSpPr>
            <p:cNvPr name="TextBox 11" id="11"/>
            <p:cNvSpPr txBox="true"/>
            <p:nvPr/>
          </p:nvSpPr>
          <p:spPr>
            <a:xfrm>
              <a:off x="0" y="-47625"/>
              <a:ext cx="1021024" cy="1044392"/>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9567115">
            <a:off x="6394198" y="2521231"/>
            <a:ext cx="1364436" cy="449023"/>
          </a:xfrm>
          <a:custGeom>
            <a:avLst/>
            <a:gdLst/>
            <a:ahLst/>
            <a:cxnLst/>
            <a:rect r="r" b="b" t="t" l="l"/>
            <a:pathLst>
              <a:path h="449023" w="1364436">
                <a:moveTo>
                  <a:pt x="0" y="0"/>
                </a:moveTo>
                <a:lnTo>
                  <a:pt x="1364436" y="0"/>
                </a:lnTo>
                <a:lnTo>
                  <a:pt x="1364436" y="449024"/>
                </a:lnTo>
                <a:lnTo>
                  <a:pt x="0" y="449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148629" y="3229365"/>
            <a:ext cx="7490604" cy="5263700"/>
          </a:xfrm>
          <a:custGeom>
            <a:avLst/>
            <a:gdLst/>
            <a:ahLst/>
            <a:cxnLst/>
            <a:rect r="r" b="b" t="t" l="l"/>
            <a:pathLst>
              <a:path h="5263700" w="7490604">
                <a:moveTo>
                  <a:pt x="0" y="0"/>
                </a:moveTo>
                <a:lnTo>
                  <a:pt x="7490604" y="0"/>
                </a:lnTo>
                <a:lnTo>
                  <a:pt x="7490604" y="5263700"/>
                </a:lnTo>
                <a:lnTo>
                  <a:pt x="0" y="5263700"/>
                </a:lnTo>
                <a:lnTo>
                  <a:pt x="0" y="0"/>
                </a:lnTo>
                <a:close/>
              </a:path>
            </a:pathLst>
          </a:custGeom>
          <a:blipFill>
            <a:blip r:embed="rId5"/>
            <a:stretch>
              <a:fillRect l="0" t="-132" r="0" b="0"/>
            </a:stretch>
          </a:blipFill>
        </p:spPr>
      </p:sp>
      <p:sp>
        <p:nvSpPr>
          <p:cNvPr name="Freeform 14" id="14"/>
          <p:cNvSpPr/>
          <p:nvPr/>
        </p:nvSpPr>
        <p:spPr>
          <a:xfrm flipH="false" flipV="false" rot="0">
            <a:off x="11953875" y="1028700"/>
            <a:ext cx="5788693" cy="5788693"/>
          </a:xfrm>
          <a:custGeom>
            <a:avLst/>
            <a:gdLst/>
            <a:ahLst/>
            <a:cxnLst/>
            <a:rect r="r" b="b" t="t" l="l"/>
            <a:pathLst>
              <a:path h="5788693" w="5788693">
                <a:moveTo>
                  <a:pt x="0" y="0"/>
                </a:moveTo>
                <a:lnTo>
                  <a:pt x="5788693" y="0"/>
                </a:lnTo>
                <a:lnTo>
                  <a:pt x="5788693" y="5788693"/>
                </a:lnTo>
                <a:lnTo>
                  <a:pt x="0" y="5788693"/>
                </a:lnTo>
                <a:lnTo>
                  <a:pt x="0" y="0"/>
                </a:lnTo>
                <a:close/>
              </a:path>
            </a:pathLst>
          </a:custGeom>
          <a:blipFill>
            <a:blip r:embed="rId6"/>
            <a:stretch>
              <a:fillRect l="0" t="0" r="0" b="0"/>
            </a:stretch>
          </a:blipFill>
        </p:spPr>
      </p:sp>
      <p:sp>
        <p:nvSpPr>
          <p:cNvPr name="TextBox 15" id="15"/>
          <p:cNvSpPr txBox="true"/>
          <p:nvPr/>
        </p:nvSpPr>
        <p:spPr>
          <a:xfrm rot="0">
            <a:off x="148629" y="876300"/>
            <a:ext cx="5898349" cy="1903383"/>
          </a:xfrm>
          <a:prstGeom prst="rect">
            <a:avLst/>
          </a:prstGeom>
        </p:spPr>
        <p:txBody>
          <a:bodyPr anchor="t" rtlCol="false" tIns="0" lIns="0" bIns="0" rIns="0">
            <a:spAutoFit/>
          </a:bodyPr>
          <a:lstStyle/>
          <a:p>
            <a:pPr algn="l">
              <a:lnSpc>
                <a:spcPts val="7431"/>
              </a:lnSpc>
            </a:pPr>
            <a:r>
              <a:rPr lang="en-US" b="true" sz="5308">
                <a:solidFill>
                  <a:srgbClr val="004AAD"/>
                </a:solidFill>
                <a:latin typeface="Poppins Bold"/>
                <a:ea typeface="Poppins Bold"/>
                <a:cs typeface="Poppins Bold"/>
                <a:sym typeface="Poppins Bold"/>
              </a:rPr>
              <a:t>CÁCH TRIỂN KHAI TAB</a:t>
            </a:r>
          </a:p>
        </p:txBody>
      </p:sp>
      <p:sp>
        <p:nvSpPr>
          <p:cNvPr name="TextBox 16" id="16"/>
          <p:cNvSpPr txBox="true"/>
          <p:nvPr/>
        </p:nvSpPr>
        <p:spPr>
          <a:xfrm rot="0">
            <a:off x="302759" y="3258804"/>
            <a:ext cx="7182345" cy="5203800"/>
          </a:xfrm>
          <a:prstGeom prst="rect">
            <a:avLst/>
          </a:prstGeom>
        </p:spPr>
        <p:txBody>
          <a:bodyPr anchor="t" rtlCol="false" tIns="0" lIns="0" bIns="0" rIns="0">
            <a:spAutoFit/>
          </a:bodyPr>
          <a:lstStyle/>
          <a:p>
            <a:pPr algn="l">
              <a:lnSpc>
                <a:spcPts val="2976"/>
              </a:lnSpc>
            </a:pPr>
            <a:r>
              <a:rPr lang="en-US" sz="2125">
                <a:solidFill>
                  <a:srgbClr val="000000"/>
                </a:solidFill>
                <a:latin typeface="Poppins"/>
                <a:ea typeface="Poppins"/>
                <a:cs typeface="Poppins"/>
                <a:sym typeface="Poppins"/>
              </a:rPr>
              <a:t>TabLayout tabLayout = findViewById(R.id.tabLayout);</a:t>
            </a:r>
          </a:p>
          <a:p>
            <a:pPr algn="l">
              <a:lnSpc>
                <a:spcPts val="2976"/>
              </a:lnSpc>
            </a:pPr>
          </a:p>
          <a:p>
            <a:pPr algn="l">
              <a:lnSpc>
                <a:spcPts val="2976"/>
              </a:lnSpc>
            </a:pPr>
            <a:r>
              <a:rPr lang="en-US" sz="2125">
                <a:solidFill>
                  <a:srgbClr val="000000"/>
                </a:solidFill>
                <a:latin typeface="Poppins"/>
                <a:ea typeface="Poppins"/>
                <a:cs typeface="Poppins"/>
                <a:sym typeface="Poppins"/>
              </a:rPr>
              <a:t>tabLayout.addTab(</a:t>
            </a:r>
          </a:p>
          <a:p>
            <a:pPr algn="l">
              <a:lnSpc>
                <a:spcPts val="2976"/>
              </a:lnSpc>
            </a:pPr>
            <a:r>
              <a:rPr lang="en-US" sz="2125">
                <a:solidFill>
                  <a:srgbClr val="000000"/>
                </a:solidFill>
                <a:latin typeface="Poppins"/>
                <a:ea typeface="Poppins"/>
                <a:cs typeface="Poppins"/>
                <a:sym typeface="Poppins"/>
              </a:rPr>
              <a:t>     tabLayout.newTab().setText("Home")</a:t>
            </a:r>
          </a:p>
          <a:p>
            <a:pPr algn="l">
              <a:lnSpc>
                <a:spcPts val="2976"/>
              </a:lnSpc>
            </a:pPr>
            <a:r>
              <a:rPr lang="en-US" sz="2125">
                <a:solidFill>
                  <a:srgbClr val="000000"/>
                </a:solidFill>
                <a:latin typeface="Poppins"/>
                <a:ea typeface="Poppins"/>
                <a:cs typeface="Poppins"/>
                <a:sym typeface="Poppins"/>
              </a:rPr>
              <a:t>);</a:t>
            </a:r>
          </a:p>
          <a:p>
            <a:pPr algn="l">
              <a:lnSpc>
                <a:spcPts val="2976"/>
              </a:lnSpc>
            </a:pPr>
          </a:p>
          <a:p>
            <a:pPr algn="l">
              <a:lnSpc>
                <a:spcPts val="2976"/>
              </a:lnSpc>
            </a:pPr>
            <a:r>
              <a:rPr lang="en-US" sz="2125">
                <a:solidFill>
                  <a:srgbClr val="000000"/>
                </a:solidFill>
                <a:latin typeface="Poppins"/>
                <a:ea typeface="Poppins"/>
                <a:cs typeface="Poppins"/>
                <a:sym typeface="Poppins"/>
              </a:rPr>
              <a:t>tabLayout.addTab(</a:t>
            </a:r>
          </a:p>
          <a:p>
            <a:pPr algn="l">
              <a:lnSpc>
                <a:spcPts val="2976"/>
              </a:lnSpc>
            </a:pPr>
            <a:r>
              <a:rPr lang="en-US" sz="2125">
                <a:solidFill>
                  <a:srgbClr val="000000"/>
                </a:solidFill>
                <a:latin typeface="Poppins"/>
                <a:ea typeface="Poppins"/>
                <a:cs typeface="Poppins"/>
                <a:sym typeface="Poppins"/>
              </a:rPr>
              <a:t> tabLayout.newTab().setText("Profile")</a:t>
            </a:r>
          </a:p>
          <a:p>
            <a:pPr algn="l">
              <a:lnSpc>
                <a:spcPts val="2976"/>
              </a:lnSpc>
            </a:pPr>
            <a:r>
              <a:rPr lang="en-US" sz="2125">
                <a:solidFill>
                  <a:srgbClr val="000000"/>
                </a:solidFill>
                <a:latin typeface="Poppins"/>
                <a:ea typeface="Poppins"/>
                <a:cs typeface="Poppins"/>
                <a:sym typeface="Poppins"/>
              </a:rPr>
              <a:t>);</a:t>
            </a:r>
          </a:p>
          <a:p>
            <a:pPr algn="l">
              <a:lnSpc>
                <a:spcPts val="2976"/>
              </a:lnSpc>
            </a:pPr>
          </a:p>
          <a:p>
            <a:pPr algn="l">
              <a:lnSpc>
                <a:spcPts val="2976"/>
              </a:lnSpc>
            </a:pPr>
            <a:r>
              <a:rPr lang="en-US" sz="2125">
                <a:solidFill>
                  <a:srgbClr val="000000"/>
                </a:solidFill>
                <a:latin typeface="Poppins"/>
                <a:ea typeface="Poppins"/>
                <a:cs typeface="Poppins"/>
                <a:sym typeface="Poppins"/>
              </a:rPr>
              <a:t>tabLayout.addTab(</a:t>
            </a:r>
          </a:p>
          <a:p>
            <a:pPr algn="l">
              <a:lnSpc>
                <a:spcPts val="2976"/>
              </a:lnSpc>
            </a:pPr>
            <a:r>
              <a:rPr lang="en-US" sz="2125">
                <a:solidFill>
                  <a:srgbClr val="000000"/>
                </a:solidFill>
                <a:latin typeface="Poppins"/>
                <a:ea typeface="Poppins"/>
                <a:cs typeface="Poppins"/>
                <a:sym typeface="Poppins"/>
              </a:rPr>
              <a:t> tabLayout.newTab().setText("Settings")</a:t>
            </a:r>
          </a:p>
          <a:p>
            <a:pPr algn="l">
              <a:lnSpc>
                <a:spcPts val="2976"/>
              </a:lnSpc>
            </a:pPr>
            <a:r>
              <a:rPr lang="en-US" sz="2125">
                <a:solidFill>
                  <a:srgbClr val="000000"/>
                </a:solidFill>
                <a:latin typeface="Poppins"/>
                <a:ea typeface="Poppins"/>
                <a:cs typeface="Poppins"/>
                <a:sym typeface="Poppins"/>
              </a:rPr>
              <a:t>);</a:t>
            </a:r>
          </a:p>
          <a:p>
            <a:pPr algn="l">
              <a:lnSpc>
                <a:spcPts val="2976"/>
              </a:lnSpc>
              <a:spcBef>
                <a:spcPct val="0"/>
              </a:spcBef>
            </a:pPr>
          </a:p>
        </p:txBody>
      </p:sp>
      <p:sp>
        <p:nvSpPr>
          <p:cNvPr name="TextBox 17" id="17"/>
          <p:cNvSpPr txBox="true"/>
          <p:nvPr/>
        </p:nvSpPr>
        <p:spPr>
          <a:xfrm rot="0">
            <a:off x="8278492" y="2162711"/>
            <a:ext cx="3074014" cy="1565618"/>
          </a:xfrm>
          <a:prstGeom prst="rect">
            <a:avLst/>
          </a:prstGeom>
        </p:spPr>
        <p:txBody>
          <a:bodyPr anchor="t" rtlCol="false" tIns="0" lIns="0" bIns="0" rIns="0">
            <a:spAutoFit/>
          </a:bodyPr>
          <a:lstStyle/>
          <a:p>
            <a:pPr algn="ctr">
              <a:lnSpc>
                <a:spcPts val="6113"/>
              </a:lnSpc>
            </a:pPr>
            <a:r>
              <a:rPr lang="en-US" b="true" sz="4366">
                <a:solidFill>
                  <a:srgbClr val="FFFFFF"/>
                </a:solidFill>
                <a:latin typeface="Poppins Bold"/>
                <a:ea typeface="Poppins Bold"/>
                <a:cs typeface="Poppins Bold"/>
                <a:sym typeface="Poppins Bold"/>
              </a:rPr>
              <a:t>TẠO TAB THỦ CÔNG</a:t>
            </a:r>
          </a:p>
        </p:txBody>
      </p:sp>
      <p:sp>
        <p:nvSpPr>
          <p:cNvPr name="TextBox 18" id="18"/>
          <p:cNvSpPr txBox="true"/>
          <p:nvPr/>
        </p:nvSpPr>
        <p:spPr>
          <a:xfrm rot="0">
            <a:off x="8003647" y="6241104"/>
            <a:ext cx="3623703" cy="2116441"/>
          </a:xfrm>
          <a:prstGeom prst="rect">
            <a:avLst/>
          </a:prstGeom>
        </p:spPr>
        <p:txBody>
          <a:bodyPr anchor="t" rtlCol="false" tIns="0" lIns="0" bIns="0" rIns="0">
            <a:spAutoFit/>
          </a:bodyPr>
          <a:lstStyle/>
          <a:p>
            <a:pPr algn="ctr">
              <a:lnSpc>
                <a:spcPts val="6113"/>
              </a:lnSpc>
            </a:pPr>
            <a:r>
              <a:rPr lang="en-US" b="true" sz="4366">
                <a:solidFill>
                  <a:srgbClr val="FFFFFF"/>
                </a:solidFill>
                <a:latin typeface="Poppins Bold"/>
                <a:ea typeface="Poppins Bold"/>
                <a:cs typeface="Poppins Bold"/>
                <a:sym typeface="Poppins Bold"/>
              </a:rPr>
              <a:t>KẾT HỢP</a:t>
            </a:r>
            <a:r>
              <a:rPr lang="en-US" b="true" sz="4366">
                <a:solidFill>
                  <a:srgbClr val="FFFFFF"/>
                </a:solidFill>
                <a:latin typeface="Poppins Bold"/>
                <a:ea typeface="Poppins Bold"/>
                <a:cs typeface="Poppins Bold"/>
                <a:sym typeface="Poppins Bold"/>
              </a:rPr>
              <a:t> VỚI VIEWPAGER2</a:t>
            </a:r>
          </a:p>
          <a:p>
            <a:pPr algn="ctr">
              <a:lnSpc>
                <a:spcPts val="4200"/>
              </a:lnSpc>
            </a:pPr>
            <a:r>
              <a:rPr lang="en-US" b="true" sz="3000">
                <a:solidFill>
                  <a:srgbClr val="FFFFFF"/>
                </a:solidFill>
                <a:latin typeface="Poppins Bold"/>
                <a:ea typeface="Poppins Bold"/>
                <a:cs typeface="Poppins Bold"/>
                <a:sym typeface="Poppins Bold"/>
              </a:rPr>
              <a:t>(KHUYẾN KHÍCH)</a:t>
            </a:r>
          </a:p>
        </p:txBody>
      </p:sp>
      <p:sp>
        <p:nvSpPr>
          <p:cNvPr name="TextBox 19" id="19"/>
          <p:cNvSpPr txBox="true"/>
          <p:nvPr/>
        </p:nvSpPr>
        <p:spPr>
          <a:xfrm rot="0">
            <a:off x="12239625" y="1141785"/>
            <a:ext cx="5217193" cy="5676617"/>
          </a:xfrm>
          <a:prstGeom prst="rect">
            <a:avLst/>
          </a:prstGeom>
        </p:spPr>
        <p:txBody>
          <a:bodyPr anchor="t" rtlCol="false" tIns="0" lIns="0" bIns="0" rIns="0">
            <a:spAutoFit/>
          </a:bodyPr>
          <a:lstStyle/>
          <a:p>
            <a:pPr algn="l">
              <a:lnSpc>
                <a:spcPts val="2839"/>
              </a:lnSpc>
            </a:pPr>
            <a:r>
              <a:rPr lang="en-US" sz="2028">
                <a:solidFill>
                  <a:srgbClr val="000000"/>
                </a:solidFill>
                <a:latin typeface="Poppins"/>
                <a:ea typeface="Poppins"/>
                <a:cs typeface="Poppins"/>
                <a:sym typeface="Poppins"/>
              </a:rPr>
              <a:t>new TabLayoutMediator(tabLayout, viewPager2,</a:t>
            </a:r>
          </a:p>
          <a:p>
            <a:pPr algn="l">
              <a:lnSpc>
                <a:spcPts val="2839"/>
              </a:lnSpc>
            </a:pPr>
            <a:r>
              <a:rPr lang="en-US" sz="2028">
                <a:solidFill>
                  <a:srgbClr val="000000"/>
                </a:solidFill>
                <a:latin typeface="Poppins"/>
                <a:ea typeface="Poppins"/>
                <a:cs typeface="Poppins"/>
                <a:sym typeface="Poppins"/>
              </a:rPr>
              <a:t>    (tab, position) -&gt; {</a:t>
            </a:r>
          </a:p>
          <a:p>
            <a:pPr algn="l">
              <a:lnSpc>
                <a:spcPts val="2839"/>
              </a:lnSpc>
            </a:pPr>
            <a:r>
              <a:rPr lang="en-US" sz="2028">
                <a:solidFill>
                  <a:srgbClr val="000000"/>
                </a:solidFill>
                <a:latin typeface="Poppins"/>
                <a:ea typeface="Poppins"/>
                <a:cs typeface="Poppins"/>
                <a:sym typeface="Poppins"/>
              </a:rPr>
              <a:t>        switch (position) {</a:t>
            </a:r>
          </a:p>
          <a:p>
            <a:pPr algn="l">
              <a:lnSpc>
                <a:spcPts val="2839"/>
              </a:lnSpc>
            </a:pPr>
            <a:r>
              <a:rPr lang="en-US" sz="2028">
                <a:solidFill>
                  <a:srgbClr val="000000"/>
                </a:solidFill>
                <a:latin typeface="Poppins"/>
                <a:ea typeface="Poppins"/>
                <a:cs typeface="Poppins"/>
                <a:sym typeface="Poppins"/>
              </a:rPr>
              <a:t>            case 0:</a:t>
            </a:r>
          </a:p>
          <a:p>
            <a:pPr algn="l">
              <a:lnSpc>
                <a:spcPts val="2839"/>
              </a:lnSpc>
            </a:pPr>
            <a:r>
              <a:rPr lang="en-US" sz="2028">
                <a:solidFill>
                  <a:srgbClr val="000000"/>
                </a:solidFill>
                <a:latin typeface="Poppins"/>
                <a:ea typeface="Poppins"/>
                <a:cs typeface="Poppins"/>
                <a:sym typeface="Poppins"/>
              </a:rPr>
              <a:t>                tab.setText("Home");</a:t>
            </a:r>
          </a:p>
          <a:p>
            <a:pPr algn="l">
              <a:lnSpc>
                <a:spcPts val="2839"/>
              </a:lnSpc>
            </a:pPr>
            <a:r>
              <a:rPr lang="en-US" sz="2028">
                <a:solidFill>
                  <a:srgbClr val="000000"/>
                </a:solidFill>
                <a:latin typeface="Poppins"/>
                <a:ea typeface="Poppins"/>
                <a:cs typeface="Poppins"/>
                <a:sym typeface="Poppins"/>
              </a:rPr>
              <a:t>                break;</a:t>
            </a:r>
          </a:p>
          <a:p>
            <a:pPr algn="l">
              <a:lnSpc>
                <a:spcPts val="2839"/>
              </a:lnSpc>
            </a:pPr>
            <a:r>
              <a:rPr lang="en-US" sz="2028">
                <a:solidFill>
                  <a:srgbClr val="000000"/>
                </a:solidFill>
                <a:latin typeface="Poppins"/>
                <a:ea typeface="Poppins"/>
                <a:cs typeface="Poppins"/>
                <a:sym typeface="Poppins"/>
              </a:rPr>
              <a:t>            case 1:</a:t>
            </a:r>
          </a:p>
          <a:p>
            <a:pPr algn="l">
              <a:lnSpc>
                <a:spcPts val="2839"/>
              </a:lnSpc>
            </a:pPr>
            <a:r>
              <a:rPr lang="en-US" sz="2028">
                <a:solidFill>
                  <a:srgbClr val="000000"/>
                </a:solidFill>
                <a:latin typeface="Poppins"/>
                <a:ea typeface="Poppins"/>
                <a:cs typeface="Poppins"/>
                <a:sym typeface="Poppins"/>
              </a:rPr>
              <a:t>                tab.setText("Profile");</a:t>
            </a:r>
          </a:p>
          <a:p>
            <a:pPr algn="l">
              <a:lnSpc>
                <a:spcPts val="2839"/>
              </a:lnSpc>
            </a:pPr>
            <a:r>
              <a:rPr lang="en-US" sz="2028">
                <a:solidFill>
                  <a:srgbClr val="000000"/>
                </a:solidFill>
                <a:latin typeface="Poppins"/>
                <a:ea typeface="Poppins"/>
                <a:cs typeface="Poppins"/>
                <a:sym typeface="Poppins"/>
              </a:rPr>
              <a:t>                break;</a:t>
            </a:r>
          </a:p>
          <a:p>
            <a:pPr algn="l">
              <a:lnSpc>
                <a:spcPts val="2839"/>
              </a:lnSpc>
            </a:pPr>
            <a:r>
              <a:rPr lang="en-US" sz="2028">
                <a:solidFill>
                  <a:srgbClr val="000000"/>
                </a:solidFill>
                <a:latin typeface="Poppins"/>
                <a:ea typeface="Poppins"/>
                <a:cs typeface="Poppins"/>
                <a:sym typeface="Poppins"/>
              </a:rPr>
              <a:t>            case 2:</a:t>
            </a:r>
          </a:p>
          <a:p>
            <a:pPr algn="l">
              <a:lnSpc>
                <a:spcPts val="2839"/>
              </a:lnSpc>
            </a:pPr>
            <a:r>
              <a:rPr lang="en-US" sz="2028">
                <a:solidFill>
                  <a:srgbClr val="000000"/>
                </a:solidFill>
                <a:latin typeface="Poppins"/>
                <a:ea typeface="Poppins"/>
                <a:cs typeface="Poppins"/>
                <a:sym typeface="Poppins"/>
              </a:rPr>
              <a:t>                tab.setText("Settings");</a:t>
            </a:r>
          </a:p>
          <a:p>
            <a:pPr algn="l">
              <a:lnSpc>
                <a:spcPts val="2839"/>
              </a:lnSpc>
            </a:pPr>
            <a:r>
              <a:rPr lang="en-US" sz="2028">
                <a:solidFill>
                  <a:srgbClr val="000000"/>
                </a:solidFill>
                <a:latin typeface="Poppins"/>
                <a:ea typeface="Poppins"/>
                <a:cs typeface="Poppins"/>
                <a:sym typeface="Poppins"/>
              </a:rPr>
              <a:t>                break;</a:t>
            </a:r>
          </a:p>
          <a:p>
            <a:pPr algn="l">
              <a:lnSpc>
                <a:spcPts val="2839"/>
              </a:lnSpc>
            </a:pPr>
            <a:r>
              <a:rPr lang="en-US" sz="2028">
                <a:solidFill>
                  <a:srgbClr val="000000"/>
                </a:solidFill>
                <a:latin typeface="Poppins"/>
                <a:ea typeface="Poppins"/>
                <a:cs typeface="Poppins"/>
                <a:sym typeface="Poppins"/>
              </a:rPr>
              <a:t>        }</a:t>
            </a:r>
          </a:p>
          <a:p>
            <a:pPr algn="l">
              <a:lnSpc>
                <a:spcPts val="2839"/>
              </a:lnSpc>
            </a:pPr>
            <a:r>
              <a:rPr lang="en-US" sz="2028">
                <a:solidFill>
                  <a:srgbClr val="000000"/>
                </a:solidFill>
                <a:latin typeface="Poppins"/>
                <a:ea typeface="Poppins"/>
                <a:cs typeface="Poppins"/>
                <a:sym typeface="Poppins"/>
              </a:rPr>
              <a:t>    }).attach();</a:t>
            </a:r>
          </a:p>
          <a:p>
            <a:pPr algn="l">
              <a:lnSpc>
                <a:spcPts val="2839"/>
              </a:lnSpc>
              <a:spcBef>
                <a:spcPct val="0"/>
              </a:spcBef>
            </a:pPr>
          </a:p>
        </p:txBody>
      </p:sp>
      <p:sp>
        <p:nvSpPr>
          <p:cNvPr name="Freeform 20" id="20"/>
          <p:cNvSpPr/>
          <p:nvPr/>
        </p:nvSpPr>
        <p:spPr>
          <a:xfrm flipH="false" flipV="false" rot="-1294527">
            <a:off x="11893224" y="7141488"/>
            <a:ext cx="1364436" cy="449023"/>
          </a:xfrm>
          <a:custGeom>
            <a:avLst/>
            <a:gdLst/>
            <a:ahLst/>
            <a:cxnLst/>
            <a:rect r="r" b="b" t="t" l="l"/>
            <a:pathLst>
              <a:path h="449023" w="1364436">
                <a:moveTo>
                  <a:pt x="0" y="0"/>
                </a:moveTo>
                <a:lnTo>
                  <a:pt x="1364436" y="0"/>
                </a:lnTo>
                <a:lnTo>
                  <a:pt x="1364436" y="449024"/>
                </a:lnTo>
                <a:lnTo>
                  <a:pt x="0" y="44902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1" id="21"/>
          <p:cNvSpPr txBox="true"/>
          <p:nvPr/>
        </p:nvSpPr>
        <p:spPr>
          <a:xfrm rot="0">
            <a:off x="11953875" y="7863750"/>
            <a:ext cx="6097104" cy="1758023"/>
          </a:xfrm>
          <a:prstGeom prst="rect">
            <a:avLst/>
          </a:prstGeom>
        </p:spPr>
        <p:txBody>
          <a:bodyPr anchor="t" rtlCol="false" tIns="0" lIns="0" bIns="0" rIns="0">
            <a:spAutoFit/>
          </a:bodyPr>
          <a:lstStyle/>
          <a:p>
            <a:pPr algn="l" marL="438278" indent="-219139" lvl="1">
              <a:lnSpc>
                <a:spcPts val="2842"/>
              </a:lnSpc>
              <a:buFont typeface="Arial"/>
              <a:buChar char="•"/>
            </a:pPr>
            <a:r>
              <a:rPr lang="en-US" sz="2030">
                <a:solidFill>
                  <a:srgbClr val="000000"/>
                </a:solidFill>
                <a:latin typeface="Noto Sans"/>
                <a:ea typeface="Noto Sans"/>
                <a:cs typeface="Noto Sans"/>
                <a:sym typeface="Noto Sans"/>
              </a:rPr>
              <a:t>Ưu điểm của cách này:</a:t>
            </a:r>
          </a:p>
          <a:p>
            <a:pPr algn="l" marL="876555" indent="-292185" lvl="2">
              <a:lnSpc>
                <a:spcPts val="2842"/>
              </a:lnSpc>
              <a:spcBef>
                <a:spcPct val="0"/>
              </a:spcBef>
              <a:buFont typeface="Arial"/>
              <a:buChar char="⚬"/>
            </a:pPr>
            <a:r>
              <a:rPr lang="en-US" sz="2030">
                <a:solidFill>
                  <a:srgbClr val="000000"/>
                </a:solidFill>
                <a:latin typeface="Noto Sans"/>
                <a:ea typeface="Noto Sans"/>
                <a:cs typeface="Noto Sans"/>
                <a:sym typeface="Noto Sans"/>
              </a:rPr>
              <a:t>Không cần add</a:t>
            </a:r>
            <a:r>
              <a:rPr lang="en-US" sz="2030" strike="noStrike" u="none">
                <a:solidFill>
                  <a:srgbClr val="000000"/>
                </a:solidFill>
                <a:latin typeface="Noto Sans"/>
                <a:ea typeface="Noto Sans"/>
                <a:cs typeface="Noto Sans"/>
                <a:sym typeface="Noto Sans"/>
              </a:rPr>
              <a:t>T</a:t>
            </a:r>
            <a:r>
              <a:rPr lang="en-US" sz="2030" strike="noStrike" u="none">
                <a:solidFill>
                  <a:srgbClr val="000000"/>
                </a:solidFill>
                <a:latin typeface="Noto Sans"/>
                <a:ea typeface="Noto Sans"/>
                <a:cs typeface="Noto Sans"/>
                <a:sym typeface="Noto Sans"/>
              </a:rPr>
              <a:t>ab() t</a:t>
            </a:r>
            <a:r>
              <a:rPr lang="en-US" sz="2030" strike="noStrike" u="none">
                <a:solidFill>
                  <a:srgbClr val="000000"/>
                </a:solidFill>
                <a:latin typeface="Noto Sans"/>
                <a:ea typeface="Noto Sans"/>
                <a:cs typeface="Noto Sans"/>
                <a:sym typeface="Noto Sans"/>
              </a:rPr>
              <a:t>h</a:t>
            </a:r>
            <a:r>
              <a:rPr lang="en-US" sz="2030" strike="noStrike" u="none">
                <a:solidFill>
                  <a:srgbClr val="000000"/>
                </a:solidFill>
                <a:latin typeface="Noto Sans"/>
                <a:ea typeface="Noto Sans"/>
                <a:cs typeface="Noto Sans"/>
                <a:sym typeface="Noto Sans"/>
              </a:rPr>
              <a:t>ủ</a:t>
            </a:r>
            <a:r>
              <a:rPr lang="en-US" sz="2030" strike="noStrike" u="none">
                <a:solidFill>
                  <a:srgbClr val="000000"/>
                </a:solidFill>
                <a:latin typeface="Noto Sans"/>
                <a:ea typeface="Noto Sans"/>
                <a:cs typeface="Noto Sans"/>
                <a:sym typeface="Noto Sans"/>
              </a:rPr>
              <a:t> </a:t>
            </a:r>
            <a:r>
              <a:rPr lang="en-US" sz="2030" strike="noStrike" u="none">
                <a:solidFill>
                  <a:srgbClr val="000000"/>
                </a:solidFill>
                <a:latin typeface="Noto Sans"/>
                <a:ea typeface="Noto Sans"/>
                <a:cs typeface="Noto Sans"/>
                <a:sym typeface="Noto Sans"/>
              </a:rPr>
              <a:t>cô</a:t>
            </a:r>
            <a:r>
              <a:rPr lang="en-US" sz="2030" strike="noStrike" u="none">
                <a:solidFill>
                  <a:srgbClr val="000000"/>
                </a:solidFill>
                <a:latin typeface="Noto Sans"/>
                <a:ea typeface="Noto Sans"/>
                <a:cs typeface="Noto Sans"/>
                <a:sym typeface="Noto Sans"/>
              </a:rPr>
              <a:t>n</a:t>
            </a:r>
            <a:r>
              <a:rPr lang="en-US" sz="2030" strike="noStrike" u="none">
                <a:solidFill>
                  <a:srgbClr val="000000"/>
                </a:solidFill>
                <a:latin typeface="Noto Sans"/>
                <a:ea typeface="Noto Sans"/>
                <a:cs typeface="Noto Sans"/>
                <a:sym typeface="Noto Sans"/>
              </a:rPr>
              <a:t>g.</a:t>
            </a:r>
          </a:p>
          <a:p>
            <a:pPr algn="l" marL="876555" indent="-292185" lvl="2">
              <a:lnSpc>
                <a:spcPts val="2842"/>
              </a:lnSpc>
              <a:spcBef>
                <a:spcPct val="0"/>
              </a:spcBef>
              <a:buFont typeface="Arial"/>
              <a:buChar char="⚬"/>
            </a:pPr>
            <a:r>
              <a:rPr lang="en-US" sz="2030" strike="noStrike" u="none">
                <a:solidFill>
                  <a:srgbClr val="000000"/>
                </a:solidFill>
                <a:latin typeface="Noto Sans"/>
                <a:ea typeface="Noto Sans"/>
                <a:cs typeface="Noto Sans"/>
                <a:sym typeface="Noto Sans"/>
              </a:rPr>
              <a:t>Tự đ</a:t>
            </a:r>
            <a:r>
              <a:rPr lang="en-US" sz="2030" strike="noStrike" u="none">
                <a:solidFill>
                  <a:srgbClr val="000000"/>
                </a:solidFill>
                <a:latin typeface="Noto Sans"/>
                <a:ea typeface="Noto Sans"/>
                <a:cs typeface="Noto Sans"/>
                <a:sym typeface="Noto Sans"/>
              </a:rPr>
              <a:t>ộ</a:t>
            </a:r>
            <a:r>
              <a:rPr lang="en-US" sz="2030" strike="noStrike" u="none">
                <a:solidFill>
                  <a:srgbClr val="000000"/>
                </a:solidFill>
                <a:latin typeface="Noto Sans"/>
                <a:ea typeface="Noto Sans"/>
                <a:cs typeface="Noto Sans"/>
                <a:sym typeface="Noto Sans"/>
              </a:rPr>
              <a:t>ng</a:t>
            </a:r>
            <a:r>
              <a:rPr lang="en-US" sz="2030" strike="noStrike" u="none">
                <a:solidFill>
                  <a:srgbClr val="000000"/>
                </a:solidFill>
                <a:latin typeface="Noto Sans"/>
                <a:ea typeface="Noto Sans"/>
                <a:cs typeface="Noto Sans"/>
                <a:sym typeface="Noto Sans"/>
              </a:rPr>
              <a:t> </a:t>
            </a:r>
            <a:r>
              <a:rPr lang="en-US" sz="2030" strike="noStrike" u="none">
                <a:solidFill>
                  <a:srgbClr val="000000"/>
                </a:solidFill>
                <a:latin typeface="Noto Sans"/>
                <a:ea typeface="Noto Sans"/>
                <a:cs typeface="Noto Sans"/>
                <a:sym typeface="Noto Sans"/>
              </a:rPr>
              <a:t>đồ</a:t>
            </a:r>
            <a:r>
              <a:rPr lang="en-US" sz="2030" strike="noStrike" u="none">
                <a:solidFill>
                  <a:srgbClr val="000000"/>
                </a:solidFill>
                <a:latin typeface="Noto Sans"/>
                <a:ea typeface="Noto Sans"/>
                <a:cs typeface="Noto Sans"/>
                <a:sym typeface="Noto Sans"/>
              </a:rPr>
              <a:t>ng </a:t>
            </a:r>
            <a:r>
              <a:rPr lang="en-US" sz="2030" strike="noStrike" u="none">
                <a:solidFill>
                  <a:srgbClr val="000000"/>
                </a:solidFill>
                <a:latin typeface="Noto Sans"/>
                <a:ea typeface="Noto Sans"/>
                <a:cs typeface="Noto Sans"/>
                <a:sym typeface="Noto Sans"/>
              </a:rPr>
              <a:t>bộ </a:t>
            </a:r>
            <a:r>
              <a:rPr lang="en-US" sz="2030" strike="noStrike" u="none">
                <a:solidFill>
                  <a:srgbClr val="000000"/>
                </a:solidFill>
                <a:latin typeface="Noto Sans"/>
                <a:ea typeface="Noto Sans"/>
                <a:cs typeface="Noto Sans"/>
                <a:sym typeface="Noto Sans"/>
              </a:rPr>
              <a:t>v</a:t>
            </a:r>
            <a:r>
              <a:rPr lang="en-US" sz="2030" strike="noStrike" u="none">
                <a:solidFill>
                  <a:srgbClr val="000000"/>
                </a:solidFill>
                <a:latin typeface="Noto Sans"/>
                <a:ea typeface="Noto Sans"/>
                <a:cs typeface="Noto Sans"/>
                <a:sym typeface="Noto Sans"/>
              </a:rPr>
              <a:t>iệc chuyể</a:t>
            </a:r>
            <a:r>
              <a:rPr lang="en-US" sz="2030" strike="noStrike" u="none">
                <a:solidFill>
                  <a:srgbClr val="000000"/>
                </a:solidFill>
                <a:latin typeface="Noto Sans"/>
                <a:ea typeface="Noto Sans"/>
                <a:cs typeface="Noto Sans"/>
                <a:sym typeface="Noto Sans"/>
              </a:rPr>
              <a:t>n </a:t>
            </a:r>
            <a:r>
              <a:rPr lang="en-US" sz="2030" strike="noStrike" u="none">
                <a:solidFill>
                  <a:srgbClr val="000000"/>
                </a:solidFill>
                <a:latin typeface="Noto Sans"/>
                <a:ea typeface="Noto Sans"/>
                <a:cs typeface="Noto Sans"/>
                <a:sym typeface="Noto Sans"/>
              </a:rPr>
              <a:t>đổi ta</a:t>
            </a:r>
            <a:r>
              <a:rPr lang="en-US" sz="2030" strike="noStrike" u="none">
                <a:solidFill>
                  <a:srgbClr val="000000"/>
                </a:solidFill>
                <a:latin typeface="Noto Sans"/>
                <a:ea typeface="Noto Sans"/>
                <a:cs typeface="Noto Sans"/>
                <a:sym typeface="Noto Sans"/>
              </a:rPr>
              <a:t>b</a:t>
            </a:r>
            <a:r>
              <a:rPr lang="en-US" sz="2030" strike="noStrike" u="none">
                <a:solidFill>
                  <a:srgbClr val="000000"/>
                </a:solidFill>
                <a:latin typeface="Noto Sans"/>
                <a:ea typeface="Noto Sans"/>
                <a:cs typeface="Noto Sans"/>
                <a:sym typeface="Noto Sans"/>
              </a:rPr>
              <a:t> và nội du</a:t>
            </a:r>
            <a:r>
              <a:rPr lang="en-US" sz="2030" strike="noStrike" u="none">
                <a:solidFill>
                  <a:srgbClr val="000000"/>
                </a:solidFill>
                <a:latin typeface="Noto Sans"/>
                <a:ea typeface="Noto Sans"/>
                <a:cs typeface="Noto Sans"/>
                <a:sym typeface="Noto Sans"/>
              </a:rPr>
              <a:t>n</a:t>
            </a:r>
            <a:r>
              <a:rPr lang="en-US" sz="2030" strike="noStrike" u="none">
                <a:solidFill>
                  <a:srgbClr val="000000"/>
                </a:solidFill>
                <a:latin typeface="Noto Sans"/>
                <a:ea typeface="Noto Sans"/>
                <a:cs typeface="Noto Sans"/>
                <a:sym typeface="Noto Sans"/>
              </a:rPr>
              <a:t>g ViewPager2.</a:t>
            </a:r>
          </a:p>
          <a:p>
            <a:pPr algn="ctr" marL="0" indent="0" lvl="0">
              <a:lnSpc>
                <a:spcPts val="2842"/>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24726"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1924081" y="972555"/>
            <a:ext cx="4430491" cy="934687"/>
          </a:xfrm>
          <a:prstGeom prst="rect">
            <a:avLst/>
          </a:prstGeom>
        </p:spPr>
        <p:txBody>
          <a:bodyPr anchor="t" rtlCol="false" tIns="0" lIns="0" bIns="0" rIns="0">
            <a:spAutoFit/>
          </a:bodyPr>
          <a:lstStyle/>
          <a:p>
            <a:pPr algn="l">
              <a:lnSpc>
                <a:spcPts val="7279"/>
              </a:lnSpc>
            </a:pPr>
            <a:r>
              <a:rPr lang="en-US" b="true" sz="5199">
                <a:solidFill>
                  <a:srgbClr val="000000"/>
                </a:solidFill>
                <a:latin typeface="Poppins Bold"/>
                <a:ea typeface="Poppins Bold"/>
                <a:cs typeface="Poppins Bold"/>
                <a:sym typeface="Poppins Bold"/>
              </a:rPr>
              <a:t>NHƯỢC ĐIỂM</a:t>
            </a:r>
          </a:p>
        </p:txBody>
      </p:sp>
      <p:sp>
        <p:nvSpPr>
          <p:cNvPr name="TextBox 7" id="7"/>
          <p:cNvSpPr txBox="true"/>
          <p:nvPr/>
        </p:nvSpPr>
        <p:spPr>
          <a:xfrm rot="0">
            <a:off x="11322039" y="3846397"/>
            <a:ext cx="5634574" cy="879607"/>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Poppins"/>
                <a:ea typeface="Poppins"/>
                <a:cs typeface="Poppins"/>
                <a:sym typeface="Poppins"/>
              </a:rPr>
              <a:t>Gây rối mắt nếu dùng quá nhiều tab (&gt; 5)</a:t>
            </a:r>
          </a:p>
        </p:txBody>
      </p:sp>
      <p:sp>
        <p:nvSpPr>
          <p:cNvPr name="TextBox 8" id="8"/>
          <p:cNvSpPr txBox="true"/>
          <p:nvPr/>
        </p:nvSpPr>
        <p:spPr>
          <a:xfrm rot="0">
            <a:off x="11322039" y="5056105"/>
            <a:ext cx="5634574" cy="1317824"/>
          </a:xfrm>
          <a:prstGeom prst="rect">
            <a:avLst/>
          </a:prstGeom>
        </p:spPr>
        <p:txBody>
          <a:bodyPr anchor="t" rtlCol="false" tIns="0" lIns="0" bIns="0" rIns="0">
            <a:spAutoFit/>
          </a:bodyPr>
          <a:lstStyle/>
          <a:p>
            <a:pPr algn="l">
              <a:lnSpc>
                <a:spcPts val="3499"/>
              </a:lnSpc>
              <a:spcBef>
                <a:spcPct val="0"/>
              </a:spcBef>
            </a:pPr>
            <a:r>
              <a:rPr lang="en-US" sz="2499">
                <a:solidFill>
                  <a:srgbClr val="000000"/>
                </a:solidFill>
                <a:latin typeface="Poppins"/>
                <a:ea typeface="Poppins"/>
                <a:cs typeface="Poppins"/>
                <a:sym typeface="Poppins"/>
              </a:rPr>
              <a:t>Dễ làm App nặng nếu Fragment không tối ưu bộ nhớ/xử lý nhiều dữ liệu</a:t>
            </a:r>
          </a:p>
        </p:txBody>
      </p:sp>
      <p:grpSp>
        <p:nvGrpSpPr>
          <p:cNvPr name="Group 9" id="9"/>
          <p:cNvGrpSpPr/>
          <p:nvPr/>
        </p:nvGrpSpPr>
        <p:grpSpPr>
          <a:xfrm rot="0">
            <a:off x="806450" y="806450"/>
            <a:ext cx="8337550" cy="8674100"/>
            <a:chOff x="0" y="0"/>
            <a:chExt cx="2195898" cy="2284537"/>
          </a:xfrm>
        </p:grpSpPr>
        <p:sp>
          <p:nvSpPr>
            <p:cNvPr name="Freeform 10" id="10"/>
            <p:cNvSpPr/>
            <p:nvPr/>
          </p:nvSpPr>
          <p:spPr>
            <a:xfrm flipH="false" flipV="false" rot="0">
              <a:off x="0" y="0"/>
              <a:ext cx="2195898" cy="2284537"/>
            </a:xfrm>
            <a:custGeom>
              <a:avLst/>
              <a:gdLst/>
              <a:ahLst/>
              <a:cxnLst/>
              <a:rect r="r" b="b" t="t" l="l"/>
              <a:pathLst>
                <a:path h="2284537" w="2195898">
                  <a:moveTo>
                    <a:pt x="47357" y="0"/>
                  </a:moveTo>
                  <a:lnTo>
                    <a:pt x="2148541" y="0"/>
                  </a:lnTo>
                  <a:cubicBezTo>
                    <a:pt x="2161101" y="0"/>
                    <a:pt x="2173146" y="4989"/>
                    <a:pt x="2182027" y="13870"/>
                  </a:cubicBezTo>
                  <a:cubicBezTo>
                    <a:pt x="2190909" y="22752"/>
                    <a:pt x="2195898" y="34797"/>
                    <a:pt x="2195898" y="47357"/>
                  </a:cubicBezTo>
                  <a:lnTo>
                    <a:pt x="2195898" y="2237180"/>
                  </a:lnTo>
                  <a:cubicBezTo>
                    <a:pt x="2195898" y="2249740"/>
                    <a:pt x="2190909" y="2261785"/>
                    <a:pt x="2182027" y="2270666"/>
                  </a:cubicBezTo>
                  <a:cubicBezTo>
                    <a:pt x="2173146" y="2279547"/>
                    <a:pt x="2161101" y="2284537"/>
                    <a:pt x="2148541" y="2284537"/>
                  </a:cubicBezTo>
                  <a:lnTo>
                    <a:pt x="47357" y="2284537"/>
                  </a:lnTo>
                  <a:cubicBezTo>
                    <a:pt x="34797" y="2284537"/>
                    <a:pt x="22752" y="2279547"/>
                    <a:pt x="13870" y="2270666"/>
                  </a:cubicBezTo>
                  <a:cubicBezTo>
                    <a:pt x="4989" y="2261785"/>
                    <a:pt x="0" y="2249740"/>
                    <a:pt x="0" y="2237180"/>
                  </a:cubicBezTo>
                  <a:lnTo>
                    <a:pt x="0" y="47357"/>
                  </a:lnTo>
                  <a:cubicBezTo>
                    <a:pt x="0" y="34797"/>
                    <a:pt x="4989" y="22752"/>
                    <a:pt x="13870" y="13870"/>
                  </a:cubicBezTo>
                  <a:cubicBezTo>
                    <a:pt x="22752" y="4989"/>
                    <a:pt x="34797" y="0"/>
                    <a:pt x="47357" y="0"/>
                  </a:cubicBezTo>
                  <a:close/>
                </a:path>
              </a:pathLst>
            </a:custGeom>
            <a:solidFill>
              <a:srgbClr val="004AAD"/>
            </a:solidFill>
          </p:spPr>
        </p:sp>
        <p:sp>
          <p:nvSpPr>
            <p:cNvPr name="TextBox 11" id="11"/>
            <p:cNvSpPr txBox="true"/>
            <p:nvPr/>
          </p:nvSpPr>
          <p:spPr>
            <a:xfrm>
              <a:off x="0" y="-47625"/>
              <a:ext cx="2195898" cy="2332162"/>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2547180" y="3293897"/>
            <a:ext cx="4856091" cy="441391"/>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Giao diện Gọn gàng, Rõ ràng</a:t>
            </a:r>
          </a:p>
        </p:txBody>
      </p:sp>
      <p:sp>
        <p:nvSpPr>
          <p:cNvPr name="TextBox 13" id="13"/>
          <p:cNvSpPr txBox="true"/>
          <p:nvPr/>
        </p:nvSpPr>
        <p:spPr>
          <a:xfrm rot="0">
            <a:off x="3221204" y="4211538"/>
            <a:ext cx="3508042" cy="441391"/>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Phân cấp nội dung tốt</a:t>
            </a:r>
          </a:p>
        </p:txBody>
      </p:sp>
      <p:sp>
        <p:nvSpPr>
          <p:cNvPr name="TextBox 14" id="14"/>
          <p:cNvSpPr txBox="true"/>
          <p:nvPr/>
        </p:nvSpPr>
        <p:spPr>
          <a:xfrm rot="0">
            <a:off x="2959447" y="5129179"/>
            <a:ext cx="4031556" cy="879607"/>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Dễ dàng thêm/xóa tab và tùy biến giao diện</a:t>
            </a:r>
          </a:p>
        </p:txBody>
      </p:sp>
      <p:sp>
        <p:nvSpPr>
          <p:cNvPr name="TextBox 15" id="15"/>
          <p:cNvSpPr txBox="true"/>
          <p:nvPr/>
        </p:nvSpPr>
        <p:spPr>
          <a:xfrm rot="0">
            <a:off x="3553255" y="972555"/>
            <a:ext cx="2843940" cy="934687"/>
          </a:xfrm>
          <a:prstGeom prst="rect">
            <a:avLst/>
          </a:prstGeom>
        </p:spPr>
        <p:txBody>
          <a:bodyPr anchor="t" rtlCol="false" tIns="0" lIns="0" bIns="0" rIns="0">
            <a:spAutoFit/>
          </a:bodyPr>
          <a:lstStyle/>
          <a:p>
            <a:pPr algn="ctr" marL="0" indent="0" lvl="0">
              <a:lnSpc>
                <a:spcPts val="7279"/>
              </a:lnSpc>
              <a:spcBef>
                <a:spcPct val="0"/>
              </a:spcBef>
            </a:pPr>
            <a:r>
              <a:rPr lang="en-US" b="true" sz="5199">
                <a:solidFill>
                  <a:srgbClr val="F3F3F3"/>
                </a:solidFill>
                <a:latin typeface="Poppins Bold"/>
                <a:ea typeface="Poppins Bold"/>
                <a:cs typeface="Poppins Bold"/>
                <a:sym typeface="Poppins Bold"/>
              </a:rPr>
              <a:t>ƯU ĐIỂM</a:t>
            </a:r>
          </a:p>
        </p:txBody>
      </p:sp>
      <p:sp>
        <p:nvSpPr>
          <p:cNvPr name="TextBox 16" id="16"/>
          <p:cNvSpPr txBox="true"/>
          <p:nvPr/>
        </p:nvSpPr>
        <p:spPr>
          <a:xfrm rot="0">
            <a:off x="3221204" y="6485037"/>
            <a:ext cx="3625833" cy="441391"/>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oppins"/>
                <a:ea typeface="Poppins"/>
                <a:cs typeface="Poppins"/>
                <a:sym typeface="Poppins"/>
              </a:rPr>
              <a:t>Chuẩn Material Design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792707" cy="10287000"/>
            <a:chOff x="0" y="0"/>
            <a:chExt cx="1789026" cy="2709333"/>
          </a:xfrm>
        </p:grpSpPr>
        <p:sp>
          <p:nvSpPr>
            <p:cNvPr name="Freeform 4" id="4"/>
            <p:cNvSpPr/>
            <p:nvPr/>
          </p:nvSpPr>
          <p:spPr>
            <a:xfrm flipH="false" flipV="false" rot="0">
              <a:off x="0" y="0"/>
              <a:ext cx="1789026" cy="2709333"/>
            </a:xfrm>
            <a:custGeom>
              <a:avLst/>
              <a:gdLst/>
              <a:ahLst/>
              <a:cxnLst/>
              <a:rect r="r" b="b" t="t" l="l"/>
              <a:pathLst>
                <a:path h="2709333" w="1789026">
                  <a:moveTo>
                    <a:pt x="0" y="0"/>
                  </a:moveTo>
                  <a:lnTo>
                    <a:pt x="1789026" y="0"/>
                  </a:lnTo>
                  <a:lnTo>
                    <a:pt x="1789026" y="2709333"/>
                  </a:lnTo>
                  <a:lnTo>
                    <a:pt x="0" y="2709333"/>
                  </a:lnTo>
                  <a:close/>
                </a:path>
              </a:pathLst>
            </a:custGeom>
            <a:solidFill>
              <a:srgbClr val="004AAD"/>
            </a:solidFill>
          </p:spPr>
        </p:sp>
        <p:sp>
          <p:nvSpPr>
            <p:cNvPr name="TextBox 5" id="5"/>
            <p:cNvSpPr txBox="true"/>
            <p:nvPr/>
          </p:nvSpPr>
          <p:spPr>
            <a:xfrm>
              <a:off x="0" y="-47625"/>
              <a:ext cx="1789026" cy="2756958"/>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5316474" y="8630505"/>
            <a:ext cx="897167" cy="2183545"/>
            <a:chOff x="0" y="0"/>
            <a:chExt cx="236291" cy="575090"/>
          </a:xfrm>
        </p:grpSpPr>
        <p:sp>
          <p:nvSpPr>
            <p:cNvPr name="Freeform 7" id="7"/>
            <p:cNvSpPr/>
            <p:nvPr/>
          </p:nvSpPr>
          <p:spPr>
            <a:xfrm flipH="false" flipV="false" rot="0">
              <a:off x="0" y="0"/>
              <a:ext cx="236291" cy="575090"/>
            </a:xfrm>
            <a:custGeom>
              <a:avLst/>
              <a:gdLst/>
              <a:ahLst/>
              <a:cxnLst/>
              <a:rect r="r" b="b" t="t" l="l"/>
              <a:pathLst>
                <a:path h="575090" w="236291">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name="TextBox 8" id="8"/>
            <p:cNvSpPr txBox="true"/>
            <p:nvPr/>
          </p:nvSpPr>
          <p:spPr>
            <a:xfrm>
              <a:off x="0" y="-47625"/>
              <a:ext cx="236291" cy="622715"/>
            </a:xfrm>
            <a:prstGeom prst="rect">
              <a:avLst/>
            </a:prstGeom>
          </p:spPr>
          <p:txBody>
            <a:bodyPr anchor="ctr" rtlCol="false" tIns="50800" lIns="50800" bIns="50800" rIns="50800"/>
            <a:lstStyle/>
            <a:p>
              <a:pPr algn="ctr">
                <a:lnSpc>
                  <a:spcPts val="2659"/>
                </a:lnSpc>
              </a:pPr>
            </a:p>
          </p:txBody>
        </p:sp>
      </p:grpSp>
      <p:grpSp>
        <p:nvGrpSpPr>
          <p:cNvPr name="Group 9" id="9"/>
          <p:cNvGrpSpPr>
            <a:grpSpLocks noChangeAspect="true"/>
          </p:cNvGrpSpPr>
          <p:nvPr/>
        </p:nvGrpSpPr>
        <p:grpSpPr>
          <a:xfrm rot="0">
            <a:off x="9689754" y="1281394"/>
            <a:ext cx="5747833" cy="7724211"/>
            <a:chOff x="0" y="0"/>
            <a:chExt cx="3663950" cy="4923790"/>
          </a:xfrm>
        </p:grpSpPr>
        <p:sp>
          <p:nvSpPr>
            <p:cNvPr name="Freeform 10" id="10"/>
            <p:cNvSpPr/>
            <p:nvPr/>
          </p:nvSpPr>
          <p:spPr>
            <a:xfrm flipH="false" flipV="false" rot="0">
              <a:off x="31750" y="31750"/>
              <a:ext cx="3600450" cy="4859020"/>
            </a:xfrm>
            <a:custGeom>
              <a:avLst/>
              <a:gdLst/>
              <a:ahLst/>
              <a:cxnLst/>
              <a:rect r="r" b="b" t="t" l="l"/>
              <a:pathLst>
                <a:path h="4859020" w="3600450">
                  <a:moveTo>
                    <a:pt x="3600450" y="4499610"/>
                  </a:moveTo>
                  <a:cubicBezTo>
                    <a:pt x="3600450" y="4699000"/>
                    <a:pt x="3439160" y="4859020"/>
                    <a:pt x="3241040" y="4859020"/>
                  </a:cubicBezTo>
                  <a:lnTo>
                    <a:pt x="359410" y="4859020"/>
                  </a:lnTo>
                  <a:cubicBezTo>
                    <a:pt x="160020" y="4859020"/>
                    <a:pt x="0" y="4697730"/>
                    <a:pt x="0" y="4499610"/>
                  </a:cubicBezTo>
                  <a:lnTo>
                    <a:pt x="0" y="359410"/>
                  </a:lnTo>
                  <a:cubicBezTo>
                    <a:pt x="0" y="160020"/>
                    <a:pt x="161290" y="0"/>
                    <a:pt x="359410" y="0"/>
                  </a:cubicBezTo>
                  <a:lnTo>
                    <a:pt x="3239770" y="0"/>
                  </a:lnTo>
                  <a:cubicBezTo>
                    <a:pt x="3439160" y="0"/>
                    <a:pt x="3599180" y="161290"/>
                    <a:pt x="3599180" y="359410"/>
                  </a:cubicBezTo>
                  <a:lnTo>
                    <a:pt x="3600450" y="4499610"/>
                  </a:lnTo>
                  <a:close/>
                </a:path>
              </a:pathLst>
            </a:custGeom>
            <a:blipFill>
              <a:blip r:embed="rId3"/>
              <a:stretch>
                <a:fillRect l="-7766" t="0" r="-7766" b="0"/>
              </a:stretch>
            </a:blipFill>
          </p:spPr>
        </p:sp>
        <p:sp>
          <p:nvSpPr>
            <p:cNvPr name="Freeform 11" id="11"/>
            <p:cNvSpPr/>
            <p:nvPr/>
          </p:nvSpPr>
          <p:spPr>
            <a:xfrm flipH="false" flipV="false" rot="0">
              <a:off x="0" y="0"/>
              <a:ext cx="3662687" cy="4923790"/>
            </a:xfrm>
            <a:custGeom>
              <a:avLst/>
              <a:gdLst/>
              <a:ahLst/>
              <a:cxnLst/>
              <a:rect r="r" b="b" t="t" l="l"/>
              <a:pathLst>
                <a:path h="4923790" w="3662687">
                  <a:moveTo>
                    <a:pt x="3271520" y="4923790"/>
                  </a:moveTo>
                  <a:lnTo>
                    <a:pt x="391160" y="4923790"/>
                  </a:lnTo>
                  <a:cubicBezTo>
                    <a:pt x="175260" y="4923790"/>
                    <a:pt x="0" y="4748530"/>
                    <a:pt x="0" y="4532630"/>
                  </a:cubicBezTo>
                  <a:lnTo>
                    <a:pt x="0" y="392430"/>
                  </a:lnTo>
                  <a:cubicBezTo>
                    <a:pt x="0" y="175260"/>
                    <a:pt x="175260" y="0"/>
                    <a:pt x="391160" y="0"/>
                  </a:cubicBezTo>
                  <a:lnTo>
                    <a:pt x="3271520" y="0"/>
                  </a:lnTo>
                  <a:cubicBezTo>
                    <a:pt x="3487420" y="0"/>
                    <a:pt x="3662680" y="175260"/>
                    <a:pt x="3662680" y="391160"/>
                  </a:cubicBezTo>
                  <a:lnTo>
                    <a:pt x="3662680" y="4531360"/>
                  </a:lnTo>
                  <a:cubicBezTo>
                    <a:pt x="3663950" y="4747260"/>
                    <a:pt x="3487420" y="4923790"/>
                    <a:pt x="3271520" y="4923790"/>
                  </a:cubicBezTo>
                  <a:close/>
                  <a:moveTo>
                    <a:pt x="391160" y="63500"/>
                  </a:moveTo>
                  <a:cubicBezTo>
                    <a:pt x="210820" y="63500"/>
                    <a:pt x="63500" y="210820"/>
                    <a:pt x="63500" y="391160"/>
                  </a:cubicBezTo>
                  <a:lnTo>
                    <a:pt x="63500" y="4531360"/>
                  </a:lnTo>
                  <a:cubicBezTo>
                    <a:pt x="63500" y="4712970"/>
                    <a:pt x="210820" y="4859020"/>
                    <a:pt x="391160" y="4859020"/>
                  </a:cubicBezTo>
                  <a:lnTo>
                    <a:pt x="3271520" y="4859020"/>
                  </a:lnTo>
                  <a:cubicBezTo>
                    <a:pt x="3453130" y="4859020"/>
                    <a:pt x="3599180" y="4711700"/>
                    <a:pt x="3599180" y="4531360"/>
                  </a:cubicBezTo>
                  <a:lnTo>
                    <a:pt x="3599180" y="391160"/>
                  </a:lnTo>
                  <a:cubicBezTo>
                    <a:pt x="3599180" y="209550"/>
                    <a:pt x="3451860" y="63500"/>
                    <a:pt x="3271520" y="63500"/>
                  </a:cubicBezTo>
                  <a:lnTo>
                    <a:pt x="391160" y="63500"/>
                  </a:lnTo>
                  <a:close/>
                </a:path>
              </a:pathLst>
            </a:custGeom>
            <a:solidFill>
              <a:srgbClr val="004AAD"/>
            </a:solidFill>
          </p:spPr>
        </p:sp>
      </p:grpSp>
      <p:sp>
        <p:nvSpPr>
          <p:cNvPr name="TextBox 12" id="12"/>
          <p:cNvSpPr txBox="true"/>
          <p:nvPr/>
        </p:nvSpPr>
        <p:spPr>
          <a:xfrm rot="0">
            <a:off x="709411" y="588435"/>
            <a:ext cx="4243380" cy="794772"/>
          </a:xfrm>
          <a:prstGeom prst="rect">
            <a:avLst/>
          </a:prstGeom>
        </p:spPr>
        <p:txBody>
          <a:bodyPr anchor="t" rtlCol="false" tIns="0" lIns="0" bIns="0" rIns="0">
            <a:spAutoFit/>
          </a:bodyPr>
          <a:lstStyle/>
          <a:p>
            <a:pPr algn="l">
              <a:lnSpc>
                <a:spcPts val="6591"/>
              </a:lnSpc>
            </a:pPr>
            <a:r>
              <a:rPr lang="en-US" sz="4708">
                <a:solidFill>
                  <a:srgbClr val="FFFFFF"/>
                </a:solidFill>
                <a:latin typeface="League Spartan"/>
                <a:ea typeface="League Spartan"/>
                <a:cs typeface="League Spartan"/>
                <a:sym typeface="League Spartan"/>
              </a:rPr>
              <a:t>3.</a:t>
            </a:r>
          </a:p>
        </p:txBody>
      </p:sp>
      <p:sp>
        <p:nvSpPr>
          <p:cNvPr name="TextBox 13" id="13"/>
          <p:cNvSpPr txBox="true"/>
          <p:nvPr/>
        </p:nvSpPr>
        <p:spPr>
          <a:xfrm rot="0">
            <a:off x="709411" y="1268907"/>
            <a:ext cx="3965199" cy="1422268"/>
          </a:xfrm>
          <a:prstGeom prst="rect">
            <a:avLst/>
          </a:prstGeom>
        </p:spPr>
        <p:txBody>
          <a:bodyPr anchor="t" rtlCol="false" tIns="0" lIns="0" bIns="0" rIns="0">
            <a:spAutoFit/>
          </a:bodyPr>
          <a:lstStyle/>
          <a:p>
            <a:pPr algn="l">
              <a:lnSpc>
                <a:spcPts val="5599"/>
              </a:lnSpc>
            </a:pPr>
            <a:r>
              <a:rPr lang="en-US" b="true" sz="3999">
                <a:solidFill>
                  <a:srgbClr val="FFFFFF"/>
                </a:solidFill>
                <a:latin typeface="Poppins Bold"/>
                <a:ea typeface="Poppins Bold"/>
                <a:cs typeface="Poppins Bold"/>
                <a:sym typeface="Poppins Bold"/>
              </a:rPr>
              <a:t>NAVIGATION COMPONENT</a:t>
            </a:r>
          </a:p>
        </p:txBody>
      </p:sp>
      <p:sp>
        <p:nvSpPr>
          <p:cNvPr name="TextBox 14" id="14"/>
          <p:cNvSpPr txBox="true"/>
          <p:nvPr/>
        </p:nvSpPr>
        <p:spPr>
          <a:xfrm rot="0">
            <a:off x="579067" y="2973748"/>
            <a:ext cx="5634574" cy="1860195"/>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FFFFFF"/>
                </a:solidFill>
                <a:latin typeface="Poppins"/>
                <a:ea typeface="Poppins"/>
                <a:cs typeface="Poppins"/>
                <a:sym typeface="Poppins"/>
              </a:rPr>
              <a:t>Điều Hướng (Navigation): Là các tương tác cho phép người dùng di chuyển qua lại, vào, và ra khỏi các thành phần nội dung (màn hình) khác nhau bên trong ứng dụng.</a:t>
            </a:r>
          </a:p>
        </p:txBody>
      </p:sp>
      <p:sp>
        <p:nvSpPr>
          <p:cNvPr name="TextBox 15" id="15"/>
          <p:cNvSpPr txBox="true"/>
          <p:nvPr/>
        </p:nvSpPr>
        <p:spPr>
          <a:xfrm rot="0">
            <a:off x="579067" y="6430587"/>
            <a:ext cx="5634574" cy="2603013"/>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FFFFFF"/>
                </a:solidFill>
                <a:latin typeface="Poppins"/>
                <a:ea typeface="Poppins"/>
                <a:cs typeface="Poppins"/>
                <a:sym typeface="Poppins"/>
              </a:rPr>
              <a:t>Navigation Component:</a:t>
            </a:r>
          </a:p>
          <a:p>
            <a:pPr algn="l" marL="917995" indent="-305998" lvl="2">
              <a:lnSpc>
                <a:spcPts val="2976"/>
              </a:lnSpc>
              <a:buFont typeface="Arial"/>
              <a:buChar char="⚬"/>
            </a:pPr>
            <a:r>
              <a:rPr lang="en-US" sz="2125">
                <a:solidFill>
                  <a:srgbClr val="FFFFFF"/>
                </a:solidFill>
                <a:latin typeface="Poppins"/>
                <a:ea typeface="Poppins"/>
                <a:cs typeface="Poppins"/>
                <a:sym typeface="Poppins"/>
              </a:rPr>
              <a:t>Là một phần của Android Jetpack do Google giới thiệu.</a:t>
            </a:r>
          </a:p>
          <a:p>
            <a:pPr algn="l" marL="917995" indent="-305998" lvl="2">
              <a:lnSpc>
                <a:spcPts val="2976"/>
              </a:lnSpc>
              <a:buFont typeface="Arial"/>
              <a:buChar char="⚬"/>
            </a:pPr>
            <a:r>
              <a:rPr lang="en-US" sz="2125">
                <a:solidFill>
                  <a:srgbClr val="FFFFFF"/>
                </a:solidFill>
                <a:latin typeface="Poppins"/>
                <a:ea typeface="Poppins"/>
                <a:cs typeface="Poppins"/>
                <a:sym typeface="Poppins"/>
              </a:rPr>
              <a:t>Mục đích: Đơn giản hóa và tiêu chuẩn hóa việc triển khai điều hướng.</a:t>
            </a:r>
          </a:p>
          <a:p>
            <a:pPr algn="l">
              <a:lnSpc>
                <a:spcPts val="2976"/>
              </a:lnSpc>
            </a:pPr>
          </a:p>
        </p:txBody>
      </p:sp>
      <p:sp>
        <p:nvSpPr>
          <p:cNvPr name="TextBox 16" id="16"/>
          <p:cNvSpPr txBox="true"/>
          <p:nvPr/>
        </p:nvSpPr>
        <p:spPr>
          <a:xfrm rot="0">
            <a:off x="579067" y="5086350"/>
            <a:ext cx="5634574" cy="1488786"/>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FFFFFF"/>
                </a:solidFill>
                <a:latin typeface="Poppins"/>
                <a:ea typeface="Poppins"/>
                <a:cs typeface="Poppins"/>
                <a:sym typeface="Poppins"/>
              </a:rPr>
              <a:t>Bản chất: là cách người dùng trải nghiệm luồng ứng dụng của bạn, từ màn hình này sang màn hình khác</a:t>
            </a:r>
          </a:p>
          <a:p>
            <a:pPr algn="l">
              <a:lnSpc>
                <a:spcPts val="2976"/>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891496"/>
            <a:ext cx="4243380" cy="1903383"/>
          </a:xfrm>
          <a:prstGeom prst="rect">
            <a:avLst/>
          </a:prstGeom>
        </p:spPr>
        <p:txBody>
          <a:bodyPr anchor="t" rtlCol="false" tIns="0" lIns="0" bIns="0" rIns="0">
            <a:spAutoFit/>
          </a:bodyPr>
          <a:lstStyle/>
          <a:p>
            <a:pPr algn="l">
              <a:lnSpc>
                <a:spcPts val="7431"/>
              </a:lnSpc>
            </a:pPr>
            <a:r>
              <a:rPr lang="en-US" b="true" sz="5308">
                <a:solidFill>
                  <a:srgbClr val="004AAD"/>
                </a:solidFill>
                <a:latin typeface="Poppins Bold"/>
                <a:ea typeface="Poppins Bold"/>
                <a:cs typeface="Poppins Bold"/>
                <a:sym typeface="Poppins Bold"/>
              </a:rPr>
              <a:t>CÁC KHÁI NIỆM CHÍNH</a:t>
            </a:r>
          </a:p>
        </p:txBody>
      </p:sp>
      <p:sp>
        <p:nvSpPr>
          <p:cNvPr name="TextBox 7" id="7"/>
          <p:cNvSpPr txBox="true"/>
          <p:nvPr/>
        </p:nvSpPr>
        <p:spPr>
          <a:xfrm rot="0">
            <a:off x="2765888" y="4014088"/>
            <a:ext cx="5634574" cy="2231604"/>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000000"/>
                </a:solidFill>
                <a:latin typeface="Poppins"/>
                <a:ea typeface="Poppins"/>
                <a:cs typeface="Poppins"/>
                <a:sym typeface="Poppins"/>
              </a:rPr>
              <a:t>Một phần tử UI chứa đích đến điều hướng hiện tại. Khi người dùng điều hướng, ứng dụng thực chất là hoán đổi các đích đến vào và ra khỏi Host này.</a:t>
            </a:r>
          </a:p>
          <a:p>
            <a:pPr algn="l" marL="458997" indent="-229499" lvl="1">
              <a:lnSpc>
                <a:spcPts val="2976"/>
              </a:lnSpc>
              <a:spcBef>
                <a:spcPct val="0"/>
              </a:spcBef>
              <a:buFont typeface="Arial"/>
              <a:buChar char="•"/>
            </a:pPr>
            <a:r>
              <a:rPr lang="en-US" sz="2125">
                <a:solidFill>
                  <a:srgbClr val="000000"/>
                </a:solidFill>
                <a:latin typeface="Poppins"/>
                <a:ea typeface="Poppins"/>
                <a:cs typeface="Poppins"/>
                <a:sym typeface="Poppins"/>
              </a:rPr>
              <a:t>Kiểu: NavHostFragment</a:t>
            </a:r>
          </a:p>
        </p:txBody>
      </p:sp>
      <p:sp>
        <p:nvSpPr>
          <p:cNvPr name="TextBox 8" id="8"/>
          <p:cNvSpPr txBox="true"/>
          <p:nvPr/>
        </p:nvSpPr>
        <p:spPr>
          <a:xfrm rot="0">
            <a:off x="2765888" y="6908572"/>
            <a:ext cx="5634574" cy="1117377"/>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000000"/>
                </a:solidFill>
                <a:latin typeface="Poppins"/>
                <a:ea typeface="Poppins"/>
                <a:cs typeface="Poppins"/>
                <a:sym typeface="Poppins"/>
              </a:rPr>
              <a:t>Cấu trúc dữ liệu định nghĩa TẤT CẢ đích đến và cách chúng kết nối</a:t>
            </a:r>
          </a:p>
          <a:p>
            <a:pPr algn="l" marL="458997" indent="-229499" lvl="1">
              <a:lnSpc>
                <a:spcPts val="2976"/>
              </a:lnSpc>
              <a:spcBef>
                <a:spcPct val="0"/>
              </a:spcBef>
              <a:buFont typeface="Arial"/>
              <a:buChar char="•"/>
            </a:pPr>
            <a:r>
              <a:rPr lang="en-US" sz="2125">
                <a:solidFill>
                  <a:srgbClr val="000000"/>
                </a:solidFill>
                <a:latin typeface="Poppins"/>
                <a:ea typeface="Poppins"/>
                <a:cs typeface="Poppins"/>
                <a:sym typeface="Poppins"/>
              </a:rPr>
              <a:t>Kiểu: NavGraph</a:t>
            </a:r>
          </a:p>
        </p:txBody>
      </p:sp>
      <p:sp>
        <p:nvSpPr>
          <p:cNvPr name="TextBox 9" id="9"/>
          <p:cNvSpPr txBox="true"/>
          <p:nvPr/>
        </p:nvSpPr>
        <p:spPr>
          <a:xfrm rot="0">
            <a:off x="9623888" y="4014088"/>
            <a:ext cx="5634574" cy="1488786"/>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000000"/>
                </a:solidFill>
                <a:latin typeface="Poppins"/>
                <a:ea typeface="Poppins"/>
                <a:cs typeface="Poppins"/>
                <a:sym typeface="Poppins"/>
              </a:rPr>
              <a:t>Điều phối viên trung tâm, quản lý việc điều hướng (chuyển màn hình, back stack).</a:t>
            </a:r>
          </a:p>
          <a:p>
            <a:pPr algn="l" marL="458997" indent="-229499" lvl="1">
              <a:lnSpc>
                <a:spcPts val="2976"/>
              </a:lnSpc>
              <a:spcBef>
                <a:spcPct val="0"/>
              </a:spcBef>
              <a:buFont typeface="Arial"/>
              <a:buChar char="•"/>
            </a:pPr>
            <a:r>
              <a:rPr lang="en-US" sz="2125">
                <a:solidFill>
                  <a:srgbClr val="000000"/>
                </a:solidFill>
                <a:latin typeface="Poppins"/>
                <a:ea typeface="Poppins"/>
                <a:cs typeface="Poppins"/>
                <a:sym typeface="Poppins"/>
              </a:rPr>
              <a:t>Kiểu: NavController</a:t>
            </a:r>
          </a:p>
        </p:txBody>
      </p:sp>
      <p:sp>
        <p:nvSpPr>
          <p:cNvPr name="TextBox 10" id="10"/>
          <p:cNvSpPr txBox="true"/>
          <p:nvPr/>
        </p:nvSpPr>
        <p:spPr>
          <a:xfrm rot="0">
            <a:off x="9623888" y="6500585"/>
            <a:ext cx="5634574" cy="1489050"/>
          </a:xfrm>
          <a:prstGeom prst="rect">
            <a:avLst/>
          </a:prstGeom>
        </p:spPr>
        <p:txBody>
          <a:bodyPr anchor="t" rtlCol="false" tIns="0" lIns="0" bIns="0" rIns="0">
            <a:spAutoFit/>
          </a:bodyPr>
          <a:lstStyle/>
          <a:p>
            <a:pPr algn="l" marL="458997" indent="-229499" lvl="1">
              <a:lnSpc>
                <a:spcPts val="2976"/>
              </a:lnSpc>
              <a:buFont typeface="Arial"/>
              <a:buChar char="•"/>
            </a:pPr>
            <a:r>
              <a:rPr lang="en-US" sz="2125">
                <a:solidFill>
                  <a:srgbClr val="000000"/>
                </a:solidFill>
                <a:latin typeface="Poppins"/>
                <a:ea typeface="Poppins"/>
                <a:cs typeface="Poppins"/>
                <a:sym typeface="Poppins"/>
              </a:rPr>
              <a:t>Một nút trong đồ thị. Khi điều hướng, nội dung của nó sẽ được hiển thị</a:t>
            </a:r>
          </a:p>
          <a:p>
            <a:pPr algn="l" marL="458997" indent="-229499" lvl="1">
              <a:lnSpc>
                <a:spcPts val="2976"/>
              </a:lnSpc>
              <a:spcBef>
                <a:spcPct val="0"/>
              </a:spcBef>
              <a:buFont typeface="Arial"/>
              <a:buChar char="•"/>
            </a:pPr>
            <a:r>
              <a:rPr lang="en-US" sz="2125">
                <a:solidFill>
                  <a:srgbClr val="000000"/>
                </a:solidFill>
                <a:latin typeface="Poppins"/>
                <a:ea typeface="Poppins"/>
                <a:cs typeface="Poppins"/>
                <a:sym typeface="Poppins"/>
              </a:rPr>
              <a:t>Kiểu: NavDestination (thường được tạo khi xây dựng NavGraph)</a:t>
            </a:r>
          </a:p>
        </p:txBody>
      </p:sp>
      <p:sp>
        <p:nvSpPr>
          <p:cNvPr name="TextBox 11" id="11"/>
          <p:cNvSpPr txBox="true"/>
          <p:nvPr/>
        </p:nvSpPr>
        <p:spPr>
          <a:xfrm rot="0">
            <a:off x="2765888" y="3295645"/>
            <a:ext cx="3570387" cy="635000"/>
          </a:xfrm>
          <a:prstGeom prst="rect">
            <a:avLst/>
          </a:prstGeom>
        </p:spPr>
        <p:txBody>
          <a:bodyPr anchor="t" rtlCol="false" tIns="0" lIns="0" bIns="0" rIns="0">
            <a:spAutoFit/>
          </a:bodyPr>
          <a:lstStyle/>
          <a:p>
            <a:pPr algn="ctr" marL="0" indent="0" lvl="0">
              <a:lnSpc>
                <a:spcPts val="4900"/>
              </a:lnSpc>
              <a:spcBef>
                <a:spcPct val="0"/>
              </a:spcBef>
            </a:pPr>
            <a:r>
              <a:rPr lang="en-US" b="true" sz="3500">
                <a:solidFill>
                  <a:srgbClr val="000000"/>
                </a:solidFill>
                <a:latin typeface="Poppins Bold"/>
                <a:ea typeface="Poppins Bold"/>
                <a:cs typeface="Poppins Bold"/>
                <a:sym typeface="Poppins Bold"/>
              </a:rPr>
              <a:t>Hos</a:t>
            </a:r>
            <a:r>
              <a:rPr lang="en-US" b="true" sz="3500" strike="noStrike" u="none">
                <a:solidFill>
                  <a:srgbClr val="000000"/>
                </a:solidFill>
                <a:latin typeface="Poppins Bold"/>
                <a:ea typeface="Poppins Bold"/>
                <a:cs typeface="Poppins Bold"/>
                <a:sym typeface="Poppins Bold"/>
              </a:rPr>
              <a:t>t </a:t>
            </a:r>
            <a:r>
              <a:rPr lang="en-US" b="true" sz="3500" strike="noStrike" u="none">
                <a:solidFill>
                  <a:srgbClr val="000000"/>
                </a:solidFill>
                <a:latin typeface="Poppins Bold"/>
                <a:ea typeface="Poppins Bold"/>
                <a:cs typeface="Poppins Bold"/>
                <a:sym typeface="Poppins Bold"/>
              </a:rPr>
              <a:t>(Máy</a:t>
            </a:r>
            <a:r>
              <a:rPr lang="en-US" b="true" sz="3500" strike="noStrike" u="none">
                <a:solidFill>
                  <a:srgbClr val="000000"/>
                </a:solidFill>
                <a:latin typeface="Poppins Bold"/>
                <a:ea typeface="Poppins Bold"/>
                <a:cs typeface="Poppins Bold"/>
                <a:sym typeface="Poppins Bold"/>
              </a:rPr>
              <a:t> </a:t>
            </a:r>
            <a:r>
              <a:rPr lang="en-US" b="true" sz="3500" strike="noStrike" u="none">
                <a:solidFill>
                  <a:srgbClr val="000000"/>
                </a:solidFill>
                <a:latin typeface="Poppins Bold"/>
                <a:ea typeface="Poppins Bold"/>
                <a:cs typeface="Poppins Bold"/>
                <a:sym typeface="Poppins Bold"/>
              </a:rPr>
              <a:t>C</a:t>
            </a:r>
            <a:r>
              <a:rPr lang="en-US" b="true" sz="3500" strike="noStrike" u="none">
                <a:solidFill>
                  <a:srgbClr val="000000"/>
                </a:solidFill>
                <a:latin typeface="Poppins Bold"/>
                <a:ea typeface="Poppins Bold"/>
                <a:cs typeface="Poppins Bold"/>
                <a:sym typeface="Poppins Bold"/>
              </a:rPr>
              <a:t>h</a:t>
            </a:r>
            <a:r>
              <a:rPr lang="en-US" b="true" sz="3500" strike="noStrike" u="none">
                <a:solidFill>
                  <a:srgbClr val="000000"/>
                </a:solidFill>
                <a:latin typeface="Poppins Bold"/>
                <a:ea typeface="Poppins Bold"/>
                <a:cs typeface="Poppins Bold"/>
                <a:sym typeface="Poppins Bold"/>
              </a:rPr>
              <a:t>ủ)</a:t>
            </a:r>
          </a:p>
        </p:txBody>
      </p:sp>
      <p:sp>
        <p:nvSpPr>
          <p:cNvPr name="TextBox 12" id="12"/>
          <p:cNvSpPr txBox="true"/>
          <p:nvPr/>
        </p:nvSpPr>
        <p:spPr>
          <a:xfrm rot="0">
            <a:off x="2879493" y="6187847"/>
            <a:ext cx="3343176" cy="635000"/>
          </a:xfrm>
          <a:prstGeom prst="rect">
            <a:avLst/>
          </a:prstGeom>
        </p:spPr>
        <p:txBody>
          <a:bodyPr anchor="t" rtlCol="false" tIns="0" lIns="0" bIns="0" rIns="0">
            <a:spAutoFit/>
          </a:bodyPr>
          <a:lstStyle/>
          <a:p>
            <a:pPr algn="ctr" marL="0" indent="0" lvl="0">
              <a:lnSpc>
                <a:spcPts val="4900"/>
              </a:lnSpc>
              <a:spcBef>
                <a:spcPct val="0"/>
              </a:spcBef>
            </a:pPr>
            <a:r>
              <a:rPr lang="en-US" b="true" sz="3500">
                <a:solidFill>
                  <a:srgbClr val="000000"/>
                </a:solidFill>
                <a:latin typeface="Poppins Bold"/>
                <a:ea typeface="Poppins Bold"/>
                <a:cs typeface="Poppins Bold"/>
                <a:sym typeface="Poppins Bold"/>
              </a:rPr>
              <a:t>Graph</a:t>
            </a:r>
            <a:r>
              <a:rPr lang="en-US" b="true" sz="3500" strike="noStrike" u="none">
                <a:solidFill>
                  <a:srgbClr val="000000"/>
                </a:solidFill>
                <a:latin typeface="Poppins Bold"/>
                <a:ea typeface="Poppins Bold"/>
                <a:cs typeface="Poppins Bold"/>
                <a:sym typeface="Poppins Bold"/>
              </a:rPr>
              <a:t> (</a:t>
            </a:r>
            <a:r>
              <a:rPr lang="en-US" b="true" sz="3500" strike="noStrike" u="none">
                <a:solidFill>
                  <a:srgbClr val="000000"/>
                </a:solidFill>
                <a:latin typeface="Poppins Bold"/>
                <a:ea typeface="Poppins Bold"/>
                <a:cs typeface="Poppins Bold"/>
                <a:sym typeface="Poppins Bold"/>
              </a:rPr>
              <a:t>Đồ</a:t>
            </a:r>
            <a:r>
              <a:rPr lang="en-US" b="true" sz="3500" strike="noStrike" u="none">
                <a:solidFill>
                  <a:srgbClr val="000000"/>
                </a:solidFill>
                <a:latin typeface="Poppins Bold"/>
                <a:ea typeface="Poppins Bold"/>
                <a:cs typeface="Poppins Bold"/>
                <a:sym typeface="Poppins Bold"/>
              </a:rPr>
              <a:t> Thị)</a:t>
            </a:r>
          </a:p>
        </p:txBody>
      </p:sp>
      <p:sp>
        <p:nvSpPr>
          <p:cNvPr name="TextBox 13" id="13"/>
          <p:cNvSpPr txBox="true"/>
          <p:nvPr/>
        </p:nvSpPr>
        <p:spPr>
          <a:xfrm rot="0">
            <a:off x="9623888" y="3436238"/>
            <a:ext cx="5898224" cy="635000"/>
          </a:xfrm>
          <a:prstGeom prst="rect">
            <a:avLst/>
          </a:prstGeom>
        </p:spPr>
        <p:txBody>
          <a:bodyPr anchor="t" rtlCol="false" tIns="0" lIns="0" bIns="0" rIns="0">
            <a:spAutoFit/>
          </a:bodyPr>
          <a:lstStyle/>
          <a:p>
            <a:pPr algn="ctr" marL="0" indent="0" lvl="0">
              <a:lnSpc>
                <a:spcPts val="4900"/>
              </a:lnSpc>
              <a:spcBef>
                <a:spcPct val="0"/>
              </a:spcBef>
            </a:pPr>
            <a:r>
              <a:rPr lang="en-US" b="true" sz="3500">
                <a:solidFill>
                  <a:srgbClr val="000000"/>
                </a:solidFill>
                <a:latin typeface="Poppins Bold"/>
                <a:ea typeface="Poppins Bold"/>
                <a:cs typeface="Poppins Bold"/>
                <a:sym typeface="Poppins Bold"/>
              </a:rPr>
              <a:t>Con</a:t>
            </a:r>
            <a:r>
              <a:rPr lang="en-US" b="true" sz="3500" strike="noStrike" u="none">
                <a:solidFill>
                  <a:srgbClr val="000000"/>
                </a:solidFill>
                <a:latin typeface="Poppins Bold"/>
                <a:ea typeface="Poppins Bold"/>
                <a:cs typeface="Poppins Bold"/>
                <a:sym typeface="Poppins Bold"/>
              </a:rPr>
              <a:t>troller (</a:t>
            </a:r>
            <a:r>
              <a:rPr lang="en-US" b="true" sz="3500" strike="noStrike" u="none">
                <a:solidFill>
                  <a:srgbClr val="000000"/>
                </a:solidFill>
                <a:latin typeface="Poppins Bold"/>
                <a:ea typeface="Poppins Bold"/>
                <a:cs typeface="Poppins Bold"/>
                <a:sym typeface="Poppins Bold"/>
              </a:rPr>
              <a:t>Bộ Điều</a:t>
            </a:r>
            <a:r>
              <a:rPr lang="en-US" b="true" sz="3500" strike="noStrike" u="none">
                <a:solidFill>
                  <a:srgbClr val="000000"/>
                </a:solidFill>
                <a:latin typeface="Poppins Bold"/>
                <a:ea typeface="Poppins Bold"/>
                <a:cs typeface="Poppins Bold"/>
                <a:sym typeface="Poppins Bold"/>
              </a:rPr>
              <a:t> Khiển)</a:t>
            </a:r>
          </a:p>
        </p:txBody>
      </p:sp>
      <p:sp>
        <p:nvSpPr>
          <p:cNvPr name="TextBox 14" id="14"/>
          <p:cNvSpPr txBox="true"/>
          <p:nvPr/>
        </p:nvSpPr>
        <p:spPr>
          <a:xfrm rot="0">
            <a:off x="9623888" y="5660417"/>
            <a:ext cx="5189141" cy="635000"/>
          </a:xfrm>
          <a:prstGeom prst="rect">
            <a:avLst/>
          </a:prstGeom>
        </p:spPr>
        <p:txBody>
          <a:bodyPr anchor="t" rtlCol="false" tIns="0" lIns="0" bIns="0" rIns="0">
            <a:spAutoFit/>
          </a:bodyPr>
          <a:lstStyle/>
          <a:p>
            <a:pPr algn="ctr" marL="0" indent="0" lvl="0">
              <a:lnSpc>
                <a:spcPts val="4900"/>
              </a:lnSpc>
              <a:spcBef>
                <a:spcPct val="0"/>
              </a:spcBef>
            </a:pPr>
            <a:r>
              <a:rPr lang="en-US" b="true" sz="3500">
                <a:solidFill>
                  <a:srgbClr val="000000"/>
                </a:solidFill>
                <a:latin typeface="Poppins Bold"/>
                <a:ea typeface="Poppins Bold"/>
                <a:cs typeface="Poppins Bold"/>
                <a:sym typeface="Poppins Bold"/>
              </a:rPr>
              <a:t>Des</a:t>
            </a:r>
            <a:r>
              <a:rPr lang="en-US" b="true" sz="3500" strike="noStrike" u="none">
                <a:solidFill>
                  <a:srgbClr val="000000"/>
                </a:solidFill>
                <a:latin typeface="Poppins Bold"/>
                <a:ea typeface="Poppins Bold"/>
                <a:cs typeface="Poppins Bold"/>
                <a:sym typeface="Poppins Bold"/>
              </a:rPr>
              <a:t>tination (</a:t>
            </a:r>
            <a:r>
              <a:rPr lang="en-US" b="true" sz="3500" strike="noStrike" u="none">
                <a:solidFill>
                  <a:srgbClr val="000000"/>
                </a:solidFill>
                <a:latin typeface="Poppins Bold"/>
                <a:ea typeface="Poppins Bold"/>
                <a:cs typeface="Poppins Bold"/>
                <a:sym typeface="Poppins Bold"/>
              </a:rPr>
              <a:t>Đíc</a:t>
            </a:r>
            <a:r>
              <a:rPr lang="en-US" b="true" sz="3500" strike="noStrike" u="none">
                <a:solidFill>
                  <a:srgbClr val="000000"/>
                </a:solidFill>
                <a:latin typeface="Poppins Bold"/>
                <a:ea typeface="Poppins Bold"/>
                <a:cs typeface="Poppins Bold"/>
                <a:sym typeface="Poppins Bold"/>
              </a:rPr>
              <a:t>h Đến)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67950" y="806450"/>
            <a:ext cx="6294884" cy="8674100"/>
            <a:chOff x="0" y="0"/>
            <a:chExt cx="1657912" cy="2284537"/>
          </a:xfrm>
        </p:grpSpPr>
        <p:sp>
          <p:nvSpPr>
            <p:cNvPr name="Freeform 7" id="7"/>
            <p:cNvSpPr/>
            <p:nvPr/>
          </p:nvSpPr>
          <p:spPr>
            <a:xfrm flipH="false" flipV="false" rot="0">
              <a:off x="0" y="0"/>
              <a:ext cx="1657912" cy="2284537"/>
            </a:xfrm>
            <a:custGeom>
              <a:avLst/>
              <a:gdLst/>
              <a:ahLst/>
              <a:cxnLst/>
              <a:rect r="r" b="b" t="t" l="l"/>
              <a:pathLst>
                <a:path h="2284537" w="1657912">
                  <a:moveTo>
                    <a:pt x="62724" y="0"/>
                  </a:moveTo>
                  <a:lnTo>
                    <a:pt x="1595188" y="0"/>
                  </a:lnTo>
                  <a:cubicBezTo>
                    <a:pt x="1611824" y="0"/>
                    <a:pt x="1627778" y="6608"/>
                    <a:pt x="1639541" y="18371"/>
                  </a:cubicBezTo>
                  <a:cubicBezTo>
                    <a:pt x="1651304" y="30134"/>
                    <a:pt x="1657912" y="46088"/>
                    <a:pt x="1657912" y="62724"/>
                  </a:cubicBezTo>
                  <a:lnTo>
                    <a:pt x="1657912" y="2221813"/>
                  </a:lnTo>
                  <a:cubicBezTo>
                    <a:pt x="1657912" y="2256454"/>
                    <a:pt x="1629830" y="2284537"/>
                    <a:pt x="1595188" y="2284537"/>
                  </a:cubicBezTo>
                  <a:lnTo>
                    <a:pt x="62724" y="2284537"/>
                  </a:lnTo>
                  <a:cubicBezTo>
                    <a:pt x="46088" y="2284537"/>
                    <a:pt x="30134" y="2277928"/>
                    <a:pt x="18371" y="2266165"/>
                  </a:cubicBezTo>
                  <a:cubicBezTo>
                    <a:pt x="6608" y="2254403"/>
                    <a:pt x="0" y="2238448"/>
                    <a:pt x="0" y="2221813"/>
                  </a:cubicBezTo>
                  <a:lnTo>
                    <a:pt x="0" y="62724"/>
                  </a:lnTo>
                  <a:cubicBezTo>
                    <a:pt x="0" y="46088"/>
                    <a:pt x="6608" y="30134"/>
                    <a:pt x="18371" y="18371"/>
                  </a:cubicBezTo>
                  <a:cubicBezTo>
                    <a:pt x="30134" y="6608"/>
                    <a:pt x="46088" y="0"/>
                    <a:pt x="62724" y="0"/>
                  </a:cubicBezTo>
                  <a:close/>
                </a:path>
              </a:pathLst>
            </a:custGeom>
            <a:solidFill>
              <a:srgbClr val="004AAD"/>
            </a:solidFill>
          </p:spPr>
        </p:sp>
        <p:sp>
          <p:nvSpPr>
            <p:cNvPr name="TextBox 8" id="8"/>
            <p:cNvSpPr txBox="true"/>
            <p:nvPr/>
          </p:nvSpPr>
          <p:spPr>
            <a:xfrm>
              <a:off x="0" y="-47625"/>
              <a:ext cx="1657912" cy="2332162"/>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8862583" y="1606753"/>
            <a:ext cx="1868266" cy="186826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1" id="11"/>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8862583" y="4210291"/>
            <a:ext cx="1868266" cy="1868266"/>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4" id="14"/>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8862583" y="6811982"/>
            <a:ext cx="1868266" cy="1868266"/>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7" id="17"/>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549648" y="3582286"/>
            <a:ext cx="7439568" cy="5234751"/>
          </a:xfrm>
          <a:custGeom>
            <a:avLst/>
            <a:gdLst/>
            <a:ahLst/>
            <a:cxnLst/>
            <a:rect r="r" b="b" t="t" l="l"/>
            <a:pathLst>
              <a:path h="5234751" w="7439568">
                <a:moveTo>
                  <a:pt x="0" y="0"/>
                </a:moveTo>
                <a:lnTo>
                  <a:pt x="7439568" y="0"/>
                </a:lnTo>
                <a:lnTo>
                  <a:pt x="7439568" y="5234751"/>
                </a:lnTo>
                <a:lnTo>
                  <a:pt x="0" y="5234751"/>
                </a:lnTo>
                <a:lnTo>
                  <a:pt x="0" y="0"/>
                </a:lnTo>
                <a:close/>
              </a:path>
            </a:pathLst>
          </a:custGeom>
          <a:blipFill>
            <a:blip r:embed="rId3"/>
            <a:stretch>
              <a:fillRect l="0" t="0" r="0" b="0"/>
            </a:stretch>
          </a:blipFill>
        </p:spPr>
      </p:sp>
      <p:sp>
        <p:nvSpPr>
          <p:cNvPr name="TextBox 19" id="19"/>
          <p:cNvSpPr txBox="true"/>
          <p:nvPr/>
        </p:nvSpPr>
        <p:spPr>
          <a:xfrm rot="0">
            <a:off x="1028700" y="1726528"/>
            <a:ext cx="4779982" cy="1855758"/>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NAVIGATION COMPONENT</a:t>
            </a:r>
          </a:p>
        </p:txBody>
      </p:sp>
      <p:sp>
        <p:nvSpPr>
          <p:cNvPr name="TextBox 20" id="20"/>
          <p:cNvSpPr txBox="true"/>
          <p:nvPr/>
        </p:nvSpPr>
        <p:spPr>
          <a:xfrm rot="0">
            <a:off x="1028700" y="914400"/>
            <a:ext cx="5634574" cy="897919"/>
          </a:xfrm>
          <a:prstGeom prst="rect">
            <a:avLst/>
          </a:prstGeom>
        </p:spPr>
        <p:txBody>
          <a:bodyPr anchor="t" rtlCol="false" tIns="0" lIns="0" bIns="0" rIns="0">
            <a:spAutoFit/>
          </a:bodyPr>
          <a:lstStyle/>
          <a:p>
            <a:pPr algn="l">
              <a:lnSpc>
                <a:spcPts val="7212"/>
              </a:lnSpc>
            </a:pPr>
            <a:r>
              <a:rPr lang="en-US" sz="5151">
                <a:solidFill>
                  <a:srgbClr val="000000"/>
                </a:solidFill>
                <a:latin typeface="Roboto"/>
                <a:ea typeface="Roboto"/>
                <a:cs typeface="Roboto"/>
                <a:sym typeface="Roboto"/>
              </a:rPr>
              <a:t>TRIỂN KHAI</a:t>
            </a:r>
          </a:p>
        </p:txBody>
      </p:sp>
      <p:sp>
        <p:nvSpPr>
          <p:cNvPr name="TextBox 21" id="21"/>
          <p:cNvSpPr txBox="true"/>
          <p:nvPr/>
        </p:nvSpPr>
        <p:spPr>
          <a:xfrm rot="0">
            <a:off x="1452145" y="3792453"/>
            <a:ext cx="5634574" cy="745968"/>
          </a:xfrm>
          <a:prstGeom prst="rect">
            <a:avLst/>
          </a:prstGeom>
        </p:spPr>
        <p:txBody>
          <a:bodyPr anchor="t" rtlCol="false" tIns="0" lIns="0" bIns="0" rIns="0">
            <a:spAutoFit/>
          </a:bodyPr>
          <a:lstStyle/>
          <a:p>
            <a:pPr algn="l">
              <a:lnSpc>
                <a:spcPts val="2976"/>
              </a:lnSpc>
              <a:spcBef>
                <a:spcPct val="0"/>
              </a:spcBef>
            </a:pPr>
            <a:r>
              <a:rPr lang="en-US" sz="2125">
                <a:solidFill>
                  <a:srgbClr val="000000"/>
                </a:solidFill>
                <a:latin typeface="Poppins"/>
                <a:ea typeface="Poppins"/>
                <a:cs typeface="Poppins"/>
                <a:sym typeface="Poppins"/>
              </a:rPr>
              <a:t>Trước hết, thêm các dependencies cần thiết trong build.gradle.ktx (Module:app)</a:t>
            </a:r>
          </a:p>
        </p:txBody>
      </p:sp>
      <p:sp>
        <p:nvSpPr>
          <p:cNvPr name="TextBox 22" id="22"/>
          <p:cNvSpPr txBox="true"/>
          <p:nvPr/>
        </p:nvSpPr>
        <p:spPr>
          <a:xfrm rot="0">
            <a:off x="732920" y="5087274"/>
            <a:ext cx="7073025" cy="2974421"/>
          </a:xfrm>
          <a:prstGeom prst="rect">
            <a:avLst/>
          </a:prstGeom>
        </p:spPr>
        <p:txBody>
          <a:bodyPr anchor="t" rtlCol="false" tIns="0" lIns="0" bIns="0" rIns="0">
            <a:spAutoFit/>
          </a:bodyPr>
          <a:lstStyle/>
          <a:p>
            <a:pPr algn="l">
              <a:lnSpc>
                <a:spcPts val="2976"/>
              </a:lnSpc>
            </a:pPr>
            <a:r>
              <a:rPr lang="en-US" sz="2125">
                <a:solidFill>
                  <a:srgbClr val="000000"/>
                </a:solidFill>
                <a:latin typeface="Poppins"/>
                <a:ea typeface="Poppins"/>
                <a:cs typeface="Poppins"/>
                <a:sym typeface="Poppins"/>
              </a:rPr>
              <a:t>dependencies {</a:t>
            </a:r>
          </a:p>
          <a:p>
            <a:pPr algn="l">
              <a:lnSpc>
                <a:spcPts val="2976"/>
              </a:lnSpc>
            </a:pPr>
            <a:r>
              <a:rPr lang="en-US" sz="2125">
                <a:solidFill>
                  <a:srgbClr val="000000"/>
                </a:solidFill>
                <a:latin typeface="Poppins"/>
                <a:ea typeface="Poppins"/>
                <a:cs typeface="Poppins"/>
                <a:sym typeface="Poppins"/>
              </a:rPr>
              <a:t>    val nav_versi</a:t>
            </a:r>
            <a:r>
              <a:rPr lang="en-US" sz="2125">
                <a:solidFill>
                  <a:srgbClr val="000000"/>
                </a:solidFill>
                <a:latin typeface="Poppins"/>
                <a:ea typeface="Poppins"/>
                <a:cs typeface="Poppins"/>
                <a:sym typeface="Poppins"/>
              </a:rPr>
              <a:t>on = "2.9.6"</a:t>
            </a:r>
          </a:p>
          <a:p>
            <a:pPr algn="l">
              <a:lnSpc>
                <a:spcPts val="2976"/>
              </a:lnSpc>
            </a:pPr>
          </a:p>
          <a:p>
            <a:pPr algn="l">
              <a:lnSpc>
                <a:spcPts val="2976"/>
              </a:lnSpc>
            </a:pPr>
            <a:r>
              <a:rPr lang="en-US" sz="2125">
                <a:solidFill>
                  <a:srgbClr val="000000"/>
                </a:solidFill>
                <a:latin typeface="Poppins"/>
                <a:ea typeface="Poppins"/>
                <a:cs typeface="Poppins"/>
                <a:sym typeface="Poppins"/>
              </a:rPr>
              <a:t>    implementation("androidx.navigation:navigation-fragment:$nav_version")</a:t>
            </a:r>
          </a:p>
          <a:p>
            <a:pPr algn="l">
              <a:lnSpc>
                <a:spcPts val="2976"/>
              </a:lnSpc>
            </a:pPr>
          </a:p>
          <a:p>
            <a:pPr algn="l">
              <a:lnSpc>
                <a:spcPts val="2976"/>
              </a:lnSpc>
              <a:spcBef>
                <a:spcPct val="0"/>
              </a:spcBef>
            </a:pPr>
            <a:r>
              <a:rPr lang="en-US" sz="2125">
                <a:solidFill>
                  <a:srgbClr val="000000"/>
                </a:solidFill>
                <a:latin typeface="Poppins"/>
                <a:ea typeface="Poppins"/>
                <a:cs typeface="Poppins"/>
                <a:sym typeface="Poppins"/>
              </a:rPr>
              <a:t>    implementation("androidx.navigation:navigation-ui:$nav_version")</a:t>
            </a:r>
          </a:p>
        </p:txBody>
      </p:sp>
      <p:sp>
        <p:nvSpPr>
          <p:cNvPr name="TextBox 23" id="23"/>
          <p:cNvSpPr txBox="true"/>
          <p:nvPr/>
        </p:nvSpPr>
        <p:spPr>
          <a:xfrm rot="0">
            <a:off x="8977298" y="190147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name="TextBox 24" id="24"/>
          <p:cNvSpPr txBox="true"/>
          <p:nvPr/>
        </p:nvSpPr>
        <p:spPr>
          <a:xfrm rot="0">
            <a:off x="8977298" y="4495485"/>
            <a:ext cx="1638836" cy="1335977"/>
          </a:xfrm>
          <a:prstGeom prst="rect">
            <a:avLst/>
          </a:prstGeom>
        </p:spPr>
        <p:txBody>
          <a:bodyPr anchor="t" rtlCol="false" tIns="0" lIns="0" bIns="0" rIns="0">
            <a:spAutoFit/>
          </a:bodyPr>
          <a:lstStyle/>
          <a:p>
            <a:pPr algn="ctr">
              <a:lnSpc>
                <a:spcPts val="11002"/>
              </a:lnSpc>
            </a:pPr>
            <a:r>
              <a:rPr lang="en-US" b="true" sz="7859">
                <a:solidFill>
                  <a:srgbClr val="000000"/>
                </a:solidFill>
                <a:latin typeface="League Spartan"/>
                <a:ea typeface="League Spartan"/>
                <a:cs typeface="League Spartan"/>
                <a:sym typeface="League Spartan"/>
              </a:rPr>
              <a:t>2</a:t>
            </a:r>
          </a:p>
        </p:txBody>
      </p:sp>
      <p:sp>
        <p:nvSpPr>
          <p:cNvPr name="TextBox 25" id="25"/>
          <p:cNvSpPr txBox="true"/>
          <p:nvPr/>
        </p:nvSpPr>
        <p:spPr>
          <a:xfrm rot="0">
            <a:off x="8977298" y="709773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3</a:t>
            </a:r>
          </a:p>
        </p:txBody>
      </p:sp>
      <p:sp>
        <p:nvSpPr>
          <p:cNvPr name="TextBox 26" id="26"/>
          <p:cNvSpPr txBox="true"/>
          <p:nvPr/>
        </p:nvSpPr>
        <p:spPr>
          <a:xfrm rot="0">
            <a:off x="10987347" y="1764694"/>
            <a:ext cx="4856091" cy="2267573"/>
          </a:xfrm>
          <a:prstGeom prst="rect">
            <a:avLst/>
          </a:prstGeom>
        </p:spPr>
        <p:txBody>
          <a:bodyPr anchor="t" rtlCol="false" tIns="0" lIns="0" bIns="0" rIns="0">
            <a:spAutoFit/>
          </a:bodyPr>
          <a:lstStyle/>
          <a:p>
            <a:pPr algn="l">
              <a:lnSpc>
                <a:spcPts val="2565"/>
              </a:lnSpc>
            </a:pPr>
            <a:r>
              <a:rPr lang="en-US" sz="1832" b="true">
                <a:solidFill>
                  <a:srgbClr val="FFFFFF"/>
                </a:solidFill>
                <a:latin typeface="Poppins Bold"/>
                <a:ea typeface="Poppins Bold"/>
                <a:cs typeface="Poppins Bold"/>
                <a:sym typeface="Poppins Bold"/>
              </a:rPr>
              <a:t>Thiết kế Đồ thị Điều hướng (Nav Graph)</a:t>
            </a:r>
          </a:p>
          <a:p>
            <a:pPr algn="l" marL="395581" indent="-197791" lvl="1">
              <a:lnSpc>
                <a:spcPts val="2565"/>
              </a:lnSpc>
              <a:buFont typeface="Arial"/>
              <a:buChar char="•"/>
            </a:pPr>
            <a:r>
              <a:rPr lang="en-US" sz="1832">
                <a:solidFill>
                  <a:srgbClr val="FFFFFF"/>
                </a:solidFill>
                <a:latin typeface="Poppins"/>
                <a:ea typeface="Poppins"/>
                <a:cs typeface="Poppins"/>
                <a:sym typeface="Poppins"/>
              </a:rPr>
              <a:t>Tạo tài nguyên XML Navigation Graph </a:t>
            </a:r>
          </a:p>
          <a:p>
            <a:pPr algn="l" marL="395581" indent="-197791" lvl="1">
              <a:lnSpc>
                <a:spcPts val="2565"/>
              </a:lnSpc>
              <a:buFont typeface="Arial"/>
              <a:buChar char="•"/>
            </a:pPr>
            <a:r>
              <a:rPr lang="en-US" sz="1832">
                <a:solidFill>
                  <a:srgbClr val="FFFFFF"/>
                </a:solidFill>
                <a:latin typeface="Poppins"/>
                <a:ea typeface="Poppins"/>
                <a:cs typeface="Poppins"/>
                <a:sym typeface="Poppins"/>
              </a:rPr>
              <a:t>Định nghĩa Destinations: Kéo/thả các Fragment/Activity đã tạo vào Graph.</a:t>
            </a:r>
          </a:p>
          <a:p>
            <a:pPr algn="l" marL="395581" indent="-197791" lvl="1">
              <a:lnSpc>
                <a:spcPts val="2565"/>
              </a:lnSpc>
              <a:spcBef>
                <a:spcPct val="0"/>
              </a:spcBef>
              <a:buFont typeface="Arial"/>
              <a:buChar char="•"/>
            </a:pPr>
            <a:r>
              <a:rPr lang="en-US" sz="1832">
                <a:solidFill>
                  <a:srgbClr val="FFFFFF"/>
                </a:solidFill>
                <a:latin typeface="Poppins"/>
                <a:ea typeface="Poppins"/>
                <a:cs typeface="Poppins"/>
                <a:sym typeface="Poppins"/>
              </a:rPr>
              <a:t>Xác định Actions: Dùng mũi tên (actions) để kết nối các destinations, chỉ định đường đi.</a:t>
            </a:r>
          </a:p>
        </p:txBody>
      </p:sp>
      <p:sp>
        <p:nvSpPr>
          <p:cNvPr name="TextBox 27" id="27"/>
          <p:cNvSpPr txBox="true"/>
          <p:nvPr/>
        </p:nvSpPr>
        <p:spPr>
          <a:xfrm rot="0">
            <a:off x="10987347" y="4490796"/>
            <a:ext cx="4856091" cy="1296222"/>
          </a:xfrm>
          <a:prstGeom prst="rect">
            <a:avLst/>
          </a:prstGeom>
        </p:spPr>
        <p:txBody>
          <a:bodyPr anchor="t" rtlCol="false" tIns="0" lIns="0" bIns="0" rIns="0">
            <a:spAutoFit/>
          </a:bodyPr>
          <a:lstStyle/>
          <a:p>
            <a:pPr algn="l">
              <a:lnSpc>
                <a:spcPts val="2565"/>
              </a:lnSpc>
            </a:pPr>
            <a:r>
              <a:rPr lang="en-US" sz="1832" b="true">
                <a:solidFill>
                  <a:srgbClr val="FFFFFF"/>
                </a:solidFill>
                <a:latin typeface="Poppins Bold"/>
                <a:ea typeface="Poppins Bold"/>
                <a:cs typeface="Poppins Bold"/>
                <a:sym typeface="Poppins Bold"/>
              </a:rPr>
              <a:t>Thiết lập Host (NavHostFragment)</a:t>
            </a:r>
          </a:p>
          <a:p>
            <a:pPr algn="l" marL="395581" indent="-197791" lvl="1">
              <a:lnSpc>
                <a:spcPts val="2565"/>
              </a:lnSpc>
              <a:spcBef>
                <a:spcPct val="0"/>
              </a:spcBef>
              <a:buFont typeface="Arial"/>
              <a:buChar char="•"/>
            </a:pPr>
            <a:r>
              <a:rPr lang="en-US" sz="1832">
                <a:solidFill>
                  <a:srgbClr val="FFFFFF"/>
                </a:solidFill>
                <a:latin typeface="Poppins"/>
                <a:ea typeface="Poppins"/>
                <a:cs typeface="Poppins"/>
                <a:sym typeface="Poppins"/>
              </a:rPr>
              <a:t>Đặt NavHostFragment vào file XML Layout của MainActivity (hoặc Activity chứa)</a:t>
            </a:r>
          </a:p>
        </p:txBody>
      </p:sp>
      <p:sp>
        <p:nvSpPr>
          <p:cNvPr name="TextBox 28" id="28"/>
          <p:cNvSpPr txBox="true"/>
          <p:nvPr/>
        </p:nvSpPr>
        <p:spPr>
          <a:xfrm rot="0">
            <a:off x="10987347" y="7202507"/>
            <a:ext cx="4856091" cy="1620005"/>
          </a:xfrm>
          <a:prstGeom prst="rect">
            <a:avLst/>
          </a:prstGeom>
        </p:spPr>
        <p:txBody>
          <a:bodyPr anchor="t" rtlCol="false" tIns="0" lIns="0" bIns="0" rIns="0">
            <a:spAutoFit/>
          </a:bodyPr>
          <a:lstStyle/>
          <a:p>
            <a:pPr algn="l">
              <a:lnSpc>
                <a:spcPts val="2565"/>
              </a:lnSpc>
            </a:pPr>
            <a:r>
              <a:rPr lang="en-US" sz="1832" b="true">
                <a:solidFill>
                  <a:srgbClr val="FFFFFF"/>
                </a:solidFill>
                <a:latin typeface="Poppins Bold"/>
                <a:ea typeface="Poppins Bold"/>
                <a:cs typeface="Poppins Bold"/>
                <a:sym typeface="Poppins Bold"/>
              </a:rPr>
              <a:t>Thực hiện Điều hướng (Navigation)</a:t>
            </a:r>
          </a:p>
          <a:p>
            <a:pPr algn="l" marL="395581" indent="-197791" lvl="1">
              <a:lnSpc>
                <a:spcPts val="2565"/>
              </a:lnSpc>
              <a:buFont typeface="Arial"/>
              <a:buChar char="•"/>
            </a:pPr>
            <a:r>
              <a:rPr lang="en-US" sz="1832">
                <a:solidFill>
                  <a:srgbClr val="FFFFFF"/>
                </a:solidFill>
                <a:latin typeface="Poppins"/>
                <a:ea typeface="Poppins"/>
                <a:cs typeface="Poppins"/>
                <a:sym typeface="Poppins"/>
              </a:rPr>
              <a:t>Sử dụng NavController để di chuyển giữa các đích đến (Destinations) đã định nghĩa trong Graph.</a:t>
            </a:r>
          </a:p>
          <a:p>
            <a:pPr algn="l">
              <a:lnSpc>
                <a:spcPts val="2565"/>
              </a:lnSpc>
              <a:spcBef>
                <a:spcPct val="0"/>
              </a:spcBef>
            </a:pPr>
          </a:p>
        </p:txBody>
      </p:sp>
      <p:sp>
        <p:nvSpPr>
          <p:cNvPr name="TextBox 29" id="29"/>
          <p:cNvSpPr txBox="true"/>
          <p:nvPr/>
        </p:nvSpPr>
        <p:spPr>
          <a:xfrm rot="0">
            <a:off x="732920" y="8234001"/>
            <a:ext cx="7177811" cy="342265"/>
          </a:xfrm>
          <a:prstGeom prst="rect">
            <a:avLst/>
          </a:prstGeom>
        </p:spPr>
        <p:txBody>
          <a:bodyPr anchor="t" rtlCol="false" tIns="0" lIns="0" bIns="0" rIns="0">
            <a:spAutoFit/>
          </a:bodyPr>
          <a:lstStyle/>
          <a:p>
            <a:pPr algn="ctr">
              <a:lnSpc>
                <a:spcPts val="2659"/>
              </a:lnSpc>
              <a:spcBef>
                <a:spcPct val="0"/>
              </a:spcBef>
            </a:pPr>
            <a:r>
              <a:rPr lang="en-US" sz="1899">
                <a:solidFill>
                  <a:srgbClr val="FF3131"/>
                </a:solidFill>
                <a:latin typeface="Poppins"/>
                <a:ea typeface="Poppins"/>
                <a:cs typeface="Poppins"/>
                <a:sym typeface="Poppins"/>
              </a:rPr>
              <a:t>LƯU Ý</a:t>
            </a:r>
            <a:r>
              <a:rPr lang="en-US" b="true" sz="1899">
                <a:solidFill>
                  <a:srgbClr val="000000"/>
                </a:solidFill>
                <a:latin typeface="Poppins Bold"/>
                <a:ea typeface="Poppins Bold"/>
                <a:cs typeface="Poppins Bold"/>
                <a:sym typeface="Poppins Bold"/>
              </a:rPr>
              <a:t>:</a:t>
            </a:r>
            <a:r>
              <a:rPr lang="en-US" sz="1899">
                <a:solidFill>
                  <a:srgbClr val="000000"/>
                </a:solidFill>
                <a:latin typeface="Poppins"/>
                <a:ea typeface="Poppins"/>
                <a:cs typeface="Poppins"/>
                <a:sym typeface="Poppins"/>
              </a:rPr>
              <a:t> sau khi thêm dependencies, </a:t>
            </a:r>
            <a:r>
              <a:rPr lang="en-US" sz="1899">
                <a:solidFill>
                  <a:srgbClr val="FF3131"/>
                </a:solidFill>
                <a:latin typeface="Poppins"/>
                <a:ea typeface="Poppins"/>
                <a:cs typeface="Poppins"/>
                <a:sym typeface="Poppins"/>
              </a:rPr>
              <a:t>nhớ nhấn </a:t>
            </a:r>
            <a:r>
              <a:rPr lang="en-US" sz="1899" i="true">
                <a:solidFill>
                  <a:srgbClr val="FF3131"/>
                </a:solidFill>
                <a:latin typeface="Poppins Italics"/>
                <a:ea typeface="Poppins Italics"/>
                <a:cs typeface="Poppins Italics"/>
                <a:sym typeface="Poppins Italics"/>
              </a:rPr>
              <a:t>Sync Project</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9060825" y="622977"/>
            <a:ext cx="8290090" cy="5906689"/>
          </a:xfrm>
          <a:custGeom>
            <a:avLst/>
            <a:gdLst/>
            <a:ahLst/>
            <a:cxnLst/>
            <a:rect r="r" b="b" t="t" l="l"/>
            <a:pathLst>
              <a:path h="5906689" w="8290090">
                <a:moveTo>
                  <a:pt x="0" y="0"/>
                </a:moveTo>
                <a:lnTo>
                  <a:pt x="8290090" y="0"/>
                </a:lnTo>
                <a:lnTo>
                  <a:pt x="8290090" y="5906689"/>
                </a:lnTo>
                <a:lnTo>
                  <a:pt x="0" y="5906689"/>
                </a:lnTo>
                <a:lnTo>
                  <a:pt x="0" y="0"/>
                </a:lnTo>
                <a:close/>
              </a:path>
            </a:pathLst>
          </a:custGeom>
          <a:blipFill>
            <a:blip r:embed="rId2"/>
            <a:stretch>
              <a:fillRect l="0" t="0" r="0" b="0"/>
            </a:stretch>
          </a:blipFill>
        </p:spPr>
      </p:sp>
      <p:sp>
        <p:nvSpPr>
          <p:cNvPr name="Freeform 3" id="3"/>
          <p:cNvSpPr/>
          <p:nvPr/>
        </p:nvSpPr>
        <p:spPr>
          <a:xfrm flipH="false" flipV="false" rot="-1540380">
            <a:off x="7473065" y="7032379"/>
            <a:ext cx="1276066" cy="360489"/>
          </a:xfrm>
          <a:custGeom>
            <a:avLst/>
            <a:gdLst/>
            <a:ahLst/>
            <a:cxnLst/>
            <a:rect r="r" b="b" t="t" l="l"/>
            <a:pathLst>
              <a:path h="360489" w="1276066">
                <a:moveTo>
                  <a:pt x="0" y="0"/>
                </a:moveTo>
                <a:lnTo>
                  <a:pt x="1276066" y="0"/>
                </a:lnTo>
                <a:lnTo>
                  <a:pt x="1276066" y="360489"/>
                </a:lnTo>
                <a:lnTo>
                  <a:pt x="0" y="36048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1688761"/>
            <a:ext cx="6770385" cy="2270683"/>
          </a:xfrm>
          <a:custGeom>
            <a:avLst/>
            <a:gdLst/>
            <a:ahLst/>
            <a:cxnLst/>
            <a:rect r="r" b="b" t="t" l="l"/>
            <a:pathLst>
              <a:path h="2270683" w="6770385">
                <a:moveTo>
                  <a:pt x="0" y="0"/>
                </a:moveTo>
                <a:lnTo>
                  <a:pt x="6770385" y="0"/>
                </a:lnTo>
                <a:lnTo>
                  <a:pt x="6770385" y="2270683"/>
                </a:lnTo>
                <a:lnTo>
                  <a:pt x="0" y="2270683"/>
                </a:lnTo>
                <a:lnTo>
                  <a:pt x="0" y="0"/>
                </a:lnTo>
                <a:close/>
              </a:path>
            </a:pathLst>
          </a:custGeom>
          <a:blipFill>
            <a:blip r:embed="rId5"/>
            <a:stretch>
              <a:fillRect l="0" t="0" r="0" b="0"/>
            </a:stretch>
          </a:blipFill>
        </p:spPr>
      </p:sp>
      <p:sp>
        <p:nvSpPr>
          <p:cNvPr name="TextBox 5" id="5"/>
          <p:cNvSpPr txBox="true"/>
          <p:nvPr/>
        </p:nvSpPr>
        <p:spPr>
          <a:xfrm rot="0">
            <a:off x="1028700" y="5086350"/>
            <a:ext cx="6805921" cy="2399030"/>
          </a:xfrm>
          <a:prstGeom prst="rect">
            <a:avLst/>
          </a:prstGeom>
        </p:spPr>
        <p:txBody>
          <a:bodyPr anchor="t" rtlCol="false" tIns="0" lIns="0" bIns="0" rIns="0">
            <a:spAutoFit/>
          </a:bodyPr>
          <a:lstStyle/>
          <a:p>
            <a:pPr algn="l">
              <a:lnSpc>
                <a:spcPts val="3220"/>
              </a:lnSpc>
            </a:pPr>
            <a:r>
              <a:rPr lang="en-US" sz="2300" b="true">
                <a:solidFill>
                  <a:srgbClr val="000000"/>
                </a:solidFill>
                <a:latin typeface="Poppins Bold"/>
                <a:ea typeface="Poppins Bold"/>
                <a:cs typeface="Poppins Bold"/>
                <a:sym typeface="Poppins Bold"/>
              </a:rPr>
              <a:t>Tạo đồ thị điều hướng (NavGraph)</a:t>
            </a:r>
          </a:p>
          <a:p>
            <a:pPr algn="l" marL="496571" indent="-248285" lvl="1">
              <a:lnSpc>
                <a:spcPts val="3220"/>
              </a:lnSpc>
              <a:buFont typeface="Arial"/>
              <a:buChar char="•"/>
            </a:pPr>
            <a:r>
              <a:rPr lang="en-US" sz="2300">
                <a:solidFill>
                  <a:srgbClr val="000000"/>
                </a:solidFill>
                <a:latin typeface="Poppins"/>
                <a:ea typeface="Poppins"/>
                <a:cs typeface="Poppins"/>
                <a:sym typeface="Poppins"/>
              </a:rPr>
              <a:t>Tạo Resource Directory, type navigation  (folder navigation)</a:t>
            </a:r>
          </a:p>
          <a:p>
            <a:pPr algn="l" marL="496571" indent="-248285" lvl="1">
              <a:lnSpc>
                <a:spcPts val="3220"/>
              </a:lnSpc>
              <a:buFont typeface="Arial"/>
              <a:buChar char="•"/>
            </a:pPr>
            <a:r>
              <a:rPr lang="en-US" sz="2300">
                <a:solidFill>
                  <a:srgbClr val="000000"/>
                </a:solidFill>
                <a:latin typeface="Poppins"/>
                <a:ea typeface="Poppins"/>
                <a:cs typeface="Poppins"/>
                <a:sym typeface="Poppins"/>
              </a:rPr>
              <a:t>Thêm mới Navigation Resource File (nav_graph.xml)</a:t>
            </a:r>
          </a:p>
          <a:p>
            <a:pPr algn="l" marL="496571" indent="-248285" lvl="1">
              <a:lnSpc>
                <a:spcPts val="3220"/>
              </a:lnSpc>
              <a:buFont typeface="Arial"/>
              <a:buChar char="•"/>
            </a:pPr>
            <a:r>
              <a:rPr lang="en-US" sz="2300">
                <a:solidFill>
                  <a:srgbClr val="000000"/>
                </a:solidFill>
                <a:latin typeface="Poppins"/>
                <a:ea typeface="Poppins"/>
                <a:cs typeface="Poppins"/>
                <a:sym typeface="Poppins"/>
              </a:rPr>
              <a:t>Android Studio sẽ mở Navigation Editor</a:t>
            </a:r>
          </a:p>
        </p:txBody>
      </p:sp>
      <p:sp>
        <p:nvSpPr>
          <p:cNvPr name="TextBox 6" id="6"/>
          <p:cNvSpPr txBox="true"/>
          <p:nvPr/>
        </p:nvSpPr>
        <p:spPr>
          <a:xfrm rot="0">
            <a:off x="8969210" y="6716605"/>
            <a:ext cx="8787428" cy="3199130"/>
          </a:xfrm>
          <a:prstGeom prst="rect">
            <a:avLst/>
          </a:prstGeom>
        </p:spPr>
        <p:txBody>
          <a:bodyPr anchor="t" rtlCol="false" tIns="0" lIns="0" bIns="0" rIns="0">
            <a:spAutoFit/>
          </a:bodyPr>
          <a:lstStyle/>
          <a:p>
            <a:pPr algn="l" marL="496571" indent="-248285" lvl="1">
              <a:lnSpc>
                <a:spcPts val="3220"/>
              </a:lnSpc>
              <a:buFont typeface="Arial"/>
              <a:buChar char="•"/>
            </a:pPr>
            <a:r>
              <a:rPr lang="en-US" sz="2300">
                <a:solidFill>
                  <a:srgbClr val="000000"/>
                </a:solidFill>
                <a:latin typeface="Poppins"/>
                <a:ea typeface="Poppins"/>
                <a:cs typeface="Poppins"/>
                <a:sym typeface="Poppins"/>
              </a:rPr>
              <a:t>Chọn biểu tượng (+) để tạo mới một destination (có thể chọn destination đã tạo)</a:t>
            </a:r>
          </a:p>
          <a:p>
            <a:pPr algn="l" marL="496571" indent="-248285" lvl="1">
              <a:lnSpc>
                <a:spcPts val="3220"/>
              </a:lnSpc>
              <a:buFont typeface="Arial"/>
              <a:buChar char="•"/>
            </a:pPr>
            <a:r>
              <a:rPr lang="en-US" sz="2300">
                <a:solidFill>
                  <a:srgbClr val="000000"/>
                </a:solidFill>
                <a:latin typeface="Poppins"/>
                <a:ea typeface="Poppins"/>
                <a:cs typeface="Poppins"/>
                <a:sym typeface="Poppins"/>
              </a:rPr>
              <a:t>Chọn Fragment (ví dụ: HomeFragment và PopupFragment) mà bạn đã tạo</a:t>
            </a:r>
          </a:p>
          <a:p>
            <a:pPr algn="l" marL="496571" indent="-248285" lvl="1">
              <a:lnSpc>
                <a:spcPts val="3220"/>
              </a:lnSpc>
              <a:buFont typeface="Arial"/>
              <a:buChar char="•"/>
            </a:pPr>
            <a:r>
              <a:rPr lang="en-US" sz="2300">
                <a:solidFill>
                  <a:srgbClr val="000000"/>
                </a:solidFill>
                <a:latin typeface="Poppins"/>
                <a:ea typeface="Poppins"/>
                <a:cs typeface="Poppins"/>
                <a:sym typeface="Poppins"/>
              </a:rPr>
              <a:t>Chọn một Fragment làm </a:t>
            </a:r>
            <a:r>
              <a:rPr lang="en-US" sz="2300" i="true">
                <a:solidFill>
                  <a:srgbClr val="000000"/>
                </a:solidFill>
                <a:latin typeface="Poppins Italics"/>
                <a:ea typeface="Poppins Italics"/>
                <a:cs typeface="Poppins Italics"/>
                <a:sym typeface="Poppins Italics"/>
              </a:rPr>
              <a:t>Start Destination</a:t>
            </a:r>
            <a:r>
              <a:rPr lang="en-US" sz="2300">
                <a:solidFill>
                  <a:srgbClr val="000000"/>
                </a:solidFill>
                <a:latin typeface="Poppins"/>
                <a:ea typeface="Poppins"/>
                <a:cs typeface="Poppins"/>
                <a:sym typeface="Poppins"/>
              </a:rPr>
              <a:t> (màn hình đầu tiên). Biểu tượng ngôi nhà sẽ xuất hiện trên màn hình đó.</a:t>
            </a:r>
          </a:p>
          <a:p>
            <a:pPr algn="l" marL="496571" indent="-248285" lvl="1">
              <a:lnSpc>
                <a:spcPts val="3220"/>
              </a:lnSpc>
              <a:buFont typeface="Arial"/>
              <a:buChar char="•"/>
            </a:pPr>
            <a:r>
              <a:rPr lang="en-US" sz="2300">
                <a:solidFill>
                  <a:srgbClr val="000000"/>
                </a:solidFill>
                <a:latin typeface="Poppins"/>
                <a:ea typeface="Poppins"/>
                <a:cs typeface="Poppins"/>
                <a:sym typeface="Poppins"/>
              </a:rPr>
              <a:t>Tạo Action (dấu mũi tên) bằng cách từ home sang detail</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564546" y="2242112"/>
            <a:ext cx="9023211" cy="4862579"/>
          </a:xfrm>
          <a:custGeom>
            <a:avLst/>
            <a:gdLst/>
            <a:ahLst/>
            <a:cxnLst/>
            <a:rect r="r" b="b" t="t" l="l"/>
            <a:pathLst>
              <a:path h="4862579" w="9023211">
                <a:moveTo>
                  <a:pt x="0" y="0"/>
                </a:moveTo>
                <a:lnTo>
                  <a:pt x="9023210" y="0"/>
                </a:lnTo>
                <a:lnTo>
                  <a:pt x="9023210" y="4862579"/>
                </a:lnTo>
                <a:lnTo>
                  <a:pt x="0" y="4862579"/>
                </a:lnTo>
                <a:lnTo>
                  <a:pt x="0" y="0"/>
                </a:lnTo>
                <a:close/>
              </a:path>
            </a:pathLst>
          </a:custGeom>
          <a:blipFill>
            <a:blip r:embed="rId2"/>
            <a:stretch>
              <a:fillRect l="0" t="0" r="0" b="0"/>
            </a:stretch>
          </a:blipFill>
        </p:spPr>
      </p:sp>
      <p:sp>
        <p:nvSpPr>
          <p:cNvPr name="TextBox 3" id="3"/>
          <p:cNvSpPr txBox="true"/>
          <p:nvPr/>
        </p:nvSpPr>
        <p:spPr>
          <a:xfrm rot="0">
            <a:off x="1028700" y="2845225"/>
            <a:ext cx="5119853" cy="398747"/>
          </a:xfrm>
          <a:prstGeom prst="rect">
            <a:avLst/>
          </a:prstGeom>
        </p:spPr>
        <p:txBody>
          <a:bodyPr anchor="t" rtlCol="false" tIns="0" lIns="0" bIns="0" rIns="0">
            <a:spAutoFit/>
          </a:bodyPr>
          <a:lstStyle/>
          <a:p>
            <a:pPr algn="ctr">
              <a:lnSpc>
                <a:spcPts val="3219"/>
              </a:lnSpc>
              <a:spcBef>
                <a:spcPct val="0"/>
              </a:spcBef>
            </a:pPr>
            <a:r>
              <a:rPr lang="en-US" b="true" sz="2299">
                <a:solidFill>
                  <a:srgbClr val="000000"/>
                </a:solidFill>
                <a:latin typeface="Poppins Bold"/>
                <a:ea typeface="Poppins Bold"/>
                <a:cs typeface="Poppins Bold"/>
                <a:sym typeface="Poppins Bold"/>
              </a:rPr>
              <a:t>Thiết lập Host (NavHostFragment)</a:t>
            </a:r>
          </a:p>
        </p:txBody>
      </p:sp>
      <p:sp>
        <p:nvSpPr>
          <p:cNvPr name="TextBox 4" id="4"/>
          <p:cNvSpPr txBox="true"/>
          <p:nvPr/>
        </p:nvSpPr>
        <p:spPr>
          <a:xfrm rot="0">
            <a:off x="1028700" y="4616251"/>
            <a:ext cx="7313532" cy="2009140"/>
          </a:xfrm>
          <a:prstGeom prst="rect">
            <a:avLst/>
          </a:prstGeom>
        </p:spPr>
        <p:txBody>
          <a:bodyPr anchor="t" rtlCol="false" tIns="0" lIns="0" bIns="0" rIns="0">
            <a:spAutoFit/>
          </a:bodyPr>
          <a:lstStyle/>
          <a:p>
            <a:pPr algn="l" marL="410209" indent="-205105" lvl="1">
              <a:lnSpc>
                <a:spcPts val="2659"/>
              </a:lnSpc>
              <a:spcBef>
                <a:spcPct val="0"/>
              </a:spcBef>
              <a:buFont typeface="Arial"/>
              <a:buChar char="•"/>
            </a:pPr>
            <a:r>
              <a:rPr lang="en-US" sz="1899">
                <a:solidFill>
                  <a:srgbClr val="007A3F"/>
                </a:solidFill>
                <a:latin typeface="Poppins"/>
                <a:ea typeface="Poppins"/>
                <a:cs typeface="Poppins"/>
                <a:sym typeface="Poppins"/>
              </a:rPr>
              <a:t>android:name="andro</a:t>
            </a:r>
            <a:r>
              <a:rPr lang="en-US" sz="1899">
                <a:solidFill>
                  <a:srgbClr val="007A3F"/>
                </a:solidFill>
                <a:latin typeface="Poppins"/>
                <a:ea typeface="Poppins"/>
                <a:cs typeface="Poppins"/>
                <a:sym typeface="Poppins"/>
              </a:rPr>
              <a:t>idx.navigation.fragment.NavHostFragment"</a:t>
            </a:r>
            <a:r>
              <a:rPr lang="en-US" sz="1899">
                <a:solidFill>
                  <a:srgbClr val="000000"/>
                </a:solidFill>
                <a:latin typeface="Poppins"/>
                <a:ea typeface="Poppins"/>
                <a:cs typeface="Poppins"/>
                <a:sym typeface="Poppins"/>
              </a:rPr>
              <a:t>: Chỉ định đây là Nav Host của bạn. </a:t>
            </a:r>
          </a:p>
          <a:p>
            <a:pPr algn="l" marL="410209" indent="-205105" lvl="1">
              <a:lnSpc>
                <a:spcPts val="2659"/>
              </a:lnSpc>
              <a:spcBef>
                <a:spcPct val="0"/>
              </a:spcBef>
              <a:buFont typeface="Arial"/>
              <a:buChar char="•"/>
            </a:pPr>
            <a:r>
              <a:rPr lang="en-US" sz="1899">
                <a:solidFill>
                  <a:srgbClr val="007A3F"/>
                </a:solidFill>
                <a:latin typeface="Poppins"/>
                <a:ea typeface="Poppins"/>
                <a:cs typeface="Poppins"/>
                <a:sym typeface="Poppins"/>
              </a:rPr>
              <a:t>app:defaultNavHost="true"</a:t>
            </a:r>
            <a:r>
              <a:rPr lang="en-US" sz="1899">
                <a:solidFill>
                  <a:srgbClr val="000000"/>
                </a:solidFill>
                <a:latin typeface="Poppins"/>
                <a:ea typeface="Poppins"/>
                <a:cs typeface="Poppins"/>
                <a:sym typeface="Poppins"/>
              </a:rPr>
              <a:t>: Đảm bảo Nav Host này sẽ chặn nút Back của hệ thống. </a:t>
            </a:r>
          </a:p>
          <a:p>
            <a:pPr algn="l" marL="410209" indent="-205105" lvl="1">
              <a:lnSpc>
                <a:spcPts val="2659"/>
              </a:lnSpc>
              <a:spcBef>
                <a:spcPct val="0"/>
              </a:spcBef>
              <a:buFont typeface="Arial"/>
              <a:buChar char="•"/>
            </a:pPr>
            <a:r>
              <a:rPr lang="en-US" sz="1899">
                <a:solidFill>
                  <a:srgbClr val="007A3F"/>
                </a:solidFill>
                <a:latin typeface="Poppins"/>
                <a:ea typeface="Poppins"/>
                <a:cs typeface="Poppins"/>
                <a:sym typeface="Poppins"/>
              </a:rPr>
              <a:t>app:navGraph="@navigation/</a:t>
            </a:r>
            <a:r>
              <a:rPr lang="en-US" b="true" sz="1899">
                <a:solidFill>
                  <a:srgbClr val="007A3F"/>
                </a:solidFill>
                <a:latin typeface="Poppins Bold"/>
                <a:ea typeface="Poppins Bold"/>
                <a:cs typeface="Poppins Bold"/>
                <a:sym typeface="Poppins Bold"/>
              </a:rPr>
              <a:t>main_nav_graph</a:t>
            </a:r>
            <a:r>
              <a:rPr lang="en-US" sz="1899">
                <a:solidFill>
                  <a:srgbClr val="007A3F"/>
                </a:solidFill>
                <a:latin typeface="Poppins"/>
                <a:ea typeface="Poppins"/>
                <a:cs typeface="Poppins"/>
                <a:sym typeface="Poppins"/>
              </a:rPr>
              <a:t>"</a:t>
            </a:r>
            <a:r>
              <a:rPr lang="en-US" sz="1899">
                <a:solidFill>
                  <a:srgbClr val="000000"/>
                </a:solidFill>
                <a:latin typeface="Poppins"/>
                <a:ea typeface="Poppins"/>
                <a:cs typeface="Poppins"/>
                <a:sym typeface="Poppins"/>
              </a:rPr>
              <a:t>: Liên kết Nav Host với đồ thị điều hướng của bạn.</a:t>
            </a:r>
          </a:p>
        </p:txBody>
      </p:sp>
      <p:sp>
        <p:nvSpPr>
          <p:cNvPr name="TextBox 5" id="5"/>
          <p:cNvSpPr txBox="true"/>
          <p:nvPr/>
        </p:nvSpPr>
        <p:spPr>
          <a:xfrm rot="0">
            <a:off x="1028700" y="3899787"/>
            <a:ext cx="5519811" cy="6756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Poppins"/>
                <a:ea typeface="Poppins"/>
                <a:cs typeface="Poppins"/>
                <a:sym typeface="Poppins"/>
              </a:rPr>
              <a:t>Đặt NavHostFragment vào file XML Layout của MainActivity (hoặc Activity chứa)</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5414934"/>
            <a:ext cx="11301259" cy="3037213"/>
          </a:xfrm>
          <a:custGeom>
            <a:avLst/>
            <a:gdLst/>
            <a:ahLst/>
            <a:cxnLst/>
            <a:rect r="r" b="b" t="t" l="l"/>
            <a:pathLst>
              <a:path h="3037213" w="11301259">
                <a:moveTo>
                  <a:pt x="0" y="0"/>
                </a:moveTo>
                <a:lnTo>
                  <a:pt x="11301259" y="0"/>
                </a:lnTo>
                <a:lnTo>
                  <a:pt x="11301259" y="3037213"/>
                </a:lnTo>
                <a:lnTo>
                  <a:pt x="0" y="3037213"/>
                </a:lnTo>
                <a:lnTo>
                  <a:pt x="0" y="0"/>
                </a:lnTo>
                <a:close/>
              </a:path>
            </a:pathLst>
          </a:custGeom>
          <a:blipFill>
            <a:blip r:embed="rId2"/>
            <a:stretch>
              <a:fillRect l="0" t="0" r="0" b="0"/>
            </a:stretch>
          </a:blipFill>
        </p:spPr>
      </p:sp>
      <p:sp>
        <p:nvSpPr>
          <p:cNvPr name="Freeform 3" id="3"/>
          <p:cNvSpPr/>
          <p:nvPr/>
        </p:nvSpPr>
        <p:spPr>
          <a:xfrm flipH="false" flipV="false" rot="0">
            <a:off x="1028700" y="1876890"/>
            <a:ext cx="11301259" cy="3432757"/>
          </a:xfrm>
          <a:custGeom>
            <a:avLst/>
            <a:gdLst/>
            <a:ahLst/>
            <a:cxnLst/>
            <a:rect r="r" b="b" t="t" l="l"/>
            <a:pathLst>
              <a:path h="3432757" w="11301259">
                <a:moveTo>
                  <a:pt x="0" y="0"/>
                </a:moveTo>
                <a:lnTo>
                  <a:pt x="11301259" y="0"/>
                </a:lnTo>
                <a:lnTo>
                  <a:pt x="11301259" y="3432758"/>
                </a:lnTo>
                <a:lnTo>
                  <a:pt x="0" y="3432758"/>
                </a:lnTo>
                <a:lnTo>
                  <a:pt x="0" y="0"/>
                </a:lnTo>
                <a:close/>
              </a:path>
            </a:pathLst>
          </a:custGeom>
          <a:blipFill>
            <a:blip r:embed="rId3"/>
            <a:stretch>
              <a:fillRect l="0" t="0" r="0" b="0"/>
            </a:stretch>
          </a:blipFill>
        </p:spPr>
      </p:sp>
      <p:sp>
        <p:nvSpPr>
          <p:cNvPr name="TextBox 4" id="4"/>
          <p:cNvSpPr txBox="true"/>
          <p:nvPr/>
        </p:nvSpPr>
        <p:spPr>
          <a:xfrm rot="0">
            <a:off x="1028700" y="629953"/>
            <a:ext cx="6284020" cy="398747"/>
          </a:xfrm>
          <a:prstGeom prst="rect">
            <a:avLst/>
          </a:prstGeom>
        </p:spPr>
        <p:txBody>
          <a:bodyPr anchor="t" rtlCol="false" tIns="0" lIns="0" bIns="0" rIns="0">
            <a:spAutoFit/>
          </a:bodyPr>
          <a:lstStyle/>
          <a:p>
            <a:pPr algn="ctr">
              <a:lnSpc>
                <a:spcPts val="3220"/>
              </a:lnSpc>
            </a:pPr>
            <a:r>
              <a:rPr lang="en-US" sz="2300" b="true">
                <a:solidFill>
                  <a:srgbClr val="000000"/>
                </a:solidFill>
                <a:latin typeface="Poppins Bold"/>
                <a:ea typeface="Poppins Bold"/>
                <a:cs typeface="Poppins Bold"/>
                <a:sym typeface="Poppins Bold"/>
              </a:rPr>
              <a:t>Thực hiện điều hướng bằng NavController</a:t>
            </a:r>
          </a:p>
        </p:txBody>
      </p:sp>
      <p:sp>
        <p:nvSpPr>
          <p:cNvPr name="TextBox 5" id="5"/>
          <p:cNvSpPr txBox="true"/>
          <p:nvPr/>
        </p:nvSpPr>
        <p:spPr>
          <a:xfrm rot="0">
            <a:off x="1028700" y="1095964"/>
            <a:ext cx="8456603" cy="675640"/>
          </a:xfrm>
          <a:prstGeom prst="rect">
            <a:avLst/>
          </a:prstGeom>
        </p:spPr>
        <p:txBody>
          <a:bodyPr anchor="t" rtlCol="false" tIns="0" lIns="0" bIns="0" rIns="0">
            <a:spAutoFit/>
          </a:bodyPr>
          <a:lstStyle/>
          <a:p>
            <a:pPr algn="l">
              <a:lnSpc>
                <a:spcPts val="2659"/>
              </a:lnSpc>
              <a:spcBef>
                <a:spcPct val="0"/>
              </a:spcBef>
            </a:pPr>
            <a:r>
              <a:rPr lang="en-US" sz="1899">
                <a:solidFill>
                  <a:srgbClr val="000000"/>
                </a:solidFill>
                <a:latin typeface="Poppins"/>
                <a:ea typeface="Poppins"/>
                <a:cs typeface="Poppins"/>
                <a:sym typeface="Poppins"/>
              </a:rPr>
              <a:t>Trong code của HomeFragment (ví dụ, trong hàm </a:t>
            </a:r>
            <a:r>
              <a:rPr lang="en-US" sz="1899">
                <a:solidFill>
                  <a:srgbClr val="007A3F"/>
                </a:solidFill>
                <a:latin typeface="Poppins"/>
                <a:ea typeface="Poppins"/>
                <a:cs typeface="Poppins"/>
                <a:sym typeface="Poppins"/>
              </a:rPr>
              <a:t>onViewCreated(...)</a:t>
            </a:r>
            <a:r>
              <a:rPr lang="en-US" sz="1899">
                <a:solidFill>
                  <a:srgbClr val="000000"/>
                </a:solidFill>
                <a:latin typeface="Poppins"/>
                <a:ea typeface="Poppins"/>
                <a:cs typeface="Poppins"/>
                <a:sym typeface="Poppins"/>
              </a:rPr>
              <a:t> khi người dùng nhấn nút) </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698500" y="3124200"/>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1400" y="3124200"/>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933297" y="3191597"/>
            <a:ext cx="8421405" cy="2575271"/>
          </a:xfrm>
          <a:prstGeom prst="rect">
            <a:avLst/>
          </a:prstGeom>
        </p:spPr>
        <p:txBody>
          <a:bodyPr anchor="t" rtlCol="false" tIns="0" lIns="0" bIns="0" rIns="0">
            <a:spAutoFit/>
          </a:bodyPr>
          <a:lstStyle/>
          <a:p>
            <a:pPr algn="ctr">
              <a:lnSpc>
                <a:spcPts val="10334"/>
              </a:lnSpc>
            </a:pPr>
            <a:r>
              <a:rPr lang="en-US" b="true" sz="7382">
                <a:solidFill>
                  <a:srgbClr val="004AAD"/>
                </a:solidFill>
                <a:latin typeface="League Spartan"/>
                <a:ea typeface="League Spartan"/>
                <a:cs typeface="League Spartan"/>
                <a:sym typeface="League Spartan"/>
              </a:rPr>
              <a:t>THANK YOU</a:t>
            </a:r>
          </a:p>
          <a:p>
            <a:pPr algn="ctr">
              <a:lnSpc>
                <a:spcPts val="10334"/>
              </a:lnSpc>
            </a:pPr>
            <a:r>
              <a:rPr lang="en-US" b="true" sz="7382">
                <a:solidFill>
                  <a:srgbClr val="004AAD"/>
                </a:solidFill>
                <a:latin typeface="League Spartan"/>
                <a:ea typeface="League Spartan"/>
                <a:cs typeface="League Spartan"/>
                <a:sym typeface="League Spartan"/>
              </a:rPr>
              <a:t>FOR LISTENING</a:t>
            </a:r>
          </a:p>
        </p:txBody>
      </p:sp>
      <p:grpSp>
        <p:nvGrpSpPr>
          <p:cNvPr name="Group 10" id="10"/>
          <p:cNvGrpSpPr/>
          <p:nvPr/>
        </p:nvGrpSpPr>
        <p:grpSpPr>
          <a:xfrm rot="0">
            <a:off x="7616825" y="6705600"/>
            <a:ext cx="3054350" cy="761278"/>
            <a:chOff x="0" y="0"/>
            <a:chExt cx="804438" cy="200501"/>
          </a:xfrm>
        </p:grpSpPr>
        <p:sp>
          <p:nvSpPr>
            <p:cNvPr name="Freeform 11" id="11"/>
            <p:cNvSpPr/>
            <p:nvPr/>
          </p:nvSpPr>
          <p:spPr>
            <a:xfrm flipH="false" flipV="false" rot="0">
              <a:off x="0" y="0"/>
              <a:ext cx="804438" cy="200501"/>
            </a:xfrm>
            <a:custGeom>
              <a:avLst/>
              <a:gdLst/>
              <a:ahLst/>
              <a:cxnLst/>
              <a:rect r="r" b="b" t="t" l="l"/>
              <a:pathLst>
                <a:path h="200501" w="804438">
                  <a:moveTo>
                    <a:pt x="100251" y="0"/>
                  </a:moveTo>
                  <a:lnTo>
                    <a:pt x="704187" y="0"/>
                  </a:lnTo>
                  <a:cubicBezTo>
                    <a:pt x="730775" y="0"/>
                    <a:pt x="756275" y="10562"/>
                    <a:pt x="775075" y="29363"/>
                  </a:cubicBezTo>
                  <a:cubicBezTo>
                    <a:pt x="793876" y="48163"/>
                    <a:pt x="804438" y="73662"/>
                    <a:pt x="804438" y="100251"/>
                  </a:cubicBezTo>
                  <a:lnTo>
                    <a:pt x="804438" y="100251"/>
                  </a:lnTo>
                  <a:cubicBezTo>
                    <a:pt x="804438" y="155617"/>
                    <a:pt x="759554" y="200501"/>
                    <a:pt x="704187" y="200501"/>
                  </a:cubicBezTo>
                  <a:lnTo>
                    <a:pt x="100251" y="200501"/>
                  </a:lnTo>
                  <a:cubicBezTo>
                    <a:pt x="44884" y="200501"/>
                    <a:pt x="0" y="155617"/>
                    <a:pt x="0" y="100251"/>
                  </a:cubicBezTo>
                  <a:lnTo>
                    <a:pt x="0" y="100251"/>
                  </a:lnTo>
                  <a:cubicBezTo>
                    <a:pt x="0" y="44884"/>
                    <a:pt x="44884" y="0"/>
                    <a:pt x="100251" y="0"/>
                  </a:cubicBezTo>
                  <a:close/>
                </a:path>
              </a:pathLst>
            </a:custGeom>
            <a:solidFill>
              <a:srgbClr val="004AAD"/>
            </a:solidFill>
          </p:spPr>
        </p:sp>
        <p:sp>
          <p:nvSpPr>
            <p:cNvPr name="TextBox 12" id="12"/>
            <p:cNvSpPr txBox="true"/>
            <p:nvPr/>
          </p:nvSpPr>
          <p:spPr>
            <a:xfrm>
              <a:off x="0" y="-47625"/>
              <a:ext cx="804438" cy="248126"/>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DAG7KpeM7qo</dc:identifier>
  <dcterms:modified xsi:type="dcterms:W3CDTF">2011-08-01T06:04:30Z</dcterms:modified>
  <cp:revision>1</cp:revision>
  <dc:title>Menus, Action bar and Tab, Navigation component</dc:title>
</cp:coreProperties>
</file>