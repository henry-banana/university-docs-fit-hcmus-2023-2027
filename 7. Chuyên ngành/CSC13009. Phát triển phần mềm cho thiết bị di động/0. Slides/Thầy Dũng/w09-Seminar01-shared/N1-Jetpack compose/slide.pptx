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Garet" panose="020B0604020202020204" charset="0"/>
      <p:regular r:id="rId26"/>
    </p:embeddedFont>
    <p:embeddedFont>
      <p:font typeface="Garet Bold" panose="020B0604020202020204" charset="0"/>
      <p:regular r:id="rId27"/>
    </p:embeddedFont>
    <p:embeddedFont>
      <p:font typeface="Inter" panose="020B0604020202020204" charset="0"/>
      <p:regular r:id="rId28"/>
    </p:embeddedFont>
    <p:embeddedFont>
      <p:font typeface="Inter Bold" panose="020B0604020202020204" charset="0"/>
      <p:regular r:id="rId29"/>
    </p:embeddedFont>
    <p:embeddedFont>
      <p:font typeface="Open Sans" panose="020B0606030504020204" pitchFamily="34" charset="0"/>
      <p:regular r:id="rId30"/>
    </p:embeddedFont>
    <p:embeddedFont>
      <p:font typeface="Open Sans Bold" panose="020B0806030504020204" charset="0"/>
      <p:regular r:id="rId31"/>
    </p:embeddedFont>
    <p:embeddedFont>
      <p:font typeface="Open Sans Italic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8" d="100"/>
          <a:sy n="68" d="100"/>
        </p:scale>
        <p:origin x="2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13405" r="-119513"/>
              </a:stretch>
            </a:blipFill>
          </p:spPr>
          <p:txBody>
            <a:bodyPr/>
            <a:lstStyle/>
            <a:p>
              <a:endParaRPr lang="en-US"/>
            </a:p>
          </p:txBody>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txBody>
            <a:bodyPr/>
            <a:lstStyle/>
            <a:p>
              <a:endParaRPr lang="en-US"/>
            </a:p>
          </p:txBody>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6216247"/>
            <a:ext cx="11842469" cy="4070753"/>
            <a:chOff x="0" y="0"/>
            <a:chExt cx="9357013" cy="3216397"/>
          </a:xfrm>
        </p:grpSpPr>
        <p:sp>
          <p:nvSpPr>
            <p:cNvPr id="8" name="Freeform 8"/>
            <p:cNvSpPr/>
            <p:nvPr/>
          </p:nvSpPr>
          <p:spPr>
            <a:xfrm>
              <a:off x="0" y="0"/>
              <a:ext cx="9357013" cy="3216397"/>
            </a:xfrm>
            <a:custGeom>
              <a:avLst/>
              <a:gdLst/>
              <a:ahLst/>
              <a:cxnLst/>
              <a:rect l="l" t="t" r="r" b="b"/>
              <a:pathLst>
                <a:path w="9357013" h="3216397">
                  <a:moveTo>
                    <a:pt x="0" y="0"/>
                  </a:moveTo>
                  <a:lnTo>
                    <a:pt x="9357013" y="0"/>
                  </a:lnTo>
                  <a:lnTo>
                    <a:pt x="9357013" y="3216397"/>
                  </a:lnTo>
                  <a:lnTo>
                    <a:pt x="0" y="3216397"/>
                  </a:lnTo>
                  <a:close/>
                </a:path>
              </a:pathLst>
            </a:custGeom>
            <a:solidFill>
              <a:srgbClr val="F6F6F6"/>
            </a:solidFill>
          </p:spPr>
          <p:txBody>
            <a:bodyPr/>
            <a:lstStyle/>
            <a:p>
              <a:endParaRPr lang="en-US"/>
            </a:p>
          </p:txBody>
        </p:sp>
        <p:sp>
          <p:nvSpPr>
            <p:cNvPr id="9" name="TextBox 9"/>
            <p:cNvSpPr txBox="1"/>
            <p:nvPr/>
          </p:nvSpPr>
          <p:spPr>
            <a:xfrm>
              <a:off x="0" y="-38100"/>
              <a:ext cx="9357013" cy="3254497"/>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txBody>
            <a:bodyPr/>
            <a:lstStyle/>
            <a:p>
              <a:endParaRPr lang="en-US"/>
            </a:p>
          </p:txBody>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txBody>
            <a:bodyPr/>
            <a:lstStyle/>
            <a:p>
              <a:endParaRPr lang="en-US"/>
            </a:p>
          </p:txBody>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24423" y="3998776"/>
            <a:ext cx="9750921" cy="545802"/>
            <a:chOff x="0" y="0"/>
            <a:chExt cx="2568144" cy="143750"/>
          </a:xfrm>
        </p:grpSpPr>
        <p:sp>
          <p:nvSpPr>
            <p:cNvPr id="17" name="Freeform 17"/>
            <p:cNvSpPr/>
            <p:nvPr/>
          </p:nvSpPr>
          <p:spPr>
            <a:xfrm>
              <a:off x="0" y="0"/>
              <a:ext cx="2568144" cy="143750"/>
            </a:xfrm>
            <a:custGeom>
              <a:avLst/>
              <a:gdLst/>
              <a:ahLst/>
              <a:cxnLst/>
              <a:rect l="l" t="t" r="r" b="b"/>
              <a:pathLst>
                <a:path w="2568144" h="143750">
                  <a:moveTo>
                    <a:pt x="40492" y="0"/>
                  </a:moveTo>
                  <a:lnTo>
                    <a:pt x="2527652" y="0"/>
                  </a:lnTo>
                  <a:cubicBezTo>
                    <a:pt x="2550015" y="0"/>
                    <a:pt x="2568144" y="18129"/>
                    <a:pt x="2568144" y="40492"/>
                  </a:cubicBezTo>
                  <a:lnTo>
                    <a:pt x="2568144" y="103258"/>
                  </a:lnTo>
                  <a:cubicBezTo>
                    <a:pt x="2568144" y="125621"/>
                    <a:pt x="2550015" y="143750"/>
                    <a:pt x="2527652" y="143750"/>
                  </a:cubicBezTo>
                  <a:lnTo>
                    <a:pt x="40492" y="143750"/>
                  </a:lnTo>
                  <a:cubicBezTo>
                    <a:pt x="18129" y="143750"/>
                    <a:pt x="0" y="125621"/>
                    <a:pt x="0" y="103258"/>
                  </a:cubicBezTo>
                  <a:lnTo>
                    <a:pt x="0" y="40492"/>
                  </a:lnTo>
                  <a:cubicBezTo>
                    <a:pt x="0" y="18129"/>
                    <a:pt x="18129" y="0"/>
                    <a:pt x="40492" y="0"/>
                  </a:cubicBezTo>
                  <a:close/>
                </a:path>
              </a:pathLst>
            </a:custGeom>
            <a:solidFill>
              <a:srgbClr val="0345E4"/>
            </a:solidFill>
          </p:spPr>
          <p:txBody>
            <a:bodyPr/>
            <a:lstStyle/>
            <a:p>
              <a:endParaRPr lang="en-US"/>
            </a:p>
          </p:txBody>
        </p:sp>
        <p:sp>
          <p:nvSpPr>
            <p:cNvPr id="18" name="TextBox 18"/>
            <p:cNvSpPr txBox="1"/>
            <p:nvPr/>
          </p:nvSpPr>
          <p:spPr>
            <a:xfrm>
              <a:off x="0" y="-38100"/>
              <a:ext cx="2568144" cy="181850"/>
            </a:xfrm>
            <a:prstGeom prst="rect">
              <a:avLst/>
            </a:prstGeom>
          </p:spPr>
          <p:txBody>
            <a:bodyPr lIns="50800" tIns="50800" rIns="50800" bIns="50800" rtlCol="0" anchor="ctr"/>
            <a:lstStyle/>
            <a:p>
              <a:pPr algn="ctr">
                <a:lnSpc>
                  <a:spcPts val="3079"/>
                </a:lnSpc>
              </a:pPr>
              <a:r>
                <a:rPr lang="en-US" sz="2199" b="1">
                  <a:solidFill>
                    <a:srgbClr val="FFFFFF"/>
                  </a:solidFill>
                  <a:latin typeface="Garet Bold"/>
                  <a:ea typeface="Garet Bold"/>
                  <a:cs typeface="Garet Bold"/>
                  <a:sym typeface="Garet Bold"/>
                </a:rPr>
                <a:t>Môn học: Phát triển phần mềm cho thiết bị di động - CQ2023/31</a:t>
              </a:r>
            </a:p>
          </p:txBody>
        </p:sp>
      </p:grpSp>
      <p:grpSp>
        <p:nvGrpSpPr>
          <p:cNvPr id="19" name="Group 19"/>
          <p:cNvGrpSpPr/>
          <p:nvPr/>
        </p:nvGrpSpPr>
        <p:grpSpPr>
          <a:xfrm>
            <a:off x="10853887" y="786854"/>
            <a:ext cx="1977164" cy="1977164"/>
            <a:chOff x="0" y="0"/>
            <a:chExt cx="812800" cy="812800"/>
          </a:xfrm>
        </p:grpSpPr>
        <p:sp>
          <p:nvSpPr>
            <p:cNvPr id="20" name="Freeform 20"/>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txBody>
            <a:bodyPr/>
            <a:lstStyle/>
            <a:p>
              <a:endParaRPr lang="en-US"/>
            </a:p>
          </p:txBody>
        </p:sp>
        <p:sp>
          <p:nvSpPr>
            <p:cNvPr id="21" name="TextBox 21"/>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1467368" y="613788"/>
            <a:ext cx="803667" cy="694168"/>
          </a:xfrm>
          <a:custGeom>
            <a:avLst/>
            <a:gdLst/>
            <a:ahLst/>
            <a:cxnLst/>
            <a:rect l="l" t="t" r="r" b="b"/>
            <a:pathLst>
              <a:path w="803667" h="694168">
                <a:moveTo>
                  <a:pt x="0" y="0"/>
                </a:moveTo>
                <a:lnTo>
                  <a:pt x="803667" y="0"/>
                </a:lnTo>
                <a:lnTo>
                  <a:pt x="803667" y="694168"/>
                </a:lnTo>
                <a:lnTo>
                  <a:pt x="0" y="694168"/>
                </a:lnTo>
                <a:lnTo>
                  <a:pt x="0" y="0"/>
                </a:lnTo>
                <a:close/>
              </a:path>
            </a:pathLst>
          </a:custGeom>
          <a:blipFill>
            <a:blip r:embed="rId3"/>
            <a:stretch>
              <a:fillRect/>
            </a:stretch>
          </a:blipFill>
        </p:spPr>
        <p:txBody>
          <a:bodyPr/>
          <a:lstStyle/>
          <a:p>
            <a:endParaRPr lang="en-US"/>
          </a:p>
        </p:txBody>
      </p:sp>
      <p:sp>
        <p:nvSpPr>
          <p:cNvPr id="23" name="TextBox 23"/>
          <p:cNvSpPr txBox="1"/>
          <p:nvPr/>
        </p:nvSpPr>
        <p:spPr>
          <a:xfrm>
            <a:off x="2451199" y="793750"/>
            <a:ext cx="7738328" cy="42227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Trường Đại học Khoa học Tự nhiên ĐHQG HCM</a:t>
            </a:r>
          </a:p>
        </p:txBody>
      </p:sp>
      <p:sp>
        <p:nvSpPr>
          <p:cNvPr id="24" name="TextBox 24"/>
          <p:cNvSpPr txBox="1"/>
          <p:nvPr/>
        </p:nvSpPr>
        <p:spPr>
          <a:xfrm>
            <a:off x="1624423" y="6985362"/>
            <a:ext cx="5102540" cy="587376"/>
          </a:xfrm>
          <a:prstGeom prst="rect">
            <a:avLst/>
          </a:prstGeom>
        </p:spPr>
        <p:txBody>
          <a:bodyPr lIns="0" tIns="0" rIns="0" bIns="0" rtlCol="0" anchor="t">
            <a:spAutoFit/>
          </a:bodyPr>
          <a:lstStyle/>
          <a:p>
            <a:pPr algn="l">
              <a:lnSpc>
                <a:spcPts val="4899"/>
              </a:lnSpc>
            </a:pPr>
            <a:r>
              <a:rPr lang="en-US" sz="3499" b="1">
                <a:solidFill>
                  <a:srgbClr val="000000"/>
                </a:solidFill>
                <a:latin typeface="Garet Bold"/>
                <a:ea typeface="Garet Bold"/>
                <a:cs typeface="Garet Bold"/>
                <a:sym typeface="Garet Bold"/>
              </a:rPr>
              <a:t>NHÓM 01</a:t>
            </a:r>
          </a:p>
        </p:txBody>
      </p:sp>
      <p:sp>
        <p:nvSpPr>
          <p:cNvPr id="25" name="TextBox 25"/>
          <p:cNvSpPr txBox="1"/>
          <p:nvPr/>
        </p:nvSpPr>
        <p:spPr>
          <a:xfrm>
            <a:off x="1624423" y="1751191"/>
            <a:ext cx="8795646" cy="2054230"/>
          </a:xfrm>
          <a:prstGeom prst="rect">
            <a:avLst/>
          </a:prstGeom>
        </p:spPr>
        <p:txBody>
          <a:bodyPr lIns="0" tIns="0" rIns="0" bIns="0" rtlCol="0" anchor="t">
            <a:spAutoFit/>
          </a:bodyPr>
          <a:lstStyle/>
          <a:p>
            <a:pPr algn="l">
              <a:lnSpc>
                <a:spcPts val="8050"/>
              </a:lnSpc>
            </a:pPr>
            <a:r>
              <a:rPr lang="en-US" sz="7000" b="1">
                <a:solidFill>
                  <a:srgbClr val="000000"/>
                </a:solidFill>
                <a:latin typeface="Garet Bold"/>
                <a:ea typeface="Garet Bold"/>
                <a:cs typeface="Garet Bold"/>
                <a:sym typeface="Garet Bold"/>
              </a:rPr>
              <a:t>JETPACK COMPOSE </a:t>
            </a:r>
          </a:p>
        </p:txBody>
      </p:sp>
      <p:sp>
        <p:nvSpPr>
          <p:cNvPr id="26" name="TextBox 26"/>
          <p:cNvSpPr txBox="1"/>
          <p:nvPr/>
        </p:nvSpPr>
        <p:spPr>
          <a:xfrm>
            <a:off x="5021447" y="6975837"/>
            <a:ext cx="5651748" cy="3078175"/>
          </a:xfrm>
          <a:prstGeom prst="rect">
            <a:avLst/>
          </a:prstGeom>
        </p:spPr>
        <p:txBody>
          <a:bodyPr lIns="0" tIns="0" rIns="0" bIns="0" rtlCol="0" anchor="t">
            <a:spAutoFit/>
          </a:bodyPr>
          <a:lstStyle/>
          <a:p>
            <a:pPr algn="l">
              <a:lnSpc>
                <a:spcPts val="4111"/>
              </a:lnSpc>
              <a:spcBef>
                <a:spcPct val="0"/>
              </a:spcBef>
            </a:pPr>
            <a:r>
              <a:rPr lang="en-US" sz="2937">
                <a:solidFill>
                  <a:srgbClr val="000000"/>
                </a:solidFill>
                <a:latin typeface="Inter"/>
                <a:ea typeface="Inter"/>
                <a:cs typeface="Inter"/>
                <a:sym typeface="Inter"/>
              </a:rPr>
              <a:t>22120280 - Phan Hồng Phúc</a:t>
            </a:r>
          </a:p>
          <a:p>
            <a:pPr algn="l">
              <a:lnSpc>
                <a:spcPts val="4111"/>
              </a:lnSpc>
              <a:spcBef>
                <a:spcPct val="0"/>
              </a:spcBef>
            </a:pPr>
            <a:r>
              <a:rPr lang="en-US" sz="2937">
                <a:solidFill>
                  <a:srgbClr val="000000"/>
                </a:solidFill>
                <a:latin typeface="Inter"/>
                <a:ea typeface="Inter"/>
                <a:cs typeface="Inter"/>
                <a:sym typeface="Inter"/>
              </a:rPr>
              <a:t>22120285 - Nguyễn Văn Phước</a:t>
            </a:r>
          </a:p>
          <a:p>
            <a:pPr algn="l">
              <a:lnSpc>
                <a:spcPts val="4111"/>
              </a:lnSpc>
              <a:spcBef>
                <a:spcPct val="0"/>
              </a:spcBef>
            </a:pPr>
            <a:r>
              <a:rPr lang="en-US" sz="2937">
                <a:solidFill>
                  <a:srgbClr val="000000"/>
                </a:solidFill>
                <a:latin typeface="Inter"/>
                <a:ea typeface="Inter"/>
                <a:cs typeface="Inter"/>
                <a:sym typeface="Inter"/>
              </a:rPr>
              <a:t>22120288 - Đỗ Thị Kim Phượng</a:t>
            </a:r>
          </a:p>
          <a:p>
            <a:pPr algn="l">
              <a:lnSpc>
                <a:spcPts val="4111"/>
              </a:lnSpc>
              <a:spcBef>
                <a:spcPct val="0"/>
              </a:spcBef>
            </a:pPr>
            <a:r>
              <a:rPr lang="en-US" sz="2937">
                <a:solidFill>
                  <a:srgbClr val="000000"/>
                </a:solidFill>
                <a:latin typeface="Inter"/>
                <a:ea typeface="Inter"/>
                <a:cs typeface="Inter"/>
                <a:sym typeface="Inter"/>
              </a:rPr>
              <a:t>22120290 - Lê Minh Quân          </a:t>
            </a:r>
          </a:p>
          <a:p>
            <a:pPr algn="l">
              <a:lnSpc>
                <a:spcPts val="4111"/>
              </a:lnSpc>
              <a:spcBef>
                <a:spcPct val="0"/>
              </a:spcBef>
            </a:pPr>
            <a:r>
              <a:rPr lang="en-US" sz="2937">
                <a:solidFill>
                  <a:srgbClr val="000000"/>
                </a:solidFill>
                <a:latin typeface="Inter"/>
                <a:ea typeface="Inter"/>
                <a:cs typeface="Inter"/>
                <a:sym typeface="Inter"/>
              </a:rPr>
              <a:t>22120296 - Lê Văn Quang          </a:t>
            </a:r>
          </a:p>
          <a:p>
            <a:pPr algn="l">
              <a:lnSpc>
                <a:spcPts val="4111"/>
              </a:lnSpc>
              <a:spcBef>
                <a:spcPct val="0"/>
              </a:spcBef>
            </a:pPr>
            <a:endParaRPr lang="en-US" sz="2937">
              <a:solidFill>
                <a:srgbClr val="000000"/>
              </a:solidFill>
              <a:latin typeface="Inter"/>
              <a:ea typeface="Inter"/>
              <a:cs typeface="Inter"/>
              <a:sym typeface="Inter"/>
            </a:endParaRPr>
          </a:p>
        </p:txBody>
      </p:sp>
      <p:grpSp>
        <p:nvGrpSpPr>
          <p:cNvPr id="27" name="Group 27"/>
          <p:cNvGrpSpPr/>
          <p:nvPr/>
        </p:nvGrpSpPr>
        <p:grpSpPr>
          <a:xfrm>
            <a:off x="1624423" y="4737933"/>
            <a:ext cx="3397024" cy="545802"/>
            <a:chOff x="0" y="0"/>
            <a:chExt cx="894690" cy="143750"/>
          </a:xfrm>
        </p:grpSpPr>
        <p:sp>
          <p:nvSpPr>
            <p:cNvPr id="28" name="Freeform 28"/>
            <p:cNvSpPr/>
            <p:nvPr/>
          </p:nvSpPr>
          <p:spPr>
            <a:xfrm>
              <a:off x="0" y="0"/>
              <a:ext cx="894689" cy="143750"/>
            </a:xfrm>
            <a:custGeom>
              <a:avLst/>
              <a:gdLst/>
              <a:ahLst/>
              <a:cxnLst/>
              <a:rect l="l" t="t" r="r" b="b"/>
              <a:pathLst>
                <a:path w="894689" h="143750">
                  <a:moveTo>
                    <a:pt x="71875" y="0"/>
                  </a:moveTo>
                  <a:lnTo>
                    <a:pt x="822814" y="0"/>
                  </a:lnTo>
                  <a:cubicBezTo>
                    <a:pt x="841877" y="0"/>
                    <a:pt x="860159" y="7573"/>
                    <a:pt x="873638" y="21052"/>
                  </a:cubicBezTo>
                  <a:cubicBezTo>
                    <a:pt x="887117" y="34531"/>
                    <a:pt x="894689" y="52813"/>
                    <a:pt x="894689" y="71875"/>
                  </a:cubicBezTo>
                  <a:lnTo>
                    <a:pt x="894689" y="71875"/>
                  </a:lnTo>
                  <a:cubicBezTo>
                    <a:pt x="894689" y="111571"/>
                    <a:pt x="862510" y="143750"/>
                    <a:pt x="822814" y="143750"/>
                  </a:cubicBezTo>
                  <a:lnTo>
                    <a:pt x="71875" y="143750"/>
                  </a:lnTo>
                  <a:cubicBezTo>
                    <a:pt x="52813" y="143750"/>
                    <a:pt x="34531" y="136178"/>
                    <a:pt x="21052" y="122699"/>
                  </a:cubicBezTo>
                  <a:cubicBezTo>
                    <a:pt x="7573" y="109219"/>
                    <a:pt x="0" y="90938"/>
                    <a:pt x="0" y="71875"/>
                  </a:cubicBezTo>
                  <a:lnTo>
                    <a:pt x="0" y="71875"/>
                  </a:lnTo>
                  <a:cubicBezTo>
                    <a:pt x="0" y="52813"/>
                    <a:pt x="7573" y="34531"/>
                    <a:pt x="21052" y="21052"/>
                  </a:cubicBezTo>
                  <a:cubicBezTo>
                    <a:pt x="34531" y="7573"/>
                    <a:pt x="52813" y="0"/>
                    <a:pt x="71875" y="0"/>
                  </a:cubicBezTo>
                  <a:close/>
                </a:path>
              </a:pathLst>
            </a:custGeom>
            <a:solidFill>
              <a:srgbClr val="0345E4"/>
            </a:solidFill>
          </p:spPr>
          <p:txBody>
            <a:bodyPr/>
            <a:lstStyle/>
            <a:p>
              <a:endParaRPr lang="en-US"/>
            </a:p>
          </p:txBody>
        </p:sp>
        <p:sp>
          <p:nvSpPr>
            <p:cNvPr id="29" name="TextBox 29"/>
            <p:cNvSpPr txBox="1"/>
            <p:nvPr/>
          </p:nvSpPr>
          <p:spPr>
            <a:xfrm>
              <a:off x="0" y="-38100"/>
              <a:ext cx="894690" cy="181850"/>
            </a:xfrm>
            <a:prstGeom prst="rect">
              <a:avLst/>
            </a:prstGeom>
          </p:spPr>
          <p:txBody>
            <a:bodyPr lIns="50800" tIns="50800" rIns="50800" bIns="50800" rtlCol="0" anchor="ctr"/>
            <a:lstStyle/>
            <a:p>
              <a:pPr algn="ctr">
                <a:lnSpc>
                  <a:spcPts val="3079"/>
                </a:lnSpc>
              </a:pPr>
              <a:r>
                <a:rPr lang="en-US" sz="2199" b="1">
                  <a:solidFill>
                    <a:srgbClr val="FFFFFF"/>
                  </a:solidFill>
                  <a:latin typeface="Garet Bold"/>
                  <a:ea typeface="Garet Bold"/>
                  <a:cs typeface="Garet Bold"/>
                  <a:sym typeface="Garet Bold"/>
                </a:rPr>
                <a:t>Mã lớp: CSC13009</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5429066" cy="10287000"/>
            <a:chOff x="0" y="0"/>
            <a:chExt cx="7238755" cy="13716000"/>
          </a:xfrm>
        </p:grpSpPr>
        <p:pic>
          <p:nvPicPr>
            <p:cNvPr id="3" name="Picture 3"/>
            <p:cNvPicPr>
              <a:picLocks noChangeAspect="1"/>
            </p:cNvPicPr>
            <p:nvPr/>
          </p:nvPicPr>
          <p:blipFill>
            <a:blip r:embed="rId2"/>
            <a:srcRect l="17004" r="49284"/>
            <a:stretch>
              <a:fillRect/>
            </a:stretch>
          </p:blipFill>
          <p:spPr>
            <a:xfrm>
              <a:off x="0" y="0"/>
              <a:ext cx="7238755" cy="13716000"/>
            </a:xfrm>
            <a:prstGeom prst="rect">
              <a:avLst/>
            </a:prstGeom>
          </p:spPr>
        </p:pic>
      </p:grpSp>
      <p:grpSp>
        <p:nvGrpSpPr>
          <p:cNvPr id="4" name="Group 4"/>
          <p:cNvGrpSpPr/>
          <p:nvPr/>
        </p:nvGrpSpPr>
        <p:grpSpPr>
          <a:xfrm>
            <a:off x="17259300" y="0"/>
            <a:ext cx="1694792" cy="10287000"/>
            <a:chOff x="0" y="0"/>
            <a:chExt cx="446365" cy="2709333"/>
          </a:xfrm>
        </p:grpSpPr>
        <p:sp>
          <p:nvSpPr>
            <p:cNvPr id="5" name="Freeform 5"/>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txBody>
            <a:bodyPr/>
            <a:lstStyle/>
            <a:p>
              <a:endParaRPr lang="en-US"/>
            </a:p>
          </p:txBody>
        </p:sp>
        <p:sp>
          <p:nvSpPr>
            <p:cNvPr id="6" name="TextBox 6"/>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7109187"/>
            <a:ext cx="1028700" cy="3177813"/>
            <a:chOff x="0" y="0"/>
            <a:chExt cx="812800" cy="2510865"/>
          </a:xfrm>
        </p:grpSpPr>
        <p:sp>
          <p:nvSpPr>
            <p:cNvPr id="8" name="Freeform 8"/>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txBody>
            <a:bodyPr/>
            <a:lstStyle/>
            <a:p>
              <a:endParaRPr lang="en-US"/>
            </a:p>
          </p:txBody>
        </p:sp>
        <p:sp>
          <p:nvSpPr>
            <p:cNvPr id="9" name="TextBox 9"/>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txBody>
            <a:bodyPr/>
            <a:lstStyle/>
            <a:p>
              <a:endParaRPr lang="en-US"/>
            </a:p>
          </p:txBody>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7297118" y="692526"/>
            <a:ext cx="7494647" cy="1155745"/>
          </a:xfrm>
          <a:prstGeom prst="rect">
            <a:avLst/>
          </a:prstGeom>
        </p:spPr>
        <p:txBody>
          <a:bodyPr lIns="0" tIns="0" rIns="0" bIns="0" rtlCol="0" anchor="t">
            <a:spAutoFit/>
          </a:bodyPr>
          <a:lstStyle/>
          <a:p>
            <a:pPr algn="l">
              <a:lnSpc>
                <a:spcPts val="9487"/>
              </a:lnSpc>
            </a:pPr>
            <a:r>
              <a:rPr lang="en-US" sz="6776" b="1">
                <a:solidFill>
                  <a:srgbClr val="000000"/>
                </a:solidFill>
                <a:latin typeface="Garet Bold"/>
                <a:ea typeface="Garet Bold"/>
                <a:cs typeface="Garet Bold"/>
                <a:sym typeface="Garet Bold"/>
              </a:rPr>
              <a:t>NỘI DUNG</a:t>
            </a:r>
          </a:p>
        </p:txBody>
      </p:sp>
      <p:grpSp>
        <p:nvGrpSpPr>
          <p:cNvPr id="14" name="Group 14"/>
          <p:cNvGrpSpPr/>
          <p:nvPr/>
        </p:nvGrpSpPr>
        <p:grpSpPr>
          <a:xfrm>
            <a:off x="7297118" y="2384162"/>
            <a:ext cx="969409" cy="969409"/>
            <a:chOff x="0" y="0"/>
            <a:chExt cx="812800" cy="812800"/>
          </a:xfrm>
        </p:grpSpPr>
        <p:sp>
          <p:nvSpPr>
            <p:cNvPr id="15" name="Freeform 15"/>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16" name="TextBox 16"/>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01</a:t>
              </a:r>
            </a:p>
          </p:txBody>
        </p:sp>
      </p:grpSp>
      <p:grpSp>
        <p:nvGrpSpPr>
          <p:cNvPr id="17" name="Group 17"/>
          <p:cNvGrpSpPr/>
          <p:nvPr/>
        </p:nvGrpSpPr>
        <p:grpSpPr>
          <a:xfrm>
            <a:off x="7297118" y="3565108"/>
            <a:ext cx="969409" cy="969409"/>
            <a:chOff x="0" y="0"/>
            <a:chExt cx="812800" cy="812800"/>
          </a:xfrm>
        </p:grpSpPr>
        <p:sp>
          <p:nvSpPr>
            <p:cNvPr id="18" name="Freeform 18"/>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19" name="TextBox 19"/>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02</a:t>
              </a:r>
            </a:p>
          </p:txBody>
        </p:sp>
      </p:grpSp>
      <p:grpSp>
        <p:nvGrpSpPr>
          <p:cNvPr id="20" name="Group 20"/>
          <p:cNvGrpSpPr/>
          <p:nvPr/>
        </p:nvGrpSpPr>
        <p:grpSpPr>
          <a:xfrm>
            <a:off x="7297118" y="4746054"/>
            <a:ext cx="969409" cy="969409"/>
            <a:chOff x="0" y="0"/>
            <a:chExt cx="812800" cy="812800"/>
          </a:xfrm>
        </p:grpSpPr>
        <p:sp>
          <p:nvSpPr>
            <p:cNvPr id="21" name="Freeform 21"/>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22" name="TextBox 22"/>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03</a:t>
              </a:r>
            </a:p>
          </p:txBody>
        </p:sp>
      </p:grpSp>
      <p:grpSp>
        <p:nvGrpSpPr>
          <p:cNvPr id="23" name="Group 23"/>
          <p:cNvGrpSpPr/>
          <p:nvPr/>
        </p:nvGrpSpPr>
        <p:grpSpPr>
          <a:xfrm>
            <a:off x="7297118" y="5927000"/>
            <a:ext cx="969409" cy="969409"/>
            <a:chOff x="0" y="0"/>
            <a:chExt cx="812800" cy="812800"/>
          </a:xfrm>
        </p:grpSpPr>
        <p:sp>
          <p:nvSpPr>
            <p:cNvPr id="24" name="Freeform 24"/>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25" name="TextBox 25"/>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04</a:t>
              </a:r>
            </a:p>
          </p:txBody>
        </p:sp>
      </p:grpSp>
      <p:grpSp>
        <p:nvGrpSpPr>
          <p:cNvPr id="26" name="Group 26"/>
          <p:cNvGrpSpPr/>
          <p:nvPr/>
        </p:nvGrpSpPr>
        <p:grpSpPr>
          <a:xfrm>
            <a:off x="7297118" y="7107945"/>
            <a:ext cx="969409" cy="969409"/>
            <a:chOff x="0" y="0"/>
            <a:chExt cx="812800" cy="812800"/>
          </a:xfrm>
        </p:grpSpPr>
        <p:sp>
          <p:nvSpPr>
            <p:cNvPr id="27" name="Freeform 2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28" name="TextBox 28"/>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05</a:t>
              </a:r>
            </a:p>
          </p:txBody>
        </p:sp>
      </p:grpSp>
      <p:grpSp>
        <p:nvGrpSpPr>
          <p:cNvPr id="29" name="Group 29"/>
          <p:cNvGrpSpPr/>
          <p:nvPr/>
        </p:nvGrpSpPr>
        <p:grpSpPr>
          <a:xfrm>
            <a:off x="7297118" y="8288891"/>
            <a:ext cx="969409" cy="969409"/>
            <a:chOff x="0" y="0"/>
            <a:chExt cx="812800" cy="812800"/>
          </a:xfrm>
        </p:grpSpPr>
        <p:sp>
          <p:nvSpPr>
            <p:cNvPr id="30" name="Freeform 3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txBody>
            <a:bodyPr/>
            <a:lstStyle/>
            <a:p>
              <a:endParaRPr lang="en-US"/>
            </a:p>
          </p:txBody>
        </p:sp>
        <p:sp>
          <p:nvSpPr>
            <p:cNvPr id="31" name="TextBox 3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06</a:t>
              </a:r>
            </a:p>
          </p:txBody>
        </p:sp>
      </p:grpSp>
      <p:grpSp>
        <p:nvGrpSpPr>
          <p:cNvPr id="32" name="Group 32"/>
          <p:cNvGrpSpPr/>
          <p:nvPr/>
        </p:nvGrpSpPr>
        <p:grpSpPr>
          <a:xfrm>
            <a:off x="15011231" y="1028700"/>
            <a:ext cx="1652841" cy="1652841"/>
            <a:chOff x="0" y="0"/>
            <a:chExt cx="812800" cy="812800"/>
          </a:xfrm>
        </p:grpSpPr>
        <p:sp>
          <p:nvSpPr>
            <p:cNvPr id="33" name="Freeform 33"/>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txBody>
            <a:bodyPr/>
            <a:lstStyle/>
            <a:p>
              <a:endParaRPr lang="en-US"/>
            </a:p>
          </p:txBody>
        </p:sp>
        <p:sp>
          <p:nvSpPr>
            <p:cNvPr id="34" name="TextBox 34"/>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4814124" y="816351"/>
            <a:ext cx="771724" cy="7717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txBody>
            <a:bodyPr/>
            <a:lstStyle/>
            <a:p>
              <a:endParaRPr lang="en-US"/>
            </a:p>
          </p:txBody>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2919457" y="8414693"/>
            <a:ext cx="3744615" cy="3744615"/>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1" name="TextBox 41"/>
          <p:cNvSpPr txBox="1"/>
          <p:nvPr/>
        </p:nvSpPr>
        <p:spPr>
          <a:xfrm>
            <a:off x="8485829" y="2633916"/>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Giới thiệu </a:t>
            </a:r>
          </a:p>
        </p:txBody>
      </p:sp>
      <p:sp>
        <p:nvSpPr>
          <p:cNvPr id="42" name="TextBox 42"/>
          <p:cNvSpPr txBox="1"/>
          <p:nvPr/>
        </p:nvSpPr>
        <p:spPr>
          <a:xfrm>
            <a:off x="8485829" y="3814862"/>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Kiến trúc &amp; nguyên lý cốt lõi </a:t>
            </a:r>
          </a:p>
        </p:txBody>
      </p:sp>
      <p:sp>
        <p:nvSpPr>
          <p:cNvPr id="43" name="TextBox 43"/>
          <p:cNvSpPr txBox="1"/>
          <p:nvPr/>
        </p:nvSpPr>
        <p:spPr>
          <a:xfrm>
            <a:off x="8485829" y="4995808"/>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So sánh Jetpack Compose vs XML</a:t>
            </a:r>
          </a:p>
        </p:txBody>
      </p:sp>
      <p:sp>
        <p:nvSpPr>
          <p:cNvPr id="44" name="TextBox 44"/>
          <p:cNvSpPr txBox="1"/>
          <p:nvPr/>
        </p:nvSpPr>
        <p:spPr>
          <a:xfrm>
            <a:off x="8485829" y="6176754"/>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Các thành phần quan trọng trong Compose</a:t>
            </a:r>
          </a:p>
        </p:txBody>
      </p:sp>
      <p:sp>
        <p:nvSpPr>
          <p:cNvPr id="45" name="TextBox 45"/>
          <p:cNvSpPr txBox="1"/>
          <p:nvPr/>
        </p:nvSpPr>
        <p:spPr>
          <a:xfrm>
            <a:off x="8485829" y="7357700"/>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Vòng đời Composable và quản lý trạng thái</a:t>
            </a:r>
          </a:p>
        </p:txBody>
      </p:sp>
      <p:sp>
        <p:nvSpPr>
          <p:cNvPr id="46" name="TextBox 46"/>
          <p:cNvSpPr txBox="1"/>
          <p:nvPr/>
        </p:nvSpPr>
        <p:spPr>
          <a:xfrm>
            <a:off x="8485829" y="8538646"/>
            <a:ext cx="7351823" cy="4222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Demo minh họa</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770594"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0345E4"/>
            </a:solidFill>
          </p:spPr>
          <p:txBody>
            <a:bodyPr/>
            <a:lstStyle/>
            <a:p>
              <a:endParaRPr lang="en-US"/>
            </a:p>
          </p:txBody>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916626" y="1908721"/>
            <a:ext cx="1310100" cy="0"/>
          </a:xfrm>
          <a:prstGeom prst="line">
            <a:avLst/>
          </a:prstGeom>
          <a:ln w="952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839945" y="744695"/>
            <a:ext cx="4568944" cy="8540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1.GIỚI THIỆU</a:t>
            </a:r>
          </a:p>
        </p:txBody>
      </p:sp>
      <p:sp>
        <p:nvSpPr>
          <p:cNvPr id="7" name="TextBox 7"/>
          <p:cNvSpPr txBox="1"/>
          <p:nvPr/>
        </p:nvSpPr>
        <p:spPr>
          <a:xfrm>
            <a:off x="916626" y="2483824"/>
            <a:ext cx="5004077" cy="3860800"/>
          </a:xfrm>
          <a:prstGeom prst="rect">
            <a:avLst/>
          </a:prstGeom>
        </p:spPr>
        <p:txBody>
          <a:bodyPr lIns="0" tIns="0" rIns="0" bIns="0" rtlCol="0" anchor="t">
            <a:spAutoFit/>
          </a:bodyPr>
          <a:lstStyle/>
          <a:p>
            <a:pPr marL="0" lvl="0" indent="0" algn="just">
              <a:lnSpc>
                <a:spcPts val="3874"/>
              </a:lnSpc>
            </a:pPr>
            <a:r>
              <a:rPr lang="en-US" sz="2499">
                <a:solidFill>
                  <a:srgbClr val="FFFFFF"/>
                </a:solidFill>
                <a:latin typeface="Open Sans"/>
                <a:ea typeface="Open Sans"/>
                <a:cs typeface="Open Sans"/>
                <a:sym typeface="Open Sans"/>
              </a:rPr>
              <a:t>Jetpack Compose là bộ công cụ hiện đại được Google đề xuất để xây dựng giao diện người dùng  cho Android. Nó được phát hành chính thức bản 1.0 vào tháng 7 năm 2021 và hiện là cách thức tiêu chuẩn mới để lập trình UI trên Android.</a:t>
            </a:r>
          </a:p>
        </p:txBody>
      </p:sp>
      <p:grpSp>
        <p:nvGrpSpPr>
          <p:cNvPr id="8" name="Group 8"/>
          <p:cNvGrpSpPr/>
          <p:nvPr/>
        </p:nvGrpSpPr>
        <p:grpSpPr>
          <a:xfrm>
            <a:off x="7357338" y="2024709"/>
            <a:ext cx="732337" cy="7323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txBody>
            <a:bodyPr/>
            <a:lstStyle/>
            <a:p>
              <a:endParaRPr lang="en-US"/>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01</a:t>
              </a:r>
            </a:p>
          </p:txBody>
        </p:sp>
      </p:grpSp>
      <p:sp>
        <p:nvSpPr>
          <p:cNvPr id="11" name="TextBox 11"/>
          <p:cNvSpPr txBox="1"/>
          <p:nvPr/>
        </p:nvSpPr>
        <p:spPr>
          <a:xfrm>
            <a:off x="8278430" y="2680846"/>
            <a:ext cx="9328172" cy="1836420"/>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Trước đây, UI được khai báo trong XML, nhưng khi dữ liệu thay đổi, lập trình viên phải tự tay cập nhật UI bằng các lệnh . Việc phải đồng bộ thủ công trạng thái và giao diện này là nguyên nhân lớn gây ra lỗi </a:t>
            </a:r>
          </a:p>
        </p:txBody>
      </p:sp>
      <p:sp>
        <p:nvSpPr>
          <p:cNvPr id="12" name="TextBox 12"/>
          <p:cNvSpPr txBox="1"/>
          <p:nvPr/>
        </p:nvSpPr>
        <p:spPr>
          <a:xfrm>
            <a:off x="8278430" y="2155928"/>
            <a:ext cx="9328172" cy="42227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Vấn đề của lập trình giao diện theo cách truyền thống</a:t>
            </a:r>
          </a:p>
        </p:txBody>
      </p:sp>
      <p:grpSp>
        <p:nvGrpSpPr>
          <p:cNvPr id="13" name="Group 13"/>
          <p:cNvGrpSpPr/>
          <p:nvPr/>
        </p:nvGrpSpPr>
        <p:grpSpPr>
          <a:xfrm>
            <a:off x="7357338" y="4698241"/>
            <a:ext cx="732337" cy="73233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txBody>
            <a:bodyPr/>
            <a:lstStyle/>
            <a:p>
              <a:endParaRPr lang="en-US"/>
            </a:p>
          </p:txBody>
        </p:sp>
        <p:sp>
          <p:nvSpPr>
            <p:cNvPr id="15" name="TextBox 15"/>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02</a:t>
              </a:r>
            </a:p>
          </p:txBody>
        </p:sp>
      </p:grpSp>
      <p:grpSp>
        <p:nvGrpSpPr>
          <p:cNvPr id="16" name="Group 16"/>
          <p:cNvGrpSpPr/>
          <p:nvPr/>
        </p:nvGrpSpPr>
        <p:grpSpPr>
          <a:xfrm>
            <a:off x="15740861" y="6749958"/>
            <a:ext cx="4596322" cy="459632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8278430" y="5354378"/>
            <a:ext cx="9328172" cy="3236595"/>
          </a:xfrm>
          <a:prstGeom prst="rect">
            <a:avLst/>
          </a:prstGeom>
        </p:spPr>
        <p:txBody>
          <a:bodyPr lIns="0" tIns="0" rIns="0" bIns="0" rtlCol="0" anchor="t">
            <a:spAutoFit/>
          </a:bodyPr>
          <a:lstStyle/>
          <a:p>
            <a:pPr algn="just">
              <a:lnSpc>
                <a:spcPts val="3720"/>
              </a:lnSpc>
            </a:pPr>
            <a:r>
              <a:rPr lang="en-US" sz="2400">
                <a:solidFill>
                  <a:srgbClr val="000000"/>
                </a:solidFill>
                <a:latin typeface="Open Sans"/>
                <a:ea typeface="Open Sans"/>
                <a:cs typeface="Open Sans"/>
                <a:sym typeface="Open Sans"/>
              </a:rPr>
              <a:t>Compose sử dụng mô hình khai báo. Bạn mô tả giao diện trông như thế nào với một trạng thái dữ liệu nhất định, thay vì mô tả cách tạo ra nó</a:t>
            </a:r>
          </a:p>
          <a:p>
            <a:pPr marL="518160" lvl="1" indent="-259080" algn="just">
              <a:lnSpc>
                <a:spcPts val="3720"/>
              </a:lnSpc>
              <a:buFont typeface="Arial"/>
              <a:buChar char="•"/>
            </a:pPr>
            <a:r>
              <a:rPr lang="en-US" sz="2400">
                <a:solidFill>
                  <a:srgbClr val="000000"/>
                </a:solidFill>
                <a:latin typeface="Open Sans"/>
                <a:ea typeface="Open Sans"/>
                <a:cs typeface="Open Sans"/>
                <a:sym typeface="Open Sans"/>
              </a:rPr>
              <a:t>Khi trạng thái thay đổi, một giao diện mới cho trạng thái đó được tạo ra</a:t>
            </a:r>
          </a:p>
          <a:p>
            <a:pPr marL="518160" lvl="1" indent="-259080" algn="just">
              <a:lnSpc>
                <a:spcPts val="3720"/>
              </a:lnSpc>
              <a:buFont typeface="Arial"/>
              <a:buChar char="•"/>
            </a:pPr>
            <a:r>
              <a:rPr lang="en-US" sz="2400">
                <a:solidFill>
                  <a:srgbClr val="000000"/>
                </a:solidFill>
                <a:latin typeface="Open Sans"/>
                <a:ea typeface="Open Sans"/>
                <a:cs typeface="Open Sans"/>
                <a:sym typeface="Open Sans"/>
              </a:rPr>
              <a:t>Compose đủ thông minh để bỏ qua những thành phần không thay đổi, giúp tối ưu hiệu suất</a:t>
            </a:r>
          </a:p>
        </p:txBody>
      </p:sp>
      <p:sp>
        <p:nvSpPr>
          <p:cNvPr id="20" name="TextBox 20"/>
          <p:cNvSpPr txBox="1"/>
          <p:nvPr/>
        </p:nvSpPr>
        <p:spPr>
          <a:xfrm>
            <a:off x="8278430" y="4829460"/>
            <a:ext cx="5503645" cy="42227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Cách tiếp cận của Compose</a:t>
            </a:r>
          </a:p>
        </p:txBody>
      </p:sp>
      <p:grpSp>
        <p:nvGrpSpPr>
          <p:cNvPr id="21" name="Group 21"/>
          <p:cNvGrpSpPr/>
          <p:nvPr/>
        </p:nvGrpSpPr>
        <p:grpSpPr>
          <a:xfrm rot="5400000">
            <a:off x="8199901" y="45010"/>
            <a:ext cx="1479329" cy="1479329"/>
            <a:chOff x="0" y="0"/>
            <a:chExt cx="812800" cy="812800"/>
          </a:xfrm>
        </p:grpSpPr>
        <p:sp>
          <p:nvSpPr>
            <p:cNvPr id="22" name="Freeform 22"/>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txBody>
            <a:bodyPr/>
            <a:lstStyle/>
            <a:p>
              <a:endParaRPr lang="en-US"/>
            </a:p>
          </p:txBody>
        </p:sp>
        <p:sp>
          <p:nvSpPr>
            <p:cNvPr id="23" name="TextBox 23"/>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5400000">
            <a:off x="9293368" y="742685"/>
            <a:ext cx="771724" cy="77172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txBody>
            <a:bodyPr/>
            <a:lstStyle/>
            <a:p>
              <a:endParaRPr lang="en-US"/>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5400000">
            <a:off x="5324660" y="9048119"/>
            <a:ext cx="596043" cy="5960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txBody>
            <a:bodyPr/>
            <a:lstStyle/>
            <a:p>
              <a:endParaRPr lang="en-US"/>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825" y="0"/>
            <a:ext cx="6499880" cy="10287000"/>
            <a:chOff x="0" y="0"/>
            <a:chExt cx="1711903" cy="2709333"/>
          </a:xfrm>
        </p:grpSpPr>
        <p:sp>
          <p:nvSpPr>
            <p:cNvPr id="3" name="Freeform 3"/>
            <p:cNvSpPr/>
            <p:nvPr/>
          </p:nvSpPr>
          <p:spPr>
            <a:xfrm>
              <a:off x="0" y="0"/>
              <a:ext cx="1711903" cy="2709333"/>
            </a:xfrm>
            <a:custGeom>
              <a:avLst/>
              <a:gdLst/>
              <a:ahLst/>
              <a:cxnLst/>
              <a:rect l="l" t="t" r="r" b="b"/>
              <a:pathLst>
                <a:path w="1711903" h="2709333">
                  <a:moveTo>
                    <a:pt x="0" y="0"/>
                  </a:moveTo>
                  <a:lnTo>
                    <a:pt x="1711903" y="0"/>
                  </a:lnTo>
                  <a:lnTo>
                    <a:pt x="1711903" y="2709333"/>
                  </a:lnTo>
                  <a:lnTo>
                    <a:pt x="0" y="2709333"/>
                  </a:lnTo>
                  <a:close/>
                </a:path>
              </a:pathLst>
            </a:custGeom>
            <a:solidFill>
              <a:srgbClr val="0345E4"/>
            </a:solidFill>
          </p:spPr>
          <p:txBody>
            <a:bodyPr/>
            <a:lstStyle/>
            <a:p>
              <a:endParaRPr lang="en-US"/>
            </a:p>
          </p:txBody>
        </p:sp>
        <p:sp>
          <p:nvSpPr>
            <p:cNvPr id="4" name="TextBox 4"/>
            <p:cNvSpPr txBox="1"/>
            <p:nvPr/>
          </p:nvSpPr>
          <p:spPr>
            <a:xfrm>
              <a:off x="0" y="-38100"/>
              <a:ext cx="1711903"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563038" y="7492988"/>
            <a:ext cx="1310100" cy="0"/>
          </a:xfrm>
          <a:prstGeom prst="line">
            <a:avLst/>
          </a:prstGeom>
          <a:ln w="95250" cap="flat">
            <a:solidFill>
              <a:srgbClr val="FFFFFF"/>
            </a:solidFill>
            <a:prstDash val="solid"/>
            <a:headEnd type="none" w="sm" len="sm"/>
            <a:tailEnd type="none" w="sm" len="sm"/>
          </a:ln>
        </p:spPr>
        <p:txBody>
          <a:bodyPr/>
          <a:lstStyle/>
          <a:p>
            <a:endParaRPr lang="en-US"/>
          </a:p>
        </p:txBody>
      </p:sp>
      <p:grpSp>
        <p:nvGrpSpPr>
          <p:cNvPr id="6" name="Group 6"/>
          <p:cNvGrpSpPr/>
          <p:nvPr/>
        </p:nvGrpSpPr>
        <p:grpSpPr>
          <a:xfrm rot="5400000">
            <a:off x="7664671" y="289036"/>
            <a:ext cx="1479329" cy="1479329"/>
            <a:chOff x="0" y="0"/>
            <a:chExt cx="812800" cy="812800"/>
          </a:xfrm>
        </p:grpSpPr>
        <p:sp>
          <p:nvSpPr>
            <p:cNvPr id="7" name="Freeform 7"/>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txBody>
            <a:bodyPr/>
            <a:lstStyle/>
            <a:p>
              <a:endParaRPr lang="en-US"/>
            </a:p>
          </p:txBody>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8758138" y="1335663"/>
            <a:ext cx="771724" cy="77172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6549738" y="2107387"/>
            <a:ext cx="11517406" cy="6291383"/>
          </a:xfrm>
          <a:custGeom>
            <a:avLst/>
            <a:gdLst/>
            <a:ahLst/>
            <a:cxnLst/>
            <a:rect l="l" t="t" r="r" b="b"/>
            <a:pathLst>
              <a:path w="11517406" h="6291383">
                <a:moveTo>
                  <a:pt x="0" y="0"/>
                </a:moveTo>
                <a:lnTo>
                  <a:pt x="11517406" y="0"/>
                </a:lnTo>
                <a:lnTo>
                  <a:pt x="11517406" y="6291382"/>
                </a:lnTo>
                <a:lnTo>
                  <a:pt x="0" y="6291382"/>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716120" y="2338634"/>
            <a:ext cx="5004077" cy="4832350"/>
          </a:xfrm>
          <a:prstGeom prst="rect">
            <a:avLst/>
          </a:prstGeom>
        </p:spPr>
        <p:txBody>
          <a:bodyPr lIns="0" tIns="0" rIns="0" bIns="0" rtlCol="0" anchor="t">
            <a:spAutoFit/>
          </a:bodyPr>
          <a:lstStyle/>
          <a:p>
            <a:pPr marL="0" lvl="0" indent="0" algn="just">
              <a:lnSpc>
                <a:spcPts val="3874"/>
              </a:lnSpc>
            </a:pPr>
            <a:r>
              <a:rPr lang="en-US" sz="2499">
                <a:solidFill>
                  <a:srgbClr val="FFFFFF"/>
                </a:solidFill>
                <a:latin typeface="Open Sans"/>
                <a:ea typeface="Open Sans"/>
                <a:cs typeface="Open Sans"/>
                <a:sym typeface="Open Sans"/>
              </a:rPr>
              <a:t>Jetpack Compose không chỉ là một thư viện UI mà là một sự thay đổi toàn diện về mô hình kiến trúc trong phát triển Android. Dựa trên tài liệu "Jetpack Compose Pathway", "Testing in Compose" và "Building Adaptive Apps" từ Google, kiến trúc của dự án được xây dựng dựa trên 5 trụ cột chính.</a:t>
            </a:r>
          </a:p>
        </p:txBody>
      </p:sp>
      <p:sp>
        <p:nvSpPr>
          <p:cNvPr id="14" name="TextBox 14"/>
          <p:cNvSpPr txBox="1"/>
          <p:nvPr/>
        </p:nvSpPr>
        <p:spPr>
          <a:xfrm>
            <a:off x="716120" y="835181"/>
            <a:ext cx="5004077" cy="1047749"/>
          </a:xfrm>
          <a:prstGeom prst="rect">
            <a:avLst/>
          </a:prstGeom>
        </p:spPr>
        <p:txBody>
          <a:bodyPr lIns="0" tIns="0" rIns="0" bIns="0" rtlCol="0" anchor="t">
            <a:spAutoFit/>
          </a:bodyPr>
          <a:lstStyle/>
          <a:p>
            <a:pPr algn="l">
              <a:lnSpc>
                <a:spcPts val="4200"/>
              </a:lnSpc>
            </a:pPr>
            <a:r>
              <a:rPr lang="en-US" sz="3000" b="1" spc="60">
                <a:solidFill>
                  <a:srgbClr val="FFFFFF"/>
                </a:solidFill>
                <a:latin typeface="Garet Bold"/>
                <a:ea typeface="Garet Bold"/>
                <a:cs typeface="Garet Bold"/>
                <a:sym typeface="Garet Bold"/>
              </a:rPr>
              <a:t>2. KIẾN TRÚC </a:t>
            </a:r>
          </a:p>
          <a:p>
            <a:pPr algn="l">
              <a:lnSpc>
                <a:spcPts val="4200"/>
              </a:lnSpc>
            </a:pPr>
            <a:r>
              <a:rPr lang="en-US" sz="3000" b="1" spc="60">
                <a:solidFill>
                  <a:srgbClr val="FFFFFF"/>
                </a:solidFill>
                <a:latin typeface="Garet Bold"/>
                <a:ea typeface="Garet Bold"/>
                <a:cs typeface="Garet Bold"/>
                <a:sym typeface="Garet Bold"/>
              </a:rPr>
              <a:t>&amp; NGUYÊN LÝ CỐT LÕI</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09419" y="-2174505"/>
            <a:ext cx="3744615" cy="374461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765935" y="1570110"/>
            <a:ext cx="795349" cy="7953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1683750" y="1570110"/>
            <a:ext cx="6387317" cy="830836"/>
            <a:chOff x="0" y="0"/>
            <a:chExt cx="3274206" cy="425895"/>
          </a:xfrm>
        </p:grpSpPr>
        <p:sp>
          <p:nvSpPr>
            <p:cNvPr id="9" name="Freeform 9"/>
            <p:cNvSpPr/>
            <p:nvPr/>
          </p:nvSpPr>
          <p:spPr>
            <a:xfrm>
              <a:off x="0" y="0"/>
              <a:ext cx="3274206" cy="425895"/>
            </a:xfrm>
            <a:custGeom>
              <a:avLst/>
              <a:gdLst/>
              <a:ahLst/>
              <a:cxnLst/>
              <a:rect l="l" t="t" r="r" b="b"/>
              <a:pathLst>
                <a:path w="3274206" h="425895">
                  <a:moveTo>
                    <a:pt x="3071006" y="0"/>
                  </a:moveTo>
                  <a:cubicBezTo>
                    <a:pt x="3183231" y="0"/>
                    <a:pt x="3274206" y="95340"/>
                    <a:pt x="3274206" y="212948"/>
                  </a:cubicBezTo>
                  <a:cubicBezTo>
                    <a:pt x="3274206" y="330556"/>
                    <a:pt x="3183231" y="425895"/>
                    <a:pt x="3071006"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0" name="TextBox 10"/>
            <p:cNvSpPr txBox="1"/>
            <p:nvPr/>
          </p:nvSpPr>
          <p:spPr>
            <a:xfrm>
              <a:off x="0" y="-47625"/>
              <a:ext cx="3274206" cy="473520"/>
            </a:xfrm>
            <a:prstGeom prst="rect">
              <a:avLst/>
            </a:prstGeom>
          </p:spPr>
          <p:txBody>
            <a:bodyPr lIns="50800" tIns="50800" rIns="50800" bIns="50800" rtlCol="0" anchor="ctr"/>
            <a:lstStyle/>
            <a:p>
              <a:pPr algn="ctr">
                <a:lnSpc>
                  <a:spcPts val="3219"/>
                </a:lnSpc>
              </a:pPr>
              <a:r>
                <a:rPr lang="en-US" sz="2299" b="1">
                  <a:solidFill>
                    <a:srgbClr val="FFFFFF"/>
                  </a:solidFill>
                  <a:latin typeface="Garet Bold"/>
                  <a:ea typeface="Garet Bold"/>
                  <a:cs typeface="Garet Bold"/>
                  <a:sym typeface="Garet Bold"/>
                </a:rPr>
                <a:t>Declarative UI &amp; Recomposition</a:t>
              </a:r>
            </a:p>
          </p:txBody>
        </p:sp>
      </p:grpSp>
      <p:sp>
        <p:nvSpPr>
          <p:cNvPr id="11" name="AutoShape 11"/>
          <p:cNvSpPr/>
          <p:nvPr/>
        </p:nvSpPr>
        <p:spPr>
          <a:xfrm>
            <a:off x="373650" y="1238090"/>
            <a:ext cx="1310100" cy="0"/>
          </a:xfrm>
          <a:prstGeom prst="line">
            <a:avLst/>
          </a:prstGeom>
          <a:ln w="95250" cap="flat">
            <a:solidFill>
              <a:srgbClr val="0345E4"/>
            </a:solidFill>
            <a:prstDash val="solid"/>
            <a:headEnd type="none" w="sm" len="sm"/>
            <a:tailEnd type="none" w="sm" len="sm"/>
          </a:ln>
        </p:spPr>
        <p:txBody>
          <a:bodyPr/>
          <a:lstStyle/>
          <a:p>
            <a:endParaRPr lang="en-US"/>
          </a:p>
        </p:txBody>
      </p:sp>
      <p:sp>
        <p:nvSpPr>
          <p:cNvPr id="12" name="Freeform 12"/>
          <p:cNvSpPr/>
          <p:nvPr/>
        </p:nvSpPr>
        <p:spPr>
          <a:xfrm>
            <a:off x="-160433" y="2514600"/>
            <a:ext cx="18620035" cy="6743700"/>
          </a:xfrm>
          <a:custGeom>
            <a:avLst/>
            <a:gdLst/>
            <a:ahLst/>
            <a:cxnLst/>
            <a:rect l="l" t="t" r="r" b="b"/>
            <a:pathLst>
              <a:path w="18620035" h="6743700">
                <a:moveTo>
                  <a:pt x="0" y="0"/>
                </a:moveTo>
                <a:lnTo>
                  <a:pt x="18620035" y="0"/>
                </a:lnTo>
                <a:lnTo>
                  <a:pt x="18620035" y="6743700"/>
                </a:lnTo>
                <a:lnTo>
                  <a:pt x="0" y="6743700"/>
                </a:lnTo>
                <a:lnTo>
                  <a:pt x="0" y="0"/>
                </a:lnTo>
                <a:close/>
              </a:path>
            </a:pathLst>
          </a:custGeom>
          <a:blipFill>
            <a:blip r:embed="rId2"/>
            <a:stretch>
              <a:fillRect b="-1815"/>
            </a:stretch>
          </a:blipFill>
        </p:spPr>
        <p:txBody>
          <a:bodyPr/>
          <a:lstStyle/>
          <a:p>
            <a:endParaRPr lang="en-US"/>
          </a:p>
        </p:txBody>
      </p:sp>
      <p:sp>
        <p:nvSpPr>
          <p:cNvPr id="13" name="TextBox 13"/>
          <p:cNvSpPr txBox="1"/>
          <p:nvPr/>
        </p:nvSpPr>
        <p:spPr>
          <a:xfrm>
            <a:off x="693022" y="378934"/>
            <a:ext cx="19162780" cy="811531"/>
          </a:xfrm>
          <a:prstGeom prst="rect">
            <a:avLst/>
          </a:prstGeom>
        </p:spPr>
        <p:txBody>
          <a:bodyPr lIns="0" tIns="0" rIns="0" bIns="0" rtlCol="0" anchor="t">
            <a:spAutoFit/>
          </a:bodyPr>
          <a:lstStyle/>
          <a:p>
            <a:pPr algn="l">
              <a:lnSpc>
                <a:spcPts val="6719"/>
              </a:lnSpc>
            </a:pPr>
            <a:r>
              <a:rPr lang="en-US" sz="4799" b="1" spc="95">
                <a:solidFill>
                  <a:srgbClr val="000000"/>
                </a:solidFill>
                <a:latin typeface="Garet Bold"/>
                <a:ea typeface="Garet Bold"/>
                <a:cs typeface="Garet Bold"/>
                <a:sym typeface="Garet Bold"/>
              </a:rPr>
              <a:t>TƯ DUY DECLARATIVE &amp; CƠ CHẾ RECOMPOSITION</a:t>
            </a: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09419" y="-2174505"/>
            <a:ext cx="3744615" cy="374461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9213" y="1527696"/>
            <a:ext cx="830836" cy="83083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60049" y="1735283"/>
            <a:ext cx="9651362" cy="830836"/>
            <a:chOff x="0" y="0"/>
            <a:chExt cx="4947390" cy="425895"/>
          </a:xfrm>
        </p:grpSpPr>
        <p:sp>
          <p:nvSpPr>
            <p:cNvPr id="9" name="Freeform 9"/>
            <p:cNvSpPr/>
            <p:nvPr/>
          </p:nvSpPr>
          <p:spPr>
            <a:xfrm>
              <a:off x="0" y="0"/>
              <a:ext cx="4947390" cy="425895"/>
            </a:xfrm>
            <a:custGeom>
              <a:avLst/>
              <a:gdLst/>
              <a:ahLst/>
              <a:cxnLst/>
              <a:rect l="l" t="t" r="r" b="b"/>
              <a:pathLst>
                <a:path w="4947390" h="425895">
                  <a:moveTo>
                    <a:pt x="4744190" y="0"/>
                  </a:moveTo>
                  <a:cubicBezTo>
                    <a:pt x="4856414" y="0"/>
                    <a:pt x="4947390" y="95340"/>
                    <a:pt x="4947390" y="212948"/>
                  </a:cubicBezTo>
                  <a:cubicBezTo>
                    <a:pt x="4947390" y="330556"/>
                    <a:pt x="4856414" y="425895"/>
                    <a:pt x="4744190"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0" name="TextBox 10"/>
            <p:cNvSpPr txBox="1"/>
            <p:nvPr/>
          </p:nvSpPr>
          <p:spPr>
            <a:xfrm>
              <a:off x="0" y="-47625"/>
              <a:ext cx="4947390" cy="473520"/>
            </a:xfrm>
            <a:prstGeom prst="rect">
              <a:avLst/>
            </a:prstGeom>
          </p:spPr>
          <p:txBody>
            <a:bodyPr lIns="50800" tIns="50800" rIns="50800" bIns="50800" rtlCol="0" anchor="ctr"/>
            <a:lstStyle/>
            <a:p>
              <a:pPr algn="ctr">
                <a:lnSpc>
                  <a:spcPts val="3779"/>
                </a:lnSpc>
              </a:pPr>
              <a:r>
                <a:rPr lang="en-US" sz="2699" b="1">
                  <a:solidFill>
                    <a:srgbClr val="FFFFFF"/>
                  </a:solidFill>
                  <a:latin typeface="Garet Bold"/>
                  <a:ea typeface="Garet Bold"/>
                  <a:cs typeface="Garet Bold"/>
                  <a:sym typeface="Garet Bold"/>
                </a:rPr>
                <a:t>State Management &amp; Unidirectional Data Flow (UDF)</a:t>
              </a:r>
            </a:p>
          </p:txBody>
        </p:sp>
      </p:grpSp>
      <p:sp>
        <p:nvSpPr>
          <p:cNvPr id="11" name="AutoShape 11"/>
          <p:cNvSpPr/>
          <p:nvPr/>
        </p:nvSpPr>
        <p:spPr>
          <a:xfrm>
            <a:off x="489581" y="1408113"/>
            <a:ext cx="1310100" cy="0"/>
          </a:xfrm>
          <a:prstGeom prst="line">
            <a:avLst/>
          </a:prstGeom>
          <a:ln w="95250" cap="flat">
            <a:solidFill>
              <a:srgbClr val="0345E4"/>
            </a:solidFill>
            <a:prstDash val="solid"/>
            <a:headEnd type="none" w="sm" len="sm"/>
            <a:tailEnd type="none" w="sm" len="sm"/>
          </a:ln>
        </p:spPr>
        <p:txBody>
          <a:bodyPr/>
          <a:lstStyle/>
          <a:p>
            <a:endParaRPr lang="en-US"/>
          </a:p>
        </p:txBody>
      </p:sp>
      <p:sp>
        <p:nvSpPr>
          <p:cNvPr id="12" name="Freeform 12"/>
          <p:cNvSpPr/>
          <p:nvPr/>
        </p:nvSpPr>
        <p:spPr>
          <a:xfrm>
            <a:off x="1095146" y="3083356"/>
            <a:ext cx="16097708" cy="6056622"/>
          </a:xfrm>
          <a:custGeom>
            <a:avLst/>
            <a:gdLst/>
            <a:ahLst/>
            <a:cxnLst/>
            <a:rect l="l" t="t" r="r" b="b"/>
            <a:pathLst>
              <a:path w="16097708" h="6056622">
                <a:moveTo>
                  <a:pt x="0" y="0"/>
                </a:moveTo>
                <a:lnTo>
                  <a:pt x="16097708" y="0"/>
                </a:lnTo>
                <a:lnTo>
                  <a:pt x="16097708" y="6056622"/>
                </a:lnTo>
                <a:lnTo>
                  <a:pt x="0" y="6056622"/>
                </a:lnTo>
                <a:lnTo>
                  <a:pt x="0" y="0"/>
                </a:lnTo>
                <a:close/>
              </a:path>
            </a:pathLst>
          </a:custGeom>
          <a:blipFill>
            <a:blip r:embed="rId2"/>
            <a:stretch>
              <a:fillRect l="-2829" t="-21891" r="-2829" b="-31510"/>
            </a:stretch>
          </a:blipFill>
        </p:spPr>
        <p:txBody>
          <a:bodyPr/>
          <a:lstStyle/>
          <a:p>
            <a:endParaRPr lang="en-US"/>
          </a:p>
        </p:txBody>
      </p:sp>
      <p:sp>
        <p:nvSpPr>
          <p:cNvPr id="13" name="TextBox 13"/>
          <p:cNvSpPr txBox="1"/>
          <p:nvPr/>
        </p:nvSpPr>
        <p:spPr>
          <a:xfrm>
            <a:off x="2325044" y="554037"/>
            <a:ext cx="14110311" cy="854076"/>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QUẢN LÝ STATE &amp; LUỒNG DỮ LIỆU (UDF)</a:t>
            </a: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09419" y="-2174505"/>
            <a:ext cx="3744615" cy="374461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9213" y="1814035"/>
            <a:ext cx="830836" cy="83083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60049" y="2665948"/>
            <a:ext cx="6239498" cy="980744"/>
            <a:chOff x="0" y="0"/>
            <a:chExt cx="2709549" cy="425895"/>
          </a:xfrm>
        </p:grpSpPr>
        <p:sp>
          <p:nvSpPr>
            <p:cNvPr id="9" name="Freeform 9"/>
            <p:cNvSpPr/>
            <p:nvPr/>
          </p:nvSpPr>
          <p:spPr>
            <a:xfrm>
              <a:off x="0" y="0"/>
              <a:ext cx="2709549" cy="425895"/>
            </a:xfrm>
            <a:custGeom>
              <a:avLst/>
              <a:gdLst/>
              <a:ahLst/>
              <a:cxnLst/>
              <a:rect l="l" t="t" r="r" b="b"/>
              <a:pathLst>
                <a:path w="2709549" h="425895">
                  <a:moveTo>
                    <a:pt x="2506349" y="0"/>
                  </a:moveTo>
                  <a:cubicBezTo>
                    <a:pt x="2618573" y="0"/>
                    <a:pt x="2709549" y="95340"/>
                    <a:pt x="2709549" y="212948"/>
                  </a:cubicBezTo>
                  <a:cubicBezTo>
                    <a:pt x="2709549" y="330556"/>
                    <a:pt x="2618573" y="425895"/>
                    <a:pt x="2506349"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0" name="TextBox 10"/>
            <p:cNvSpPr txBox="1"/>
            <p:nvPr/>
          </p:nvSpPr>
          <p:spPr>
            <a:xfrm>
              <a:off x="0" y="-47625"/>
              <a:ext cx="2709549" cy="473520"/>
            </a:xfrm>
            <a:prstGeom prst="rect">
              <a:avLst/>
            </a:prstGeom>
          </p:spPr>
          <p:txBody>
            <a:bodyPr lIns="50800" tIns="50800" rIns="50800" bIns="50800" rtlCol="0" anchor="ctr"/>
            <a:lstStyle/>
            <a:p>
              <a:pPr algn="ctr">
                <a:lnSpc>
                  <a:spcPts val="4479"/>
                </a:lnSpc>
              </a:pPr>
              <a:r>
                <a:rPr lang="en-US" sz="3199" b="1">
                  <a:solidFill>
                    <a:srgbClr val="FFFFFF"/>
                  </a:solidFill>
                  <a:latin typeface="Garet Bold"/>
                  <a:ea typeface="Garet Bold"/>
                  <a:cs typeface="Garet Bold"/>
                  <a:sym typeface="Garet Bold"/>
                </a:rPr>
                <a:t>Semantics Tree &amp; Testing</a:t>
              </a:r>
            </a:p>
          </p:txBody>
        </p:sp>
      </p:grpSp>
      <p:sp>
        <p:nvSpPr>
          <p:cNvPr id="11" name="AutoShape 11"/>
          <p:cNvSpPr/>
          <p:nvPr/>
        </p:nvSpPr>
        <p:spPr>
          <a:xfrm>
            <a:off x="489581" y="1617735"/>
            <a:ext cx="1310100" cy="0"/>
          </a:xfrm>
          <a:prstGeom prst="line">
            <a:avLst/>
          </a:prstGeom>
          <a:ln w="95250" cap="flat">
            <a:solidFill>
              <a:srgbClr val="0345E4"/>
            </a:solidFill>
            <a:prstDash val="solid"/>
            <a:headEnd type="none" w="sm" len="sm"/>
            <a:tailEnd type="none" w="sm" len="sm"/>
          </a:ln>
        </p:spPr>
        <p:txBody>
          <a:bodyPr/>
          <a:lstStyle/>
          <a:p>
            <a:endParaRPr lang="en-US"/>
          </a:p>
        </p:txBody>
      </p:sp>
      <p:sp>
        <p:nvSpPr>
          <p:cNvPr id="12" name="TextBox 12"/>
          <p:cNvSpPr txBox="1"/>
          <p:nvPr/>
        </p:nvSpPr>
        <p:spPr>
          <a:xfrm>
            <a:off x="1433849" y="554037"/>
            <a:ext cx="15962956" cy="854076"/>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TESTING &amp; GIAO DIỆN THÍCH ỨNG (ADAPTIVE)</a:t>
            </a:r>
          </a:p>
        </p:txBody>
      </p:sp>
      <p:grpSp>
        <p:nvGrpSpPr>
          <p:cNvPr id="13" name="Group 13"/>
          <p:cNvGrpSpPr/>
          <p:nvPr/>
        </p:nvGrpSpPr>
        <p:grpSpPr>
          <a:xfrm>
            <a:off x="1433849" y="4272786"/>
            <a:ext cx="858537" cy="812800"/>
            <a:chOff x="0" y="0"/>
            <a:chExt cx="952866" cy="902104"/>
          </a:xfrm>
        </p:grpSpPr>
        <p:sp>
          <p:nvSpPr>
            <p:cNvPr id="14" name="Freeform 14"/>
            <p:cNvSpPr/>
            <p:nvPr/>
          </p:nvSpPr>
          <p:spPr>
            <a:xfrm>
              <a:off x="0" y="0"/>
              <a:ext cx="952866" cy="902104"/>
            </a:xfrm>
            <a:custGeom>
              <a:avLst/>
              <a:gdLst/>
              <a:ahLst/>
              <a:cxnLst/>
              <a:rect l="l" t="t" r="r" b="b"/>
              <a:pathLst>
                <a:path w="952866" h="902104">
                  <a:moveTo>
                    <a:pt x="476433" y="0"/>
                  </a:moveTo>
                  <a:cubicBezTo>
                    <a:pt x="213306" y="0"/>
                    <a:pt x="0" y="201943"/>
                    <a:pt x="0" y="451052"/>
                  </a:cubicBezTo>
                  <a:cubicBezTo>
                    <a:pt x="0" y="700161"/>
                    <a:pt x="213306" y="902104"/>
                    <a:pt x="476433" y="902104"/>
                  </a:cubicBezTo>
                  <a:cubicBezTo>
                    <a:pt x="739560" y="902104"/>
                    <a:pt x="952866" y="700161"/>
                    <a:pt x="952866" y="451052"/>
                  </a:cubicBezTo>
                  <a:cubicBezTo>
                    <a:pt x="952866" y="201943"/>
                    <a:pt x="739560" y="0"/>
                    <a:pt x="476433" y="0"/>
                  </a:cubicBezTo>
                  <a:close/>
                </a:path>
              </a:pathLst>
            </a:custGeom>
            <a:solidFill>
              <a:srgbClr val="0345E4"/>
            </a:solidFill>
            <a:ln cap="sq">
              <a:noFill/>
              <a:prstDash val="solid"/>
              <a:miter/>
            </a:ln>
          </p:spPr>
          <p:txBody>
            <a:bodyPr/>
            <a:lstStyle/>
            <a:p>
              <a:endParaRPr lang="en-US"/>
            </a:p>
          </p:txBody>
        </p:sp>
        <p:sp>
          <p:nvSpPr>
            <p:cNvPr id="15" name="TextBox 15"/>
            <p:cNvSpPr txBox="1"/>
            <p:nvPr/>
          </p:nvSpPr>
          <p:spPr>
            <a:xfrm>
              <a:off x="89331" y="27422"/>
              <a:ext cx="774204" cy="790109"/>
            </a:xfrm>
            <a:prstGeom prst="rect">
              <a:avLst/>
            </a:prstGeom>
          </p:spPr>
          <p:txBody>
            <a:bodyPr lIns="50800" tIns="50800" rIns="50800" bIns="50800" rtlCol="0" anchor="ctr"/>
            <a:lstStyle/>
            <a:p>
              <a:pPr algn="ctr">
                <a:lnSpc>
                  <a:spcPts val="3919"/>
                </a:lnSpc>
              </a:pPr>
              <a:r>
                <a:rPr lang="en-US" sz="2799" b="1">
                  <a:solidFill>
                    <a:srgbClr val="FFFFFF"/>
                  </a:solidFill>
                  <a:latin typeface="Garet Bold"/>
                  <a:ea typeface="Garet Bold"/>
                  <a:cs typeface="Garet Bold"/>
                  <a:sym typeface="Garet Bold"/>
                </a:rPr>
                <a:t>01</a:t>
              </a:r>
            </a:p>
          </p:txBody>
        </p:sp>
      </p:grpSp>
      <p:sp>
        <p:nvSpPr>
          <p:cNvPr id="16" name="TextBox 16"/>
          <p:cNvSpPr txBox="1"/>
          <p:nvPr/>
        </p:nvSpPr>
        <p:spPr>
          <a:xfrm>
            <a:off x="2481141" y="4880571"/>
            <a:ext cx="9328172" cy="2142490"/>
          </a:xfrm>
          <a:prstGeom prst="rect">
            <a:avLst/>
          </a:prstGeom>
        </p:spPr>
        <p:txBody>
          <a:bodyPr lIns="0" tIns="0" rIns="0" bIns="0" rtlCol="0" anchor="t">
            <a:spAutoFit/>
          </a:bodyPr>
          <a:lstStyle/>
          <a:p>
            <a:pPr marL="604519" lvl="1" indent="-302260" algn="just">
              <a:lnSpc>
                <a:spcPts val="4339"/>
              </a:lnSpc>
              <a:buFont typeface="Arial"/>
              <a:buChar char="•"/>
            </a:pPr>
            <a:r>
              <a:rPr lang="en-US" sz="2799">
                <a:solidFill>
                  <a:srgbClr val="000000"/>
                </a:solidFill>
                <a:latin typeface="Open Sans"/>
                <a:ea typeface="Open Sans"/>
                <a:cs typeface="Open Sans"/>
                <a:sym typeface="Open Sans"/>
              </a:rPr>
              <a:t>UI Tree: Để hiển thị hình ảnh.</a:t>
            </a:r>
          </a:p>
          <a:p>
            <a:pPr marL="604519" lvl="1" indent="-302260" algn="just">
              <a:lnSpc>
                <a:spcPts val="4339"/>
              </a:lnSpc>
              <a:buFont typeface="Arial"/>
              <a:buChar char="•"/>
            </a:pPr>
            <a:r>
              <a:rPr lang="en-US" sz="2799">
                <a:solidFill>
                  <a:srgbClr val="000000"/>
                </a:solidFill>
                <a:latin typeface="Open Sans"/>
                <a:ea typeface="Open Sans"/>
                <a:cs typeface="Open Sans"/>
                <a:sym typeface="Open Sans"/>
              </a:rPr>
              <a:t>Semantics Tree: Mô tả ý nghĩa (Label, State) cho Testing &amp; Accessibility.</a:t>
            </a:r>
          </a:p>
          <a:p>
            <a:pPr marL="0" lvl="0" indent="0" algn="just">
              <a:lnSpc>
                <a:spcPts val="4339"/>
              </a:lnSpc>
            </a:pPr>
            <a:endParaRPr lang="en-US" sz="2799">
              <a:solidFill>
                <a:srgbClr val="000000"/>
              </a:solidFill>
              <a:latin typeface="Open Sans"/>
              <a:ea typeface="Open Sans"/>
              <a:cs typeface="Open Sans"/>
              <a:sym typeface="Open Sans"/>
            </a:endParaRPr>
          </a:p>
        </p:txBody>
      </p:sp>
      <p:sp>
        <p:nvSpPr>
          <p:cNvPr id="17" name="TextBox 17"/>
          <p:cNvSpPr txBox="1"/>
          <p:nvPr/>
        </p:nvSpPr>
        <p:spPr>
          <a:xfrm>
            <a:off x="2481141" y="4365177"/>
            <a:ext cx="9328172" cy="481330"/>
          </a:xfrm>
          <a:prstGeom prst="rect">
            <a:avLst/>
          </a:prstGeom>
        </p:spPr>
        <p:txBody>
          <a:bodyPr lIns="0" tIns="0" rIns="0" bIns="0" rtlCol="0" anchor="t">
            <a:spAutoFit/>
          </a:bodyPr>
          <a:lstStyle/>
          <a:p>
            <a:pPr algn="l">
              <a:lnSpc>
                <a:spcPts val="3919"/>
              </a:lnSpc>
            </a:pPr>
            <a:r>
              <a:rPr lang="en-US" sz="2799" b="1">
                <a:solidFill>
                  <a:srgbClr val="000000"/>
                </a:solidFill>
                <a:latin typeface="Garet Bold"/>
                <a:ea typeface="Garet Bold"/>
                <a:cs typeface="Garet Bold"/>
                <a:sym typeface="Garet Bold"/>
              </a:rPr>
              <a:t>Kiến trúc 2 cây song song</a:t>
            </a:r>
          </a:p>
        </p:txBody>
      </p:sp>
      <p:grpSp>
        <p:nvGrpSpPr>
          <p:cNvPr id="18" name="Group 18"/>
          <p:cNvGrpSpPr/>
          <p:nvPr/>
        </p:nvGrpSpPr>
        <p:grpSpPr>
          <a:xfrm>
            <a:off x="1433849" y="6712391"/>
            <a:ext cx="858537" cy="812800"/>
            <a:chOff x="0" y="0"/>
            <a:chExt cx="952866" cy="902104"/>
          </a:xfrm>
        </p:grpSpPr>
        <p:sp>
          <p:nvSpPr>
            <p:cNvPr id="19" name="Freeform 19"/>
            <p:cNvSpPr/>
            <p:nvPr/>
          </p:nvSpPr>
          <p:spPr>
            <a:xfrm>
              <a:off x="0" y="0"/>
              <a:ext cx="952866" cy="902104"/>
            </a:xfrm>
            <a:custGeom>
              <a:avLst/>
              <a:gdLst/>
              <a:ahLst/>
              <a:cxnLst/>
              <a:rect l="l" t="t" r="r" b="b"/>
              <a:pathLst>
                <a:path w="952866" h="902104">
                  <a:moveTo>
                    <a:pt x="476433" y="0"/>
                  </a:moveTo>
                  <a:cubicBezTo>
                    <a:pt x="213306" y="0"/>
                    <a:pt x="0" y="201943"/>
                    <a:pt x="0" y="451052"/>
                  </a:cubicBezTo>
                  <a:cubicBezTo>
                    <a:pt x="0" y="700161"/>
                    <a:pt x="213306" y="902104"/>
                    <a:pt x="476433" y="902104"/>
                  </a:cubicBezTo>
                  <a:cubicBezTo>
                    <a:pt x="739560" y="902104"/>
                    <a:pt x="952866" y="700161"/>
                    <a:pt x="952866" y="451052"/>
                  </a:cubicBezTo>
                  <a:cubicBezTo>
                    <a:pt x="952866" y="201943"/>
                    <a:pt x="739560" y="0"/>
                    <a:pt x="476433" y="0"/>
                  </a:cubicBezTo>
                  <a:close/>
                </a:path>
              </a:pathLst>
            </a:custGeom>
            <a:solidFill>
              <a:srgbClr val="0345E4"/>
            </a:solidFill>
            <a:ln cap="sq">
              <a:noFill/>
              <a:prstDash val="solid"/>
              <a:miter/>
            </a:ln>
          </p:spPr>
          <p:txBody>
            <a:bodyPr/>
            <a:lstStyle/>
            <a:p>
              <a:endParaRPr lang="en-US"/>
            </a:p>
          </p:txBody>
        </p:sp>
        <p:sp>
          <p:nvSpPr>
            <p:cNvPr id="20" name="TextBox 20"/>
            <p:cNvSpPr txBox="1"/>
            <p:nvPr/>
          </p:nvSpPr>
          <p:spPr>
            <a:xfrm>
              <a:off x="89331" y="27422"/>
              <a:ext cx="774204" cy="790109"/>
            </a:xfrm>
            <a:prstGeom prst="rect">
              <a:avLst/>
            </a:prstGeom>
          </p:spPr>
          <p:txBody>
            <a:bodyPr lIns="50800" tIns="50800" rIns="50800" bIns="50800" rtlCol="0" anchor="ctr"/>
            <a:lstStyle/>
            <a:p>
              <a:pPr algn="ctr">
                <a:lnSpc>
                  <a:spcPts val="3919"/>
                </a:lnSpc>
              </a:pPr>
              <a:r>
                <a:rPr lang="en-US" sz="2799" b="1">
                  <a:solidFill>
                    <a:srgbClr val="FFFFFF"/>
                  </a:solidFill>
                  <a:latin typeface="Garet Bold"/>
                  <a:ea typeface="Garet Bold"/>
                  <a:cs typeface="Garet Bold"/>
                  <a:sym typeface="Garet Bold"/>
                </a:rPr>
                <a:t>02</a:t>
              </a:r>
            </a:p>
          </p:txBody>
        </p:sp>
      </p:grpSp>
      <p:grpSp>
        <p:nvGrpSpPr>
          <p:cNvPr id="21" name="Group 21"/>
          <p:cNvGrpSpPr/>
          <p:nvPr/>
        </p:nvGrpSpPr>
        <p:grpSpPr>
          <a:xfrm>
            <a:off x="12109283" y="7988839"/>
            <a:ext cx="4596322" cy="459632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txBody>
            <a:bodyPr/>
            <a:lstStyle/>
            <a:p>
              <a:endParaRPr lang="en-US"/>
            </a:p>
          </p:txBody>
        </p:sp>
        <p:sp>
          <p:nvSpPr>
            <p:cNvPr id="23" name="TextBox 23"/>
            <p:cNvSpPr txBox="1"/>
            <p:nvPr/>
          </p:nvSpPr>
          <p:spPr>
            <a:xfrm>
              <a:off x="76200" y="9525"/>
              <a:ext cx="660400" cy="727075"/>
            </a:xfrm>
            <a:prstGeom prst="rect">
              <a:avLst/>
            </a:prstGeom>
          </p:spPr>
          <p:txBody>
            <a:bodyPr lIns="50800" tIns="50800" rIns="50800" bIns="50800" rtlCol="0" anchor="ctr"/>
            <a:lstStyle/>
            <a:p>
              <a:pPr algn="ctr">
                <a:lnSpc>
                  <a:spcPts val="3919"/>
                </a:lnSpc>
              </a:pPr>
              <a:endParaRPr/>
            </a:p>
          </p:txBody>
        </p:sp>
      </p:grpSp>
      <p:sp>
        <p:nvSpPr>
          <p:cNvPr id="24" name="TextBox 24"/>
          <p:cNvSpPr txBox="1"/>
          <p:nvPr/>
        </p:nvSpPr>
        <p:spPr>
          <a:xfrm>
            <a:off x="2481141" y="7412894"/>
            <a:ext cx="9328172" cy="1056640"/>
          </a:xfrm>
          <a:prstGeom prst="rect">
            <a:avLst/>
          </a:prstGeom>
        </p:spPr>
        <p:txBody>
          <a:bodyPr lIns="0" tIns="0" rIns="0" bIns="0" rtlCol="0" anchor="t">
            <a:spAutoFit/>
          </a:bodyPr>
          <a:lstStyle/>
          <a:p>
            <a:pPr marL="604519" lvl="1" indent="-302260" algn="just">
              <a:lnSpc>
                <a:spcPts val="4339"/>
              </a:lnSpc>
              <a:buFont typeface="Arial"/>
              <a:buChar char="•"/>
            </a:pPr>
            <a:r>
              <a:rPr lang="en-US" sz="2799">
                <a:solidFill>
                  <a:srgbClr val="000000"/>
                </a:solidFill>
                <a:latin typeface="Open Sans"/>
                <a:ea typeface="Open Sans"/>
                <a:cs typeface="Open Sans"/>
                <a:sym typeface="Open Sans"/>
              </a:rPr>
              <a:t>Viết UI Tests chính xác bằng cách tương tác với Semantics Tree (ví dụ: onNodeWithText).</a:t>
            </a:r>
          </a:p>
        </p:txBody>
      </p:sp>
      <p:sp>
        <p:nvSpPr>
          <p:cNvPr id="25" name="TextBox 25"/>
          <p:cNvSpPr txBox="1"/>
          <p:nvPr/>
        </p:nvSpPr>
        <p:spPr>
          <a:xfrm>
            <a:off x="2481141" y="6834084"/>
            <a:ext cx="5503645" cy="481330"/>
          </a:xfrm>
          <a:prstGeom prst="rect">
            <a:avLst/>
          </a:prstGeom>
        </p:spPr>
        <p:txBody>
          <a:bodyPr lIns="0" tIns="0" rIns="0" bIns="0" rtlCol="0" anchor="t">
            <a:spAutoFit/>
          </a:bodyPr>
          <a:lstStyle/>
          <a:p>
            <a:pPr algn="l">
              <a:lnSpc>
                <a:spcPts val="3919"/>
              </a:lnSpc>
            </a:pPr>
            <a:r>
              <a:rPr lang="en-US" sz="2799" b="1">
                <a:solidFill>
                  <a:srgbClr val="000000"/>
                </a:solidFill>
                <a:latin typeface="Garet Bold"/>
                <a:ea typeface="Garet Bold"/>
                <a:cs typeface="Garet Bold"/>
                <a:sym typeface="Garet Bold"/>
              </a:rPr>
              <a:t>Ứng dụng:</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09419" y="-2174505"/>
            <a:ext cx="3744615" cy="374461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9213" y="1814035"/>
            <a:ext cx="830836" cy="83083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60049" y="2531010"/>
            <a:ext cx="9021678" cy="1048419"/>
            <a:chOff x="0" y="0"/>
            <a:chExt cx="3664843" cy="425895"/>
          </a:xfrm>
        </p:grpSpPr>
        <p:sp>
          <p:nvSpPr>
            <p:cNvPr id="9" name="Freeform 9"/>
            <p:cNvSpPr/>
            <p:nvPr/>
          </p:nvSpPr>
          <p:spPr>
            <a:xfrm>
              <a:off x="0" y="0"/>
              <a:ext cx="3664843" cy="425895"/>
            </a:xfrm>
            <a:custGeom>
              <a:avLst/>
              <a:gdLst/>
              <a:ahLst/>
              <a:cxnLst/>
              <a:rect l="l" t="t" r="r" b="b"/>
              <a:pathLst>
                <a:path w="3664843" h="425895">
                  <a:moveTo>
                    <a:pt x="3461643" y="0"/>
                  </a:moveTo>
                  <a:cubicBezTo>
                    <a:pt x="3573867" y="0"/>
                    <a:pt x="3664843" y="95340"/>
                    <a:pt x="3664843" y="212948"/>
                  </a:cubicBezTo>
                  <a:cubicBezTo>
                    <a:pt x="3664843" y="330556"/>
                    <a:pt x="3573867" y="425895"/>
                    <a:pt x="3461643"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0" name="TextBox 10"/>
            <p:cNvSpPr txBox="1"/>
            <p:nvPr/>
          </p:nvSpPr>
          <p:spPr>
            <a:xfrm>
              <a:off x="0" y="-47625"/>
              <a:ext cx="3664843" cy="473520"/>
            </a:xfrm>
            <a:prstGeom prst="rect">
              <a:avLst/>
            </a:prstGeom>
          </p:spPr>
          <p:txBody>
            <a:bodyPr lIns="50800" tIns="50800" rIns="50800" bIns="50800" rtlCol="0" anchor="ctr"/>
            <a:lstStyle/>
            <a:p>
              <a:pPr algn="ctr">
                <a:lnSpc>
                  <a:spcPts val="4479"/>
                </a:lnSpc>
              </a:pPr>
              <a:r>
                <a:rPr lang="en-US" sz="3199" b="1">
                  <a:solidFill>
                    <a:srgbClr val="FFFFFF"/>
                  </a:solidFill>
                  <a:latin typeface="Garet Bold"/>
                  <a:ea typeface="Garet Bold"/>
                  <a:cs typeface="Garet Bold"/>
                  <a:sym typeface="Garet Bold"/>
                </a:rPr>
                <a:t>Adaptive Layouts (Giao diện thích ứng):</a:t>
              </a:r>
            </a:p>
          </p:txBody>
        </p:sp>
      </p:grpSp>
      <p:sp>
        <p:nvSpPr>
          <p:cNvPr id="11" name="AutoShape 11"/>
          <p:cNvSpPr/>
          <p:nvPr/>
        </p:nvSpPr>
        <p:spPr>
          <a:xfrm>
            <a:off x="489581" y="1617735"/>
            <a:ext cx="1310100" cy="0"/>
          </a:xfrm>
          <a:prstGeom prst="line">
            <a:avLst/>
          </a:prstGeom>
          <a:ln w="95250" cap="flat">
            <a:solidFill>
              <a:srgbClr val="0345E4"/>
            </a:solidFill>
            <a:prstDash val="solid"/>
            <a:headEnd type="none" w="sm" len="sm"/>
            <a:tailEnd type="none" w="sm" len="sm"/>
          </a:ln>
        </p:spPr>
        <p:txBody>
          <a:bodyPr/>
          <a:lstStyle/>
          <a:p>
            <a:endParaRPr lang="en-US"/>
          </a:p>
        </p:txBody>
      </p:sp>
      <p:sp>
        <p:nvSpPr>
          <p:cNvPr id="12" name="TextBox 12"/>
          <p:cNvSpPr txBox="1"/>
          <p:nvPr/>
        </p:nvSpPr>
        <p:spPr>
          <a:xfrm>
            <a:off x="1433849" y="554037"/>
            <a:ext cx="15962956" cy="854076"/>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TESTING &amp; GIAO DIỆN THÍCH ỨNG (ADAPTIVE)</a:t>
            </a:r>
          </a:p>
        </p:txBody>
      </p:sp>
      <p:sp>
        <p:nvSpPr>
          <p:cNvPr id="13" name="TextBox 13"/>
          <p:cNvSpPr txBox="1"/>
          <p:nvPr/>
        </p:nvSpPr>
        <p:spPr>
          <a:xfrm>
            <a:off x="1799681" y="3474655"/>
            <a:ext cx="14563096" cy="3816350"/>
          </a:xfrm>
          <a:prstGeom prst="rect">
            <a:avLst/>
          </a:prstGeom>
        </p:spPr>
        <p:txBody>
          <a:bodyPr lIns="0" tIns="0" rIns="0" bIns="0" rtlCol="0" anchor="t">
            <a:spAutoFit/>
          </a:bodyPr>
          <a:lstStyle/>
          <a:p>
            <a:pPr marL="604519" lvl="1" indent="-302260" algn="l">
              <a:lnSpc>
                <a:spcPts val="6159"/>
              </a:lnSpc>
              <a:buFont typeface="Arial"/>
              <a:buChar char="•"/>
            </a:pPr>
            <a:r>
              <a:rPr lang="en-US" sz="2799">
                <a:solidFill>
                  <a:srgbClr val="000000"/>
                </a:solidFill>
                <a:latin typeface="Open Sans"/>
                <a:ea typeface="Open Sans"/>
                <a:cs typeface="Open Sans"/>
                <a:sym typeface="Open Sans"/>
              </a:rPr>
              <a:t>Window Size Classes: Phân loại màn hình thành Compact, Medium, Expanded.</a:t>
            </a:r>
          </a:p>
          <a:p>
            <a:pPr marL="604519" lvl="1" indent="-302260" algn="l">
              <a:lnSpc>
                <a:spcPts val="6159"/>
              </a:lnSpc>
              <a:buFont typeface="Arial"/>
              <a:buChar char="•"/>
            </a:pPr>
            <a:r>
              <a:rPr lang="en-US" sz="2799">
                <a:solidFill>
                  <a:srgbClr val="000000"/>
                </a:solidFill>
                <a:latin typeface="Open Sans"/>
                <a:ea typeface="Open Sans"/>
                <a:cs typeface="Open Sans"/>
                <a:sym typeface="Open Sans"/>
              </a:rPr>
              <a:t>Responsive Composable: Thay đổi bố cục ngay trong code (Code-based layout logic).</a:t>
            </a:r>
          </a:p>
          <a:p>
            <a:pPr marL="604519" lvl="1" indent="-302260" algn="l">
              <a:lnSpc>
                <a:spcPts val="6159"/>
              </a:lnSpc>
              <a:buFont typeface="Arial"/>
              <a:buChar char="•"/>
            </a:pPr>
            <a:r>
              <a:rPr lang="en-US" sz="2799">
                <a:solidFill>
                  <a:srgbClr val="000000"/>
                </a:solidFill>
                <a:latin typeface="Open Sans"/>
                <a:ea typeface="Open Sans"/>
                <a:cs typeface="Open Sans"/>
                <a:sym typeface="Open Sans"/>
              </a:rPr>
              <a:t>Ví dụ: Tự động chuyển BottomNavigation (Mobile) -&gt; NavigationRail (Tablet/Foldable).</a:t>
            </a:r>
          </a:p>
          <a:p>
            <a:pPr marL="0" lvl="0" indent="0" algn="l">
              <a:lnSpc>
                <a:spcPts val="6159"/>
              </a:lnSpc>
            </a:pPr>
            <a:endParaRPr lang="en-US" sz="2799">
              <a:solidFill>
                <a:srgbClr val="000000"/>
              </a:solidFill>
              <a:latin typeface="Open Sans"/>
              <a:ea typeface="Open Sans"/>
              <a:cs typeface="Open Sans"/>
              <a:sym typeface="Open Sans"/>
            </a:endParaRPr>
          </a:p>
        </p:txBody>
      </p:sp>
      <p:grpSp>
        <p:nvGrpSpPr>
          <p:cNvPr id="14" name="Group 14"/>
          <p:cNvGrpSpPr/>
          <p:nvPr/>
        </p:nvGrpSpPr>
        <p:grpSpPr>
          <a:xfrm>
            <a:off x="9943571" y="8148501"/>
            <a:ext cx="4596322" cy="459632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770594"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0345E4"/>
            </a:solidFill>
          </p:spPr>
          <p:txBody>
            <a:bodyPr/>
            <a:lstStyle/>
            <a:p>
              <a:endParaRPr lang="en-US"/>
            </a:p>
          </p:txBody>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5400000">
            <a:off x="7664671" y="289036"/>
            <a:ext cx="1479329" cy="1479329"/>
            <a:chOff x="0" y="0"/>
            <a:chExt cx="812800" cy="812800"/>
          </a:xfrm>
        </p:grpSpPr>
        <p:sp>
          <p:nvSpPr>
            <p:cNvPr id="6" name="Freeform 6"/>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5400000">
            <a:off x="8758138" y="1335663"/>
            <a:ext cx="771724" cy="77172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7099809" y="3130089"/>
            <a:ext cx="10797275" cy="5398637"/>
          </a:xfrm>
          <a:custGeom>
            <a:avLst/>
            <a:gdLst/>
            <a:ahLst/>
            <a:cxnLst/>
            <a:rect l="l" t="t" r="r" b="b"/>
            <a:pathLst>
              <a:path w="10797275" h="5398637">
                <a:moveTo>
                  <a:pt x="0" y="0"/>
                </a:moveTo>
                <a:lnTo>
                  <a:pt x="10797274" y="0"/>
                </a:lnTo>
                <a:lnTo>
                  <a:pt x="10797274" y="5398638"/>
                </a:lnTo>
                <a:lnTo>
                  <a:pt x="0" y="5398638"/>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0" y="2300534"/>
            <a:ext cx="6572320" cy="4568827"/>
          </a:xfrm>
          <a:prstGeom prst="rect">
            <a:avLst/>
          </a:prstGeom>
        </p:spPr>
        <p:txBody>
          <a:bodyPr lIns="0" tIns="0" rIns="0" bIns="0" rtlCol="0" anchor="t">
            <a:spAutoFit/>
          </a:bodyPr>
          <a:lstStyle/>
          <a:p>
            <a:pPr marL="1403336" lvl="1" indent="-701668" algn="l">
              <a:lnSpc>
                <a:spcPts val="9099"/>
              </a:lnSpc>
              <a:buAutoNum type="arabicPeriod"/>
            </a:pPr>
            <a:r>
              <a:rPr lang="en-US" sz="6499" b="1" spc="129">
                <a:solidFill>
                  <a:srgbClr val="FFFFFF"/>
                </a:solidFill>
                <a:latin typeface="Garet Bold"/>
                <a:ea typeface="Garet Bold"/>
                <a:cs typeface="Garet Bold"/>
                <a:sym typeface="Garet Bold"/>
              </a:rPr>
              <a:t> SO SÁNH JETPACK COMPOSE VS XML</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763347" y="410282"/>
            <a:ext cx="14880950"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SO SÁNH JETPACK COMPOSE VS XML</a:t>
            </a:r>
          </a:p>
        </p:txBody>
      </p:sp>
      <p:grpSp>
        <p:nvGrpSpPr>
          <p:cNvPr id="6" name="Group 6"/>
          <p:cNvGrpSpPr/>
          <p:nvPr/>
        </p:nvGrpSpPr>
        <p:grpSpPr>
          <a:xfrm>
            <a:off x="12585835" y="-815595"/>
            <a:ext cx="3744615" cy="37446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556306" y="1709239"/>
            <a:ext cx="15702994" cy="8577761"/>
          </a:xfrm>
          <a:custGeom>
            <a:avLst/>
            <a:gdLst/>
            <a:ahLst/>
            <a:cxnLst/>
            <a:rect l="l" t="t" r="r" b="b"/>
            <a:pathLst>
              <a:path w="15702994" h="8577761">
                <a:moveTo>
                  <a:pt x="0" y="0"/>
                </a:moveTo>
                <a:lnTo>
                  <a:pt x="15702994" y="0"/>
                </a:lnTo>
                <a:lnTo>
                  <a:pt x="15702994" y="8577761"/>
                </a:lnTo>
                <a:lnTo>
                  <a:pt x="0" y="8577761"/>
                </a:lnTo>
                <a:lnTo>
                  <a:pt x="0" y="0"/>
                </a:lnTo>
                <a:close/>
              </a:path>
            </a:pathLst>
          </a:custGeom>
          <a:blipFill>
            <a:blip r:embed="rId2"/>
            <a:stretch>
              <a:fillRect/>
            </a:stretch>
          </a:blipFill>
        </p:spPr>
        <p:txBody>
          <a:bodyPr/>
          <a:lstStyle/>
          <a:p>
            <a:endParaRPr lang="en-US"/>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942395"/>
            <a:chOff x="0" y="0"/>
            <a:chExt cx="4816593" cy="511577"/>
          </a:xfrm>
        </p:grpSpPr>
        <p:sp>
          <p:nvSpPr>
            <p:cNvPr id="3" name="Freeform 3"/>
            <p:cNvSpPr/>
            <p:nvPr/>
          </p:nvSpPr>
          <p:spPr>
            <a:xfrm>
              <a:off x="0" y="0"/>
              <a:ext cx="4816592" cy="511577"/>
            </a:xfrm>
            <a:custGeom>
              <a:avLst/>
              <a:gdLst/>
              <a:ahLst/>
              <a:cxnLst/>
              <a:rect l="l" t="t" r="r" b="b"/>
              <a:pathLst>
                <a:path w="4816592" h="511577">
                  <a:moveTo>
                    <a:pt x="0" y="0"/>
                  </a:moveTo>
                  <a:lnTo>
                    <a:pt x="4816592" y="0"/>
                  </a:lnTo>
                  <a:lnTo>
                    <a:pt x="4816592" y="511577"/>
                  </a:lnTo>
                  <a:lnTo>
                    <a:pt x="0" y="511577"/>
                  </a:lnTo>
                  <a:close/>
                </a:path>
              </a:pathLst>
            </a:custGeom>
            <a:solidFill>
              <a:srgbClr val="0345E4"/>
            </a:solidFill>
          </p:spPr>
          <p:txBody>
            <a:bodyPr/>
            <a:lstStyle/>
            <a:p>
              <a:endParaRPr lang="en-US"/>
            </a:p>
          </p:txBody>
        </p:sp>
        <p:sp>
          <p:nvSpPr>
            <p:cNvPr id="4" name="TextBox 4"/>
            <p:cNvSpPr txBox="1"/>
            <p:nvPr/>
          </p:nvSpPr>
          <p:spPr>
            <a:xfrm>
              <a:off x="0" y="-38100"/>
              <a:ext cx="4816593" cy="54967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535839" y="286032"/>
            <a:ext cx="15794610" cy="1374775"/>
          </a:xfrm>
          <a:prstGeom prst="rect">
            <a:avLst/>
          </a:prstGeom>
        </p:spPr>
        <p:txBody>
          <a:bodyPr lIns="0" tIns="0" rIns="0" bIns="0" rtlCol="0" anchor="t">
            <a:spAutoFit/>
          </a:bodyPr>
          <a:lstStyle/>
          <a:p>
            <a:pPr algn="l">
              <a:lnSpc>
                <a:spcPts val="5599"/>
              </a:lnSpc>
            </a:pPr>
            <a:r>
              <a:rPr lang="en-US" sz="3999" b="1" spc="79">
                <a:solidFill>
                  <a:srgbClr val="FFFFFF"/>
                </a:solidFill>
                <a:latin typeface="Garet Bold"/>
                <a:ea typeface="Garet Bold"/>
                <a:cs typeface="Garet Bold"/>
                <a:sym typeface="Garet Bold"/>
              </a:rPr>
              <a:t>CHIẾN LƯỢC ÁP DỤNG: KHI NÀO NÊN DÙNG XML HOẶC JETPACK COMPOSE?</a:t>
            </a:r>
          </a:p>
        </p:txBody>
      </p:sp>
      <p:grpSp>
        <p:nvGrpSpPr>
          <p:cNvPr id="6" name="Group 6"/>
          <p:cNvGrpSpPr/>
          <p:nvPr/>
        </p:nvGrpSpPr>
        <p:grpSpPr>
          <a:xfrm>
            <a:off x="12585835" y="-815595"/>
            <a:ext cx="3744615" cy="37446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0" y="1942395"/>
            <a:ext cx="18288000" cy="9003195"/>
          </a:xfrm>
          <a:custGeom>
            <a:avLst/>
            <a:gdLst/>
            <a:ahLst/>
            <a:cxnLst/>
            <a:rect l="l" t="t" r="r" b="b"/>
            <a:pathLst>
              <a:path w="18288000" h="9003195">
                <a:moveTo>
                  <a:pt x="0" y="0"/>
                </a:moveTo>
                <a:lnTo>
                  <a:pt x="18288000" y="0"/>
                </a:lnTo>
                <a:lnTo>
                  <a:pt x="18288000" y="9003195"/>
                </a:lnTo>
                <a:lnTo>
                  <a:pt x="0" y="9003195"/>
                </a:lnTo>
                <a:lnTo>
                  <a:pt x="0" y="0"/>
                </a:lnTo>
                <a:close/>
              </a:path>
            </a:pathLst>
          </a:custGeom>
          <a:blipFill>
            <a:blip r:embed="rId2"/>
            <a:stretch>
              <a:fillRect t="-10958"/>
            </a:stretch>
          </a:blipFill>
        </p:spPr>
        <p:txBody>
          <a:bodyPr/>
          <a:lstStyle/>
          <a:p>
            <a:endParaRPr lang="en-US"/>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
        <p:nvSpPr>
          <p:cNvPr id="6" name="TextBox 6"/>
          <p:cNvSpPr txBox="1"/>
          <p:nvPr/>
        </p:nvSpPr>
        <p:spPr>
          <a:xfrm>
            <a:off x="763347" y="2203967"/>
            <a:ext cx="16743840" cy="6223898"/>
          </a:xfrm>
          <a:prstGeom prst="rect">
            <a:avLst/>
          </a:prstGeom>
        </p:spPr>
        <p:txBody>
          <a:bodyPr lIns="0" tIns="0" rIns="0" bIns="0" rtlCol="0" anchor="t">
            <a:spAutoFit/>
          </a:bodyPr>
          <a:lstStyle/>
          <a:p>
            <a:pPr algn="just">
              <a:lnSpc>
                <a:spcPts val="4909"/>
              </a:lnSpc>
            </a:pPr>
            <a:r>
              <a:rPr lang="en-US" sz="2805">
                <a:solidFill>
                  <a:srgbClr val="000000"/>
                </a:solidFill>
                <a:latin typeface="Open Sans"/>
                <a:ea typeface="Open Sans"/>
                <a:cs typeface="Open Sans"/>
                <a:sym typeface="Open Sans"/>
              </a:rPr>
              <a:t>Jetpack Compose cung cấp các Material Components chuẩn Material Design, giúp xây dựng giao diện nhanh, nhất quán và dễ tùy biến. Sử dụng composable để triển khai UI mà không cần định nghĩa thủ công layout hay styling.</a:t>
            </a:r>
          </a:p>
          <a:p>
            <a:pPr algn="just">
              <a:lnSpc>
                <a:spcPts val="1749"/>
              </a:lnSpc>
            </a:pPr>
            <a:endParaRPr lang="en-US" sz="2805">
              <a:solidFill>
                <a:srgbClr val="000000"/>
              </a:solidFill>
              <a:latin typeface="Open Sans"/>
              <a:ea typeface="Open Sans"/>
              <a:cs typeface="Open Sans"/>
              <a:sym typeface="Open Sans"/>
            </a:endParaRPr>
          </a:p>
          <a:p>
            <a:pPr algn="just">
              <a:lnSpc>
                <a:spcPts val="1749"/>
              </a:lnSpc>
            </a:pPr>
            <a:endParaRPr lang="en-US" sz="2805">
              <a:solidFill>
                <a:srgbClr val="000000"/>
              </a:solidFill>
              <a:latin typeface="Open Sans"/>
              <a:ea typeface="Open Sans"/>
              <a:cs typeface="Open Sans"/>
              <a:sym typeface="Open Sans"/>
            </a:endParaRPr>
          </a:p>
          <a:p>
            <a:pPr algn="just">
              <a:lnSpc>
                <a:spcPts val="4909"/>
              </a:lnSpc>
            </a:pPr>
            <a:r>
              <a:rPr lang="en-US" sz="2805">
                <a:solidFill>
                  <a:srgbClr val="000000"/>
                </a:solidFill>
                <a:latin typeface="Open Sans"/>
                <a:ea typeface="Open Sans"/>
                <a:cs typeface="Open Sans"/>
                <a:sym typeface="Open Sans"/>
              </a:rPr>
              <a:t>Các nhóm thành phần chính:</a:t>
            </a:r>
          </a:p>
          <a:p>
            <a:pPr algn="just">
              <a:lnSpc>
                <a:spcPts val="1749"/>
              </a:lnSpc>
            </a:pPr>
            <a:endParaRPr lang="en-US" sz="2805">
              <a:solidFill>
                <a:srgbClr val="000000"/>
              </a:solidFill>
              <a:latin typeface="Open Sans"/>
              <a:ea typeface="Open Sans"/>
              <a:cs typeface="Open Sans"/>
              <a:sym typeface="Open Sans"/>
            </a:endParaRPr>
          </a:p>
          <a:p>
            <a:pPr marL="605671" lvl="1" indent="-302835" algn="just">
              <a:lnSpc>
                <a:spcPts val="4909"/>
              </a:lnSpc>
              <a:buFont typeface="Arial"/>
              <a:buChar char="•"/>
            </a:pPr>
            <a:r>
              <a:rPr lang="en-US" sz="2805">
                <a:solidFill>
                  <a:srgbClr val="000000"/>
                </a:solidFill>
                <a:latin typeface="Open Sans"/>
                <a:ea typeface="Open Sans"/>
                <a:cs typeface="Open Sans"/>
                <a:sym typeface="Open Sans"/>
              </a:rPr>
              <a:t>Layouts &amp; Modifier: sắp xếp và định dạng các composable.</a:t>
            </a:r>
          </a:p>
          <a:p>
            <a:pPr algn="just">
              <a:lnSpc>
                <a:spcPts val="1749"/>
              </a:lnSpc>
            </a:pPr>
            <a:endParaRPr lang="en-US" sz="2805">
              <a:solidFill>
                <a:srgbClr val="000000"/>
              </a:solidFill>
              <a:latin typeface="Open Sans"/>
              <a:ea typeface="Open Sans"/>
              <a:cs typeface="Open Sans"/>
              <a:sym typeface="Open Sans"/>
            </a:endParaRPr>
          </a:p>
          <a:p>
            <a:pPr marL="605671" lvl="1" indent="-302835" algn="just">
              <a:lnSpc>
                <a:spcPts val="4909"/>
              </a:lnSpc>
              <a:buFont typeface="Arial"/>
              <a:buChar char="•"/>
            </a:pPr>
            <a:r>
              <a:rPr lang="en-US" sz="2805">
                <a:solidFill>
                  <a:srgbClr val="000000"/>
                </a:solidFill>
                <a:latin typeface="Open Sans"/>
                <a:ea typeface="Open Sans"/>
                <a:cs typeface="Open Sans"/>
                <a:sym typeface="Open Sans"/>
              </a:rPr>
              <a:t>Basic UI / Material Components: các thành phần giao diện cơ bản và nâng cao.</a:t>
            </a:r>
          </a:p>
          <a:p>
            <a:pPr algn="just">
              <a:lnSpc>
                <a:spcPts val="1749"/>
              </a:lnSpc>
            </a:pPr>
            <a:endParaRPr lang="en-US" sz="2805">
              <a:solidFill>
                <a:srgbClr val="000000"/>
              </a:solidFill>
              <a:latin typeface="Open Sans"/>
              <a:ea typeface="Open Sans"/>
              <a:cs typeface="Open Sans"/>
              <a:sym typeface="Open Sans"/>
            </a:endParaRPr>
          </a:p>
          <a:p>
            <a:pPr marL="605671" lvl="1" indent="-302835" algn="just">
              <a:lnSpc>
                <a:spcPts val="4909"/>
              </a:lnSpc>
              <a:buFont typeface="Arial"/>
              <a:buChar char="•"/>
            </a:pPr>
            <a:r>
              <a:rPr lang="en-US" sz="2805">
                <a:solidFill>
                  <a:srgbClr val="000000"/>
                </a:solidFill>
                <a:latin typeface="Open Sans"/>
                <a:ea typeface="Open Sans"/>
                <a:cs typeface="Open Sans"/>
                <a:sym typeface="Open Sans"/>
              </a:rPr>
              <a:t>Navigation: quản lý điều hướng giữa các màn hình Composable.</a:t>
            </a:r>
          </a:p>
          <a:p>
            <a:pPr algn="just">
              <a:lnSpc>
                <a:spcPts val="1749"/>
              </a:lnSpc>
            </a:pPr>
            <a:endParaRPr lang="en-US" sz="2805">
              <a:solidFill>
                <a:srgbClr val="000000"/>
              </a:solidFill>
              <a:latin typeface="Open Sans"/>
              <a:ea typeface="Open Sans"/>
              <a:cs typeface="Open Sans"/>
              <a:sym typeface="Open Sans"/>
            </a:endParaRPr>
          </a:p>
          <a:p>
            <a:pPr marL="605671" lvl="1" indent="-302835" algn="just">
              <a:lnSpc>
                <a:spcPts val="4909"/>
              </a:lnSpc>
              <a:buFont typeface="Arial"/>
              <a:buChar char="•"/>
            </a:pPr>
            <a:r>
              <a:rPr lang="en-US" sz="2805">
                <a:solidFill>
                  <a:srgbClr val="000000"/>
                </a:solidFill>
                <a:latin typeface="Open Sans"/>
                <a:ea typeface="Open Sans"/>
                <a:cs typeface="Open Sans"/>
                <a:sym typeface="Open Sans"/>
              </a:rPr>
              <a:t>Themes &amp; Material Design: áp dụng màu, font, hình dạng và hỗ trợ Dark Mode.    </a:t>
            </a:r>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347" y="2171277"/>
            <a:ext cx="3385128" cy="830836"/>
            <a:chOff x="0" y="0"/>
            <a:chExt cx="1735252" cy="425895"/>
          </a:xfrm>
        </p:grpSpPr>
        <p:sp>
          <p:nvSpPr>
            <p:cNvPr id="6" name="Freeform 6"/>
            <p:cNvSpPr/>
            <p:nvPr/>
          </p:nvSpPr>
          <p:spPr>
            <a:xfrm>
              <a:off x="0" y="0"/>
              <a:ext cx="1735252" cy="425895"/>
            </a:xfrm>
            <a:custGeom>
              <a:avLst/>
              <a:gdLst/>
              <a:ahLst/>
              <a:cxnLst/>
              <a:rect l="l" t="t" r="r" b="b"/>
              <a:pathLst>
                <a:path w="1735252" h="425895">
                  <a:moveTo>
                    <a:pt x="1532052" y="0"/>
                  </a:moveTo>
                  <a:cubicBezTo>
                    <a:pt x="1644277" y="0"/>
                    <a:pt x="1735252" y="95340"/>
                    <a:pt x="1735252" y="212948"/>
                  </a:cubicBezTo>
                  <a:cubicBezTo>
                    <a:pt x="1735252" y="330556"/>
                    <a:pt x="1644277" y="425895"/>
                    <a:pt x="1532052"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47625"/>
              <a:ext cx="1735252"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Layouts</a:t>
              </a:r>
            </a:p>
          </p:txBody>
        </p:sp>
      </p:grpSp>
      <p:sp>
        <p:nvSpPr>
          <p:cNvPr id="8" name="Freeform 8"/>
          <p:cNvSpPr/>
          <p:nvPr/>
        </p:nvSpPr>
        <p:spPr>
          <a:xfrm>
            <a:off x="12803144" y="4101254"/>
            <a:ext cx="1843398" cy="2324284"/>
          </a:xfrm>
          <a:custGeom>
            <a:avLst/>
            <a:gdLst/>
            <a:ahLst/>
            <a:cxnLst/>
            <a:rect l="l" t="t" r="r" b="b"/>
            <a:pathLst>
              <a:path w="1843398" h="2324284">
                <a:moveTo>
                  <a:pt x="0" y="0"/>
                </a:moveTo>
                <a:lnTo>
                  <a:pt x="1843397" y="0"/>
                </a:lnTo>
                <a:lnTo>
                  <a:pt x="1843397" y="2324284"/>
                </a:lnTo>
                <a:lnTo>
                  <a:pt x="0" y="2324284"/>
                </a:lnTo>
                <a:lnTo>
                  <a:pt x="0" y="0"/>
                </a:lnTo>
                <a:close/>
              </a:path>
            </a:pathLst>
          </a:custGeom>
          <a:blipFill>
            <a:blip r:embed="rId2"/>
            <a:stretch>
              <a:fillRect/>
            </a:stretch>
          </a:blipFill>
        </p:spPr>
        <p:txBody>
          <a:bodyPr/>
          <a:lstStyle/>
          <a:p>
            <a:endParaRPr lang="en-US"/>
          </a:p>
        </p:txBody>
      </p:sp>
      <p:sp>
        <p:nvSpPr>
          <p:cNvPr id="9" name="Freeform 9"/>
          <p:cNvSpPr/>
          <p:nvPr/>
        </p:nvSpPr>
        <p:spPr>
          <a:xfrm>
            <a:off x="12803144" y="6646445"/>
            <a:ext cx="4456156" cy="1479065"/>
          </a:xfrm>
          <a:custGeom>
            <a:avLst/>
            <a:gdLst/>
            <a:ahLst/>
            <a:cxnLst/>
            <a:rect l="l" t="t" r="r" b="b"/>
            <a:pathLst>
              <a:path w="4456156" h="1479065">
                <a:moveTo>
                  <a:pt x="0" y="0"/>
                </a:moveTo>
                <a:lnTo>
                  <a:pt x="4456156" y="0"/>
                </a:lnTo>
                <a:lnTo>
                  <a:pt x="4456156" y="1479064"/>
                </a:lnTo>
                <a:lnTo>
                  <a:pt x="0" y="1479064"/>
                </a:lnTo>
                <a:lnTo>
                  <a:pt x="0" y="0"/>
                </a:lnTo>
                <a:close/>
              </a:path>
            </a:pathLst>
          </a:custGeom>
          <a:blipFill>
            <a:blip r:embed="rId3"/>
            <a:stretch>
              <a:fillRect/>
            </a:stretch>
          </a:blipFill>
        </p:spPr>
        <p:txBody>
          <a:bodyPr/>
          <a:lstStyle/>
          <a:p>
            <a:endParaRPr lang="en-US"/>
          </a:p>
        </p:txBody>
      </p:sp>
      <p:sp>
        <p:nvSpPr>
          <p:cNvPr id="10" name="Freeform 10"/>
          <p:cNvSpPr/>
          <p:nvPr/>
        </p:nvSpPr>
        <p:spPr>
          <a:xfrm>
            <a:off x="14961579" y="4101254"/>
            <a:ext cx="2297721" cy="2324284"/>
          </a:xfrm>
          <a:custGeom>
            <a:avLst/>
            <a:gdLst/>
            <a:ahLst/>
            <a:cxnLst/>
            <a:rect l="l" t="t" r="r" b="b"/>
            <a:pathLst>
              <a:path w="2297721" h="2324284">
                <a:moveTo>
                  <a:pt x="0" y="0"/>
                </a:moveTo>
                <a:lnTo>
                  <a:pt x="2297721" y="0"/>
                </a:lnTo>
                <a:lnTo>
                  <a:pt x="2297721" y="2324284"/>
                </a:lnTo>
                <a:lnTo>
                  <a:pt x="0" y="2324284"/>
                </a:lnTo>
                <a:lnTo>
                  <a:pt x="0" y="0"/>
                </a:lnTo>
                <a:close/>
              </a:path>
            </a:pathLst>
          </a:custGeom>
          <a:blipFill>
            <a:blip r:embed="rId4"/>
            <a:stretch>
              <a:fillRect/>
            </a:stretch>
          </a:blipFill>
        </p:spPr>
        <p:txBody>
          <a:bodyPr/>
          <a:lstStyle/>
          <a:p>
            <a:endParaRPr lang="en-US"/>
          </a:p>
        </p:txBody>
      </p:sp>
      <p:sp>
        <p:nvSpPr>
          <p:cNvPr id="11" name="TextBox 11"/>
          <p:cNvSpPr txBox="1"/>
          <p:nvPr/>
        </p:nvSpPr>
        <p:spPr>
          <a:xfrm>
            <a:off x="763347" y="3364063"/>
            <a:ext cx="10614878" cy="6159500"/>
          </a:xfrm>
          <a:prstGeom prst="rect">
            <a:avLst/>
          </a:prstGeom>
        </p:spPr>
        <p:txBody>
          <a:bodyPr lIns="0" tIns="0" rIns="0" bIns="0" rtlCol="0" anchor="t">
            <a:spAutoFit/>
          </a:bodyPr>
          <a:lstStyle/>
          <a:p>
            <a:pPr algn="just">
              <a:lnSpc>
                <a:spcPts val="6159"/>
              </a:lnSpc>
            </a:pPr>
            <a:r>
              <a:rPr lang="en-US" sz="2799">
                <a:solidFill>
                  <a:srgbClr val="000000"/>
                </a:solidFill>
                <a:latin typeface="Open Sans"/>
                <a:ea typeface="Open Sans"/>
                <a:cs typeface="Open Sans"/>
                <a:sym typeface="Open Sans"/>
              </a:rPr>
              <a:t>Layouts định hình cách sắp xếp các composable trên màn hình.</a:t>
            </a:r>
          </a:p>
          <a:p>
            <a:pPr algn="just">
              <a:lnSpc>
                <a:spcPts val="6159"/>
              </a:lnSpc>
            </a:pPr>
            <a:r>
              <a:rPr lang="en-US" sz="2799">
                <a:solidFill>
                  <a:srgbClr val="000000"/>
                </a:solidFill>
                <a:latin typeface="Open Sans"/>
                <a:ea typeface="Open Sans"/>
                <a:cs typeface="Open Sans"/>
                <a:sym typeface="Open Sans"/>
              </a:rPr>
              <a:t>Composable functions là các khối xây dựng UI, nhận input và tạo nội dung hiển thị.</a:t>
            </a:r>
          </a:p>
          <a:p>
            <a:pPr algn="just">
              <a:lnSpc>
                <a:spcPts val="6159"/>
              </a:lnSpc>
            </a:pPr>
            <a:r>
              <a:rPr lang="en-US" sz="2799">
                <a:solidFill>
                  <a:srgbClr val="000000"/>
                </a:solidFill>
                <a:latin typeface="Open Sans"/>
                <a:ea typeface="Open Sans"/>
                <a:cs typeface="Open Sans"/>
                <a:sym typeface="Open Sans"/>
              </a:rPr>
              <a:t>Goals of Layouts:</a:t>
            </a:r>
          </a:p>
          <a:p>
            <a:pPr marL="604519" lvl="1" indent="-302260" algn="just">
              <a:lnSpc>
                <a:spcPts val="6159"/>
              </a:lnSpc>
              <a:buFont typeface="Arial"/>
              <a:buChar char="•"/>
            </a:pPr>
            <a:r>
              <a:rPr lang="en-US" sz="2799">
                <a:solidFill>
                  <a:srgbClr val="000000"/>
                </a:solidFill>
                <a:latin typeface="Open Sans"/>
                <a:ea typeface="Open Sans"/>
                <a:cs typeface="Open Sans"/>
                <a:sym typeface="Open Sans"/>
              </a:rPr>
              <a:t>High performance – có thể lồng nhiều layout mà không làm chậm ứng dụng.</a:t>
            </a:r>
          </a:p>
          <a:p>
            <a:pPr marL="604519" lvl="1" indent="-302260" algn="just">
              <a:lnSpc>
                <a:spcPts val="6159"/>
              </a:lnSpc>
              <a:buFont typeface="Arial"/>
              <a:buChar char="•"/>
            </a:pPr>
            <a:r>
              <a:rPr lang="en-US" sz="2799">
                <a:solidFill>
                  <a:srgbClr val="000000"/>
                </a:solidFill>
                <a:latin typeface="Open Sans"/>
                <a:ea typeface="Open Sans"/>
                <a:cs typeface="Open Sans"/>
                <a:sym typeface="Open Sans"/>
              </a:rPr>
              <a:t>Custom layouts – viết các bố cục riêng theo nhu cầu một cách đơn giản.</a:t>
            </a:r>
          </a:p>
        </p:txBody>
      </p:sp>
      <p:sp>
        <p:nvSpPr>
          <p:cNvPr id="12" name="TextBox 12"/>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grpSp>
        <p:nvGrpSpPr>
          <p:cNvPr id="6" name="Group 6"/>
          <p:cNvGrpSpPr/>
          <p:nvPr/>
        </p:nvGrpSpPr>
        <p:grpSpPr>
          <a:xfrm>
            <a:off x="763347" y="2171277"/>
            <a:ext cx="3068979" cy="830836"/>
            <a:chOff x="0" y="0"/>
            <a:chExt cx="1573191" cy="425895"/>
          </a:xfrm>
        </p:grpSpPr>
        <p:sp>
          <p:nvSpPr>
            <p:cNvPr id="7" name="Freeform 7"/>
            <p:cNvSpPr/>
            <p:nvPr/>
          </p:nvSpPr>
          <p:spPr>
            <a:xfrm>
              <a:off x="0" y="0"/>
              <a:ext cx="1573191" cy="425895"/>
            </a:xfrm>
            <a:custGeom>
              <a:avLst/>
              <a:gdLst/>
              <a:ahLst/>
              <a:cxnLst/>
              <a:rect l="l" t="t" r="r" b="b"/>
              <a:pathLst>
                <a:path w="1573191" h="425895">
                  <a:moveTo>
                    <a:pt x="1369991" y="0"/>
                  </a:moveTo>
                  <a:cubicBezTo>
                    <a:pt x="1482215" y="0"/>
                    <a:pt x="1573191" y="95340"/>
                    <a:pt x="1573191" y="212948"/>
                  </a:cubicBezTo>
                  <a:cubicBezTo>
                    <a:pt x="1573191" y="330556"/>
                    <a:pt x="1482215" y="425895"/>
                    <a:pt x="1369991"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8" name="TextBox 8"/>
            <p:cNvSpPr txBox="1"/>
            <p:nvPr/>
          </p:nvSpPr>
          <p:spPr>
            <a:xfrm>
              <a:off x="0" y="-47625"/>
              <a:ext cx="1573191"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Modifier</a:t>
              </a:r>
            </a:p>
          </p:txBody>
        </p:sp>
      </p:grpSp>
      <p:sp>
        <p:nvSpPr>
          <p:cNvPr id="9" name="TextBox 9"/>
          <p:cNvSpPr txBox="1"/>
          <p:nvPr/>
        </p:nvSpPr>
        <p:spPr>
          <a:xfrm>
            <a:off x="763347" y="3354538"/>
            <a:ext cx="16657269" cy="5433490"/>
          </a:xfrm>
          <a:prstGeom prst="rect">
            <a:avLst/>
          </a:prstGeom>
        </p:spPr>
        <p:txBody>
          <a:bodyPr lIns="0" tIns="0" rIns="0" bIns="0" rtlCol="0" anchor="t">
            <a:spAutoFit/>
          </a:bodyPr>
          <a:lstStyle/>
          <a:p>
            <a:pPr algn="just">
              <a:lnSpc>
                <a:spcPts val="6160"/>
              </a:lnSpc>
            </a:pPr>
            <a:r>
              <a:rPr lang="en-US" sz="2800">
                <a:solidFill>
                  <a:srgbClr val="000000"/>
                </a:solidFill>
                <a:latin typeface="Open Sans"/>
                <a:ea typeface="Open Sans"/>
                <a:cs typeface="Open Sans"/>
                <a:sym typeface="Open Sans"/>
              </a:rPr>
              <a:t>Modifier cho phép trang trí hoặc mở rộng khả năng của một composable, bao gồm:</a:t>
            </a:r>
          </a:p>
          <a:p>
            <a:pPr marL="604521" lvl="1" indent="-302260" algn="just">
              <a:lnSpc>
                <a:spcPts val="6160"/>
              </a:lnSpc>
              <a:buFont typeface="Arial"/>
              <a:buChar char="•"/>
            </a:pPr>
            <a:r>
              <a:rPr lang="en-US" sz="2800">
                <a:solidFill>
                  <a:srgbClr val="000000"/>
                </a:solidFill>
                <a:latin typeface="Open Sans"/>
                <a:ea typeface="Open Sans"/>
                <a:cs typeface="Open Sans"/>
                <a:sym typeface="Open Sans"/>
              </a:rPr>
              <a:t>Thay đổi kích thước, bố cục, hành vi và giao diện của composable.</a:t>
            </a:r>
          </a:p>
          <a:p>
            <a:pPr marL="604521" lvl="1" indent="-302260" algn="just">
              <a:lnSpc>
                <a:spcPts val="6160"/>
              </a:lnSpc>
              <a:buFont typeface="Arial"/>
              <a:buChar char="•"/>
            </a:pPr>
            <a:r>
              <a:rPr lang="en-US" sz="2800">
                <a:solidFill>
                  <a:srgbClr val="000000"/>
                </a:solidFill>
                <a:latin typeface="Open Sans"/>
                <a:ea typeface="Open Sans"/>
                <a:cs typeface="Open Sans"/>
                <a:sym typeface="Open Sans"/>
              </a:rPr>
              <a:t>Thêm các thông tin bổ sung như nhãn trợ năng (accessibility) để hỗ trợ người dùng.</a:t>
            </a:r>
          </a:p>
          <a:p>
            <a:pPr marL="604521" lvl="1" indent="-302260" algn="just">
              <a:lnSpc>
                <a:spcPts val="6160"/>
              </a:lnSpc>
              <a:buFont typeface="Arial"/>
              <a:buChar char="•"/>
            </a:pPr>
            <a:r>
              <a:rPr lang="en-US" sz="2800">
                <a:solidFill>
                  <a:srgbClr val="000000"/>
                </a:solidFill>
                <a:latin typeface="Open Sans"/>
                <a:ea typeface="Open Sans"/>
                <a:cs typeface="Open Sans"/>
                <a:sym typeface="Open Sans"/>
              </a:rPr>
              <a:t>Xử lý tương tác người dùng, ví dụ nhấn, nhập dữ liệu.</a:t>
            </a:r>
          </a:p>
          <a:p>
            <a:pPr marL="604521" lvl="1" indent="-302260" algn="just">
              <a:lnSpc>
                <a:spcPts val="6160"/>
              </a:lnSpc>
              <a:buFont typeface="Arial"/>
              <a:buChar char="•"/>
            </a:pPr>
            <a:r>
              <a:rPr lang="en-US" sz="2800">
                <a:solidFill>
                  <a:srgbClr val="000000"/>
                </a:solidFill>
                <a:latin typeface="Open Sans"/>
                <a:ea typeface="Open Sans"/>
                <a:cs typeface="Open Sans"/>
                <a:sym typeface="Open Sans"/>
              </a:rPr>
              <a:t>Thêm các hành vi nâng cao như: click, scroll, drag, zoom.</a:t>
            </a:r>
          </a:p>
          <a:p>
            <a:pPr algn="just">
              <a:lnSpc>
                <a:spcPts val="440"/>
              </a:lnSpc>
            </a:pPr>
            <a:endParaRPr lang="en-US" sz="2800">
              <a:solidFill>
                <a:srgbClr val="000000"/>
              </a:solidFill>
              <a:latin typeface="Open Sans"/>
              <a:ea typeface="Open Sans"/>
              <a:cs typeface="Open Sans"/>
              <a:sym typeface="Open Sans"/>
            </a:endParaRPr>
          </a:p>
          <a:p>
            <a:pPr algn="just">
              <a:lnSpc>
                <a:spcPts val="6160"/>
              </a:lnSpc>
            </a:pPr>
            <a:r>
              <a:rPr lang="en-US" sz="2800">
                <a:solidFill>
                  <a:srgbClr val="000000"/>
                </a:solidFill>
                <a:latin typeface="Open Sans"/>
                <a:ea typeface="Open Sans"/>
                <a:cs typeface="Open Sans"/>
                <a:sym typeface="Open Sans"/>
              </a:rPr>
              <a:t>Modifier là đối tượng chuẩn trong Kotlin và được tạo bằng cách gọi các hàm của lớp Modifier.</a:t>
            </a:r>
          </a:p>
          <a:p>
            <a:pPr algn="just">
              <a:lnSpc>
                <a:spcPts val="6160"/>
              </a:lnSpc>
            </a:pPr>
            <a:endParaRPr lang="en-US" sz="2800">
              <a:solidFill>
                <a:srgbClr val="000000"/>
              </a:solidFill>
              <a:latin typeface="Open Sans"/>
              <a:ea typeface="Open Sans"/>
              <a:cs typeface="Open Sans"/>
              <a:sym typeface="Open Sans"/>
            </a:endParaRPr>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aphicFrame>
        <p:nvGraphicFramePr>
          <p:cNvPr id="5" name="Object 5"/>
          <p:cNvGraphicFramePr/>
          <p:nvPr/>
        </p:nvGraphicFramePr>
        <p:xfrm>
          <a:off x="1180977" y="5916954"/>
          <a:ext cx="1885950" cy="3429000"/>
        </p:xfrm>
        <a:graphic>
          <a:graphicData uri="http://schemas.openxmlformats.org/presentationml/2006/ole">
            <mc:AlternateContent xmlns:mc="http://schemas.openxmlformats.org/markup-compatibility/2006">
              <mc:Choice xmlns:v="urn:schemas-microsoft-com:vml" Requires="v">
                <p:oleObj name="Worksheet" r:id="rId2" imgW="2565400" imgH="4114800" progId="Excel.Sheet.12">
                  <p:embed/>
                </p:oleObj>
              </mc:Choice>
              <mc:Fallback>
                <p:oleObj name="Worksheet" r:id="rId2" imgW="2565400" imgH="4114800" progId="Excel.Sheet.12">
                  <p:embed/>
                  <p:pic>
                    <p:nvPicPr>
                      <p:cNvPr id="0" name=""/>
                      <p:cNvPicPr/>
                      <p:nvPr/>
                    </p:nvPicPr>
                    <p:blipFill>
                      <a:blip r:embed="rId3"/>
                      <a:stretch>
                        <a:fillRect/>
                      </a:stretch>
                    </p:blipFill>
                    <p:spPr>
                      <a:xfrm>
                        <a:off x="1180977" y="5916954"/>
                        <a:ext cx="1885950" cy="3429000"/>
                      </a:xfrm>
                      <a:prstGeom prst="rect">
                        <a:avLst/>
                      </a:prstGeom>
                    </p:spPr>
                  </p:pic>
                </p:oleObj>
              </mc:Fallback>
            </mc:AlternateContent>
          </a:graphicData>
        </a:graphic>
      </p:graphicFrame>
      <p:graphicFrame>
        <p:nvGraphicFramePr>
          <p:cNvPr id="6" name="Object 6"/>
          <p:cNvGraphicFramePr/>
          <p:nvPr/>
        </p:nvGraphicFramePr>
        <p:xfrm>
          <a:off x="1180977" y="2467331"/>
          <a:ext cx="1885950" cy="3429000"/>
        </p:xfrm>
        <a:graphic>
          <a:graphicData uri="http://schemas.openxmlformats.org/presentationml/2006/ole">
            <mc:AlternateContent xmlns:mc="http://schemas.openxmlformats.org/markup-compatibility/2006">
              <mc:Choice xmlns:v="urn:schemas-microsoft-com:vml" Requires="v">
                <p:oleObj name="Worksheet" r:id="rId4" imgW="2565400" imgH="4114800" progId="Excel.Sheet.12">
                  <p:embed/>
                </p:oleObj>
              </mc:Choice>
              <mc:Fallback>
                <p:oleObj name="Worksheet" r:id="rId4" imgW="2565400" imgH="4114800" progId="Excel.Sheet.12">
                  <p:embed/>
                  <p:pic>
                    <p:nvPicPr>
                      <p:cNvPr id="0" name=""/>
                      <p:cNvPicPr/>
                      <p:nvPr/>
                    </p:nvPicPr>
                    <p:blipFill>
                      <a:blip r:embed="rId5"/>
                      <a:stretch>
                        <a:fillRect/>
                      </a:stretch>
                    </p:blipFill>
                    <p:spPr>
                      <a:xfrm>
                        <a:off x="1180977" y="2467331"/>
                        <a:ext cx="1885950" cy="3429000"/>
                      </a:xfrm>
                      <a:prstGeom prst="rect">
                        <a:avLst/>
                      </a:prstGeom>
                    </p:spPr>
                  </p:pic>
                </p:oleObj>
              </mc:Fallback>
            </mc:AlternateContent>
          </a:graphicData>
        </a:graphic>
      </p:graphicFrame>
      <p:sp>
        <p:nvSpPr>
          <p:cNvPr id="7" name="Freeform 7"/>
          <p:cNvSpPr/>
          <p:nvPr/>
        </p:nvSpPr>
        <p:spPr>
          <a:xfrm>
            <a:off x="11098649" y="2002344"/>
            <a:ext cx="6160651" cy="3074481"/>
          </a:xfrm>
          <a:custGeom>
            <a:avLst/>
            <a:gdLst/>
            <a:ahLst/>
            <a:cxnLst/>
            <a:rect l="l" t="t" r="r" b="b"/>
            <a:pathLst>
              <a:path w="6160651" h="3074481">
                <a:moveTo>
                  <a:pt x="0" y="0"/>
                </a:moveTo>
                <a:lnTo>
                  <a:pt x="6160651" y="0"/>
                </a:lnTo>
                <a:lnTo>
                  <a:pt x="6160651" y="3074481"/>
                </a:lnTo>
                <a:lnTo>
                  <a:pt x="0" y="3074481"/>
                </a:lnTo>
                <a:lnTo>
                  <a:pt x="0" y="0"/>
                </a:lnTo>
                <a:close/>
              </a:path>
            </a:pathLst>
          </a:custGeom>
          <a:blipFill>
            <a:blip r:embed="rId6"/>
            <a:stretch>
              <a:fillRect t="-1347" b="-1347"/>
            </a:stretch>
          </a:blipFill>
        </p:spPr>
        <p:txBody>
          <a:bodyPr/>
          <a:lstStyle/>
          <a:p>
            <a:endParaRPr lang="en-US"/>
          </a:p>
        </p:txBody>
      </p:sp>
      <p:sp>
        <p:nvSpPr>
          <p:cNvPr id="8" name="Freeform 8"/>
          <p:cNvSpPr/>
          <p:nvPr/>
        </p:nvSpPr>
        <p:spPr>
          <a:xfrm>
            <a:off x="11098649" y="6301030"/>
            <a:ext cx="6160651" cy="3149633"/>
          </a:xfrm>
          <a:custGeom>
            <a:avLst/>
            <a:gdLst/>
            <a:ahLst/>
            <a:cxnLst/>
            <a:rect l="l" t="t" r="r" b="b"/>
            <a:pathLst>
              <a:path w="6160651" h="3149633">
                <a:moveTo>
                  <a:pt x="0" y="0"/>
                </a:moveTo>
                <a:lnTo>
                  <a:pt x="6160651" y="0"/>
                </a:lnTo>
                <a:lnTo>
                  <a:pt x="6160651" y="3149633"/>
                </a:lnTo>
                <a:lnTo>
                  <a:pt x="0" y="3149633"/>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347" y="2171277"/>
            <a:ext cx="4823296" cy="830836"/>
            <a:chOff x="0" y="0"/>
            <a:chExt cx="2472472" cy="425895"/>
          </a:xfrm>
        </p:grpSpPr>
        <p:sp>
          <p:nvSpPr>
            <p:cNvPr id="6" name="Freeform 6"/>
            <p:cNvSpPr/>
            <p:nvPr/>
          </p:nvSpPr>
          <p:spPr>
            <a:xfrm>
              <a:off x="0" y="0"/>
              <a:ext cx="2472473" cy="425895"/>
            </a:xfrm>
            <a:custGeom>
              <a:avLst/>
              <a:gdLst/>
              <a:ahLst/>
              <a:cxnLst/>
              <a:rect l="l" t="t" r="r" b="b"/>
              <a:pathLst>
                <a:path w="2472473" h="425895">
                  <a:moveTo>
                    <a:pt x="2269273" y="0"/>
                  </a:moveTo>
                  <a:cubicBezTo>
                    <a:pt x="2381497" y="0"/>
                    <a:pt x="2472473" y="95340"/>
                    <a:pt x="2472473" y="212948"/>
                  </a:cubicBezTo>
                  <a:cubicBezTo>
                    <a:pt x="2472473" y="330556"/>
                    <a:pt x="2381497" y="425895"/>
                    <a:pt x="2269273"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47625"/>
              <a:ext cx="2472472"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Basic UI Components </a:t>
              </a:r>
            </a:p>
          </p:txBody>
        </p:sp>
      </p:grpSp>
      <p:sp>
        <p:nvSpPr>
          <p:cNvPr id="8" name="Freeform 8"/>
          <p:cNvSpPr/>
          <p:nvPr/>
        </p:nvSpPr>
        <p:spPr>
          <a:xfrm>
            <a:off x="13858310" y="2974566"/>
            <a:ext cx="3543865" cy="2002397"/>
          </a:xfrm>
          <a:custGeom>
            <a:avLst/>
            <a:gdLst/>
            <a:ahLst/>
            <a:cxnLst/>
            <a:rect l="l" t="t" r="r" b="b"/>
            <a:pathLst>
              <a:path w="3543865" h="2002397">
                <a:moveTo>
                  <a:pt x="0" y="0"/>
                </a:moveTo>
                <a:lnTo>
                  <a:pt x="3543865" y="0"/>
                </a:lnTo>
                <a:lnTo>
                  <a:pt x="3543865" y="2002397"/>
                </a:lnTo>
                <a:lnTo>
                  <a:pt x="0" y="2002397"/>
                </a:lnTo>
                <a:lnTo>
                  <a:pt x="0" y="0"/>
                </a:lnTo>
                <a:close/>
              </a:path>
            </a:pathLst>
          </a:custGeom>
          <a:blipFill>
            <a:blip r:embed="rId2"/>
            <a:stretch>
              <a:fillRect/>
            </a:stretch>
          </a:blipFill>
        </p:spPr>
        <p:txBody>
          <a:bodyPr/>
          <a:lstStyle/>
          <a:p>
            <a:endParaRPr lang="en-US"/>
          </a:p>
        </p:txBody>
      </p:sp>
      <p:sp>
        <p:nvSpPr>
          <p:cNvPr id="9" name="Freeform 9"/>
          <p:cNvSpPr/>
          <p:nvPr/>
        </p:nvSpPr>
        <p:spPr>
          <a:xfrm>
            <a:off x="9220200" y="6639080"/>
            <a:ext cx="5106568" cy="2884697"/>
          </a:xfrm>
          <a:custGeom>
            <a:avLst/>
            <a:gdLst/>
            <a:ahLst/>
            <a:cxnLst/>
            <a:rect l="l" t="t" r="r" b="b"/>
            <a:pathLst>
              <a:path w="5106568" h="2884697">
                <a:moveTo>
                  <a:pt x="0" y="0"/>
                </a:moveTo>
                <a:lnTo>
                  <a:pt x="5106568" y="0"/>
                </a:lnTo>
                <a:lnTo>
                  <a:pt x="5106568" y="2884697"/>
                </a:lnTo>
                <a:lnTo>
                  <a:pt x="0" y="2884697"/>
                </a:lnTo>
                <a:lnTo>
                  <a:pt x="0" y="0"/>
                </a:lnTo>
                <a:close/>
              </a:path>
            </a:pathLst>
          </a:custGeom>
          <a:blipFill>
            <a:blip r:embed="rId3"/>
            <a:stretch>
              <a:fillRect/>
            </a:stretch>
          </a:blipFill>
        </p:spPr>
        <p:txBody>
          <a:bodyPr/>
          <a:lstStyle/>
          <a:p>
            <a:endParaRPr lang="en-US"/>
          </a:p>
        </p:txBody>
      </p:sp>
      <p:sp>
        <p:nvSpPr>
          <p:cNvPr id="10" name="Freeform 10"/>
          <p:cNvSpPr/>
          <p:nvPr/>
        </p:nvSpPr>
        <p:spPr>
          <a:xfrm>
            <a:off x="13858310" y="5405588"/>
            <a:ext cx="3543865" cy="1612777"/>
          </a:xfrm>
          <a:custGeom>
            <a:avLst/>
            <a:gdLst/>
            <a:ahLst/>
            <a:cxnLst/>
            <a:rect l="l" t="t" r="r" b="b"/>
            <a:pathLst>
              <a:path w="3543865" h="1612777">
                <a:moveTo>
                  <a:pt x="0" y="0"/>
                </a:moveTo>
                <a:lnTo>
                  <a:pt x="3543865" y="0"/>
                </a:lnTo>
                <a:lnTo>
                  <a:pt x="3543865" y="1612777"/>
                </a:lnTo>
                <a:lnTo>
                  <a:pt x="0" y="1612777"/>
                </a:lnTo>
                <a:lnTo>
                  <a:pt x="0" y="0"/>
                </a:lnTo>
                <a:close/>
              </a:path>
            </a:pathLst>
          </a:custGeom>
          <a:blipFill>
            <a:blip r:embed="rId4"/>
            <a:stretch>
              <a:fillRect/>
            </a:stretch>
          </a:blipFill>
        </p:spPr>
        <p:txBody>
          <a:bodyPr/>
          <a:lstStyle/>
          <a:p>
            <a:endParaRPr lang="en-US"/>
          </a:p>
        </p:txBody>
      </p:sp>
      <p:sp>
        <p:nvSpPr>
          <p:cNvPr id="11" name="Freeform 11"/>
          <p:cNvSpPr/>
          <p:nvPr/>
        </p:nvSpPr>
        <p:spPr>
          <a:xfrm>
            <a:off x="13858310" y="7447294"/>
            <a:ext cx="3543865" cy="2076483"/>
          </a:xfrm>
          <a:custGeom>
            <a:avLst/>
            <a:gdLst/>
            <a:ahLst/>
            <a:cxnLst/>
            <a:rect l="l" t="t" r="r" b="b"/>
            <a:pathLst>
              <a:path w="3543865" h="2076483">
                <a:moveTo>
                  <a:pt x="0" y="0"/>
                </a:moveTo>
                <a:lnTo>
                  <a:pt x="3543865" y="0"/>
                </a:lnTo>
                <a:lnTo>
                  <a:pt x="3543865" y="2076483"/>
                </a:lnTo>
                <a:lnTo>
                  <a:pt x="0" y="2076483"/>
                </a:lnTo>
                <a:lnTo>
                  <a:pt x="0" y="0"/>
                </a:lnTo>
                <a:close/>
              </a:path>
            </a:pathLst>
          </a:custGeom>
          <a:blipFill>
            <a:blip r:embed="rId5"/>
            <a:stretch>
              <a:fillRect/>
            </a:stretch>
          </a:blipFill>
        </p:spPr>
        <p:txBody>
          <a:bodyPr/>
          <a:lstStyle/>
          <a:p>
            <a:endParaRPr lang="en-US"/>
          </a:p>
        </p:txBody>
      </p:sp>
      <p:sp>
        <p:nvSpPr>
          <p:cNvPr id="12" name="TextBox 12"/>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
        <p:nvSpPr>
          <p:cNvPr id="13" name="TextBox 13"/>
          <p:cNvSpPr txBox="1"/>
          <p:nvPr/>
        </p:nvSpPr>
        <p:spPr>
          <a:xfrm>
            <a:off x="763347" y="3364063"/>
            <a:ext cx="11421191" cy="3816350"/>
          </a:xfrm>
          <a:prstGeom prst="rect">
            <a:avLst/>
          </a:prstGeom>
        </p:spPr>
        <p:txBody>
          <a:bodyPr lIns="0" tIns="0" rIns="0" bIns="0" rtlCol="0" anchor="t">
            <a:spAutoFit/>
          </a:bodyPr>
          <a:lstStyle/>
          <a:p>
            <a:pPr algn="just">
              <a:lnSpc>
                <a:spcPts val="6159"/>
              </a:lnSpc>
            </a:pPr>
            <a:r>
              <a:rPr lang="en-US" sz="2799">
                <a:solidFill>
                  <a:srgbClr val="000000"/>
                </a:solidFill>
                <a:latin typeface="Open Sans"/>
                <a:ea typeface="Open Sans"/>
                <a:cs typeface="Open Sans"/>
                <a:sym typeface="Open Sans"/>
              </a:rPr>
              <a:t>Basic UI Components là các thành phần giao diện cơ bản trong Jetpack Compose, được thiết kế để hiển thị nội dung, nhận và phản hồi tương tác của người dùng, đồng thời hoạt động mượt mà theo chuẩn Material Design.</a:t>
            </a:r>
          </a:p>
          <a:p>
            <a:pPr algn="just">
              <a:lnSpc>
                <a:spcPts val="6159"/>
              </a:lnSpc>
            </a:pPr>
            <a:endParaRPr lang="en-US" sz="2799">
              <a:solidFill>
                <a:srgbClr val="000000"/>
              </a:solidFill>
              <a:latin typeface="Open Sans"/>
              <a:ea typeface="Open Sans"/>
              <a:cs typeface="Open Sans"/>
              <a:sym typeface="Open Sans"/>
            </a:endParaRP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347" y="2171277"/>
            <a:ext cx="3405775" cy="830836"/>
            <a:chOff x="0" y="0"/>
            <a:chExt cx="1745836" cy="425895"/>
          </a:xfrm>
        </p:grpSpPr>
        <p:sp>
          <p:nvSpPr>
            <p:cNvPr id="6" name="Freeform 6"/>
            <p:cNvSpPr/>
            <p:nvPr/>
          </p:nvSpPr>
          <p:spPr>
            <a:xfrm>
              <a:off x="0" y="0"/>
              <a:ext cx="1745836" cy="425895"/>
            </a:xfrm>
            <a:custGeom>
              <a:avLst/>
              <a:gdLst/>
              <a:ahLst/>
              <a:cxnLst/>
              <a:rect l="l" t="t" r="r" b="b"/>
              <a:pathLst>
                <a:path w="1745836" h="425895">
                  <a:moveTo>
                    <a:pt x="1542636" y="0"/>
                  </a:moveTo>
                  <a:cubicBezTo>
                    <a:pt x="1654861" y="0"/>
                    <a:pt x="1745836" y="95340"/>
                    <a:pt x="1745836" y="212948"/>
                  </a:cubicBezTo>
                  <a:cubicBezTo>
                    <a:pt x="1745836" y="330556"/>
                    <a:pt x="1654861" y="425895"/>
                    <a:pt x="1542636"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47625"/>
              <a:ext cx="1745836"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Navigation</a:t>
              </a:r>
            </a:p>
          </p:txBody>
        </p:sp>
      </p:grpSp>
      <p:sp>
        <p:nvSpPr>
          <p:cNvPr id="8" name="Freeform 8"/>
          <p:cNvSpPr/>
          <p:nvPr/>
        </p:nvSpPr>
        <p:spPr>
          <a:xfrm>
            <a:off x="763347" y="7060251"/>
            <a:ext cx="5005181" cy="1309302"/>
          </a:xfrm>
          <a:custGeom>
            <a:avLst/>
            <a:gdLst/>
            <a:ahLst/>
            <a:cxnLst/>
            <a:rect l="l" t="t" r="r" b="b"/>
            <a:pathLst>
              <a:path w="5005181" h="1309302">
                <a:moveTo>
                  <a:pt x="0" y="0"/>
                </a:moveTo>
                <a:lnTo>
                  <a:pt x="5005181" y="0"/>
                </a:lnTo>
                <a:lnTo>
                  <a:pt x="5005181" y="1309302"/>
                </a:lnTo>
                <a:lnTo>
                  <a:pt x="0" y="1309302"/>
                </a:lnTo>
                <a:lnTo>
                  <a:pt x="0" y="0"/>
                </a:lnTo>
                <a:close/>
              </a:path>
            </a:pathLst>
          </a:custGeom>
          <a:blipFill>
            <a:blip r:embed="rId2"/>
            <a:stretch>
              <a:fillRect/>
            </a:stretch>
          </a:blipFill>
        </p:spPr>
        <p:txBody>
          <a:bodyPr/>
          <a:lstStyle/>
          <a:p>
            <a:endParaRPr lang="en-US"/>
          </a:p>
        </p:txBody>
      </p:sp>
      <p:sp>
        <p:nvSpPr>
          <p:cNvPr id="9" name="Freeform 9"/>
          <p:cNvSpPr/>
          <p:nvPr/>
        </p:nvSpPr>
        <p:spPr>
          <a:xfrm>
            <a:off x="7553768" y="6410339"/>
            <a:ext cx="5088444" cy="2609125"/>
          </a:xfrm>
          <a:custGeom>
            <a:avLst/>
            <a:gdLst/>
            <a:ahLst/>
            <a:cxnLst/>
            <a:rect l="l" t="t" r="r" b="b"/>
            <a:pathLst>
              <a:path w="5088444" h="2609125">
                <a:moveTo>
                  <a:pt x="0" y="0"/>
                </a:moveTo>
                <a:lnTo>
                  <a:pt x="5088443" y="0"/>
                </a:lnTo>
                <a:lnTo>
                  <a:pt x="5088443" y="2609126"/>
                </a:lnTo>
                <a:lnTo>
                  <a:pt x="0" y="2609126"/>
                </a:lnTo>
                <a:lnTo>
                  <a:pt x="0" y="0"/>
                </a:lnTo>
                <a:close/>
              </a:path>
            </a:pathLst>
          </a:custGeom>
          <a:blipFill>
            <a:blip r:embed="rId3"/>
            <a:stretch>
              <a:fillRect/>
            </a:stretch>
          </a:blipFill>
        </p:spPr>
        <p:txBody>
          <a:bodyPr/>
          <a:lstStyle/>
          <a:p>
            <a:endParaRPr lang="en-US"/>
          </a:p>
        </p:txBody>
      </p:sp>
      <p:sp>
        <p:nvSpPr>
          <p:cNvPr id="10" name="Freeform 10"/>
          <p:cNvSpPr/>
          <p:nvPr/>
        </p:nvSpPr>
        <p:spPr>
          <a:xfrm>
            <a:off x="14735441" y="6008838"/>
            <a:ext cx="889221" cy="3412127"/>
          </a:xfrm>
          <a:custGeom>
            <a:avLst/>
            <a:gdLst/>
            <a:ahLst/>
            <a:cxnLst/>
            <a:rect l="l" t="t" r="r" b="b"/>
            <a:pathLst>
              <a:path w="889221" h="3412127">
                <a:moveTo>
                  <a:pt x="0" y="0"/>
                </a:moveTo>
                <a:lnTo>
                  <a:pt x="889221" y="0"/>
                </a:lnTo>
                <a:lnTo>
                  <a:pt x="889221" y="3412128"/>
                </a:lnTo>
                <a:lnTo>
                  <a:pt x="0" y="3412128"/>
                </a:lnTo>
                <a:lnTo>
                  <a:pt x="0" y="0"/>
                </a:lnTo>
                <a:close/>
              </a:path>
            </a:pathLst>
          </a:custGeom>
          <a:blipFill>
            <a:blip r:embed="rId4"/>
            <a:stretch>
              <a:fillRect/>
            </a:stretch>
          </a:blipFill>
        </p:spPr>
        <p:txBody>
          <a:bodyPr/>
          <a:lstStyle/>
          <a:p>
            <a:endParaRPr lang="en-US"/>
          </a:p>
        </p:txBody>
      </p:sp>
      <p:sp>
        <p:nvSpPr>
          <p:cNvPr id="11" name="TextBox 11"/>
          <p:cNvSpPr txBox="1"/>
          <p:nvPr/>
        </p:nvSpPr>
        <p:spPr>
          <a:xfrm>
            <a:off x="763347" y="3240238"/>
            <a:ext cx="16760426" cy="3035300"/>
          </a:xfrm>
          <a:prstGeom prst="rect">
            <a:avLst/>
          </a:prstGeom>
        </p:spPr>
        <p:txBody>
          <a:bodyPr lIns="0" tIns="0" rIns="0" bIns="0" rtlCol="0" anchor="t">
            <a:spAutoFit/>
          </a:bodyPr>
          <a:lstStyle/>
          <a:p>
            <a:pPr algn="just">
              <a:lnSpc>
                <a:spcPts val="6159"/>
              </a:lnSpc>
            </a:pPr>
            <a:r>
              <a:rPr lang="en-US" sz="2799">
                <a:solidFill>
                  <a:srgbClr val="000000"/>
                </a:solidFill>
                <a:latin typeface="Open Sans"/>
                <a:ea typeface="Open Sans"/>
                <a:cs typeface="Open Sans"/>
                <a:sym typeface="Open Sans"/>
              </a:rPr>
              <a:t>Navigation Compose là thư viện chính thức, tích hợp trực tiếp vào Compose.</a:t>
            </a:r>
          </a:p>
          <a:p>
            <a:pPr algn="just">
              <a:lnSpc>
                <a:spcPts val="6159"/>
              </a:lnSpc>
            </a:pPr>
            <a:r>
              <a:rPr lang="en-US" sz="2799">
                <a:solidFill>
                  <a:srgbClr val="000000"/>
                </a:solidFill>
                <a:latin typeface="Open Sans"/>
                <a:ea typeface="Open Sans"/>
                <a:cs typeface="Open Sans"/>
                <a:sym typeface="Open Sans"/>
              </a:rPr>
              <a:t>Cho phép định nghĩa các màn hình và chuyển đổi giữa chúng dễ dàng.</a:t>
            </a:r>
          </a:p>
          <a:p>
            <a:pPr algn="just">
              <a:lnSpc>
                <a:spcPts val="6159"/>
              </a:lnSpc>
            </a:pPr>
            <a:r>
              <a:rPr lang="en-US" sz="2799">
                <a:solidFill>
                  <a:srgbClr val="000000"/>
                </a:solidFill>
                <a:latin typeface="Open Sans"/>
                <a:ea typeface="Open Sans"/>
                <a:cs typeface="Open Sans"/>
                <a:sym typeface="Open Sans"/>
              </a:rPr>
              <a:t>Quản lý back stack và vòng đời của các Composable, giảm phức tạp so với Fragment truyền thống.</a:t>
            </a:r>
          </a:p>
          <a:p>
            <a:pPr algn="just">
              <a:lnSpc>
                <a:spcPts val="6159"/>
              </a:lnSpc>
            </a:pPr>
            <a:endParaRPr lang="en-US" sz="2799">
              <a:solidFill>
                <a:srgbClr val="000000"/>
              </a:solidFill>
              <a:latin typeface="Open Sans"/>
              <a:ea typeface="Open Sans"/>
              <a:cs typeface="Open Sans"/>
              <a:sym typeface="Open Sans"/>
            </a:endParaRPr>
          </a:p>
        </p:txBody>
      </p:sp>
      <p:sp>
        <p:nvSpPr>
          <p:cNvPr id="12" name="TextBox 12"/>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
        <p:nvSpPr>
          <p:cNvPr id="13" name="TextBox 13"/>
          <p:cNvSpPr txBox="1"/>
          <p:nvPr/>
        </p:nvSpPr>
        <p:spPr>
          <a:xfrm>
            <a:off x="14011925" y="9326601"/>
            <a:ext cx="2812505" cy="692150"/>
          </a:xfrm>
          <a:prstGeom prst="rect">
            <a:avLst/>
          </a:prstGeom>
        </p:spPr>
        <p:txBody>
          <a:bodyPr lIns="0" tIns="0" rIns="0" bIns="0" rtlCol="0" anchor="t">
            <a:spAutoFit/>
          </a:bodyPr>
          <a:lstStyle/>
          <a:p>
            <a:pPr algn="just">
              <a:lnSpc>
                <a:spcPts val="6159"/>
              </a:lnSpc>
            </a:pPr>
            <a:r>
              <a:rPr lang="en-US" sz="2799">
                <a:solidFill>
                  <a:srgbClr val="000000"/>
                </a:solidFill>
                <a:latin typeface="Open Sans"/>
                <a:ea typeface="Open Sans"/>
                <a:cs typeface="Open Sans"/>
                <a:sym typeface="Open Sans"/>
              </a:rPr>
              <a:t>Navigation rail</a:t>
            </a:r>
          </a:p>
        </p:txBody>
      </p:sp>
      <p:sp>
        <p:nvSpPr>
          <p:cNvPr id="14" name="TextBox 14"/>
          <p:cNvSpPr txBox="1"/>
          <p:nvPr/>
        </p:nvSpPr>
        <p:spPr>
          <a:xfrm>
            <a:off x="8365723" y="9326601"/>
            <a:ext cx="3750283" cy="692150"/>
          </a:xfrm>
          <a:prstGeom prst="rect">
            <a:avLst/>
          </a:prstGeom>
        </p:spPr>
        <p:txBody>
          <a:bodyPr lIns="0" tIns="0" rIns="0" bIns="0" rtlCol="0" anchor="t">
            <a:spAutoFit/>
          </a:bodyPr>
          <a:lstStyle/>
          <a:p>
            <a:pPr algn="ctr">
              <a:lnSpc>
                <a:spcPts val="6159"/>
              </a:lnSpc>
            </a:pPr>
            <a:r>
              <a:rPr lang="en-US" sz="2799">
                <a:solidFill>
                  <a:srgbClr val="000000"/>
                </a:solidFill>
                <a:latin typeface="Open Sans"/>
                <a:ea typeface="Open Sans"/>
                <a:cs typeface="Open Sans"/>
                <a:sym typeface="Open Sans"/>
              </a:rPr>
              <a:t>Navigation drawer</a:t>
            </a:r>
          </a:p>
        </p:txBody>
      </p:sp>
      <p:sp>
        <p:nvSpPr>
          <p:cNvPr id="15" name="TextBox 15"/>
          <p:cNvSpPr txBox="1"/>
          <p:nvPr/>
        </p:nvSpPr>
        <p:spPr>
          <a:xfrm>
            <a:off x="2050676" y="9326601"/>
            <a:ext cx="2430523" cy="692150"/>
          </a:xfrm>
          <a:prstGeom prst="rect">
            <a:avLst/>
          </a:prstGeom>
        </p:spPr>
        <p:txBody>
          <a:bodyPr lIns="0" tIns="0" rIns="0" bIns="0" rtlCol="0" anchor="t">
            <a:spAutoFit/>
          </a:bodyPr>
          <a:lstStyle/>
          <a:p>
            <a:pPr algn="just">
              <a:lnSpc>
                <a:spcPts val="6159"/>
              </a:lnSpc>
            </a:pPr>
            <a:r>
              <a:rPr lang="en-US" sz="2799">
                <a:solidFill>
                  <a:srgbClr val="000000"/>
                </a:solidFill>
                <a:latin typeface="Open Sans"/>
                <a:ea typeface="Open Sans"/>
                <a:cs typeface="Open Sans"/>
                <a:sym typeface="Open Sans"/>
              </a:rPr>
              <a:t>Navigation bar</a:t>
            </a:r>
          </a:p>
        </p:txBody>
      </p:sp>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347" y="2171277"/>
            <a:ext cx="5385416" cy="830836"/>
            <a:chOff x="0" y="0"/>
            <a:chExt cx="2760621" cy="425895"/>
          </a:xfrm>
        </p:grpSpPr>
        <p:sp>
          <p:nvSpPr>
            <p:cNvPr id="6" name="Freeform 6"/>
            <p:cNvSpPr/>
            <p:nvPr/>
          </p:nvSpPr>
          <p:spPr>
            <a:xfrm>
              <a:off x="0" y="0"/>
              <a:ext cx="2760621" cy="425895"/>
            </a:xfrm>
            <a:custGeom>
              <a:avLst/>
              <a:gdLst/>
              <a:ahLst/>
              <a:cxnLst/>
              <a:rect l="l" t="t" r="r" b="b"/>
              <a:pathLst>
                <a:path w="2760621" h="425895">
                  <a:moveTo>
                    <a:pt x="2557421" y="0"/>
                  </a:moveTo>
                  <a:cubicBezTo>
                    <a:pt x="2669646" y="0"/>
                    <a:pt x="2760621" y="95340"/>
                    <a:pt x="2760621" y="212948"/>
                  </a:cubicBezTo>
                  <a:cubicBezTo>
                    <a:pt x="2760621" y="330556"/>
                    <a:pt x="2669646" y="425895"/>
                    <a:pt x="2557421"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47625"/>
              <a:ext cx="2760621"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Themes &amp; Material Design</a:t>
              </a:r>
            </a:p>
          </p:txBody>
        </p:sp>
      </p:grpSp>
      <p:sp>
        <p:nvSpPr>
          <p:cNvPr id="8" name="Freeform 8"/>
          <p:cNvSpPr/>
          <p:nvPr/>
        </p:nvSpPr>
        <p:spPr>
          <a:xfrm>
            <a:off x="12385992" y="3521411"/>
            <a:ext cx="9380406" cy="5276478"/>
          </a:xfrm>
          <a:custGeom>
            <a:avLst/>
            <a:gdLst/>
            <a:ahLst/>
            <a:cxnLst/>
            <a:rect l="l" t="t" r="r" b="b"/>
            <a:pathLst>
              <a:path w="9380406" h="5276478">
                <a:moveTo>
                  <a:pt x="0" y="0"/>
                </a:moveTo>
                <a:lnTo>
                  <a:pt x="9380406" y="0"/>
                </a:lnTo>
                <a:lnTo>
                  <a:pt x="9380406" y="5276479"/>
                </a:lnTo>
                <a:lnTo>
                  <a:pt x="0" y="5276479"/>
                </a:lnTo>
                <a:lnTo>
                  <a:pt x="0" y="0"/>
                </a:lnTo>
                <a:close/>
              </a:path>
            </a:pathLst>
          </a:custGeom>
          <a:blipFill>
            <a:blip r:embed="rId2"/>
            <a:stretch>
              <a:fillRect/>
            </a:stretch>
          </a:blipFill>
        </p:spPr>
        <p:txBody>
          <a:bodyPr/>
          <a:lstStyle/>
          <a:p>
            <a:endParaRPr lang="en-US"/>
          </a:p>
        </p:txBody>
      </p:sp>
      <p:sp>
        <p:nvSpPr>
          <p:cNvPr id="9" name="TextBox 9"/>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4. CÁC THÀNH PHẦN QUAN TRỌNG TRONG COMPOSE</a:t>
            </a:r>
          </a:p>
        </p:txBody>
      </p:sp>
      <p:sp>
        <p:nvSpPr>
          <p:cNvPr id="10" name="TextBox 10"/>
          <p:cNvSpPr txBox="1"/>
          <p:nvPr/>
        </p:nvSpPr>
        <p:spPr>
          <a:xfrm>
            <a:off x="763347" y="3297388"/>
            <a:ext cx="11212544" cy="5191125"/>
          </a:xfrm>
          <a:prstGeom prst="rect">
            <a:avLst/>
          </a:prstGeom>
        </p:spPr>
        <p:txBody>
          <a:bodyPr lIns="0" tIns="0" rIns="0" bIns="0" rtlCol="0" anchor="t">
            <a:spAutoFit/>
          </a:bodyPr>
          <a:lstStyle/>
          <a:p>
            <a:pPr algn="just">
              <a:lnSpc>
                <a:spcPts val="5940"/>
              </a:lnSpc>
            </a:pPr>
            <a:r>
              <a:rPr lang="en-US" sz="2700">
                <a:solidFill>
                  <a:srgbClr val="000000"/>
                </a:solidFill>
                <a:latin typeface="Open Sans"/>
                <a:ea typeface="Open Sans"/>
                <a:cs typeface="Open Sans"/>
                <a:sym typeface="Open Sans"/>
              </a:rPr>
              <a:t>Hệ thống Theming trong Compose giúp tạo giao diện nhất quán và đồng bộ cho toàn ứng dụng.</a:t>
            </a:r>
          </a:p>
          <a:p>
            <a:pPr algn="just">
              <a:lnSpc>
                <a:spcPts val="5940"/>
              </a:lnSpc>
            </a:pPr>
            <a:r>
              <a:rPr lang="en-US" sz="2700">
                <a:solidFill>
                  <a:srgbClr val="000000"/>
                </a:solidFill>
                <a:latin typeface="Open Sans"/>
                <a:ea typeface="Open Sans"/>
                <a:cs typeface="Open Sans"/>
                <a:sym typeface="Open Sans"/>
              </a:rPr>
              <a:t>MaterialTheme quản lý giao diện với 3 thuộc tính chính:</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ColorScheme – bảng màu (Primary, Secondary, Error…).</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Typography – hệ thống font chữ (Headlines, Body, Captions…).</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Shape – hình dạng, bo góc cho các thành phần (nút, card, dialog…).</a:t>
            </a:r>
          </a:p>
          <a:p>
            <a:pPr algn="just">
              <a:lnSpc>
                <a:spcPts val="5940"/>
              </a:lnSpc>
            </a:pPr>
            <a:r>
              <a:rPr lang="en-US" sz="2700">
                <a:solidFill>
                  <a:srgbClr val="000000"/>
                </a:solidFill>
                <a:latin typeface="Open Sans"/>
                <a:ea typeface="Open Sans"/>
                <a:cs typeface="Open Sans"/>
                <a:sym typeface="Open Sans"/>
              </a:rPr>
              <a:t>Hỗ trợ Dark Mode – tự động chuyển đổi giữa chế độ sáng và tối.</a:t>
            </a:r>
          </a:p>
        </p:txBody>
      </p:sp>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763347" y="410282"/>
            <a:ext cx="13828491"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5. VÒNG ĐỜI COMPOSABLE VÀ QUẢN LÝ TRẠNG THÁI</a:t>
            </a:r>
          </a:p>
        </p:txBody>
      </p:sp>
      <p:grpSp>
        <p:nvGrpSpPr>
          <p:cNvPr id="6" name="Group 6"/>
          <p:cNvGrpSpPr/>
          <p:nvPr/>
        </p:nvGrpSpPr>
        <p:grpSpPr>
          <a:xfrm>
            <a:off x="763347" y="2171277"/>
            <a:ext cx="4011154" cy="830836"/>
            <a:chOff x="0" y="0"/>
            <a:chExt cx="2056160" cy="425895"/>
          </a:xfrm>
        </p:grpSpPr>
        <p:sp>
          <p:nvSpPr>
            <p:cNvPr id="7" name="Freeform 7"/>
            <p:cNvSpPr/>
            <p:nvPr/>
          </p:nvSpPr>
          <p:spPr>
            <a:xfrm>
              <a:off x="0" y="0"/>
              <a:ext cx="2056160" cy="425895"/>
            </a:xfrm>
            <a:custGeom>
              <a:avLst/>
              <a:gdLst/>
              <a:ahLst/>
              <a:cxnLst/>
              <a:rect l="l" t="t" r="r" b="b"/>
              <a:pathLst>
                <a:path w="2056160" h="425895">
                  <a:moveTo>
                    <a:pt x="1852960" y="0"/>
                  </a:moveTo>
                  <a:cubicBezTo>
                    <a:pt x="1965184" y="0"/>
                    <a:pt x="2056160" y="95340"/>
                    <a:pt x="2056160" y="212948"/>
                  </a:cubicBezTo>
                  <a:cubicBezTo>
                    <a:pt x="2056160" y="330556"/>
                    <a:pt x="1965184" y="425895"/>
                    <a:pt x="1852960"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8" name="TextBox 8"/>
            <p:cNvSpPr txBox="1"/>
            <p:nvPr/>
          </p:nvSpPr>
          <p:spPr>
            <a:xfrm>
              <a:off x="0" y="-47625"/>
              <a:ext cx="2056160" cy="473520"/>
            </a:xfrm>
            <a:prstGeom prst="rect">
              <a:avLst/>
            </a:prstGeom>
          </p:spPr>
          <p:txBody>
            <a:bodyPr lIns="50800" tIns="50800" rIns="50800" bIns="50800" rtlCol="0" anchor="ctr"/>
            <a:lstStyle/>
            <a:p>
              <a:pPr algn="ctr">
                <a:lnSpc>
                  <a:spcPts val="3499"/>
                </a:lnSpc>
              </a:pPr>
              <a:r>
                <a:rPr lang="en-US" sz="2499" b="1">
                  <a:solidFill>
                    <a:srgbClr val="FFFFFF"/>
                  </a:solidFill>
                  <a:latin typeface="Garet Bold"/>
                  <a:ea typeface="Garet Bold"/>
                  <a:cs typeface="Garet Bold"/>
                  <a:sym typeface="Garet Bold"/>
                </a:rPr>
                <a:t>Cơ chế vận hành</a:t>
              </a:r>
            </a:p>
          </p:txBody>
        </p:sp>
      </p:grpSp>
      <p:sp>
        <p:nvSpPr>
          <p:cNvPr id="9" name="TextBox 9"/>
          <p:cNvSpPr txBox="1"/>
          <p:nvPr/>
        </p:nvSpPr>
        <p:spPr>
          <a:xfrm>
            <a:off x="586756" y="3373588"/>
            <a:ext cx="16866751" cy="5886224"/>
          </a:xfrm>
          <a:prstGeom prst="rect">
            <a:avLst/>
          </a:prstGeom>
        </p:spPr>
        <p:txBody>
          <a:bodyPr lIns="0" tIns="0" rIns="0" bIns="0" rtlCol="0" anchor="t">
            <a:spAutoFit/>
          </a:bodyPr>
          <a:lstStyle/>
          <a:p>
            <a:pPr marL="593726" lvl="1" indent="-296863" algn="just">
              <a:lnSpc>
                <a:spcPts val="6050"/>
              </a:lnSpc>
              <a:buFont typeface="Arial"/>
              <a:buChar char="•"/>
            </a:pPr>
            <a:r>
              <a:rPr lang="en-US" sz="2750">
                <a:solidFill>
                  <a:srgbClr val="000000"/>
                </a:solidFill>
                <a:latin typeface="Open Sans"/>
                <a:ea typeface="Open Sans"/>
                <a:cs typeface="Open Sans"/>
                <a:sym typeface="Open Sans"/>
              </a:rPr>
              <a:t>Jetpack Compose có vòng đời riêng bên cạnh vòng đời của Activity/Fragment, cho biết khi nào một Composable được tạo, cập nhật theo state và bị loại bỏ mà không cần dựa vào callback của Activity.</a:t>
            </a:r>
          </a:p>
          <a:p>
            <a:pPr algn="just">
              <a:lnSpc>
                <a:spcPts val="2199"/>
              </a:lnSpc>
            </a:pPr>
            <a:endParaRPr lang="en-US" sz="2750">
              <a:solidFill>
                <a:srgbClr val="000000"/>
              </a:solidFill>
              <a:latin typeface="Open Sans"/>
              <a:ea typeface="Open Sans"/>
              <a:cs typeface="Open Sans"/>
              <a:sym typeface="Open Sans"/>
            </a:endParaRPr>
          </a:p>
          <a:p>
            <a:pPr marL="604519" lvl="1" indent="-302260" algn="just">
              <a:lnSpc>
                <a:spcPts val="6159"/>
              </a:lnSpc>
              <a:buFont typeface="Arial"/>
              <a:buChar char="•"/>
            </a:pPr>
            <a:r>
              <a:rPr lang="en-US" sz="2799">
                <a:solidFill>
                  <a:srgbClr val="000000"/>
                </a:solidFill>
                <a:latin typeface="Open Sans"/>
                <a:ea typeface="Open Sans"/>
                <a:cs typeface="Open Sans"/>
                <a:sym typeface="Open Sans"/>
              </a:rPr>
              <a:t>Compose không dùng callback của Activity để cập nhật giao diện mà để UI tự phản ứng dựa trên sự thay đổi của state.</a:t>
            </a:r>
          </a:p>
          <a:p>
            <a:pPr algn="just">
              <a:lnSpc>
                <a:spcPts val="2199"/>
              </a:lnSpc>
            </a:pPr>
            <a:endParaRPr lang="en-US" sz="2799">
              <a:solidFill>
                <a:srgbClr val="000000"/>
              </a:solidFill>
              <a:latin typeface="Open Sans"/>
              <a:ea typeface="Open Sans"/>
              <a:cs typeface="Open Sans"/>
              <a:sym typeface="Open Sans"/>
            </a:endParaRPr>
          </a:p>
          <a:p>
            <a:pPr marL="604519" lvl="1" indent="-302260" algn="just">
              <a:lnSpc>
                <a:spcPts val="6159"/>
              </a:lnSpc>
              <a:buFont typeface="Arial"/>
              <a:buChar char="•"/>
            </a:pPr>
            <a:r>
              <a:rPr lang="en-US" sz="2799">
                <a:solidFill>
                  <a:srgbClr val="000000"/>
                </a:solidFill>
                <a:latin typeface="Open Sans"/>
                <a:ea typeface="Open Sans"/>
                <a:cs typeface="Open Sans"/>
                <a:sym typeface="Open Sans"/>
              </a:rPr>
              <a:t>Khi State&lt;T&gt; thay đổi, Compose chỉ recompose những Composable đang đọc state đó, giúp việc cập nhật UI nhẹ và hiệu quả.</a:t>
            </a:r>
          </a:p>
          <a:p>
            <a:pPr algn="just">
              <a:lnSpc>
                <a:spcPts val="6159"/>
              </a:lnSpc>
            </a:pPr>
            <a:endParaRPr lang="en-US" sz="2799">
              <a:solidFill>
                <a:srgbClr val="000000"/>
              </a:solidFill>
              <a:latin typeface="Open Sans"/>
              <a:ea typeface="Open Sans"/>
              <a:cs typeface="Open Sans"/>
              <a:sym typeface="Open Sans"/>
            </a:endParaRP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16679" cy="10287000"/>
            <a:chOff x="0" y="0"/>
            <a:chExt cx="1689989" cy="2709333"/>
          </a:xfrm>
        </p:grpSpPr>
        <p:sp>
          <p:nvSpPr>
            <p:cNvPr id="3" name="Freeform 3"/>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0345E4"/>
            </a:solidFill>
          </p:spPr>
          <p:txBody>
            <a:bodyPr/>
            <a:lstStyle/>
            <a:p>
              <a:endParaRPr lang="en-US"/>
            </a:p>
          </p:txBody>
        </p:sp>
        <p:sp>
          <p:nvSpPr>
            <p:cNvPr id="4" name="TextBox 4"/>
            <p:cNvSpPr txBox="1"/>
            <p:nvPr/>
          </p:nvSpPr>
          <p:spPr>
            <a:xfrm>
              <a:off x="0" y="-38100"/>
              <a:ext cx="1689989"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237056" y="677269"/>
            <a:ext cx="4008041" cy="669452"/>
            <a:chOff x="0" y="0"/>
            <a:chExt cx="2549855" cy="425895"/>
          </a:xfrm>
        </p:grpSpPr>
        <p:sp>
          <p:nvSpPr>
            <p:cNvPr id="6" name="Freeform 6"/>
            <p:cNvSpPr/>
            <p:nvPr/>
          </p:nvSpPr>
          <p:spPr>
            <a:xfrm>
              <a:off x="0" y="0"/>
              <a:ext cx="2549855" cy="425895"/>
            </a:xfrm>
            <a:custGeom>
              <a:avLst/>
              <a:gdLst/>
              <a:ahLst/>
              <a:cxnLst/>
              <a:rect l="l" t="t" r="r" b="b"/>
              <a:pathLst>
                <a:path w="2549855" h="425895">
                  <a:moveTo>
                    <a:pt x="2346655" y="0"/>
                  </a:moveTo>
                  <a:cubicBezTo>
                    <a:pt x="2458879" y="0"/>
                    <a:pt x="2549855" y="95340"/>
                    <a:pt x="2549855" y="212948"/>
                  </a:cubicBezTo>
                  <a:cubicBezTo>
                    <a:pt x="2549855" y="330556"/>
                    <a:pt x="2458879" y="425895"/>
                    <a:pt x="2346655"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28575"/>
              <a:ext cx="2549855" cy="454470"/>
            </a:xfrm>
            <a:prstGeom prst="rect">
              <a:avLst/>
            </a:prstGeom>
          </p:spPr>
          <p:txBody>
            <a:bodyPr lIns="50800" tIns="50800" rIns="50800" bIns="50800" rtlCol="0" anchor="ctr"/>
            <a:lstStyle/>
            <a:p>
              <a:pPr algn="ctr">
                <a:lnSpc>
                  <a:spcPts val="2799"/>
                </a:lnSpc>
              </a:pPr>
              <a:r>
                <a:rPr lang="en-US" sz="1999" b="1">
                  <a:solidFill>
                    <a:srgbClr val="FFFFFF"/>
                  </a:solidFill>
                  <a:latin typeface="Garet Bold"/>
                  <a:ea typeface="Garet Bold"/>
                  <a:cs typeface="Garet Bold"/>
                  <a:sym typeface="Garet Bold"/>
                </a:rPr>
                <a:t>LaunchedEffect</a:t>
              </a:r>
            </a:p>
          </p:txBody>
        </p:sp>
      </p:grpSp>
      <p:grpSp>
        <p:nvGrpSpPr>
          <p:cNvPr id="8" name="Group 8"/>
          <p:cNvGrpSpPr/>
          <p:nvPr/>
        </p:nvGrpSpPr>
        <p:grpSpPr>
          <a:xfrm>
            <a:off x="8237056" y="1394346"/>
            <a:ext cx="8016082" cy="1954055"/>
            <a:chOff x="0" y="0"/>
            <a:chExt cx="2111231" cy="514648"/>
          </a:xfrm>
        </p:grpSpPr>
        <p:sp>
          <p:nvSpPr>
            <p:cNvPr id="9" name="Freeform 9"/>
            <p:cNvSpPr/>
            <p:nvPr/>
          </p:nvSpPr>
          <p:spPr>
            <a:xfrm>
              <a:off x="0" y="0"/>
              <a:ext cx="2111231" cy="514648"/>
            </a:xfrm>
            <a:custGeom>
              <a:avLst/>
              <a:gdLst/>
              <a:ahLst/>
              <a:cxnLst/>
              <a:rect l="l" t="t" r="r" b="b"/>
              <a:pathLst>
                <a:path w="2111231" h="514648">
                  <a:moveTo>
                    <a:pt x="49256" y="0"/>
                  </a:moveTo>
                  <a:lnTo>
                    <a:pt x="2061976" y="0"/>
                  </a:lnTo>
                  <a:cubicBezTo>
                    <a:pt x="2075039" y="0"/>
                    <a:pt x="2087568" y="5189"/>
                    <a:pt x="2096805" y="14427"/>
                  </a:cubicBezTo>
                  <a:cubicBezTo>
                    <a:pt x="2106042" y="23664"/>
                    <a:pt x="2111231" y="36192"/>
                    <a:pt x="2111231" y="49256"/>
                  </a:cubicBezTo>
                  <a:lnTo>
                    <a:pt x="2111231" y="465392"/>
                  </a:lnTo>
                  <a:cubicBezTo>
                    <a:pt x="2111231" y="478456"/>
                    <a:pt x="2106042" y="490984"/>
                    <a:pt x="2096805" y="500221"/>
                  </a:cubicBezTo>
                  <a:cubicBezTo>
                    <a:pt x="2087568" y="509459"/>
                    <a:pt x="2075039" y="514648"/>
                    <a:pt x="2061976" y="514648"/>
                  </a:cubicBezTo>
                  <a:lnTo>
                    <a:pt x="49256" y="514648"/>
                  </a:lnTo>
                  <a:cubicBezTo>
                    <a:pt x="36192" y="514648"/>
                    <a:pt x="23664" y="509459"/>
                    <a:pt x="14427" y="500221"/>
                  </a:cubicBezTo>
                  <a:cubicBezTo>
                    <a:pt x="5189" y="490984"/>
                    <a:pt x="0" y="478456"/>
                    <a:pt x="0" y="465392"/>
                  </a:cubicBezTo>
                  <a:lnTo>
                    <a:pt x="0" y="49256"/>
                  </a:lnTo>
                  <a:cubicBezTo>
                    <a:pt x="0" y="36192"/>
                    <a:pt x="5189" y="23664"/>
                    <a:pt x="14427" y="14427"/>
                  </a:cubicBezTo>
                  <a:cubicBezTo>
                    <a:pt x="23664" y="5189"/>
                    <a:pt x="36192" y="0"/>
                    <a:pt x="49256" y="0"/>
                  </a:cubicBezTo>
                  <a:close/>
                </a:path>
              </a:pathLst>
            </a:custGeom>
            <a:solidFill>
              <a:srgbClr val="E8ECEC"/>
            </a:solidFill>
          </p:spPr>
          <p:txBody>
            <a:bodyPr/>
            <a:lstStyle/>
            <a:p>
              <a:endParaRPr lang="en-US"/>
            </a:p>
          </p:txBody>
        </p:sp>
        <p:sp>
          <p:nvSpPr>
            <p:cNvPr id="10" name="TextBox 10"/>
            <p:cNvSpPr txBox="1"/>
            <p:nvPr/>
          </p:nvSpPr>
          <p:spPr>
            <a:xfrm>
              <a:off x="0" y="-38100"/>
              <a:ext cx="2111231" cy="55274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237056" y="3807934"/>
            <a:ext cx="4008041" cy="669452"/>
            <a:chOff x="0" y="0"/>
            <a:chExt cx="2549855" cy="425895"/>
          </a:xfrm>
        </p:grpSpPr>
        <p:sp>
          <p:nvSpPr>
            <p:cNvPr id="12" name="Freeform 12"/>
            <p:cNvSpPr/>
            <p:nvPr/>
          </p:nvSpPr>
          <p:spPr>
            <a:xfrm>
              <a:off x="0" y="0"/>
              <a:ext cx="2549855" cy="425895"/>
            </a:xfrm>
            <a:custGeom>
              <a:avLst/>
              <a:gdLst/>
              <a:ahLst/>
              <a:cxnLst/>
              <a:rect l="l" t="t" r="r" b="b"/>
              <a:pathLst>
                <a:path w="2549855" h="425895">
                  <a:moveTo>
                    <a:pt x="2346655" y="0"/>
                  </a:moveTo>
                  <a:cubicBezTo>
                    <a:pt x="2458879" y="0"/>
                    <a:pt x="2549855" y="95340"/>
                    <a:pt x="2549855" y="212948"/>
                  </a:cubicBezTo>
                  <a:cubicBezTo>
                    <a:pt x="2549855" y="330556"/>
                    <a:pt x="2458879" y="425895"/>
                    <a:pt x="2346655"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3" name="TextBox 13"/>
            <p:cNvSpPr txBox="1"/>
            <p:nvPr/>
          </p:nvSpPr>
          <p:spPr>
            <a:xfrm>
              <a:off x="0" y="-28575"/>
              <a:ext cx="2549855" cy="454470"/>
            </a:xfrm>
            <a:prstGeom prst="rect">
              <a:avLst/>
            </a:prstGeom>
          </p:spPr>
          <p:txBody>
            <a:bodyPr lIns="50800" tIns="50800" rIns="50800" bIns="50800" rtlCol="0" anchor="ctr"/>
            <a:lstStyle/>
            <a:p>
              <a:pPr algn="ctr">
                <a:lnSpc>
                  <a:spcPts val="2799"/>
                </a:lnSpc>
              </a:pPr>
              <a:r>
                <a:rPr lang="en-US" sz="1999" b="1">
                  <a:solidFill>
                    <a:srgbClr val="FFFFFF"/>
                  </a:solidFill>
                  <a:latin typeface="Garet Bold"/>
                  <a:ea typeface="Garet Bold"/>
                  <a:cs typeface="Garet Bold"/>
                  <a:sym typeface="Garet Bold"/>
                </a:rPr>
                <a:t>DisposableEffect</a:t>
              </a:r>
            </a:p>
          </p:txBody>
        </p:sp>
      </p:grpSp>
      <p:grpSp>
        <p:nvGrpSpPr>
          <p:cNvPr id="14" name="Group 14"/>
          <p:cNvGrpSpPr/>
          <p:nvPr/>
        </p:nvGrpSpPr>
        <p:grpSpPr>
          <a:xfrm>
            <a:off x="8237056" y="4525011"/>
            <a:ext cx="8016082" cy="1954055"/>
            <a:chOff x="0" y="0"/>
            <a:chExt cx="2111231" cy="514648"/>
          </a:xfrm>
        </p:grpSpPr>
        <p:sp>
          <p:nvSpPr>
            <p:cNvPr id="15" name="Freeform 15"/>
            <p:cNvSpPr/>
            <p:nvPr/>
          </p:nvSpPr>
          <p:spPr>
            <a:xfrm>
              <a:off x="0" y="0"/>
              <a:ext cx="2111231" cy="514648"/>
            </a:xfrm>
            <a:custGeom>
              <a:avLst/>
              <a:gdLst/>
              <a:ahLst/>
              <a:cxnLst/>
              <a:rect l="l" t="t" r="r" b="b"/>
              <a:pathLst>
                <a:path w="2111231" h="514648">
                  <a:moveTo>
                    <a:pt x="49256" y="0"/>
                  </a:moveTo>
                  <a:lnTo>
                    <a:pt x="2061976" y="0"/>
                  </a:lnTo>
                  <a:cubicBezTo>
                    <a:pt x="2075039" y="0"/>
                    <a:pt x="2087568" y="5189"/>
                    <a:pt x="2096805" y="14427"/>
                  </a:cubicBezTo>
                  <a:cubicBezTo>
                    <a:pt x="2106042" y="23664"/>
                    <a:pt x="2111231" y="36192"/>
                    <a:pt x="2111231" y="49256"/>
                  </a:cubicBezTo>
                  <a:lnTo>
                    <a:pt x="2111231" y="465392"/>
                  </a:lnTo>
                  <a:cubicBezTo>
                    <a:pt x="2111231" y="478456"/>
                    <a:pt x="2106042" y="490984"/>
                    <a:pt x="2096805" y="500221"/>
                  </a:cubicBezTo>
                  <a:cubicBezTo>
                    <a:pt x="2087568" y="509459"/>
                    <a:pt x="2075039" y="514648"/>
                    <a:pt x="2061976" y="514648"/>
                  </a:cubicBezTo>
                  <a:lnTo>
                    <a:pt x="49256" y="514648"/>
                  </a:lnTo>
                  <a:cubicBezTo>
                    <a:pt x="36192" y="514648"/>
                    <a:pt x="23664" y="509459"/>
                    <a:pt x="14427" y="500221"/>
                  </a:cubicBezTo>
                  <a:cubicBezTo>
                    <a:pt x="5189" y="490984"/>
                    <a:pt x="0" y="478456"/>
                    <a:pt x="0" y="465392"/>
                  </a:cubicBezTo>
                  <a:lnTo>
                    <a:pt x="0" y="49256"/>
                  </a:lnTo>
                  <a:cubicBezTo>
                    <a:pt x="0" y="36192"/>
                    <a:pt x="5189" y="23664"/>
                    <a:pt x="14427" y="14427"/>
                  </a:cubicBezTo>
                  <a:cubicBezTo>
                    <a:pt x="23664" y="5189"/>
                    <a:pt x="36192" y="0"/>
                    <a:pt x="49256" y="0"/>
                  </a:cubicBezTo>
                  <a:close/>
                </a:path>
              </a:pathLst>
            </a:custGeom>
            <a:solidFill>
              <a:srgbClr val="E8ECEC"/>
            </a:solidFill>
          </p:spPr>
          <p:txBody>
            <a:bodyPr/>
            <a:lstStyle/>
            <a:p>
              <a:endParaRPr lang="en-US"/>
            </a:p>
          </p:txBody>
        </p:sp>
        <p:sp>
          <p:nvSpPr>
            <p:cNvPr id="16" name="TextBox 16"/>
            <p:cNvSpPr txBox="1"/>
            <p:nvPr/>
          </p:nvSpPr>
          <p:spPr>
            <a:xfrm>
              <a:off x="0" y="-38100"/>
              <a:ext cx="2111231" cy="552748"/>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8237056" y="6936266"/>
            <a:ext cx="4008041" cy="669452"/>
            <a:chOff x="0" y="0"/>
            <a:chExt cx="2549855" cy="425895"/>
          </a:xfrm>
        </p:grpSpPr>
        <p:sp>
          <p:nvSpPr>
            <p:cNvPr id="18" name="Freeform 18"/>
            <p:cNvSpPr/>
            <p:nvPr/>
          </p:nvSpPr>
          <p:spPr>
            <a:xfrm>
              <a:off x="0" y="0"/>
              <a:ext cx="2549855" cy="425895"/>
            </a:xfrm>
            <a:custGeom>
              <a:avLst/>
              <a:gdLst/>
              <a:ahLst/>
              <a:cxnLst/>
              <a:rect l="l" t="t" r="r" b="b"/>
              <a:pathLst>
                <a:path w="2549855" h="425895">
                  <a:moveTo>
                    <a:pt x="2346655" y="0"/>
                  </a:moveTo>
                  <a:cubicBezTo>
                    <a:pt x="2458879" y="0"/>
                    <a:pt x="2549855" y="95340"/>
                    <a:pt x="2549855" y="212948"/>
                  </a:cubicBezTo>
                  <a:cubicBezTo>
                    <a:pt x="2549855" y="330556"/>
                    <a:pt x="2458879" y="425895"/>
                    <a:pt x="2346655"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9" name="TextBox 19"/>
            <p:cNvSpPr txBox="1"/>
            <p:nvPr/>
          </p:nvSpPr>
          <p:spPr>
            <a:xfrm>
              <a:off x="0" y="-28575"/>
              <a:ext cx="2549855" cy="454470"/>
            </a:xfrm>
            <a:prstGeom prst="rect">
              <a:avLst/>
            </a:prstGeom>
          </p:spPr>
          <p:txBody>
            <a:bodyPr lIns="50800" tIns="50800" rIns="50800" bIns="50800" rtlCol="0" anchor="ctr"/>
            <a:lstStyle/>
            <a:p>
              <a:pPr algn="ctr">
                <a:lnSpc>
                  <a:spcPts val="2799"/>
                </a:lnSpc>
              </a:pPr>
              <a:r>
                <a:rPr lang="en-US" sz="1999" b="1">
                  <a:solidFill>
                    <a:srgbClr val="FFFFFF"/>
                  </a:solidFill>
                  <a:latin typeface="Garet Bold"/>
                  <a:ea typeface="Garet Bold"/>
                  <a:cs typeface="Garet Bold"/>
                  <a:sym typeface="Garet Bold"/>
                </a:rPr>
                <a:t>SideEffect</a:t>
              </a:r>
            </a:p>
          </p:txBody>
        </p:sp>
      </p:grpSp>
      <p:grpSp>
        <p:nvGrpSpPr>
          <p:cNvPr id="20" name="Group 20"/>
          <p:cNvGrpSpPr/>
          <p:nvPr/>
        </p:nvGrpSpPr>
        <p:grpSpPr>
          <a:xfrm>
            <a:off x="8237056" y="7655677"/>
            <a:ext cx="8016082" cy="1954055"/>
            <a:chOff x="0" y="0"/>
            <a:chExt cx="2111231" cy="514648"/>
          </a:xfrm>
        </p:grpSpPr>
        <p:sp>
          <p:nvSpPr>
            <p:cNvPr id="21" name="Freeform 21"/>
            <p:cNvSpPr/>
            <p:nvPr/>
          </p:nvSpPr>
          <p:spPr>
            <a:xfrm>
              <a:off x="0" y="0"/>
              <a:ext cx="2111231" cy="514648"/>
            </a:xfrm>
            <a:custGeom>
              <a:avLst/>
              <a:gdLst/>
              <a:ahLst/>
              <a:cxnLst/>
              <a:rect l="l" t="t" r="r" b="b"/>
              <a:pathLst>
                <a:path w="2111231" h="514648">
                  <a:moveTo>
                    <a:pt x="49256" y="0"/>
                  </a:moveTo>
                  <a:lnTo>
                    <a:pt x="2061976" y="0"/>
                  </a:lnTo>
                  <a:cubicBezTo>
                    <a:pt x="2075039" y="0"/>
                    <a:pt x="2087568" y="5189"/>
                    <a:pt x="2096805" y="14427"/>
                  </a:cubicBezTo>
                  <a:cubicBezTo>
                    <a:pt x="2106042" y="23664"/>
                    <a:pt x="2111231" y="36192"/>
                    <a:pt x="2111231" y="49256"/>
                  </a:cubicBezTo>
                  <a:lnTo>
                    <a:pt x="2111231" y="465392"/>
                  </a:lnTo>
                  <a:cubicBezTo>
                    <a:pt x="2111231" y="478456"/>
                    <a:pt x="2106042" y="490984"/>
                    <a:pt x="2096805" y="500221"/>
                  </a:cubicBezTo>
                  <a:cubicBezTo>
                    <a:pt x="2087568" y="509459"/>
                    <a:pt x="2075039" y="514648"/>
                    <a:pt x="2061976" y="514648"/>
                  </a:cubicBezTo>
                  <a:lnTo>
                    <a:pt x="49256" y="514648"/>
                  </a:lnTo>
                  <a:cubicBezTo>
                    <a:pt x="36192" y="514648"/>
                    <a:pt x="23664" y="509459"/>
                    <a:pt x="14427" y="500221"/>
                  </a:cubicBezTo>
                  <a:cubicBezTo>
                    <a:pt x="5189" y="490984"/>
                    <a:pt x="0" y="478456"/>
                    <a:pt x="0" y="465392"/>
                  </a:cubicBezTo>
                  <a:lnTo>
                    <a:pt x="0" y="49256"/>
                  </a:lnTo>
                  <a:cubicBezTo>
                    <a:pt x="0" y="36192"/>
                    <a:pt x="5189" y="23664"/>
                    <a:pt x="14427" y="14427"/>
                  </a:cubicBezTo>
                  <a:cubicBezTo>
                    <a:pt x="23664" y="5189"/>
                    <a:pt x="36192" y="0"/>
                    <a:pt x="49256" y="0"/>
                  </a:cubicBezTo>
                  <a:close/>
                </a:path>
              </a:pathLst>
            </a:custGeom>
            <a:solidFill>
              <a:srgbClr val="E8ECEC"/>
            </a:solidFill>
          </p:spPr>
          <p:txBody>
            <a:bodyPr/>
            <a:lstStyle/>
            <a:p>
              <a:endParaRPr lang="en-US"/>
            </a:p>
          </p:txBody>
        </p:sp>
        <p:sp>
          <p:nvSpPr>
            <p:cNvPr id="22" name="TextBox 22"/>
            <p:cNvSpPr txBox="1"/>
            <p:nvPr/>
          </p:nvSpPr>
          <p:spPr>
            <a:xfrm>
              <a:off x="0" y="-38100"/>
              <a:ext cx="2111231" cy="552748"/>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561314" y="558513"/>
            <a:ext cx="4896295" cy="2000885"/>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SIDE-EFFECTS</a:t>
            </a:r>
          </a:p>
          <a:p>
            <a:pPr algn="l">
              <a:lnSpc>
                <a:spcPts val="4480"/>
              </a:lnSpc>
            </a:pPr>
            <a:endParaRPr lang="en-US" sz="4999" b="1" spc="99">
              <a:solidFill>
                <a:srgbClr val="FFFFFF"/>
              </a:solidFill>
              <a:latin typeface="Garet Bold"/>
              <a:ea typeface="Garet Bold"/>
              <a:cs typeface="Garet Bold"/>
              <a:sym typeface="Garet Bold"/>
            </a:endParaRPr>
          </a:p>
          <a:p>
            <a:pPr algn="l">
              <a:lnSpc>
                <a:spcPts val="4480"/>
              </a:lnSpc>
            </a:pPr>
            <a:endParaRPr lang="en-US" sz="4999" b="1" spc="99">
              <a:solidFill>
                <a:srgbClr val="FFFFFF"/>
              </a:solidFill>
              <a:latin typeface="Garet Bold"/>
              <a:ea typeface="Garet Bold"/>
              <a:cs typeface="Garet Bold"/>
              <a:sym typeface="Garet Bold"/>
            </a:endParaRPr>
          </a:p>
        </p:txBody>
      </p:sp>
      <p:sp>
        <p:nvSpPr>
          <p:cNvPr id="24" name="TextBox 24"/>
          <p:cNvSpPr txBox="1"/>
          <p:nvPr/>
        </p:nvSpPr>
        <p:spPr>
          <a:xfrm>
            <a:off x="8764619" y="1622073"/>
            <a:ext cx="6960956" cy="1316990"/>
          </a:xfrm>
          <a:prstGeom prst="rect">
            <a:avLst/>
          </a:prstGeom>
        </p:spPr>
        <p:txBody>
          <a:bodyPr lIns="0" tIns="0" rIns="0" bIns="0" rtlCol="0" anchor="t">
            <a:spAutoFit/>
          </a:bodyPr>
          <a:lstStyle/>
          <a:p>
            <a:pPr marL="0" lvl="0" indent="0" algn="just">
              <a:lnSpc>
                <a:spcPts val="3565"/>
              </a:lnSpc>
            </a:pPr>
            <a:r>
              <a:rPr lang="en-US" sz="2300">
                <a:solidFill>
                  <a:srgbClr val="000000"/>
                </a:solidFill>
                <a:latin typeface="Open Sans"/>
                <a:ea typeface="Open Sans"/>
                <a:cs typeface="Open Sans"/>
                <a:sym typeface="Open Sans"/>
              </a:rPr>
              <a:t>Giúp bạn chạy code bất đồng bộ (như gọi API, đếm giờ...) một cách an toàn, gắn liền với vòng đời của giao diện.</a:t>
            </a:r>
          </a:p>
        </p:txBody>
      </p:sp>
      <p:sp>
        <p:nvSpPr>
          <p:cNvPr id="25" name="TextBox 25"/>
          <p:cNvSpPr txBox="1"/>
          <p:nvPr/>
        </p:nvSpPr>
        <p:spPr>
          <a:xfrm>
            <a:off x="8764619" y="4782186"/>
            <a:ext cx="6960956" cy="1316990"/>
          </a:xfrm>
          <a:prstGeom prst="rect">
            <a:avLst/>
          </a:prstGeom>
        </p:spPr>
        <p:txBody>
          <a:bodyPr lIns="0" tIns="0" rIns="0" bIns="0" rtlCol="0" anchor="t">
            <a:spAutoFit/>
          </a:bodyPr>
          <a:lstStyle/>
          <a:p>
            <a:pPr marL="0" lvl="0" indent="0" algn="just">
              <a:lnSpc>
                <a:spcPts val="3565"/>
              </a:lnSpc>
            </a:pPr>
            <a:r>
              <a:rPr lang="en-US" sz="2300">
                <a:solidFill>
                  <a:srgbClr val="000000"/>
                </a:solidFill>
                <a:latin typeface="Open Sans"/>
                <a:ea typeface="Open Sans"/>
                <a:cs typeface="Open Sans"/>
                <a:sym typeface="Open Sans"/>
              </a:rPr>
              <a:t>Sử dụng cho các tác vụ khởi tạo cần kèm theo cơ chế dọn dẹp để ngăn chặn rò rỉ bộ nhớ. Đảm bảo tài nguyên sẽ được giải phóng tự động.</a:t>
            </a:r>
          </a:p>
        </p:txBody>
      </p:sp>
      <p:sp>
        <p:nvSpPr>
          <p:cNvPr id="26" name="TextBox 26"/>
          <p:cNvSpPr txBox="1"/>
          <p:nvPr/>
        </p:nvSpPr>
        <p:spPr>
          <a:xfrm>
            <a:off x="8764619" y="7986718"/>
            <a:ext cx="6960956" cy="1264285"/>
          </a:xfrm>
          <a:prstGeom prst="rect">
            <a:avLst/>
          </a:prstGeom>
        </p:spPr>
        <p:txBody>
          <a:bodyPr lIns="0" tIns="0" rIns="0" bIns="0" rtlCol="0" anchor="t">
            <a:spAutoFit/>
          </a:bodyPr>
          <a:lstStyle/>
          <a:p>
            <a:pPr marL="0" lvl="0" indent="0" algn="l">
              <a:lnSpc>
                <a:spcPts val="3410"/>
              </a:lnSpc>
            </a:pPr>
            <a:r>
              <a:rPr lang="en-US" sz="2200">
                <a:solidFill>
                  <a:srgbClr val="000000"/>
                </a:solidFill>
                <a:latin typeface="Open Sans"/>
                <a:ea typeface="Open Sans"/>
                <a:cs typeface="Open Sans"/>
                <a:sym typeface="Open Sans"/>
              </a:rPr>
              <a:t>Dùng để đồng bộ hóa trạng thái từ Compose sang các đối tượng không được quản lý bởi Compose ngay sau mỗi lần Recomposition thành công.</a:t>
            </a:r>
          </a:p>
        </p:txBody>
      </p:sp>
      <p:sp>
        <p:nvSpPr>
          <p:cNvPr id="27" name="TextBox 27"/>
          <p:cNvSpPr txBox="1"/>
          <p:nvPr/>
        </p:nvSpPr>
        <p:spPr>
          <a:xfrm>
            <a:off x="561314" y="1655138"/>
            <a:ext cx="5294756" cy="2776313"/>
          </a:xfrm>
          <a:prstGeom prst="rect">
            <a:avLst/>
          </a:prstGeom>
        </p:spPr>
        <p:txBody>
          <a:bodyPr lIns="0" tIns="0" rIns="0" bIns="0" rtlCol="0" anchor="t">
            <a:spAutoFit/>
          </a:bodyPr>
          <a:lstStyle/>
          <a:p>
            <a:pPr marL="0" lvl="0" indent="0" algn="just">
              <a:lnSpc>
                <a:spcPts val="4491"/>
              </a:lnSpc>
            </a:pPr>
            <a:r>
              <a:rPr lang="en-US" sz="2897">
                <a:solidFill>
                  <a:srgbClr val="FCFDFD"/>
                </a:solidFill>
                <a:latin typeface="Open Sans"/>
                <a:ea typeface="Open Sans"/>
                <a:cs typeface="Open Sans"/>
                <a:sym typeface="Open Sans"/>
              </a:rPr>
              <a:t>Hàm Side-effects thực hiện các hành động làm thay đổi trạng thái của hệ thống bên ngoài hoặc tương tác với môi trường bên ngoài phạm vi của nó. </a:t>
            </a:r>
          </a:p>
        </p:txBody>
      </p:sp>
      <p:grpSp>
        <p:nvGrpSpPr>
          <p:cNvPr id="28" name="Group 28"/>
          <p:cNvGrpSpPr/>
          <p:nvPr/>
        </p:nvGrpSpPr>
        <p:grpSpPr>
          <a:xfrm rot="5400000">
            <a:off x="5324660" y="9048119"/>
            <a:ext cx="596043" cy="596043"/>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txBody>
            <a:bodyPr/>
            <a:lstStyle/>
            <a:p>
              <a:endParaRPr lang="en-US"/>
            </a:p>
          </p:txBody>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5400000">
            <a:off x="15513474" y="-517837"/>
            <a:ext cx="1479329" cy="1479329"/>
            <a:chOff x="0" y="0"/>
            <a:chExt cx="812800" cy="812800"/>
          </a:xfrm>
        </p:grpSpPr>
        <p:sp>
          <p:nvSpPr>
            <p:cNvPr id="32" name="Freeform 32"/>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txBody>
            <a:bodyPr/>
            <a:lstStyle/>
            <a:p>
              <a:endParaRPr lang="en-US"/>
            </a:p>
          </p:txBody>
        </p:sp>
        <p:sp>
          <p:nvSpPr>
            <p:cNvPr id="33" name="TextBox 33"/>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rot="5400000">
            <a:off x="16826446" y="-517837"/>
            <a:ext cx="1912182" cy="191218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txBody>
            <a:bodyPr/>
            <a:lstStyle/>
            <a:p>
              <a:endParaRPr lang="en-US"/>
            </a:p>
          </p:txBody>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4889" y="1691681"/>
            <a:ext cx="1310100" cy="0"/>
          </a:xfrm>
          <a:prstGeom prst="line">
            <a:avLst/>
          </a:prstGeom>
          <a:ln w="95250" cap="flat">
            <a:solidFill>
              <a:srgbClr val="0345E4"/>
            </a:solidFill>
            <a:prstDash val="solid"/>
            <a:headEnd type="none" w="sm" len="sm"/>
            <a:tailEnd type="none" w="sm" len="sm"/>
          </a:ln>
        </p:spPr>
        <p:txBody>
          <a:bodyPr/>
          <a:lstStyle/>
          <a:p>
            <a:endParaRPr lang="en-US"/>
          </a:p>
        </p:txBody>
      </p:sp>
      <p:sp>
        <p:nvSpPr>
          <p:cNvPr id="3" name="TextBox 3"/>
          <p:cNvSpPr txBox="1"/>
          <p:nvPr/>
        </p:nvSpPr>
        <p:spPr>
          <a:xfrm>
            <a:off x="636789" y="551855"/>
            <a:ext cx="17775036" cy="795021"/>
          </a:xfrm>
          <a:prstGeom prst="rect">
            <a:avLst/>
          </a:prstGeom>
        </p:spPr>
        <p:txBody>
          <a:bodyPr lIns="0" tIns="0" rIns="0" bIns="0" rtlCol="0" anchor="t">
            <a:spAutoFit/>
          </a:bodyPr>
          <a:lstStyle/>
          <a:p>
            <a:pPr algn="l">
              <a:lnSpc>
                <a:spcPts val="6579"/>
              </a:lnSpc>
            </a:pPr>
            <a:r>
              <a:rPr lang="en-US" sz="4699" b="1" spc="93">
                <a:solidFill>
                  <a:srgbClr val="000000"/>
                </a:solidFill>
                <a:latin typeface="Open Sans Bold"/>
                <a:ea typeface="Open Sans Bold"/>
                <a:cs typeface="Open Sans Bold"/>
                <a:sym typeface="Open Sans Bold"/>
              </a:rPr>
              <a:t>CÔNG CỤ LƯU STATE TRONG UI</a:t>
            </a:r>
          </a:p>
        </p:txBody>
      </p:sp>
      <p:grpSp>
        <p:nvGrpSpPr>
          <p:cNvPr id="4" name="Group 4"/>
          <p:cNvGrpSpPr/>
          <p:nvPr/>
        </p:nvGrpSpPr>
        <p:grpSpPr>
          <a:xfrm>
            <a:off x="8709419" y="-2174505"/>
            <a:ext cx="3744615" cy="374461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pic>
        <p:nvPicPr>
          <p:cNvPr id="9" name="Picture 8">
            <a:extLst>
              <a:ext uri="{FF2B5EF4-FFF2-40B4-BE49-F238E27FC236}">
                <a16:creationId xmlns:a16="http://schemas.microsoft.com/office/drawing/2014/main" id="{67F31BFA-A3EC-E71B-F707-1C02C452EE85}"/>
              </a:ext>
            </a:extLst>
          </p:cNvPr>
          <p:cNvPicPr>
            <a:picLocks noChangeAspect="1"/>
          </p:cNvPicPr>
          <p:nvPr/>
        </p:nvPicPr>
        <p:blipFill>
          <a:blip r:embed="rId2"/>
          <a:stretch>
            <a:fillRect/>
          </a:stretch>
        </p:blipFill>
        <p:spPr>
          <a:xfrm>
            <a:off x="2526060" y="2705100"/>
            <a:ext cx="13235880" cy="6019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9853" y="3001744"/>
            <a:ext cx="5089482" cy="6092189"/>
            <a:chOff x="0" y="0"/>
            <a:chExt cx="1340440" cy="1604527"/>
          </a:xfrm>
        </p:grpSpPr>
        <p:sp>
          <p:nvSpPr>
            <p:cNvPr id="3" name="Freeform 3"/>
            <p:cNvSpPr/>
            <p:nvPr/>
          </p:nvSpPr>
          <p:spPr>
            <a:xfrm>
              <a:off x="0" y="0"/>
              <a:ext cx="1340440" cy="1604527"/>
            </a:xfrm>
            <a:custGeom>
              <a:avLst/>
              <a:gdLst/>
              <a:ahLst/>
              <a:cxnLst/>
              <a:rect l="l" t="t" r="r" b="b"/>
              <a:pathLst>
                <a:path w="1340440" h="1604527">
                  <a:moveTo>
                    <a:pt x="77579" y="0"/>
                  </a:moveTo>
                  <a:lnTo>
                    <a:pt x="1262861" y="0"/>
                  </a:lnTo>
                  <a:cubicBezTo>
                    <a:pt x="1305707" y="0"/>
                    <a:pt x="1340440" y="34733"/>
                    <a:pt x="1340440" y="77579"/>
                  </a:cubicBezTo>
                  <a:lnTo>
                    <a:pt x="1340440" y="1526948"/>
                  </a:lnTo>
                  <a:cubicBezTo>
                    <a:pt x="1340440" y="1547523"/>
                    <a:pt x="1332266" y="1567256"/>
                    <a:pt x="1317717" y="1581805"/>
                  </a:cubicBezTo>
                  <a:cubicBezTo>
                    <a:pt x="1303169" y="1596354"/>
                    <a:pt x="1283436" y="1604527"/>
                    <a:pt x="1262861" y="1604527"/>
                  </a:cubicBezTo>
                  <a:lnTo>
                    <a:pt x="77579" y="1604527"/>
                  </a:lnTo>
                  <a:cubicBezTo>
                    <a:pt x="57004" y="1604527"/>
                    <a:pt x="37271" y="1596354"/>
                    <a:pt x="22722" y="1581805"/>
                  </a:cubicBezTo>
                  <a:cubicBezTo>
                    <a:pt x="8173" y="1567256"/>
                    <a:pt x="0" y="1547523"/>
                    <a:pt x="0" y="1526948"/>
                  </a:cubicBezTo>
                  <a:lnTo>
                    <a:pt x="0" y="77579"/>
                  </a:lnTo>
                  <a:cubicBezTo>
                    <a:pt x="0" y="57004"/>
                    <a:pt x="8173" y="37271"/>
                    <a:pt x="22722" y="22722"/>
                  </a:cubicBezTo>
                  <a:cubicBezTo>
                    <a:pt x="37271" y="8173"/>
                    <a:pt x="57004" y="0"/>
                    <a:pt x="77579" y="0"/>
                  </a:cubicBezTo>
                  <a:close/>
                </a:path>
              </a:pathLst>
            </a:custGeom>
            <a:solidFill>
              <a:srgbClr val="E8ECEC"/>
            </a:solidFill>
          </p:spPr>
          <p:txBody>
            <a:bodyPr/>
            <a:lstStyle/>
            <a:p>
              <a:endParaRPr lang="en-US"/>
            </a:p>
          </p:txBody>
        </p:sp>
        <p:sp>
          <p:nvSpPr>
            <p:cNvPr id="4" name="TextBox 4"/>
            <p:cNvSpPr txBox="1"/>
            <p:nvPr/>
          </p:nvSpPr>
          <p:spPr>
            <a:xfrm>
              <a:off x="0" y="-180975"/>
              <a:ext cx="1340440" cy="1785502"/>
            </a:xfrm>
            <a:prstGeom prst="rect">
              <a:avLst/>
            </a:prstGeom>
          </p:spPr>
          <p:txBody>
            <a:bodyPr lIns="50800" tIns="50800" rIns="50800" bIns="50800" rtlCol="0" anchor="ctr"/>
            <a:lstStyle/>
            <a:p>
              <a:pPr algn="ctr">
                <a:lnSpc>
                  <a:spcPts val="4179"/>
                </a:lnSpc>
              </a:pPr>
              <a:endParaRPr/>
            </a:p>
          </p:txBody>
        </p:sp>
      </p:grpSp>
      <p:grpSp>
        <p:nvGrpSpPr>
          <p:cNvPr id="5" name="Group 5"/>
          <p:cNvGrpSpPr/>
          <p:nvPr/>
        </p:nvGrpSpPr>
        <p:grpSpPr>
          <a:xfrm>
            <a:off x="1479383" y="2340147"/>
            <a:ext cx="3970423" cy="943217"/>
            <a:chOff x="0" y="0"/>
            <a:chExt cx="1045708" cy="248419"/>
          </a:xfrm>
        </p:grpSpPr>
        <p:sp>
          <p:nvSpPr>
            <p:cNvPr id="6" name="Freeform 6"/>
            <p:cNvSpPr/>
            <p:nvPr/>
          </p:nvSpPr>
          <p:spPr>
            <a:xfrm>
              <a:off x="0" y="0"/>
              <a:ext cx="1045708" cy="248419"/>
            </a:xfrm>
            <a:custGeom>
              <a:avLst/>
              <a:gdLst/>
              <a:ahLst/>
              <a:cxnLst/>
              <a:rect l="l" t="t" r="r" b="b"/>
              <a:pathLst>
                <a:path w="1045708" h="248419">
                  <a:moveTo>
                    <a:pt x="99445" y="0"/>
                  </a:moveTo>
                  <a:lnTo>
                    <a:pt x="946263" y="0"/>
                  </a:lnTo>
                  <a:cubicBezTo>
                    <a:pt x="1001185" y="0"/>
                    <a:pt x="1045708" y="44523"/>
                    <a:pt x="1045708" y="99445"/>
                  </a:cubicBezTo>
                  <a:lnTo>
                    <a:pt x="1045708" y="148975"/>
                  </a:lnTo>
                  <a:cubicBezTo>
                    <a:pt x="1045708" y="203896"/>
                    <a:pt x="1001185" y="248419"/>
                    <a:pt x="946263" y="248419"/>
                  </a:cubicBezTo>
                  <a:lnTo>
                    <a:pt x="99445" y="248419"/>
                  </a:lnTo>
                  <a:cubicBezTo>
                    <a:pt x="44523" y="248419"/>
                    <a:pt x="0" y="203896"/>
                    <a:pt x="0" y="148975"/>
                  </a:cubicBezTo>
                  <a:lnTo>
                    <a:pt x="0" y="99445"/>
                  </a:lnTo>
                  <a:cubicBezTo>
                    <a:pt x="0" y="44523"/>
                    <a:pt x="44523" y="0"/>
                    <a:pt x="99445" y="0"/>
                  </a:cubicBezTo>
                  <a:close/>
                </a:path>
              </a:pathLst>
            </a:custGeom>
            <a:solidFill>
              <a:srgbClr val="0345E4"/>
            </a:solidFill>
          </p:spPr>
          <p:txBody>
            <a:bodyPr/>
            <a:lstStyle/>
            <a:p>
              <a:endParaRPr lang="en-US"/>
            </a:p>
          </p:txBody>
        </p:sp>
        <p:sp>
          <p:nvSpPr>
            <p:cNvPr id="7" name="TextBox 7"/>
            <p:cNvSpPr txBox="1"/>
            <p:nvPr/>
          </p:nvSpPr>
          <p:spPr>
            <a:xfrm>
              <a:off x="0" y="-238125"/>
              <a:ext cx="1045708" cy="486544"/>
            </a:xfrm>
            <a:prstGeom prst="rect">
              <a:avLst/>
            </a:prstGeom>
          </p:spPr>
          <p:txBody>
            <a:bodyPr lIns="50800" tIns="50800" rIns="50800" bIns="50800" rtlCol="0" anchor="ctr"/>
            <a:lstStyle/>
            <a:p>
              <a:pPr algn="ctr">
                <a:lnSpc>
                  <a:spcPts val="5499"/>
                </a:lnSpc>
              </a:pPr>
              <a:endParaRPr lang="en-US" sz="2499" b="1" dirty="0">
                <a:solidFill>
                  <a:srgbClr val="FFFFFF"/>
                </a:solidFill>
                <a:latin typeface="Inter Bold"/>
                <a:ea typeface="Inter Bold"/>
                <a:cs typeface="Inter Bold"/>
                <a:sym typeface="Inter Bold"/>
              </a:endParaRPr>
            </a:p>
            <a:p>
              <a:pPr algn="ctr">
                <a:lnSpc>
                  <a:spcPts val="5499"/>
                </a:lnSpc>
              </a:pPr>
              <a:r>
                <a:rPr lang="en-US" sz="2499" b="1" dirty="0">
                  <a:solidFill>
                    <a:srgbClr val="FFFFFF"/>
                  </a:solidFill>
                  <a:latin typeface="Inter Bold"/>
                  <a:ea typeface="Inter Bold"/>
                  <a:cs typeface="Inter Bold"/>
                  <a:sym typeface="Inter Bold"/>
                </a:rPr>
                <a:t>Vai </a:t>
              </a:r>
              <a:r>
                <a:rPr lang="en-US" sz="2499" b="1" dirty="0" err="1">
                  <a:solidFill>
                    <a:srgbClr val="FFFFFF"/>
                  </a:solidFill>
                  <a:latin typeface="Inter Bold"/>
                  <a:ea typeface="Inter Bold"/>
                  <a:cs typeface="Inter Bold"/>
                  <a:sym typeface="Inter Bold"/>
                </a:rPr>
                <a:t>trò</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ViewModel</a:t>
              </a:r>
              <a:endParaRPr lang="en-US" sz="2499" b="1" dirty="0">
                <a:solidFill>
                  <a:srgbClr val="FFFFFF"/>
                </a:solidFill>
                <a:latin typeface="Inter Bold"/>
                <a:ea typeface="Inter Bold"/>
                <a:cs typeface="Inter Bold"/>
                <a:sym typeface="Inter Bold"/>
              </a:endParaRPr>
            </a:p>
          </p:txBody>
        </p:sp>
      </p:grpSp>
      <p:grpSp>
        <p:nvGrpSpPr>
          <p:cNvPr id="8" name="Group 8"/>
          <p:cNvGrpSpPr/>
          <p:nvPr/>
        </p:nvGrpSpPr>
        <p:grpSpPr>
          <a:xfrm>
            <a:off x="0" y="0"/>
            <a:ext cx="18288000" cy="1543194"/>
            <a:chOff x="0" y="0"/>
            <a:chExt cx="4816593" cy="406438"/>
          </a:xfrm>
        </p:grpSpPr>
        <p:sp>
          <p:nvSpPr>
            <p:cNvPr id="9" name="Freeform 9"/>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10" name="TextBox 10"/>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459927" y="410282"/>
            <a:ext cx="14155639"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VIEWMODEL TRONG JETPACK COMPOSE</a:t>
            </a:r>
          </a:p>
        </p:txBody>
      </p:sp>
      <p:sp>
        <p:nvSpPr>
          <p:cNvPr id="12" name="TextBox 12"/>
          <p:cNvSpPr txBox="1"/>
          <p:nvPr/>
        </p:nvSpPr>
        <p:spPr>
          <a:xfrm>
            <a:off x="1015417" y="3490057"/>
            <a:ext cx="4745956" cy="2797175"/>
          </a:xfrm>
          <a:prstGeom prst="rect">
            <a:avLst/>
          </a:prstGeom>
        </p:spPr>
        <p:txBody>
          <a:bodyPr lIns="0" tIns="0" rIns="0" bIns="0" rtlCol="0" anchor="t">
            <a:spAutoFit/>
          </a:bodyPr>
          <a:lstStyle/>
          <a:p>
            <a:pPr marL="539749" lvl="1" indent="-269875" algn="just">
              <a:lnSpc>
                <a:spcPts val="5499"/>
              </a:lnSpc>
              <a:buFont typeface="Arial"/>
              <a:buChar char="•"/>
            </a:pPr>
            <a:r>
              <a:rPr lang="en-US" sz="2499">
                <a:solidFill>
                  <a:srgbClr val="000000"/>
                </a:solidFill>
                <a:latin typeface="Open Sans"/>
                <a:ea typeface="Open Sans"/>
                <a:cs typeface="Open Sans"/>
                <a:sym typeface="Open Sans"/>
              </a:rPr>
              <a:t>Quản lý và cung cấp UI State</a:t>
            </a:r>
          </a:p>
          <a:p>
            <a:pPr marL="539749" lvl="1" indent="-269875" algn="just">
              <a:lnSpc>
                <a:spcPts val="6249"/>
              </a:lnSpc>
              <a:buFont typeface="Arial"/>
              <a:buChar char="•"/>
            </a:pPr>
            <a:r>
              <a:rPr lang="en-US" sz="2499">
                <a:solidFill>
                  <a:srgbClr val="000000"/>
                </a:solidFill>
                <a:latin typeface="Open Sans"/>
                <a:ea typeface="Open Sans"/>
                <a:cs typeface="Open Sans"/>
                <a:sym typeface="Open Sans"/>
              </a:rPr>
              <a:t>Tách biệt logic nghiệp vụ</a:t>
            </a:r>
          </a:p>
          <a:p>
            <a:pPr marL="539749" lvl="1" indent="-269875" algn="just">
              <a:lnSpc>
                <a:spcPts val="5499"/>
              </a:lnSpc>
              <a:buFont typeface="Arial"/>
              <a:buChar char="•"/>
            </a:pPr>
            <a:r>
              <a:rPr lang="en-US" sz="2499">
                <a:solidFill>
                  <a:srgbClr val="000000"/>
                </a:solidFill>
                <a:latin typeface="Open Sans"/>
                <a:ea typeface="Open Sans"/>
                <a:cs typeface="Open Sans"/>
                <a:sym typeface="Open Sans"/>
              </a:rPr>
              <a:t>Bảo toàn dữ liệu theo vòng đời</a:t>
            </a:r>
          </a:p>
        </p:txBody>
      </p:sp>
      <p:grpSp>
        <p:nvGrpSpPr>
          <p:cNvPr id="13" name="Group 13"/>
          <p:cNvGrpSpPr/>
          <p:nvPr/>
        </p:nvGrpSpPr>
        <p:grpSpPr>
          <a:xfrm>
            <a:off x="6599259" y="3001744"/>
            <a:ext cx="5089482" cy="6092189"/>
            <a:chOff x="0" y="0"/>
            <a:chExt cx="1340440" cy="1604527"/>
          </a:xfrm>
        </p:grpSpPr>
        <p:sp>
          <p:nvSpPr>
            <p:cNvPr id="14" name="Freeform 14"/>
            <p:cNvSpPr/>
            <p:nvPr/>
          </p:nvSpPr>
          <p:spPr>
            <a:xfrm>
              <a:off x="0" y="0"/>
              <a:ext cx="1340440" cy="1604527"/>
            </a:xfrm>
            <a:custGeom>
              <a:avLst/>
              <a:gdLst/>
              <a:ahLst/>
              <a:cxnLst/>
              <a:rect l="l" t="t" r="r" b="b"/>
              <a:pathLst>
                <a:path w="1340440" h="1604527">
                  <a:moveTo>
                    <a:pt x="77579" y="0"/>
                  </a:moveTo>
                  <a:lnTo>
                    <a:pt x="1262861" y="0"/>
                  </a:lnTo>
                  <a:cubicBezTo>
                    <a:pt x="1305707" y="0"/>
                    <a:pt x="1340440" y="34733"/>
                    <a:pt x="1340440" y="77579"/>
                  </a:cubicBezTo>
                  <a:lnTo>
                    <a:pt x="1340440" y="1526948"/>
                  </a:lnTo>
                  <a:cubicBezTo>
                    <a:pt x="1340440" y="1547523"/>
                    <a:pt x="1332266" y="1567256"/>
                    <a:pt x="1317717" y="1581805"/>
                  </a:cubicBezTo>
                  <a:cubicBezTo>
                    <a:pt x="1303169" y="1596354"/>
                    <a:pt x="1283436" y="1604527"/>
                    <a:pt x="1262861" y="1604527"/>
                  </a:cubicBezTo>
                  <a:lnTo>
                    <a:pt x="77579" y="1604527"/>
                  </a:lnTo>
                  <a:cubicBezTo>
                    <a:pt x="57004" y="1604527"/>
                    <a:pt x="37271" y="1596354"/>
                    <a:pt x="22722" y="1581805"/>
                  </a:cubicBezTo>
                  <a:cubicBezTo>
                    <a:pt x="8173" y="1567256"/>
                    <a:pt x="0" y="1547523"/>
                    <a:pt x="0" y="1526948"/>
                  </a:cubicBezTo>
                  <a:lnTo>
                    <a:pt x="0" y="77579"/>
                  </a:lnTo>
                  <a:cubicBezTo>
                    <a:pt x="0" y="57004"/>
                    <a:pt x="8173" y="37271"/>
                    <a:pt x="22722" y="22722"/>
                  </a:cubicBezTo>
                  <a:cubicBezTo>
                    <a:pt x="37271" y="8173"/>
                    <a:pt x="57004" y="0"/>
                    <a:pt x="77579" y="0"/>
                  </a:cubicBezTo>
                  <a:close/>
                </a:path>
              </a:pathLst>
            </a:custGeom>
            <a:solidFill>
              <a:srgbClr val="E8ECEC"/>
            </a:solidFill>
          </p:spPr>
          <p:txBody>
            <a:bodyPr/>
            <a:lstStyle/>
            <a:p>
              <a:endParaRPr lang="en-US"/>
            </a:p>
          </p:txBody>
        </p:sp>
        <p:sp>
          <p:nvSpPr>
            <p:cNvPr id="15" name="TextBox 15"/>
            <p:cNvSpPr txBox="1"/>
            <p:nvPr/>
          </p:nvSpPr>
          <p:spPr>
            <a:xfrm>
              <a:off x="0" y="-180975"/>
              <a:ext cx="1340440" cy="1785502"/>
            </a:xfrm>
            <a:prstGeom prst="rect">
              <a:avLst/>
            </a:prstGeom>
          </p:spPr>
          <p:txBody>
            <a:bodyPr lIns="50800" tIns="50800" rIns="50800" bIns="50800" rtlCol="0" anchor="ctr"/>
            <a:lstStyle/>
            <a:p>
              <a:pPr algn="ctr">
                <a:lnSpc>
                  <a:spcPts val="4179"/>
                </a:lnSpc>
              </a:pPr>
              <a:endParaRPr/>
            </a:p>
          </p:txBody>
        </p:sp>
      </p:grpSp>
      <p:grpSp>
        <p:nvGrpSpPr>
          <p:cNvPr id="16" name="Group 16"/>
          <p:cNvGrpSpPr/>
          <p:nvPr/>
        </p:nvGrpSpPr>
        <p:grpSpPr>
          <a:xfrm>
            <a:off x="7167248" y="2340147"/>
            <a:ext cx="3953503" cy="943217"/>
            <a:chOff x="0" y="0"/>
            <a:chExt cx="1041252" cy="248419"/>
          </a:xfrm>
        </p:grpSpPr>
        <p:sp>
          <p:nvSpPr>
            <p:cNvPr id="17" name="Freeform 17"/>
            <p:cNvSpPr/>
            <p:nvPr/>
          </p:nvSpPr>
          <p:spPr>
            <a:xfrm>
              <a:off x="0" y="0"/>
              <a:ext cx="1041252" cy="248419"/>
            </a:xfrm>
            <a:custGeom>
              <a:avLst/>
              <a:gdLst/>
              <a:ahLst/>
              <a:cxnLst/>
              <a:rect l="l" t="t" r="r" b="b"/>
              <a:pathLst>
                <a:path w="1041252" h="248419">
                  <a:moveTo>
                    <a:pt x="99870" y="0"/>
                  </a:moveTo>
                  <a:lnTo>
                    <a:pt x="941382" y="0"/>
                  </a:lnTo>
                  <a:cubicBezTo>
                    <a:pt x="967869" y="0"/>
                    <a:pt x="993271" y="10522"/>
                    <a:pt x="1012001" y="29251"/>
                  </a:cubicBezTo>
                  <a:cubicBezTo>
                    <a:pt x="1030730" y="47981"/>
                    <a:pt x="1041252" y="73383"/>
                    <a:pt x="1041252" y="99870"/>
                  </a:cubicBezTo>
                  <a:lnTo>
                    <a:pt x="1041252" y="148549"/>
                  </a:lnTo>
                  <a:cubicBezTo>
                    <a:pt x="1041252" y="175036"/>
                    <a:pt x="1030730" y="200439"/>
                    <a:pt x="1012001" y="219168"/>
                  </a:cubicBezTo>
                  <a:cubicBezTo>
                    <a:pt x="993271" y="237897"/>
                    <a:pt x="967869" y="248419"/>
                    <a:pt x="941382" y="248419"/>
                  </a:cubicBezTo>
                  <a:lnTo>
                    <a:pt x="99870" y="248419"/>
                  </a:lnTo>
                  <a:cubicBezTo>
                    <a:pt x="73383" y="248419"/>
                    <a:pt x="47981" y="237897"/>
                    <a:pt x="29251" y="219168"/>
                  </a:cubicBezTo>
                  <a:cubicBezTo>
                    <a:pt x="10522" y="200439"/>
                    <a:pt x="0" y="175036"/>
                    <a:pt x="0" y="148549"/>
                  </a:cubicBezTo>
                  <a:lnTo>
                    <a:pt x="0" y="99870"/>
                  </a:lnTo>
                  <a:cubicBezTo>
                    <a:pt x="0" y="73383"/>
                    <a:pt x="10522" y="47981"/>
                    <a:pt x="29251" y="29251"/>
                  </a:cubicBezTo>
                  <a:cubicBezTo>
                    <a:pt x="47981" y="10522"/>
                    <a:pt x="73383" y="0"/>
                    <a:pt x="99870" y="0"/>
                  </a:cubicBezTo>
                  <a:close/>
                </a:path>
              </a:pathLst>
            </a:custGeom>
            <a:solidFill>
              <a:srgbClr val="0345E4"/>
            </a:solidFill>
          </p:spPr>
          <p:txBody>
            <a:bodyPr/>
            <a:lstStyle/>
            <a:p>
              <a:endParaRPr lang="en-US"/>
            </a:p>
          </p:txBody>
        </p:sp>
        <p:sp>
          <p:nvSpPr>
            <p:cNvPr id="18" name="TextBox 18"/>
            <p:cNvSpPr txBox="1"/>
            <p:nvPr/>
          </p:nvSpPr>
          <p:spPr>
            <a:xfrm>
              <a:off x="0" y="-238125"/>
              <a:ext cx="1041252" cy="486544"/>
            </a:xfrm>
            <a:prstGeom prst="rect">
              <a:avLst/>
            </a:prstGeom>
          </p:spPr>
          <p:txBody>
            <a:bodyPr lIns="50800" tIns="50800" rIns="50800" bIns="50800" rtlCol="0" anchor="ctr"/>
            <a:lstStyle/>
            <a:p>
              <a:pPr algn="ctr">
                <a:lnSpc>
                  <a:spcPts val="5499"/>
                </a:lnSpc>
              </a:pPr>
              <a:endParaRPr lang="en-US" sz="2499" b="1" dirty="0">
                <a:solidFill>
                  <a:srgbClr val="FFFFFF"/>
                </a:solidFill>
                <a:latin typeface="Inter Bold"/>
                <a:ea typeface="Inter Bold"/>
                <a:cs typeface="Inter Bold"/>
                <a:sym typeface="Inter Bold"/>
              </a:endParaRPr>
            </a:p>
            <a:p>
              <a:pPr algn="ctr">
                <a:lnSpc>
                  <a:spcPts val="5499"/>
                </a:lnSpc>
              </a:pPr>
              <a:r>
                <a:rPr lang="en-US" sz="2499" b="1" dirty="0" err="1">
                  <a:solidFill>
                    <a:srgbClr val="FFFFFF"/>
                  </a:solidFill>
                  <a:latin typeface="Inter Bold"/>
                  <a:ea typeface="Inter Bold"/>
                  <a:cs typeface="Inter Bold"/>
                  <a:sym typeface="Inter Bold"/>
                </a:rPr>
                <a:t>Cơ</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chế</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vận</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hành</a:t>
              </a:r>
              <a:endParaRPr lang="en-US" sz="2499" b="1" dirty="0">
                <a:solidFill>
                  <a:srgbClr val="FFFFFF"/>
                </a:solidFill>
                <a:latin typeface="Inter Bold"/>
                <a:ea typeface="Inter Bold"/>
                <a:cs typeface="Inter Bold"/>
                <a:sym typeface="Inter Bold"/>
              </a:endParaRPr>
            </a:p>
          </p:txBody>
        </p:sp>
      </p:grpSp>
      <p:grpSp>
        <p:nvGrpSpPr>
          <p:cNvPr id="19" name="Group 19"/>
          <p:cNvGrpSpPr/>
          <p:nvPr/>
        </p:nvGrpSpPr>
        <p:grpSpPr>
          <a:xfrm>
            <a:off x="12278664" y="2840330"/>
            <a:ext cx="5089482" cy="6253602"/>
            <a:chOff x="0" y="0"/>
            <a:chExt cx="1340440" cy="1647039"/>
          </a:xfrm>
        </p:grpSpPr>
        <p:sp>
          <p:nvSpPr>
            <p:cNvPr id="20" name="Freeform 20"/>
            <p:cNvSpPr/>
            <p:nvPr/>
          </p:nvSpPr>
          <p:spPr>
            <a:xfrm>
              <a:off x="0" y="0"/>
              <a:ext cx="1340440" cy="1647039"/>
            </a:xfrm>
            <a:custGeom>
              <a:avLst/>
              <a:gdLst/>
              <a:ahLst/>
              <a:cxnLst/>
              <a:rect l="l" t="t" r="r" b="b"/>
              <a:pathLst>
                <a:path w="1340440" h="1647039">
                  <a:moveTo>
                    <a:pt x="77579" y="0"/>
                  </a:moveTo>
                  <a:lnTo>
                    <a:pt x="1262861" y="0"/>
                  </a:lnTo>
                  <a:cubicBezTo>
                    <a:pt x="1305707" y="0"/>
                    <a:pt x="1340440" y="34733"/>
                    <a:pt x="1340440" y="77579"/>
                  </a:cubicBezTo>
                  <a:lnTo>
                    <a:pt x="1340440" y="1569460"/>
                  </a:lnTo>
                  <a:cubicBezTo>
                    <a:pt x="1340440" y="1590035"/>
                    <a:pt x="1332266" y="1609768"/>
                    <a:pt x="1317717" y="1624317"/>
                  </a:cubicBezTo>
                  <a:cubicBezTo>
                    <a:pt x="1303169" y="1638866"/>
                    <a:pt x="1283436" y="1647039"/>
                    <a:pt x="1262861" y="1647039"/>
                  </a:cubicBezTo>
                  <a:lnTo>
                    <a:pt x="77579" y="1647039"/>
                  </a:lnTo>
                  <a:cubicBezTo>
                    <a:pt x="57004" y="1647039"/>
                    <a:pt x="37271" y="1638866"/>
                    <a:pt x="22722" y="1624317"/>
                  </a:cubicBezTo>
                  <a:cubicBezTo>
                    <a:pt x="8173" y="1609768"/>
                    <a:pt x="0" y="1590035"/>
                    <a:pt x="0" y="1569460"/>
                  </a:cubicBezTo>
                  <a:lnTo>
                    <a:pt x="0" y="77579"/>
                  </a:lnTo>
                  <a:cubicBezTo>
                    <a:pt x="0" y="57004"/>
                    <a:pt x="8173" y="37271"/>
                    <a:pt x="22722" y="22722"/>
                  </a:cubicBezTo>
                  <a:cubicBezTo>
                    <a:pt x="37271" y="8173"/>
                    <a:pt x="57004" y="0"/>
                    <a:pt x="77579" y="0"/>
                  </a:cubicBezTo>
                  <a:close/>
                </a:path>
              </a:pathLst>
            </a:custGeom>
            <a:solidFill>
              <a:srgbClr val="E8ECEC"/>
            </a:solidFill>
          </p:spPr>
          <p:txBody>
            <a:bodyPr/>
            <a:lstStyle/>
            <a:p>
              <a:endParaRPr lang="en-US"/>
            </a:p>
          </p:txBody>
        </p:sp>
        <p:sp>
          <p:nvSpPr>
            <p:cNvPr id="21" name="TextBox 21"/>
            <p:cNvSpPr txBox="1"/>
            <p:nvPr/>
          </p:nvSpPr>
          <p:spPr>
            <a:xfrm>
              <a:off x="0" y="-180975"/>
              <a:ext cx="1340440" cy="1828014"/>
            </a:xfrm>
            <a:prstGeom prst="rect">
              <a:avLst/>
            </a:prstGeom>
          </p:spPr>
          <p:txBody>
            <a:bodyPr lIns="50800" tIns="50800" rIns="50800" bIns="50800" rtlCol="0" anchor="ctr"/>
            <a:lstStyle/>
            <a:p>
              <a:pPr algn="ctr">
                <a:lnSpc>
                  <a:spcPts val="4179"/>
                </a:lnSpc>
              </a:pPr>
              <a:endParaRPr/>
            </a:p>
          </p:txBody>
        </p:sp>
      </p:grpSp>
      <p:grpSp>
        <p:nvGrpSpPr>
          <p:cNvPr id="22" name="Group 22"/>
          <p:cNvGrpSpPr/>
          <p:nvPr/>
        </p:nvGrpSpPr>
        <p:grpSpPr>
          <a:xfrm>
            <a:off x="12914332" y="2340147"/>
            <a:ext cx="3716629" cy="943217"/>
            <a:chOff x="0" y="0"/>
            <a:chExt cx="978865" cy="248419"/>
          </a:xfrm>
        </p:grpSpPr>
        <p:sp>
          <p:nvSpPr>
            <p:cNvPr id="23" name="Freeform 23"/>
            <p:cNvSpPr/>
            <p:nvPr/>
          </p:nvSpPr>
          <p:spPr>
            <a:xfrm>
              <a:off x="0" y="0"/>
              <a:ext cx="978865" cy="248419"/>
            </a:xfrm>
            <a:custGeom>
              <a:avLst/>
              <a:gdLst/>
              <a:ahLst/>
              <a:cxnLst/>
              <a:rect l="l" t="t" r="r" b="b"/>
              <a:pathLst>
                <a:path w="978865" h="248419">
                  <a:moveTo>
                    <a:pt x="106235" y="0"/>
                  </a:moveTo>
                  <a:lnTo>
                    <a:pt x="872630" y="0"/>
                  </a:lnTo>
                  <a:cubicBezTo>
                    <a:pt x="931302" y="0"/>
                    <a:pt x="978865" y="47563"/>
                    <a:pt x="978865" y="106235"/>
                  </a:cubicBezTo>
                  <a:lnTo>
                    <a:pt x="978865" y="142184"/>
                  </a:lnTo>
                  <a:cubicBezTo>
                    <a:pt x="978865" y="200856"/>
                    <a:pt x="931302" y="248419"/>
                    <a:pt x="872630" y="248419"/>
                  </a:cubicBezTo>
                  <a:lnTo>
                    <a:pt x="106235" y="248419"/>
                  </a:lnTo>
                  <a:cubicBezTo>
                    <a:pt x="47563" y="248419"/>
                    <a:pt x="0" y="200856"/>
                    <a:pt x="0" y="142184"/>
                  </a:cubicBezTo>
                  <a:lnTo>
                    <a:pt x="0" y="106235"/>
                  </a:lnTo>
                  <a:cubicBezTo>
                    <a:pt x="0" y="47563"/>
                    <a:pt x="47563" y="0"/>
                    <a:pt x="106235" y="0"/>
                  </a:cubicBezTo>
                  <a:close/>
                </a:path>
              </a:pathLst>
            </a:custGeom>
            <a:solidFill>
              <a:srgbClr val="0345E4"/>
            </a:solidFill>
          </p:spPr>
          <p:txBody>
            <a:bodyPr/>
            <a:lstStyle/>
            <a:p>
              <a:endParaRPr lang="en-US"/>
            </a:p>
          </p:txBody>
        </p:sp>
        <p:sp>
          <p:nvSpPr>
            <p:cNvPr id="24" name="TextBox 24"/>
            <p:cNvSpPr txBox="1"/>
            <p:nvPr/>
          </p:nvSpPr>
          <p:spPr>
            <a:xfrm>
              <a:off x="0" y="-238125"/>
              <a:ext cx="978865" cy="486544"/>
            </a:xfrm>
            <a:prstGeom prst="rect">
              <a:avLst/>
            </a:prstGeom>
          </p:spPr>
          <p:txBody>
            <a:bodyPr lIns="50800" tIns="50800" rIns="50800" bIns="50800" rtlCol="0" anchor="ctr"/>
            <a:lstStyle/>
            <a:p>
              <a:pPr algn="ctr">
                <a:lnSpc>
                  <a:spcPts val="5499"/>
                </a:lnSpc>
              </a:pPr>
              <a:endParaRPr lang="en-US" sz="2499" b="1" dirty="0">
                <a:solidFill>
                  <a:srgbClr val="FFFFFF"/>
                </a:solidFill>
                <a:latin typeface="Inter Bold"/>
                <a:ea typeface="Inter Bold"/>
                <a:cs typeface="Inter Bold"/>
                <a:sym typeface="Inter Bold"/>
              </a:endParaRPr>
            </a:p>
            <a:p>
              <a:pPr algn="ctr">
                <a:lnSpc>
                  <a:spcPts val="5499"/>
                </a:lnSpc>
              </a:pPr>
              <a:r>
                <a:rPr lang="en-US" sz="2499" b="1" dirty="0">
                  <a:solidFill>
                    <a:srgbClr val="FFFFFF"/>
                  </a:solidFill>
                  <a:latin typeface="Inter Bold"/>
                  <a:ea typeface="Inter Bold"/>
                  <a:cs typeface="Inter Bold"/>
                  <a:sym typeface="Inter Bold"/>
                </a:rPr>
                <a:t>Lợi </a:t>
              </a:r>
              <a:r>
                <a:rPr lang="en-US" sz="2499" b="1" dirty="0" err="1">
                  <a:solidFill>
                    <a:srgbClr val="FFFFFF"/>
                  </a:solidFill>
                  <a:latin typeface="Inter Bold"/>
                  <a:ea typeface="Inter Bold"/>
                  <a:cs typeface="Inter Bold"/>
                  <a:sym typeface="Inter Bold"/>
                </a:rPr>
                <a:t>ích</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kỹ</a:t>
              </a:r>
              <a:r>
                <a:rPr lang="en-US" sz="2499" b="1" dirty="0">
                  <a:solidFill>
                    <a:srgbClr val="FFFFFF"/>
                  </a:solidFill>
                  <a:latin typeface="Inter Bold"/>
                  <a:ea typeface="Inter Bold"/>
                  <a:cs typeface="Inter Bold"/>
                  <a:sym typeface="Inter Bold"/>
                </a:rPr>
                <a:t> </a:t>
              </a:r>
              <a:r>
                <a:rPr lang="en-US" sz="2499" b="1" dirty="0" err="1">
                  <a:solidFill>
                    <a:srgbClr val="FFFFFF"/>
                  </a:solidFill>
                  <a:latin typeface="Inter Bold"/>
                  <a:ea typeface="Inter Bold"/>
                  <a:cs typeface="Inter Bold"/>
                  <a:sym typeface="Inter Bold"/>
                </a:rPr>
                <a:t>thuật</a:t>
              </a:r>
              <a:endParaRPr lang="en-US" sz="2499" b="1" dirty="0">
                <a:solidFill>
                  <a:srgbClr val="FFFFFF"/>
                </a:solidFill>
                <a:latin typeface="Inter Bold"/>
                <a:ea typeface="Inter Bold"/>
                <a:cs typeface="Inter Bold"/>
                <a:sym typeface="Inter Bold"/>
              </a:endParaRPr>
            </a:p>
          </p:txBody>
        </p:sp>
      </p:grpSp>
      <p:sp>
        <p:nvSpPr>
          <p:cNvPr id="25" name="TextBox 25"/>
          <p:cNvSpPr txBox="1"/>
          <p:nvPr/>
        </p:nvSpPr>
        <p:spPr>
          <a:xfrm>
            <a:off x="6796547" y="3490057"/>
            <a:ext cx="4408842" cy="4910670"/>
          </a:xfrm>
          <a:prstGeom prst="rect">
            <a:avLst/>
          </a:prstGeom>
        </p:spPr>
        <p:txBody>
          <a:bodyPr lIns="0" tIns="0" rIns="0" bIns="0" rtlCol="0" anchor="t">
            <a:spAutoFit/>
          </a:bodyPr>
          <a:lstStyle/>
          <a:p>
            <a:pPr marL="539749" lvl="1" indent="-269875" algn="just">
              <a:lnSpc>
                <a:spcPts val="5499"/>
              </a:lnSpc>
              <a:buFont typeface="Arial"/>
              <a:buChar char="•"/>
            </a:pPr>
            <a:r>
              <a:rPr lang="en-US" sz="2499">
                <a:solidFill>
                  <a:srgbClr val="000000"/>
                </a:solidFill>
                <a:latin typeface="Open Sans"/>
                <a:ea typeface="Open Sans"/>
                <a:cs typeface="Open Sans"/>
                <a:sym typeface="Open Sans"/>
              </a:rPr>
              <a:t>Luồng dữ liệu: cung cấp UiState để Composable quan sát và hiển thị.</a:t>
            </a:r>
          </a:p>
          <a:p>
            <a:pPr algn="just">
              <a:lnSpc>
                <a:spcPts val="1100"/>
              </a:lnSpc>
            </a:pPr>
            <a:endParaRPr lang="en-US" sz="2499">
              <a:solidFill>
                <a:srgbClr val="000000"/>
              </a:solidFill>
              <a:latin typeface="Open Sans"/>
              <a:ea typeface="Open Sans"/>
              <a:cs typeface="Open Sans"/>
              <a:sym typeface="Open Sans"/>
            </a:endParaRPr>
          </a:p>
          <a:p>
            <a:pPr marL="539749" lvl="1" indent="-269875" algn="just">
              <a:lnSpc>
                <a:spcPts val="5499"/>
              </a:lnSpc>
              <a:buFont typeface="Arial"/>
              <a:buChar char="•"/>
            </a:pPr>
            <a:r>
              <a:rPr lang="en-US" sz="2499">
                <a:solidFill>
                  <a:srgbClr val="000000"/>
                </a:solidFill>
                <a:latin typeface="Open Sans"/>
                <a:ea typeface="Open Sans"/>
                <a:cs typeface="Open Sans"/>
                <a:sym typeface="Open Sans"/>
              </a:rPr>
              <a:t>Luồng sự kiện: ViewModel xử lý nghiệp vụ và cập nhật lại UiState, khép kín vòng lặp.</a:t>
            </a:r>
          </a:p>
        </p:txBody>
      </p:sp>
      <p:sp>
        <p:nvSpPr>
          <p:cNvPr id="26" name="TextBox 26"/>
          <p:cNvSpPr txBox="1"/>
          <p:nvPr/>
        </p:nvSpPr>
        <p:spPr>
          <a:xfrm>
            <a:off x="12526941" y="3490057"/>
            <a:ext cx="4408842" cy="2006600"/>
          </a:xfrm>
          <a:prstGeom prst="rect">
            <a:avLst/>
          </a:prstGeom>
        </p:spPr>
        <p:txBody>
          <a:bodyPr lIns="0" tIns="0" rIns="0" bIns="0" rtlCol="0" anchor="t">
            <a:spAutoFit/>
          </a:bodyPr>
          <a:lstStyle/>
          <a:p>
            <a:pPr marL="539749" lvl="1" indent="-269875" algn="l">
              <a:lnSpc>
                <a:spcPts val="5499"/>
              </a:lnSpc>
              <a:buFont typeface="Arial"/>
              <a:buChar char="•"/>
            </a:pPr>
            <a:r>
              <a:rPr lang="en-US" sz="2499">
                <a:solidFill>
                  <a:srgbClr val="000000"/>
                </a:solidFill>
                <a:latin typeface="Open Sans"/>
                <a:ea typeface="Open Sans"/>
                <a:cs typeface="Open Sans"/>
                <a:sym typeface="Open Sans"/>
              </a:rPr>
              <a:t>Tối ưu kiểm thử</a:t>
            </a:r>
          </a:p>
          <a:p>
            <a:pPr marL="539749" lvl="1" indent="-269875" algn="l">
              <a:lnSpc>
                <a:spcPts val="5499"/>
              </a:lnSpc>
              <a:buFont typeface="Arial"/>
              <a:buChar char="•"/>
            </a:pPr>
            <a:r>
              <a:rPr lang="en-US" sz="2499">
                <a:solidFill>
                  <a:srgbClr val="000000"/>
                </a:solidFill>
                <a:latin typeface="Open Sans"/>
                <a:ea typeface="Open Sans"/>
                <a:cs typeface="Open Sans"/>
                <a:sym typeface="Open Sans"/>
              </a:rPr>
              <a:t>Kiến trúc được tổ chức tốt</a:t>
            </a:r>
          </a:p>
          <a:p>
            <a:pPr marL="539749" lvl="1" indent="-269875" algn="l">
              <a:lnSpc>
                <a:spcPts val="5499"/>
              </a:lnSpc>
              <a:buFont typeface="Arial"/>
              <a:buChar char="•"/>
            </a:pPr>
            <a:r>
              <a:rPr lang="en-US" sz="2499">
                <a:solidFill>
                  <a:srgbClr val="000000"/>
                </a:solidFill>
                <a:latin typeface="Open Sans"/>
                <a:ea typeface="Open Sans"/>
                <a:cs typeface="Open Sans"/>
                <a:sym typeface="Open Sans"/>
              </a:rPr>
              <a:t>Bảo toàn dữ liệu</a:t>
            </a:r>
          </a:p>
        </p:txBody>
      </p:sp>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543194"/>
            <a:chOff x="0" y="0"/>
            <a:chExt cx="4816593" cy="406438"/>
          </a:xfrm>
        </p:grpSpPr>
        <p:sp>
          <p:nvSpPr>
            <p:cNvPr id="3" name="Freeform 3"/>
            <p:cNvSpPr/>
            <p:nvPr/>
          </p:nvSpPr>
          <p:spPr>
            <a:xfrm>
              <a:off x="0" y="0"/>
              <a:ext cx="4816592" cy="406438"/>
            </a:xfrm>
            <a:custGeom>
              <a:avLst/>
              <a:gdLst/>
              <a:ahLst/>
              <a:cxnLst/>
              <a:rect l="l" t="t" r="r" b="b"/>
              <a:pathLst>
                <a:path w="4816592" h="406438">
                  <a:moveTo>
                    <a:pt x="0" y="0"/>
                  </a:moveTo>
                  <a:lnTo>
                    <a:pt x="4816592" y="0"/>
                  </a:lnTo>
                  <a:lnTo>
                    <a:pt x="4816592" y="406438"/>
                  </a:lnTo>
                  <a:lnTo>
                    <a:pt x="0" y="406438"/>
                  </a:lnTo>
                  <a:close/>
                </a:path>
              </a:pathLst>
            </a:custGeom>
            <a:solidFill>
              <a:srgbClr val="0345E4"/>
            </a:solidFill>
          </p:spPr>
          <p:txBody>
            <a:bodyPr/>
            <a:lstStyle/>
            <a:p>
              <a:endParaRPr lang="en-US"/>
            </a:p>
          </p:txBody>
        </p:sp>
        <p:sp>
          <p:nvSpPr>
            <p:cNvPr id="4" name="TextBox 4"/>
            <p:cNvSpPr txBox="1"/>
            <p:nvPr/>
          </p:nvSpPr>
          <p:spPr>
            <a:xfrm>
              <a:off x="0" y="-38100"/>
              <a:ext cx="4816593" cy="4445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347" y="2221901"/>
            <a:ext cx="9518555" cy="830836"/>
            <a:chOff x="0" y="0"/>
            <a:chExt cx="4879312" cy="425895"/>
          </a:xfrm>
        </p:grpSpPr>
        <p:sp>
          <p:nvSpPr>
            <p:cNvPr id="6" name="Freeform 6"/>
            <p:cNvSpPr/>
            <p:nvPr/>
          </p:nvSpPr>
          <p:spPr>
            <a:xfrm>
              <a:off x="0" y="0"/>
              <a:ext cx="4879312" cy="425895"/>
            </a:xfrm>
            <a:custGeom>
              <a:avLst/>
              <a:gdLst/>
              <a:ahLst/>
              <a:cxnLst/>
              <a:rect l="l" t="t" r="r" b="b"/>
              <a:pathLst>
                <a:path w="4879312" h="425895">
                  <a:moveTo>
                    <a:pt x="4676112" y="0"/>
                  </a:moveTo>
                  <a:cubicBezTo>
                    <a:pt x="4788336" y="0"/>
                    <a:pt x="4879312" y="95340"/>
                    <a:pt x="4879312" y="212948"/>
                  </a:cubicBezTo>
                  <a:cubicBezTo>
                    <a:pt x="4879312" y="330556"/>
                    <a:pt x="4788336" y="425895"/>
                    <a:pt x="4676112"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7" name="TextBox 7"/>
            <p:cNvSpPr txBox="1"/>
            <p:nvPr/>
          </p:nvSpPr>
          <p:spPr>
            <a:xfrm>
              <a:off x="0" y="-47625"/>
              <a:ext cx="4879312" cy="473520"/>
            </a:xfrm>
            <a:prstGeom prst="rect">
              <a:avLst/>
            </a:prstGeom>
          </p:spPr>
          <p:txBody>
            <a:bodyPr lIns="50800" tIns="50800" rIns="50800" bIns="50800" rtlCol="0" anchor="ctr"/>
            <a:lstStyle/>
            <a:p>
              <a:pPr algn="l">
                <a:lnSpc>
                  <a:spcPts val="3499"/>
                </a:lnSpc>
              </a:pPr>
              <a:r>
                <a:rPr lang="en-US" sz="2499" b="1">
                  <a:solidFill>
                    <a:srgbClr val="FFFFFF"/>
                  </a:solidFill>
                  <a:latin typeface="Garet Bold"/>
                  <a:ea typeface="Garet Bold"/>
                  <a:cs typeface="Garet Bold"/>
                  <a:sym typeface="Garet Bold"/>
                </a:rPr>
                <a:t>       Tiêu chuẩn lựa chọn luồng dữ liệu trong ViewModel</a:t>
              </a:r>
            </a:p>
          </p:txBody>
        </p:sp>
      </p:grpSp>
      <p:sp>
        <p:nvSpPr>
          <p:cNvPr id="8" name="TextBox 8"/>
          <p:cNvSpPr txBox="1"/>
          <p:nvPr/>
        </p:nvSpPr>
        <p:spPr>
          <a:xfrm>
            <a:off x="763347" y="410282"/>
            <a:ext cx="16312848" cy="646430"/>
          </a:xfrm>
          <a:prstGeom prst="rect">
            <a:avLst/>
          </a:prstGeom>
        </p:spPr>
        <p:txBody>
          <a:bodyPr lIns="0" tIns="0" rIns="0" bIns="0" rtlCol="0" anchor="t">
            <a:spAutoFit/>
          </a:bodyPr>
          <a:lstStyle/>
          <a:p>
            <a:pPr algn="l">
              <a:lnSpc>
                <a:spcPts val="5320"/>
              </a:lnSpc>
            </a:pPr>
            <a:r>
              <a:rPr lang="en-US" sz="3800" b="1" spc="76">
                <a:solidFill>
                  <a:srgbClr val="FFFFFF"/>
                </a:solidFill>
                <a:latin typeface="Garet Bold"/>
                <a:ea typeface="Garet Bold"/>
                <a:cs typeface="Garet Bold"/>
                <a:sym typeface="Garet Bold"/>
              </a:rPr>
              <a:t>CƠ CHẾ QUAN SÁT STATE VÀ TỐI ƯU HÓA TÀI NGUYÊN</a:t>
            </a:r>
          </a:p>
        </p:txBody>
      </p:sp>
      <p:sp>
        <p:nvSpPr>
          <p:cNvPr id="9" name="TextBox 9"/>
          <p:cNvSpPr txBox="1"/>
          <p:nvPr/>
        </p:nvSpPr>
        <p:spPr>
          <a:xfrm>
            <a:off x="763347" y="3039151"/>
            <a:ext cx="16495953" cy="2933814"/>
          </a:xfrm>
          <a:prstGeom prst="rect">
            <a:avLst/>
          </a:prstGeom>
        </p:spPr>
        <p:txBody>
          <a:bodyPr lIns="0" tIns="0" rIns="0" bIns="0" rtlCol="0" anchor="t">
            <a:spAutoFit/>
          </a:bodyPr>
          <a:lstStyle/>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StateFlow: Được khuyến nghị là tiêu chuẩn cho trạng thái UI</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LiveData: Vẫn được hỗ trợ trong Compose thông qua adapter chuyển đổi, tuy nhiên StateFlow được ưu tiên hơn trong các dự án Kotlin-first.</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Channel/SharedFlow: Chuyên biệt cho xử lý các sự kiện một lần.</a:t>
            </a:r>
          </a:p>
        </p:txBody>
      </p:sp>
      <p:grpSp>
        <p:nvGrpSpPr>
          <p:cNvPr id="10" name="Group 10"/>
          <p:cNvGrpSpPr/>
          <p:nvPr/>
        </p:nvGrpSpPr>
        <p:grpSpPr>
          <a:xfrm>
            <a:off x="763347" y="6570089"/>
            <a:ext cx="8247976" cy="830836"/>
            <a:chOff x="0" y="0"/>
            <a:chExt cx="4228000" cy="425895"/>
          </a:xfrm>
        </p:grpSpPr>
        <p:sp>
          <p:nvSpPr>
            <p:cNvPr id="11" name="Freeform 11"/>
            <p:cNvSpPr/>
            <p:nvPr/>
          </p:nvSpPr>
          <p:spPr>
            <a:xfrm>
              <a:off x="0" y="0"/>
              <a:ext cx="4228000" cy="425895"/>
            </a:xfrm>
            <a:custGeom>
              <a:avLst/>
              <a:gdLst/>
              <a:ahLst/>
              <a:cxnLst/>
              <a:rect l="l" t="t" r="r" b="b"/>
              <a:pathLst>
                <a:path w="4228000" h="425895">
                  <a:moveTo>
                    <a:pt x="4024800" y="0"/>
                  </a:moveTo>
                  <a:cubicBezTo>
                    <a:pt x="4137024" y="0"/>
                    <a:pt x="4228000" y="95340"/>
                    <a:pt x="4228000" y="212948"/>
                  </a:cubicBezTo>
                  <a:cubicBezTo>
                    <a:pt x="4228000" y="330556"/>
                    <a:pt x="4137024" y="425895"/>
                    <a:pt x="4024800" y="425895"/>
                  </a:cubicBezTo>
                  <a:lnTo>
                    <a:pt x="203200" y="425895"/>
                  </a:lnTo>
                  <a:cubicBezTo>
                    <a:pt x="90976" y="425895"/>
                    <a:pt x="0" y="330556"/>
                    <a:pt x="0" y="212948"/>
                  </a:cubicBezTo>
                  <a:cubicBezTo>
                    <a:pt x="0" y="95340"/>
                    <a:pt x="90976" y="0"/>
                    <a:pt x="203200" y="0"/>
                  </a:cubicBezTo>
                  <a:close/>
                </a:path>
              </a:pathLst>
            </a:custGeom>
            <a:solidFill>
              <a:srgbClr val="0345E4"/>
            </a:solidFill>
          </p:spPr>
          <p:txBody>
            <a:bodyPr/>
            <a:lstStyle/>
            <a:p>
              <a:endParaRPr lang="en-US"/>
            </a:p>
          </p:txBody>
        </p:sp>
        <p:sp>
          <p:nvSpPr>
            <p:cNvPr id="12" name="TextBox 12"/>
            <p:cNvSpPr txBox="1"/>
            <p:nvPr/>
          </p:nvSpPr>
          <p:spPr>
            <a:xfrm>
              <a:off x="0" y="-47625"/>
              <a:ext cx="4228000" cy="473520"/>
            </a:xfrm>
            <a:prstGeom prst="rect">
              <a:avLst/>
            </a:prstGeom>
          </p:spPr>
          <p:txBody>
            <a:bodyPr lIns="50800" tIns="50800" rIns="50800" bIns="50800" rtlCol="0" anchor="ctr"/>
            <a:lstStyle/>
            <a:p>
              <a:pPr algn="just">
                <a:lnSpc>
                  <a:spcPts val="3499"/>
                </a:lnSpc>
              </a:pPr>
              <a:r>
                <a:rPr lang="en-US" sz="2499" b="1">
                  <a:solidFill>
                    <a:srgbClr val="FFFFFF"/>
                  </a:solidFill>
                  <a:latin typeface="Garet Bold"/>
                  <a:ea typeface="Garet Bold"/>
                  <a:cs typeface="Garet Bold"/>
                  <a:sym typeface="Garet Bold"/>
                </a:rPr>
                <a:t>       Cơ chế tích hợp và an toàn theo Lifecycle</a:t>
              </a:r>
            </a:p>
          </p:txBody>
        </p:sp>
      </p:grpSp>
      <p:sp>
        <p:nvSpPr>
          <p:cNvPr id="13" name="TextBox 13"/>
          <p:cNvSpPr txBox="1"/>
          <p:nvPr/>
        </p:nvSpPr>
        <p:spPr>
          <a:xfrm>
            <a:off x="763347" y="7486650"/>
            <a:ext cx="16495953" cy="2181225"/>
          </a:xfrm>
          <a:prstGeom prst="rect">
            <a:avLst/>
          </a:prstGeom>
        </p:spPr>
        <p:txBody>
          <a:bodyPr lIns="0" tIns="0" rIns="0" bIns="0" rtlCol="0" anchor="t">
            <a:spAutoFit/>
          </a:bodyPr>
          <a:lstStyle/>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Luông dữ liệu phải được chuyển đổi thành State&lt;T&gt;  thông qua </a:t>
            </a:r>
            <a:r>
              <a:rPr lang="en-US" sz="2700" i="1">
                <a:solidFill>
                  <a:srgbClr val="000000"/>
                </a:solidFill>
                <a:latin typeface="Open Sans Italics"/>
                <a:ea typeface="Open Sans Italics"/>
                <a:cs typeface="Open Sans Italics"/>
                <a:sym typeface="Open Sans Italics"/>
              </a:rPr>
              <a:t>collectAsState </a:t>
            </a:r>
            <a:r>
              <a:rPr lang="en-US" sz="2700">
                <a:solidFill>
                  <a:srgbClr val="000000"/>
                </a:solidFill>
                <a:latin typeface="Open Sans"/>
                <a:ea typeface="Open Sans"/>
                <a:cs typeface="Open Sans"/>
                <a:sym typeface="Open Sans"/>
              </a:rPr>
              <a:t>hoặc </a:t>
            </a:r>
            <a:r>
              <a:rPr lang="en-US" sz="2700" i="1">
                <a:solidFill>
                  <a:srgbClr val="000000"/>
                </a:solidFill>
                <a:latin typeface="Open Sans Italics"/>
                <a:ea typeface="Open Sans Italics"/>
                <a:cs typeface="Open Sans Italics"/>
                <a:sym typeface="Open Sans Italics"/>
              </a:rPr>
              <a:t>observeAsState</a:t>
            </a:r>
          </a:p>
          <a:p>
            <a:pPr marL="582930" lvl="1" indent="-291465" algn="just">
              <a:lnSpc>
                <a:spcPts val="5940"/>
              </a:lnSpc>
              <a:buFont typeface="Arial"/>
              <a:buChar char="•"/>
            </a:pPr>
            <a:r>
              <a:rPr lang="en-US" sz="2700">
                <a:solidFill>
                  <a:srgbClr val="000000"/>
                </a:solidFill>
                <a:latin typeface="Open Sans"/>
                <a:ea typeface="Open Sans"/>
                <a:cs typeface="Open Sans"/>
                <a:sym typeface="Open Sans"/>
              </a:rPr>
              <a:t>Bắt buộc sử dụng các API nhận thức vòng đời như </a:t>
            </a:r>
            <a:r>
              <a:rPr lang="en-US" sz="2700" i="1">
                <a:solidFill>
                  <a:srgbClr val="000000"/>
                </a:solidFill>
                <a:latin typeface="Open Sans Italics"/>
                <a:ea typeface="Open Sans Italics"/>
                <a:cs typeface="Open Sans Italics"/>
                <a:sym typeface="Open Sans Italics"/>
              </a:rPr>
              <a:t>collectAsStateWithLifecycle</a:t>
            </a:r>
            <a:r>
              <a:rPr lang="en-US" sz="2700">
                <a:solidFill>
                  <a:srgbClr val="000000"/>
                </a:solidFill>
                <a:latin typeface="Open Sans"/>
                <a:ea typeface="Open Sans"/>
                <a:cs typeface="Open Sans"/>
                <a:sym typeface="Open Sans"/>
              </a:rPr>
              <a:t>() hoặc pattern </a:t>
            </a:r>
            <a:r>
              <a:rPr lang="en-US" sz="2700" i="1">
                <a:solidFill>
                  <a:srgbClr val="000000"/>
                </a:solidFill>
                <a:latin typeface="Open Sans Italics"/>
                <a:ea typeface="Open Sans Italics"/>
                <a:cs typeface="Open Sans Italics"/>
                <a:sym typeface="Open Sans Italics"/>
              </a:rPr>
              <a:t>repeatOnLifecycle, g</a:t>
            </a:r>
            <a:r>
              <a:rPr lang="en-US" sz="2700">
                <a:solidFill>
                  <a:srgbClr val="000000"/>
                </a:solidFill>
                <a:latin typeface="Open Sans"/>
                <a:ea typeface="Open Sans"/>
                <a:cs typeface="Open Sans"/>
                <a:sym typeface="Open Sans"/>
              </a:rPr>
              <a:t>iúp tiết kiệm tài nguyên hệ thống và ngăn chặn các cập nhật UI không an toàn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03496" r="-129630"/>
              </a:stretch>
            </a:blipFill>
          </p:spPr>
          <p:txBody>
            <a:bodyPr/>
            <a:lstStyle/>
            <a:p>
              <a:endParaRPr lang="en-US"/>
            </a:p>
          </p:txBody>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txBody>
            <a:bodyPr/>
            <a:lstStyle/>
            <a:p>
              <a:endParaRPr lang="en-US"/>
            </a:p>
          </p:txBody>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259300" y="0"/>
            <a:ext cx="1028700" cy="1028700"/>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txBody>
            <a:bodyPr/>
            <a:lstStyle/>
            <a:p>
              <a:endParaRPr lang="en-US"/>
            </a:p>
          </p:txBody>
        </p:sp>
        <p:sp>
          <p:nvSpPr>
            <p:cNvPr id="9" name="TextBox 9"/>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09914" y="0"/>
            <a:ext cx="1694792" cy="10287000"/>
            <a:chOff x="0" y="0"/>
            <a:chExt cx="446365" cy="2709333"/>
          </a:xfrm>
        </p:grpSpPr>
        <p:sp>
          <p:nvSpPr>
            <p:cNvPr id="11" name="Freeform 11"/>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txBody>
            <a:bodyPr/>
            <a:lstStyle/>
            <a:p>
              <a:endParaRPr lang="en-US"/>
            </a:p>
          </p:txBody>
        </p:sp>
        <p:sp>
          <p:nvSpPr>
            <p:cNvPr id="12" name="TextBox 12"/>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53503" y="5611144"/>
            <a:ext cx="3161079" cy="545802"/>
            <a:chOff x="0" y="0"/>
            <a:chExt cx="832548" cy="143750"/>
          </a:xfrm>
        </p:grpSpPr>
        <p:sp>
          <p:nvSpPr>
            <p:cNvPr id="14" name="Freeform 14"/>
            <p:cNvSpPr/>
            <p:nvPr/>
          </p:nvSpPr>
          <p:spPr>
            <a:xfrm>
              <a:off x="0" y="0"/>
              <a:ext cx="832548" cy="143750"/>
            </a:xfrm>
            <a:custGeom>
              <a:avLst/>
              <a:gdLst/>
              <a:ahLst/>
              <a:cxnLst/>
              <a:rect l="l" t="t" r="r" b="b"/>
              <a:pathLst>
                <a:path w="832548" h="143750">
                  <a:moveTo>
                    <a:pt x="71875" y="0"/>
                  </a:moveTo>
                  <a:lnTo>
                    <a:pt x="760672" y="0"/>
                  </a:lnTo>
                  <a:cubicBezTo>
                    <a:pt x="779735" y="0"/>
                    <a:pt x="798017" y="7573"/>
                    <a:pt x="811496" y="21052"/>
                  </a:cubicBezTo>
                  <a:cubicBezTo>
                    <a:pt x="824975" y="34531"/>
                    <a:pt x="832548" y="52813"/>
                    <a:pt x="832548" y="71875"/>
                  </a:cubicBezTo>
                  <a:lnTo>
                    <a:pt x="832548" y="71875"/>
                  </a:lnTo>
                  <a:cubicBezTo>
                    <a:pt x="832548" y="111571"/>
                    <a:pt x="800368" y="143750"/>
                    <a:pt x="760672" y="143750"/>
                  </a:cubicBezTo>
                  <a:lnTo>
                    <a:pt x="71875" y="143750"/>
                  </a:lnTo>
                  <a:cubicBezTo>
                    <a:pt x="52813" y="143750"/>
                    <a:pt x="34531" y="136178"/>
                    <a:pt x="21052" y="122699"/>
                  </a:cubicBezTo>
                  <a:cubicBezTo>
                    <a:pt x="7573" y="109219"/>
                    <a:pt x="0" y="90938"/>
                    <a:pt x="0" y="71875"/>
                  </a:cubicBezTo>
                  <a:lnTo>
                    <a:pt x="0" y="71875"/>
                  </a:lnTo>
                  <a:cubicBezTo>
                    <a:pt x="0" y="52813"/>
                    <a:pt x="7573" y="34531"/>
                    <a:pt x="21052" y="21052"/>
                  </a:cubicBezTo>
                  <a:cubicBezTo>
                    <a:pt x="34531" y="7573"/>
                    <a:pt x="52813" y="0"/>
                    <a:pt x="71875" y="0"/>
                  </a:cubicBezTo>
                  <a:close/>
                </a:path>
              </a:pathLst>
            </a:custGeom>
            <a:solidFill>
              <a:srgbClr val="0345E4"/>
            </a:solidFill>
          </p:spPr>
          <p:txBody>
            <a:bodyPr/>
            <a:lstStyle/>
            <a:p>
              <a:endParaRPr lang="en-US"/>
            </a:p>
          </p:txBody>
        </p:sp>
        <p:sp>
          <p:nvSpPr>
            <p:cNvPr id="15" name="TextBox 15"/>
            <p:cNvSpPr txBox="1"/>
            <p:nvPr/>
          </p:nvSpPr>
          <p:spPr>
            <a:xfrm>
              <a:off x="0" y="-38100"/>
              <a:ext cx="832548" cy="181850"/>
            </a:xfrm>
            <a:prstGeom prst="rect">
              <a:avLst/>
            </a:prstGeom>
          </p:spPr>
          <p:txBody>
            <a:bodyPr lIns="50800" tIns="50800" rIns="50800" bIns="50800" rtlCol="0" anchor="ctr"/>
            <a:lstStyle/>
            <a:p>
              <a:pPr algn="ctr">
                <a:lnSpc>
                  <a:spcPts val="3079"/>
                </a:lnSpc>
              </a:pPr>
              <a:r>
                <a:rPr lang="en-US" sz="2199" b="1">
                  <a:solidFill>
                    <a:srgbClr val="FFFFFF"/>
                  </a:solidFill>
                  <a:latin typeface="Garet Bold"/>
                  <a:ea typeface="Garet Bold"/>
                  <a:cs typeface="Garet Bold"/>
                  <a:sym typeface="Garet Bold"/>
                </a:rPr>
                <a:t>12/2025</a:t>
              </a:r>
            </a:p>
          </p:txBody>
        </p:sp>
      </p:grpSp>
      <p:grpSp>
        <p:nvGrpSpPr>
          <p:cNvPr id="16" name="Group 16"/>
          <p:cNvGrpSpPr/>
          <p:nvPr/>
        </p:nvGrpSpPr>
        <p:grpSpPr>
          <a:xfrm>
            <a:off x="10853887" y="786854"/>
            <a:ext cx="1977164" cy="1977164"/>
            <a:chOff x="0" y="0"/>
            <a:chExt cx="812800" cy="812800"/>
          </a:xfrm>
        </p:grpSpPr>
        <p:sp>
          <p:nvSpPr>
            <p:cNvPr id="17" name="Freeform 17"/>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txBody>
            <a:bodyPr/>
            <a:lstStyle/>
            <a:p>
              <a:endParaRPr lang="en-US"/>
            </a:p>
          </p:txBody>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7871056" y="8895618"/>
            <a:ext cx="2545888" cy="254588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653503" y="4648200"/>
            <a:ext cx="8766566" cy="495300"/>
          </a:xfrm>
          <a:prstGeom prst="rect">
            <a:avLst/>
          </a:prstGeom>
        </p:spPr>
        <p:txBody>
          <a:bodyPr lIns="0" tIns="0" rIns="0" bIns="0" rtlCol="0" anchor="t">
            <a:spAutoFit/>
          </a:bodyPr>
          <a:lstStyle/>
          <a:p>
            <a:pPr algn="l">
              <a:lnSpc>
                <a:spcPts val="4199"/>
              </a:lnSpc>
            </a:pPr>
            <a:r>
              <a:rPr lang="en-US" sz="2999" spc="299">
                <a:solidFill>
                  <a:srgbClr val="000000"/>
                </a:solidFill>
                <a:latin typeface="Garet"/>
                <a:ea typeface="Garet"/>
                <a:cs typeface="Garet"/>
                <a:sym typeface="Garet"/>
              </a:rPr>
              <a:t>FOR YOUR ATTENTION</a:t>
            </a:r>
          </a:p>
        </p:txBody>
      </p:sp>
      <p:sp>
        <p:nvSpPr>
          <p:cNvPr id="23" name="TextBox 23"/>
          <p:cNvSpPr txBox="1"/>
          <p:nvPr/>
        </p:nvSpPr>
        <p:spPr>
          <a:xfrm>
            <a:off x="1624423" y="3135538"/>
            <a:ext cx="8795646" cy="1523365"/>
          </a:xfrm>
          <a:prstGeom prst="rect">
            <a:avLst/>
          </a:prstGeom>
        </p:spPr>
        <p:txBody>
          <a:bodyPr lIns="0" tIns="0" rIns="0" bIns="0" rtlCol="0" anchor="t">
            <a:spAutoFit/>
          </a:bodyPr>
          <a:lstStyle/>
          <a:p>
            <a:pPr algn="l">
              <a:lnSpc>
                <a:spcPts val="11960"/>
              </a:lnSpc>
            </a:pPr>
            <a:r>
              <a:rPr lang="en-US" sz="10400" b="1">
                <a:solidFill>
                  <a:srgbClr val="000000"/>
                </a:solidFill>
                <a:latin typeface="Garet Bold"/>
                <a:ea typeface="Garet Bold"/>
                <a:cs typeface="Garet Bold"/>
                <a:sym typeface="Garet Bold"/>
              </a:rPr>
              <a:t>THANK YOU</a:t>
            </a:r>
          </a:p>
        </p:txBody>
      </p:sp>
      <p:sp>
        <p:nvSpPr>
          <p:cNvPr id="24" name="Freeform 24"/>
          <p:cNvSpPr/>
          <p:nvPr/>
        </p:nvSpPr>
        <p:spPr>
          <a:xfrm>
            <a:off x="1467368" y="613788"/>
            <a:ext cx="803667" cy="694168"/>
          </a:xfrm>
          <a:custGeom>
            <a:avLst/>
            <a:gdLst/>
            <a:ahLst/>
            <a:cxnLst/>
            <a:rect l="l" t="t" r="r" b="b"/>
            <a:pathLst>
              <a:path w="803667" h="694168">
                <a:moveTo>
                  <a:pt x="0" y="0"/>
                </a:moveTo>
                <a:lnTo>
                  <a:pt x="803667" y="0"/>
                </a:lnTo>
                <a:lnTo>
                  <a:pt x="803667" y="694168"/>
                </a:lnTo>
                <a:lnTo>
                  <a:pt x="0" y="694168"/>
                </a:lnTo>
                <a:lnTo>
                  <a:pt x="0" y="0"/>
                </a:lnTo>
                <a:close/>
              </a:path>
            </a:pathLst>
          </a:custGeom>
          <a:blipFill>
            <a:blip r:embed="rId3"/>
            <a:stretch>
              <a:fillRect/>
            </a:stretch>
          </a:blipFill>
        </p:spPr>
        <p:txBody>
          <a:bodyPr/>
          <a:lstStyle/>
          <a:p>
            <a:endParaRPr lang="en-US"/>
          </a:p>
        </p:txBody>
      </p:sp>
      <p:sp>
        <p:nvSpPr>
          <p:cNvPr id="25" name="TextBox 25"/>
          <p:cNvSpPr txBox="1"/>
          <p:nvPr/>
        </p:nvSpPr>
        <p:spPr>
          <a:xfrm>
            <a:off x="2428689" y="793750"/>
            <a:ext cx="7738328" cy="42227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Trường Đại học Khoa học Tự nhiên ĐHQG HCM</a:t>
            </a:r>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1562</Words>
  <Application>Microsoft Office PowerPoint</Application>
  <PresentationFormat>Custom</PresentationFormat>
  <Paragraphs>150</Paragraphs>
  <Slides>24</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5" baseType="lpstr">
      <vt:lpstr>Open Sans</vt:lpstr>
      <vt:lpstr>Open Sans Bold</vt:lpstr>
      <vt:lpstr>Calibri</vt:lpstr>
      <vt:lpstr>Arial</vt:lpstr>
      <vt:lpstr>Inter Bold</vt:lpstr>
      <vt:lpstr>Garet Bold</vt:lpstr>
      <vt:lpstr>Open Sans Italics</vt:lpstr>
      <vt:lpstr>Inter</vt:lpstr>
      <vt:lpstr>Garet</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Jetpack Compose</dc:title>
  <cp:lastModifiedBy>Quan Le Minh</cp:lastModifiedBy>
  <cp:revision>2</cp:revision>
  <dcterms:created xsi:type="dcterms:W3CDTF">2006-08-16T00:00:00Z</dcterms:created>
  <dcterms:modified xsi:type="dcterms:W3CDTF">2025-12-21T18:08:22Z</dcterms:modified>
  <dc:identifier>DAG6n950Z4E</dc:identifier>
</cp:coreProperties>
</file>