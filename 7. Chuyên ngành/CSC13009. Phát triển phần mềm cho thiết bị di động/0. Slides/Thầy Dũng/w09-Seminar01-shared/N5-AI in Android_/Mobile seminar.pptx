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DM Sans Bold" panose="020B0604020202020204" charset="0"/>
      <p:regular r:id="rId29"/>
    </p:embeddedFont>
    <p:embeddedFont>
      <p:font typeface="Roboto" pitchFamily="2" charset="0"/>
      <p:regular r:id="rId30"/>
      <p:bold r:id="rId31"/>
      <p:italic r:id="rId32"/>
      <p:boldItalic r:id="rId33"/>
    </p:embeddedFont>
    <p:embeddedFont>
      <p:font typeface="Rokkitt" pitchFamily="2" charset="0"/>
      <p:regular r:id="rId34"/>
      <p:bold r:id="rId35"/>
      <p:italic r:id="rId36"/>
      <p:boldItalic r:id="rId37"/>
    </p:embeddedFont>
    <p:embeddedFont>
      <p:font typeface="Rokkitt Bold" pitchFamily="2" charset="0"/>
      <p:regular r:id="rId38"/>
      <p:bold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49" d="100"/>
          <a:sy n="49" d="100"/>
        </p:scale>
        <p:origin x="356"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svg"/><Relationship Id="rId26" Type="http://schemas.openxmlformats.org/officeDocument/2006/relationships/image" Target="../media/image35.svg"/><Relationship Id="rId3" Type="http://schemas.openxmlformats.org/officeDocument/2006/relationships/image" Target="../media/image12.png"/><Relationship Id="rId21" Type="http://schemas.openxmlformats.org/officeDocument/2006/relationships/image" Target="../media/image30.png"/><Relationship Id="rId34" Type="http://schemas.openxmlformats.org/officeDocument/2006/relationships/image" Target="../media/image43.sv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svg"/><Relationship Id="rId2" Type="http://schemas.openxmlformats.org/officeDocument/2006/relationships/image" Target="../media/image1.jpeg"/><Relationship Id="rId16" Type="http://schemas.openxmlformats.org/officeDocument/2006/relationships/image" Target="../media/image25.svg"/><Relationship Id="rId20" Type="http://schemas.openxmlformats.org/officeDocument/2006/relationships/image" Target="../media/image29.svg"/><Relationship Id="rId29"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24" Type="http://schemas.openxmlformats.org/officeDocument/2006/relationships/image" Target="../media/image33.svg"/><Relationship Id="rId32" Type="http://schemas.openxmlformats.org/officeDocument/2006/relationships/image" Target="../media/image41.svg"/><Relationship Id="rId37" Type="http://schemas.openxmlformats.org/officeDocument/2006/relationships/image" Target="../media/image46.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svg"/><Relationship Id="rId36" Type="http://schemas.openxmlformats.org/officeDocument/2006/relationships/image" Target="../media/image45.svg"/><Relationship Id="rId10" Type="http://schemas.openxmlformats.org/officeDocument/2006/relationships/image" Target="../media/image19.svg"/><Relationship Id="rId19" Type="http://schemas.openxmlformats.org/officeDocument/2006/relationships/image" Target="../media/image28.png"/><Relationship Id="rId31" Type="http://schemas.openxmlformats.org/officeDocument/2006/relationships/image" Target="../media/image40.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 Id="rId22" Type="http://schemas.openxmlformats.org/officeDocument/2006/relationships/image" Target="../media/image31.svg"/><Relationship Id="rId27" Type="http://schemas.openxmlformats.org/officeDocument/2006/relationships/image" Target="../media/image36.png"/><Relationship Id="rId30" Type="http://schemas.openxmlformats.org/officeDocument/2006/relationships/image" Target="../media/image39.svg"/><Relationship Id="rId35" Type="http://schemas.openxmlformats.org/officeDocument/2006/relationships/image" Target="../media/image44.png"/></Relationships>
</file>

<file path=ppt/slides/_rels/slide3.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11" Type="http://schemas.openxmlformats.org/officeDocument/2006/relationships/image" Target="../media/image12.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slides/_rels/slide4.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40.png"/><Relationship Id="rId18" Type="http://schemas.openxmlformats.org/officeDocument/2006/relationships/image" Target="../media/image45.sv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17" Type="http://schemas.openxmlformats.org/officeDocument/2006/relationships/image" Target="../media/image44.png"/><Relationship Id="rId2" Type="http://schemas.openxmlformats.org/officeDocument/2006/relationships/image" Target="../media/image1.jpeg"/><Relationship Id="rId16" Type="http://schemas.openxmlformats.org/officeDocument/2006/relationships/image" Target="../media/image43.svg"/><Relationship Id="rId1" Type="http://schemas.openxmlformats.org/officeDocument/2006/relationships/slideLayout" Target="../slideLayouts/slideLayout7.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42.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 Id="rId14" Type="http://schemas.openxmlformats.org/officeDocument/2006/relationships/image" Target="../media/image41.svg"/></Relationships>
</file>

<file path=ppt/slides/_rels/slide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56.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6.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7.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56.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8.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9.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7.svg"/><Relationship Id="rId11" Type="http://schemas.openxmlformats.org/officeDocument/2006/relationships/image" Target="../media/image64.png"/><Relationship Id="rId5" Type="http://schemas.openxmlformats.org/officeDocument/2006/relationships/image" Target="../media/image66.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7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 Id="rId9" Type="http://schemas.openxmlformats.org/officeDocument/2006/relationships/image" Target="../media/image67.svg"/></Relationships>
</file>

<file path=ppt/slides/_rels/slide11.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56.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1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14.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13.svg"/><Relationship Id="rId4" Type="http://schemas.openxmlformats.org/officeDocument/2006/relationships/image" Target="../media/image49.svg"/><Relationship Id="rId9"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16.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13.svg"/><Relationship Id="rId4" Type="http://schemas.openxmlformats.org/officeDocument/2006/relationships/image" Target="../media/image49.svg"/><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4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18.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3" Type="http://schemas.openxmlformats.org/officeDocument/2006/relationships/image" Target="../media/image2.png"/><Relationship Id="rId7" Type="http://schemas.openxmlformats.org/officeDocument/2006/relationships/image" Target="../media/image77.png"/><Relationship Id="rId12" Type="http://schemas.openxmlformats.org/officeDocument/2006/relationships/image" Target="../media/image8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3.svg"/><Relationship Id="rId9" Type="http://schemas.openxmlformats.org/officeDocument/2006/relationships/image" Target="../media/image79.png"/><Relationship Id="rId14" Type="http://schemas.openxmlformats.org/officeDocument/2006/relationships/image" Target="../media/image84.svg"/></Relationships>
</file>

<file path=ppt/slides/_rels/slide19.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13.svg"/><Relationship Id="rId4" Type="http://schemas.openxmlformats.org/officeDocument/2006/relationships/image" Target="../media/image49.svg"/><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6.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21.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86.svg"/></Relationships>
</file>

<file path=ppt/slides/_rels/slide22.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58.png"/><Relationship Id="rId7" Type="http://schemas.openxmlformats.org/officeDocument/2006/relationships/image" Target="../media/image8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oleObject" Target="../embeddings/oleObject1.bin"/><Relationship Id="rId4" Type="http://schemas.openxmlformats.org/officeDocument/2006/relationships/image" Target="../media/image59.sv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9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56.png"/><Relationship Id="rId7" Type="http://schemas.openxmlformats.org/officeDocument/2006/relationships/image" Target="../media/image9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6.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6.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hyperlink" Target="https://developers.google.com/ml-kit"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tensorflow.org/lite/inference_with_metadata/lite_support" TargetMode="External"/><Relationship Id="rId5" Type="http://schemas.openxmlformats.org/officeDocument/2006/relationships/hyperlink" Target="https://www.tensorflow.org/lite/android" TargetMode="External"/><Relationship Id="rId4" Type="http://schemas.openxmlformats.org/officeDocument/2006/relationships/image" Target="../media/image5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rot="-10800000">
            <a:off x="5881594" y="799377"/>
            <a:ext cx="10039732" cy="1962404"/>
            <a:chOff x="0" y="0"/>
            <a:chExt cx="3032867" cy="592816"/>
          </a:xfrm>
        </p:grpSpPr>
        <p:sp>
          <p:nvSpPr>
            <p:cNvPr id="4" name="Freeform 4"/>
            <p:cNvSpPr/>
            <p:nvPr/>
          </p:nvSpPr>
          <p:spPr>
            <a:xfrm>
              <a:off x="0" y="0"/>
              <a:ext cx="3032867" cy="592816"/>
            </a:xfrm>
            <a:custGeom>
              <a:avLst/>
              <a:gdLst/>
              <a:ahLst/>
              <a:cxnLst/>
              <a:rect l="l" t="t" r="r" b="b"/>
              <a:pathLst>
                <a:path w="3032867" h="592816">
                  <a:moveTo>
                    <a:pt x="0" y="0"/>
                  </a:moveTo>
                  <a:lnTo>
                    <a:pt x="3032867" y="0"/>
                  </a:lnTo>
                  <a:lnTo>
                    <a:pt x="3032867" y="592816"/>
                  </a:lnTo>
                  <a:lnTo>
                    <a:pt x="0" y="592816"/>
                  </a:lnTo>
                  <a:close/>
                </a:path>
              </a:pathLst>
            </a:custGeom>
            <a:solidFill>
              <a:srgbClr val="327576"/>
            </a:solidFill>
          </p:spPr>
        </p:sp>
        <p:sp>
          <p:nvSpPr>
            <p:cNvPr id="5" name="TextBox 5"/>
            <p:cNvSpPr txBox="1"/>
            <p:nvPr/>
          </p:nvSpPr>
          <p:spPr>
            <a:xfrm>
              <a:off x="0" y="-47625"/>
              <a:ext cx="3032867" cy="640441"/>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10800000">
            <a:off x="4979321" y="799377"/>
            <a:ext cx="1804546" cy="1962404"/>
            <a:chOff x="0" y="0"/>
            <a:chExt cx="812800" cy="883902"/>
          </a:xfrm>
        </p:grpSpPr>
        <p:sp>
          <p:nvSpPr>
            <p:cNvPr id="7" name="Freeform 7"/>
            <p:cNvSpPr/>
            <p:nvPr/>
          </p:nvSpPr>
          <p:spPr>
            <a:xfrm>
              <a:off x="0" y="0"/>
              <a:ext cx="812800" cy="883902"/>
            </a:xfrm>
            <a:custGeom>
              <a:avLst/>
              <a:gdLst/>
              <a:ahLst/>
              <a:cxnLst/>
              <a:rect l="l" t="t" r="r" b="b"/>
              <a:pathLst>
                <a:path w="812800" h="883902">
                  <a:moveTo>
                    <a:pt x="406400" y="0"/>
                  </a:moveTo>
                  <a:lnTo>
                    <a:pt x="812800" y="441951"/>
                  </a:lnTo>
                  <a:lnTo>
                    <a:pt x="406400" y="883902"/>
                  </a:lnTo>
                  <a:lnTo>
                    <a:pt x="0" y="441951"/>
                  </a:lnTo>
                  <a:lnTo>
                    <a:pt x="406400" y="0"/>
                  </a:lnTo>
                  <a:close/>
                </a:path>
              </a:pathLst>
            </a:custGeom>
            <a:solidFill>
              <a:srgbClr val="327576"/>
            </a:solidFill>
          </p:spPr>
        </p:sp>
        <p:sp>
          <p:nvSpPr>
            <p:cNvPr id="8" name="TextBox 8"/>
            <p:cNvSpPr txBox="1"/>
            <p:nvPr/>
          </p:nvSpPr>
          <p:spPr>
            <a:xfrm>
              <a:off x="139700" y="104296"/>
              <a:ext cx="533400" cy="627686"/>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10800000">
            <a:off x="5349367" y="994192"/>
            <a:ext cx="1557848" cy="155784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sp>
        <p:sp>
          <p:nvSpPr>
            <p:cNvPr id="11" name="TextBox 11"/>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12" name="Group 12"/>
          <p:cNvGrpSpPr/>
          <p:nvPr/>
        </p:nvGrpSpPr>
        <p:grpSpPr>
          <a:xfrm>
            <a:off x="15148367" y="799377"/>
            <a:ext cx="2457816" cy="1962404"/>
            <a:chOff x="0" y="0"/>
            <a:chExt cx="742473" cy="592816"/>
          </a:xfrm>
        </p:grpSpPr>
        <p:sp>
          <p:nvSpPr>
            <p:cNvPr id="13" name="Freeform 13"/>
            <p:cNvSpPr/>
            <p:nvPr/>
          </p:nvSpPr>
          <p:spPr>
            <a:xfrm>
              <a:off x="0" y="0"/>
              <a:ext cx="742473" cy="592816"/>
            </a:xfrm>
            <a:custGeom>
              <a:avLst/>
              <a:gdLst/>
              <a:ahLst/>
              <a:cxnLst/>
              <a:rect l="l" t="t" r="r" b="b"/>
              <a:pathLst>
                <a:path w="742473" h="592816">
                  <a:moveTo>
                    <a:pt x="203200" y="0"/>
                  </a:moveTo>
                  <a:lnTo>
                    <a:pt x="742473" y="0"/>
                  </a:lnTo>
                  <a:lnTo>
                    <a:pt x="539273" y="592816"/>
                  </a:lnTo>
                  <a:lnTo>
                    <a:pt x="0" y="592816"/>
                  </a:lnTo>
                  <a:lnTo>
                    <a:pt x="203200" y="0"/>
                  </a:lnTo>
                  <a:close/>
                </a:path>
              </a:pathLst>
            </a:custGeom>
            <a:solidFill>
              <a:srgbClr val="639C9D"/>
            </a:solidFill>
          </p:spPr>
        </p:sp>
        <p:sp>
          <p:nvSpPr>
            <p:cNvPr id="14" name="TextBox 14"/>
            <p:cNvSpPr txBox="1"/>
            <p:nvPr/>
          </p:nvSpPr>
          <p:spPr>
            <a:xfrm>
              <a:off x="101600" y="-47625"/>
              <a:ext cx="539273" cy="640441"/>
            </a:xfrm>
            <a:prstGeom prst="rect">
              <a:avLst/>
            </a:prstGeom>
          </p:spPr>
          <p:txBody>
            <a:bodyPr lIns="50800" tIns="50800" rIns="50800" bIns="50800" rtlCol="0" anchor="ctr"/>
            <a:lstStyle/>
            <a:p>
              <a:pPr algn="ctr">
                <a:lnSpc>
                  <a:spcPts val="3079"/>
                </a:lnSpc>
              </a:pPr>
              <a:endParaRPr/>
            </a:p>
          </p:txBody>
        </p:sp>
      </p:grpSp>
      <p:sp>
        <p:nvSpPr>
          <p:cNvPr id="15" name="AutoShape 15"/>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16" name="Freeform 16"/>
          <p:cNvSpPr/>
          <p:nvPr/>
        </p:nvSpPr>
        <p:spPr>
          <a:xfrm rot="-1250150">
            <a:off x="-735203" y="8921334"/>
            <a:ext cx="1470407" cy="1673294"/>
          </a:xfrm>
          <a:custGeom>
            <a:avLst/>
            <a:gdLst/>
            <a:ahLst/>
            <a:cxnLst/>
            <a:rect l="l" t="t" r="r" b="b"/>
            <a:pathLst>
              <a:path w="1470407" h="1673294">
                <a:moveTo>
                  <a:pt x="0" y="0"/>
                </a:moveTo>
                <a:lnTo>
                  <a:pt x="1470406" y="0"/>
                </a:lnTo>
                <a:lnTo>
                  <a:pt x="1470406" y="1673293"/>
                </a:lnTo>
                <a:lnTo>
                  <a:pt x="0" y="16732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rot="-1250150">
            <a:off x="18015095" y="795303"/>
            <a:ext cx="1470407" cy="1673294"/>
          </a:xfrm>
          <a:custGeom>
            <a:avLst/>
            <a:gdLst/>
            <a:ahLst/>
            <a:cxnLst/>
            <a:rect l="l" t="t" r="r" b="b"/>
            <a:pathLst>
              <a:path w="1470407" h="1673294">
                <a:moveTo>
                  <a:pt x="0" y="0"/>
                </a:moveTo>
                <a:lnTo>
                  <a:pt x="1470407" y="0"/>
                </a:lnTo>
                <a:lnTo>
                  <a:pt x="1470407" y="1673294"/>
                </a:lnTo>
                <a:lnTo>
                  <a:pt x="0" y="16732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8" name="Group 18"/>
          <p:cNvGrpSpPr/>
          <p:nvPr/>
        </p:nvGrpSpPr>
        <p:grpSpPr>
          <a:xfrm>
            <a:off x="1211929" y="4285187"/>
            <a:ext cx="2364568" cy="3546573"/>
            <a:chOff x="0" y="0"/>
            <a:chExt cx="622767" cy="934077"/>
          </a:xfrm>
        </p:grpSpPr>
        <p:sp>
          <p:nvSpPr>
            <p:cNvPr id="19" name="Freeform 19"/>
            <p:cNvSpPr/>
            <p:nvPr/>
          </p:nvSpPr>
          <p:spPr>
            <a:xfrm>
              <a:off x="0" y="0"/>
              <a:ext cx="622767" cy="934077"/>
            </a:xfrm>
            <a:custGeom>
              <a:avLst/>
              <a:gdLst/>
              <a:ahLst/>
              <a:cxnLst/>
              <a:rect l="l" t="t" r="r" b="b"/>
              <a:pathLst>
                <a:path w="622767" h="934077">
                  <a:moveTo>
                    <a:pt x="114595" y="0"/>
                  </a:moveTo>
                  <a:lnTo>
                    <a:pt x="508172" y="0"/>
                  </a:lnTo>
                  <a:cubicBezTo>
                    <a:pt x="538565" y="0"/>
                    <a:pt x="567712" y="12073"/>
                    <a:pt x="589203" y="33564"/>
                  </a:cubicBezTo>
                  <a:cubicBezTo>
                    <a:pt x="610694" y="55055"/>
                    <a:pt x="622767" y="84202"/>
                    <a:pt x="622767" y="114595"/>
                  </a:cubicBezTo>
                  <a:lnTo>
                    <a:pt x="622767" y="819482"/>
                  </a:lnTo>
                  <a:cubicBezTo>
                    <a:pt x="622767" y="882771"/>
                    <a:pt x="571461" y="934077"/>
                    <a:pt x="508172" y="934077"/>
                  </a:cubicBezTo>
                  <a:lnTo>
                    <a:pt x="114595" y="934077"/>
                  </a:lnTo>
                  <a:cubicBezTo>
                    <a:pt x="51306" y="934077"/>
                    <a:pt x="0" y="882771"/>
                    <a:pt x="0" y="819482"/>
                  </a:cubicBezTo>
                  <a:lnTo>
                    <a:pt x="0" y="114595"/>
                  </a:lnTo>
                  <a:cubicBezTo>
                    <a:pt x="0" y="51306"/>
                    <a:pt x="51306" y="0"/>
                    <a:pt x="114595" y="0"/>
                  </a:cubicBezTo>
                  <a:close/>
                </a:path>
              </a:pathLst>
            </a:custGeom>
            <a:solidFill>
              <a:srgbClr val="92BEBF"/>
            </a:solidFill>
          </p:spPr>
        </p:sp>
        <p:sp>
          <p:nvSpPr>
            <p:cNvPr id="20" name="TextBox 20"/>
            <p:cNvSpPr txBox="1"/>
            <p:nvPr/>
          </p:nvSpPr>
          <p:spPr>
            <a:xfrm>
              <a:off x="0" y="-47625"/>
              <a:ext cx="622767" cy="981702"/>
            </a:xfrm>
            <a:prstGeom prst="rect">
              <a:avLst/>
            </a:prstGeom>
          </p:spPr>
          <p:txBody>
            <a:bodyPr lIns="50800" tIns="50800" rIns="50800" bIns="50800" rtlCol="0" anchor="ctr"/>
            <a:lstStyle/>
            <a:p>
              <a:pPr algn="ctr">
                <a:lnSpc>
                  <a:spcPts val="3079"/>
                </a:lnSpc>
              </a:pPr>
              <a:endParaRPr/>
            </a:p>
          </p:txBody>
        </p:sp>
      </p:grpSp>
      <p:sp>
        <p:nvSpPr>
          <p:cNvPr id="21" name="Freeform 21"/>
          <p:cNvSpPr/>
          <p:nvPr/>
        </p:nvSpPr>
        <p:spPr>
          <a:xfrm>
            <a:off x="15812250" y="1335737"/>
            <a:ext cx="1130050" cy="940766"/>
          </a:xfrm>
          <a:custGeom>
            <a:avLst/>
            <a:gdLst/>
            <a:ahLst/>
            <a:cxnLst/>
            <a:rect l="l" t="t" r="r" b="b"/>
            <a:pathLst>
              <a:path w="1130050" h="940766">
                <a:moveTo>
                  <a:pt x="0" y="0"/>
                </a:moveTo>
                <a:lnTo>
                  <a:pt x="1130050" y="0"/>
                </a:lnTo>
                <a:lnTo>
                  <a:pt x="1130050" y="940767"/>
                </a:lnTo>
                <a:lnTo>
                  <a:pt x="0" y="940767"/>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22" name="Freeform 22"/>
          <p:cNvSpPr/>
          <p:nvPr/>
        </p:nvSpPr>
        <p:spPr>
          <a:xfrm>
            <a:off x="14314211" y="4942459"/>
            <a:ext cx="2429690" cy="2302131"/>
          </a:xfrm>
          <a:custGeom>
            <a:avLst/>
            <a:gdLst/>
            <a:ahLst/>
            <a:cxnLst/>
            <a:rect l="l" t="t" r="r" b="b"/>
            <a:pathLst>
              <a:path w="2429690" h="2302131">
                <a:moveTo>
                  <a:pt x="0" y="0"/>
                </a:moveTo>
                <a:lnTo>
                  <a:pt x="2429689" y="0"/>
                </a:lnTo>
                <a:lnTo>
                  <a:pt x="2429689" y="2302131"/>
                </a:lnTo>
                <a:lnTo>
                  <a:pt x="0" y="23021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3" name="Freeform 23"/>
          <p:cNvSpPr/>
          <p:nvPr/>
        </p:nvSpPr>
        <p:spPr>
          <a:xfrm>
            <a:off x="9881065" y="4036125"/>
            <a:ext cx="3695839" cy="4114800"/>
          </a:xfrm>
          <a:custGeom>
            <a:avLst/>
            <a:gdLst/>
            <a:ahLst/>
            <a:cxnLst/>
            <a:rect l="l" t="t" r="r" b="b"/>
            <a:pathLst>
              <a:path w="3695839" h="4114800">
                <a:moveTo>
                  <a:pt x="0" y="0"/>
                </a:moveTo>
                <a:lnTo>
                  <a:pt x="3695838" y="0"/>
                </a:lnTo>
                <a:lnTo>
                  <a:pt x="369583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4" name="Freeform 24"/>
          <p:cNvSpPr/>
          <p:nvPr/>
        </p:nvSpPr>
        <p:spPr>
          <a:xfrm>
            <a:off x="14064070" y="2971368"/>
            <a:ext cx="2929972" cy="6104108"/>
          </a:xfrm>
          <a:custGeom>
            <a:avLst/>
            <a:gdLst/>
            <a:ahLst/>
            <a:cxnLst/>
            <a:rect l="l" t="t" r="r" b="b"/>
            <a:pathLst>
              <a:path w="2929972" h="6104108">
                <a:moveTo>
                  <a:pt x="0" y="0"/>
                </a:moveTo>
                <a:lnTo>
                  <a:pt x="2929972" y="0"/>
                </a:lnTo>
                <a:lnTo>
                  <a:pt x="2929972" y="6104108"/>
                </a:lnTo>
                <a:lnTo>
                  <a:pt x="0" y="61041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5" name="TextBox 25"/>
          <p:cNvSpPr txBox="1"/>
          <p:nvPr/>
        </p:nvSpPr>
        <p:spPr>
          <a:xfrm>
            <a:off x="5459575" y="1000259"/>
            <a:ext cx="1280282" cy="1308100"/>
          </a:xfrm>
          <a:prstGeom prst="rect">
            <a:avLst/>
          </a:prstGeom>
        </p:spPr>
        <p:txBody>
          <a:bodyPr lIns="0" tIns="0" rIns="0" bIns="0" rtlCol="0" anchor="t">
            <a:spAutoFit/>
          </a:bodyPr>
          <a:lstStyle/>
          <a:p>
            <a:pPr algn="ctr">
              <a:lnSpc>
                <a:spcPts val="3500"/>
              </a:lnSpc>
            </a:pPr>
            <a:endParaRPr/>
          </a:p>
          <a:p>
            <a:pPr algn="ctr">
              <a:lnSpc>
                <a:spcPts val="3500"/>
              </a:lnSpc>
            </a:pPr>
            <a:r>
              <a:rPr lang="en-US" sz="2500" b="1" spc="105">
                <a:solidFill>
                  <a:srgbClr val="327576"/>
                </a:solidFill>
                <a:latin typeface="DM Sans Bold"/>
                <a:ea typeface="DM Sans Bold"/>
                <a:cs typeface="DM Sans Bold"/>
                <a:sym typeface="DM Sans Bold"/>
              </a:rPr>
              <a:t>NHÓM</a:t>
            </a:r>
          </a:p>
          <a:p>
            <a:pPr algn="ctr">
              <a:lnSpc>
                <a:spcPts val="3500"/>
              </a:lnSpc>
            </a:pPr>
            <a:r>
              <a:rPr lang="en-US" sz="2500" b="1" spc="105">
                <a:solidFill>
                  <a:srgbClr val="327576"/>
                </a:solidFill>
                <a:latin typeface="DM Sans Bold"/>
                <a:ea typeface="DM Sans Bold"/>
                <a:cs typeface="DM Sans Bold"/>
                <a:sym typeface="DM Sans Bold"/>
              </a:rPr>
              <a:t>05</a:t>
            </a:r>
          </a:p>
        </p:txBody>
      </p:sp>
      <p:sp>
        <p:nvSpPr>
          <p:cNvPr id="26" name="TextBox 26"/>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a:t>
            </a:r>
          </a:p>
        </p:txBody>
      </p:sp>
      <p:sp>
        <p:nvSpPr>
          <p:cNvPr id="27" name="TextBox 27"/>
          <p:cNvSpPr txBox="1"/>
          <p:nvPr/>
        </p:nvSpPr>
        <p:spPr>
          <a:xfrm>
            <a:off x="7134978" y="1221437"/>
            <a:ext cx="8013388" cy="989057"/>
          </a:xfrm>
          <a:prstGeom prst="rect">
            <a:avLst/>
          </a:prstGeom>
        </p:spPr>
        <p:txBody>
          <a:bodyPr lIns="0" tIns="0" rIns="0" bIns="0" rtlCol="0" anchor="t">
            <a:spAutoFit/>
          </a:bodyPr>
          <a:lstStyle/>
          <a:p>
            <a:pPr marL="0" lvl="1" indent="0" algn="just">
              <a:lnSpc>
                <a:spcPts val="8069"/>
              </a:lnSpc>
              <a:spcBef>
                <a:spcPct val="0"/>
              </a:spcBef>
            </a:pPr>
            <a:r>
              <a:rPr lang="en-US" sz="5763" b="1" spc="242">
                <a:solidFill>
                  <a:srgbClr val="F9F9F9"/>
                </a:solidFill>
                <a:latin typeface="Rokkitt Bold"/>
                <a:ea typeface="Rokkitt Bold"/>
                <a:cs typeface="Rokkitt Bold"/>
                <a:sym typeface="Rokkitt Bold"/>
              </a:rPr>
              <a:t>AI TRONG ANDROID</a:t>
            </a:r>
          </a:p>
        </p:txBody>
      </p:sp>
      <p:sp>
        <p:nvSpPr>
          <p:cNvPr id="28" name="TextBox 28"/>
          <p:cNvSpPr txBox="1"/>
          <p:nvPr/>
        </p:nvSpPr>
        <p:spPr>
          <a:xfrm>
            <a:off x="1525252" y="4423031"/>
            <a:ext cx="7868647" cy="3166110"/>
          </a:xfrm>
          <a:prstGeom prst="rect">
            <a:avLst/>
          </a:prstGeom>
        </p:spPr>
        <p:txBody>
          <a:bodyPr lIns="0" tIns="0" rIns="0" bIns="0" rtlCol="0" anchor="t">
            <a:spAutoFit/>
          </a:bodyPr>
          <a:lstStyle/>
          <a:p>
            <a:pPr algn="just">
              <a:lnSpc>
                <a:spcPts val="5099"/>
              </a:lnSpc>
            </a:pPr>
            <a:r>
              <a:rPr lang="en-US" sz="3399" b="1">
                <a:solidFill>
                  <a:srgbClr val="2B2B2B"/>
                </a:solidFill>
                <a:latin typeface="Rokkitt Bold"/>
                <a:ea typeface="Rokkitt Bold"/>
                <a:cs typeface="Rokkitt Bold"/>
                <a:sym typeface="Rokkitt Bold"/>
              </a:rPr>
              <a:t>22120097    Nguyễn Anh Hào</a:t>
            </a:r>
          </a:p>
          <a:p>
            <a:pPr algn="just">
              <a:lnSpc>
                <a:spcPts val="5099"/>
              </a:lnSpc>
            </a:pPr>
            <a:r>
              <a:rPr lang="en-US" sz="3399" b="1">
                <a:solidFill>
                  <a:srgbClr val="2B2B2B"/>
                </a:solidFill>
                <a:latin typeface="Rokkitt Bold"/>
                <a:ea typeface="Rokkitt Bold"/>
                <a:cs typeface="Rokkitt Bold"/>
                <a:sym typeface="Rokkitt Bold"/>
              </a:rPr>
              <a:t>23120031    Nguyễn Phú Dinh</a:t>
            </a:r>
          </a:p>
          <a:p>
            <a:pPr algn="just">
              <a:lnSpc>
                <a:spcPts val="5099"/>
              </a:lnSpc>
            </a:pPr>
            <a:r>
              <a:rPr lang="en-US" sz="3399" b="1">
                <a:solidFill>
                  <a:srgbClr val="2B2B2B"/>
                </a:solidFill>
                <a:latin typeface="Rokkitt Bold"/>
                <a:ea typeface="Rokkitt Bold"/>
                <a:cs typeface="Rokkitt Bold"/>
                <a:sym typeface="Rokkitt Bold"/>
              </a:rPr>
              <a:t>23120151     Huỳnh Yến Nhi</a:t>
            </a:r>
          </a:p>
          <a:p>
            <a:pPr algn="just">
              <a:lnSpc>
                <a:spcPts val="5099"/>
              </a:lnSpc>
            </a:pPr>
            <a:r>
              <a:rPr lang="en-US" sz="3399" b="1">
                <a:solidFill>
                  <a:srgbClr val="2B2B2B"/>
                </a:solidFill>
                <a:latin typeface="Rokkitt Bold"/>
                <a:ea typeface="Rokkitt Bold"/>
                <a:cs typeface="Rokkitt Bold"/>
                <a:sym typeface="Rokkitt Bold"/>
              </a:rPr>
              <a:t>23120154     Nguyễn Thanh Phong</a:t>
            </a:r>
          </a:p>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23120170     Nguyễn Đoàn Xuân Thu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a:off x="-1215672" y="-293466"/>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7259300" y="9289824"/>
            <a:ext cx="1841068" cy="1339377"/>
          </a:xfrm>
          <a:custGeom>
            <a:avLst/>
            <a:gdLst/>
            <a:ahLst/>
            <a:cxnLst/>
            <a:rect l="l" t="t" r="r" b="b"/>
            <a:pathLst>
              <a:path w="1841068" h="1339377">
                <a:moveTo>
                  <a:pt x="0" y="0"/>
                </a:moveTo>
                <a:lnTo>
                  <a:pt x="1841068" y="0"/>
                </a:lnTo>
                <a:lnTo>
                  <a:pt x="1841068" y="1339377"/>
                </a:lnTo>
                <a:lnTo>
                  <a:pt x="0" y="1339377"/>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flipV="1">
            <a:off x="2226619" y="5464711"/>
            <a:ext cx="2381462" cy="1190731"/>
          </a:xfrm>
          <a:custGeom>
            <a:avLst/>
            <a:gdLst/>
            <a:ahLst/>
            <a:cxnLst/>
            <a:rect l="l" t="t" r="r" b="b"/>
            <a:pathLst>
              <a:path w="2381462" h="1190731">
                <a:moveTo>
                  <a:pt x="0" y="1190731"/>
                </a:moveTo>
                <a:lnTo>
                  <a:pt x="2381461" y="1190731"/>
                </a:lnTo>
                <a:lnTo>
                  <a:pt x="2381461" y="0"/>
                </a:lnTo>
                <a:lnTo>
                  <a:pt x="0" y="0"/>
                </a:lnTo>
                <a:lnTo>
                  <a:pt x="0" y="1190731"/>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flipV="1">
            <a:off x="4898442" y="5520936"/>
            <a:ext cx="2767497" cy="1383748"/>
          </a:xfrm>
          <a:custGeom>
            <a:avLst/>
            <a:gdLst/>
            <a:ahLst/>
            <a:cxnLst/>
            <a:rect l="l" t="t" r="r" b="b"/>
            <a:pathLst>
              <a:path w="2767497" h="1383748">
                <a:moveTo>
                  <a:pt x="0" y="1383748"/>
                </a:moveTo>
                <a:lnTo>
                  <a:pt x="2767496" y="1383748"/>
                </a:lnTo>
                <a:lnTo>
                  <a:pt x="2767496" y="0"/>
                </a:lnTo>
                <a:lnTo>
                  <a:pt x="0" y="0"/>
                </a:lnTo>
                <a:lnTo>
                  <a:pt x="0" y="1383748"/>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8" name="Freeform 8"/>
          <p:cNvSpPr/>
          <p:nvPr/>
        </p:nvSpPr>
        <p:spPr>
          <a:xfrm flipV="1">
            <a:off x="10654987" y="5520936"/>
            <a:ext cx="2767497" cy="1383748"/>
          </a:xfrm>
          <a:custGeom>
            <a:avLst/>
            <a:gdLst/>
            <a:ahLst/>
            <a:cxnLst/>
            <a:rect l="l" t="t" r="r" b="b"/>
            <a:pathLst>
              <a:path w="2767497" h="1383748">
                <a:moveTo>
                  <a:pt x="0" y="1383748"/>
                </a:moveTo>
                <a:lnTo>
                  <a:pt x="2767497" y="1383748"/>
                </a:lnTo>
                <a:lnTo>
                  <a:pt x="2767497" y="0"/>
                </a:lnTo>
                <a:lnTo>
                  <a:pt x="0" y="0"/>
                </a:lnTo>
                <a:lnTo>
                  <a:pt x="0" y="1383748"/>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grpSp>
        <p:nvGrpSpPr>
          <p:cNvPr id="9" name="Group 9"/>
          <p:cNvGrpSpPr/>
          <p:nvPr/>
        </p:nvGrpSpPr>
        <p:grpSpPr>
          <a:xfrm>
            <a:off x="4476294" y="5464711"/>
            <a:ext cx="754179" cy="271053"/>
            <a:chOff x="0" y="0"/>
            <a:chExt cx="212545" cy="76389"/>
          </a:xfrm>
        </p:grpSpPr>
        <p:sp>
          <p:nvSpPr>
            <p:cNvPr id="10" name="Freeform 10"/>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235A5B"/>
            </a:solidFill>
            <a:ln cap="sq">
              <a:noFill/>
              <a:prstDash val="solid"/>
              <a:miter/>
            </a:ln>
          </p:spPr>
        </p:sp>
        <p:sp>
          <p:nvSpPr>
            <p:cNvPr id="11" name="TextBox 11"/>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12" name="Freeform 12"/>
          <p:cNvSpPr/>
          <p:nvPr/>
        </p:nvSpPr>
        <p:spPr>
          <a:xfrm>
            <a:off x="2020169" y="3904548"/>
            <a:ext cx="2767497" cy="1383748"/>
          </a:xfrm>
          <a:custGeom>
            <a:avLst/>
            <a:gdLst/>
            <a:ahLst/>
            <a:cxnLst/>
            <a:rect l="l" t="t" r="r" b="b"/>
            <a:pathLst>
              <a:path w="2767497" h="1383748">
                <a:moveTo>
                  <a:pt x="0" y="0"/>
                </a:moveTo>
                <a:lnTo>
                  <a:pt x="2767497" y="0"/>
                </a:lnTo>
                <a:lnTo>
                  <a:pt x="2767497" y="1383748"/>
                </a:lnTo>
                <a:lnTo>
                  <a:pt x="0" y="138374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3" name="Freeform 13"/>
          <p:cNvSpPr/>
          <p:nvPr/>
        </p:nvSpPr>
        <p:spPr>
          <a:xfrm>
            <a:off x="7776714" y="3904548"/>
            <a:ext cx="2767497" cy="1383748"/>
          </a:xfrm>
          <a:custGeom>
            <a:avLst/>
            <a:gdLst/>
            <a:ahLst/>
            <a:cxnLst/>
            <a:rect l="l" t="t" r="r" b="b"/>
            <a:pathLst>
              <a:path w="2767497" h="1383748">
                <a:moveTo>
                  <a:pt x="0" y="0"/>
                </a:moveTo>
                <a:lnTo>
                  <a:pt x="2767497" y="0"/>
                </a:lnTo>
                <a:lnTo>
                  <a:pt x="2767497" y="1383748"/>
                </a:lnTo>
                <a:lnTo>
                  <a:pt x="0" y="1383748"/>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grpSp>
        <p:nvGrpSpPr>
          <p:cNvPr id="14" name="Group 14"/>
          <p:cNvGrpSpPr/>
          <p:nvPr/>
        </p:nvGrpSpPr>
        <p:grpSpPr>
          <a:xfrm>
            <a:off x="1577361" y="5070455"/>
            <a:ext cx="754179" cy="271053"/>
            <a:chOff x="0" y="0"/>
            <a:chExt cx="212545" cy="76389"/>
          </a:xfrm>
        </p:grpSpPr>
        <p:sp>
          <p:nvSpPr>
            <p:cNvPr id="15" name="Freeform 15"/>
            <p:cNvSpPr/>
            <p:nvPr/>
          </p:nvSpPr>
          <p:spPr>
            <a:xfrm>
              <a:off x="0" y="0"/>
              <a:ext cx="212545" cy="76389"/>
            </a:xfrm>
            <a:custGeom>
              <a:avLst/>
              <a:gdLst/>
              <a:ahLst/>
              <a:cxnLst/>
              <a:rect l="l" t="t" r="r" b="b"/>
              <a:pathLst>
                <a:path w="212545" h="76389">
                  <a:moveTo>
                    <a:pt x="38194" y="0"/>
                  </a:moveTo>
                  <a:lnTo>
                    <a:pt x="174350" y="0"/>
                  </a:lnTo>
                  <a:cubicBezTo>
                    <a:pt x="184480" y="0"/>
                    <a:pt x="194195" y="4024"/>
                    <a:pt x="201358" y="11187"/>
                  </a:cubicBezTo>
                  <a:cubicBezTo>
                    <a:pt x="208521" y="18350"/>
                    <a:pt x="212545" y="28065"/>
                    <a:pt x="212545" y="38194"/>
                  </a:cubicBezTo>
                  <a:lnTo>
                    <a:pt x="212545" y="38194"/>
                  </a:lnTo>
                  <a:cubicBezTo>
                    <a:pt x="212545" y="59289"/>
                    <a:pt x="195444" y="76389"/>
                    <a:pt x="174350" y="76389"/>
                  </a:cubicBezTo>
                  <a:lnTo>
                    <a:pt x="38194" y="76389"/>
                  </a:lnTo>
                  <a:cubicBezTo>
                    <a:pt x="28065" y="76389"/>
                    <a:pt x="18350" y="72365"/>
                    <a:pt x="11187" y="65202"/>
                  </a:cubicBezTo>
                  <a:cubicBezTo>
                    <a:pt x="4024" y="58039"/>
                    <a:pt x="0" y="48324"/>
                    <a:pt x="0" y="38194"/>
                  </a:cubicBezTo>
                  <a:lnTo>
                    <a:pt x="0" y="38194"/>
                  </a:lnTo>
                  <a:cubicBezTo>
                    <a:pt x="0" y="28065"/>
                    <a:pt x="4024" y="18350"/>
                    <a:pt x="11187" y="11187"/>
                  </a:cubicBezTo>
                  <a:cubicBezTo>
                    <a:pt x="18350" y="4024"/>
                    <a:pt x="28065" y="0"/>
                    <a:pt x="38194" y="0"/>
                  </a:cubicBezTo>
                  <a:close/>
                </a:path>
              </a:pathLst>
            </a:custGeom>
            <a:solidFill>
              <a:srgbClr val="235A5B"/>
            </a:solidFill>
            <a:ln cap="rnd">
              <a:noFill/>
              <a:prstDash val="solid"/>
              <a:round/>
            </a:ln>
          </p:spPr>
        </p:sp>
        <p:sp>
          <p:nvSpPr>
            <p:cNvPr id="16" name="TextBox 16"/>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17" name="Freeform 17"/>
          <p:cNvSpPr/>
          <p:nvPr/>
        </p:nvSpPr>
        <p:spPr>
          <a:xfrm flipV="1">
            <a:off x="5098688" y="5464711"/>
            <a:ext cx="2381462" cy="1190731"/>
          </a:xfrm>
          <a:custGeom>
            <a:avLst/>
            <a:gdLst/>
            <a:ahLst/>
            <a:cxnLst/>
            <a:rect l="l" t="t" r="r" b="b"/>
            <a:pathLst>
              <a:path w="2381462" h="1190731">
                <a:moveTo>
                  <a:pt x="0" y="1190731"/>
                </a:moveTo>
                <a:lnTo>
                  <a:pt x="2381461" y="1190731"/>
                </a:lnTo>
                <a:lnTo>
                  <a:pt x="2381461" y="0"/>
                </a:lnTo>
                <a:lnTo>
                  <a:pt x="0" y="0"/>
                </a:lnTo>
                <a:lnTo>
                  <a:pt x="0" y="1190731"/>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8" name="Freeform 18"/>
          <p:cNvSpPr/>
          <p:nvPr/>
        </p:nvSpPr>
        <p:spPr>
          <a:xfrm>
            <a:off x="2226619" y="4150778"/>
            <a:ext cx="2381462" cy="1190731"/>
          </a:xfrm>
          <a:custGeom>
            <a:avLst/>
            <a:gdLst/>
            <a:ahLst/>
            <a:cxnLst/>
            <a:rect l="l" t="t" r="r" b="b"/>
            <a:pathLst>
              <a:path w="2381462" h="1190731">
                <a:moveTo>
                  <a:pt x="0" y="0"/>
                </a:moveTo>
                <a:lnTo>
                  <a:pt x="2381461" y="0"/>
                </a:lnTo>
                <a:lnTo>
                  <a:pt x="2381461" y="1190730"/>
                </a:lnTo>
                <a:lnTo>
                  <a:pt x="0" y="11907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Freeform 19"/>
          <p:cNvSpPr/>
          <p:nvPr/>
        </p:nvSpPr>
        <p:spPr>
          <a:xfrm>
            <a:off x="5098688" y="4150778"/>
            <a:ext cx="2381462" cy="1190731"/>
          </a:xfrm>
          <a:custGeom>
            <a:avLst/>
            <a:gdLst/>
            <a:ahLst/>
            <a:cxnLst/>
            <a:rect l="l" t="t" r="r" b="b"/>
            <a:pathLst>
              <a:path w="2381462" h="1190731">
                <a:moveTo>
                  <a:pt x="0" y="0"/>
                </a:moveTo>
                <a:lnTo>
                  <a:pt x="2381461" y="0"/>
                </a:lnTo>
                <a:lnTo>
                  <a:pt x="2381461" y="1190730"/>
                </a:lnTo>
                <a:lnTo>
                  <a:pt x="0" y="119073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20" name="Freeform 20"/>
          <p:cNvSpPr/>
          <p:nvPr/>
        </p:nvSpPr>
        <p:spPr>
          <a:xfrm>
            <a:off x="8104701" y="5480433"/>
            <a:ext cx="2136381" cy="1149545"/>
          </a:xfrm>
          <a:custGeom>
            <a:avLst/>
            <a:gdLst/>
            <a:ahLst/>
            <a:cxnLst/>
            <a:rect l="l" t="t" r="r" b="b"/>
            <a:pathLst>
              <a:path w="2136381" h="1149545">
                <a:moveTo>
                  <a:pt x="0" y="0"/>
                </a:moveTo>
                <a:lnTo>
                  <a:pt x="2136381" y="0"/>
                </a:lnTo>
                <a:lnTo>
                  <a:pt x="2136381" y="1149544"/>
                </a:lnTo>
                <a:lnTo>
                  <a:pt x="0" y="1149544"/>
                </a:lnTo>
                <a:lnTo>
                  <a:pt x="0" y="0"/>
                </a:lnTo>
                <a:close/>
              </a:path>
            </a:pathLst>
          </a:custGeom>
          <a:blipFill>
            <a:blip r:embed="rId19">
              <a:extLst>
                <a:ext uri="{96DAC541-7B7A-43D3-8B79-37D633B846F1}">
                  <asvg:svgBlip xmlns:asvg="http://schemas.microsoft.com/office/drawing/2016/SVG/main" r:embed="rId20"/>
                </a:ext>
              </a:extLst>
            </a:blip>
            <a:stretch>
              <a:fillRect t="-85845"/>
            </a:stretch>
          </a:blipFill>
        </p:spPr>
      </p:sp>
      <p:grpSp>
        <p:nvGrpSpPr>
          <p:cNvPr id="21" name="Group 21"/>
          <p:cNvGrpSpPr/>
          <p:nvPr/>
        </p:nvGrpSpPr>
        <p:grpSpPr>
          <a:xfrm>
            <a:off x="2538462" y="4527631"/>
            <a:ext cx="1757774" cy="175777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4" name="Group 24"/>
          <p:cNvGrpSpPr/>
          <p:nvPr/>
        </p:nvGrpSpPr>
        <p:grpSpPr>
          <a:xfrm>
            <a:off x="5410531" y="4527631"/>
            <a:ext cx="1757774" cy="175777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7" name="Group 27"/>
          <p:cNvGrpSpPr/>
          <p:nvPr/>
        </p:nvGrpSpPr>
        <p:grpSpPr>
          <a:xfrm>
            <a:off x="7346336" y="5464711"/>
            <a:ext cx="754179" cy="271053"/>
            <a:chOff x="0" y="0"/>
            <a:chExt cx="212545" cy="76389"/>
          </a:xfrm>
        </p:grpSpPr>
        <p:sp>
          <p:nvSpPr>
            <p:cNvPr id="28" name="Freeform 28"/>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327576"/>
            </a:solidFill>
            <a:ln cap="sq">
              <a:noFill/>
              <a:prstDash val="solid"/>
              <a:miter/>
            </a:ln>
          </p:spPr>
        </p:sp>
        <p:sp>
          <p:nvSpPr>
            <p:cNvPr id="29" name="TextBox 29"/>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30" name="Freeform 30"/>
          <p:cNvSpPr/>
          <p:nvPr/>
        </p:nvSpPr>
        <p:spPr>
          <a:xfrm flipV="1">
            <a:off x="7969732" y="5464711"/>
            <a:ext cx="2381462" cy="1190731"/>
          </a:xfrm>
          <a:custGeom>
            <a:avLst/>
            <a:gdLst/>
            <a:ahLst/>
            <a:cxnLst/>
            <a:rect l="l" t="t" r="r" b="b"/>
            <a:pathLst>
              <a:path w="2381462" h="1190731">
                <a:moveTo>
                  <a:pt x="0" y="1190731"/>
                </a:moveTo>
                <a:lnTo>
                  <a:pt x="2381461" y="1190731"/>
                </a:lnTo>
                <a:lnTo>
                  <a:pt x="2381461" y="0"/>
                </a:lnTo>
                <a:lnTo>
                  <a:pt x="0" y="0"/>
                </a:lnTo>
                <a:lnTo>
                  <a:pt x="0" y="1190731"/>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sp>
      <p:sp>
        <p:nvSpPr>
          <p:cNvPr id="31" name="Freeform 31"/>
          <p:cNvSpPr/>
          <p:nvPr/>
        </p:nvSpPr>
        <p:spPr>
          <a:xfrm>
            <a:off x="7969732" y="4150778"/>
            <a:ext cx="2381462" cy="1190731"/>
          </a:xfrm>
          <a:custGeom>
            <a:avLst/>
            <a:gdLst/>
            <a:ahLst/>
            <a:cxnLst/>
            <a:rect l="l" t="t" r="r" b="b"/>
            <a:pathLst>
              <a:path w="2381462" h="1190731">
                <a:moveTo>
                  <a:pt x="0" y="0"/>
                </a:moveTo>
                <a:lnTo>
                  <a:pt x="2381461" y="0"/>
                </a:lnTo>
                <a:lnTo>
                  <a:pt x="2381461" y="1190730"/>
                </a:lnTo>
                <a:lnTo>
                  <a:pt x="0" y="119073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32" name="Group 32"/>
          <p:cNvGrpSpPr/>
          <p:nvPr/>
        </p:nvGrpSpPr>
        <p:grpSpPr>
          <a:xfrm>
            <a:off x="8281576" y="4527631"/>
            <a:ext cx="1757774" cy="1757774"/>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35" name="Group 35"/>
          <p:cNvGrpSpPr/>
          <p:nvPr/>
        </p:nvGrpSpPr>
        <p:grpSpPr>
          <a:xfrm>
            <a:off x="10216377" y="5464711"/>
            <a:ext cx="754179" cy="271053"/>
            <a:chOff x="0" y="0"/>
            <a:chExt cx="212545" cy="76389"/>
          </a:xfrm>
        </p:grpSpPr>
        <p:sp>
          <p:nvSpPr>
            <p:cNvPr id="36" name="Freeform 36"/>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408789"/>
            </a:solidFill>
          </p:spPr>
        </p:sp>
        <p:sp>
          <p:nvSpPr>
            <p:cNvPr id="37" name="TextBox 37"/>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38" name="Freeform 38"/>
          <p:cNvSpPr/>
          <p:nvPr/>
        </p:nvSpPr>
        <p:spPr>
          <a:xfrm flipV="1">
            <a:off x="10840776" y="5464711"/>
            <a:ext cx="2381462" cy="1190731"/>
          </a:xfrm>
          <a:custGeom>
            <a:avLst/>
            <a:gdLst/>
            <a:ahLst/>
            <a:cxnLst/>
            <a:rect l="l" t="t" r="r" b="b"/>
            <a:pathLst>
              <a:path w="2381462" h="1190731">
                <a:moveTo>
                  <a:pt x="0" y="1190731"/>
                </a:moveTo>
                <a:lnTo>
                  <a:pt x="2381462" y="1190731"/>
                </a:lnTo>
                <a:lnTo>
                  <a:pt x="2381462" y="0"/>
                </a:lnTo>
                <a:lnTo>
                  <a:pt x="0" y="0"/>
                </a:lnTo>
                <a:lnTo>
                  <a:pt x="0" y="1190731"/>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39" name="Freeform 39"/>
          <p:cNvSpPr/>
          <p:nvPr/>
        </p:nvSpPr>
        <p:spPr>
          <a:xfrm>
            <a:off x="10840776" y="4150778"/>
            <a:ext cx="2381462" cy="1190731"/>
          </a:xfrm>
          <a:custGeom>
            <a:avLst/>
            <a:gdLst/>
            <a:ahLst/>
            <a:cxnLst/>
            <a:rect l="l" t="t" r="r" b="b"/>
            <a:pathLst>
              <a:path w="2381462" h="1190731">
                <a:moveTo>
                  <a:pt x="0" y="0"/>
                </a:moveTo>
                <a:lnTo>
                  <a:pt x="2381462" y="0"/>
                </a:lnTo>
                <a:lnTo>
                  <a:pt x="2381462" y="1190730"/>
                </a:lnTo>
                <a:lnTo>
                  <a:pt x="0" y="1190730"/>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sp>
      <p:grpSp>
        <p:nvGrpSpPr>
          <p:cNvPr id="40" name="Group 40"/>
          <p:cNvGrpSpPr/>
          <p:nvPr/>
        </p:nvGrpSpPr>
        <p:grpSpPr>
          <a:xfrm>
            <a:off x="11152620" y="4527631"/>
            <a:ext cx="1757774" cy="1757774"/>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2" name="TextBox 4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43" name="Group 43"/>
          <p:cNvGrpSpPr/>
          <p:nvPr/>
        </p:nvGrpSpPr>
        <p:grpSpPr>
          <a:xfrm>
            <a:off x="13086418" y="5464711"/>
            <a:ext cx="754179" cy="271053"/>
            <a:chOff x="0" y="0"/>
            <a:chExt cx="212545" cy="76389"/>
          </a:xfrm>
        </p:grpSpPr>
        <p:sp>
          <p:nvSpPr>
            <p:cNvPr id="44" name="Freeform 44"/>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639C9D"/>
            </a:solidFill>
          </p:spPr>
        </p:sp>
        <p:sp>
          <p:nvSpPr>
            <p:cNvPr id="45" name="TextBox 45"/>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46" name="Freeform 46"/>
          <p:cNvSpPr/>
          <p:nvPr/>
        </p:nvSpPr>
        <p:spPr>
          <a:xfrm flipV="1">
            <a:off x="13711820" y="5464711"/>
            <a:ext cx="2381462" cy="1190731"/>
          </a:xfrm>
          <a:custGeom>
            <a:avLst/>
            <a:gdLst/>
            <a:ahLst/>
            <a:cxnLst/>
            <a:rect l="l" t="t" r="r" b="b"/>
            <a:pathLst>
              <a:path w="2381462" h="1190731">
                <a:moveTo>
                  <a:pt x="0" y="1190731"/>
                </a:moveTo>
                <a:lnTo>
                  <a:pt x="2381462" y="1190731"/>
                </a:lnTo>
                <a:lnTo>
                  <a:pt x="2381462" y="0"/>
                </a:lnTo>
                <a:lnTo>
                  <a:pt x="0" y="0"/>
                </a:lnTo>
                <a:lnTo>
                  <a:pt x="0" y="1190731"/>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sp>
      <p:sp>
        <p:nvSpPr>
          <p:cNvPr id="47" name="Freeform 47"/>
          <p:cNvSpPr/>
          <p:nvPr/>
        </p:nvSpPr>
        <p:spPr>
          <a:xfrm>
            <a:off x="13711820" y="4150778"/>
            <a:ext cx="2381462" cy="1190731"/>
          </a:xfrm>
          <a:custGeom>
            <a:avLst/>
            <a:gdLst/>
            <a:ahLst/>
            <a:cxnLst/>
            <a:rect l="l" t="t" r="r" b="b"/>
            <a:pathLst>
              <a:path w="2381462" h="1190731">
                <a:moveTo>
                  <a:pt x="0" y="0"/>
                </a:moveTo>
                <a:lnTo>
                  <a:pt x="2381462" y="0"/>
                </a:lnTo>
                <a:lnTo>
                  <a:pt x="2381462" y="1190730"/>
                </a:lnTo>
                <a:lnTo>
                  <a:pt x="0" y="1190730"/>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grpSp>
        <p:nvGrpSpPr>
          <p:cNvPr id="48" name="Group 48"/>
          <p:cNvGrpSpPr/>
          <p:nvPr/>
        </p:nvGrpSpPr>
        <p:grpSpPr>
          <a:xfrm>
            <a:off x="14023664" y="4527631"/>
            <a:ext cx="1757774" cy="1757774"/>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0" name="TextBox 50"/>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51" name="Group 51"/>
          <p:cNvGrpSpPr/>
          <p:nvPr/>
        </p:nvGrpSpPr>
        <p:grpSpPr>
          <a:xfrm>
            <a:off x="15956459" y="5464711"/>
            <a:ext cx="754179" cy="271053"/>
            <a:chOff x="0" y="0"/>
            <a:chExt cx="212545" cy="76389"/>
          </a:xfrm>
        </p:grpSpPr>
        <p:sp>
          <p:nvSpPr>
            <p:cNvPr id="52" name="Freeform 52"/>
            <p:cNvSpPr/>
            <p:nvPr/>
          </p:nvSpPr>
          <p:spPr>
            <a:xfrm>
              <a:off x="0" y="0"/>
              <a:ext cx="212545" cy="76389"/>
            </a:xfrm>
            <a:custGeom>
              <a:avLst/>
              <a:gdLst/>
              <a:ahLst/>
              <a:cxnLst/>
              <a:rect l="l" t="t" r="r" b="b"/>
              <a:pathLst>
                <a:path w="212545" h="76389">
                  <a:moveTo>
                    <a:pt x="38194" y="0"/>
                  </a:moveTo>
                  <a:lnTo>
                    <a:pt x="174350" y="0"/>
                  </a:lnTo>
                  <a:cubicBezTo>
                    <a:pt x="184480" y="0"/>
                    <a:pt x="194195" y="4024"/>
                    <a:pt x="201358" y="11187"/>
                  </a:cubicBezTo>
                  <a:cubicBezTo>
                    <a:pt x="208521" y="18350"/>
                    <a:pt x="212545" y="28065"/>
                    <a:pt x="212545" y="38194"/>
                  </a:cubicBezTo>
                  <a:lnTo>
                    <a:pt x="212545" y="38194"/>
                  </a:lnTo>
                  <a:cubicBezTo>
                    <a:pt x="212545" y="59289"/>
                    <a:pt x="195444" y="76389"/>
                    <a:pt x="174350" y="76389"/>
                  </a:cubicBezTo>
                  <a:lnTo>
                    <a:pt x="38194" y="76389"/>
                  </a:lnTo>
                  <a:cubicBezTo>
                    <a:pt x="28065" y="76389"/>
                    <a:pt x="18350" y="72365"/>
                    <a:pt x="11187" y="65202"/>
                  </a:cubicBezTo>
                  <a:cubicBezTo>
                    <a:pt x="4024" y="58039"/>
                    <a:pt x="0" y="48324"/>
                    <a:pt x="0" y="38194"/>
                  </a:cubicBezTo>
                  <a:lnTo>
                    <a:pt x="0" y="38194"/>
                  </a:lnTo>
                  <a:cubicBezTo>
                    <a:pt x="0" y="28065"/>
                    <a:pt x="4024" y="18350"/>
                    <a:pt x="11187" y="11187"/>
                  </a:cubicBezTo>
                  <a:cubicBezTo>
                    <a:pt x="18350" y="4024"/>
                    <a:pt x="28065" y="0"/>
                    <a:pt x="38194" y="0"/>
                  </a:cubicBezTo>
                  <a:close/>
                </a:path>
              </a:pathLst>
            </a:custGeom>
            <a:solidFill>
              <a:srgbClr val="92BEBF"/>
            </a:solidFill>
          </p:spPr>
        </p:sp>
        <p:sp>
          <p:nvSpPr>
            <p:cNvPr id="53" name="TextBox 53"/>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54" name="Freeform 54"/>
          <p:cNvSpPr/>
          <p:nvPr/>
        </p:nvSpPr>
        <p:spPr>
          <a:xfrm>
            <a:off x="3033679" y="5070455"/>
            <a:ext cx="740477" cy="597935"/>
          </a:xfrm>
          <a:custGeom>
            <a:avLst/>
            <a:gdLst/>
            <a:ahLst/>
            <a:cxnLst/>
            <a:rect l="l" t="t" r="r" b="b"/>
            <a:pathLst>
              <a:path w="740477" h="597935">
                <a:moveTo>
                  <a:pt x="0" y="0"/>
                </a:moveTo>
                <a:lnTo>
                  <a:pt x="740477" y="0"/>
                </a:lnTo>
                <a:lnTo>
                  <a:pt x="740477" y="597935"/>
                </a:lnTo>
                <a:lnTo>
                  <a:pt x="0" y="59793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55" name="Freeform 55"/>
          <p:cNvSpPr/>
          <p:nvPr/>
        </p:nvSpPr>
        <p:spPr>
          <a:xfrm>
            <a:off x="13533259" y="3904548"/>
            <a:ext cx="2767497" cy="1383748"/>
          </a:xfrm>
          <a:custGeom>
            <a:avLst/>
            <a:gdLst/>
            <a:ahLst/>
            <a:cxnLst/>
            <a:rect l="l" t="t" r="r" b="b"/>
            <a:pathLst>
              <a:path w="2767497" h="1383748">
                <a:moveTo>
                  <a:pt x="0" y="0"/>
                </a:moveTo>
                <a:lnTo>
                  <a:pt x="2767497" y="0"/>
                </a:lnTo>
                <a:lnTo>
                  <a:pt x="2767497" y="1383748"/>
                </a:lnTo>
                <a:lnTo>
                  <a:pt x="0" y="1383748"/>
                </a:lnTo>
                <a:lnTo>
                  <a:pt x="0" y="0"/>
                </a:lnTo>
                <a:close/>
              </a:path>
            </a:pathLst>
          </a:custGeom>
          <a:blipFill>
            <a:blip r:embed="rId29">
              <a:extLst>
                <a:ext uri="{96DAC541-7B7A-43D3-8B79-37D633B846F1}">
                  <asvg:svgBlip xmlns:asvg="http://schemas.microsoft.com/office/drawing/2016/SVG/main" r:embed="rId30"/>
                </a:ext>
              </a:extLst>
            </a:blip>
            <a:stretch>
              <a:fillRect/>
            </a:stretch>
          </a:blipFill>
          <a:ln cap="sq">
            <a:noFill/>
            <a:prstDash val="solid"/>
            <a:miter/>
          </a:ln>
        </p:spPr>
      </p:sp>
      <p:sp>
        <p:nvSpPr>
          <p:cNvPr id="56" name="Freeform 56"/>
          <p:cNvSpPr/>
          <p:nvPr/>
        </p:nvSpPr>
        <p:spPr>
          <a:xfrm>
            <a:off x="8842240" y="5070455"/>
            <a:ext cx="661303" cy="661303"/>
          </a:xfrm>
          <a:custGeom>
            <a:avLst/>
            <a:gdLst/>
            <a:ahLst/>
            <a:cxnLst/>
            <a:rect l="l" t="t" r="r" b="b"/>
            <a:pathLst>
              <a:path w="661303" h="661303">
                <a:moveTo>
                  <a:pt x="0" y="0"/>
                </a:moveTo>
                <a:lnTo>
                  <a:pt x="661304" y="0"/>
                </a:lnTo>
                <a:lnTo>
                  <a:pt x="661304" y="661303"/>
                </a:lnTo>
                <a:lnTo>
                  <a:pt x="0" y="661303"/>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grpSp>
        <p:nvGrpSpPr>
          <p:cNvPr id="57" name="Group 57"/>
          <p:cNvGrpSpPr/>
          <p:nvPr/>
        </p:nvGrpSpPr>
        <p:grpSpPr>
          <a:xfrm>
            <a:off x="1482948" y="1937744"/>
            <a:ext cx="141372" cy="784473"/>
            <a:chOff x="0" y="0"/>
            <a:chExt cx="43872" cy="243446"/>
          </a:xfrm>
        </p:grpSpPr>
        <p:sp>
          <p:nvSpPr>
            <p:cNvPr id="58" name="Freeform 58"/>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235A5B"/>
            </a:solidFill>
          </p:spPr>
        </p:sp>
        <p:sp>
          <p:nvSpPr>
            <p:cNvPr id="59" name="TextBox 59"/>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0" name="Group 60"/>
          <p:cNvGrpSpPr/>
          <p:nvPr/>
        </p:nvGrpSpPr>
        <p:grpSpPr>
          <a:xfrm>
            <a:off x="4354296" y="7333605"/>
            <a:ext cx="141372" cy="784473"/>
            <a:chOff x="0" y="0"/>
            <a:chExt cx="43872" cy="243446"/>
          </a:xfrm>
        </p:grpSpPr>
        <p:sp>
          <p:nvSpPr>
            <p:cNvPr id="61" name="Freeform 61"/>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327576"/>
            </a:solidFill>
          </p:spPr>
        </p:sp>
        <p:sp>
          <p:nvSpPr>
            <p:cNvPr id="62" name="TextBox 62"/>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3" name="Group 63"/>
          <p:cNvGrpSpPr/>
          <p:nvPr/>
        </p:nvGrpSpPr>
        <p:grpSpPr>
          <a:xfrm>
            <a:off x="10107931" y="7333605"/>
            <a:ext cx="141372" cy="784473"/>
            <a:chOff x="0" y="0"/>
            <a:chExt cx="43872" cy="243446"/>
          </a:xfrm>
        </p:grpSpPr>
        <p:sp>
          <p:nvSpPr>
            <p:cNvPr id="64" name="Freeform 64"/>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639C9D"/>
            </a:solidFill>
          </p:spPr>
        </p:sp>
        <p:sp>
          <p:nvSpPr>
            <p:cNvPr id="65" name="TextBox 65"/>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6" name="Group 66"/>
          <p:cNvGrpSpPr/>
          <p:nvPr/>
        </p:nvGrpSpPr>
        <p:grpSpPr>
          <a:xfrm>
            <a:off x="6736284" y="1937744"/>
            <a:ext cx="141372" cy="784473"/>
            <a:chOff x="0" y="0"/>
            <a:chExt cx="43872" cy="243446"/>
          </a:xfrm>
        </p:grpSpPr>
        <p:sp>
          <p:nvSpPr>
            <p:cNvPr id="67" name="Freeform 67"/>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408789"/>
            </a:solidFill>
          </p:spPr>
        </p:sp>
        <p:sp>
          <p:nvSpPr>
            <p:cNvPr id="68" name="TextBox 68"/>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9" name="Group 69"/>
          <p:cNvGrpSpPr/>
          <p:nvPr/>
        </p:nvGrpSpPr>
        <p:grpSpPr>
          <a:xfrm>
            <a:off x="12993953" y="1937744"/>
            <a:ext cx="141372" cy="784473"/>
            <a:chOff x="0" y="0"/>
            <a:chExt cx="43872" cy="243446"/>
          </a:xfrm>
        </p:grpSpPr>
        <p:sp>
          <p:nvSpPr>
            <p:cNvPr id="70" name="Freeform 70"/>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92BEBF"/>
            </a:solidFill>
          </p:spPr>
        </p:sp>
        <p:sp>
          <p:nvSpPr>
            <p:cNvPr id="71" name="TextBox 71"/>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sp>
        <p:nvSpPr>
          <p:cNvPr id="72" name="Freeform 72"/>
          <p:cNvSpPr/>
          <p:nvPr/>
        </p:nvSpPr>
        <p:spPr>
          <a:xfrm>
            <a:off x="11609976" y="4997180"/>
            <a:ext cx="895417" cy="688657"/>
          </a:xfrm>
          <a:custGeom>
            <a:avLst/>
            <a:gdLst/>
            <a:ahLst/>
            <a:cxnLst/>
            <a:rect l="l" t="t" r="r" b="b"/>
            <a:pathLst>
              <a:path w="895417" h="688657">
                <a:moveTo>
                  <a:pt x="0" y="0"/>
                </a:moveTo>
                <a:lnTo>
                  <a:pt x="895417" y="0"/>
                </a:lnTo>
                <a:lnTo>
                  <a:pt x="895417" y="688657"/>
                </a:lnTo>
                <a:lnTo>
                  <a:pt x="0" y="688657"/>
                </a:lnTo>
                <a:lnTo>
                  <a:pt x="0" y="0"/>
                </a:lnTo>
                <a:close/>
              </a:path>
            </a:pathLst>
          </a:custGeom>
          <a:blipFill>
            <a:blip r:embed="rId33">
              <a:extLst>
                <a:ext uri="{96DAC541-7B7A-43D3-8B79-37D633B846F1}">
                  <asvg:svgBlip xmlns:asvg="http://schemas.microsoft.com/office/drawing/2016/SVG/main" r:embed="rId34"/>
                </a:ext>
              </a:extLst>
            </a:blip>
            <a:stretch>
              <a:fillRect/>
            </a:stretch>
          </a:blipFill>
          <a:ln cap="sq">
            <a:noFill/>
            <a:prstDash val="solid"/>
            <a:miter/>
          </a:ln>
        </p:spPr>
      </p:sp>
      <p:sp>
        <p:nvSpPr>
          <p:cNvPr id="73" name="Freeform 73"/>
          <p:cNvSpPr/>
          <p:nvPr/>
        </p:nvSpPr>
        <p:spPr>
          <a:xfrm>
            <a:off x="14424948" y="4895842"/>
            <a:ext cx="947162" cy="947162"/>
          </a:xfrm>
          <a:custGeom>
            <a:avLst/>
            <a:gdLst/>
            <a:ahLst/>
            <a:cxnLst/>
            <a:rect l="l" t="t" r="r" b="b"/>
            <a:pathLst>
              <a:path w="947162" h="947162">
                <a:moveTo>
                  <a:pt x="0" y="0"/>
                </a:moveTo>
                <a:lnTo>
                  <a:pt x="947161" y="0"/>
                </a:lnTo>
                <a:lnTo>
                  <a:pt x="947161" y="947161"/>
                </a:lnTo>
                <a:lnTo>
                  <a:pt x="0" y="947161"/>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74" name="Freeform 74"/>
          <p:cNvSpPr/>
          <p:nvPr/>
        </p:nvSpPr>
        <p:spPr>
          <a:xfrm>
            <a:off x="5840718" y="5012026"/>
            <a:ext cx="924593" cy="830978"/>
          </a:xfrm>
          <a:custGeom>
            <a:avLst/>
            <a:gdLst/>
            <a:ahLst/>
            <a:cxnLst/>
            <a:rect l="l" t="t" r="r" b="b"/>
            <a:pathLst>
              <a:path w="924593" h="830978">
                <a:moveTo>
                  <a:pt x="0" y="0"/>
                </a:moveTo>
                <a:lnTo>
                  <a:pt x="924593" y="0"/>
                </a:lnTo>
                <a:lnTo>
                  <a:pt x="924593" y="830977"/>
                </a:lnTo>
                <a:lnTo>
                  <a:pt x="0" y="830977"/>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75" name="TextBox 75"/>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a:t>
            </a:r>
          </a:p>
        </p:txBody>
      </p:sp>
      <p:sp>
        <p:nvSpPr>
          <p:cNvPr id="76" name="TextBox 76"/>
          <p:cNvSpPr txBox="1"/>
          <p:nvPr/>
        </p:nvSpPr>
        <p:spPr>
          <a:xfrm>
            <a:off x="5855682" y="388344"/>
            <a:ext cx="657663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NỘI DUNG</a:t>
            </a:r>
          </a:p>
        </p:txBody>
      </p:sp>
      <p:sp>
        <p:nvSpPr>
          <p:cNvPr id="77" name="TextBox 77"/>
          <p:cNvSpPr txBox="1"/>
          <p:nvPr/>
        </p:nvSpPr>
        <p:spPr>
          <a:xfrm>
            <a:off x="1826530" y="2039428"/>
            <a:ext cx="204065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Giới thiệu</a:t>
            </a:r>
          </a:p>
        </p:txBody>
      </p:sp>
      <p:sp>
        <p:nvSpPr>
          <p:cNvPr id="78" name="TextBox 78"/>
          <p:cNvSpPr txBox="1"/>
          <p:nvPr/>
        </p:nvSpPr>
        <p:spPr>
          <a:xfrm>
            <a:off x="13317711" y="1970888"/>
            <a:ext cx="394158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AI on-device</a:t>
            </a:r>
          </a:p>
        </p:txBody>
      </p:sp>
      <p:sp>
        <p:nvSpPr>
          <p:cNvPr id="79" name="TextBox 79"/>
          <p:cNvSpPr txBox="1"/>
          <p:nvPr/>
        </p:nvSpPr>
        <p:spPr>
          <a:xfrm>
            <a:off x="4727652" y="7366749"/>
            <a:ext cx="394158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AI cloud</a:t>
            </a:r>
          </a:p>
        </p:txBody>
      </p:sp>
      <p:sp>
        <p:nvSpPr>
          <p:cNvPr id="80" name="TextBox 80"/>
          <p:cNvSpPr txBox="1"/>
          <p:nvPr/>
        </p:nvSpPr>
        <p:spPr>
          <a:xfrm>
            <a:off x="10499083" y="7366749"/>
            <a:ext cx="394158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AI Agent</a:t>
            </a:r>
          </a:p>
        </p:txBody>
      </p:sp>
      <p:sp>
        <p:nvSpPr>
          <p:cNvPr id="81" name="TextBox 81"/>
          <p:cNvSpPr txBox="1"/>
          <p:nvPr/>
        </p:nvSpPr>
        <p:spPr>
          <a:xfrm>
            <a:off x="7041881" y="1970888"/>
            <a:ext cx="4262021"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rot="5400000">
            <a:off x="1819116" y="2736219"/>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rot="5400000">
            <a:off x="1819116" y="3949608"/>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rot="5400000">
            <a:off x="1819116" y="5155204"/>
            <a:ext cx="1267798" cy="1079213"/>
          </a:xfrm>
          <a:custGeom>
            <a:avLst/>
            <a:gdLst/>
            <a:ahLst/>
            <a:cxnLst/>
            <a:rect l="l" t="t" r="r" b="b"/>
            <a:pathLst>
              <a:path w="1267798" h="1079213">
                <a:moveTo>
                  <a:pt x="0" y="0"/>
                </a:moveTo>
                <a:lnTo>
                  <a:pt x="1267797" y="0"/>
                </a:lnTo>
                <a:lnTo>
                  <a:pt x="1267797" y="1079212"/>
                </a:lnTo>
                <a:lnTo>
                  <a:pt x="0" y="107921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rot="5400000">
            <a:off x="1819116" y="6360799"/>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8" name="Freeform 8"/>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TextBox 9"/>
          <p:cNvSpPr txBox="1"/>
          <p:nvPr/>
        </p:nvSpPr>
        <p:spPr>
          <a:xfrm>
            <a:off x="3259321" y="2765240"/>
            <a:ext cx="13160384"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Từ “hệ điều hành cho thiết bị” sang “nền tảng tính toán thông minh”</a:t>
            </a:r>
          </a:p>
        </p:txBody>
      </p:sp>
      <p:sp>
        <p:nvSpPr>
          <p:cNvPr id="10" name="TextBox 10"/>
          <p:cNvSpPr txBox="1"/>
          <p:nvPr/>
        </p:nvSpPr>
        <p:spPr>
          <a:xfrm>
            <a:off x="3259321" y="3216816"/>
            <a:ext cx="12621838" cy="512445"/>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AI không chỉ là một tính năng bổ sung, mà trở thành lớp thông minh xuyên suốt.</a:t>
            </a:r>
          </a:p>
        </p:txBody>
      </p:sp>
      <p:sp>
        <p:nvSpPr>
          <p:cNvPr id="11" name="TextBox 11"/>
          <p:cNvSpPr txBox="1"/>
          <p:nvPr/>
        </p:nvSpPr>
        <p:spPr>
          <a:xfrm>
            <a:off x="3259321" y="4034976"/>
            <a:ext cx="10825819"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Xử lý AI được đưa xuống thiết bị mạnh mẽ hơn</a:t>
            </a:r>
          </a:p>
        </p:txBody>
      </p:sp>
      <p:sp>
        <p:nvSpPr>
          <p:cNvPr id="12" name="TextBox 12"/>
          <p:cNvSpPr txBox="1"/>
          <p:nvPr/>
        </p:nvSpPr>
        <p:spPr>
          <a:xfrm>
            <a:off x="3259321" y="4486551"/>
            <a:ext cx="13067662" cy="512445"/>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Hỗ trợ mô hình nhỏ (small LLM) chạy trực tiếp trên máy.</a:t>
            </a:r>
          </a:p>
        </p:txBody>
      </p:sp>
      <p:sp>
        <p:nvSpPr>
          <p:cNvPr id="13" name="TextBox 13"/>
          <p:cNvSpPr txBox="1"/>
          <p:nvPr/>
        </p:nvSpPr>
        <p:spPr>
          <a:xfrm>
            <a:off x="3259321" y="5158513"/>
            <a:ext cx="13437547"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Tận dụng sức mạnh AI đám mây khi cần khả năng suy luận phức tạp</a:t>
            </a:r>
          </a:p>
        </p:txBody>
      </p:sp>
      <p:sp>
        <p:nvSpPr>
          <p:cNvPr id="14" name="TextBox 14"/>
          <p:cNvSpPr txBox="1"/>
          <p:nvPr/>
        </p:nvSpPr>
        <p:spPr>
          <a:xfrm>
            <a:off x="3259321" y="5610089"/>
            <a:ext cx="13999979" cy="512445"/>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Kết hợp liền mạch on-device AI và cloud AI, tối ưu hiệu năng và chất lượng.</a:t>
            </a:r>
          </a:p>
        </p:txBody>
      </p:sp>
      <p:sp>
        <p:nvSpPr>
          <p:cNvPr id="15" name="TextBox 15"/>
          <p:cNvSpPr txBox="1"/>
          <p:nvPr/>
        </p:nvSpPr>
        <p:spPr>
          <a:xfrm>
            <a:off x="3259321" y="6389820"/>
            <a:ext cx="1019687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Xu hướng tác vụ được tự động hoá thông minh</a:t>
            </a:r>
          </a:p>
        </p:txBody>
      </p:sp>
      <p:sp>
        <p:nvSpPr>
          <p:cNvPr id="16" name="TextBox 16"/>
          <p:cNvSpPr txBox="1"/>
          <p:nvPr/>
        </p:nvSpPr>
        <p:spPr>
          <a:xfrm>
            <a:off x="3259321" y="6841396"/>
            <a:ext cx="12730654" cy="1036320"/>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Ngày càng hướng tới “assistive OS” — thực hiện hành động thay người dùng chứ không chỉ phản hồi đầu vào.</a:t>
            </a:r>
          </a:p>
        </p:txBody>
      </p:sp>
      <p:sp>
        <p:nvSpPr>
          <p:cNvPr id="17" name="TextBox 17"/>
          <p:cNvSpPr txBox="1"/>
          <p:nvPr/>
        </p:nvSpPr>
        <p:spPr>
          <a:xfrm>
            <a:off x="2154049" y="2889360"/>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8" name="TextBox 18"/>
          <p:cNvSpPr txBox="1"/>
          <p:nvPr/>
        </p:nvSpPr>
        <p:spPr>
          <a:xfrm>
            <a:off x="2154049" y="4102749"/>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9" name="TextBox 19"/>
          <p:cNvSpPr txBox="1"/>
          <p:nvPr/>
        </p:nvSpPr>
        <p:spPr>
          <a:xfrm>
            <a:off x="2154049" y="530834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20" name="TextBox 20"/>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3</a:t>
            </a:r>
          </a:p>
        </p:txBody>
      </p:sp>
      <p:sp>
        <p:nvSpPr>
          <p:cNvPr id="21" name="TextBox 21"/>
          <p:cNvSpPr txBox="1"/>
          <p:nvPr/>
        </p:nvSpPr>
        <p:spPr>
          <a:xfrm>
            <a:off x="2154049" y="6513940"/>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04</a:t>
            </a:r>
          </a:p>
        </p:txBody>
      </p:sp>
      <p:sp>
        <p:nvSpPr>
          <p:cNvPr id="22" name="TextBox 22"/>
          <p:cNvSpPr txBox="1"/>
          <p:nvPr/>
        </p:nvSpPr>
        <p:spPr>
          <a:xfrm>
            <a:off x="1309808" y="488950"/>
            <a:ext cx="14806285" cy="688975"/>
          </a:xfrm>
          <a:prstGeom prst="rect">
            <a:avLst/>
          </a:prstGeom>
        </p:spPr>
        <p:txBody>
          <a:bodyPr lIns="0" tIns="0" rIns="0" bIns="0" rtlCol="0" anchor="t">
            <a:spAutoFit/>
          </a:bodyPr>
          <a:lstStyle/>
          <a:p>
            <a:pPr marL="0" lvl="1" indent="0" algn="ctr">
              <a:lnSpc>
                <a:spcPts val="5599"/>
              </a:lnSpc>
              <a:spcBef>
                <a:spcPct val="0"/>
              </a:spcBef>
            </a:pPr>
            <a:r>
              <a:rPr lang="en-US" sz="3999" b="1" u="none" strike="noStrike" spc="167">
                <a:solidFill>
                  <a:srgbClr val="000000"/>
                </a:solidFill>
                <a:latin typeface="Rokkitt Bold"/>
                <a:ea typeface="Rokkitt Bold"/>
                <a:cs typeface="Rokkitt Bold"/>
                <a:sym typeface="Rokkitt Bold"/>
              </a:rPr>
              <a:t>ANDROID ĐANG THAY ĐỔI THẾ NÀO VỚI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1805239" y="6547539"/>
            <a:ext cx="3746341" cy="2188012"/>
            <a:chOff x="0" y="0"/>
            <a:chExt cx="1074922" cy="627797"/>
          </a:xfrm>
        </p:grpSpPr>
        <p:sp>
          <p:nvSpPr>
            <p:cNvPr id="11" name="Freeform 11"/>
            <p:cNvSpPr/>
            <p:nvPr/>
          </p:nvSpPr>
          <p:spPr>
            <a:xfrm>
              <a:off x="0" y="0"/>
              <a:ext cx="1074922" cy="627797"/>
            </a:xfrm>
            <a:custGeom>
              <a:avLst/>
              <a:gdLst/>
              <a:ahLst/>
              <a:cxnLst/>
              <a:rect l="l" t="t" r="r" b="b"/>
              <a:pathLst>
                <a:path w="1074922" h="627797">
                  <a:moveTo>
                    <a:pt x="53730" y="0"/>
                  </a:moveTo>
                  <a:lnTo>
                    <a:pt x="1021192" y="0"/>
                  </a:lnTo>
                  <a:cubicBezTo>
                    <a:pt x="1035442" y="0"/>
                    <a:pt x="1049109" y="5661"/>
                    <a:pt x="1059185" y="15737"/>
                  </a:cubicBezTo>
                  <a:cubicBezTo>
                    <a:pt x="1069261" y="25813"/>
                    <a:pt x="1074922" y="39480"/>
                    <a:pt x="1074922" y="53730"/>
                  </a:cubicBezTo>
                  <a:lnTo>
                    <a:pt x="1074922" y="574067"/>
                  </a:lnTo>
                  <a:cubicBezTo>
                    <a:pt x="1074922" y="603742"/>
                    <a:pt x="1050866" y="627797"/>
                    <a:pt x="1021192" y="627797"/>
                  </a:cubicBezTo>
                  <a:lnTo>
                    <a:pt x="53730" y="627797"/>
                  </a:lnTo>
                  <a:cubicBezTo>
                    <a:pt x="24056" y="627797"/>
                    <a:pt x="0" y="603742"/>
                    <a:pt x="0" y="574067"/>
                  </a:cubicBezTo>
                  <a:lnTo>
                    <a:pt x="0" y="53730"/>
                  </a:lnTo>
                  <a:cubicBezTo>
                    <a:pt x="0" y="24056"/>
                    <a:pt x="24056" y="0"/>
                    <a:pt x="53730" y="0"/>
                  </a:cubicBezTo>
                  <a:close/>
                </a:path>
              </a:pathLst>
            </a:custGeom>
            <a:solidFill>
              <a:srgbClr val="235A5B"/>
            </a:solidFill>
          </p:spPr>
        </p:sp>
        <p:sp>
          <p:nvSpPr>
            <p:cNvPr id="12" name="TextBox 12"/>
            <p:cNvSpPr txBox="1"/>
            <p:nvPr/>
          </p:nvSpPr>
          <p:spPr>
            <a:xfrm>
              <a:off x="0" y="-47625"/>
              <a:ext cx="1074922" cy="675422"/>
            </a:xfrm>
            <a:prstGeom prst="rect">
              <a:avLst/>
            </a:prstGeom>
          </p:spPr>
          <p:txBody>
            <a:bodyPr lIns="50800" tIns="50800" rIns="50800" bIns="50800" rtlCol="0" anchor="ctr"/>
            <a:lstStyle/>
            <a:p>
              <a:pPr algn="ctr">
                <a:lnSpc>
                  <a:spcPts val="3079"/>
                </a:lnSpc>
              </a:pPr>
              <a:endParaRPr/>
            </a:p>
          </p:txBody>
        </p:sp>
      </p:grpSp>
      <p:grpSp>
        <p:nvGrpSpPr>
          <p:cNvPr id="13" name="Group 13"/>
          <p:cNvGrpSpPr/>
          <p:nvPr/>
        </p:nvGrpSpPr>
        <p:grpSpPr>
          <a:xfrm>
            <a:off x="7039702" y="6547539"/>
            <a:ext cx="3746341" cy="2188012"/>
            <a:chOff x="0" y="0"/>
            <a:chExt cx="1074922" cy="627797"/>
          </a:xfrm>
        </p:grpSpPr>
        <p:sp>
          <p:nvSpPr>
            <p:cNvPr id="14" name="Freeform 14"/>
            <p:cNvSpPr/>
            <p:nvPr/>
          </p:nvSpPr>
          <p:spPr>
            <a:xfrm>
              <a:off x="0" y="0"/>
              <a:ext cx="1074922" cy="627797"/>
            </a:xfrm>
            <a:custGeom>
              <a:avLst/>
              <a:gdLst/>
              <a:ahLst/>
              <a:cxnLst/>
              <a:rect l="l" t="t" r="r" b="b"/>
              <a:pathLst>
                <a:path w="1074922" h="627797">
                  <a:moveTo>
                    <a:pt x="53730" y="0"/>
                  </a:moveTo>
                  <a:lnTo>
                    <a:pt x="1021192" y="0"/>
                  </a:lnTo>
                  <a:cubicBezTo>
                    <a:pt x="1035442" y="0"/>
                    <a:pt x="1049109" y="5661"/>
                    <a:pt x="1059185" y="15737"/>
                  </a:cubicBezTo>
                  <a:cubicBezTo>
                    <a:pt x="1069261" y="25813"/>
                    <a:pt x="1074922" y="39480"/>
                    <a:pt x="1074922" y="53730"/>
                  </a:cubicBezTo>
                  <a:lnTo>
                    <a:pt x="1074922" y="574067"/>
                  </a:lnTo>
                  <a:cubicBezTo>
                    <a:pt x="1074922" y="603742"/>
                    <a:pt x="1050866" y="627797"/>
                    <a:pt x="1021192" y="627797"/>
                  </a:cubicBezTo>
                  <a:lnTo>
                    <a:pt x="53730" y="627797"/>
                  </a:lnTo>
                  <a:cubicBezTo>
                    <a:pt x="24056" y="627797"/>
                    <a:pt x="0" y="603742"/>
                    <a:pt x="0" y="574067"/>
                  </a:cubicBezTo>
                  <a:lnTo>
                    <a:pt x="0" y="53730"/>
                  </a:lnTo>
                  <a:cubicBezTo>
                    <a:pt x="0" y="24056"/>
                    <a:pt x="24056" y="0"/>
                    <a:pt x="53730" y="0"/>
                  </a:cubicBezTo>
                  <a:close/>
                </a:path>
              </a:pathLst>
            </a:custGeom>
            <a:solidFill>
              <a:srgbClr val="639C9D"/>
            </a:solidFill>
          </p:spPr>
        </p:sp>
        <p:sp>
          <p:nvSpPr>
            <p:cNvPr id="15" name="TextBox 15"/>
            <p:cNvSpPr txBox="1"/>
            <p:nvPr/>
          </p:nvSpPr>
          <p:spPr>
            <a:xfrm>
              <a:off x="0" y="-47625"/>
              <a:ext cx="1074922" cy="675422"/>
            </a:xfrm>
            <a:prstGeom prst="rect">
              <a:avLst/>
            </a:prstGeom>
          </p:spPr>
          <p:txBody>
            <a:bodyPr lIns="50800" tIns="50800" rIns="50800" bIns="50800" rtlCol="0" anchor="ctr"/>
            <a:lstStyle/>
            <a:p>
              <a:pPr algn="ctr">
                <a:lnSpc>
                  <a:spcPts val="3079"/>
                </a:lnSpc>
              </a:pPr>
              <a:endParaRPr/>
            </a:p>
          </p:txBody>
        </p:sp>
      </p:grpSp>
      <p:sp>
        <p:nvSpPr>
          <p:cNvPr id="16" name="Freeform 16"/>
          <p:cNvSpPr/>
          <p:nvPr/>
        </p:nvSpPr>
        <p:spPr>
          <a:xfrm rot="-10800000">
            <a:off x="1805239" y="5279129"/>
            <a:ext cx="3746341" cy="1938732"/>
          </a:xfrm>
          <a:custGeom>
            <a:avLst/>
            <a:gdLst/>
            <a:ahLst/>
            <a:cxnLst/>
            <a:rect l="l" t="t" r="r" b="b"/>
            <a:pathLst>
              <a:path w="3746341" h="1938732">
                <a:moveTo>
                  <a:pt x="0" y="0"/>
                </a:moveTo>
                <a:lnTo>
                  <a:pt x="3746341" y="0"/>
                </a:lnTo>
                <a:lnTo>
                  <a:pt x="3746341" y="1938732"/>
                </a:lnTo>
                <a:lnTo>
                  <a:pt x="0" y="19387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7" name="Freeform 17"/>
          <p:cNvSpPr/>
          <p:nvPr/>
        </p:nvSpPr>
        <p:spPr>
          <a:xfrm rot="-10800000">
            <a:off x="7039702" y="5279129"/>
            <a:ext cx="3746341" cy="1938732"/>
          </a:xfrm>
          <a:custGeom>
            <a:avLst/>
            <a:gdLst/>
            <a:ahLst/>
            <a:cxnLst/>
            <a:rect l="l" t="t" r="r" b="b"/>
            <a:pathLst>
              <a:path w="3746341" h="1938732">
                <a:moveTo>
                  <a:pt x="0" y="0"/>
                </a:moveTo>
                <a:lnTo>
                  <a:pt x="3746341" y="0"/>
                </a:lnTo>
                <a:lnTo>
                  <a:pt x="3746341" y="1938732"/>
                </a:lnTo>
                <a:lnTo>
                  <a:pt x="0" y="193873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8" name="Freeform 18"/>
          <p:cNvSpPr/>
          <p:nvPr/>
        </p:nvSpPr>
        <p:spPr>
          <a:xfrm>
            <a:off x="2903852" y="4135156"/>
            <a:ext cx="4583833" cy="301752"/>
          </a:xfrm>
          <a:custGeom>
            <a:avLst/>
            <a:gdLst/>
            <a:ahLst/>
            <a:cxnLst/>
            <a:rect l="l" t="t" r="r" b="b"/>
            <a:pathLst>
              <a:path w="4583833" h="301752">
                <a:moveTo>
                  <a:pt x="0" y="0"/>
                </a:moveTo>
                <a:lnTo>
                  <a:pt x="4583834" y="0"/>
                </a:lnTo>
                <a:lnTo>
                  <a:pt x="4583834"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l="-45081" r="-14505"/>
            </a:stretch>
          </a:blipFill>
        </p:spPr>
      </p:sp>
      <p:sp>
        <p:nvSpPr>
          <p:cNvPr id="19" name="Freeform 19"/>
          <p:cNvSpPr/>
          <p:nvPr/>
        </p:nvSpPr>
        <p:spPr>
          <a:xfrm>
            <a:off x="7701291" y="4135156"/>
            <a:ext cx="6950250" cy="301752"/>
          </a:xfrm>
          <a:custGeom>
            <a:avLst/>
            <a:gdLst/>
            <a:ahLst/>
            <a:cxnLst/>
            <a:rect l="l" t="t" r="r" b="b"/>
            <a:pathLst>
              <a:path w="6950250" h="301752">
                <a:moveTo>
                  <a:pt x="0" y="0"/>
                </a:moveTo>
                <a:lnTo>
                  <a:pt x="6950250" y="0"/>
                </a:lnTo>
                <a:lnTo>
                  <a:pt x="6950250"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r="-5250"/>
            </a:stretch>
          </a:blipFill>
        </p:spPr>
      </p:sp>
      <p:grpSp>
        <p:nvGrpSpPr>
          <p:cNvPr id="20" name="Group 20"/>
          <p:cNvGrpSpPr/>
          <p:nvPr/>
        </p:nvGrpSpPr>
        <p:grpSpPr>
          <a:xfrm>
            <a:off x="2854482" y="3418310"/>
            <a:ext cx="1647856" cy="164785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14300" cap="sq">
              <a:solidFill>
                <a:srgbClr val="235A5B"/>
              </a:soli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3" name="Group 23"/>
          <p:cNvGrpSpPr/>
          <p:nvPr/>
        </p:nvGrpSpPr>
        <p:grpSpPr>
          <a:xfrm>
            <a:off x="8088944" y="3495644"/>
            <a:ext cx="1647856" cy="164785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14300" cap="sq">
              <a:solidFill>
                <a:srgbClr val="639C9D"/>
              </a:solidFill>
              <a:prstDash val="solid"/>
              <a:miter/>
            </a:ln>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6" name="Group 26"/>
          <p:cNvGrpSpPr/>
          <p:nvPr/>
        </p:nvGrpSpPr>
        <p:grpSpPr>
          <a:xfrm>
            <a:off x="12657460" y="6547539"/>
            <a:ext cx="3746341" cy="2188012"/>
            <a:chOff x="0" y="0"/>
            <a:chExt cx="1074922" cy="627797"/>
          </a:xfrm>
        </p:grpSpPr>
        <p:sp>
          <p:nvSpPr>
            <p:cNvPr id="27" name="Freeform 27"/>
            <p:cNvSpPr/>
            <p:nvPr/>
          </p:nvSpPr>
          <p:spPr>
            <a:xfrm>
              <a:off x="0" y="0"/>
              <a:ext cx="1074922" cy="627797"/>
            </a:xfrm>
            <a:custGeom>
              <a:avLst/>
              <a:gdLst/>
              <a:ahLst/>
              <a:cxnLst/>
              <a:rect l="l" t="t" r="r" b="b"/>
              <a:pathLst>
                <a:path w="1074922" h="627797">
                  <a:moveTo>
                    <a:pt x="53730" y="0"/>
                  </a:moveTo>
                  <a:lnTo>
                    <a:pt x="1021192" y="0"/>
                  </a:lnTo>
                  <a:cubicBezTo>
                    <a:pt x="1035442" y="0"/>
                    <a:pt x="1049109" y="5661"/>
                    <a:pt x="1059185" y="15737"/>
                  </a:cubicBezTo>
                  <a:cubicBezTo>
                    <a:pt x="1069261" y="25813"/>
                    <a:pt x="1074922" y="39480"/>
                    <a:pt x="1074922" y="53730"/>
                  </a:cubicBezTo>
                  <a:lnTo>
                    <a:pt x="1074922" y="574067"/>
                  </a:lnTo>
                  <a:cubicBezTo>
                    <a:pt x="1074922" y="603742"/>
                    <a:pt x="1050866" y="627797"/>
                    <a:pt x="1021192" y="627797"/>
                  </a:cubicBezTo>
                  <a:lnTo>
                    <a:pt x="53730" y="627797"/>
                  </a:lnTo>
                  <a:cubicBezTo>
                    <a:pt x="24056" y="627797"/>
                    <a:pt x="0" y="603742"/>
                    <a:pt x="0" y="574067"/>
                  </a:cubicBezTo>
                  <a:lnTo>
                    <a:pt x="0" y="53730"/>
                  </a:lnTo>
                  <a:cubicBezTo>
                    <a:pt x="0" y="24056"/>
                    <a:pt x="24056" y="0"/>
                    <a:pt x="53730" y="0"/>
                  </a:cubicBezTo>
                  <a:close/>
                </a:path>
              </a:pathLst>
            </a:custGeom>
            <a:solidFill>
              <a:srgbClr val="235A5B"/>
            </a:solidFill>
          </p:spPr>
        </p:sp>
        <p:sp>
          <p:nvSpPr>
            <p:cNvPr id="28" name="TextBox 28"/>
            <p:cNvSpPr txBox="1"/>
            <p:nvPr/>
          </p:nvSpPr>
          <p:spPr>
            <a:xfrm>
              <a:off x="0" y="-47625"/>
              <a:ext cx="1074922" cy="675422"/>
            </a:xfrm>
            <a:prstGeom prst="rect">
              <a:avLst/>
            </a:prstGeom>
          </p:spPr>
          <p:txBody>
            <a:bodyPr lIns="50800" tIns="50800" rIns="50800" bIns="50800" rtlCol="0" anchor="ctr"/>
            <a:lstStyle/>
            <a:p>
              <a:pPr algn="ctr">
                <a:lnSpc>
                  <a:spcPts val="3079"/>
                </a:lnSpc>
              </a:pPr>
              <a:endParaRPr/>
            </a:p>
          </p:txBody>
        </p:sp>
      </p:grpSp>
      <p:sp>
        <p:nvSpPr>
          <p:cNvPr id="29" name="Freeform 29"/>
          <p:cNvSpPr/>
          <p:nvPr/>
        </p:nvSpPr>
        <p:spPr>
          <a:xfrm rot="-10800000">
            <a:off x="12657460" y="5279129"/>
            <a:ext cx="3746341" cy="1938732"/>
          </a:xfrm>
          <a:custGeom>
            <a:avLst/>
            <a:gdLst/>
            <a:ahLst/>
            <a:cxnLst/>
            <a:rect l="l" t="t" r="r" b="b"/>
            <a:pathLst>
              <a:path w="3746341" h="1938732">
                <a:moveTo>
                  <a:pt x="0" y="0"/>
                </a:moveTo>
                <a:lnTo>
                  <a:pt x="3746341" y="0"/>
                </a:lnTo>
                <a:lnTo>
                  <a:pt x="3746341" y="1938732"/>
                </a:lnTo>
                <a:lnTo>
                  <a:pt x="0" y="19387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30" name="Group 30"/>
          <p:cNvGrpSpPr/>
          <p:nvPr/>
        </p:nvGrpSpPr>
        <p:grpSpPr>
          <a:xfrm>
            <a:off x="13615178" y="3418310"/>
            <a:ext cx="1647856" cy="1647856"/>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14300" cap="sq">
              <a:solidFill>
                <a:srgbClr val="235A5B"/>
              </a:solidFill>
              <a:prstDash val="solid"/>
              <a:miter/>
            </a:ln>
          </p:spPr>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33" name="TextBox 33"/>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4</a:t>
            </a:r>
          </a:p>
        </p:txBody>
      </p:sp>
      <p:sp>
        <p:nvSpPr>
          <p:cNvPr id="34" name="TextBox 34"/>
          <p:cNvSpPr txBox="1"/>
          <p:nvPr/>
        </p:nvSpPr>
        <p:spPr>
          <a:xfrm>
            <a:off x="2137852" y="5914816"/>
            <a:ext cx="3239035" cy="2276475"/>
          </a:xfrm>
          <a:prstGeom prst="rect">
            <a:avLst/>
          </a:prstGeom>
        </p:spPr>
        <p:txBody>
          <a:bodyPr lIns="0" tIns="0" rIns="0" bIns="0" rtlCol="0" anchor="t">
            <a:spAutoFit/>
          </a:bodyPr>
          <a:lstStyle/>
          <a:p>
            <a:pPr algn="ctr">
              <a:lnSpc>
                <a:spcPts val="4500"/>
              </a:lnSpc>
            </a:pPr>
            <a:r>
              <a:rPr lang="en-US" sz="3000" b="1">
                <a:solidFill>
                  <a:srgbClr val="FFFFFF"/>
                </a:solidFill>
                <a:latin typeface="Rokkitt Bold"/>
                <a:ea typeface="Rokkitt Bold"/>
                <a:cs typeface="Rokkitt Bold"/>
                <a:sym typeface="Rokkitt Bold"/>
              </a:rPr>
              <a:t>AI on-device</a:t>
            </a:r>
          </a:p>
          <a:p>
            <a:pPr algn="ctr">
              <a:lnSpc>
                <a:spcPts val="4500"/>
              </a:lnSpc>
            </a:pPr>
            <a:endParaRPr lang="en-US" sz="3000" b="1">
              <a:solidFill>
                <a:srgbClr val="FFFFFF"/>
              </a:solidFill>
              <a:latin typeface="Rokkitt Bold"/>
              <a:ea typeface="Rokkitt Bold"/>
              <a:cs typeface="Rokkitt Bold"/>
              <a:sym typeface="Rokkitt Bold"/>
            </a:endParaRPr>
          </a:p>
          <a:p>
            <a:pPr marL="0" lvl="0" indent="0" algn="ctr">
              <a:lnSpc>
                <a:spcPts val="4500"/>
              </a:lnSpc>
              <a:spcBef>
                <a:spcPct val="0"/>
              </a:spcBef>
            </a:pPr>
            <a:r>
              <a:rPr lang="en-US" sz="3000">
                <a:solidFill>
                  <a:srgbClr val="FFFFFF"/>
                </a:solidFill>
                <a:latin typeface="Rokkitt"/>
                <a:ea typeface="Rokkitt"/>
                <a:cs typeface="Rokkitt"/>
                <a:sym typeface="Rokkitt"/>
              </a:rPr>
              <a:t>xử lý trực tiếp, realtime, offline</a:t>
            </a:r>
          </a:p>
        </p:txBody>
      </p:sp>
      <p:sp>
        <p:nvSpPr>
          <p:cNvPr id="35" name="TextBox 35"/>
          <p:cNvSpPr txBox="1"/>
          <p:nvPr/>
        </p:nvSpPr>
        <p:spPr>
          <a:xfrm>
            <a:off x="7293355" y="5914816"/>
            <a:ext cx="3239035" cy="2276475"/>
          </a:xfrm>
          <a:prstGeom prst="rect">
            <a:avLst/>
          </a:prstGeom>
        </p:spPr>
        <p:txBody>
          <a:bodyPr lIns="0" tIns="0" rIns="0" bIns="0" rtlCol="0" anchor="t">
            <a:spAutoFit/>
          </a:bodyPr>
          <a:lstStyle/>
          <a:p>
            <a:pPr algn="ctr">
              <a:lnSpc>
                <a:spcPts val="4500"/>
              </a:lnSpc>
            </a:pPr>
            <a:r>
              <a:rPr lang="en-US" sz="3000" b="1">
                <a:solidFill>
                  <a:srgbClr val="FFFFFF"/>
                </a:solidFill>
                <a:latin typeface="Rokkitt Bold"/>
                <a:ea typeface="Rokkitt Bold"/>
                <a:cs typeface="Rokkitt Bold"/>
                <a:sym typeface="Rokkitt Bold"/>
              </a:rPr>
              <a:t>AI cloud</a:t>
            </a:r>
          </a:p>
          <a:p>
            <a:pPr algn="ctr">
              <a:lnSpc>
                <a:spcPts val="4500"/>
              </a:lnSpc>
            </a:pPr>
            <a:endParaRPr lang="en-US" sz="3000" b="1">
              <a:solidFill>
                <a:srgbClr val="FFFFFF"/>
              </a:solidFill>
              <a:latin typeface="Rokkitt Bold"/>
              <a:ea typeface="Rokkitt Bold"/>
              <a:cs typeface="Rokkitt Bold"/>
              <a:sym typeface="Rokkitt Bold"/>
            </a:endParaRPr>
          </a:p>
          <a:p>
            <a:pPr marL="0" lvl="0" indent="0" algn="ctr">
              <a:lnSpc>
                <a:spcPts val="4500"/>
              </a:lnSpc>
              <a:spcBef>
                <a:spcPct val="0"/>
              </a:spcBef>
            </a:pPr>
            <a:r>
              <a:rPr lang="en-US" sz="3000">
                <a:solidFill>
                  <a:srgbClr val="FFFFFF"/>
                </a:solidFill>
                <a:latin typeface="Rokkitt"/>
                <a:ea typeface="Rokkitt"/>
                <a:cs typeface="Rokkitt"/>
                <a:sym typeface="Rokkitt"/>
              </a:rPr>
              <a:t>sức mạnh tính toán, mô hình LLM lớn</a:t>
            </a:r>
          </a:p>
        </p:txBody>
      </p:sp>
      <p:sp>
        <p:nvSpPr>
          <p:cNvPr id="36" name="TextBox 36"/>
          <p:cNvSpPr txBox="1"/>
          <p:nvPr/>
        </p:nvSpPr>
        <p:spPr>
          <a:xfrm>
            <a:off x="12911113" y="5914816"/>
            <a:ext cx="3239035" cy="2276475"/>
          </a:xfrm>
          <a:prstGeom prst="rect">
            <a:avLst/>
          </a:prstGeom>
        </p:spPr>
        <p:txBody>
          <a:bodyPr lIns="0" tIns="0" rIns="0" bIns="0" rtlCol="0" anchor="t">
            <a:spAutoFit/>
          </a:bodyPr>
          <a:lstStyle/>
          <a:p>
            <a:pPr algn="ctr">
              <a:lnSpc>
                <a:spcPts val="4500"/>
              </a:lnSpc>
            </a:pPr>
            <a:r>
              <a:rPr lang="en-US" sz="3000" b="1">
                <a:solidFill>
                  <a:srgbClr val="FFFFFF"/>
                </a:solidFill>
                <a:latin typeface="Rokkitt Bold"/>
                <a:ea typeface="Rokkitt Bold"/>
                <a:cs typeface="Rokkitt Bold"/>
                <a:sym typeface="Rokkitt Bold"/>
              </a:rPr>
              <a:t>AI agent</a:t>
            </a:r>
          </a:p>
          <a:p>
            <a:pPr algn="ctr">
              <a:lnSpc>
                <a:spcPts val="4500"/>
              </a:lnSpc>
            </a:pPr>
            <a:endParaRPr lang="en-US" sz="3000" b="1">
              <a:solidFill>
                <a:srgbClr val="FFFFFF"/>
              </a:solidFill>
              <a:latin typeface="Rokkitt Bold"/>
              <a:ea typeface="Rokkitt Bold"/>
              <a:cs typeface="Rokkitt Bold"/>
              <a:sym typeface="Rokkitt Bold"/>
            </a:endParaRPr>
          </a:p>
          <a:p>
            <a:pPr marL="0" lvl="0" indent="0" algn="ctr">
              <a:lnSpc>
                <a:spcPts val="4500"/>
              </a:lnSpc>
              <a:spcBef>
                <a:spcPct val="0"/>
              </a:spcBef>
            </a:pPr>
            <a:r>
              <a:rPr lang="en-US" sz="3000">
                <a:solidFill>
                  <a:srgbClr val="FFFFFF"/>
                </a:solidFill>
                <a:latin typeface="Rokkitt"/>
                <a:ea typeface="Rokkitt"/>
                <a:cs typeface="Rokkitt"/>
                <a:sym typeface="Rokkitt"/>
              </a:rPr>
              <a:t>tự động hóa, điều phối hành động</a:t>
            </a:r>
          </a:p>
        </p:txBody>
      </p:sp>
      <p:sp>
        <p:nvSpPr>
          <p:cNvPr id="37" name="TextBox 37"/>
          <p:cNvSpPr txBox="1"/>
          <p:nvPr/>
        </p:nvSpPr>
        <p:spPr>
          <a:xfrm>
            <a:off x="3757370" y="534988"/>
            <a:ext cx="10773261" cy="1758950"/>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BA THÀNH TỐ CỐT LÕI CỦA AI TRONG APP DI ĐỘNG</a:t>
            </a:r>
          </a:p>
        </p:txBody>
      </p:sp>
      <p:sp>
        <p:nvSpPr>
          <p:cNvPr id="38" name="Freeform 38"/>
          <p:cNvSpPr/>
          <p:nvPr/>
        </p:nvSpPr>
        <p:spPr>
          <a:xfrm>
            <a:off x="3308495" y="3872323"/>
            <a:ext cx="739830" cy="739830"/>
          </a:xfrm>
          <a:custGeom>
            <a:avLst/>
            <a:gdLst/>
            <a:ahLst/>
            <a:cxnLst/>
            <a:rect l="l" t="t" r="r" b="b"/>
            <a:pathLst>
              <a:path w="739830" h="739830">
                <a:moveTo>
                  <a:pt x="0" y="0"/>
                </a:moveTo>
                <a:lnTo>
                  <a:pt x="739830" y="0"/>
                </a:lnTo>
                <a:lnTo>
                  <a:pt x="739830" y="739830"/>
                </a:lnTo>
                <a:lnTo>
                  <a:pt x="0" y="7398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9" name="Freeform 39"/>
          <p:cNvSpPr/>
          <p:nvPr/>
        </p:nvSpPr>
        <p:spPr>
          <a:xfrm>
            <a:off x="8465164" y="3975243"/>
            <a:ext cx="895417" cy="688657"/>
          </a:xfrm>
          <a:custGeom>
            <a:avLst/>
            <a:gdLst/>
            <a:ahLst/>
            <a:cxnLst/>
            <a:rect l="l" t="t" r="r" b="b"/>
            <a:pathLst>
              <a:path w="895417" h="688657">
                <a:moveTo>
                  <a:pt x="0" y="0"/>
                </a:moveTo>
                <a:lnTo>
                  <a:pt x="895417" y="0"/>
                </a:lnTo>
                <a:lnTo>
                  <a:pt x="895417" y="688658"/>
                </a:lnTo>
                <a:lnTo>
                  <a:pt x="0" y="688658"/>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40" name="Freeform 40"/>
          <p:cNvSpPr/>
          <p:nvPr/>
        </p:nvSpPr>
        <p:spPr>
          <a:xfrm>
            <a:off x="14017358" y="3864284"/>
            <a:ext cx="843496" cy="843496"/>
          </a:xfrm>
          <a:custGeom>
            <a:avLst/>
            <a:gdLst/>
            <a:ahLst/>
            <a:cxnLst/>
            <a:rect l="l" t="t" r="r" b="b"/>
            <a:pathLst>
              <a:path w="843496" h="843496">
                <a:moveTo>
                  <a:pt x="0" y="0"/>
                </a:moveTo>
                <a:lnTo>
                  <a:pt x="843496" y="0"/>
                </a:lnTo>
                <a:lnTo>
                  <a:pt x="843496" y="843496"/>
                </a:lnTo>
                <a:lnTo>
                  <a:pt x="0" y="843496"/>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2418518" y="2521701"/>
            <a:ext cx="15218561" cy="5808094"/>
            <a:chOff x="0" y="0"/>
            <a:chExt cx="6443507" cy="2459135"/>
          </a:xfrm>
        </p:grpSpPr>
        <p:sp>
          <p:nvSpPr>
            <p:cNvPr id="11" name="Freeform 11"/>
            <p:cNvSpPr/>
            <p:nvPr/>
          </p:nvSpPr>
          <p:spPr>
            <a:xfrm>
              <a:off x="0" y="0"/>
              <a:ext cx="6443507" cy="2459135"/>
            </a:xfrm>
            <a:custGeom>
              <a:avLst/>
              <a:gdLst/>
              <a:ahLst/>
              <a:cxnLst/>
              <a:rect l="l" t="t" r="r" b="b"/>
              <a:pathLst>
                <a:path w="6443507" h="2459135">
                  <a:moveTo>
                    <a:pt x="16788" y="0"/>
                  </a:moveTo>
                  <a:lnTo>
                    <a:pt x="6426719" y="0"/>
                  </a:lnTo>
                  <a:cubicBezTo>
                    <a:pt x="6431172" y="0"/>
                    <a:pt x="6435442" y="1769"/>
                    <a:pt x="6438590" y="4917"/>
                  </a:cubicBezTo>
                  <a:cubicBezTo>
                    <a:pt x="6441739" y="8065"/>
                    <a:pt x="6443507" y="12335"/>
                    <a:pt x="6443507" y="16788"/>
                  </a:cubicBezTo>
                  <a:lnTo>
                    <a:pt x="6443507" y="2442347"/>
                  </a:lnTo>
                  <a:cubicBezTo>
                    <a:pt x="6443507" y="2446800"/>
                    <a:pt x="6441739" y="2451070"/>
                    <a:pt x="6438590" y="2454218"/>
                  </a:cubicBezTo>
                  <a:cubicBezTo>
                    <a:pt x="6435442" y="2457366"/>
                    <a:pt x="6431172" y="2459135"/>
                    <a:pt x="6426719" y="2459135"/>
                  </a:cubicBezTo>
                  <a:lnTo>
                    <a:pt x="16788" y="2459135"/>
                  </a:lnTo>
                  <a:cubicBezTo>
                    <a:pt x="12335" y="2459135"/>
                    <a:pt x="8065" y="2457366"/>
                    <a:pt x="4917" y="2454218"/>
                  </a:cubicBezTo>
                  <a:cubicBezTo>
                    <a:pt x="1769" y="2451070"/>
                    <a:pt x="0" y="2446800"/>
                    <a:pt x="0" y="2442347"/>
                  </a:cubicBezTo>
                  <a:lnTo>
                    <a:pt x="0" y="16788"/>
                  </a:lnTo>
                  <a:cubicBezTo>
                    <a:pt x="0" y="12335"/>
                    <a:pt x="1769" y="8065"/>
                    <a:pt x="4917" y="4917"/>
                  </a:cubicBezTo>
                  <a:cubicBezTo>
                    <a:pt x="8065" y="1769"/>
                    <a:pt x="12335" y="0"/>
                    <a:pt x="16788" y="0"/>
                  </a:cubicBezTo>
                  <a:close/>
                </a:path>
              </a:pathLst>
            </a:custGeom>
            <a:solidFill>
              <a:srgbClr val="CADCD6">
                <a:alpha val="22745"/>
              </a:srgbClr>
            </a:solidFill>
          </p:spPr>
        </p:sp>
        <p:sp>
          <p:nvSpPr>
            <p:cNvPr id="12" name="TextBox 12"/>
            <p:cNvSpPr txBox="1"/>
            <p:nvPr/>
          </p:nvSpPr>
          <p:spPr>
            <a:xfrm>
              <a:off x="0" y="-47625"/>
              <a:ext cx="6443507" cy="2506760"/>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2379145" y="3030702"/>
            <a:ext cx="82924" cy="4663440"/>
            <a:chOff x="0" y="0"/>
            <a:chExt cx="35110" cy="1974491"/>
          </a:xfrm>
        </p:grpSpPr>
        <p:sp>
          <p:nvSpPr>
            <p:cNvPr id="14" name="Freeform 14"/>
            <p:cNvSpPr/>
            <p:nvPr/>
          </p:nvSpPr>
          <p:spPr>
            <a:xfrm>
              <a:off x="0" y="0"/>
              <a:ext cx="35110" cy="1974491"/>
            </a:xfrm>
            <a:custGeom>
              <a:avLst/>
              <a:gdLst/>
              <a:ahLst/>
              <a:cxnLst/>
              <a:rect l="l" t="t" r="r" b="b"/>
              <a:pathLst>
                <a:path w="35110" h="1974491">
                  <a:moveTo>
                    <a:pt x="17555" y="0"/>
                  </a:moveTo>
                  <a:lnTo>
                    <a:pt x="17555" y="0"/>
                  </a:lnTo>
                  <a:cubicBezTo>
                    <a:pt x="27250" y="0"/>
                    <a:pt x="35110" y="7860"/>
                    <a:pt x="35110" y="17555"/>
                  </a:cubicBezTo>
                  <a:lnTo>
                    <a:pt x="35110" y="1956936"/>
                  </a:lnTo>
                  <a:cubicBezTo>
                    <a:pt x="35110" y="1966631"/>
                    <a:pt x="27250" y="1974491"/>
                    <a:pt x="17555" y="1974491"/>
                  </a:cubicBezTo>
                  <a:lnTo>
                    <a:pt x="17555" y="1974491"/>
                  </a:lnTo>
                  <a:cubicBezTo>
                    <a:pt x="7860" y="1974491"/>
                    <a:pt x="0" y="1966631"/>
                    <a:pt x="0" y="1956936"/>
                  </a:cubicBezTo>
                  <a:lnTo>
                    <a:pt x="0" y="17555"/>
                  </a:lnTo>
                  <a:cubicBezTo>
                    <a:pt x="0" y="7860"/>
                    <a:pt x="7860" y="0"/>
                    <a:pt x="17555" y="0"/>
                  </a:cubicBezTo>
                  <a:close/>
                </a:path>
              </a:pathLst>
            </a:custGeom>
            <a:solidFill>
              <a:srgbClr val="408789"/>
            </a:solidFill>
          </p:spPr>
        </p:sp>
        <p:sp>
          <p:nvSpPr>
            <p:cNvPr id="15" name="TextBox 15"/>
            <p:cNvSpPr txBox="1"/>
            <p:nvPr/>
          </p:nvSpPr>
          <p:spPr>
            <a:xfrm>
              <a:off x="0" y="-47625"/>
              <a:ext cx="35110" cy="2022116"/>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5</a:t>
            </a:r>
          </a:p>
        </p:txBody>
      </p:sp>
      <p:sp>
        <p:nvSpPr>
          <p:cNvPr id="17" name="TextBox 17"/>
          <p:cNvSpPr txBox="1"/>
          <p:nvPr/>
        </p:nvSpPr>
        <p:spPr>
          <a:xfrm>
            <a:off x="3786505" y="914400"/>
            <a:ext cx="1142902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ON-DEVICE AI</a:t>
            </a:r>
          </a:p>
        </p:txBody>
      </p:sp>
      <p:sp>
        <p:nvSpPr>
          <p:cNvPr id="18" name="TextBox 18"/>
          <p:cNvSpPr txBox="1"/>
          <p:nvPr/>
        </p:nvSpPr>
        <p:spPr>
          <a:xfrm>
            <a:off x="2673198" y="2713781"/>
            <a:ext cx="14828656" cy="5166360"/>
          </a:xfrm>
          <a:prstGeom prst="rect">
            <a:avLst/>
          </a:prstGeom>
        </p:spPr>
        <p:txBody>
          <a:bodyPr lIns="0" tIns="0" rIns="0" bIns="0" rtlCol="0" anchor="t">
            <a:spAutoFit/>
          </a:bodyPr>
          <a:lstStyle/>
          <a:p>
            <a:pPr algn="just">
              <a:lnSpc>
                <a:spcPts val="5100"/>
              </a:lnSpc>
            </a:pPr>
            <a:r>
              <a:rPr lang="en-US" sz="3400" b="1">
                <a:solidFill>
                  <a:srgbClr val="2B2B2B"/>
                </a:solidFill>
                <a:latin typeface="Rokkitt Bold"/>
                <a:ea typeface="Rokkitt Bold"/>
                <a:cs typeface="Rokkitt Bold"/>
                <a:sym typeface="Rokkitt Bold"/>
              </a:rPr>
              <a:t>Vì sao cần On-Device AI?</a:t>
            </a:r>
          </a:p>
          <a:p>
            <a:pPr marL="734061" lvl="1" indent="-367031" algn="just">
              <a:lnSpc>
                <a:spcPts val="5100"/>
              </a:lnSpc>
              <a:spcBef>
                <a:spcPct val="0"/>
              </a:spcBef>
              <a:buFont typeface="Arial"/>
              <a:buChar char="•"/>
            </a:pPr>
            <a:r>
              <a:rPr lang="en-US" sz="3400">
                <a:solidFill>
                  <a:srgbClr val="2B2B2B"/>
                </a:solidFill>
                <a:latin typeface="Rokkitt"/>
                <a:ea typeface="Rokkitt"/>
                <a:cs typeface="Rokkitt"/>
                <a:sym typeface="Rokkitt"/>
              </a:rPr>
              <a:t>Privacy &amp; Secu</a:t>
            </a:r>
            <a:r>
              <a:rPr lang="en-US" sz="3400" u="none" strike="noStrike">
                <a:solidFill>
                  <a:srgbClr val="2B2B2B"/>
                </a:solidFill>
                <a:latin typeface="Rokkitt"/>
                <a:ea typeface="Rokkitt"/>
                <a:cs typeface="Rokkitt"/>
                <a:sym typeface="Rokkitt"/>
              </a:rPr>
              <a:t>rity: Dữ liệu xử lý trực tiếp trên thiết bị, không gửi lên server.</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Low Latency, không cần network, inference nhanh (20–50ms).</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Offline, hoạt động không cần internet.</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Giảm chi phí server, không tốn API calls cho hàng triệu users.</a:t>
            </a:r>
          </a:p>
          <a:p>
            <a:pPr algn="just">
              <a:lnSpc>
                <a:spcPts val="5100"/>
              </a:lnSpc>
              <a:spcBef>
                <a:spcPct val="0"/>
              </a:spcBef>
            </a:pPr>
            <a:r>
              <a:rPr lang="en-US" sz="3400" b="1" u="none" strike="noStrike">
                <a:solidFill>
                  <a:srgbClr val="2B2B2B"/>
                </a:solidFill>
                <a:latin typeface="Rokkitt Bold"/>
                <a:ea typeface="Rokkitt Bold"/>
                <a:cs typeface="Rokkitt Bold"/>
                <a:sym typeface="Rokkitt Bold"/>
              </a:rPr>
              <a:t>Thách thức</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Giới hạn tài nguyên, model size, dung lượng pin, ...</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Inference time: Cần &lt;100ms cho trải nghiệm real-time.</a:t>
            </a:r>
          </a:p>
        </p:txBody>
      </p:sp>
      <p:grpSp>
        <p:nvGrpSpPr>
          <p:cNvPr id="19" name="Group 19"/>
          <p:cNvGrpSpPr/>
          <p:nvPr/>
        </p:nvGrpSpPr>
        <p:grpSpPr>
          <a:xfrm>
            <a:off x="658649" y="2521701"/>
            <a:ext cx="1294453" cy="1294453"/>
            <a:chOff x="0" y="0"/>
            <a:chExt cx="812800" cy="812800"/>
          </a:xfrm>
        </p:grpSpPr>
        <p:sp>
          <p:nvSpPr>
            <p:cNvPr id="20" name="Freeform 20"/>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22" name="Freeform 22"/>
          <p:cNvSpPr/>
          <p:nvPr/>
        </p:nvSpPr>
        <p:spPr>
          <a:xfrm>
            <a:off x="1096680" y="2828081"/>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787961" y="2070489"/>
            <a:ext cx="6581107" cy="6632015"/>
            <a:chOff x="0" y="0"/>
            <a:chExt cx="2011884" cy="2027447"/>
          </a:xfrm>
        </p:grpSpPr>
        <p:sp>
          <p:nvSpPr>
            <p:cNvPr id="4" name="Freeform 4"/>
            <p:cNvSpPr/>
            <p:nvPr/>
          </p:nvSpPr>
          <p:spPr>
            <a:xfrm>
              <a:off x="0" y="0"/>
              <a:ext cx="2011884" cy="2027447"/>
            </a:xfrm>
            <a:custGeom>
              <a:avLst/>
              <a:gdLst/>
              <a:ahLst/>
              <a:cxnLst/>
              <a:rect l="l" t="t" r="r" b="b"/>
              <a:pathLst>
                <a:path w="2011884" h="2027447">
                  <a:moveTo>
                    <a:pt x="38821" y="0"/>
                  </a:moveTo>
                  <a:lnTo>
                    <a:pt x="1973063" y="0"/>
                  </a:lnTo>
                  <a:cubicBezTo>
                    <a:pt x="1983359" y="0"/>
                    <a:pt x="1993234" y="4090"/>
                    <a:pt x="2000514" y="11370"/>
                  </a:cubicBezTo>
                  <a:cubicBezTo>
                    <a:pt x="2007794" y="18651"/>
                    <a:pt x="2011884" y="28525"/>
                    <a:pt x="2011884" y="38821"/>
                  </a:cubicBezTo>
                  <a:lnTo>
                    <a:pt x="2011884" y="1988626"/>
                  </a:lnTo>
                  <a:cubicBezTo>
                    <a:pt x="2011884" y="1998922"/>
                    <a:pt x="2007794" y="2008797"/>
                    <a:pt x="2000514" y="2016077"/>
                  </a:cubicBezTo>
                  <a:cubicBezTo>
                    <a:pt x="1993234" y="2023357"/>
                    <a:pt x="1983359" y="2027447"/>
                    <a:pt x="1973063" y="2027447"/>
                  </a:cubicBezTo>
                  <a:lnTo>
                    <a:pt x="38821" y="2027447"/>
                  </a:lnTo>
                  <a:cubicBezTo>
                    <a:pt x="28525" y="2027447"/>
                    <a:pt x="18651" y="2023357"/>
                    <a:pt x="11370" y="2016077"/>
                  </a:cubicBezTo>
                  <a:cubicBezTo>
                    <a:pt x="4090" y="2008797"/>
                    <a:pt x="0" y="1998922"/>
                    <a:pt x="0" y="1988626"/>
                  </a:cubicBezTo>
                  <a:lnTo>
                    <a:pt x="0" y="38821"/>
                  </a:lnTo>
                  <a:cubicBezTo>
                    <a:pt x="0" y="28525"/>
                    <a:pt x="4090" y="18651"/>
                    <a:pt x="11370" y="11370"/>
                  </a:cubicBezTo>
                  <a:cubicBezTo>
                    <a:pt x="18651" y="4090"/>
                    <a:pt x="28525" y="0"/>
                    <a:pt x="38821" y="0"/>
                  </a:cubicBezTo>
                  <a:close/>
                </a:path>
              </a:pathLst>
            </a:custGeom>
            <a:solidFill>
              <a:srgbClr val="CADCD6">
                <a:alpha val="22745"/>
              </a:srgbClr>
            </a:solidFill>
          </p:spPr>
        </p:sp>
        <p:sp>
          <p:nvSpPr>
            <p:cNvPr id="5" name="TextBox 5"/>
            <p:cNvSpPr txBox="1"/>
            <p:nvPr/>
          </p:nvSpPr>
          <p:spPr>
            <a:xfrm>
              <a:off x="0" y="-47625"/>
              <a:ext cx="2011884" cy="2075072"/>
            </a:xfrm>
            <a:prstGeom prst="rect">
              <a:avLst/>
            </a:prstGeom>
          </p:spPr>
          <p:txBody>
            <a:bodyPr lIns="50800" tIns="50800" rIns="50800" bIns="50800" rtlCol="0" anchor="ctr"/>
            <a:lstStyle/>
            <a:p>
              <a:pPr algn="just">
                <a:lnSpc>
                  <a:spcPts val="3079"/>
                </a:lnSpc>
              </a:pPr>
              <a:endParaRPr/>
            </a:p>
          </p:txBody>
        </p:sp>
      </p:grpSp>
      <p:grpSp>
        <p:nvGrpSpPr>
          <p:cNvPr id="6" name="Group 6"/>
          <p:cNvGrpSpPr/>
          <p:nvPr/>
        </p:nvGrpSpPr>
        <p:grpSpPr>
          <a:xfrm>
            <a:off x="728206" y="2470649"/>
            <a:ext cx="147799" cy="5862937"/>
            <a:chOff x="0" y="0"/>
            <a:chExt cx="45183" cy="1792335"/>
          </a:xfrm>
        </p:grpSpPr>
        <p:sp>
          <p:nvSpPr>
            <p:cNvPr id="7" name="Freeform 7"/>
            <p:cNvSpPr/>
            <p:nvPr/>
          </p:nvSpPr>
          <p:spPr>
            <a:xfrm>
              <a:off x="0" y="0"/>
              <a:ext cx="45183" cy="1792335"/>
            </a:xfrm>
            <a:custGeom>
              <a:avLst/>
              <a:gdLst/>
              <a:ahLst/>
              <a:cxnLst/>
              <a:rect l="l" t="t" r="r" b="b"/>
              <a:pathLst>
                <a:path w="45183" h="1792335">
                  <a:moveTo>
                    <a:pt x="22591" y="0"/>
                  </a:moveTo>
                  <a:lnTo>
                    <a:pt x="22591" y="0"/>
                  </a:lnTo>
                  <a:cubicBezTo>
                    <a:pt x="28583" y="0"/>
                    <a:pt x="34329" y="2380"/>
                    <a:pt x="38566" y="6617"/>
                  </a:cubicBezTo>
                  <a:cubicBezTo>
                    <a:pt x="42803" y="10854"/>
                    <a:pt x="45183" y="16600"/>
                    <a:pt x="45183" y="22591"/>
                  </a:cubicBezTo>
                  <a:lnTo>
                    <a:pt x="45183" y="1769744"/>
                  </a:lnTo>
                  <a:cubicBezTo>
                    <a:pt x="45183" y="1775736"/>
                    <a:pt x="42803" y="1781482"/>
                    <a:pt x="38566" y="1785719"/>
                  </a:cubicBezTo>
                  <a:cubicBezTo>
                    <a:pt x="34329" y="1789955"/>
                    <a:pt x="28583" y="1792335"/>
                    <a:pt x="22591" y="1792335"/>
                  </a:cubicBezTo>
                  <a:lnTo>
                    <a:pt x="22591" y="1792335"/>
                  </a:lnTo>
                  <a:cubicBezTo>
                    <a:pt x="16600" y="1792335"/>
                    <a:pt x="10854" y="1789955"/>
                    <a:pt x="6617" y="1785719"/>
                  </a:cubicBezTo>
                  <a:cubicBezTo>
                    <a:pt x="2380" y="1781482"/>
                    <a:pt x="0" y="1775736"/>
                    <a:pt x="0" y="1769744"/>
                  </a:cubicBezTo>
                  <a:lnTo>
                    <a:pt x="0" y="22591"/>
                  </a:lnTo>
                  <a:cubicBezTo>
                    <a:pt x="0" y="16600"/>
                    <a:pt x="2380" y="10854"/>
                    <a:pt x="6617" y="6617"/>
                  </a:cubicBezTo>
                  <a:cubicBezTo>
                    <a:pt x="10854" y="2380"/>
                    <a:pt x="16600" y="0"/>
                    <a:pt x="22591" y="0"/>
                  </a:cubicBezTo>
                  <a:close/>
                </a:path>
              </a:pathLst>
            </a:custGeom>
            <a:solidFill>
              <a:srgbClr val="408789"/>
            </a:solidFill>
          </p:spPr>
        </p:sp>
        <p:sp>
          <p:nvSpPr>
            <p:cNvPr id="8" name="TextBox 8"/>
            <p:cNvSpPr txBox="1"/>
            <p:nvPr/>
          </p:nvSpPr>
          <p:spPr>
            <a:xfrm>
              <a:off x="0" y="-47625"/>
              <a:ext cx="45183" cy="1839960"/>
            </a:xfrm>
            <a:prstGeom prst="rect">
              <a:avLst/>
            </a:prstGeom>
          </p:spPr>
          <p:txBody>
            <a:bodyPr lIns="50800" tIns="50800" rIns="50800" bIns="50800" rtlCol="0" anchor="ctr"/>
            <a:lstStyle/>
            <a:p>
              <a:pPr algn="ctr">
                <a:lnSpc>
                  <a:spcPts val="3079"/>
                </a:lnSpc>
              </a:pPr>
              <a:endParaRPr/>
            </a:p>
          </p:txBody>
        </p:sp>
      </p:grpSp>
      <p:sp>
        <p:nvSpPr>
          <p:cNvPr id="9" name="Freeform 9"/>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10" name="AutoShape 10"/>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11" name="Freeform 11"/>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12" name="TextBox 12"/>
          <p:cNvSpPr txBox="1"/>
          <p:nvPr/>
        </p:nvSpPr>
        <p:spPr>
          <a:xfrm>
            <a:off x="3233858" y="914400"/>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TENSORFLOW LITE</a:t>
            </a:r>
          </a:p>
        </p:txBody>
      </p:sp>
      <p:sp>
        <p:nvSpPr>
          <p:cNvPr id="13" name="TextBox 13"/>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6</a:t>
            </a:r>
          </a:p>
        </p:txBody>
      </p:sp>
      <p:sp>
        <p:nvSpPr>
          <p:cNvPr id="14" name="TextBox 14"/>
          <p:cNvSpPr txBox="1"/>
          <p:nvPr/>
        </p:nvSpPr>
        <p:spPr>
          <a:xfrm>
            <a:off x="1257448" y="2705322"/>
            <a:ext cx="6111620" cy="5415262"/>
          </a:xfrm>
          <a:prstGeom prst="rect">
            <a:avLst/>
          </a:prstGeom>
        </p:spPr>
        <p:txBody>
          <a:bodyPr lIns="0" tIns="0" rIns="0" bIns="0" rtlCol="0" anchor="t">
            <a:spAutoFit/>
          </a:bodyPr>
          <a:lstStyle/>
          <a:p>
            <a:pPr marL="0" lvl="0" indent="0" algn="l">
              <a:lnSpc>
                <a:spcPts val="4300"/>
              </a:lnSpc>
              <a:spcBef>
                <a:spcPct val="0"/>
              </a:spcBef>
            </a:pPr>
            <a:r>
              <a:rPr lang="en-US" sz="2867">
                <a:solidFill>
                  <a:srgbClr val="000000"/>
                </a:solidFill>
                <a:latin typeface="Rokkitt"/>
                <a:ea typeface="Rokkitt"/>
                <a:cs typeface="Rokkitt"/>
                <a:sym typeface="Rokkitt"/>
              </a:rPr>
              <a:t>Đây là giải pháp chạy các model .tflite tùy</a:t>
            </a:r>
            <a:r>
              <a:rPr lang="en-US" sz="2867" u="none" strike="noStrike">
                <a:solidFill>
                  <a:srgbClr val="000000"/>
                </a:solidFill>
                <a:latin typeface="Rokkitt"/>
                <a:ea typeface="Rokkitt"/>
                <a:cs typeface="Rokkitt"/>
                <a:sym typeface="Rokkitt"/>
              </a:rPr>
              <a:t> chỉnh.</a:t>
            </a:r>
          </a:p>
          <a:p>
            <a:pPr algn="l">
              <a:lnSpc>
                <a:spcPts val="4300"/>
              </a:lnSpc>
              <a:spcBef>
                <a:spcPct val="0"/>
              </a:spcBef>
            </a:pPr>
            <a:endParaRPr lang="en-US" sz="2867" u="none" strike="noStrike">
              <a:solidFill>
                <a:srgbClr val="000000"/>
              </a:solidFill>
              <a:latin typeface="Rokkitt"/>
              <a:ea typeface="Rokkitt"/>
              <a:cs typeface="Rokkitt"/>
              <a:sym typeface="Rokkitt"/>
            </a:endParaRPr>
          </a:p>
          <a:p>
            <a:pPr algn="l">
              <a:lnSpc>
                <a:spcPts val="4300"/>
              </a:lnSpc>
              <a:spcBef>
                <a:spcPct val="0"/>
              </a:spcBef>
            </a:pPr>
            <a:r>
              <a:rPr lang="en-US" sz="2867" b="1" u="none" strike="noStrike">
                <a:solidFill>
                  <a:srgbClr val="000000"/>
                </a:solidFill>
                <a:latin typeface="Rokkitt Bold"/>
                <a:ea typeface="Rokkitt Bold"/>
                <a:cs typeface="Rokkitt Bold"/>
                <a:sym typeface="Rokkitt Bold"/>
              </a:rPr>
              <a:t>Các bước thực hiện</a:t>
            </a:r>
          </a:p>
          <a:p>
            <a:pPr algn="l">
              <a:lnSpc>
                <a:spcPts val="4300"/>
              </a:lnSpc>
            </a:pPr>
            <a:r>
              <a:rPr lang="en-US" sz="2867" u="none" strike="noStrike">
                <a:solidFill>
                  <a:srgbClr val="000000"/>
                </a:solidFill>
                <a:latin typeface="Rokkitt"/>
                <a:ea typeface="Rokkitt"/>
                <a:cs typeface="Rokkitt"/>
                <a:sym typeface="Rokkitt"/>
              </a:rPr>
              <a:t>1. Đưa file model.tflite vào assets và khởi tạo </a:t>
            </a:r>
            <a:r>
              <a:rPr lang="en-US" sz="2867" b="1" u="none" strike="noStrike">
                <a:solidFill>
                  <a:srgbClr val="000000"/>
                </a:solidFill>
                <a:latin typeface="Rokkitt Bold"/>
                <a:ea typeface="Rokkitt Bold"/>
                <a:cs typeface="Rokkitt Bold"/>
                <a:sym typeface="Rokkitt Bold"/>
              </a:rPr>
              <a:t>TFLite CompiledModel</a:t>
            </a:r>
            <a:r>
              <a:rPr lang="en-US" sz="2867" u="none" strike="noStrike">
                <a:solidFill>
                  <a:srgbClr val="000000"/>
                </a:solidFill>
                <a:latin typeface="Rokkitt"/>
                <a:ea typeface="Rokkitt"/>
                <a:cs typeface="Rokkitt"/>
                <a:sym typeface="Rokkitt"/>
              </a:rPr>
              <a:t>.</a:t>
            </a:r>
          </a:p>
          <a:p>
            <a:pPr algn="l">
              <a:lnSpc>
                <a:spcPts val="4300"/>
              </a:lnSpc>
            </a:pPr>
            <a:r>
              <a:rPr lang="en-US" sz="2867" u="none" strike="noStrike">
                <a:solidFill>
                  <a:srgbClr val="000000"/>
                </a:solidFill>
                <a:latin typeface="Rokkitt"/>
                <a:ea typeface="Rokkitt"/>
                <a:cs typeface="Rokkitt"/>
                <a:sym typeface="Rokkitt"/>
              </a:rPr>
              <a:t>2. Chuẩn bị input và output bằng InputBuffer/ OutputBuffer theo model.</a:t>
            </a:r>
          </a:p>
          <a:p>
            <a:pPr algn="l">
              <a:lnSpc>
                <a:spcPts val="4300"/>
              </a:lnSpc>
            </a:pPr>
            <a:r>
              <a:rPr lang="en-US" sz="2867" u="none" strike="noStrike">
                <a:solidFill>
                  <a:srgbClr val="000000"/>
                </a:solidFill>
                <a:latin typeface="Rokkitt"/>
                <a:ea typeface="Rokkitt"/>
                <a:cs typeface="Rokkitt"/>
                <a:sym typeface="Rokkitt"/>
              </a:rPr>
              <a:t>3. Gọi model.run(inputBuffers, outputBuffers) để thực hiện dự đoán.</a:t>
            </a:r>
          </a:p>
        </p:txBody>
      </p:sp>
      <p:sp>
        <p:nvSpPr>
          <p:cNvPr id="15" name="Freeform 15"/>
          <p:cNvSpPr/>
          <p:nvPr/>
        </p:nvSpPr>
        <p:spPr>
          <a:xfrm>
            <a:off x="7750068" y="2068282"/>
            <a:ext cx="9890232" cy="6936024"/>
          </a:xfrm>
          <a:custGeom>
            <a:avLst/>
            <a:gdLst/>
            <a:ahLst/>
            <a:cxnLst/>
            <a:rect l="l" t="t" r="r" b="b"/>
            <a:pathLst>
              <a:path w="9890232" h="6936024">
                <a:moveTo>
                  <a:pt x="0" y="0"/>
                </a:moveTo>
                <a:lnTo>
                  <a:pt x="9890232" y="0"/>
                </a:lnTo>
                <a:lnTo>
                  <a:pt x="9890232" y="6936023"/>
                </a:lnTo>
                <a:lnTo>
                  <a:pt x="0" y="6936023"/>
                </a:lnTo>
                <a:lnTo>
                  <a:pt x="0" y="0"/>
                </a:lnTo>
                <a:close/>
              </a:path>
            </a:pathLst>
          </a:custGeom>
          <a:blipFill>
            <a:blip r:embed="rId7"/>
            <a:stretch>
              <a:fillRect t="-2491" b="-2491"/>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3483995" y="2824999"/>
            <a:ext cx="12974462" cy="5459775"/>
            <a:chOff x="0" y="0"/>
            <a:chExt cx="5493360" cy="2311657"/>
          </a:xfrm>
        </p:grpSpPr>
        <p:sp>
          <p:nvSpPr>
            <p:cNvPr id="11" name="Freeform 11"/>
            <p:cNvSpPr/>
            <p:nvPr/>
          </p:nvSpPr>
          <p:spPr>
            <a:xfrm>
              <a:off x="0" y="0"/>
              <a:ext cx="5493360" cy="2311657"/>
            </a:xfrm>
            <a:custGeom>
              <a:avLst/>
              <a:gdLst/>
              <a:ahLst/>
              <a:cxnLst/>
              <a:rect l="l" t="t" r="r" b="b"/>
              <a:pathLst>
                <a:path w="5493360" h="2311657">
                  <a:moveTo>
                    <a:pt x="19691" y="0"/>
                  </a:moveTo>
                  <a:lnTo>
                    <a:pt x="5473669" y="0"/>
                  </a:lnTo>
                  <a:cubicBezTo>
                    <a:pt x="5478891" y="0"/>
                    <a:pt x="5483900" y="2075"/>
                    <a:pt x="5487593" y="5767"/>
                  </a:cubicBezTo>
                  <a:cubicBezTo>
                    <a:pt x="5491285" y="9460"/>
                    <a:pt x="5493360" y="14469"/>
                    <a:pt x="5493360" y="19691"/>
                  </a:cubicBezTo>
                  <a:lnTo>
                    <a:pt x="5493360" y="2291966"/>
                  </a:lnTo>
                  <a:cubicBezTo>
                    <a:pt x="5493360" y="2297188"/>
                    <a:pt x="5491285" y="2302197"/>
                    <a:pt x="5487593" y="2305890"/>
                  </a:cubicBezTo>
                  <a:cubicBezTo>
                    <a:pt x="5483900" y="2309583"/>
                    <a:pt x="5478891" y="2311657"/>
                    <a:pt x="5473669" y="2311657"/>
                  </a:cubicBezTo>
                  <a:lnTo>
                    <a:pt x="19691" y="2311657"/>
                  </a:lnTo>
                  <a:cubicBezTo>
                    <a:pt x="14469" y="2311657"/>
                    <a:pt x="9460" y="2309583"/>
                    <a:pt x="5767" y="2305890"/>
                  </a:cubicBezTo>
                  <a:cubicBezTo>
                    <a:pt x="2075" y="2302197"/>
                    <a:pt x="0" y="2297188"/>
                    <a:pt x="0" y="2291966"/>
                  </a:cubicBezTo>
                  <a:lnTo>
                    <a:pt x="0" y="19691"/>
                  </a:lnTo>
                  <a:cubicBezTo>
                    <a:pt x="0" y="14469"/>
                    <a:pt x="2075" y="9460"/>
                    <a:pt x="5767" y="5767"/>
                  </a:cubicBezTo>
                  <a:cubicBezTo>
                    <a:pt x="9460" y="2075"/>
                    <a:pt x="14469" y="0"/>
                    <a:pt x="19691" y="0"/>
                  </a:cubicBezTo>
                  <a:close/>
                </a:path>
              </a:pathLst>
            </a:custGeom>
            <a:solidFill>
              <a:srgbClr val="CADCD6">
                <a:alpha val="22745"/>
              </a:srgbClr>
            </a:solidFill>
          </p:spPr>
        </p:sp>
        <p:sp>
          <p:nvSpPr>
            <p:cNvPr id="12" name="TextBox 12"/>
            <p:cNvSpPr txBox="1"/>
            <p:nvPr/>
          </p:nvSpPr>
          <p:spPr>
            <a:xfrm>
              <a:off x="0" y="-47625"/>
              <a:ext cx="5493360" cy="2359282"/>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3416985" y="3333999"/>
            <a:ext cx="110562" cy="4663440"/>
            <a:chOff x="0" y="0"/>
            <a:chExt cx="46812" cy="1974491"/>
          </a:xfrm>
        </p:grpSpPr>
        <p:sp>
          <p:nvSpPr>
            <p:cNvPr id="14" name="Freeform 14"/>
            <p:cNvSpPr/>
            <p:nvPr/>
          </p:nvSpPr>
          <p:spPr>
            <a:xfrm>
              <a:off x="0" y="0"/>
              <a:ext cx="46812" cy="1974491"/>
            </a:xfrm>
            <a:custGeom>
              <a:avLst/>
              <a:gdLst/>
              <a:ahLst/>
              <a:cxnLst/>
              <a:rect l="l" t="t" r="r" b="b"/>
              <a:pathLst>
                <a:path w="46812" h="1974491">
                  <a:moveTo>
                    <a:pt x="23406" y="0"/>
                  </a:moveTo>
                  <a:lnTo>
                    <a:pt x="23406" y="0"/>
                  </a:lnTo>
                  <a:cubicBezTo>
                    <a:pt x="36332" y="0"/>
                    <a:pt x="46812" y="10479"/>
                    <a:pt x="46812" y="23406"/>
                  </a:cubicBezTo>
                  <a:lnTo>
                    <a:pt x="46812" y="1951085"/>
                  </a:lnTo>
                  <a:cubicBezTo>
                    <a:pt x="46812" y="1964012"/>
                    <a:pt x="36332" y="1974491"/>
                    <a:pt x="23406" y="1974491"/>
                  </a:cubicBezTo>
                  <a:lnTo>
                    <a:pt x="23406" y="1974491"/>
                  </a:lnTo>
                  <a:cubicBezTo>
                    <a:pt x="10479" y="1974491"/>
                    <a:pt x="0" y="1964012"/>
                    <a:pt x="0" y="1951085"/>
                  </a:cubicBezTo>
                  <a:lnTo>
                    <a:pt x="0" y="23406"/>
                  </a:lnTo>
                  <a:cubicBezTo>
                    <a:pt x="0" y="10479"/>
                    <a:pt x="10479" y="0"/>
                    <a:pt x="23406" y="0"/>
                  </a:cubicBezTo>
                  <a:close/>
                </a:path>
              </a:pathLst>
            </a:custGeom>
            <a:solidFill>
              <a:srgbClr val="408789"/>
            </a:solidFill>
          </p:spPr>
        </p:sp>
        <p:sp>
          <p:nvSpPr>
            <p:cNvPr id="15" name="TextBox 15"/>
            <p:cNvSpPr txBox="1"/>
            <p:nvPr/>
          </p:nvSpPr>
          <p:spPr>
            <a:xfrm>
              <a:off x="0" y="-47625"/>
              <a:ext cx="46812" cy="2022116"/>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7</a:t>
            </a:r>
          </a:p>
        </p:txBody>
      </p:sp>
      <p:sp>
        <p:nvSpPr>
          <p:cNvPr id="17" name="TextBox 17"/>
          <p:cNvSpPr txBox="1"/>
          <p:nvPr/>
        </p:nvSpPr>
        <p:spPr>
          <a:xfrm>
            <a:off x="3786505" y="914400"/>
            <a:ext cx="1142902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LƯU Ý KHI TRAIN MODEL .TFLITE</a:t>
            </a:r>
          </a:p>
        </p:txBody>
      </p:sp>
      <p:sp>
        <p:nvSpPr>
          <p:cNvPr id="18" name="TextBox 18"/>
          <p:cNvSpPr txBox="1"/>
          <p:nvPr/>
        </p:nvSpPr>
        <p:spPr>
          <a:xfrm>
            <a:off x="3786505" y="3219699"/>
            <a:ext cx="12037042" cy="4518660"/>
          </a:xfrm>
          <a:prstGeom prst="rect">
            <a:avLst/>
          </a:prstGeom>
        </p:spPr>
        <p:txBody>
          <a:bodyPr lIns="0" tIns="0" rIns="0" bIns="0" rtlCol="0" anchor="t">
            <a:spAutoFit/>
          </a:bodyPr>
          <a:lstStyle/>
          <a:p>
            <a:pPr marL="734061" lvl="1" indent="-367031" algn="just">
              <a:lnSpc>
                <a:spcPts val="5100"/>
              </a:lnSpc>
              <a:spcBef>
                <a:spcPct val="0"/>
              </a:spcBef>
              <a:buFont typeface="Arial"/>
              <a:buChar char="•"/>
            </a:pPr>
            <a:r>
              <a:rPr lang="en-US" sz="3400">
                <a:solidFill>
                  <a:srgbClr val="2B2B2B"/>
                </a:solidFill>
                <a:latin typeface="Rokkitt"/>
                <a:ea typeface="Rokkitt"/>
                <a:cs typeface="Rokkitt"/>
                <a:sym typeface="Rokkitt"/>
              </a:rPr>
              <a:t>Model phải nhỏ, nhẹ để chạy được </a:t>
            </a:r>
            <a:r>
              <a:rPr lang="en-US" sz="3400" u="none" strike="noStrike">
                <a:solidFill>
                  <a:srgbClr val="2B2B2B"/>
                </a:solidFill>
                <a:latin typeface="Rokkitt"/>
                <a:ea typeface="Rokkitt"/>
                <a:cs typeface="Rokkitt"/>
                <a:sym typeface="Rokkitt"/>
              </a:rPr>
              <a:t>trên mobile.</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Chuẩn hóa input thống nhất giữa lúc train và lúc chạy trên Android.</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Áp dụng quantization trước khi deploy để giảm kích thước &amp; tăng tốc.</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Chỉ dùng layer TensorFlow/Keras tương thích với TFLite nhằm tránh lỗi khi convert và deploy.</a:t>
            </a:r>
          </a:p>
        </p:txBody>
      </p:sp>
      <p:grpSp>
        <p:nvGrpSpPr>
          <p:cNvPr id="19" name="Group 19"/>
          <p:cNvGrpSpPr/>
          <p:nvPr/>
        </p:nvGrpSpPr>
        <p:grpSpPr>
          <a:xfrm>
            <a:off x="1716397" y="2824999"/>
            <a:ext cx="1294453" cy="1294453"/>
            <a:chOff x="0" y="0"/>
            <a:chExt cx="812800" cy="812800"/>
          </a:xfrm>
        </p:grpSpPr>
        <p:sp>
          <p:nvSpPr>
            <p:cNvPr id="20" name="Freeform 20"/>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22" name="Freeform 22"/>
          <p:cNvSpPr/>
          <p:nvPr/>
        </p:nvSpPr>
        <p:spPr>
          <a:xfrm>
            <a:off x="2154429" y="3131378"/>
            <a:ext cx="418390" cy="681694"/>
          </a:xfrm>
          <a:custGeom>
            <a:avLst/>
            <a:gdLst/>
            <a:ahLst/>
            <a:cxnLst/>
            <a:rect l="l" t="t" r="r" b="b"/>
            <a:pathLst>
              <a:path w="418390" h="681694">
                <a:moveTo>
                  <a:pt x="0" y="0"/>
                </a:moveTo>
                <a:lnTo>
                  <a:pt x="418390" y="0"/>
                </a:lnTo>
                <a:lnTo>
                  <a:pt x="418390" y="681695"/>
                </a:lnTo>
                <a:lnTo>
                  <a:pt x="0" y="68169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69109" y="2309603"/>
            <a:ext cx="153556" cy="5745190"/>
            <a:chOff x="0" y="0"/>
            <a:chExt cx="46943" cy="1756339"/>
          </a:xfrm>
        </p:grpSpPr>
        <p:sp>
          <p:nvSpPr>
            <p:cNvPr id="4" name="Freeform 4"/>
            <p:cNvSpPr/>
            <p:nvPr/>
          </p:nvSpPr>
          <p:spPr>
            <a:xfrm>
              <a:off x="0" y="0"/>
              <a:ext cx="46943" cy="1756339"/>
            </a:xfrm>
            <a:custGeom>
              <a:avLst/>
              <a:gdLst/>
              <a:ahLst/>
              <a:cxnLst/>
              <a:rect l="l" t="t" r="r" b="b"/>
              <a:pathLst>
                <a:path w="46943" h="1756339">
                  <a:moveTo>
                    <a:pt x="23472" y="0"/>
                  </a:moveTo>
                  <a:lnTo>
                    <a:pt x="23472" y="0"/>
                  </a:lnTo>
                  <a:cubicBezTo>
                    <a:pt x="36434" y="0"/>
                    <a:pt x="46943" y="10509"/>
                    <a:pt x="46943" y="23472"/>
                  </a:cubicBezTo>
                  <a:lnTo>
                    <a:pt x="46943" y="1732868"/>
                  </a:lnTo>
                  <a:cubicBezTo>
                    <a:pt x="46943" y="1745831"/>
                    <a:pt x="36434" y="1756339"/>
                    <a:pt x="23472" y="1756339"/>
                  </a:cubicBezTo>
                  <a:lnTo>
                    <a:pt x="23472" y="1756339"/>
                  </a:lnTo>
                  <a:cubicBezTo>
                    <a:pt x="17246" y="1756339"/>
                    <a:pt x="11276" y="1753866"/>
                    <a:pt x="6875" y="1749465"/>
                  </a:cubicBezTo>
                  <a:cubicBezTo>
                    <a:pt x="2473" y="1745063"/>
                    <a:pt x="0" y="1739093"/>
                    <a:pt x="0" y="1732868"/>
                  </a:cubicBezTo>
                  <a:lnTo>
                    <a:pt x="0" y="23472"/>
                  </a:lnTo>
                  <a:cubicBezTo>
                    <a:pt x="0" y="17246"/>
                    <a:pt x="2473" y="11276"/>
                    <a:pt x="6875" y="6875"/>
                  </a:cubicBezTo>
                  <a:cubicBezTo>
                    <a:pt x="11276" y="2473"/>
                    <a:pt x="17246" y="0"/>
                    <a:pt x="23472" y="0"/>
                  </a:cubicBezTo>
                  <a:close/>
                </a:path>
              </a:pathLst>
            </a:custGeom>
            <a:solidFill>
              <a:srgbClr val="408789"/>
            </a:solidFill>
          </p:spPr>
        </p:sp>
        <p:sp>
          <p:nvSpPr>
            <p:cNvPr id="5" name="TextBox 5"/>
            <p:cNvSpPr txBox="1"/>
            <p:nvPr/>
          </p:nvSpPr>
          <p:spPr>
            <a:xfrm>
              <a:off x="0" y="-47625"/>
              <a:ext cx="46943" cy="1803964"/>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7" name="AutoShape 7"/>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8" name="Freeform 8"/>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9" name="Freeform 9"/>
          <p:cNvSpPr/>
          <p:nvPr/>
        </p:nvSpPr>
        <p:spPr>
          <a:xfrm>
            <a:off x="8666165" y="1909444"/>
            <a:ext cx="8391406" cy="6936024"/>
          </a:xfrm>
          <a:custGeom>
            <a:avLst/>
            <a:gdLst/>
            <a:ahLst/>
            <a:cxnLst/>
            <a:rect l="l" t="t" r="r" b="b"/>
            <a:pathLst>
              <a:path w="8391406" h="6936024">
                <a:moveTo>
                  <a:pt x="0" y="0"/>
                </a:moveTo>
                <a:lnTo>
                  <a:pt x="8391406" y="0"/>
                </a:lnTo>
                <a:lnTo>
                  <a:pt x="8391406" y="6936023"/>
                </a:lnTo>
                <a:lnTo>
                  <a:pt x="0" y="6936023"/>
                </a:lnTo>
                <a:lnTo>
                  <a:pt x="0" y="0"/>
                </a:lnTo>
                <a:close/>
              </a:path>
            </a:pathLst>
          </a:custGeom>
          <a:blipFill>
            <a:blip r:embed="rId7"/>
            <a:stretch>
              <a:fillRect r="-22227"/>
            </a:stretch>
          </a:blipFill>
        </p:spPr>
      </p:sp>
      <p:sp>
        <p:nvSpPr>
          <p:cNvPr id="10" name="TextBox 10"/>
          <p:cNvSpPr txBox="1"/>
          <p:nvPr/>
        </p:nvSpPr>
        <p:spPr>
          <a:xfrm>
            <a:off x="3244413" y="748155"/>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ML KIT</a:t>
            </a:r>
          </a:p>
        </p:txBody>
      </p:sp>
      <p:sp>
        <p:nvSpPr>
          <p:cNvPr id="11" name="TextBox 11"/>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8</a:t>
            </a:r>
          </a:p>
        </p:txBody>
      </p:sp>
      <p:grpSp>
        <p:nvGrpSpPr>
          <p:cNvPr id="12" name="Group 12"/>
          <p:cNvGrpSpPr/>
          <p:nvPr/>
        </p:nvGrpSpPr>
        <p:grpSpPr>
          <a:xfrm>
            <a:off x="569109" y="1909444"/>
            <a:ext cx="7627925" cy="6714927"/>
            <a:chOff x="0" y="0"/>
            <a:chExt cx="2331903" cy="2052794"/>
          </a:xfrm>
        </p:grpSpPr>
        <p:sp>
          <p:nvSpPr>
            <p:cNvPr id="13" name="Freeform 13"/>
            <p:cNvSpPr/>
            <p:nvPr/>
          </p:nvSpPr>
          <p:spPr>
            <a:xfrm>
              <a:off x="0" y="0"/>
              <a:ext cx="2331903" cy="2052794"/>
            </a:xfrm>
            <a:custGeom>
              <a:avLst/>
              <a:gdLst/>
              <a:ahLst/>
              <a:cxnLst/>
              <a:rect l="l" t="t" r="r" b="b"/>
              <a:pathLst>
                <a:path w="2331903" h="2052794">
                  <a:moveTo>
                    <a:pt x="33493" y="0"/>
                  </a:moveTo>
                  <a:lnTo>
                    <a:pt x="2298410" y="0"/>
                  </a:lnTo>
                  <a:cubicBezTo>
                    <a:pt x="2316908" y="0"/>
                    <a:pt x="2331903" y="14995"/>
                    <a:pt x="2331903" y="33493"/>
                  </a:cubicBezTo>
                  <a:lnTo>
                    <a:pt x="2331903" y="2019301"/>
                  </a:lnTo>
                  <a:cubicBezTo>
                    <a:pt x="2331903" y="2037798"/>
                    <a:pt x="2316908" y="2052794"/>
                    <a:pt x="2298410" y="2052794"/>
                  </a:cubicBezTo>
                  <a:lnTo>
                    <a:pt x="33493" y="2052794"/>
                  </a:lnTo>
                  <a:cubicBezTo>
                    <a:pt x="14995" y="2052794"/>
                    <a:pt x="0" y="2037798"/>
                    <a:pt x="0" y="2019301"/>
                  </a:cubicBezTo>
                  <a:lnTo>
                    <a:pt x="0" y="33493"/>
                  </a:lnTo>
                  <a:cubicBezTo>
                    <a:pt x="0" y="14995"/>
                    <a:pt x="14995" y="0"/>
                    <a:pt x="33493" y="0"/>
                  </a:cubicBezTo>
                  <a:close/>
                </a:path>
              </a:pathLst>
            </a:custGeom>
            <a:solidFill>
              <a:srgbClr val="CADCD6">
                <a:alpha val="22745"/>
              </a:srgbClr>
            </a:solidFill>
          </p:spPr>
        </p:sp>
        <p:sp>
          <p:nvSpPr>
            <p:cNvPr id="14" name="TextBox 14"/>
            <p:cNvSpPr txBox="1"/>
            <p:nvPr/>
          </p:nvSpPr>
          <p:spPr>
            <a:xfrm>
              <a:off x="0" y="-47625"/>
              <a:ext cx="2331903" cy="2100419"/>
            </a:xfrm>
            <a:prstGeom prst="rect">
              <a:avLst/>
            </a:prstGeom>
          </p:spPr>
          <p:txBody>
            <a:bodyPr lIns="50800" tIns="50800" rIns="50800" bIns="50800" rtlCol="0" anchor="ctr"/>
            <a:lstStyle/>
            <a:p>
              <a:pPr algn="just">
                <a:lnSpc>
                  <a:spcPts val="3079"/>
                </a:lnSpc>
              </a:pPr>
              <a:endParaRPr/>
            </a:p>
          </p:txBody>
        </p:sp>
      </p:grpSp>
      <p:sp>
        <p:nvSpPr>
          <p:cNvPr id="15" name="TextBox 15"/>
          <p:cNvSpPr txBox="1"/>
          <p:nvPr/>
        </p:nvSpPr>
        <p:spPr>
          <a:xfrm>
            <a:off x="1028700" y="2214353"/>
            <a:ext cx="6905404" cy="5958187"/>
          </a:xfrm>
          <a:prstGeom prst="rect">
            <a:avLst/>
          </a:prstGeom>
        </p:spPr>
        <p:txBody>
          <a:bodyPr lIns="0" tIns="0" rIns="0" bIns="0" rtlCol="0" anchor="t">
            <a:spAutoFit/>
          </a:bodyPr>
          <a:lstStyle/>
          <a:p>
            <a:pPr algn="l">
              <a:lnSpc>
                <a:spcPts val="4300"/>
              </a:lnSpc>
              <a:spcBef>
                <a:spcPct val="0"/>
              </a:spcBef>
            </a:pPr>
            <a:r>
              <a:rPr lang="en-US" sz="2867">
                <a:solidFill>
                  <a:srgbClr val="000000"/>
                </a:solidFill>
                <a:latin typeface="Rokkitt"/>
                <a:ea typeface="Rokkitt"/>
                <a:cs typeface="Rokkitt"/>
                <a:sym typeface="Rokkitt"/>
              </a:rPr>
              <a:t>Bộ thư viện Google cho các tác vụ phổ biến: OCR, Barcode, Face Detection, ...</a:t>
            </a:r>
          </a:p>
          <a:p>
            <a:pPr marL="0" lvl="0" indent="0" algn="l">
              <a:lnSpc>
                <a:spcPts val="4300"/>
              </a:lnSpc>
              <a:spcBef>
                <a:spcPct val="0"/>
              </a:spcBef>
            </a:pPr>
            <a:r>
              <a:rPr lang="en-US" sz="2867" u="none" strike="noStrike">
                <a:solidFill>
                  <a:srgbClr val="000000"/>
                </a:solidFill>
                <a:latin typeface="Rokkitt"/>
                <a:ea typeface="Rokkitt"/>
                <a:cs typeface="Rokkitt"/>
                <a:sym typeface="Rokkitt"/>
              </a:rPr>
              <a:t>Không cần tự train model, chỉ cần dùng AI có sẵn.</a:t>
            </a:r>
          </a:p>
          <a:p>
            <a:pPr algn="l">
              <a:lnSpc>
                <a:spcPts val="4300"/>
              </a:lnSpc>
              <a:spcBef>
                <a:spcPct val="0"/>
              </a:spcBef>
            </a:pPr>
            <a:endParaRPr lang="en-US" sz="2867" u="none" strike="noStrike">
              <a:solidFill>
                <a:srgbClr val="000000"/>
              </a:solidFill>
              <a:latin typeface="Rokkitt"/>
              <a:ea typeface="Rokkitt"/>
              <a:cs typeface="Rokkitt"/>
              <a:sym typeface="Rokkitt"/>
            </a:endParaRPr>
          </a:p>
          <a:p>
            <a:pPr algn="l">
              <a:lnSpc>
                <a:spcPts val="4300"/>
              </a:lnSpc>
              <a:spcBef>
                <a:spcPct val="0"/>
              </a:spcBef>
            </a:pPr>
            <a:r>
              <a:rPr lang="en-US" sz="2867" b="1" u="none" strike="noStrike">
                <a:solidFill>
                  <a:srgbClr val="000000"/>
                </a:solidFill>
                <a:latin typeface="Rokkitt Bold"/>
                <a:ea typeface="Rokkitt Bold"/>
                <a:cs typeface="Rokkitt Bold"/>
                <a:sym typeface="Rokkitt Bold"/>
              </a:rPr>
              <a:t>Các bước thực hiện</a:t>
            </a:r>
          </a:p>
          <a:p>
            <a:pPr algn="l">
              <a:lnSpc>
                <a:spcPts val="4300"/>
              </a:lnSpc>
            </a:pPr>
            <a:r>
              <a:rPr lang="en-US" sz="2867" u="none" strike="noStrike">
                <a:solidFill>
                  <a:srgbClr val="000000"/>
                </a:solidFill>
                <a:latin typeface="Rokkitt"/>
                <a:ea typeface="Rokkitt"/>
                <a:cs typeface="Rokkitt"/>
                <a:sym typeface="Rokkitt"/>
              </a:rPr>
              <a:t>1. Chuẩn bị đầu vào theo định dạng mà API yêu cầu (text, image, …).</a:t>
            </a:r>
          </a:p>
          <a:p>
            <a:pPr algn="l">
              <a:lnSpc>
                <a:spcPts val="4300"/>
              </a:lnSpc>
            </a:pPr>
            <a:r>
              <a:rPr lang="en-US" sz="2867" u="none" strike="noStrike">
                <a:solidFill>
                  <a:srgbClr val="000000"/>
                </a:solidFill>
                <a:latin typeface="Rokkitt"/>
                <a:ea typeface="Rokkitt"/>
                <a:cs typeface="Rokkitt"/>
                <a:sym typeface="Rokkitt"/>
              </a:rPr>
              <a:t>2. Khởi tạo client/ detector cho tác vụ ML tương ứng.</a:t>
            </a:r>
          </a:p>
          <a:p>
            <a:pPr algn="l">
              <a:lnSpc>
                <a:spcPts val="4300"/>
              </a:lnSpc>
            </a:pPr>
            <a:r>
              <a:rPr lang="en-US" sz="2867" u="none" strike="noStrike">
                <a:solidFill>
                  <a:srgbClr val="000000"/>
                </a:solidFill>
                <a:latin typeface="Rokkitt"/>
                <a:ea typeface="Rokkitt"/>
                <a:cs typeface="Rokkitt"/>
                <a:sym typeface="Rokkitt"/>
              </a:rPr>
              <a:t>3. Gọi process() để chạy và lấy kết quả.</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3798942" y="2012120"/>
            <a:ext cx="12213169" cy="1647339"/>
            <a:chOff x="0" y="0"/>
            <a:chExt cx="3345275" cy="451218"/>
          </a:xfrm>
        </p:grpSpPr>
        <p:sp>
          <p:nvSpPr>
            <p:cNvPr id="4" name="Freeform 4"/>
            <p:cNvSpPr/>
            <p:nvPr/>
          </p:nvSpPr>
          <p:spPr>
            <a:xfrm>
              <a:off x="0" y="0"/>
              <a:ext cx="3345275" cy="451218"/>
            </a:xfrm>
            <a:custGeom>
              <a:avLst/>
              <a:gdLst/>
              <a:ahLst/>
              <a:cxnLst/>
              <a:rect l="l" t="t" r="r" b="b"/>
              <a:pathLst>
                <a:path w="3345275" h="451218">
                  <a:moveTo>
                    <a:pt x="20919" y="0"/>
                  </a:moveTo>
                  <a:lnTo>
                    <a:pt x="3324356" y="0"/>
                  </a:lnTo>
                  <a:cubicBezTo>
                    <a:pt x="3335909" y="0"/>
                    <a:pt x="3345275" y="9366"/>
                    <a:pt x="3345275" y="20919"/>
                  </a:cubicBezTo>
                  <a:lnTo>
                    <a:pt x="3345275" y="430299"/>
                  </a:lnTo>
                  <a:cubicBezTo>
                    <a:pt x="3345275" y="435847"/>
                    <a:pt x="3343071" y="441168"/>
                    <a:pt x="3339148" y="445091"/>
                  </a:cubicBezTo>
                  <a:cubicBezTo>
                    <a:pt x="3335225" y="449014"/>
                    <a:pt x="3329904" y="451218"/>
                    <a:pt x="3324356" y="451218"/>
                  </a:cubicBezTo>
                  <a:lnTo>
                    <a:pt x="20919" y="451218"/>
                  </a:lnTo>
                  <a:cubicBezTo>
                    <a:pt x="15371" y="451218"/>
                    <a:pt x="10050" y="449014"/>
                    <a:pt x="6127" y="445091"/>
                  </a:cubicBezTo>
                  <a:cubicBezTo>
                    <a:pt x="2204" y="441168"/>
                    <a:pt x="0" y="435847"/>
                    <a:pt x="0" y="430299"/>
                  </a:cubicBezTo>
                  <a:lnTo>
                    <a:pt x="0" y="20919"/>
                  </a:lnTo>
                  <a:cubicBezTo>
                    <a:pt x="0" y="15371"/>
                    <a:pt x="2204" y="10050"/>
                    <a:pt x="6127" y="6127"/>
                  </a:cubicBezTo>
                  <a:cubicBezTo>
                    <a:pt x="10050" y="2204"/>
                    <a:pt x="15371" y="0"/>
                    <a:pt x="20919" y="0"/>
                  </a:cubicBezTo>
                  <a:close/>
                </a:path>
              </a:pathLst>
            </a:custGeom>
            <a:solidFill>
              <a:srgbClr val="CADCD6">
                <a:alpha val="22745"/>
              </a:srgbClr>
            </a:solidFill>
          </p:spPr>
        </p:sp>
        <p:sp>
          <p:nvSpPr>
            <p:cNvPr id="5" name="TextBox 5"/>
            <p:cNvSpPr txBox="1"/>
            <p:nvPr/>
          </p:nvSpPr>
          <p:spPr>
            <a:xfrm>
              <a:off x="0" y="-47625"/>
              <a:ext cx="3345275" cy="498843"/>
            </a:xfrm>
            <a:prstGeom prst="rect">
              <a:avLst/>
            </a:prstGeom>
          </p:spPr>
          <p:txBody>
            <a:bodyPr lIns="50800" tIns="50800" rIns="50800" bIns="50800" rtlCol="0" anchor="ctr"/>
            <a:lstStyle/>
            <a:p>
              <a:pPr algn="just">
                <a:lnSpc>
                  <a:spcPts val="3079"/>
                </a:lnSpc>
              </a:pPr>
              <a:endParaRPr/>
            </a:p>
          </p:txBody>
        </p:sp>
      </p:grpSp>
      <p:sp>
        <p:nvSpPr>
          <p:cNvPr id="6" name="TextBox 6"/>
          <p:cNvSpPr txBox="1"/>
          <p:nvPr/>
        </p:nvSpPr>
        <p:spPr>
          <a:xfrm>
            <a:off x="4208665" y="2199628"/>
            <a:ext cx="11512326" cy="1163955"/>
          </a:xfrm>
          <a:prstGeom prst="rect">
            <a:avLst/>
          </a:prstGeom>
        </p:spPr>
        <p:txBody>
          <a:bodyPr lIns="0" tIns="0" rIns="0" bIns="0" rtlCol="0" anchor="t">
            <a:spAutoFit/>
          </a:bodyPr>
          <a:lstStyle/>
          <a:p>
            <a:pPr algn="just">
              <a:lnSpc>
                <a:spcPts val="4799"/>
              </a:lnSpc>
            </a:pPr>
            <a:r>
              <a:rPr lang="en-US" sz="3199">
                <a:solidFill>
                  <a:srgbClr val="2B2B2B"/>
                </a:solidFill>
                <a:latin typeface="Rokkitt"/>
                <a:ea typeface="Rokkitt"/>
                <a:cs typeface="Rokkitt"/>
                <a:sym typeface="Rokkitt"/>
              </a:rPr>
              <a:t>Hỗ trợ chạy các model PyTorch tự train.</a:t>
            </a:r>
          </a:p>
          <a:p>
            <a:pPr marL="0" lvl="0" indent="0" algn="just">
              <a:lnSpc>
                <a:spcPts val="4799"/>
              </a:lnSpc>
              <a:spcBef>
                <a:spcPct val="0"/>
              </a:spcBef>
            </a:pPr>
            <a:r>
              <a:rPr lang="en-US" sz="3199">
                <a:solidFill>
                  <a:srgbClr val="2B2B2B"/>
                </a:solidFill>
                <a:latin typeface="Rokkitt"/>
                <a:ea typeface="Rokkitt"/>
                <a:cs typeface="Rokkitt"/>
                <a:sym typeface="Rokkitt"/>
              </a:rPr>
              <a:t>Cho phép triển khai nhiều kiến</a:t>
            </a:r>
            <a:r>
              <a:rPr lang="en-US" sz="3199" u="none" strike="noStrike">
                <a:solidFill>
                  <a:srgbClr val="2B2B2B"/>
                </a:solidFill>
                <a:latin typeface="Rokkitt"/>
                <a:ea typeface="Rokkitt"/>
                <a:cs typeface="Rokkitt"/>
                <a:sym typeface="Rokkitt"/>
              </a:rPr>
              <a:t> trúc model phức tạp và linh hoạt.</a:t>
            </a:r>
          </a:p>
        </p:txBody>
      </p:sp>
      <p:grpSp>
        <p:nvGrpSpPr>
          <p:cNvPr id="7" name="Group 7"/>
          <p:cNvGrpSpPr/>
          <p:nvPr/>
        </p:nvGrpSpPr>
        <p:grpSpPr>
          <a:xfrm>
            <a:off x="3837239" y="2311206"/>
            <a:ext cx="144574" cy="1052377"/>
            <a:chOff x="0" y="0"/>
            <a:chExt cx="39600" cy="288254"/>
          </a:xfrm>
        </p:grpSpPr>
        <p:sp>
          <p:nvSpPr>
            <p:cNvPr id="8" name="Freeform 8"/>
            <p:cNvSpPr/>
            <p:nvPr/>
          </p:nvSpPr>
          <p:spPr>
            <a:xfrm>
              <a:off x="0" y="0"/>
              <a:ext cx="39600" cy="288254"/>
            </a:xfrm>
            <a:custGeom>
              <a:avLst/>
              <a:gdLst/>
              <a:ahLst/>
              <a:cxnLst/>
              <a:rect l="l" t="t" r="r" b="b"/>
              <a:pathLst>
                <a:path w="39600" h="288254">
                  <a:moveTo>
                    <a:pt x="19800" y="0"/>
                  </a:moveTo>
                  <a:lnTo>
                    <a:pt x="19800" y="0"/>
                  </a:lnTo>
                  <a:cubicBezTo>
                    <a:pt x="30735" y="0"/>
                    <a:pt x="39600" y="8865"/>
                    <a:pt x="39600" y="19800"/>
                  </a:cubicBezTo>
                  <a:lnTo>
                    <a:pt x="39600" y="268454"/>
                  </a:lnTo>
                  <a:cubicBezTo>
                    <a:pt x="39600" y="279389"/>
                    <a:pt x="30735" y="288254"/>
                    <a:pt x="19800" y="288254"/>
                  </a:cubicBezTo>
                  <a:lnTo>
                    <a:pt x="19800" y="288254"/>
                  </a:lnTo>
                  <a:cubicBezTo>
                    <a:pt x="8865" y="288254"/>
                    <a:pt x="0" y="279389"/>
                    <a:pt x="0" y="268454"/>
                  </a:cubicBezTo>
                  <a:lnTo>
                    <a:pt x="0" y="19800"/>
                  </a:lnTo>
                  <a:cubicBezTo>
                    <a:pt x="0" y="8865"/>
                    <a:pt x="8865" y="0"/>
                    <a:pt x="19800" y="0"/>
                  </a:cubicBezTo>
                  <a:close/>
                </a:path>
              </a:pathLst>
            </a:custGeom>
            <a:solidFill>
              <a:srgbClr val="408789"/>
            </a:solidFill>
          </p:spPr>
        </p:sp>
        <p:sp>
          <p:nvSpPr>
            <p:cNvPr id="9" name="TextBox 9"/>
            <p:cNvSpPr txBox="1"/>
            <p:nvPr/>
          </p:nvSpPr>
          <p:spPr>
            <a:xfrm>
              <a:off x="0" y="-47625"/>
              <a:ext cx="39600" cy="335879"/>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2275889" y="2177242"/>
            <a:ext cx="1294453" cy="1294453"/>
            <a:chOff x="0" y="0"/>
            <a:chExt cx="812800" cy="812800"/>
          </a:xfrm>
        </p:grpSpPr>
        <p:sp>
          <p:nvSpPr>
            <p:cNvPr id="11" name="Freeform 11"/>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sp>
        <p:sp>
          <p:nvSpPr>
            <p:cNvPr id="12" name="TextBox 12"/>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13" name="Freeform 13"/>
          <p:cNvSpPr/>
          <p:nvPr/>
        </p:nvSpPr>
        <p:spPr>
          <a:xfrm>
            <a:off x="16012111" y="-416042"/>
            <a:ext cx="2450485" cy="1131645"/>
          </a:xfrm>
          <a:custGeom>
            <a:avLst/>
            <a:gdLst/>
            <a:ahLst/>
            <a:cxnLst/>
            <a:rect l="l" t="t" r="r" b="b"/>
            <a:pathLst>
              <a:path w="2450485" h="1131645">
                <a:moveTo>
                  <a:pt x="0" y="0"/>
                </a:moveTo>
                <a:lnTo>
                  <a:pt x="2450485" y="0"/>
                </a:lnTo>
                <a:lnTo>
                  <a:pt x="2450485" y="1131646"/>
                </a:lnTo>
                <a:lnTo>
                  <a:pt x="0" y="1131646"/>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14" name="Freeform 14"/>
          <p:cNvSpPr/>
          <p:nvPr/>
        </p:nvSpPr>
        <p:spPr>
          <a:xfrm>
            <a:off x="2713921" y="2483621"/>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3202519" y="934679"/>
            <a:ext cx="11882962" cy="873125"/>
          </a:xfrm>
          <a:prstGeom prst="rect">
            <a:avLst/>
          </a:prstGeom>
        </p:spPr>
        <p:txBody>
          <a:bodyPr lIns="0" tIns="0" rIns="0" bIns="0" rtlCol="0" anchor="t">
            <a:spAutoFit/>
          </a:bodyPr>
          <a:lstStyle/>
          <a:p>
            <a:pPr marL="0" lvl="1" indent="0" algn="ctr">
              <a:lnSpc>
                <a:spcPts val="7000"/>
              </a:lnSpc>
              <a:spcBef>
                <a:spcPct val="0"/>
              </a:spcBef>
            </a:pPr>
            <a:endParaRPr/>
          </a:p>
        </p:txBody>
      </p:sp>
      <p:sp>
        <p:nvSpPr>
          <p:cNvPr id="16" name="Freeform 16"/>
          <p:cNvSpPr/>
          <p:nvPr/>
        </p:nvSpPr>
        <p:spPr>
          <a:xfrm rot="-10800000">
            <a:off x="1524725" y="5290144"/>
            <a:ext cx="7059104" cy="3653087"/>
          </a:xfrm>
          <a:custGeom>
            <a:avLst/>
            <a:gdLst/>
            <a:ahLst/>
            <a:cxnLst/>
            <a:rect l="l" t="t" r="r" b="b"/>
            <a:pathLst>
              <a:path w="7059104" h="3653087">
                <a:moveTo>
                  <a:pt x="0" y="0"/>
                </a:moveTo>
                <a:lnTo>
                  <a:pt x="7059104" y="0"/>
                </a:lnTo>
                <a:lnTo>
                  <a:pt x="7059104" y="3653087"/>
                </a:lnTo>
                <a:lnTo>
                  <a:pt x="0" y="36530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7" name="Freeform 17"/>
          <p:cNvSpPr/>
          <p:nvPr/>
        </p:nvSpPr>
        <p:spPr>
          <a:xfrm rot="-10800000">
            <a:off x="9401385" y="5290144"/>
            <a:ext cx="7059104" cy="3653087"/>
          </a:xfrm>
          <a:custGeom>
            <a:avLst/>
            <a:gdLst/>
            <a:ahLst/>
            <a:cxnLst/>
            <a:rect l="l" t="t" r="r" b="b"/>
            <a:pathLst>
              <a:path w="7059104" h="3653087">
                <a:moveTo>
                  <a:pt x="0" y="0"/>
                </a:moveTo>
                <a:lnTo>
                  <a:pt x="7059104" y="0"/>
                </a:lnTo>
                <a:lnTo>
                  <a:pt x="7059104" y="3653087"/>
                </a:lnTo>
                <a:lnTo>
                  <a:pt x="0" y="36530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8" name="Freeform 18"/>
          <p:cNvSpPr/>
          <p:nvPr/>
        </p:nvSpPr>
        <p:spPr>
          <a:xfrm>
            <a:off x="3082309" y="4407367"/>
            <a:ext cx="4583833" cy="301752"/>
          </a:xfrm>
          <a:custGeom>
            <a:avLst/>
            <a:gdLst/>
            <a:ahLst/>
            <a:cxnLst/>
            <a:rect l="l" t="t" r="r" b="b"/>
            <a:pathLst>
              <a:path w="4583833" h="301752">
                <a:moveTo>
                  <a:pt x="0" y="0"/>
                </a:moveTo>
                <a:lnTo>
                  <a:pt x="4583834" y="0"/>
                </a:lnTo>
                <a:lnTo>
                  <a:pt x="4583834"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l="-45081" r="-14505"/>
            </a:stretch>
          </a:blipFill>
        </p:spPr>
      </p:sp>
      <p:sp>
        <p:nvSpPr>
          <p:cNvPr id="19" name="Freeform 19"/>
          <p:cNvSpPr/>
          <p:nvPr/>
        </p:nvSpPr>
        <p:spPr>
          <a:xfrm>
            <a:off x="7761525" y="4407367"/>
            <a:ext cx="6950250" cy="301752"/>
          </a:xfrm>
          <a:custGeom>
            <a:avLst/>
            <a:gdLst/>
            <a:ahLst/>
            <a:cxnLst/>
            <a:rect l="l" t="t" r="r" b="b"/>
            <a:pathLst>
              <a:path w="6950250" h="301752">
                <a:moveTo>
                  <a:pt x="0" y="0"/>
                </a:moveTo>
                <a:lnTo>
                  <a:pt x="6950250" y="0"/>
                </a:lnTo>
                <a:lnTo>
                  <a:pt x="6950250"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r="-5250"/>
            </a:stretch>
          </a:blipFill>
        </p:spPr>
      </p:sp>
      <p:grpSp>
        <p:nvGrpSpPr>
          <p:cNvPr id="20" name="Group 20"/>
          <p:cNvGrpSpPr/>
          <p:nvPr/>
        </p:nvGrpSpPr>
        <p:grpSpPr>
          <a:xfrm>
            <a:off x="3059519" y="3830909"/>
            <a:ext cx="3989516" cy="1268735"/>
            <a:chOff x="0" y="0"/>
            <a:chExt cx="812800" cy="258485"/>
          </a:xfrm>
        </p:grpSpPr>
        <p:sp>
          <p:nvSpPr>
            <p:cNvPr id="21" name="Freeform 21"/>
            <p:cNvSpPr/>
            <p:nvPr/>
          </p:nvSpPr>
          <p:spPr>
            <a:xfrm>
              <a:off x="0" y="0"/>
              <a:ext cx="812800" cy="258485"/>
            </a:xfrm>
            <a:custGeom>
              <a:avLst/>
              <a:gdLst/>
              <a:ahLst/>
              <a:cxnLst/>
              <a:rect l="l" t="t" r="r" b="b"/>
              <a:pathLst>
                <a:path w="812800" h="258485">
                  <a:moveTo>
                    <a:pt x="127000" y="0"/>
                  </a:moveTo>
                  <a:lnTo>
                    <a:pt x="685800" y="0"/>
                  </a:lnTo>
                  <a:cubicBezTo>
                    <a:pt x="755940" y="0"/>
                    <a:pt x="812800" y="56860"/>
                    <a:pt x="812800" y="127000"/>
                  </a:cubicBezTo>
                  <a:lnTo>
                    <a:pt x="812800" y="131485"/>
                  </a:lnTo>
                  <a:cubicBezTo>
                    <a:pt x="812800" y="165167"/>
                    <a:pt x="799420" y="197470"/>
                    <a:pt x="775603" y="221287"/>
                  </a:cubicBezTo>
                  <a:cubicBezTo>
                    <a:pt x="751785" y="245104"/>
                    <a:pt x="719482" y="258485"/>
                    <a:pt x="685800" y="258485"/>
                  </a:cubicBezTo>
                  <a:lnTo>
                    <a:pt x="127000" y="258485"/>
                  </a:lnTo>
                  <a:cubicBezTo>
                    <a:pt x="56860" y="258485"/>
                    <a:pt x="0" y="201625"/>
                    <a:pt x="0" y="131485"/>
                  </a:cubicBezTo>
                  <a:lnTo>
                    <a:pt x="0" y="127000"/>
                  </a:lnTo>
                  <a:cubicBezTo>
                    <a:pt x="0" y="56860"/>
                    <a:pt x="56860" y="0"/>
                    <a:pt x="127000" y="0"/>
                  </a:cubicBezTo>
                  <a:close/>
                </a:path>
              </a:pathLst>
            </a:custGeom>
            <a:solidFill>
              <a:srgbClr val="FFFFFF"/>
            </a:solidFill>
            <a:ln w="114300" cap="rnd">
              <a:solidFill>
                <a:srgbClr val="235A5B"/>
              </a:solidFill>
              <a:prstDash val="solid"/>
              <a:round/>
            </a:ln>
          </p:spPr>
        </p:sp>
        <p:sp>
          <p:nvSpPr>
            <p:cNvPr id="22" name="TextBox 22"/>
            <p:cNvSpPr txBox="1"/>
            <p:nvPr/>
          </p:nvSpPr>
          <p:spPr>
            <a:xfrm>
              <a:off x="0" y="-66675"/>
              <a:ext cx="812800" cy="325160"/>
            </a:xfrm>
            <a:prstGeom prst="rect">
              <a:avLst/>
            </a:prstGeom>
          </p:spPr>
          <p:txBody>
            <a:bodyPr lIns="50800" tIns="50800" rIns="50800" bIns="50800" rtlCol="0" anchor="ctr"/>
            <a:lstStyle/>
            <a:p>
              <a:pPr algn="ctr">
                <a:lnSpc>
                  <a:spcPts val="4200"/>
                </a:lnSpc>
              </a:pPr>
              <a:r>
                <a:rPr lang="en-US" sz="3000" b="1" spc="96">
                  <a:solidFill>
                    <a:srgbClr val="000000"/>
                  </a:solidFill>
                  <a:latin typeface="DM Sans Bold"/>
                  <a:ea typeface="DM Sans Bold"/>
                  <a:cs typeface="DM Sans Bold"/>
                  <a:sym typeface="DM Sans Bold"/>
                </a:rPr>
                <a:t>PyTorch Mobile</a:t>
              </a:r>
            </a:p>
          </p:txBody>
        </p:sp>
      </p:grpSp>
      <p:grpSp>
        <p:nvGrpSpPr>
          <p:cNvPr id="23" name="Group 23"/>
          <p:cNvGrpSpPr/>
          <p:nvPr/>
        </p:nvGrpSpPr>
        <p:grpSpPr>
          <a:xfrm>
            <a:off x="10677954" y="3830909"/>
            <a:ext cx="4407527" cy="1268735"/>
            <a:chOff x="0" y="0"/>
            <a:chExt cx="812800" cy="233970"/>
          </a:xfrm>
        </p:grpSpPr>
        <p:sp>
          <p:nvSpPr>
            <p:cNvPr id="24" name="Freeform 24"/>
            <p:cNvSpPr/>
            <p:nvPr/>
          </p:nvSpPr>
          <p:spPr>
            <a:xfrm>
              <a:off x="0" y="0"/>
              <a:ext cx="812800" cy="233970"/>
            </a:xfrm>
            <a:custGeom>
              <a:avLst/>
              <a:gdLst/>
              <a:ahLst/>
              <a:cxnLst/>
              <a:rect l="l" t="t" r="r" b="b"/>
              <a:pathLst>
                <a:path w="812800" h="233970">
                  <a:moveTo>
                    <a:pt x="116985" y="0"/>
                  </a:moveTo>
                  <a:lnTo>
                    <a:pt x="695815" y="0"/>
                  </a:lnTo>
                  <a:cubicBezTo>
                    <a:pt x="760424" y="0"/>
                    <a:pt x="812800" y="52376"/>
                    <a:pt x="812800" y="116985"/>
                  </a:cubicBezTo>
                  <a:lnTo>
                    <a:pt x="812800" y="116985"/>
                  </a:lnTo>
                  <a:cubicBezTo>
                    <a:pt x="812800" y="181594"/>
                    <a:pt x="760424" y="233970"/>
                    <a:pt x="695815" y="233970"/>
                  </a:cubicBezTo>
                  <a:lnTo>
                    <a:pt x="116985" y="233970"/>
                  </a:lnTo>
                  <a:cubicBezTo>
                    <a:pt x="52376" y="233970"/>
                    <a:pt x="0" y="181594"/>
                    <a:pt x="0" y="116985"/>
                  </a:cubicBezTo>
                  <a:lnTo>
                    <a:pt x="0" y="116985"/>
                  </a:lnTo>
                  <a:cubicBezTo>
                    <a:pt x="0" y="52376"/>
                    <a:pt x="52376" y="0"/>
                    <a:pt x="116985" y="0"/>
                  </a:cubicBezTo>
                  <a:close/>
                </a:path>
              </a:pathLst>
            </a:custGeom>
            <a:solidFill>
              <a:srgbClr val="FFFFFF"/>
            </a:solidFill>
            <a:ln w="114300" cap="rnd">
              <a:solidFill>
                <a:srgbClr val="639C9D"/>
              </a:solidFill>
              <a:prstDash val="solid"/>
              <a:round/>
            </a:ln>
          </p:spPr>
        </p:sp>
        <p:sp>
          <p:nvSpPr>
            <p:cNvPr id="25" name="TextBox 25"/>
            <p:cNvSpPr txBox="1"/>
            <p:nvPr/>
          </p:nvSpPr>
          <p:spPr>
            <a:xfrm>
              <a:off x="0" y="-66675"/>
              <a:ext cx="812800" cy="300645"/>
            </a:xfrm>
            <a:prstGeom prst="rect">
              <a:avLst/>
            </a:prstGeom>
          </p:spPr>
          <p:txBody>
            <a:bodyPr lIns="50800" tIns="50800" rIns="50800" bIns="50800" rtlCol="0" anchor="ctr"/>
            <a:lstStyle/>
            <a:p>
              <a:pPr algn="ctr">
                <a:lnSpc>
                  <a:spcPts val="4200"/>
                </a:lnSpc>
              </a:pPr>
              <a:r>
                <a:rPr lang="en-US" sz="3000" b="1" spc="96">
                  <a:solidFill>
                    <a:srgbClr val="000000"/>
                  </a:solidFill>
                  <a:latin typeface="DM Sans Bold"/>
                  <a:ea typeface="DM Sans Bold"/>
                  <a:cs typeface="DM Sans Bold"/>
                  <a:sym typeface="DM Sans Bold"/>
                </a:rPr>
                <a:t>ExecuTorch</a:t>
              </a:r>
            </a:p>
          </p:txBody>
        </p:sp>
      </p:grpSp>
      <p:sp>
        <p:nvSpPr>
          <p:cNvPr id="26" name="TextBox 26"/>
          <p:cNvSpPr txBox="1"/>
          <p:nvPr/>
        </p:nvSpPr>
        <p:spPr>
          <a:xfrm>
            <a:off x="1400707" y="6173245"/>
            <a:ext cx="6869470" cy="2411730"/>
          </a:xfrm>
          <a:prstGeom prst="rect">
            <a:avLst/>
          </a:prstGeom>
        </p:spPr>
        <p:txBody>
          <a:bodyPr lIns="0" tIns="0" rIns="0" bIns="0" rtlCol="0" anchor="t">
            <a:spAutoFit/>
          </a:bodyPr>
          <a:lstStyle/>
          <a:p>
            <a:pPr marL="690881" lvl="1" indent="-345440" algn="l">
              <a:lnSpc>
                <a:spcPts val="4800"/>
              </a:lnSpc>
              <a:buFont typeface="Arial"/>
              <a:buChar char="•"/>
            </a:pPr>
            <a:r>
              <a:rPr lang="en-US" sz="3200">
                <a:solidFill>
                  <a:srgbClr val="FFFFFF"/>
                </a:solidFill>
                <a:latin typeface="Rokkitt"/>
                <a:ea typeface="Rokkitt"/>
                <a:cs typeface="Rokkitt"/>
                <a:sym typeface="Rokkitt"/>
              </a:rPr>
              <a:t>Giải pháp cũ để chạy mô hình PyTorch trên Android/iOS.</a:t>
            </a:r>
          </a:p>
          <a:p>
            <a:pPr marL="690881" lvl="1" indent="-345440" algn="l">
              <a:lnSpc>
                <a:spcPts val="4800"/>
              </a:lnSpc>
              <a:buFont typeface="Arial"/>
              <a:buChar char="•"/>
            </a:pPr>
            <a:r>
              <a:rPr lang="en-US" sz="3200">
                <a:solidFill>
                  <a:srgbClr val="FFFFFF"/>
                </a:solidFill>
                <a:latin typeface="Rokkitt"/>
                <a:ea typeface="Rokkitt"/>
                <a:cs typeface="Rokkitt"/>
                <a:sym typeface="Rokkitt"/>
              </a:rPr>
              <a:t>Chậm hơn, ít được cập nhật.</a:t>
            </a:r>
          </a:p>
          <a:p>
            <a:pPr marL="690881" lvl="1" indent="-345440" algn="l">
              <a:lnSpc>
                <a:spcPts val="4800"/>
              </a:lnSpc>
              <a:spcBef>
                <a:spcPct val="0"/>
              </a:spcBef>
              <a:buFont typeface="Arial"/>
              <a:buChar char="•"/>
            </a:pPr>
            <a:r>
              <a:rPr lang="en-US" sz="3200">
                <a:solidFill>
                  <a:srgbClr val="FFFFFF"/>
                </a:solidFill>
                <a:latin typeface="Rokkitt"/>
                <a:ea typeface="Rokkitt"/>
                <a:cs typeface="Rokkitt"/>
                <a:sym typeface="Rokkitt"/>
              </a:rPr>
              <a:t>Không tối ưu on-device AI hiện đại.</a:t>
            </a:r>
          </a:p>
        </p:txBody>
      </p:sp>
      <p:sp>
        <p:nvSpPr>
          <p:cNvPr id="27" name="TextBox 27"/>
          <p:cNvSpPr txBox="1"/>
          <p:nvPr/>
        </p:nvSpPr>
        <p:spPr>
          <a:xfrm>
            <a:off x="9450604" y="6182770"/>
            <a:ext cx="6960666" cy="2364105"/>
          </a:xfrm>
          <a:prstGeom prst="rect">
            <a:avLst/>
          </a:prstGeom>
        </p:spPr>
        <p:txBody>
          <a:bodyPr lIns="0" tIns="0" rIns="0" bIns="0" rtlCol="0" anchor="t">
            <a:spAutoFit/>
          </a:bodyPr>
          <a:lstStyle/>
          <a:p>
            <a:pPr marL="690879" lvl="1" indent="-345439" algn="l">
              <a:lnSpc>
                <a:spcPts val="4799"/>
              </a:lnSpc>
              <a:buFont typeface="Arial"/>
              <a:buChar char="•"/>
            </a:pPr>
            <a:r>
              <a:rPr lang="en-US" sz="3199">
                <a:solidFill>
                  <a:srgbClr val="FFFFFF"/>
                </a:solidFill>
                <a:latin typeface="Rokkitt"/>
                <a:ea typeface="Rokkitt"/>
                <a:cs typeface="Rokkitt"/>
                <a:sym typeface="Rokkitt"/>
              </a:rPr>
              <a:t>Runtime mới, nhẹ và nhanh.</a:t>
            </a:r>
          </a:p>
          <a:p>
            <a:pPr marL="690879" lvl="1" indent="-345439" algn="l">
              <a:lnSpc>
                <a:spcPts val="4799"/>
              </a:lnSpc>
              <a:buFont typeface="Arial"/>
              <a:buChar char="•"/>
            </a:pPr>
            <a:r>
              <a:rPr lang="en-US" sz="3199">
                <a:solidFill>
                  <a:srgbClr val="FFFFFF"/>
                </a:solidFill>
                <a:latin typeface="Rokkitt"/>
                <a:ea typeface="Rokkitt"/>
                <a:cs typeface="Rokkitt"/>
                <a:sym typeface="Rokkitt"/>
              </a:rPr>
              <a:t>Tối ưu cho mobile, edge, IoT.</a:t>
            </a:r>
          </a:p>
          <a:p>
            <a:pPr marL="690879" lvl="1" indent="-345439" algn="l">
              <a:lnSpc>
                <a:spcPts val="4799"/>
              </a:lnSpc>
              <a:spcBef>
                <a:spcPct val="0"/>
              </a:spcBef>
              <a:buFont typeface="Arial"/>
              <a:buChar char="•"/>
            </a:pPr>
            <a:r>
              <a:rPr lang="en-US" sz="3199">
                <a:solidFill>
                  <a:srgbClr val="FFFFFF"/>
                </a:solidFill>
                <a:latin typeface="Rokkitt"/>
                <a:ea typeface="Rokkitt"/>
                <a:cs typeface="Rokkitt"/>
                <a:sym typeface="Rokkitt"/>
              </a:rPr>
              <a:t>Được chính thức thay thế cho PyTorch Mobile.</a:t>
            </a:r>
          </a:p>
        </p:txBody>
      </p:sp>
      <p:sp>
        <p:nvSpPr>
          <p:cNvPr id="28" name="Freeform 28"/>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29" name="AutoShape 29"/>
          <p:cNvSpPr/>
          <p:nvPr/>
        </p:nvSpPr>
        <p:spPr>
          <a:xfrm>
            <a:off x="1400707" y="9194574"/>
            <a:ext cx="15256203" cy="0"/>
          </a:xfrm>
          <a:prstGeom prst="line">
            <a:avLst/>
          </a:prstGeom>
          <a:ln w="9525" cap="flat">
            <a:solidFill>
              <a:srgbClr val="235A5B"/>
            </a:solidFill>
            <a:prstDash val="solid"/>
            <a:headEnd type="none" w="sm" len="sm"/>
            <a:tailEnd type="none" w="sm" len="sm"/>
          </a:ln>
        </p:spPr>
      </p:sp>
      <p:grpSp>
        <p:nvGrpSpPr>
          <p:cNvPr id="30" name="Group 30"/>
          <p:cNvGrpSpPr/>
          <p:nvPr/>
        </p:nvGrpSpPr>
        <p:grpSpPr>
          <a:xfrm>
            <a:off x="17772027" y="9194574"/>
            <a:ext cx="1686269" cy="168626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33" name="TextBox 33"/>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9</a:t>
            </a:r>
          </a:p>
        </p:txBody>
      </p:sp>
      <p:sp>
        <p:nvSpPr>
          <p:cNvPr id="34" name="TextBox 34"/>
          <p:cNvSpPr txBox="1"/>
          <p:nvPr/>
        </p:nvSpPr>
        <p:spPr>
          <a:xfrm>
            <a:off x="3202519" y="929390"/>
            <a:ext cx="11882962"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 PYTORCH MOBILE &amp; EXECUTORCH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a:off x="2431105" y="4452593"/>
            <a:ext cx="13581006" cy="4651494"/>
          </a:xfrm>
          <a:custGeom>
            <a:avLst/>
            <a:gdLst/>
            <a:ahLst/>
            <a:cxnLst/>
            <a:rect l="l" t="t" r="r" b="b"/>
            <a:pathLst>
              <a:path w="13581006" h="4651494">
                <a:moveTo>
                  <a:pt x="0" y="0"/>
                </a:moveTo>
                <a:lnTo>
                  <a:pt x="13581006" y="0"/>
                </a:lnTo>
                <a:lnTo>
                  <a:pt x="13581006" y="4651494"/>
                </a:lnTo>
                <a:lnTo>
                  <a:pt x="0" y="4651494"/>
                </a:lnTo>
                <a:lnTo>
                  <a:pt x="0" y="0"/>
                </a:lnTo>
                <a:close/>
              </a:path>
            </a:pathLst>
          </a:custGeom>
          <a:blipFill>
            <a:blip r:embed="rId7"/>
            <a:stretch>
              <a:fillRect/>
            </a:stretch>
          </a:blipFill>
        </p:spPr>
      </p:sp>
      <p:sp>
        <p:nvSpPr>
          <p:cNvPr id="7" name="TextBox 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10</a:t>
            </a:r>
          </a:p>
        </p:txBody>
      </p:sp>
      <p:grpSp>
        <p:nvGrpSpPr>
          <p:cNvPr id="8" name="Group 8"/>
          <p:cNvGrpSpPr/>
          <p:nvPr/>
        </p:nvGrpSpPr>
        <p:grpSpPr>
          <a:xfrm>
            <a:off x="3837239" y="1983490"/>
            <a:ext cx="12358439" cy="1967733"/>
            <a:chOff x="0" y="0"/>
            <a:chExt cx="3385065" cy="538976"/>
          </a:xfrm>
        </p:grpSpPr>
        <p:sp>
          <p:nvSpPr>
            <p:cNvPr id="9" name="Freeform 9"/>
            <p:cNvSpPr/>
            <p:nvPr/>
          </p:nvSpPr>
          <p:spPr>
            <a:xfrm>
              <a:off x="0" y="0"/>
              <a:ext cx="3385065" cy="538976"/>
            </a:xfrm>
            <a:custGeom>
              <a:avLst/>
              <a:gdLst/>
              <a:ahLst/>
              <a:cxnLst/>
              <a:rect l="l" t="t" r="r" b="b"/>
              <a:pathLst>
                <a:path w="3385065" h="538976">
                  <a:moveTo>
                    <a:pt x="20673" y="0"/>
                  </a:moveTo>
                  <a:lnTo>
                    <a:pt x="3364393" y="0"/>
                  </a:lnTo>
                  <a:cubicBezTo>
                    <a:pt x="3369875" y="0"/>
                    <a:pt x="3375134" y="2178"/>
                    <a:pt x="3379010" y="6055"/>
                  </a:cubicBezTo>
                  <a:cubicBezTo>
                    <a:pt x="3382887" y="9932"/>
                    <a:pt x="3385065" y="15190"/>
                    <a:pt x="3385065" y="20673"/>
                  </a:cubicBezTo>
                  <a:lnTo>
                    <a:pt x="3385065" y="518304"/>
                  </a:lnTo>
                  <a:cubicBezTo>
                    <a:pt x="3385065" y="523786"/>
                    <a:pt x="3382887" y="529045"/>
                    <a:pt x="3379010" y="532921"/>
                  </a:cubicBezTo>
                  <a:cubicBezTo>
                    <a:pt x="3375134" y="536798"/>
                    <a:pt x="3369875" y="538976"/>
                    <a:pt x="3364393" y="538976"/>
                  </a:cubicBezTo>
                  <a:lnTo>
                    <a:pt x="20673" y="538976"/>
                  </a:lnTo>
                  <a:cubicBezTo>
                    <a:pt x="15190" y="538976"/>
                    <a:pt x="9932" y="536798"/>
                    <a:pt x="6055" y="532921"/>
                  </a:cubicBezTo>
                  <a:cubicBezTo>
                    <a:pt x="2178" y="529045"/>
                    <a:pt x="0" y="523786"/>
                    <a:pt x="0" y="518304"/>
                  </a:cubicBezTo>
                  <a:lnTo>
                    <a:pt x="0" y="20673"/>
                  </a:lnTo>
                  <a:cubicBezTo>
                    <a:pt x="0" y="15190"/>
                    <a:pt x="2178" y="9932"/>
                    <a:pt x="6055" y="6055"/>
                  </a:cubicBezTo>
                  <a:cubicBezTo>
                    <a:pt x="9932" y="2178"/>
                    <a:pt x="15190" y="0"/>
                    <a:pt x="20673" y="0"/>
                  </a:cubicBezTo>
                  <a:close/>
                </a:path>
              </a:pathLst>
            </a:custGeom>
            <a:solidFill>
              <a:srgbClr val="CADCD6">
                <a:alpha val="22745"/>
              </a:srgbClr>
            </a:solidFill>
          </p:spPr>
        </p:sp>
        <p:sp>
          <p:nvSpPr>
            <p:cNvPr id="10" name="TextBox 10"/>
            <p:cNvSpPr txBox="1"/>
            <p:nvPr/>
          </p:nvSpPr>
          <p:spPr>
            <a:xfrm>
              <a:off x="0" y="-47625"/>
              <a:ext cx="3385065" cy="586601"/>
            </a:xfrm>
            <a:prstGeom prst="rect">
              <a:avLst/>
            </a:prstGeom>
          </p:spPr>
          <p:txBody>
            <a:bodyPr lIns="50800" tIns="50800" rIns="50800" bIns="50800" rtlCol="0" anchor="ctr"/>
            <a:lstStyle/>
            <a:p>
              <a:pPr algn="just">
                <a:lnSpc>
                  <a:spcPts val="3079"/>
                </a:lnSpc>
              </a:pPr>
              <a:endParaRPr/>
            </a:p>
          </p:txBody>
        </p:sp>
      </p:grpSp>
      <p:sp>
        <p:nvSpPr>
          <p:cNvPr id="11" name="TextBox 11"/>
          <p:cNvSpPr txBox="1"/>
          <p:nvPr/>
        </p:nvSpPr>
        <p:spPr>
          <a:xfrm>
            <a:off x="4248513" y="1988196"/>
            <a:ext cx="11763598" cy="1863587"/>
          </a:xfrm>
          <a:prstGeom prst="rect">
            <a:avLst/>
          </a:prstGeom>
        </p:spPr>
        <p:txBody>
          <a:bodyPr lIns="0" tIns="0" rIns="0" bIns="0" rtlCol="0" anchor="t">
            <a:spAutoFit/>
          </a:bodyPr>
          <a:lstStyle/>
          <a:p>
            <a:pPr marL="720451" lvl="1" indent="-360226" algn="just">
              <a:lnSpc>
                <a:spcPts val="5005"/>
              </a:lnSpc>
              <a:buAutoNum type="arabicPeriod"/>
            </a:pPr>
            <a:r>
              <a:rPr lang="en-US" sz="3336">
                <a:solidFill>
                  <a:srgbClr val="2B2B2B"/>
                </a:solidFill>
                <a:latin typeface="Rokkitt"/>
                <a:ea typeface="Rokkitt"/>
                <a:cs typeface="Rokkitt"/>
                <a:sym typeface="Rokkitt"/>
              </a:rPr>
              <a:t>Load model .pt</a:t>
            </a:r>
            <a:r>
              <a:rPr lang="en-US" sz="3336" u="none" strike="noStrike">
                <a:solidFill>
                  <a:srgbClr val="2B2B2B"/>
                </a:solidFill>
                <a:latin typeface="Rokkitt"/>
                <a:ea typeface="Rokkitt"/>
                <a:cs typeface="Rokkitt"/>
                <a:sym typeface="Rokkitt"/>
              </a:rPr>
              <a:t>e bằng </a:t>
            </a:r>
            <a:r>
              <a:rPr lang="en-US" sz="3336" b="1" u="none" strike="noStrike">
                <a:solidFill>
                  <a:srgbClr val="2B2B2B"/>
                </a:solidFill>
                <a:latin typeface="Rokkitt Bold"/>
                <a:ea typeface="Rokkitt Bold"/>
                <a:cs typeface="Rokkitt Bold"/>
                <a:sym typeface="Rokkitt Bold"/>
              </a:rPr>
              <a:t>Module.load()</a:t>
            </a:r>
          </a:p>
          <a:p>
            <a:pPr marL="720451" lvl="1" indent="-360226" algn="just">
              <a:lnSpc>
                <a:spcPts val="5005"/>
              </a:lnSpc>
              <a:buAutoNum type="arabicPeriod"/>
            </a:pPr>
            <a:r>
              <a:rPr lang="en-US" sz="3336" u="none" strike="noStrike">
                <a:solidFill>
                  <a:srgbClr val="2B2B2B"/>
                </a:solidFill>
                <a:latin typeface="Rokkitt"/>
                <a:ea typeface="Rokkitt"/>
                <a:cs typeface="Rokkitt"/>
                <a:sym typeface="Rokkitt"/>
              </a:rPr>
              <a:t>Chuẩn bị input Tensor bằng </a:t>
            </a:r>
            <a:r>
              <a:rPr lang="en-US" sz="3336" b="1" u="none" strike="noStrike">
                <a:solidFill>
                  <a:srgbClr val="2B2B2B"/>
                </a:solidFill>
                <a:latin typeface="Rokkitt Bold"/>
                <a:ea typeface="Rokkitt Bold"/>
                <a:cs typeface="Rokkitt Bold"/>
                <a:sym typeface="Rokkitt Bold"/>
              </a:rPr>
              <a:t>Tensor.fromBlob()</a:t>
            </a:r>
          </a:p>
          <a:p>
            <a:pPr marL="720451" lvl="1" indent="-360226" algn="just">
              <a:lnSpc>
                <a:spcPts val="5005"/>
              </a:lnSpc>
              <a:buAutoNum type="arabicPeriod"/>
            </a:pPr>
            <a:r>
              <a:rPr lang="en-US" sz="3336" u="none" strike="noStrike">
                <a:solidFill>
                  <a:srgbClr val="2B2B2B"/>
                </a:solidFill>
                <a:latin typeface="Rokkitt"/>
                <a:ea typeface="Rokkitt"/>
                <a:cs typeface="Rokkitt"/>
                <a:sym typeface="Rokkitt"/>
              </a:rPr>
              <a:t>Chạy suy luận &amp; lấy output bằng </a:t>
            </a:r>
            <a:r>
              <a:rPr lang="en-US" sz="3336" b="1" u="none" strike="noStrike">
                <a:solidFill>
                  <a:srgbClr val="2B2B2B"/>
                </a:solidFill>
                <a:latin typeface="Rokkitt Bold"/>
                <a:ea typeface="Rokkitt Bold"/>
                <a:cs typeface="Rokkitt Bold"/>
                <a:sym typeface="Rokkitt Bold"/>
              </a:rPr>
              <a:t>model.forward()</a:t>
            </a:r>
          </a:p>
        </p:txBody>
      </p:sp>
      <p:grpSp>
        <p:nvGrpSpPr>
          <p:cNvPr id="12" name="Group 12"/>
          <p:cNvGrpSpPr/>
          <p:nvPr/>
        </p:nvGrpSpPr>
        <p:grpSpPr>
          <a:xfrm>
            <a:off x="3837239" y="2441854"/>
            <a:ext cx="144574" cy="1052377"/>
            <a:chOff x="0" y="0"/>
            <a:chExt cx="39600" cy="288254"/>
          </a:xfrm>
        </p:grpSpPr>
        <p:sp>
          <p:nvSpPr>
            <p:cNvPr id="13" name="Freeform 13"/>
            <p:cNvSpPr/>
            <p:nvPr/>
          </p:nvSpPr>
          <p:spPr>
            <a:xfrm>
              <a:off x="0" y="0"/>
              <a:ext cx="39600" cy="288254"/>
            </a:xfrm>
            <a:custGeom>
              <a:avLst/>
              <a:gdLst/>
              <a:ahLst/>
              <a:cxnLst/>
              <a:rect l="l" t="t" r="r" b="b"/>
              <a:pathLst>
                <a:path w="39600" h="288254">
                  <a:moveTo>
                    <a:pt x="19800" y="0"/>
                  </a:moveTo>
                  <a:lnTo>
                    <a:pt x="19800" y="0"/>
                  </a:lnTo>
                  <a:cubicBezTo>
                    <a:pt x="30735" y="0"/>
                    <a:pt x="39600" y="8865"/>
                    <a:pt x="39600" y="19800"/>
                  </a:cubicBezTo>
                  <a:lnTo>
                    <a:pt x="39600" y="268454"/>
                  </a:lnTo>
                  <a:cubicBezTo>
                    <a:pt x="39600" y="279389"/>
                    <a:pt x="30735" y="288254"/>
                    <a:pt x="19800" y="288254"/>
                  </a:cubicBezTo>
                  <a:lnTo>
                    <a:pt x="19800" y="288254"/>
                  </a:lnTo>
                  <a:cubicBezTo>
                    <a:pt x="8865" y="288254"/>
                    <a:pt x="0" y="279389"/>
                    <a:pt x="0" y="268454"/>
                  </a:cubicBezTo>
                  <a:lnTo>
                    <a:pt x="0" y="19800"/>
                  </a:lnTo>
                  <a:cubicBezTo>
                    <a:pt x="0" y="8865"/>
                    <a:pt x="8865" y="0"/>
                    <a:pt x="19800" y="0"/>
                  </a:cubicBezTo>
                  <a:close/>
                </a:path>
              </a:pathLst>
            </a:custGeom>
            <a:solidFill>
              <a:srgbClr val="408789"/>
            </a:solidFill>
          </p:spPr>
        </p:sp>
        <p:sp>
          <p:nvSpPr>
            <p:cNvPr id="14" name="TextBox 14"/>
            <p:cNvSpPr txBox="1"/>
            <p:nvPr/>
          </p:nvSpPr>
          <p:spPr>
            <a:xfrm>
              <a:off x="0" y="-47625"/>
              <a:ext cx="39600" cy="335879"/>
            </a:xfrm>
            <a:prstGeom prst="rect">
              <a:avLst/>
            </a:prstGeom>
          </p:spPr>
          <p:txBody>
            <a:bodyPr lIns="50800" tIns="50800" rIns="50800" bIns="50800" rtlCol="0" anchor="ctr"/>
            <a:lstStyle/>
            <a:p>
              <a:pPr algn="ctr">
                <a:lnSpc>
                  <a:spcPts val="3079"/>
                </a:lnSpc>
              </a:pPr>
              <a:endParaRPr/>
            </a:p>
          </p:txBody>
        </p:sp>
      </p:grpSp>
      <p:grpSp>
        <p:nvGrpSpPr>
          <p:cNvPr id="15" name="Group 15"/>
          <p:cNvGrpSpPr/>
          <p:nvPr/>
        </p:nvGrpSpPr>
        <p:grpSpPr>
          <a:xfrm>
            <a:off x="2276086" y="2320130"/>
            <a:ext cx="1294453" cy="1294453"/>
            <a:chOff x="0" y="0"/>
            <a:chExt cx="812800" cy="812800"/>
          </a:xfrm>
        </p:grpSpPr>
        <p:sp>
          <p:nvSpPr>
            <p:cNvPr id="16" name="Freeform 16"/>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sp>
        <p:sp>
          <p:nvSpPr>
            <p:cNvPr id="17" name="TextBox 17"/>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18" name="Freeform 18"/>
          <p:cNvSpPr/>
          <p:nvPr/>
        </p:nvSpPr>
        <p:spPr>
          <a:xfrm>
            <a:off x="2714118" y="2626510"/>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TextBox 19"/>
          <p:cNvSpPr txBox="1"/>
          <p:nvPr/>
        </p:nvSpPr>
        <p:spPr>
          <a:xfrm>
            <a:off x="3202519" y="748155"/>
            <a:ext cx="11882962"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EXECUTORCH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2895713" y="2792319"/>
            <a:ext cx="14168283" cy="5392698"/>
            <a:chOff x="0" y="0"/>
            <a:chExt cx="5998821" cy="2283257"/>
          </a:xfrm>
        </p:grpSpPr>
        <p:sp>
          <p:nvSpPr>
            <p:cNvPr id="11" name="Freeform 11"/>
            <p:cNvSpPr/>
            <p:nvPr/>
          </p:nvSpPr>
          <p:spPr>
            <a:xfrm>
              <a:off x="0" y="0"/>
              <a:ext cx="5998821" cy="2283257"/>
            </a:xfrm>
            <a:custGeom>
              <a:avLst/>
              <a:gdLst/>
              <a:ahLst/>
              <a:cxnLst/>
              <a:rect l="l" t="t" r="r" b="b"/>
              <a:pathLst>
                <a:path w="5998821" h="2283257">
                  <a:moveTo>
                    <a:pt x="18032" y="0"/>
                  </a:moveTo>
                  <a:lnTo>
                    <a:pt x="5980789" y="0"/>
                  </a:lnTo>
                  <a:cubicBezTo>
                    <a:pt x="5990748" y="0"/>
                    <a:pt x="5998821" y="8073"/>
                    <a:pt x="5998821" y="18032"/>
                  </a:cubicBezTo>
                  <a:lnTo>
                    <a:pt x="5998821" y="2265225"/>
                  </a:lnTo>
                  <a:cubicBezTo>
                    <a:pt x="5998821" y="2275184"/>
                    <a:pt x="5990748" y="2283257"/>
                    <a:pt x="5980789" y="2283257"/>
                  </a:cubicBezTo>
                  <a:lnTo>
                    <a:pt x="18032" y="2283257"/>
                  </a:lnTo>
                  <a:cubicBezTo>
                    <a:pt x="8073" y="2283257"/>
                    <a:pt x="0" y="2275184"/>
                    <a:pt x="0" y="2265225"/>
                  </a:cubicBezTo>
                  <a:lnTo>
                    <a:pt x="0" y="18032"/>
                  </a:lnTo>
                  <a:cubicBezTo>
                    <a:pt x="0" y="8073"/>
                    <a:pt x="8073" y="0"/>
                    <a:pt x="18032" y="0"/>
                  </a:cubicBezTo>
                  <a:close/>
                </a:path>
              </a:pathLst>
            </a:custGeom>
            <a:solidFill>
              <a:srgbClr val="CADCD6">
                <a:alpha val="22745"/>
              </a:srgbClr>
            </a:solidFill>
          </p:spPr>
        </p:sp>
        <p:sp>
          <p:nvSpPr>
            <p:cNvPr id="12" name="TextBox 12"/>
            <p:cNvSpPr txBox="1"/>
            <p:nvPr/>
          </p:nvSpPr>
          <p:spPr>
            <a:xfrm>
              <a:off x="0" y="-47625"/>
              <a:ext cx="5998821" cy="2330882"/>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2827932" y="3301320"/>
            <a:ext cx="114217" cy="4399441"/>
            <a:chOff x="0" y="0"/>
            <a:chExt cx="48359" cy="1862714"/>
          </a:xfrm>
        </p:grpSpPr>
        <p:sp>
          <p:nvSpPr>
            <p:cNvPr id="14" name="Freeform 14"/>
            <p:cNvSpPr/>
            <p:nvPr/>
          </p:nvSpPr>
          <p:spPr>
            <a:xfrm>
              <a:off x="0" y="0"/>
              <a:ext cx="48359" cy="1862714"/>
            </a:xfrm>
            <a:custGeom>
              <a:avLst/>
              <a:gdLst/>
              <a:ahLst/>
              <a:cxnLst/>
              <a:rect l="l" t="t" r="r" b="b"/>
              <a:pathLst>
                <a:path w="48359" h="1862714">
                  <a:moveTo>
                    <a:pt x="24180" y="0"/>
                  </a:moveTo>
                  <a:lnTo>
                    <a:pt x="24180" y="0"/>
                  </a:lnTo>
                  <a:cubicBezTo>
                    <a:pt x="30592" y="0"/>
                    <a:pt x="36743" y="2547"/>
                    <a:pt x="41277" y="7082"/>
                  </a:cubicBezTo>
                  <a:cubicBezTo>
                    <a:pt x="45812" y="11617"/>
                    <a:pt x="48359" y="17767"/>
                    <a:pt x="48359" y="24180"/>
                  </a:cubicBezTo>
                  <a:lnTo>
                    <a:pt x="48359" y="1838534"/>
                  </a:lnTo>
                  <a:cubicBezTo>
                    <a:pt x="48359" y="1851888"/>
                    <a:pt x="37534" y="1862714"/>
                    <a:pt x="24180" y="1862714"/>
                  </a:cubicBezTo>
                  <a:lnTo>
                    <a:pt x="24180" y="1862714"/>
                  </a:lnTo>
                  <a:cubicBezTo>
                    <a:pt x="10826" y="1862714"/>
                    <a:pt x="0" y="1851888"/>
                    <a:pt x="0" y="1838534"/>
                  </a:cubicBezTo>
                  <a:lnTo>
                    <a:pt x="0" y="24180"/>
                  </a:lnTo>
                  <a:cubicBezTo>
                    <a:pt x="0" y="10826"/>
                    <a:pt x="10826" y="0"/>
                    <a:pt x="24180" y="0"/>
                  </a:cubicBezTo>
                  <a:close/>
                </a:path>
              </a:pathLst>
            </a:custGeom>
            <a:solidFill>
              <a:srgbClr val="408789"/>
            </a:solidFill>
          </p:spPr>
        </p:sp>
        <p:sp>
          <p:nvSpPr>
            <p:cNvPr id="15" name="TextBox 15"/>
            <p:cNvSpPr txBox="1"/>
            <p:nvPr/>
          </p:nvSpPr>
          <p:spPr>
            <a:xfrm>
              <a:off x="0" y="-47625"/>
              <a:ext cx="48359" cy="1910339"/>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11</a:t>
            </a:r>
          </a:p>
        </p:txBody>
      </p:sp>
      <p:sp>
        <p:nvSpPr>
          <p:cNvPr id="17" name="TextBox 17"/>
          <p:cNvSpPr txBox="1"/>
          <p:nvPr/>
        </p:nvSpPr>
        <p:spPr>
          <a:xfrm>
            <a:off x="3786505" y="914400"/>
            <a:ext cx="1142902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LƯU Ý KHI TRAIN MODEL .PTE</a:t>
            </a:r>
          </a:p>
        </p:txBody>
      </p:sp>
      <p:sp>
        <p:nvSpPr>
          <p:cNvPr id="18" name="TextBox 18"/>
          <p:cNvSpPr txBox="1"/>
          <p:nvPr/>
        </p:nvSpPr>
        <p:spPr>
          <a:xfrm>
            <a:off x="2942149" y="3196545"/>
            <a:ext cx="13665032" cy="4379595"/>
          </a:xfrm>
          <a:prstGeom prst="rect">
            <a:avLst/>
          </a:prstGeom>
        </p:spPr>
        <p:txBody>
          <a:bodyPr lIns="0" tIns="0" rIns="0" bIns="0" rtlCol="0" anchor="t">
            <a:spAutoFit/>
          </a:bodyPr>
          <a:lstStyle/>
          <a:p>
            <a:pPr marL="712472" lvl="1" indent="-356236" algn="just">
              <a:lnSpc>
                <a:spcPts val="4950"/>
              </a:lnSpc>
              <a:buFont typeface="Arial"/>
              <a:buChar char="•"/>
            </a:pPr>
            <a:r>
              <a:rPr lang="en-US" sz="3300" u="none" strike="noStrike">
                <a:solidFill>
                  <a:srgbClr val="2B2B2B"/>
                </a:solidFill>
                <a:latin typeface="Rokkitt"/>
                <a:ea typeface="Rokkitt"/>
                <a:cs typeface="Rokkitt"/>
                <a:sym typeface="Rokkitt"/>
              </a:rPr>
              <a:t>Model phải nhỏ, nhẹ để chạy được trên mobile.</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Chuẩn hóa input thống nhất giữa lúc train và lúc chạy trên Android.</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Áp dụng quantization trước khi deploy để giảm kích thước &amp; tăng tốc.</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Dùng operator PyTorch chuẩn, tránh control flow phức tạp.</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Export theo pipeline gồm các bước: export → compile → .pte để model hoạt động trên Android.</a:t>
            </a:r>
          </a:p>
          <a:p>
            <a:pPr algn="just">
              <a:lnSpc>
                <a:spcPts val="4950"/>
              </a:lnSpc>
              <a:spcBef>
                <a:spcPct val="0"/>
              </a:spcBef>
            </a:pPr>
            <a:endParaRPr lang="en-US" sz="3300" u="none" strike="noStrike">
              <a:solidFill>
                <a:srgbClr val="2B2B2B"/>
              </a:solidFill>
              <a:latin typeface="Rokkitt"/>
              <a:ea typeface="Rokkitt"/>
              <a:cs typeface="Rokkitt"/>
              <a:sym typeface="Rokkitt"/>
            </a:endParaRPr>
          </a:p>
        </p:txBody>
      </p:sp>
      <p:grpSp>
        <p:nvGrpSpPr>
          <p:cNvPr id="19" name="Group 19"/>
          <p:cNvGrpSpPr/>
          <p:nvPr/>
        </p:nvGrpSpPr>
        <p:grpSpPr>
          <a:xfrm>
            <a:off x="1099498" y="2792319"/>
            <a:ext cx="1294453" cy="1294453"/>
            <a:chOff x="0" y="0"/>
            <a:chExt cx="812800" cy="812800"/>
          </a:xfrm>
        </p:grpSpPr>
        <p:sp>
          <p:nvSpPr>
            <p:cNvPr id="20" name="Freeform 20"/>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22" name="Freeform 22"/>
          <p:cNvSpPr/>
          <p:nvPr/>
        </p:nvSpPr>
        <p:spPr>
          <a:xfrm>
            <a:off x="1537529" y="3098699"/>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3" name="TextBox 3"/>
          <p:cNvSpPr txBox="1"/>
          <p:nvPr/>
        </p:nvSpPr>
        <p:spPr>
          <a:xfrm>
            <a:off x="3202519" y="315747"/>
            <a:ext cx="11882962"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TỔNG KẾT</a:t>
            </a:r>
          </a:p>
        </p:txBody>
      </p:sp>
      <p:sp>
        <p:nvSpPr>
          <p:cNvPr id="4" name="Freeform 4"/>
          <p:cNvSpPr/>
          <p:nvPr/>
        </p:nvSpPr>
        <p:spPr>
          <a:xfrm>
            <a:off x="16012111" y="-416042"/>
            <a:ext cx="2450485" cy="1131645"/>
          </a:xfrm>
          <a:custGeom>
            <a:avLst/>
            <a:gdLst/>
            <a:ahLst/>
            <a:cxnLst/>
            <a:rect l="l" t="t" r="r" b="b"/>
            <a:pathLst>
              <a:path w="2450485" h="1131645">
                <a:moveTo>
                  <a:pt x="0" y="0"/>
                </a:moveTo>
                <a:lnTo>
                  <a:pt x="2450485" y="0"/>
                </a:lnTo>
                <a:lnTo>
                  <a:pt x="2450485" y="1131646"/>
                </a:lnTo>
                <a:lnTo>
                  <a:pt x="0" y="1131646"/>
                </a:lnTo>
                <a:lnTo>
                  <a:pt x="0" y="0"/>
                </a:lnTo>
                <a:close/>
              </a:path>
            </a:pathLst>
          </a:custGeom>
          <a:blipFill>
            <a:blip r:embed="rId2">
              <a:extLst>
                <a:ext uri="{96DAC541-7B7A-43D3-8B79-37D633B846F1}">
                  <asvg:svgBlip xmlns:asvg="http://schemas.microsoft.com/office/drawing/2016/SVG/main" r:embed="rId3"/>
                </a:ext>
              </a:extLst>
            </a:blip>
            <a:stretch>
              <a:fillRect r="-59838" b="-615486"/>
            </a:stretch>
          </a:blipFill>
        </p:spPr>
      </p:sp>
      <p:sp>
        <p:nvSpPr>
          <p:cNvPr id="5" name="Freeform 5"/>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2">
              <a:extLst>
                <a:ext uri="{96DAC541-7B7A-43D3-8B79-37D633B846F1}">
                  <asvg:svgBlip xmlns:asvg="http://schemas.microsoft.com/office/drawing/2016/SVG/main" r:embed="rId3"/>
                </a:ext>
              </a:extLst>
            </a:blip>
            <a:stretch>
              <a:fillRect r="-59838" b="-615486"/>
            </a:stretch>
          </a:blipFill>
        </p:spPr>
      </p:sp>
      <p:sp>
        <p:nvSpPr>
          <p:cNvPr id="6" name="AutoShape 6"/>
          <p:cNvSpPr/>
          <p:nvPr/>
        </p:nvSpPr>
        <p:spPr>
          <a:xfrm>
            <a:off x="1400707" y="9194574"/>
            <a:ext cx="15256203" cy="0"/>
          </a:xfrm>
          <a:prstGeom prst="line">
            <a:avLst/>
          </a:prstGeom>
          <a:ln w="9525" cap="flat">
            <a:solidFill>
              <a:srgbClr val="235A5B"/>
            </a:solidFill>
            <a:prstDash val="solid"/>
            <a:headEnd type="none" w="sm" len="sm"/>
            <a:tailEnd type="none" w="sm" len="sm"/>
          </a:ln>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0" name="TextBox 1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12</a:t>
            </a:r>
          </a:p>
        </p:txBody>
      </p:sp>
      <p:pic>
        <p:nvPicPr>
          <p:cNvPr id="11" name="Picture 10">
            <a:extLst>
              <a:ext uri="{FF2B5EF4-FFF2-40B4-BE49-F238E27FC236}">
                <a16:creationId xmlns:a16="http://schemas.microsoft.com/office/drawing/2014/main" id="{234573E9-AB5A-C165-516C-41F411BE80FB}"/>
              </a:ext>
            </a:extLst>
          </p:cNvPr>
          <p:cNvPicPr>
            <a:picLocks noChangeAspect="1"/>
          </p:cNvPicPr>
          <p:nvPr/>
        </p:nvPicPr>
        <p:blipFill>
          <a:blip r:embed="rId4"/>
          <a:stretch>
            <a:fillRect/>
          </a:stretch>
        </p:blipFill>
        <p:spPr>
          <a:xfrm>
            <a:off x="375013" y="1180547"/>
            <a:ext cx="17537973" cy="79259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3233858" y="1626121"/>
            <a:ext cx="13538243" cy="2862415"/>
            <a:chOff x="0" y="0"/>
            <a:chExt cx="4138723" cy="875058"/>
          </a:xfrm>
        </p:grpSpPr>
        <p:sp>
          <p:nvSpPr>
            <p:cNvPr id="4" name="Freeform 4"/>
            <p:cNvSpPr/>
            <p:nvPr/>
          </p:nvSpPr>
          <p:spPr>
            <a:xfrm>
              <a:off x="0" y="0"/>
              <a:ext cx="4138723" cy="875058"/>
            </a:xfrm>
            <a:custGeom>
              <a:avLst/>
              <a:gdLst/>
              <a:ahLst/>
              <a:cxnLst/>
              <a:rect l="l" t="t" r="r" b="b"/>
              <a:pathLst>
                <a:path w="4138723" h="875058">
                  <a:moveTo>
                    <a:pt x="18871" y="0"/>
                  </a:moveTo>
                  <a:lnTo>
                    <a:pt x="4119852" y="0"/>
                  </a:lnTo>
                  <a:cubicBezTo>
                    <a:pt x="4130274" y="0"/>
                    <a:pt x="4138723" y="8449"/>
                    <a:pt x="4138723" y="18871"/>
                  </a:cubicBezTo>
                  <a:lnTo>
                    <a:pt x="4138723" y="856186"/>
                  </a:lnTo>
                  <a:cubicBezTo>
                    <a:pt x="4138723" y="866609"/>
                    <a:pt x="4130274" y="875058"/>
                    <a:pt x="4119852" y="875058"/>
                  </a:cubicBezTo>
                  <a:lnTo>
                    <a:pt x="18871" y="875058"/>
                  </a:lnTo>
                  <a:cubicBezTo>
                    <a:pt x="8449" y="875058"/>
                    <a:pt x="0" y="866609"/>
                    <a:pt x="0" y="856186"/>
                  </a:cubicBezTo>
                  <a:lnTo>
                    <a:pt x="0" y="18871"/>
                  </a:lnTo>
                  <a:cubicBezTo>
                    <a:pt x="0" y="8449"/>
                    <a:pt x="8449" y="0"/>
                    <a:pt x="18871" y="0"/>
                  </a:cubicBezTo>
                  <a:close/>
                </a:path>
              </a:pathLst>
            </a:custGeom>
            <a:solidFill>
              <a:srgbClr val="CADCD6">
                <a:alpha val="22745"/>
              </a:srgbClr>
            </a:solidFill>
          </p:spPr>
        </p:sp>
        <p:sp>
          <p:nvSpPr>
            <p:cNvPr id="5" name="TextBox 5"/>
            <p:cNvSpPr txBox="1"/>
            <p:nvPr/>
          </p:nvSpPr>
          <p:spPr>
            <a:xfrm>
              <a:off x="0" y="-47625"/>
              <a:ext cx="4138723" cy="922683"/>
            </a:xfrm>
            <a:prstGeom prst="rect">
              <a:avLst/>
            </a:prstGeom>
          </p:spPr>
          <p:txBody>
            <a:bodyPr lIns="50800" tIns="50800" rIns="50800" bIns="50800" rtlCol="0" anchor="ctr"/>
            <a:lstStyle/>
            <a:p>
              <a:pPr algn="just">
                <a:lnSpc>
                  <a:spcPts val="3079"/>
                </a:lnSpc>
              </a:pPr>
              <a:endParaRPr/>
            </a:p>
          </p:txBody>
        </p:sp>
      </p:grpSp>
      <p:grpSp>
        <p:nvGrpSpPr>
          <p:cNvPr id="6" name="Group 6"/>
          <p:cNvGrpSpPr/>
          <p:nvPr/>
        </p:nvGrpSpPr>
        <p:grpSpPr>
          <a:xfrm>
            <a:off x="3233858" y="1626121"/>
            <a:ext cx="176088" cy="2862415"/>
            <a:chOff x="0" y="0"/>
            <a:chExt cx="53831" cy="875058"/>
          </a:xfrm>
        </p:grpSpPr>
        <p:sp>
          <p:nvSpPr>
            <p:cNvPr id="7" name="Freeform 7"/>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sp>
        <p:sp>
          <p:nvSpPr>
            <p:cNvPr id="8" name="TextBox 8"/>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a:off x="401627" y="2023929"/>
            <a:ext cx="2546679" cy="1532777"/>
            <a:chOff x="0" y="0"/>
            <a:chExt cx="2125786" cy="1279453"/>
          </a:xfrm>
        </p:grpSpPr>
        <p:sp>
          <p:nvSpPr>
            <p:cNvPr id="10" name="Freeform 10"/>
            <p:cNvSpPr/>
            <p:nvPr/>
          </p:nvSpPr>
          <p:spPr>
            <a:xfrm>
              <a:off x="0" y="0"/>
              <a:ext cx="2125786" cy="1279453"/>
            </a:xfrm>
            <a:custGeom>
              <a:avLst/>
              <a:gdLst/>
              <a:ahLst/>
              <a:cxnLst/>
              <a:rect l="l" t="t" r="r" b="b"/>
              <a:pathLst>
                <a:path w="2125786" h="1279453">
                  <a:moveTo>
                    <a:pt x="76000" y="0"/>
                  </a:moveTo>
                  <a:lnTo>
                    <a:pt x="2049786" y="0"/>
                  </a:lnTo>
                  <a:cubicBezTo>
                    <a:pt x="2091760" y="0"/>
                    <a:pt x="2125786" y="34026"/>
                    <a:pt x="2125786" y="76000"/>
                  </a:cubicBezTo>
                  <a:lnTo>
                    <a:pt x="2125786" y="1203453"/>
                  </a:lnTo>
                  <a:cubicBezTo>
                    <a:pt x="2125786" y="1245427"/>
                    <a:pt x="2091760" y="1279453"/>
                    <a:pt x="2049786" y="1279453"/>
                  </a:cubicBezTo>
                  <a:lnTo>
                    <a:pt x="76000" y="1279453"/>
                  </a:lnTo>
                  <a:cubicBezTo>
                    <a:pt x="34026" y="1279453"/>
                    <a:pt x="0" y="1245427"/>
                    <a:pt x="0" y="1203453"/>
                  </a:cubicBezTo>
                  <a:lnTo>
                    <a:pt x="0" y="76000"/>
                  </a:lnTo>
                  <a:cubicBezTo>
                    <a:pt x="0" y="34026"/>
                    <a:pt x="34026" y="0"/>
                    <a:pt x="76000" y="0"/>
                  </a:cubicBezTo>
                  <a:close/>
                </a:path>
              </a:pathLst>
            </a:custGeom>
            <a:solidFill>
              <a:srgbClr val="408789"/>
            </a:solidFill>
          </p:spPr>
        </p:sp>
        <p:sp>
          <p:nvSpPr>
            <p:cNvPr id="11" name="TextBox 11"/>
            <p:cNvSpPr txBox="1"/>
            <p:nvPr/>
          </p:nvSpPr>
          <p:spPr>
            <a:xfrm>
              <a:off x="0" y="-47625"/>
              <a:ext cx="2125786" cy="1327078"/>
            </a:xfrm>
            <a:prstGeom prst="rect">
              <a:avLst/>
            </a:prstGeom>
          </p:spPr>
          <p:txBody>
            <a:bodyPr lIns="50800" tIns="50800" rIns="50800" bIns="50800" rtlCol="0" anchor="ctr"/>
            <a:lstStyle/>
            <a:p>
              <a:pPr algn="ctr">
                <a:lnSpc>
                  <a:spcPts val="3079"/>
                </a:lnSpc>
              </a:pPr>
              <a:endParaRPr/>
            </a:p>
          </p:txBody>
        </p:sp>
      </p:grpSp>
      <p:sp>
        <p:nvSpPr>
          <p:cNvPr id="12" name="Freeform 12"/>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13" name="AutoShape 1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14" name="Freeform 14"/>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15" name="TextBox 15"/>
          <p:cNvSpPr txBox="1"/>
          <p:nvPr/>
        </p:nvSpPr>
        <p:spPr>
          <a:xfrm>
            <a:off x="3790946" y="2199768"/>
            <a:ext cx="11457443" cy="1614787"/>
          </a:xfrm>
          <a:prstGeom prst="rect">
            <a:avLst/>
          </a:prstGeom>
        </p:spPr>
        <p:txBody>
          <a:bodyPr lIns="0" tIns="0" rIns="0" bIns="0" rtlCol="0" anchor="t">
            <a:spAutoFit/>
          </a:bodyPr>
          <a:lstStyle/>
          <a:p>
            <a:pPr marL="619015" lvl="1" indent="-309507" algn="just">
              <a:lnSpc>
                <a:spcPts val="4300"/>
              </a:lnSpc>
              <a:spcBef>
                <a:spcPct val="0"/>
              </a:spcBef>
              <a:buFont typeface="Arial"/>
              <a:buChar char="•"/>
            </a:pPr>
            <a:r>
              <a:rPr lang="en-US" sz="2867">
                <a:solidFill>
                  <a:srgbClr val="2B2B2B"/>
                </a:solidFill>
                <a:latin typeface="Rokkitt"/>
                <a:ea typeface="Rokkitt"/>
                <a:cs typeface="Rokkitt"/>
                <a:sym typeface="Rokkitt"/>
              </a:rPr>
              <a:t>AI Engine tíc</a:t>
            </a:r>
            <a:r>
              <a:rPr lang="en-US" sz="2867" u="none" strike="noStrike">
                <a:solidFill>
                  <a:srgbClr val="2B2B2B"/>
                </a:solidFill>
                <a:latin typeface="Rokkitt"/>
                <a:ea typeface="Rokkitt"/>
                <a:cs typeface="Rokkitt"/>
                <a:sym typeface="Rokkitt"/>
              </a:rPr>
              <a:t>h hợp sẵn trong hệ điều hành Android.</a:t>
            </a:r>
          </a:p>
          <a:p>
            <a:pPr marL="619015" lvl="1" indent="-309507" algn="just">
              <a:lnSpc>
                <a:spcPts val="4300"/>
              </a:lnSpc>
              <a:spcBef>
                <a:spcPct val="0"/>
              </a:spcBef>
              <a:buFont typeface="Arial"/>
              <a:buChar char="•"/>
            </a:pPr>
            <a:r>
              <a:rPr lang="en-US" sz="2867" u="none" strike="noStrike">
                <a:solidFill>
                  <a:srgbClr val="2B2B2B"/>
                </a:solidFill>
                <a:latin typeface="Rokkitt"/>
                <a:ea typeface="Rokkitt"/>
                <a:cs typeface="Rokkitt"/>
                <a:sym typeface="Rokkitt"/>
              </a:rPr>
              <a:t>Quản lý và chia sẻ model AI cho nhiều ứng dụng dùng chung.</a:t>
            </a:r>
          </a:p>
          <a:p>
            <a:pPr marL="619015" lvl="1" indent="-309507" algn="just">
              <a:lnSpc>
                <a:spcPts val="4300"/>
              </a:lnSpc>
              <a:spcBef>
                <a:spcPct val="0"/>
              </a:spcBef>
              <a:buFont typeface="Arial"/>
              <a:buChar char="•"/>
            </a:pPr>
            <a:r>
              <a:rPr lang="en-US" sz="2867" u="none" strike="noStrike">
                <a:solidFill>
                  <a:srgbClr val="2B2B2B"/>
                </a:solidFill>
                <a:latin typeface="Rokkitt"/>
                <a:ea typeface="Rokkitt"/>
                <a:cs typeface="Rokkitt"/>
                <a:sym typeface="Rokkitt"/>
              </a:rPr>
              <a:t>Model Gemini Nano được cập nhật tự động qua Google Play Services.</a:t>
            </a:r>
          </a:p>
        </p:txBody>
      </p:sp>
      <p:sp>
        <p:nvSpPr>
          <p:cNvPr id="16" name="TextBox 16"/>
          <p:cNvSpPr txBox="1"/>
          <p:nvPr/>
        </p:nvSpPr>
        <p:spPr>
          <a:xfrm>
            <a:off x="3233858" y="534988"/>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GOOGLE AI CORE &amp; GEMINI NANO</a:t>
            </a:r>
          </a:p>
        </p:txBody>
      </p:sp>
      <p:sp>
        <p:nvSpPr>
          <p:cNvPr id="17" name="TextBox 1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13</a:t>
            </a:r>
          </a:p>
        </p:txBody>
      </p:sp>
      <p:sp>
        <p:nvSpPr>
          <p:cNvPr id="18" name="TextBox 18"/>
          <p:cNvSpPr txBox="1"/>
          <p:nvPr/>
        </p:nvSpPr>
        <p:spPr>
          <a:xfrm>
            <a:off x="497076" y="2218818"/>
            <a:ext cx="2355782" cy="1066800"/>
          </a:xfrm>
          <a:prstGeom prst="rect">
            <a:avLst/>
          </a:prstGeom>
        </p:spPr>
        <p:txBody>
          <a:bodyPr lIns="0" tIns="0" rIns="0" bIns="0" rtlCol="0" anchor="t">
            <a:spAutoFit/>
          </a:bodyPr>
          <a:lstStyle/>
          <a:p>
            <a:pPr marL="0" lvl="1" indent="0" algn="ctr">
              <a:lnSpc>
                <a:spcPts val="4200"/>
              </a:lnSpc>
              <a:spcBef>
                <a:spcPct val="0"/>
              </a:spcBef>
            </a:pPr>
            <a:r>
              <a:rPr lang="en-US" sz="3000" b="1" spc="126">
                <a:solidFill>
                  <a:srgbClr val="F9F9F9"/>
                </a:solidFill>
                <a:latin typeface="Rokkitt Bold"/>
                <a:ea typeface="Rokkitt Bold"/>
                <a:cs typeface="Rokkitt Bold"/>
                <a:sym typeface="Rokkitt Bold"/>
              </a:rPr>
              <a:t>ANDROID AICORE</a:t>
            </a:r>
          </a:p>
        </p:txBody>
      </p:sp>
      <p:grpSp>
        <p:nvGrpSpPr>
          <p:cNvPr id="19" name="Group 19"/>
          <p:cNvGrpSpPr/>
          <p:nvPr/>
        </p:nvGrpSpPr>
        <p:grpSpPr>
          <a:xfrm>
            <a:off x="3233858" y="5250536"/>
            <a:ext cx="13538243" cy="2862415"/>
            <a:chOff x="0" y="0"/>
            <a:chExt cx="4138723" cy="875058"/>
          </a:xfrm>
        </p:grpSpPr>
        <p:sp>
          <p:nvSpPr>
            <p:cNvPr id="20" name="Freeform 20"/>
            <p:cNvSpPr/>
            <p:nvPr/>
          </p:nvSpPr>
          <p:spPr>
            <a:xfrm>
              <a:off x="0" y="0"/>
              <a:ext cx="4138723" cy="875058"/>
            </a:xfrm>
            <a:custGeom>
              <a:avLst/>
              <a:gdLst/>
              <a:ahLst/>
              <a:cxnLst/>
              <a:rect l="l" t="t" r="r" b="b"/>
              <a:pathLst>
                <a:path w="4138723" h="875058">
                  <a:moveTo>
                    <a:pt x="18871" y="0"/>
                  </a:moveTo>
                  <a:lnTo>
                    <a:pt x="4119852" y="0"/>
                  </a:lnTo>
                  <a:cubicBezTo>
                    <a:pt x="4130274" y="0"/>
                    <a:pt x="4138723" y="8449"/>
                    <a:pt x="4138723" y="18871"/>
                  </a:cubicBezTo>
                  <a:lnTo>
                    <a:pt x="4138723" y="856186"/>
                  </a:lnTo>
                  <a:cubicBezTo>
                    <a:pt x="4138723" y="866609"/>
                    <a:pt x="4130274" y="875058"/>
                    <a:pt x="4119852" y="875058"/>
                  </a:cubicBezTo>
                  <a:lnTo>
                    <a:pt x="18871" y="875058"/>
                  </a:lnTo>
                  <a:cubicBezTo>
                    <a:pt x="8449" y="875058"/>
                    <a:pt x="0" y="866609"/>
                    <a:pt x="0" y="856186"/>
                  </a:cubicBezTo>
                  <a:lnTo>
                    <a:pt x="0" y="18871"/>
                  </a:lnTo>
                  <a:cubicBezTo>
                    <a:pt x="0" y="8449"/>
                    <a:pt x="8449" y="0"/>
                    <a:pt x="18871" y="0"/>
                  </a:cubicBezTo>
                  <a:close/>
                </a:path>
              </a:pathLst>
            </a:custGeom>
            <a:solidFill>
              <a:srgbClr val="CADCD6">
                <a:alpha val="22745"/>
              </a:srgbClr>
            </a:solidFill>
          </p:spPr>
        </p:sp>
        <p:sp>
          <p:nvSpPr>
            <p:cNvPr id="21" name="TextBox 21"/>
            <p:cNvSpPr txBox="1"/>
            <p:nvPr/>
          </p:nvSpPr>
          <p:spPr>
            <a:xfrm>
              <a:off x="0" y="-47625"/>
              <a:ext cx="4138723" cy="922683"/>
            </a:xfrm>
            <a:prstGeom prst="rect">
              <a:avLst/>
            </a:prstGeom>
          </p:spPr>
          <p:txBody>
            <a:bodyPr lIns="50800" tIns="50800" rIns="50800" bIns="50800" rtlCol="0" anchor="ctr"/>
            <a:lstStyle/>
            <a:p>
              <a:pPr algn="just">
                <a:lnSpc>
                  <a:spcPts val="3079"/>
                </a:lnSpc>
              </a:pPr>
              <a:endParaRPr/>
            </a:p>
          </p:txBody>
        </p:sp>
      </p:grpSp>
      <p:grpSp>
        <p:nvGrpSpPr>
          <p:cNvPr id="22" name="Group 22"/>
          <p:cNvGrpSpPr/>
          <p:nvPr/>
        </p:nvGrpSpPr>
        <p:grpSpPr>
          <a:xfrm>
            <a:off x="3233858" y="5250536"/>
            <a:ext cx="176088" cy="2862415"/>
            <a:chOff x="0" y="0"/>
            <a:chExt cx="53831" cy="875058"/>
          </a:xfrm>
        </p:grpSpPr>
        <p:sp>
          <p:nvSpPr>
            <p:cNvPr id="23" name="Freeform 23"/>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sp>
        <p:sp>
          <p:nvSpPr>
            <p:cNvPr id="24" name="TextBox 24"/>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25" name="Group 25"/>
          <p:cNvGrpSpPr/>
          <p:nvPr/>
        </p:nvGrpSpPr>
        <p:grpSpPr>
          <a:xfrm>
            <a:off x="401627" y="5648344"/>
            <a:ext cx="2546679" cy="1532777"/>
            <a:chOff x="0" y="0"/>
            <a:chExt cx="2125786" cy="1279453"/>
          </a:xfrm>
        </p:grpSpPr>
        <p:sp>
          <p:nvSpPr>
            <p:cNvPr id="26" name="Freeform 26"/>
            <p:cNvSpPr/>
            <p:nvPr/>
          </p:nvSpPr>
          <p:spPr>
            <a:xfrm>
              <a:off x="0" y="0"/>
              <a:ext cx="2125786" cy="1279453"/>
            </a:xfrm>
            <a:custGeom>
              <a:avLst/>
              <a:gdLst/>
              <a:ahLst/>
              <a:cxnLst/>
              <a:rect l="l" t="t" r="r" b="b"/>
              <a:pathLst>
                <a:path w="2125786" h="1279453">
                  <a:moveTo>
                    <a:pt x="76000" y="0"/>
                  </a:moveTo>
                  <a:lnTo>
                    <a:pt x="2049786" y="0"/>
                  </a:lnTo>
                  <a:cubicBezTo>
                    <a:pt x="2091760" y="0"/>
                    <a:pt x="2125786" y="34026"/>
                    <a:pt x="2125786" y="76000"/>
                  </a:cubicBezTo>
                  <a:lnTo>
                    <a:pt x="2125786" y="1203453"/>
                  </a:lnTo>
                  <a:cubicBezTo>
                    <a:pt x="2125786" y="1245427"/>
                    <a:pt x="2091760" y="1279453"/>
                    <a:pt x="2049786" y="1279453"/>
                  </a:cubicBezTo>
                  <a:lnTo>
                    <a:pt x="76000" y="1279453"/>
                  </a:lnTo>
                  <a:cubicBezTo>
                    <a:pt x="34026" y="1279453"/>
                    <a:pt x="0" y="1245427"/>
                    <a:pt x="0" y="1203453"/>
                  </a:cubicBezTo>
                  <a:lnTo>
                    <a:pt x="0" y="76000"/>
                  </a:lnTo>
                  <a:cubicBezTo>
                    <a:pt x="0" y="34026"/>
                    <a:pt x="34026" y="0"/>
                    <a:pt x="76000" y="0"/>
                  </a:cubicBezTo>
                  <a:close/>
                </a:path>
              </a:pathLst>
            </a:custGeom>
            <a:solidFill>
              <a:srgbClr val="408789"/>
            </a:solidFill>
          </p:spPr>
        </p:sp>
        <p:sp>
          <p:nvSpPr>
            <p:cNvPr id="27" name="TextBox 27"/>
            <p:cNvSpPr txBox="1"/>
            <p:nvPr/>
          </p:nvSpPr>
          <p:spPr>
            <a:xfrm>
              <a:off x="0" y="-47625"/>
              <a:ext cx="2125786" cy="1327078"/>
            </a:xfrm>
            <a:prstGeom prst="rect">
              <a:avLst/>
            </a:prstGeom>
          </p:spPr>
          <p:txBody>
            <a:bodyPr lIns="50800" tIns="50800" rIns="50800" bIns="50800" rtlCol="0" anchor="ctr"/>
            <a:lstStyle/>
            <a:p>
              <a:pPr algn="ctr">
                <a:lnSpc>
                  <a:spcPts val="3079"/>
                </a:lnSpc>
              </a:pPr>
              <a:endParaRPr/>
            </a:p>
          </p:txBody>
        </p:sp>
      </p:grpSp>
      <p:sp>
        <p:nvSpPr>
          <p:cNvPr id="28" name="TextBox 28"/>
          <p:cNvSpPr txBox="1"/>
          <p:nvPr/>
        </p:nvSpPr>
        <p:spPr>
          <a:xfrm>
            <a:off x="3790946" y="6109259"/>
            <a:ext cx="11457443" cy="1071862"/>
          </a:xfrm>
          <a:prstGeom prst="rect">
            <a:avLst/>
          </a:prstGeom>
        </p:spPr>
        <p:txBody>
          <a:bodyPr lIns="0" tIns="0" rIns="0" bIns="0" rtlCol="0" anchor="t">
            <a:spAutoFit/>
          </a:bodyPr>
          <a:lstStyle/>
          <a:p>
            <a:pPr marL="619015" lvl="1" indent="-309507" algn="just">
              <a:lnSpc>
                <a:spcPts val="4300"/>
              </a:lnSpc>
              <a:spcBef>
                <a:spcPct val="0"/>
              </a:spcBef>
              <a:buFont typeface="Arial"/>
              <a:buChar char="•"/>
            </a:pPr>
            <a:r>
              <a:rPr lang="en-US" sz="2867">
                <a:solidFill>
                  <a:srgbClr val="2B2B2B"/>
                </a:solidFill>
                <a:latin typeface="Rokkitt"/>
                <a:ea typeface="Rokkitt"/>
                <a:cs typeface="Rokkitt"/>
                <a:sym typeface="Rokkitt"/>
              </a:rPr>
              <a:t>Mô hình AI on-device tối ưu, c</a:t>
            </a:r>
            <a:r>
              <a:rPr lang="en-US" sz="2867" u="none" strike="noStrike">
                <a:solidFill>
                  <a:srgbClr val="2B2B2B"/>
                </a:solidFill>
                <a:latin typeface="Rokkitt"/>
                <a:ea typeface="Rokkitt"/>
                <a:cs typeface="Rokkitt"/>
                <a:sym typeface="Rokkitt"/>
              </a:rPr>
              <a:t>hạy trực tiếp trên chip NPU.</a:t>
            </a:r>
          </a:p>
          <a:p>
            <a:pPr marL="619015" lvl="1" indent="-309507" algn="just">
              <a:lnSpc>
                <a:spcPts val="4300"/>
              </a:lnSpc>
              <a:spcBef>
                <a:spcPct val="0"/>
              </a:spcBef>
              <a:buFont typeface="Arial"/>
              <a:buChar char="•"/>
            </a:pPr>
            <a:r>
              <a:rPr lang="en-US" sz="2867" u="none" strike="noStrike">
                <a:solidFill>
                  <a:srgbClr val="2B2B2B"/>
                </a:solidFill>
                <a:latin typeface="Rokkitt"/>
                <a:ea typeface="Rokkitt"/>
                <a:cs typeface="Rokkitt"/>
                <a:sym typeface="Rokkitt"/>
              </a:rPr>
              <a:t>Không đóng gói trong APK → nhẹ, linh hoạt, không tốn bộ nhớ app.</a:t>
            </a:r>
          </a:p>
        </p:txBody>
      </p:sp>
      <p:sp>
        <p:nvSpPr>
          <p:cNvPr id="29" name="TextBox 29"/>
          <p:cNvSpPr txBox="1"/>
          <p:nvPr/>
        </p:nvSpPr>
        <p:spPr>
          <a:xfrm>
            <a:off x="497076" y="5843233"/>
            <a:ext cx="2355782" cy="1066800"/>
          </a:xfrm>
          <a:prstGeom prst="rect">
            <a:avLst/>
          </a:prstGeom>
        </p:spPr>
        <p:txBody>
          <a:bodyPr lIns="0" tIns="0" rIns="0" bIns="0" rtlCol="0" anchor="t">
            <a:spAutoFit/>
          </a:bodyPr>
          <a:lstStyle/>
          <a:p>
            <a:pPr marL="0" lvl="1" indent="0" algn="ctr">
              <a:lnSpc>
                <a:spcPts val="4200"/>
              </a:lnSpc>
              <a:spcBef>
                <a:spcPct val="0"/>
              </a:spcBef>
            </a:pPr>
            <a:r>
              <a:rPr lang="en-US" sz="3000" b="1" spc="126">
                <a:solidFill>
                  <a:srgbClr val="F9F9F9"/>
                </a:solidFill>
                <a:latin typeface="Rokkitt Bold"/>
                <a:ea typeface="Rokkitt Bold"/>
                <a:cs typeface="Rokkitt Bold"/>
                <a:sym typeface="Rokkitt Bold"/>
              </a:rPr>
              <a:t>GEMINI NANO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rot="5400000">
            <a:off x="1819116" y="1674501"/>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rot="5400000">
            <a:off x="1819116" y="3604374"/>
            <a:ext cx="1267798" cy="1079213"/>
          </a:xfrm>
          <a:custGeom>
            <a:avLst/>
            <a:gdLst/>
            <a:ahLst/>
            <a:cxnLst/>
            <a:rect l="l" t="t" r="r" b="b"/>
            <a:pathLst>
              <a:path w="1267798" h="1079213">
                <a:moveTo>
                  <a:pt x="0" y="0"/>
                </a:moveTo>
                <a:lnTo>
                  <a:pt x="1267797" y="0"/>
                </a:lnTo>
                <a:lnTo>
                  <a:pt x="1267797" y="1079212"/>
                </a:lnTo>
                <a:lnTo>
                  <a:pt x="0" y="107921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rot="5400000">
            <a:off x="1819116" y="5534246"/>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3259321" y="1703523"/>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Tốc độ</a:t>
            </a:r>
          </a:p>
        </p:txBody>
      </p:sp>
      <p:sp>
        <p:nvSpPr>
          <p:cNvPr id="9" name="TextBox 9"/>
          <p:cNvSpPr txBox="1"/>
          <p:nvPr/>
        </p:nvSpPr>
        <p:spPr>
          <a:xfrm>
            <a:off x="3259321" y="2155098"/>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Độ trễ cực thấp (Zero Latency) vì xử lý ngay trên chip (NPU), gần như không có độ trễ.</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Không phụ thuộc mạng, không gửi request đi đâu cả.</a:t>
            </a:r>
          </a:p>
        </p:txBody>
      </p:sp>
      <p:sp>
        <p:nvSpPr>
          <p:cNvPr id="10" name="TextBox 10"/>
          <p:cNvSpPr txBox="1"/>
          <p:nvPr/>
        </p:nvSpPr>
        <p:spPr>
          <a:xfrm>
            <a:off x="3259321" y="3689742"/>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Sử dụng ngoại tuyến</a:t>
            </a:r>
          </a:p>
        </p:txBody>
      </p:sp>
      <p:sp>
        <p:nvSpPr>
          <p:cNvPr id="11" name="TextBox 11"/>
          <p:cNvSpPr txBox="1"/>
          <p:nvPr/>
        </p:nvSpPr>
        <p:spPr>
          <a:xfrm>
            <a:off x="3259321" y="4141317"/>
            <a:ext cx="13067662"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Hoạt động ngay cả khi không có internet. </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Lý tưởng cho khu vực mạng yếu hoặc ứng dụng cần “always available”.</a:t>
            </a:r>
          </a:p>
        </p:txBody>
      </p:sp>
      <p:sp>
        <p:nvSpPr>
          <p:cNvPr id="12" name="TextBox 12"/>
          <p:cNvSpPr txBox="1"/>
          <p:nvPr/>
        </p:nvSpPr>
        <p:spPr>
          <a:xfrm>
            <a:off x="3259321" y="5537556"/>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Riêng tư &amp; Chi phí</a:t>
            </a:r>
          </a:p>
        </p:txBody>
      </p:sp>
      <p:sp>
        <p:nvSpPr>
          <p:cNvPr id="13" name="TextBox 13"/>
          <p:cNvSpPr txBox="1"/>
          <p:nvPr/>
        </p:nvSpPr>
        <p:spPr>
          <a:xfrm>
            <a:off x="3259321" y="5989131"/>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Dữ liệu không rời khỏi thiết bị (Privacy) → tăng bảo mật. </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Không tốn chi phí server/API token (Cost = 0).</a:t>
            </a:r>
          </a:p>
        </p:txBody>
      </p:sp>
      <p:sp>
        <p:nvSpPr>
          <p:cNvPr id="14" name="TextBox 14"/>
          <p:cNvSpPr txBox="1"/>
          <p:nvPr/>
        </p:nvSpPr>
        <p:spPr>
          <a:xfrm>
            <a:off x="2154049" y="1827642"/>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5" name="TextBox 15"/>
          <p:cNvSpPr txBox="1"/>
          <p:nvPr/>
        </p:nvSpPr>
        <p:spPr>
          <a:xfrm>
            <a:off x="2154049" y="375751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6" name="TextBox 16"/>
          <p:cNvSpPr txBox="1"/>
          <p:nvPr/>
        </p:nvSpPr>
        <p:spPr>
          <a:xfrm>
            <a:off x="2154049" y="5687387"/>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7" name="TextBox 17"/>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14</a:t>
            </a:r>
          </a:p>
        </p:txBody>
      </p:sp>
      <p:sp>
        <p:nvSpPr>
          <p:cNvPr id="18" name="TextBox 18"/>
          <p:cNvSpPr txBox="1"/>
          <p:nvPr/>
        </p:nvSpPr>
        <p:spPr>
          <a:xfrm>
            <a:off x="3109386" y="503819"/>
            <a:ext cx="11482612"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TẠI SAO LẬP TRÌNH VIÊN NÊN QUAN TÂM?</a:t>
            </a:r>
          </a:p>
        </p:txBody>
      </p:sp>
      <p:grpSp>
        <p:nvGrpSpPr>
          <p:cNvPr id="19" name="Group 19"/>
          <p:cNvGrpSpPr/>
          <p:nvPr/>
        </p:nvGrpSpPr>
        <p:grpSpPr>
          <a:xfrm>
            <a:off x="2572978" y="7692201"/>
            <a:ext cx="13142044" cy="991006"/>
            <a:chOff x="0" y="0"/>
            <a:chExt cx="4017602" cy="302957"/>
          </a:xfrm>
        </p:grpSpPr>
        <p:sp>
          <p:nvSpPr>
            <p:cNvPr id="20" name="Freeform 20"/>
            <p:cNvSpPr/>
            <p:nvPr/>
          </p:nvSpPr>
          <p:spPr>
            <a:xfrm>
              <a:off x="0" y="0"/>
              <a:ext cx="4017602" cy="302957"/>
            </a:xfrm>
            <a:custGeom>
              <a:avLst/>
              <a:gdLst/>
              <a:ahLst/>
              <a:cxnLst/>
              <a:rect l="l" t="t" r="r" b="b"/>
              <a:pathLst>
                <a:path w="4017602" h="302957">
                  <a:moveTo>
                    <a:pt x="19440" y="0"/>
                  </a:moveTo>
                  <a:lnTo>
                    <a:pt x="3998162" y="0"/>
                  </a:lnTo>
                  <a:cubicBezTo>
                    <a:pt x="4008899" y="0"/>
                    <a:pt x="4017602" y="8704"/>
                    <a:pt x="4017602" y="19440"/>
                  </a:cubicBezTo>
                  <a:lnTo>
                    <a:pt x="4017602" y="283516"/>
                  </a:lnTo>
                  <a:cubicBezTo>
                    <a:pt x="4017602" y="294253"/>
                    <a:pt x="4008899" y="302957"/>
                    <a:pt x="3998162" y="302957"/>
                  </a:cubicBezTo>
                  <a:lnTo>
                    <a:pt x="19440" y="302957"/>
                  </a:lnTo>
                  <a:cubicBezTo>
                    <a:pt x="8704" y="302957"/>
                    <a:pt x="0" y="294253"/>
                    <a:pt x="0" y="283516"/>
                  </a:cubicBezTo>
                  <a:lnTo>
                    <a:pt x="0" y="19440"/>
                  </a:lnTo>
                  <a:cubicBezTo>
                    <a:pt x="0" y="8704"/>
                    <a:pt x="8704" y="0"/>
                    <a:pt x="19440" y="0"/>
                  </a:cubicBezTo>
                  <a:close/>
                </a:path>
              </a:pathLst>
            </a:custGeom>
            <a:solidFill>
              <a:srgbClr val="CADCD6">
                <a:alpha val="22745"/>
              </a:srgbClr>
            </a:solidFill>
          </p:spPr>
        </p:sp>
        <p:sp>
          <p:nvSpPr>
            <p:cNvPr id="21" name="TextBox 21"/>
            <p:cNvSpPr txBox="1"/>
            <p:nvPr/>
          </p:nvSpPr>
          <p:spPr>
            <a:xfrm>
              <a:off x="0" y="-47625"/>
              <a:ext cx="4017602" cy="350582"/>
            </a:xfrm>
            <a:prstGeom prst="rect">
              <a:avLst/>
            </a:prstGeom>
          </p:spPr>
          <p:txBody>
            <a:bodyPr lIns="50800" tIns="50800" rIns="50800" bIns="50800" rtlCol="0" anchor="ctr"/>
            <a:lstStyle/>
            <a:p>
              <a:pPr algn="just">
                <a:lnSpc>
                  <a:spcPts val="3079"/>
                </a:lnSpc>
              </a:pPr>
              <a:endParaRPr/>
            </a:p>
          </p:txBody>
        </p:sp>
      </p:grpSp>
      <p:sp>
        <p:nvSpPr>
          <p:cNvPr id="22" name="TextBox 22"/>
          <p:cNvSpPr txBox="1"/>
          <p:nvPr/>
        </p:nvSpPr>
        <p:spPr>
          <a:xfrm>
            <a:off x="3230748" y="7835606"/>
            <a:ext cx="11826505" cy="599422"/>
          </a:xfrm>
          <a:prstGeom prst="rect">
            <a:avLst/>
          </a:prstGeom>
        </p:spPr>
        <p:txBody>
          <a:bodyPr lIns="0" tIns="0" rIns="0" bIns="0" rtlCol="0" anchor="t">
            <a:spAutoFit/>
          </a:bodyPr>
          <a:lstStyle/>
          <a:p>
            <a:pPr algn="just">
              <a:lnSpc>
                <a:spcPts val="4900"/>
              </a:lnSpc>
            </a:pPr>
            <a:r>
              <a:rPr lang="en-US" sz="3267" b="1">
                <a:solidFill>
                  <a:srgbClr val="235A5B"/>
                </a:solidFill>
                <a:latin typeface="Rokkitt Bold"/>
                <a:ea typeface="Rokkitt Bold"/>
                <a:cs typeface="Rokkitt Bold"/>
                <a:sym typeface="Rokkitt Bold"/>
              </a:rPr>
              <a:t>On-device AI = N</a:t>
            </a:r>
            <a:r>
              <a:rPr lang="en-US" sz="3267" b="1" u="none" strike="noStrike">
                <a:solidFill>
                  <a:srgbClr val="235A5B"/>
                </a:solidFill>
                <a:latin typeface="Rokkitt Bold"/>
                <a:ea typeface="Rokkitt Bold"/>
                <a:cs typeface="Rokkitt Bold"/>
                <a:sym typeface="Rokkitt Bold"/>
              </a:rPr>
              <a:t>hanh hơn, Rẻ hơn, Riêng tư hơn so với Cloud 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394223" y="2879781"/>
            <a:ext cx="9123378" cy="4694137"/>
            <a:chOff x="0" y="0"/>
            <a:chExt cx="2789072" cy="1435026"/>
          </a:xfrm>
        </p:grpSpPr>
        <p:sp>
          <p:nvSpPr>
            <p:cNvPr id="4" name="Freeform 4"/>
            <p:cNvSpPr/>
            <p:nvPr/>
          </p:nvSpPr>
          <p:spPr>
            <a:xfrm>
              <a:off x="0" y="0"/>
              <a:ext cx="2789072" cy="1435026"/>
            </a:xfrm>
            <a:custGeom>
              <a:avLst/>
              <a:gdLst/>
              <a:ahLst/>
              <a:cxnLst/>
              <a:rect l="l" t="t" r="r" b="b"/>
              <a:pathLst>
                <a:path w="2789072" h="1435026">
                  <a:moveTo>
                    <a:pt x="28003" y="0"/>
                  </a:moveTo>
                  <a:lnTo>
                    <a:pt x="2761069" y="0"/>
                  </a:lnTo>
                  <a:cubicBezTo>
                    <a:pt x="2768496" y="0"/>
                    <a:pt x="2775618" y="2950"/>
                    <a:pt x="2780870" y="8202"/>
                  </a:cubicBezTo>
                  <a:cubicBezTo>
                    <a:pt x="2786121" y="13454"/>
                    <a:pt x="2789072" y="20576"/>
                    <a:pt x="2789072" y="28003"/>
                  </a:cubicBezTo>
                  <a:lnTo>
                    <a:pt x="2789072" y="1407023"/>
                  </a:lnTo>
                  <a:cubicBezTo>
                    <a:pt x="2789072" y="1414450"/>
                    <a:pt x="2786121" y="1421572"/>
                    <a:pt x="2780870" y="1426824"/>
                  </a:cubicBezTo>
                  <a:cubicBezTo>
                    <a:pt x="2775618" y="1432076"/>
                    <a:pt x="2768496" y="1435026"/>
                    <a:pt x="2761069" y="1435026"/>
                  </a:cubicBezTo>
                  <a:lnTo>
                    <a:pt x="28003" y="1435026"/>
                  </a:lnTo>
                  <a:cubicBezTo>
                    <a:pt x="20576" y="1435026"/>
                    <a:pt x="13454" y="1432076"/>
                    <a:pt x="8202" y="1426824"/>
                  </a:cubicBezTo>
                  <a:cubicBezTo>
                    <a:pt x="2950" y="1421572"/>
                    <a:pt x="0" y="1414450"/>
                    <a:pt x="0" y="1407023"/>
                  </a:cubicBezTo>
                  <a:lnTo>
                    <a:pt x="0" y="28003"/>
                  </a:lnTo>
                  <a:cubicBezTo>
                    <a:pt x="0" y="20576"/>
                    <a:pt x="2950" y="13454"/>
                    <a:pt x="8202" y="8202"/>
                  </a:cubicBezTo>
                  <a:cubicBezTo>
                    <a:pt x="13454" y="2950"/>
                    <a:pt x="20576" y="0"/>
                    <a:pt x="28003" y="0"/>
                  </a:cubicBezTo>
                  <a:close/>
                </a:path>
              </a:pathLst>
            </a:custGeom>
            <a:solidFill>
              <a:srgbClr val="CADCD6">
                <a:alpha val="22745"/>
              </a:srgbClr>
            </a:solidFill>
          </p:spPr>
        </p:sp>
        <p:sp>
          <p:nvSpPr>
            <p:cNvPr id="5" name="TextBox 5"/>
            <p:cNvSpPr txBox="1"/>
            <p:nvPr/>
          </p:nvSpPr>
          <p:spPr>
            <a:xfrm>
              <a:off x="0" y="-47625"/>
              <a:ext cx="2789072" cy="1482651"/>
            </a:xfrm>
            <a:prstGeom prst="rect">
              <a:avLst/>
            </a:prstGeom>
          </p:spPr>
          <p:txBody>
            <a:bodyPr lIns="50800" tIns="50800" rIns="50800" bIns="50800" rtlCol="0" anchor="ctr"/>
            <a:lstStyle/>
            <a:p>
              <a:pPr algn="just">
                <a:lnSpc>
                  <a:spcPts val="3079"/>
                </a:lnSpc>
              </a:pPr>
              <a:endParaRPr/>
            </a:p>
          </p:txBody>
        </p:sp>
      </p:grpSp>
      <p:grpSp>
        <p:nvGrpSpPr>
          <p:cNvPr id="6" name="Group 6"/>
          <p:cNvGrpSpPr/>
          <p:nvPr/>
        </p:nvGrpSpPr>
        <p:grpSpPr>
          <a:xfrm>
            <a:off x="306179" y="3839664"/>
            <a:ext cx="176088" cy="2862415"/>
            <a:chOff x="0" y="0"/>
            <a:chExt cx="53831" cy="875058"/>
          </a:xfrm>
        </p:grpSpPr>
        <p:sp>
          <p:nvSpPr>
            <p:cNvPr id="7" name="Freeform 7"/>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sp>
        <p:sp>
          <p:nvSpPr>
            <p:cNvPr id="8" name="TextBox 8"/>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a:off x="9999131" y="1600511"/>
            <a:ext cx="7265554" cy="7242350"/>
            <a:chOff x="0" y="0"/>
            <a:chExt cx="5873157" cy="5854400"/>
          </a:xfrm>
        </p:grpSpPr>
        <p:sp>
          <p:nvSpPr>
            <p:cNvPr id="10" name="Freeform 10"/>
            <p:cNvSpPr/>
            <p:nvPr/>
          </p:nvSpPr>
          <p:spPr>
            <a:xfrm>
              <a:off x="0" y="0"/>
              <a:ext cx="5873157" cy="5854400"/>
            </a:xfrm>
            <a:custGeom>
              <a:avLst/>
              <a:gdLst/>
              <a:ahLst/>
              <a:cxnLst/>
              <a:rect l="l" t="t" r="r" b="b"/>
              <a:pathLst>
                <a:path w="5873157" h="5854400">
                  <a:moveTo>
                    <a:pt x="26639" y="0"/>
                  </a:moveTo>
                  <a:lnTo>
                    <a:pt x="5846518" y="0"/>
                  </a:lnTo>
                  <a:cubicBezTo>
                    <a:pt x="5861231" y="0"/>
                    <a:pt x="5873157" y="11927"/>
                    <a:pt x="5873157" y="26639"/>
                  </a:cubicBezTo>
                  <a:lnTo>
                    <a:pt x="5873157" y="5827761"/>
                  </a:lnTo>
                  <a:cubicBezTo>
                    <a:pt x="5873157" y="5842473"/>
                    <a:pt x="5861231" y="5854400"/>
                    <a:pt x="5846518" y="5854400"/>
                  </a:cubicBezTo>
                  <a:lnTo>
                    <a:pt x="26639" y="5854400"/>
                  </a:lnTo>
                  <a:cubicBezTo>
                    <a:pt x="11927" y="5854400"/>
                    <a:pt x="0" y="5842473"/>
                    <a:pt x="0" y="5827761"/>
                  </a:cubicBezTo>
                  <a:lnTo>
                    <a:pt x="0" y="26639"/>
                  </a:lnTo>
                  <a:cubicBezTo>
                    <a:pt x="0" y="11927"/>
                    <a:pt x="11927" y="0"/>
                    <a:pt x="26639" y="0"/>
                  </a:cubicBezTo>
                  <a:close/>
                </a:path>
              </a:pathLst>
            </a:custGeom>
            <a:solidFill>
              <a:srgbClr val="408789"/>
            </a:solidFill>
          </p:spPr>
        </p:sp>
        <p:sp>
          <p:nvSpPr>
            <p:cNvPr id="11" name="TextBox 11"/>
            <p:cNvSpPr txBox="1"/>
            <p:nvPr/>
          </p:nvSpPr>
          <p:spPr>
            <a:xfrm>
              <a:off x="0" y="-47625"/>
              <a:ext cx="5873157" cy="5902025"/>
            </a:xfrm>
            <a:prstGeom prst="rect">
              <a:avLst/>
            </a:prstGeom>
          </p:spPr>
          <p:txBody>
            <a:bodyPr lIns="50800" tIns="50800" rIns="50800" bIns="50800" rtlCol="0" anchor="ctr"/>
            <a:lstStyle/>
            <a:p>
              <a:pPr algn="ctr">
                <a:lnSpc>
                  <a:spcPts val="3079"/>
                </a:lnSpc>
              </a:pPr>
              <a:endParaRPr/>
            </a:p>
          </p:txBody>
        </p:sp>
      </p:grpSp>
      <p:sp>
        <p:nvSpPr>
          <p:cNvPr id="12" name="Freeform 12"/>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13" name="AutoShape 1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14" name="Freeform 14"/>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15" name="Freeform 15"/>
          <p:cNvSpPr/>
          <p:nvPr/>
        </p:nvSpPr>
        <p:spPr>
          <a:xfrm>
            <a:off x="10193812" y="1154720"/>
            <a:ext cx="7485452" cy="7977559"/>
          </a:xfrm>
          <a:custGeom>
            <a:avLst/>
            <a:gdLst/>
            <a:ahLst/>
            <a:cxnLst/>
            <a:rect l="l" t="t" r="r" b="b"/>
            <a:pathLst>
              <a:path w="7485452" h="7977559">
                <a:moveTo>
                  <a:pt x="0" y="0"/>
                </a:moveTo>
                <a:lnTo>
                  <a:pt x="7485453" y="0"/>
                </a:lnTo>
                <a:lnTo>
                  <a:pt x="7485453" y="7977560"/>
                </a:lnTo>
                <a:lnTo>
                  <a:pt x="0" y="7977560"/>
                </a:lnTo>
                <a:lnTo>
                  <a:pt x="0" y="0"/>
                </a:lnTo>
                <a:close/>
              </a:path>
            </a:pathLst>
          </a:custGeom>
          <a:blipFill>
            <a:blip r:embed="rId7"/>
            <a:stretch>
              <a:fillRect r="-4575"/>
            </a:stretch>
          </a:blipFill>
        </p:spPr>
      </p:sp>
      <p:sp>
        <p:nvSpPr>
          <p:cNvPr id="16" name="TextBox 16"/>
          <p:cNvSpPr txBox="1"/>
          <p:nvPr/>
        </p:nvSpPr>
        <p:spPr>
          <a:xfrm>
            <a:off x="3233858" y="131391"/>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CÁCH TÍCH HỢP VÀO ỨNG DỤNG</a:t>
            </a:r>
          </a:p>
        </p:txBody>
      </p:sp>
      <p:sp>
        <p:nvSpPr>
          <p:cNvPr id="17" name="TextBox 1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15</a:t>
            </a:r>
          </a:p>
        </p:txBody>
      </p:sp>
      <p:sp>
        <p:nvSpPr>
          <p:cNvPr id="18" name="TextBox 18"/>
          <p:cNvSpPr txBox="1"/>
          <p:nvPr/>
        </p:nvSpPr>
        <p:spPr>
          <a:xfrm>
            <a:off x="1028700" y="3330003"/>
            <a:ext cx="7935670" cy="3786487"/>
          </a:xfrm>
          <a:prstGeom prst="rect">
            <a:avLst/>
          </a:prstGeom>
        </p:spPr>
        <p:txBody>
          <a:bodyPr lIns="0" tIns="0" rIns="0" bIns="0" rtlCol="0" anchor="t">
            <a:spAutoFit/>
          </a:bodyPr>
          <a:lstStyle/>
          <a:p>
            <a:pPr algn="just">
              <a:lnSpc>
                <a:spcPts val="4300"/>
              </a:lnSpc>
              <a:spcBef>
                <a:spcPct val="0"/>
              </a:spcBef>
            </a:pPr>
            <a:r>
              <a:rPr lang="en-US" sz="2867" b="1">
                <a:solidFill>
                  <a:srgbClr val="000000"/>
                </a:solidFill>
                <a:latin typeface="Rokkitt Bold"/>
                <a:ea typeface="Rokkitt Bold"/>
                <a:cs typeface="Rokkitt Bold"/>
                <a:sym typeface="Rokkitt Bold"/>
              </a:rPr>
              <a:t>Luồng hoạt động (Architecture</a:t>
            </a:r>
            <a:r>
              <a:rPr lang="en-US" sz="2867" b="1" u="none" strike="noStrike">
                <a:solidFill>
                  <a:srgbClr val="000000"/>
                </a:solidFill>
                <a:latin typeface="Rokkitt Bold"/>
                <a:ea typeface="Rokkitt Bold"/>
                <a:cs typeface="Rokkitt Bold"/>
                <a:sym typeface="Rokkitt Bold"/>
              </a:rPr>
              <a:t> Flow)</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App → ML Kit → AICore → Gemini Nano (NPU) → App</a:t>
            </a:r>
          </a:p>
          <a:p>
            <a:pPr algn="just">
              <a:lnSpc>
                <a:spcPts val="4300"/>
              </a:lnSpc>
              <a:spcBef>
                <a:spcPct val="0"/>
              </a:spcBef>
            </a:pPr>
            <a:r>
              <a:rPr lang="en-US" sz="2867" b="1" u="none" strike="noStrike">
                <a:solidFill>
                  <a:srgbClr val="000000"/>
                </a:solidFill>
                <a:latin typeface="Rokkitt Bold"/>
                <a:ea typeface="Rokkitt Bold"/>
                <a:cs typeface="Rokkitt Bold"/>
                <a:sym typeface="Rokkitt Bold"/>
              </a:rPr>
              <a:t>Chiến lược triển khai (Implementation Strategy)</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Dùng ML Kit Prompt API (Công cụ mới nhất).</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Luôn kiểm tra trạng thái thiết bị (checkStatus).</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Logic Fallback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rot="5400000">
            <a:off x="1819116" y="1450239"/>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rot="5400000">
            <a:off x="1819116" y="3685715"/>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rot="5400000">
            <a:off x="1819116" y="5362796"/>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3259321" y="1479261"/>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Hiệu năng</a:t>
            </a:r>
          </a:p>
        </p:txBody>
      </p:sp>
      <p:sp>
        <p:nvSpPr>
          <p:cNvPr id="9" name="TextBox 9"/>
          <p:cNvSpPr txBox="1"/>
          <p:nvPr/>
        </p:nvSpPr>
        <p:spPr>
          <a:xfrm>
            <a:off x="3259321" y="1930836"/>
            <a:ext cx="13999979" cy="1560195"/>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Gemini Nano "nhẹ cân" hơn Gemini Pro/Flash rất nhiều.</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Thích hợp cho: Tóm tắt ngắn, gợi ý, viết lại, phân loại (tasks ngắn).</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Không phù hợp: Suy luận logic phức tạp, viết văn dài, hoặc cần kiến thức sâu rộng.</a:t>
            </a:r>
          </a:p>
        </p:txBody>
      </p:sp>
      <p:sp>
        <p:nvSpPr>
          <p:cNvPr id="10" name="TextBox 10"/>
          <p:cNvSpPr txBox="1"/>
          <p:nvPr/>
        </p:nvSpPr>
        <p:spPr>
          <a:xfrm>
            <a:off x="3259321" y="3771083"/>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Đa phương thức</a:t>
            </a:r>
          </a:p>
        </p:txBody>
      </p:sp>
      <p:sp>
        <p:nvSpPr>
          <p:cNvPr id="11" name="TextBox 11"/>
          <p:cNvSpPr txBox="1"/>
          <p:nvPr/>
        </p:nvSpPr>
        <p:spPr>
          <a:xfrm>
            <a:off x="3259321" y="4222658"/>
            <a:ext cx="13512780"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Hỗ trợ tốt nhất là Văn bản.</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Khả năng xử lý hình ảnh (Image Input) có hỗ trợ nhưng còn hạn chế so với bản Cloud.</a:t>
            </a:r>
          </a:p>
        </p:txBody>
      </p:sp>
      <p:sp>
        <p:nvSpPr>
          <p:cNvPr id="12" name="TextBox 12"/>
          <p:cNvSpPr txBox="1"/>
          <p:nvPr/>
        </p:nvSpPr>
        <p:spPr>
          <a:xfrm>
            <a:off x="3259321" y="5366106"/>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Phân mảnh</a:t>
            </a:r>
          </a:p>
        </p:txBody>
      </p:sp>
      <p:sp>
        <p:nvSpPr>
          <p:cNvPr id="13" name="TextBox 13"/>
          <p:cNvSpPr txBox="1"/>
          <p:nvPr/>
        </p:nvSpPr>
        <p:spPr>
          <a:xfrm>
            <a:off x="3259321" y="5817681"/>
            <a:ext cx="13999979" cy="1560195"/>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Không phải máy Android 14 nào cũng có AICore (Chủ yếu là Pixel 8/9, Galaxy S24/S25...).</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Bắt buộc: Luôn phải chuẩn bị phương án dự phòng (Fallback) nếu muốn app chạy trên mọi thiết bị.</a:t>
            </a:r>
          </a:p>
        </p:txBody>
      </p:sp>
      <p:sp>
        <p:nvSpPr>
          <p:cNvPr id="14" name="TextBox 14"/>
          <p:cNvSpPr txBox="1"/>
          <p:nvPr/>
        </p:nvSpPr>
        <p:spPr>
          <a:xfrm>
            <a:off x="2154049" y="1603380"/>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5" name="TextBox 15"/>
          <p:cNvSpPr txBox="1"/>
          <p:nvPr/>
        </p:nvSpPr>
        <p:spPr>
          <a:xfrm>
            <a:off x="2154049" y="3838856"/>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6" name="TextBox 16"/>
          <p:cNvSpPr txBox="1"/>
          <p:nvPr/>
        </p:nvSpPr>
        <p:spPr>
          <a:xfrm>
            <a:off x="2154049" y="5515937"/>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7" name="TextBox 17"/>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16</a:t>
            </a:r>
          </a:p>
        </p:txBody>
      </p:sp>
      <p:sp>
        <p:nvSpPr>
          <p:cNvPr id="18" name="TextBox 18"/>
          <p:cNvSpPr txBox="1"/>
          <p:nvPr/>
        </p:nvSpPr>
        <p:spPr>
          <a:xfrm>
            <a:off x="6484246" y="471622"/>
            <a:ext cx="5319509"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GIỚI HẠN THỰC TẾ</a:t>
            </a:r>
          </a:p>
        </p:txBody>
      </p:sp>
      <p:grpSp>
        <p:nvGrpSpPr>
          <p:cNvPr id="19" name="Group 19"/>
          <p:cNvGrpSpPr/>
          <p:nvPr/>
        </p:nvGrpSpPr>
        <p:grpSpPr>
          <a:xfrm>
            <a:off x="1913408" y="7539801"/>
            <a:ext cx="15345892" cy="1564286"/>
            <a:chOff x="0" y="0"/>
            <a:chExt cx="4691332" cy="478212"/>
          </a:xfrm>
        </p:grpSpPr>
        <p:sp>
          <p:nvSpPr>
            <p:cNvPr id="20" name="Freeform 20"/>
            <p:cNvSpPr/>
            <p:nvPr/>
          </p:nvSpPr>
          <p:spPr>
            <a:xfrm>
              <a:off x="0" y="0"/>
              <a:ext cx="4691332" cy="478212"/>
            </a:xfrm>
            <a:custGeom>
              <a:avLst/>
              <a:gdLst/>
              <a:ahLst/>
              <a:cxnLst/>
              <a:rect l="l" t="t" r="r" b="b"/>
              <a:pathLst>
                <a:path w="4691332" h="478212">
                  <a:moveTo>
                    <a:pt x="16648" y="0"/>
                  </a:moveTo>
                  <a:lnTo>
                    <a:pt x="4674684" y="0"/>
                  </a:lnTo>
                  <a:cubicBezTo>
                    <a:pt x="4679099" y="0"/>
                    <a:pt x="4683334" y="1754"/>
                    <a:pt x="4686456" y="4876"/>
                  </a:cubicBezTo>
                  <a:cubicBezTo>
                    <a:pt x="4689578" y="7998"/>
                    <a:pt x="4691332" y="12233"/>
                    <a:pt x="4691332" y="16648"/>
                  </a:cubicBezTo>
                  <a:lnTo>
                    <a:pt x="4691332" y="461563"/>
                  </a:lnTo>
                  <a:cubicBezTo>
                    <a:pt x="4691332" y="470758"/>
                    <a:pt x="4683878" y="478212"/>
                    <a:pt x="4674684" y="478212"/>
                  </a:cubicBezTo>
                  <a:lnTo>
                    <a:pt x="16648" y="478212"/>
                  </a:lnTo>
                  <a:cubicBezTo>
                    <a:pt x="7454" y="478212"/>
                    <a:pt x="0" y="470758"/>
                    <a:pt x="0" y="461563"/>
                  </a:cubicBezTo>
                  <a:lnTo>
                    <a:pt x="0" y="16648"/>
                  </a:lnTo>
                  <a:cubicBezTo>
                    <a:pt x="0" y="7454"/>
                    <a:pt x="7454" y="0"/>
                    <a:pt x="16648" y="0"/>
                  </a:cubicBezTo>
                  <a:close/>
                </a:path>
              </a:pathLst>
            </a:custGeom>
            <a:solidFill>
              <a:srgbClr val="CADCD6">
                <a:alpha val="22745"/>
              </a:srgbClr>
            </a:solidFill>
          </p:spPr>
        </p:sp>
        <p:sp>
          <p:nvSpPr>
            <p:cNvPr id="21" name="TextBox 21"/>
            <p:cNvSpPr txBox="1"/>
            <p:nvPr/>
          </p:nvSpPr>
          <p:spPr>
            <a:xfrm>
              <a:off x="0" y="-47625"/>
              <a:ext cx="4691332" cy="525837"/>
            </a:xfrm>
            <a:prstGeom prst="rect">
              <a:avLst/>
            </a:prstGeom>
          </p:spPr>
          <p:txBody>
            <a:bodyPr lIns="50800" tIns="50800" rIns="50800" bIns="50800" rtlCol="0" anchor="ctr"/>
            <a:lstStyle/>
            <a:p>
              <a:pPr algn="just">
                <a:lnSpc>
                  <a:spcPts val="3079"/>
                </a:lnSpc>
              </a:pPr>
              <a:endParaRPr/>
            </a:p>
          </p:txBody>
        </p:sp>
      </p:grpSp>
      <p:sp>
        <p:nvSpPr>
          <p:cNvPr id="22" name="TextBox 22"/>
          <p:cNvSpPr txBox="1"/>
          <p:nvPr/>
        </p:nvSpPr>
        <p:spPr>
          <a:xfrm>
            <a:off x="2453015" y="7720776"/>
            <a:ext cx="14533868" cy="1106152"/>
          </a:xfrm>
          <a:prstGeom prst="rect">
            <a:avLst/>
          </a:prstGeom>
        </p:spPr>
        <p:txBody>
          <a:bodyPr lIns="0" tIns="0" rIns="0" bIns="0" rtlCol="0" anchor="t">
            <a:spAutoFit/>
          </a:bodyPr>
          <a:lstStyle/>
          <a:p>
            <a:pPr algn="just">
              <a:lnSpc>
                <a:spcPts val="4450"/>
              </a:lnSpc>
            </a:pPr>
            <a:r>
              <a:rPr lang="en-US" sz="2967" b="1">
                <a:solidFill>
                  <a:srgbClr val="235A5B"/>
                </a:solidFill>
                <a:latin typeface="Rokkitt Bold"/>
                <a:ea typeface="Rokkitt Bold"/>
                <a:cs typeface="Rokkitt Bold"/>
                <a:sym typeface="Rokkitt Bold"/>
              </a:rPr>
              <a:t>Nano rất mạn</a:t>
            </a:r>
            <a:r>
              <a:rPr lang="en-US" sz="2967" b="1" u="none" strike="noStrike">
                <a:solidFill>
                  <a:srgbClr val="235A5B"/>
                </a:solidFill>
                <a:latin typeface="Rokkitt Bold"/>
                <a:ea typeface="Rokkitt Bold"/>
                <a:cs typeface="Rokkitt Bold"/>
                <a:sym typeface="Rokkitt Bold"/>
              </a:rPr>
              <a:t>h nhưng không thay thế Cloud. Chúng ta chỉ xem nó như lựa chọn tối ưu cho tác vụ nhẹ, tốc độ cao, và offline.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rot="5400000">
            <a:off x="1948270" y="1678840"/>
            <a:ext cx="1267798" cy="1079213"/>
          </a:xfrm>
          <a:custGeom>
            <a:avLst/>
            <a:gdLst/>
            <a:ahLst/>
            <a:cxnLst/>
            <a:rect l="l" t="t" r="r" b="b"/>
            <a:pathLst>
              <a:path w="1267798" h="1079213">
                <a:moveTo>
                  <a:pt x="0" y="0"/>
                </a:moveTo>
                <a:lnTo>
                  <a:pt x="1267798" y="0"/>
                </a:lnTo>
                <a:lnTo>
                  <a:pt x="1267798"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rot="5400000">
            <a:off x="1948270" y="6123811"/>
            <a:ext cx="1267798" cy="1079213"/>
          </a:xfrm>
          <a:custGeom>
            <a:avLst/>
            <a:gdLst/>
            <a:ahLst/>
            <a:cxnLst/>
            <a:rect l="l" t="t" r="r" b="b"/>
            <a:pathLst>
              <a:path w="1267798" h="1079213">
                <a:moveTo>
                  <a:pt x="0" y="0"/>
                </a:moveTo>
                <a:lnTo>
                  <a:pt x="1267798" y="0"/>
                </a:lnTo>
                <a:lnTo>
                  <a:pt x="1267798" y="1079213"/>
                </a:lnTo>
                <a:lnTo>
                  <a:pt x="0" y="107921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TextBox 7"/>
          <p:cNvSpPr txBox="1"/>
          <p:nvPr/>
        </p:nvSpPr>
        <p:spPr>
          <a:xfrm>
            <a:off x="3322920" y="1673080"/>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Định nghĩa</a:t>
            </a:r>
          </a:p>
        </p:txBody>
      </p:sp>
      <p:sp>
        <p:nvSpPr>
          <p:cNvPr id="8" name="TextBox 8"/>
          <p:cNvSpPr txBox="1"/>
          <p:nvPr/>
        </p:nvSpPr>
        <p:spPr>
          <a:xfrm>
            <a:off x="3121775" y="2239500"/>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Giao diện kỹ thuật (API) giúp ứng dụng kết nối tới một mô hình ngôn ngữ lớn (LLM) chạy trên cloud mà không cần tự build AI.</a:t>
            </a:r>
          </a:p>
        </p:txBody>
      </p:sp>
      <p:sp>
        <p:nvSpPr>
          <p:cNvPr id="9" name="TextBox 9"/>
          <p:cNvSpPr txBox="1"/>
          <p:nvPr/>
        </p:nvSpPr>
        <p:spPr>
          <a:xfrm>
            <a:off x="3259321" y="6213553"/>
            <a:ext cx="9239620"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Cách lấy API key của một model nào đó</a:t>
            </a:r>
          </a:p>
        </p:txBody>
      </p:sp>
      <p:sp>
        <p:nvSpPr>
          <p:cNvPr id="10" name="TextBox 10"/>
          <p:cNvSpPr txBox="1"/>
          <p:nvPr/>
        </p:nvSpPr>
        <p:spPr>
          <a:xfrm>
            <a:off x="3259321" y="6665129"/>
            <a:ext cx="13512780" cy="208407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Vào trang dành cho Lập trình viên (platform.openai.com/....)</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Đăng ký &amp; Cài đặt thanh toán (nếu có)</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Tìm mục "API Keys" hoặc các mục tương ứng để tìm</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Copy và lưu trữ key.</a:t>
            </a:r>
          </a:p>
        </p:txBody>
      </p:sp>
      <p:sp>
        <p:nvSpPr>
          <p:cNvPr id="11" name="TextBox 11"/>
          <p:cNvSpPr txBox="1"/>
          <p:nvPr/>
        </p:nvSpPr>
        <p:spPr>
          <a:xfrm>
            <a:off x="2283203" y="1831981"/>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2" name="TextBox 12"/>
          <p:cNvSpPr txBox="1"/>
          <p:nvPr/>
        </p:nvSpPr>
        <p:spPr>
          <a:xfrm>
            <a:off x="2283203" y="6276952"/>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3" name="TextBox 13"/>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17</a:t>
            </a:r>
          </a:p>
        </p:txBody>
      </p:sp>
      <p:sp>
        <p:nvSpPr>
          <p:cNvPr id="14" name="TextBox 14"/>
          <p:cNvSpPr txBox="1"/>
          <p:nvPr/>
        </p:nvSpPr>
        <p:spPr>
          <a:xfrm>
            <a:off x="6484246" y="471622"/>
            <a:ext cx="6440172"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TỔNG QUAN VỀ LLM API</a:t>
            </a:r>
          </a:p>
        </p:txBody>
      </p:sp>
      <p:sp>
        <p:nvSpPr>
          <p:cNvPr id="15" name="Freeform 15"/>
          <p:cNvSpPr/>
          <p:nvPr/>
        </p:nvSpPr>
        <p:spPr>
          <a:xfrm rot="5400000">
            <a:off x="1948270" y="3785596"/>
            <a:ext cx="1267798" cy="1079213"/>
          </a:xfrm>
          <a:custGeom>
            <a:avLst/>
            <a:gdLst/>
            <a:ahLst/>
            <a:cxnLst/>
            <a:rect l="l" t="t" r="r" b="b"/>
            <a:pathLst>
              <a:path w="1267798" h="1079213">
                <a:moveTo>
                  <a:pt x="0" y="0"/>
                </a:moveTo>
                <a:lnTo>
                  <a:pt x="1267798" y="0"/>
                </a:lnTo>
                <a:lnTo>
                  <a:pt x="1267798"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16" name="TextBox 16"/>
          <p:cNvSpPr txBox="1"/>
          <p:nvPr/>
        </p:nvSpPr>
        <p:spPr>
          <a:xfrm>
            <a:off x="3259321" y="3836228"/>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Cơ chế hoạt động</a:t>
            </a:r>
          </a:p>
        </p:txBody>
      </p:sp>
      <p:sp>
        <p:nvSpPr>
          <p:cNvPr id="17" name="TextBox 17"/>
          <p:cNvSpPr txBox="1"/>
          <p:nvPr/>
        </p:nvSpPr>
        <p:spPr>
          <a:xfrm>
            <a:off x="3121775" y="4459798"/>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Quy trình: Text -&gt; Tokenization -&gt; Transformer-&gt; Output</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Bản chất: LLM là máy dự đoán từ tiếp theo</a:t>
            </a:r>
          </a:p>
        </p:txBody>
      </p:sp>
      <p:sp>
        <p:nvSpPr>
          <p:cNvPr id="18" name="TextBox 18"/>
          <p:cNvSpPr txBox="1"/>
          <p:nvPr/>
        </p:nvSpPr>
        <p:spPr>
          <a:xfrm>
            <a:off x="2283203" y="387350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rot="-1250150">
            <a:off x="-735203" y="8921334"/>
            <a:ext cx="1470407" cy="1673294"/>
          </a:xfrm>
          <a:custGeom>
            <a:avLst/>
            <a:gdLst/>
            <a:ahLst/>
            <a:cxnLst/>
            <a:rect l="l" t="t" r="r" b="b"/>
            <a:pathLst>
              <a:path w="1470407" h="1673294">
                <a:moveTo>
                  <a:pt x="0" y="0"/>
                </a:moveTo>
                <a:lnTo>
                  <a:pt x="1470406" y="0"/>
                </a:lnTo>
                <a:lnTo>
                  <a:pt x="1470406" y="1673293"/>
                </a:lnTo>
                <a:lnTo>
                  <a:pt x="0" y="16732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1250150">
            <a:off x="18015095" y="795303"/>
            <a:ext cx="1470407" cy="1673294"/>
          </a:xfrm>
          <a:custGeom>
            <a:avLst/>
            <a:gdLst/>
            <a:ahLst/>
            <a:cxnLst/>
            <a:rect l="l" t="t" r="r" b="b"/>
            <a:pathLst>
              <a:path w="1470407" h="1673294">
                <a:moveTo>
                  <a:pt x="0" y="0"/>
                </a:moveTo>
                <a:lnTo>
                  <a:pt x="1470407" y="0"/>
                </a:lnTo>
                <a:lnTo>
                  <a:pt x="1470407" y="1673294"/>
                </a:lnTo>
                <a:lnTo>
                  <a:pt x="0" y="16732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844949" y="5040162"/>
            <a:ext cx="5443463" cy="432436"/>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Đị</a:t>
            </a:r>
            <a:r>
              <a:rPr lang="en-US" sz="2399" u="none" strike="noStrike">
                <a:solidFill>
                  <a:srgbClr val="2B2B2B"/>
                </a:solidFill>
                <a:latin typeface="Rokkitt"/>
                <a:ea typeface="Rokkitt"/>
                <a:cs typeface="Rokkitt"/>
                <a:sym typeface="Rokkitt"/>
              </a:rPr>
              <a:t>nh nghĩa vai trò và chuyên môn của AI</a:t>
            </a:r>
          </a:p>
        </p:txBody>
      </p:sp>
      <p:sp>
        <p:nvSpPr>
          <p:cNvPr id="7" name="TextBox 7"/>
          <p:cNvSpPr txBox="1"/>
          <p:nvPr/>
        </p:nvSpPr>
        <p:spPr>
          <a:xfrm>
            <a:off x="6698727" y="5040162"/>
            <a:ext cx="5418144"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C</a:t>
            </a:r>
            <a:r>
              <a:rPr lang="en-US" sz="2399" u="none" strike="noStrike">
                <a:solidFill>
                  <a:srgbClr val="2B2B2B"/>
                </a:solidFill>
                <a:latin typeface="Rokkitt"/>
                <a:ea typeface="Rokkitt"/>
                <a:cs typeface="Rokkitt"/>
                <a:sym typeface="Rokkitt"/>
              </a:rPr>
              <a:t>ung cấp thông tin nền, dữ liệu hoặc tình huống cụ thể làm cơ sở cho câu trả lời.</a:t>
            </a:r>
          </a:p>
        </p:txBody>
      </p:sp>
      <p:sp>
        <p:nvSpPr>
          <p:cNvPr id="8" name="TextBox 8"/>
          <p:cNvSpPr txBox="1"/>
          <p:nvPr/>
        </p:nvSpPr>
        <p:spPr>
          <a:xfrm>
            <a:off x="12626304" y="5046254"/>
            <a:ext cx="4952617"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Liệt kê các</a:t>
            </a:r>
            <a:r>
              <a:rPr lang="en-US" sz="2399" u="none" strike="noStrike">
                <a:solidFill>
                  <a:srgbClr val="2B2B2B"/>
                </a:solidFill>
                <a:latin typeface="Rokkitt"/>
                <a:ea typeface="Rokkitt"/>
                <a:cs typeface="Rokkitt"/>
                <a:sym typeface="Rokkitt"/>
              </a:rPr>
              <a:t> bước thực hiện tuần tự và các ràng buộc</a:t>
            </a:r>
          </a:p>
        </p:txBody>
      </p:sp>
      <p:sp>
        <p:nvSpPr>
          <p:cNvPr id="9" name="TextBox 9"/>
          <p:cNvSpPr txBox="1"/>
          <p:nvPr/>
        </p:nvSpPr>
        <p:spPr>
          <a:xfrm>
            <a:off x="6740139" y="7653456"/>
            <a:ext cx="5418144"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Cung cấp ví dụ</a:t>
            </a:r>
            <a:r>
              <a:rPr lang="en-US" sz="2399" u="none" strike="noStrike">
                <a:solidFill>
                  <a:srgbClr val="2B2B2B"/>
                </a:solidFill>
                <a:latin typeface="Rokkitt"/>
                <a:ea typeface="Rokkitt"/>
                <a:cs typeface="Rokkitt"/>
                <a:sym typeface="Rokkitt"/>
              </a:rPr>
              <a:t> mẫu về đầu vào và đầu ra để định hướng phong cách.</a:t>
            </a:r>
          </a:p>
        </p:txBody>
      </p:sp>
      <p:sp>
        <p:nvSpPr>
          <p:cNvPr id="10" name="TextBox 10"/>
          <p:cNvSpPr txBox="1"/>
          <p:nvPr/>
        </p:nvSpPr>
        <p:spPr>
          <a:xfrm>
            <a:off x="1057484" y="7593946"/>
            <a:ext cx="5272340"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Yêu</a:t>
            </a:r>
            <a:r>
              <a:rPr lang="en-US" sz="2399" u="none" strike="noStrike">
                <a:solidFill>
                  <a:srgbClr val="2B2B2B"/>
                </a:solidFill>
                <a:latin typeface="Rokkitt"/>
                <a:ea typeface="Rokkitt"/>
                <a:cs typeface="Rokkitt"/>
                <a:sym typeface="Rokkitt"/>
              </a:rPr>
              <a:t> cầu định dạng đầu ra máy có thể đọc được như JSON, XML,..</a:t>
            </a:r>
          </a:p>
        </p:txBody>
      </p:sp>
      <p:grpSp>
        <p:nvGrpSpPr>
          <p:cNvPr id="11" name="Group 11"/>
          <p:cNvGrpSpPr/>
          <p:nvPr/>
        </p:nvGrpSpPr>
        <p:grpSpPr>
          <a:xfrm rot="-10800000">
            <a:off x="1129407" y="3844127"/>
            <a:ext cx="4322742" cy="1049727"/>
            <a:chOff x="0" y="0"/>
            <a:chExt cx="1305842" cy="317108"/>
          </a:xfrm>
        </p:grpSpPr>
        <p:sp>
          <p:nvSpPr>
            <p:cNvPr id="12" name="Freeform 12"/>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sp>
        <p:sp>
          <p:nvSpPr>
            <p:cNvPr id="13" name="TextBox 13"/>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14" name="Group 14"/>
          <p:cNvGrpSpPr/>
          <p:nvPr/>
        </p:nvGrpSpPr>
        <p:grpSpPr>
          <a:xfrm rot="-10800000">
            <a:off x="604543" y="3844127"/>
            <a:ext cx="1049727" cy="104972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sp>
        <p:sp>
          <p:nvSpPr>
            <p:cNvPr id="16" name="TextBox 16"/>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17" name="Group 17"/>
          <p:cNvGrpSpPr/>
          <p:nvPr/>
        </p:nvGrpSpPr>
        <p:grpSpPr>
          <a:xfrm rot="-10800000">
            <a:off x="720530" y="3960113"/>
            <a:ext cx="817755" cy="81775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sp>
        <p:sp>
          <p:nvSpPr>
            <p:cNvPr id="19" name="TextBox 19"/>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20" name="Group 20"/>
          <p:cNvGrpSpPr/>
          <p:nvPr/>
        </p:nvGrpSpPr>
        <p:grpSpPr>
          <a:xfrm>
            <a:off x="4681144" y="3844127"/>
            <a:ext cx="1776052" cy="1049727"/>
            <a:chOff x="0" y="0"/>
            <a:chExt cx="536521" cy="317108"/>
          </a:xfrm>
        </p:grpSpPr>
        <p:sp>
          <p:nvSpPr>
            <p:cNvPr id="21" name="Freeform 21"/>
            <p:cNvSpPr/>
            <p:nvPr/>
          </p:nvSpPr>
          <p:spPr>
            <a:xfrm>
              <a:off x="0" y="0"/>
              <a:ext cx="536521" cy="317108"/>
            </a:xfrm>
            <a:custGeom>
              <a:avLst/>
              <a:gdLst/>
              <a:ahLst/>
              <a:cxnLst/>
              <a:rect l="l" t="t" r="r" b="b"/>
              <a:pathLst>
                <a:path w="536521" h="317108">
                  <a:moveTo>
                    <a:pt x="203200" y="0"/>
                  </a:moveTo>
                  <a:lnTo>
                    <a:pt x="536521" y="0"/>
                  </a:lnTo>
                  <a:lnTo>
                    <a:pt x="333321" y="317108"/>
                  </a:lnTo>
                  <a:lnTo>
                    <a:pt x="0" y="317108"/>
                  </a:lnTo>
                  <a:lnTo>
                    <a:pt x="203200" y="0"/>
                  </a:lnTo>
                  <a:close/>
                </a:path>
              </a:pathLst>
            </a:custGeom>
            <a:solidFill>
              <a:srgbClr val="639C9D"/>
            </a:solidFill>
          </p:spPr>
        </p:sp>
        <p:sp>
          <p:nvSpPr>
            <p:cNvPr id="22" name="TextBox 22"/>
            <p:cNvSpPr txBox="1"/>
            <p:nvPr/>
          </p:nvSpPr>
          <p:spPr>
            <a:xfrm>
              <a:off x="101600" y="-47625"/>
              <a:ext cx="333321" cy="364733"/>
            </a:xfrm>
            <a:prstGeom prst="rect">
              <a:avLst/>
            </a:prstGeom>
          </p:spPr>
          <p:txBody>
            <a:bodyPr lIns="50800" tIns="50800" rIns="50800" bIns="50800" rtlCol="0" anchor="ctr"/>
            <a:lstStyle/>
            <a:p>
              <a:pPr algn="ctr">
                <a:lnSpc>
                  <a:spcPts val="3079"/>
                </a:lnSpc>
              </a:pPr>
              <a:endParaRPr/>
            </a:p>
          </p:txBody>
        </p:sp>
      </p:grpSp>
      <p:sp>
        <p:nvSpPr>
          <p:cNvPr id="23" name="TextBox 23"/>
          <p:cNvSpPr txBox="1"/>
          <p:nvPr/>
        </p:nvSpPr>
        <p:spPr>
          <a:xfrm>
            <a:off x="1643431" y="3824795"/>
            <a:ext cx="3037712" cy="1021715"/>
          </a:xfrm>
          <a:prstGeom prst="rect">
            <a:avLst/>
          </a:prstGeom>
        </p:spPr>
        <p:txBody>
          <a:bodyPr lIns="0" tIns="0" rIns="0" bIns="0" rtlCol="0" anchor="t">
            <a:spAutoFit/>
          </a:bodyPr>
          <a:lstStyle/>
          <a:p>
            <a:pPr algn="l">
              <a:lnSpc>
                <a:spcPts val="4060"/>
              </a:lnSpc>
            </a:pPr>
            <a:r>
              <a:rPr lang="en-US" sz="2900" b="1" spc="92">
                <a:solidFill>
                  <a:srgbClr val="F0F0F3"/>
                </a:solidFill>
                <a:latin typeface="Rokkitt Bold"/>
                <a:ea typeface="Rokkitt Bold"/>
                <a:cs typeface="Rokkitt Bold"/>
                <a:sym typeface="Rokkitt Bold"/>
              </a:rPr>
              <a:t>&lt;OBJECTIVE_</a:t>
            </a:r>
          </a:p>
          <a:p>
            <a:pPr marL="0" lvl="1" indent="0" algn="l">
              <a:lnSpc>
                <a:spcPts val="4060"/>
              </a:lnSpc>
              <a:spcBef>
                <a:spcPct val="0"/>
              </a:spcBef>
            </a:pPr>
            <a:r>
              <a:rPr lang="en-US" sz="2900" b="1" spc="92">
                <a:solidFill>
                  <a:srgbClr val="F0F0F3"/>
                </a:solidFill>
                <a:latin typeface="Rokkitt Bold"/>
                <a:ea typeface="Rokkitt Bold"/>
                <a:cs typeface="Rokkitt Bold"/>
                <a:sym typeface="Rokkitt Bold"/>
              </a:rPr>
              <a:t>AND_PERSONA&gt;</a:t>
            </a:r>
          </a:p>
        </p:txBody>
      </p:sp>
      <p:sp>
        <p:nvSpPr>
          <p:cNvPr id="24" name="TextBox 24"/>
          <p:cNvSpPr txBox="1"/>
          <p:nvPr/>
        </p:nvSpPr>
        <p:spPr>
          <a:xfrm>
            <a:off x="844949" y="4125785"/>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01</a:t>
            </a:r>
          </a:p>
        </p:txBody>
      </p:sp>
      <p:grpSp>
        <p:nvGrpSpPr>
          <p:cNvPr id="25" name="Group 25"/>
          <p:cNvGrpSpPr/>
          <p:nvPr/>
        </p:nvGrpSpPr>
        <p:grpSpPr>
          <a:xfrm rot="-10800000">
            <a:off x="1170819" y="6401344"/>
            <a:ext cx="4322742" cy="1049727"/>
            <a:chOff x="0" y="0"/>
            <a:chExt cx="1305842" cy="317108"/>
          </a:xfrm>
        </p:grpSpPr>
        <p:sp>
          <p:nvSpPr>
            <p:cNvPr id="26" name="Freeform 26"/>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sp>
        <p:sp>
          <p:nvSpPr>
            <p:cNvPr id="27" name="TextBox 27"/>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28" name="Group 28"/>
          <p:cNvGrpSpPr/>
          <p:nvPr/>
        </p:nvGrpSpPr>
        <p:grpSpPr>
          <a:xfrm rot="-10800000">
            <a:off x="645956" y="6401344"/>
            <a:ext cx="1049727" cy="104972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sp>
        <p:sp>
          <p:nvSpPr>
            <p:cNvPr id="30" name="TextBox 30"/>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31" name="Group 31"/>
          <p:cNvGrpSpPr/>
          <p:nvPr/>
        </p:nvGrpSpPr>
        <p:grpSpPr>
          <a:xfrm rot="-10800000">
            <a:off x="761942" y="6517330"/>
            <a:ext cx="817755" cy="81775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sp>
        <p:sp>
          <p:nvSpPr>
            <p:cNvPr id="33" name="TextBox 33"/>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34" name="Group 34"/>
          <p:cNvGrpSpPr/>
          <p:nvPr/>
        </p:nvGrpSpPr>
        <p:grpSpPr>
          <a:xfrm>
            <a:off x="4722556" y="6401344"/>
            <a:ext cx="1776052" cy="1049727"/>
            <a:chOff x="0" y="0"/>
            <a:chExt cx="536521" cy="317108"/>
          </a:xfrm>
        </p:grpSpPr>
        <p:sp>
          <p:nvSpPr>
            <p:cNvPr id="35" name="Freeform 35"/>
            <p:cNvSpPr/>
            <p:nvPr/>
          </p:nvSpPr>
          <p:spPr>
            <a:xfrm>
              <a:off x="0" y="0"/>
              <a:ext cx="536521" cy="317108"/>
            </a:xfrm>
            <a:custGeom>
              <a:avLst/>
              <a:gdLst/>
              <a:ahLst/>
              <a:cxnLst/>
              <a:rect l="l" t="t" r="r" b="b"/>
              <a:pathLst>
                <a:path w="536521" h="317108">
                  <a:moveTo>
                    <a:pt x="203200" y="0"/>
                  </a:moveTo>
                  <a:lnTo>
                    <a:pt x="536521" y="0"/>
                  </a:lnTo>
                  <a:lnTo>
                    <a:pt x="333321" y="317108"/>
                  </a:lnTo>
                  <a:lnTo>
                    <a:pt x="0" y="317108"/>
                  </a:lnTo>
                  <a:lnTo>
                    <a:pt x="203200" y="0"/>
                  </a:lnTo>
                  <a:close/>
                </a:path>
              </a:pathLst>
            </a:custGeom>
            <a:solidFill>
              <a:srgbClr val="639C9D"/>
            </a:solidFill>
          </p:spPr>
        </p:sp>
        <p:sp>
          <p:nvSpPr>
            <p:cNvPr id="36" name="TextBox 36"/>
            <p:cNvSpPr txBox="1"/>
            <p:nvPr/>
          </p:nvSpPr>
          <p:spPr>
            <a:xfrm>
              <a:off x="101600" y="-47625"/>
              <a:ext cx="333321" cy="364733"/>
            </a:xfrm>
            <a:prstGeom prst="rect">
              <a:avLst/>
            </a:prstGeom>
          </p:spPr>
          <p:txBody>
            <a:bodyPr lIns="50800" tIns="50800" rIns="50800" bIns="50800" rtlCol="0" anchor="ctr"/>
            <a:lstStyle/>
            <a:p>
              <a:pPr algn="ctr">
                <a:lnSpc>
                  <a:spcPts val="3079"/>
                </a:lnSpc>
              </a:pPr>
              <a:endParaRPr/>
            </a:p>
          </p:txBody>
        </p:sp>
      </p:grpSp>
      <p:sp>
        <p:nvSpPr>
          <p:cNvPr id="37" name="TextBox 37"/>
          <p:cNvSpPr txBox="1"/>
          <p:nvPr/>
        </p:nvSpPr>
        <p:spPr>
          <a:xfrm>
            <a:off x="1579697" y="6610930"/>
            <a:ext cx="3931004" cy="507366"/>
          </a:xfrm>
          <a:prstGeom prst="rect">
            <a:avLst/>
          </a:prstGeom>
        </p:spPr>
        <p:txBody>
          <a:bodyPr lIns="0" tIns="0" rIns="0" bIns="0" rtlCol="0" anchor="t">
            <a:spAutoFit/>
          </a:bodyPr>
          <a:lstStyle/>
          <a:p>
            <a:pPr marL="0" lvl="1" indent="0" algn="l">
              <a:lnSpc>
                <a:spcPts val="4059"/>
              </a:lnSpc>
              <a:spcBef>
                <a:spcPct val="0"/>
              </a:spcBef>
            </a:pPr>
            <a:r>
              <a:rPr lang="en-US" sz="2899" b="1" spc="92">
                <a:solidFill>
                  <a:srgbClr val="F0F0F3"/>
                </a:solidFill>
                <a:latin typeface="Rokkitt Bold"/>
                <a:ea typeface="Rokkitt Bold"/>
                <a:cs typeface="Rokkitt Bold"/>
                <a:sym typeface="Rokkitt Bold"/>
              </a:rPr>
              <a:t>&lt;OUTPUT_FORMAT&gt;</a:t>
            </a:r>
          </a:p>
        </p:txBody>
      </p:sp>
      <p:sp>
        <p:nvSpPr>
          <p:cNvPr id="38" name="TextBox 38"/>
          <p:cNvSpPr txBox="1"/>
          <p:nvPr/>
        </p:nvSpPr>
        <p:spPr>
          <a:xfrm>
            <a:off x="886361" y="6683003"/>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04</a:t>
            </a:r>
          </a:p>
        </p:txBody>
      </p:sp>
      <p:sp>
        <p:nvSpPr>
          <p:cNvPr id="39" name="TextBox 39"/>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18</a:t>
            </a:r>
          </a:p>
        </p:txBody>
      </p:sp>
      <p:sp>
        <p:nvSpPr>
          <p:cNvPr id="40" name="TextBox 40"/>
          <p:cNvSpPr txBox="1"/>
          <p:nvPr/>
        </p:nvSpPr>
        <p:spPr>
          <a:xfrm>
            <a:off x="2139892" y="534988"/>
            <a:ext cx="14008217"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CẤU TRÚC PROMPT HIỆU QUẢ</a:t>
            </a:r>
          </a:p>
        </p:txBody>
      </p:sp>
      <p:grpSp>
        <p:nvGrpSpPr>
          <p:cNvPr id="41" name="Group 41"/>
          <p:cNvGrpSpPr/>
          <p:nvPr/>
        </p:nvGrpSpPr>
        <p:grpSpPr>
          <a:xfrm rot="-10800000">
            <a:off x="6923223" y="3875062"/>
            <a:ext cx="4322742" cy="1049727"/>
            <a:chOff x="0" y="0"/>
            <a:chExt cx="1305842" cy="317108"/>
          </a:xfrm>
        </p:grpSpPr>
        <p:sp>
          <p:nvSpPr>
            <p:cNvPr id="42" name="Freeform 42"/>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sp>
        <p:sp>
          <p:nvSpPr>
            <p:cNvPr id="43" name="TextBox 43"/>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44" name="Group 44"/>
          <p:cNvGrpSpPr/>
          <p:nvPr/>
        </p:nvGrpSpPr>
        <p:grpSpPr>
          <a:xfrm rot="-10800000">
            <a:off x="6398360" y="3875062"/>
            <a:ext cx="1049727" cy="1049727"/>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sp>
        <p:sp>
          <p:nvSpPr>
            <p:cNvPr id="46" name="TextBox 46"/>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47" name="Group 47"/>
          <p:cNvGrpSpPr/>
          <p:nvPr/>
        </p:nvGrpSpPr>
        <p:grpSpPr>
          <a:xfrm rot="-10800000">
            <a:off x="6514346" y="3991048"/>
            <a:ext cx="817755" cy="81775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sp>
        <p:sp>
          <p:nvSpPr>
            <p:cNvPr id="49" name="TextBox 49"/>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50" name="Group 50"/>
          <p:cNvGrpSpPr/>
          <p:nvPr/>
        </p:nvGrpSpPr>
        <p:grpSpPr>
          <a:xfrm>
            <a:off x="10474960" y="3875062"/>
            <a:ext cx="1761354" cy="1049727"/>
            <a:chOff x="0" y="0"/>
            <a:chExt cx="532081" cy="317108"/>
          </a:xfrm>
        </p:grpSpPr>
        <p:sp>
          <p:nvSpPr>
            <p:cNvPr id="51" name="Freeform 51"/>
            <p:cNvSpPr/>
            <p:nvPr/>
          </p:nvSpPr>
          <p:spPr>
            <a:xfrm>
              <a:off x="0" y="0"/>
              <a:ext cx="532081" cy="317108"/>
            </a:xfrm>
            <a:custGeom>
              <a:avLst/>
              <a:gdLst/>
              <a:ahLst/>
              <a:cxnLst/>
              <a:rect l="l" t="t" r="r" b="b"/>
              <a:pathLst>
                <a:path w="532081" h="317108">
                  <a:moveTo>
                    <a:pt x="203200" y="0"/>
                  </a:moveTo>
                  <a:lnTo>
                    <a:pt x="532081" y="0"/>
                  </a:lnTo>
                  <a:lnTo>
                    <a:pt x="328881" y="317108"/>
                  </a:lnTo>
                  <a:lnTo>
                    <a:pt x="0" y="317108"/>
                  </a:lnTo>
                  <a:lnTo>
                    <a:pt x="203200" y="0"/>
                  </a:lnTo>
                  <a:close/>
                </a:path>
              </a:pathLst>
            </a:custGeom>
            <a:solidFill>
              <a:srgbClr val="639C9D"/>
            </a:solidFill>
          </p:spPr>
        </p:sp>
        <p:sp>
          <p:nvSpPr>
            <p:cNvPr id="52" name="TextBox 52"/>
            <p:cNvSpPr txBox="1"/>
            <p:nvPr/>
          </p:nvSpPr>
          <p:spPr>
            <a:xfrm>
              <a:off x="101600" y="-47625"/>
              <a:ext cx="328881" cy="364733"/>
            </a:xfrm>
            <a:prstGeom prst="rect">
              <a:avLst/>
            </a:prstGeom>
          </p:spPr>
          <p:txBody>
            <a:bodyPr lIns="50800" tIns="50800" rIns="50800" bIns="50800" rtlCol="0" anchor="ctr"/>
            <a:lstStyle/>
            <a:p>
              <a:pPr algn="ctr">
                <a:lnSpc>
                  <a:spcPts val="3079"/>
                </a:lnSpc>
              </a:pPr>
              <a:endParaRPr/>
            </a:p>
          </p:txBody>
        </p:sp>
      </p:grpSp>
      <p:sp>
        <p:nvSpPr>
          <p:cNvPr id="53" name="Freeform 53"/>
          <p:cNvSpPr/>
          <p:nvPr/>
        </p:nvSpPr>
        <p:spPr>
          <a:xfrm>
            <a:off x="11092360" y="4076021"/>
            <a:ext cx="565017" cy="565017"/>
          </a:xfrm>
          <a:custGeom>
            <a:avLst/>
            <a:gdLst/>
            <a:ahLst/>
            <a:cxnLst/>
            <a:rect l="l" t="t" r="r" b="b"/>
            <a:pathLst>
              <a:path w="565017" h="565017">
                <a:moveTo>
                  <a:pt x="0" y="0"/>
                </a:moveTo>
                <a:lnTo>
                  <a:pt x="565017" y="0"/>
                </a:lnTo>
                <a:lnTo>
                  <a:pt x="565017" y="565016"/>
                </a:lnTo>
                <a:lnTo>
                  <a:pt x="0" y="56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4" name="TextBox 54"/>
          <p:cNvSpPr txBox="1"/>
          <p:nvPr/>
        </p:nvSpPr>
        <p:spPr>
          <a:xfrm>
            <a:off x="7843399" y="4084647"/>
            <a:ext cx="3512237" cy="507366"/>
          </a:xfrm>
          <a:prstGeom prst="rect">
            <a:avLst/>
          </a:prstGeom>
        </p:spPr>
        <p:txBody>
          <a:bodyPr lIns="0" tIns="0" rIns="0" bIns="0" rtlCol="0" anchor="t">
            <a:spAutoFit/>
          </a:bodyPr>
          <a:lstStyle/>
          <a:p>
            <a:pPr marL="0" lvl="1" indent="0" algn="l">
              <a:lnSpc>
                <a:spcPts val="4059"/>
              </a:lnSpc>
              <a:spcBef>
                <a:spcPct val="0"/>
              </a:spcBef>
            </a:pPr>
            <a:r>
              <a:rPr lang="en-US" sz="2899" b="1" spc="92">
                <a:solidFill>
                  <a:srgbClr val="F0F0F3"/>
                </a:solidFill>
                <a:latin typeface="Rokkitt Bold"/>
                <a:ea typeface="Rokkitt Bold"/>
                <a:cs typeface="Rokkitt Bold"/>
                <a:sym typeface="Rokkitt Bold"/>
              </a:rPr>
              <a:t>&lt;CONTEXT&gt;</a:t>
            </a:r>
          </a:p>
        </p:txBody>
      </p:sp>
      <p:sp>
        <p:nvSpPr>
          <p:cNvPr id="55" name="TextBox 55"/>
          <p:cNvSpPr txBox="1"/>
          <p:nvPr/>
        </p:nvSpPr>
        <p:spPr>
          <a:xfrm>
            <a:off x="6638765" y="4156720"/>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02</a:t>
            </a:r>
          </a:p>
        </p:txBody>
      </p:sp>
      <p:grpSp>
        <p:nvGrpSpPr>
          <p:cNvPr id="56" name="Group 56"/>
          <p:cNvGrpSpPr/>
          <p:nvPr/>
        </p:nvGrpSpPr>
        <p:grpSpPr>
          <a:xfrm rot="-10800000">
            <a:off x="6986249" y="6432279"/>
            <a:ext cx="4500752" cy="1092954"/>
            <a:chOff x="0" y="0"/>
            <a:chExt cx="1305842" cy="317108"/>
          </a:xfrm>
        </p:grpSpPr>
        <p:sp>
          <p:nvSpPr>
            <p:cNvPr id="57" name="Freeform 57"/>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sp>
        <p:sp>
          <p:nvSpPr>
            <p:cNvPr id="58" name="TextBox 58"/>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59" name="Group 59"/>
          <p:cNvGrpSpPr/>
          <p:nvPr/>
        </p:nvGrpSpPr>
        <p:grpSpPr>
          <a:xfrm rot="-10800000">
            <a:off x="6439772" y="6432279"/>
            <a:ext cx="1092954" cy="1092954"/>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sp>
        <p:sp>
          <p:nvSpPr>
            <p:cNvPr id="61" name="TextBox 61"/>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62" name="Group 62"/>
          <p:cNvGrpSpPr/>
          <p:nvPr/>
        </p:nvGrpSpPr>
        <p:grpSpPr>
          <a:xfrm rot="-10800000">
            <a:off x="6560534" y="6553042"/>
            <a:ext cx="851430" cy="851430"/>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sp>
        <p:sp>
          <p:nvSpPr>
            <p:cNvPr id="64" name="TextBox 64"/>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65" name="Group 65"/>
          <p:cNvGrpSpPr/>
          <p:nvPr/>
        </p:nvGrpSpPr>
        <p:grpSpPr>
          <a:xfrm>
            <a:off x="10684245" y="6432279"/>
            <a:ext cx="1833886" cy="1092954"/>
            <a:chOff x="0" y="0"/>
            <a:chExt cx="532081" cy="317108"/>
          </a:xfrm>
        </p:grpSpPr>
        <p:sp>
          <p:nvSpPr>
            <p:cNvPr id="66" name="Freeform 66"/>
            <p:cNvSpPr/>
            <p:nvPr/>
          </p:nvSpPr>
          <p:spPr>
            <a:xfrm>
              <a:off x="0" y="0"/>
              <a:ext cx="532081" cy="317108"/>
            </a:xfrm>
            <a:custGeom>
              <a:avLst/>
              <a:gdLst/>
              <a:ahLst/>
              <a:cxnLst/>
              <a:rect l="l" t="t" r="r" b="b"/>
              <a:pathLst>
                <a:path w="532081" h="317108">
                  <a:moveTo>
                    <a:pt x="203200" y="0"/>
                  </a:moveTo>
                  <a:lnTo>
                    <a:pt x="532081" y="0"/>
                  </a:lnTo>
                  <a:lnTo>
                    <a:pt x="328881" y="317108"/>
                  </a:lnTo>
                  <a:lnTo>
                    <a:pt x="0" y="317108"/>
                  </a:lnTo>
                  <a:lnTo>
                    <a:pt x="203200" y="0"/>
                  </a:lnTo>
                  <a:close/>
                </a:path>
              </a:pathLst>
            </a:custGeom>
            <a:solidFill>
              <a:srgbClr val="639C9D"/>
            </a:solidFill>
          </p:spPr>
        </p:sp>
        <p:sp>
          <p:nvSpPr>
            <p:cNvPr id="67" name="TextBox 67"/>
            <p:cNvSpPr txBox="1"/>
            <p:nvPr/>
          </p:nvSpPr>
          <p:spPr>
            <a:xfrm>
              <a:off x="101600" y="-47625"/>
              <a:ext cx="328881" cy="364733"/>
            </a:xfrm>
            <a:prstGeom prst="rect">
              <a:avLst/>
            </a:prstGeom>
          </p:spPr>
          <p:txBody>
            <a:bodyPr lIns="50800" tIns="50800" rIns="50800" bIns="50800" rtlCol="0" anchor="ctr"/>
            <a:lstStyle/>
            <a:p>
              <a:pPr algn="ctr">
                <a:lnSpc>
                  <a:spcPts val="3079"/>
                </a:lnSpc>
              </a:pPr>
              <a:endParaRPr/>
            </a:p>
          </p:txBody>
        </p:sp>
      </p:grpSp>
      <p:sp>
        <p:nvSpPr>
          <p:cNvPr id="68" name="TextBox 68"/>
          <p:cNvSpPr txBox="1"/>
          <p:nvPr/>
        </p:nvSpPr>
        <p:spPr>
          <a:xfrm>
            <a:off x="7949684" y="6450655"/>
            <a:ext cx="2734562" cy="1021715"/>
          </a:xfrm>
          <a:prstGeom prst="rect">
            <a:avLst/>
          </a:prstGeom>
        </p:spPr>
        <p:txBody>
          <a:bodyPr lIns="0" tIns="0" rIns="0" bIns="0" rtlCol="0" anchor="t">
            <a:spAutoFit/>
          </a:bodyPr>
          <a:lstStyle/>
          <a:p>
            <a:pPr algn="l">
              <a:lnSpc>
                <a:spcPts val="4060"/>
              </a:lnSpc>
            </a:pPr>
            <a:r>
              <a:rPr lang="en-US" sz="2900" b="1" spc="92">
                <a:solidFill>
                  <a:srgbClr val="F0F0F3"/>
                </a:solidFill>
                <a:latin typeface="Rokkitt Bold"/>
                <a:ea typeface="Rokkitt Bold"/>
                <a:cs typeface="Rokkitt Bold"/>
                <a:sym typeface="Rokkitt Bold"/>
              </a:rPr>
              <a:t>FEW_SHOT_</a:t>
            </a:r>
          </a:p>
          <a:p>
            <a:pPr marL="0" lvl="1" indent="0" algn="l">
              <a:lnSpc>
                <a:spcPts val="4060"/>
              </a:lnSpc>
              <a:spcBef>
                <a:spcPct val="0"/>
              </a:spcBef>
            </a:pPr>
            <a:r>
              <a:rPr lang="en-US" sz="2900" b="1" spc="92">
                <a:solidFill>
                  <a:srgbClr val="F0F0F3"/>
                </a:solidFill>
                <a:latin typeface="Rokkitt Bold"/>
                <a:ea typeface="Rokkitt Bold"/>
                <a:cs typeface="Rokkitt Bold"/>
                <a:sym typeface="Rokkitt Bold"/>
              </a:rPr>
              <a:t>EXAMPLES&gt;</a:t>
            </a:r>
          </a:p>
        </p:txBody>
      </p:sp>
      <p:sp>
        <p:nvSpPr>
          <p:cNvPr id="69" name="TextBox 69"/>
          <p:cNvSpPr txBox="1"/>
          <p:nvPr/>
        </p:nvSpPr>
        <p:spPr>
          <a:xfrm>
            <a:off x="6690077" y="6727498"/>
            <a:ext cx="592343" cy="396050"/>
          </a:xfrm>
          <a:prstGeom prst="rect">
            <a:avLst/>
          </a:prstGeom>
        </p:spPr>
        <p:txBody>
          <a:bodyPr lIns="0" tIns="0" rIns="0" bIns="0" rtlCol="0" anchor="t">
            <a:spAutoFit/>
          </a:bodyPr>
          <a:lstStyle/>
          <a:p>
            <a:pPr algn="ctr">
              <a:lnSpc>
                <a:spcPts val="3206"/>
              </a:lnSpc>
            </a:pPr>
            <a:r>
              <a:rPr lang="en-US" sz="2290" b="1" spc="96">
                <a:solidFill>
                  <a:srgbClr val="327576"/>
                </a:solidFill>
                <a:latin typeface="DM Sans Bold"/>
                <a:ea typeface="DM Sans Bold"/>
                <a:cs typeface="DM Sans Bold"/>
                <a:sym typeface="DM Sans Bold"/>
              </a:rPr>
              <a:t>05</a:t>
            </a:r>
          </a:p>
        </p:txBody>
      </p:sp>
      <p:sp>
        <p:nvSpPr>
          <p:cNvPr id="70" name="Freeform 70"/>
          <p:cNvSpPr/>
          <p:nvPr/>
        </p:nvSpPr>
        <p:spPr>
          <a:xfrm>
            <a:off x="5268860" y="4076021"/>
            <a:ext cx="529425" cy="529425"/>
          </a:xfrm>
          <a:custGeom>
            <a:avLst/>
            <a:gdLst/>
            <a:ahLst/>
            <a:cxnLst/>
            <a:rect l="l" t="t" r="r" b="b"/>
            <a:pathLst>
              <a:path w="529425" h="529425">
                <a:moveTo>
                  <a:pt x="0" y="0"/>
                </a:moveTo>
                <a:lnTo>
                  <a:pt x="529425" y="0"/>
                </a:lnTo>
                <a:lnTo>
                  <a:pt x="529425" y="529424"/>
                </a:lnTo>
                <a:lnTo>
                  <a:pt x="0" y="52942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71" name="Group 71"/>
          <p:cNvGrpSpPr/>
          <p:nvPr/>
        </p:nvGrpSpPr>
        <p:grpSpPr>
          <a:xfrm rot="-10800000">
            <a:off x="12761177" y="3875062"/>
            <a:ext cx="4322742" cy="1049727"/>
            <a:chOff x="0" y="0"/>
            <a:chExt cx="1305842" cy="317108"/>
          </a:xfrm>
        </p:grpSpPr>
        <p:sp>
          <p:nvSpPr>
            <p:cNvPr id="72" name="Freeform 72"/>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sp>
        <p:sp>
          <p:nvSpPr>
            <p:cNvPr id="73" name="TextBox 73"/>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74" name="Group 74"/>
          <p:cNvGrpSpPr/>
          <p:nvPr/>
        </p:nvGrpSpPr>
        <p:grpSpPr>
          <a:xfrm rot="-10800000">
            <a:off x="12236314" y="3875062"/>
            <a:ext cx="1049727" cy="1049727"/>
            <a:chOff x="0" y="0"/>
            <a:chExt cx="812800" cy="812800"/>
          </a:xfrm>
        </p:grpSpPr>
        <p:sp>
          <p:nvSpPr>
            <p:cNvPr id="75" name="Freeform 7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sp>
        <p:sp>
          <p:nvSpPr>
            <p:cNvPr id="76" name="TextBox 76"/>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77" name="Group 77"/>
          <p:cNvGrpSpPr/>
          <p:nvPr/>
        </p:nvGrpSpPr>
        <p:grpSpPr>
          <a:xfrm rot="-10800000">
            <a:off x="12352300" y="3991048"/>
            <a:ext cx="817755" cy="817755"/>
            <a:chOff x="0" y="0"/>
            <a:chExt cx="812800" cy="812800"/>
          </a:xfrm>
        </p:grpSpPr>
        <p:sp>
          <p:nvSpPr>
            <p:cNvPr id="78" name="Freeform 7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sp>
        <p:sp>
          <p:nvSpPr>
            <p:cNvPr id="79" name="TextBox 79"/>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80" name="Group 80"/>
          <p:cNvGrpSpPr/>
          <p:nvPr/>
        </p:nvGrpSpPr>
        <p:grpSpPr>
          <a:xfrm>
            <a:off x="16312914" y="3875062"/>
            <a:ext cx="1716472" cy="1049727"/>
            <a:chOff x="0" y="0"/>
            <a:chExt cx="518523" cy="317108"/>
          </a:xfrm>
        </p:grpSpPr>
        <p:sp>
          <p:nvSpPr>
            <p:cNvPr id="81" name="Freeform 81"/>
            <p:cNvSpPr/>
            <p:nvPr/>
          </p:nvSpPr>
          <p:spPr>
            <a:xfrm>
              <a:off x="0" y="0"/>
              <a:ext cx="518523" cy="317108"/>
            </a:xfrm>
            <a:custGeom>
              <a:avLst/>
              <a:gdLst/>
              <a:ahLst/>
              <a:cxnLst/>
              <a:rect l="l" t="t" r="r" b="b"/>
              <a:pathLst>
                <a:path w="518523" h="317108">
                  <a:moveTo>
                    <a:pt x="203200" y="0"/>
                  </a:moveTo>
                  <a:lnTo>
                    <a:pt x="518523" y="0"/>
                  </a:lnTo>
                  <a:lnTo>
                    <a:pt x="315323" y="317108"/>
                  </a:lnTo>
                  <a:lnTo>
                    <a:pt x="0" y="317108"/>
                  </a:lnTo>
                  <a:lnTo>
                    <a:pt x="203200" y="0"/>
                  </a:lnTo>
                  <a:close/>
                </a:path>
              </a:pathLst>
            </a:custGeom>
            <a:solidFill>
              <a:srgbClr val="639C9D"/>
            </a:solidFill>
          </p:spPr>
        </p:sp>
        <p:sp>
          <p:nvSpPr>
            <p:cNvPr id="82" name="TextBox 82"/>
            <p:cNvSpPr txBox="1"/>
            <p:nvPr/>
          </p:nvSpPr>
          <p:spPr>
            <a:xfrm>
              <a:off x="101600" y="-47625"/>
              <a:ext cx="315323" cy="364733"/>
            </a:xfrm>
            <a:prstGeom prst="rect">
              <a:avLst/>
            </a:prstGeom>
          </p:spPr>
          <p:txBody>
            <a:bodyPr lIns="50800" tIns="50800" rIns="50800" bIns="50800" rtlCol="0" anchor="ctr"/>
            <a:lstStyle/>
            <a:p>
              <a:pPr algn="ctr">
                <a:lnSpc>
                  <a:spcPts val="3079"/>
                </a:lnSpc>
              </a:pPr>
              <a:endParaRPr/>
            </a:p>
          </p:txBody>
        </p:sp>
      </p:grpSp>
      <p:sp>
        <p:nvSpPr>
          <p:cNvPr id="83" name="TextBox 83"/>
          <p:cNvSpPr txBox="1"/>
          <p:nvPr/>
        </p:nvSpPr>
        <p:spPr>
          <a:xfrm>
            <a:off x="13343191" y="4112905"/>
            <a:ext cx="3371087" cy="507366"/>
          </a:xfrm>
          <a:prstGeom prst="rect">
            <a:avLst/>
          </a:prstGeom>
        </p:spPr>
        <p:txBody>
          <a:bodyPr lIns="0" tIns="0" rIns="0" bIns="0" rtlCol="0" anchor="t">
            <a:spAutoFit/>
          </a:bodyPr>
          <a:lstStyle/>
          <a:p>
            <a:pPr marL="0" lvl="1" indent="0" algn="l">
              <a:lnSpc>
                <a:spcPts val="4059"/>
              </a:lnSpc>
              <a:spcBef>
                <a:spcPct val="0"/>
              </a:spcBef>
            </a:pPr>
            <a:r>
              <a:rPr lang="en-US" sz="2899" b="1" spc="92">
                <a:solidFill>
                  <a:srgbClr val="F0F0F3"/>
                </a:solidFill>
                <a:latin typeface="Rokkitt Bold"/>
                <a:ea typeface="Rokkitt Bold"/>
                <a:cs typeface="Rokkitt Bold"/>
                <a:sym typeface="Rokkitt Bold"/>
              </a:rPr>
              <a:t>&lt;INSTRUCTIONS&gt;</a:t>
            </a:r>
          </a:p>
        </p:txBody>
      </p:sp>
      <p:sp>
        <p:nvSpPr>
          <p:cNvPr id="84" name="TextBox 84"/>
          <p:cNvSpPr txBox="1"/>
          <p:nvPr/>
        </p:nvSpPr>
        <p:spPr>
          <a:xfrm>
            <a:off x="12476720" y="4156720"/>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03</a:t>
            </a:r>
          </a:p>
        </p:txBody>
      </p:sp>
      <p:sp>
        <p:nvSpPr>
          <p:cNvPr id="85" name="Freeform 85"/>
          <p:cNvSpPr/>
          <p:nvPr/>
        </p:nvSpPr>
        <p:spPr>
          <a:xfrm>
            <a:off x="16873976" y="4173410"/>
            <a:ext cx="529425" cy="529425"/>
          </a:xfrm>
          <a:custGeom>
            <a:avLst/>
            <a:gdLst/>
            <a:ahLst/>
            <a:cxnLst/>
            <a:rect l="l" t="t" r="r" b="b"/>
            <a:pathLst>
              <a:path w="529425" h="529425">
                <a:moveTo>
                  <a:pt x="0" y="0"/>
                </a:moveTo>
                <a:lnTo>
                  <a:pt x="529424" y="0"/>
                </a:lnTo>
                <a:lnTo>
                  <a:pt x="529424" y="529425"/>
                </a:lnTo>
                <a:lnTo>
                  <a:pt x="0" y="5294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6" name="Freeform 86"/>
          <p:cNvSpPr/>
          <p:nvPr/>
        </p:nvSpPr>
        <p:spPr>
          <a:xfrm>
            <a:off x="11294055" y="6719916"/>
            <a:ext cx="522390" cy="522390"/>
          </a:xfrm>
          <a:custGeom>
            <a:avLst/>
            <a:gdLst/>
            <a:ahLst/>
            <a:cxnLst/>
            <a:rect l="l" t="t" r="r" b="b"/>
            <a:pathLst>
              <a:path w="522390" h="522390">
                <a:moveTo>
                  <a:pt x="0" y="0"/>
                </a:moveTo>
                <a:lnTo>
                  <a:pt x="522390" y="0"/>
                </a:lnTo>
                <a:lnTo>
                  <a:pt x="522390" y="522391"/>
                </a:lnTo>
                <a:lnTo>
                  <a:pt x="0" y="52239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7" name="Freeform 87"/>
          <p:cNvSpPr/>
          <p:nvPr/>
        </p:nvSpPr>
        <p:spPr>
          <a:xfrm>
            <a:off x="5347492" y="6695651"/>
            <a:ext cx="501729" cy="501729"/>
          </a:xfrm>
          <a:custGeom>
            <a:avLst/>
            <a:gdLst/>
            <a:ahLst/>
            <a:cxnLst/>
            <a:rect l="l" t="t" r="r" b="b"/>
            <a:pathLst>
              <a:path w="501729" h="501729">
                <a:moveTo>
                  <a:pt x="0" y="0"/>
                </a:moveTo>
                <a:lnTo>
                  <a:pt x="501730" y="0"/>
                </a:lnTo>
                <a:lnTo>
                  <a:pt x="501730" y="501729"/>
                </a:lnTo>
                <a:lnTo>
                  <a:pt x="0" y="50172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88" name="Group 88"/>
          <p:cNvGrpSpPr/>
          <p:nvPr/>
        </p:nvGrpSpPr>
        <p:grpSpPr>
          <a:xfrm>
            <a:off x="1225637" y="1784541"/>
            <a:ext cx="15345892" cy="1564286"/>
            <a:chOff x="0" y="0"/>
            <a:chExt cx="4691332" cy="478212"/>
          </a:xfrm>
        </p:grpSpPr>
        <p:sp>
          <p:nvSpPr>
            <p:cNvPr id="89" name="Freeform 89"/>
            <p:cNvSpPr/>
            <p:nvPr/>
          </p:nvSpPr>
          <p:spPr>
            <a:xfrm>
              <a:off x="0" y="0"/>
              <a:ext cx="4691332" cy="478212"/>
            </a:xfrm>
            <a:custGeom>
              <a:avLst/>
              <a:gdLst/>
              <a:ahLst/>
              <a:cxnLst/>
              <a:rect l="l" t="t" r="r" b="b"/>
              <a:pathLst>
                <a:path w="4691332" h="478212">
                  <a:moveTo>
                    <a:pt x="16648" y="0"/>
                  </a:moveTo>
                  <a:lnTo>
                    <a:pt x="4674684" y="0"/>
                  </a:lnTo>
                  <a:cubicBezTo>
                    <a:pt x="4679099" y="0"/>
                    <a:pt x="4683334" y="1754"/>
                    <a:pt x="4686456" y="4876"/>
                  </a:cubicBezTo>
                  <a:cubicBezTo>
                    <a:pt x="4689578" y="7998"/>
                    <a:pt x="4691332" y="12233"/>
                    <a:pt x="4691332" y="16648"/>
                  </a:cubicBezTo>
                  <a:lnTo>
                    <a:pt x="4691332" y="461563"/>
                  </a:lnTo>
                  <a:cubicBezTo>
                    <a:pt x="4691332" y="470758"/>
                    <a:pt x="4683878" y="478212"/>
                    <a:pt x="4674684" y="478212"/>
                  </a:cubicBezTo>
                  <a:lnTo>
                    <a:pt x="16648" y="478212"/>
                  </a:lnTo>
                  <a:cubicBezTo>
                    <a:pt x="7454" y="478212"/>
                    <a:pt x="0" y="470758"/>
                    <a:pt x="0" y="461563"/>
                  </a:cubicBezTo>
                  <a:lnTo>
                    <a:pt x="0" y="16648"/>
                  </a:lnTo>
                  <a:cubicBezTo>
                    <a:pt x="0" y="7454"/>
                    <a:pt x="7454" y="0"/>
                    <a:pt x="16648" y="0"/>
                  </a:cubicBezTo>
                  <a:close/>
                </a:path>
              </a:pathLst>
            </a:custGeom>
            <a:solidFill>
              <a:srgbClr val="CADCD6">
                <a:alpha val="22745"/>
              </a:srgbClr>
            </a:solidFill>
          </p:spPr>
        </p:sp>
        <p:sp>
          <p:nvSpPr>
            <p:cNvPr id="90" name="TextBox 90"/>
            <p:cNvSpPr txBox="1"/>
            <p:nvPr/>
          </p:nvSpPr>
          <p:spPr>
            <a:xfrm>
              <a:off x="0" y="-47625"/>
              <a:ext cx="4691332" cy="525837"/>
            </a:xfrm>
            <a:prstGeom prst="rect">
              <a:avLst/>
            </a:prstGeom>
          </p:spPr>
          <p:txBody>
            <a:bodyPr lIns="50800" tIns="50800" rIns="50800" bIns="50800" rtlCol="0" anchor="ctr"/>
            <a:lstStyle/>
            <a:p>
              <a:pPr algn="just">
                <a:lnSpc>
                  <a:spcPts val="3079"/>
                </a:lnSpc>
              </a:pPr>
              <a:endParaRPr/>
            </a:p>
          </p:txBody>
        </p:sp>
      </p:grpSp>
      <p:sp>
        <p:nvSpPr>
          <p:cNvPr id="91" name="TextBox 91"/>
          <p:cNvSpPr txBox="1"/>
          <p:nvPr/>
        </p:nvSpPr>
        <p:spPr>
          <a:xfrm>
            <a:off x="1765243" y="1965516"/>
            <a:ext cx="14533868" cy="1106152"/>
          </a:xfrm>
          <a:prstGeom prst="rect">
            <a:avLst/>
          </a:prstGeom>
        </p:spPr>
        <p:txBody>
          <a:bodyPr lIns="0" tIns="0" rIns="0" bIns="0" rtlCol="0" anchor="t">
            <a:spAutoFit/>
          </a:bodyPr>
          <a:lstStyle/>
          <a:p>
            <a:pPr algn="just">
              <a:lnSpc>
                <a:spcPts val="4450"/>
              </a:lnSpc>
            </a:pPr>
            <a:r>
              <a:rPr lang="en-US" sz="2967" b="1">
                <a:solidFill>
                  <a:srgbClr val="235A5B"/>
                </a:solidFill>
                <a:latin typeface="Rokkitt Bold"/>
                <a:ea typeface="Rokkitt Bold"/>
                <a:cs typeface="Rokkitt Bold"/>
                <a:sym typeface="Rokkitt Bold"/>
              </a:rPr>
              <a:t>Prompt cần</a:t>
            </a:r>
            <a:r>
              <a:rPr lang="en-US" sz="2967" b="1" u="none" strike="noStrike">
                <a:solidFill>
                  <a:srgbClr val="235A5B"/>
                </a:solidFill>
                <a:latin typeface="Rokkitt Bold"/>
                <a:ea typeface="Rokkitt Bold"/>
                <a:cs typeface="Rokkitt Bold"/>
                <a:sym typeface="Rokkitt Bold"/>
              </a:rPr>
              <a:t> được xây dựng như một cấu trúc lệnh rõ ràng sử dụng các thẻ (tags) để tối ưu hóa hiệu quả</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rot="5400000">
            <a:off x="1819116" y="1674501"/>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rot="5400000">
            <a:off x="1819116" y="3604374"/>
            <a:ext cx="1267798" cy="1079213"/>
          </a:xfrm>
          <a:custGeom>
            <a:avLst/>
            <a:gdLst/>
            <a:ahLst/>
            <a:cxnLst/>
            <a:rect l="l" t="t" r="r" b="b"/>
            <a:pathLst>
              <a:path w="1267798" h="1079213">
                <a:moveTo>
                  <a:pt x="0" y="0"/>
                </a:moveTo>
                <a:lnTo>
                  <a:pt x="1267797" y="0"/>
                </a:lnTo>
                <a:lnTo>
                  <a:pt x="1267797" y="1079212"/>
                </a:lnTo>
                <a:lnTo>
                  <a:pt x="0" y="107921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rot="5400000">
            <a:off x="1819116" y="5534246"/>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3259321" y="1703523"/>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Chain-of-Thought (CoT)</a:t>
            </a:r>
          </a:p>
        </p:txBody>
      </p:sp>
      <p:sp>
        <p:nvSpPr>
          <p:cNvPr id="9" name="TextBox 9"/>
          <p:cNvSpPr txBox="1"/>
          <p:nvPr/>
        </p:nvSpPr>
        <p:spPr>
          <a:xfrm>
            <a:off x="3121775" y="2282222"/>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Yêu cầu mô hình giải thích quy trình suy nghĩ từng bước trước khi đưa ra đáp án cuối cùng.</a:t>
            </a:r>
          </a:p>
        </p:txBody>
      </p:sp>
      <p:sp>
        <p:nvSpPr>
          <p:cNvPr id="10" name="TextBox 10"/>
          <p:cNvSpPr txBox="1"/>
          <p:nvPr/>
        </p:nvSpPr>
        <p:spPr>
          <a:xfrm>
            <a:off x="3259321" y="3689742"/>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Few-shot Learning</a:t>
            </a:r>
          </a:p>
        </p:txBody>
      </p:sp>
      <p:sp>
        <p:nvSpPr>
          <p:cNvPr id="11" name="TextBox 11"/>
          <p:cNvSpPr txBox="1"/>
          <p:nvPr/>
        </p:nvSpPr>
        <p:spPr>
          <a:xfrm>
            <a:off x="3121775" y="4218061"/>
            <a:ext cx="13067662" cy="1036320"/>
          </a:xfrm>
          <a:prstGeom prst="rect">
            <a:avLst/>
          </a:prstGeom>
        </p:spPr>
        <p:txBody>
          <a:bodyPr lIns="0" tIns="0" rIns="0" bIns="0" rtlCol="0" anchor="t">
            <a:spAutoFit/>
          </a:bodyPr>
          <a:lstStyle/>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Cung cấp các cặp ví dụ (Input - Output) ngay trong prompt để mô hình học theo hành vi mong muốn. </a:t>
            </a:r>
          </a:p>
        </p:txBody>
      </p:sp>
      <p:sp>
        <p:nvSpPr>
          <p:cNvPr id="12" name="TextBox 12"/>
          <p:cNvSpPr txBox="1"/>
          <p:nvPr/>
        </p:nvSpPr>
        <p:spPr>
          <a:xfrm>
            <a:off x="3259321" y="5537556"/>
            <a:ext cx="6999990"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Prompt in prompt (Meta Prompting)</a:t>
            </a:r>
          </a:p>
        </p:txBody>
      </p:sp>
      <p:sp>
        <p:nvSpPr>
          <p:cNvPr id="13" name="TextBox 13"/>
          <p:cNvSpPr txBox="1"/>
          <p:nvPr/>
        </p:nvSpPr>
        <p:spPr>
          <a:xfrm>
            <a:off x="3259321" y="5989131"/>
            <a:ext cx="13999979" cy="512445"/>
          </a:xfrm>
          <a:prstGeom prst="rect">
            <a:avLst/>
          </a:prstGeom>
        </p:spPr>
        <p:txBody>
          <a:bodyPr lIns="0" tIns="0" rIns="0" bIns="0" rtlCol="0" anchor="t">
            <a:spAutoFit/>
          </a:bodyPr>
          <a:lstStyle/>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Dùng một prompt để hướng dẫn mô hình cách tạo hoặc xử lý một prompt khác.</a:t>
            </a:r>
          </a:p>
        </p:txBody>
      </p:sp>
      <p:sp>
        <p:nvSpPr>
          <p:cNvPr id="14" name="TextBox 14"/>
          <p:cNvSpPr txBox="1"/>
          <p:nvPr/>
        </p:nvSpPr>
        <p:spPr>
          <a:xfrm>
            <a:off x="2154049" y="1827642"/>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5" name="TextBox 15"/>
          <p:cNvSpPr txBox="1"/>
          <p:nvPr/>
        </p:nvSpPr>
        <p:spPr>
          <a:xfrm>
            <a:off x="2154049" y="375751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6" name="TextBox 16"/>
          <p:cNvSpPr txBox="1"/>
          <p:nvPr/>
        </p:nvSpPr>
        <p:spPr>
          <a:xfrm>
            <a:off x="2154049" y="5687387"/>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7" name="TextBox 17"/>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19</a:t>
            </a:r>
          </a:p>
        </p:txBody>
      </p:sp>
      <p:sp>
        <p:nvSpPr>
          <p:cNvPr id="18" name="TextBox 18"/>
          <p:cNvSpPr txBox="1"/>
          <p:nvPr/>
        </p:nvSpPr>
        <p:spPr>
          <a:xfrm>
            <a:off x="4051846" y="519247"/>
            <a:ext cx="11482612"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CÁC KỸ THUẬT PROMPT NÂNG CAO</a:t>
            </a:r>
          </a:p>
        </p:txBody>
      </p:sp>
      <p:grpSp>
        <p:nvGrpSpPr>
          <p:cNvPr id="19" name="Group 19"/>
          <p:cNvGrpSpPr/>
          <p:nvPr/>
        </p:nvGrpSpPr>
        <p:grpSpPr>
          <a:xfrm>
            <a:off x="1515899" y="6974451"/>
            <a:ext cx="15101044" cy="2112350"/>
            <a:chOff x="0" y="0"/>
            <a:chExt cx="4616481" cy="645758"/>
          </a:xfrm>
        </p:grpSpPr>
        <p:sp>
          <p:nvSpPr>
            <p:cNvPr id="20" name="Freeform 20"/>
            <p:cNvSpPr/>
            <p:nvPr/>
          </p:nvSpPr>
          <p:spPr>
            <a:xfrm>
              <a:off x="0" y="0"/>
              <a:ext cx="4616481" cy="645758"/>
            </a:xfrm>
            <a:custGeom>
              <a:avLst/>
              <a:gdLst/>
              <a:ahLst/>
              <a:cxnLst/>
              <a:rect l="l" t="t" r="r" b="b"/>
              <a:pathLst>
                <a:path w="4616481" h="645758">
                  <a:moveTo>
                    <a:pt x="16918" y="0"/>
                  </a:moveTo>
                  <a:lnTo>
                    <a:pt x="4599562" y="0"/>
                  </a:lnTo>
                  <a:cubicBezTo>
                    <a:pt x="4608906" y="0"/>
                    <a:pt x="4616481" y="7575"/>
                    <a:pt x="4616481" y="16918"/>
                  </a:cubicBezTo>
                  <a:lnTo>
                    <a:pt x="4616481" y="628840"/>
                  </a:lnTo>
                  <a:cubicBezTo>
                    <a:pt x="4616481" y="638184"/>
                    <a:pt x="4608906" y="645758"/>
                    <a:pt x="4599562" y="645758"/>
                  </a:cubicBezTo>
                  <a:lnTo>
                    <a:pt x="16918" y="645758"/>
                  </a:lnTo>
                  <a:cubicBezTo>
                    <a:pt x="7575" y="645758"/>
                    <a:pt x="0" y="638184"/>
                    <a:pt x="0" y="628840"/>
                  </a:cubicBezTo>
                  <a:lnTo>
                    <a:pt x="0" y="16918"/>
                  </a:lnTo>
                  <a:cubicBezTo>
                    <a:pt x="0" y="7575"/>
                    <a:pt x="7575" y="0"/>
                    <a:pt x="16918" y="0"/>
                  </a:cubicBezTo>
                  <a:close/>
                </a:path>
              </a:pathLst>
            </a:custGeom>
            <a:solidFill>
              <a:srgbClr val="CADCD6">
                <a:alpha val="22745"/>
              </a:srgbClr>
            </a:solidFill>
          </p:spPr>
        </p:sp>
        <p:sp>
          <p:nvSpPr>
            <p:cNvPr id="21" name="TextBox 21"/>
            <p:cNvSpPr txBox="1"/>
            <p:nvPr/>
          </p:nvSpPr>
          <p:spPr>
            <a:xfrm>
              <a:off x="0" y="-47625"/>
              <a:ext cx="4616481" cy="693383"/>
            </a:xfrm>
            <a:prstGeom prst="rect">
              <a:avLst/>
            </a:prstGeom>
          </p:spPr>
          <p:txBody>
            <a:bodyPr lIns="50800" tIns="50800" rIns="50800" bIns="50800" rtlCol="0" anchor="ctr"/>
            <a:lstStyle/>
            <a:p>
              <a:pPr algn="just">
                <a:lnSpc>
                  <a:spcPts val="3079"/>
                </a:lnSpc>
              </a:pPr>
              <a:endParaRPr/>
            </a:p>
          </p:txBody>
        </p:sp>
      </p:grpSp>
      <p:sp>
        <p:nvSpPr>
          <p:cNvPr id="22" name="TextBox 22"/>
          <p:cNvSpPr txBox="1"/>
          <p:nvPr/>
        </p:nvSpPr>
        <p:spPr>
          <a:xfrm>
            <a:off x="1979954" y="7059402"/>
            <a:ext cx="14172934" cy="1837672"/>
          </a:xfrm>
          <a:prstGeom prst="rect">
            <a:avLst/>
          </a:prstGeom>
        </p:spPr>
        <p:txBody>
          <a:bodyPr lIns="0" tIns="0" rIns="0" bIns="0" rtlCol="0" anchor="t">
            <a:spAutoFit/>
          </a:bodyPr>
          <a:lstStyle/>
          <a:p>
            <a:pPr algn="just">
              <a:lnSpc>
                <a:spcPts val="4900"/>
              </a:lnSpc>
            </a:pPr>
            <a:r>
              <a:rPr lang="en-US" sz="3267" b="1">
                <a:solidFill>
                  <a:srgbClr val="235A5B"/>
                </a:solidFill>
                <a:latin typeface="Rokkitt Bold"/>
                <a:ea typeface="Rokkitt Bold"/>
                <a:cs typeface="Rokkitt Bold"/>
                <a:sym typeface="Rokkitt Bold"/>
              </a:rPr>
              <a:t>Đến đây, App đã biết suy nghĩ và trả lời rất hay. Nhưng nó vẫn chỉ là một 'C</a:t>
            </a:r>
            <a:r>
              <a:rPr lang="en-US" sz="3267" b="1" u="none" strike="noStrike">
                <a:solidFill>
                  <a:srgbClr val="235A5B"/>
                </a:solidFill>
                <a:latin typeface="Rokkitt Bold"/>
                <a:ea typeface="Rokkitt Bold"/>
                <a:cs typeface="Rokkitt Bold"/>
                <a:sym typeface="Rokkitt Bold"/>
              </a:rPr>
              <a:t>hatbot' nằm im một chỗ. Nó không thể giúp tôi tắt đèn hay chuyển tiền. Để làm được điều đó, chúng ta cần trao cho nó 'đôi tay'. Đó chính là AI Agent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28534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3757370" y="368743"/>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VÌ SAO CẦN AI AGENT</a:t>
            </a:r>
          </a:p>
        </p:txBody>
      </p:sp>
      <p:sp>
        <p:nvSpPr>
          <p:cNvPr id="7" name="TextBox 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20</a:t>
            </a:r>
          </a:p>
        </p:txBody>
      </p:sp>
      <p:grpSp>
        <p:nvGrpSpPr>
          <p:cNvPr id="8" name="Group 8"/>
          <p:cNvGrpSpPr/>
          <p:nvPr/>
        </p:nvGrpSpPr>
        <p:grpSpPr>
          <a:xfrm rot="-10800000">
            <a:off x="4053920" y="1564827"/>
            <a:ext cx="3520460" cy="2625970"/>
            <a:chOff x="0" y="0"/>
            <a:chExt cx="680068" cy="507274"/>
          </a:xfrm>
        </p:grpSpPr>
        <p:sp>
          <p:nvSpPr>
            <p:cNvPr id="9" name="Freeform 9"/>
            <p:cNvSpPr/>
            <p:nvPr/>
          </p:nvSpPr>
          <p:spPr>
            <a:xfrm>
              <a:off x="0" y="0"/>
              <a:ext cx="680068" cy="503059"/>
            </a:xfrm>
            <a:custGeom>
              <a:avLst/>
              <a:gdLst/>
              <a:ahLst/>
              <a:cxnLst/>
              <a:rect l="l" t="t" r="r" b="b"/>
              <a:pathLst>
                <a:path w="680068" h="503059">
                  <a:moveTo>
                    <a:pt x="680068" y="25771"/>
                  </a:moveTo>
                  <a:lnTo>
                    <a:pt x="680068" y="367203"/>
                  </a:lnTo>
                  <a:cubicBezTo>
                    <a:pt x="680068" y="382601"/>
                    <a:pt x="670235" y="396279"/>
                    <a:pt x="655640" y="401185"/>
                  </a:cubicBezTo>
                  <a:lnTo>
                    <a:pt x="364462" y="499063"/>
                  </a:lnTo>
                  <a:cubicBezTo>
                    <a:pt x="348612" y="504390"/>
                    <a:pt x="331456" y="504390"/>
                    <a:pt x="315606" y="499063"/>
                  </a:cubicBezTo>
                  <a:lnTo>
                    <a:pt x="24428" y="401185"/>
                  </a:lnTo>
                  <a:cubicBezTo>
                    <a:pt x="9832" y="396279"/>
                    <a:pt x="0" y="382601"/>
                    <a:pt x="0" y="367203"/>
                  </a:cubicBezTo>
                  <a:lnTo>
                    <a:pt x="0" y="25771"/>
                  </a:lnTo>
                  <a:cubicBezTo>
                    <a:pt x="0" y="11538"/>
                    <a:pt x="11538" y="0"/>
                    <a:pt x="25771" y="0"/>
                  </a:cubicBezTo>
                  <a:lnTo>
                    <a:pt x="654297" y="0"/>
                  </a:lnTo>
                  <a:cubicBezTo>
                    <a:pt x="668530" y="0"/>
                    <a:pt x="680068" y="11538"/>
                    <a:pt x="680068" y="25771"/>
                  </a:cubicBezTo>
                  <a:close/>
                </a:path>
              </a:pathLst>
            </a:custGeom>
            <a:solidFill>
              <a:srgbClr val="408789"/>
            </a:solidFill>
          </p:spPr>
        </p:sp>
        <p:sp>
          <p:nvSpPr>
            <p:cNvPr id="10" name="TextBox 10"/>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11" name="TextBox 11"/>
          <p:cNvSpPr txBox="1"/>
          <p:nvPr/>
        </p:nvSpPr>
        <p:spPr>
          <a:xfrm>
            <a:off x="4468099" y="2378964"/>
            <a:ext cx="2692101" cy="498848"/>
          </a:xfrm>
          <a:prstGeom prst="rect">
            <a:avLst/>
          </a:prstGeom>
        </p:spPr>
        <p:txBody>
          <a:bodyPr lIns="0" tIns="0" rIns="0" bIns="0" rtlCol="0" anchor="t">
            <a:spAutoFit/>
          </a:bodyPr>
          <a:lstStyle/>
          <a:p>
            <a:pPr marL="0" lvl="1" indent="0" algn="ctr">
              <a:lnSpc>
                <a:spcPts val="4037"/>
              </a:lnSpc>
              <a:spcBef>
                <a:spcPct val="0"/>
              </a:spcBef>
            </a:pPr>
            <a:r>
              <a:rPr lang="en-US" sz="2883" b="1" spc="92">
                <a:solidFill>
                  <a:srgbClr val="FFFFFF"/>
                </a:solidFill>
                <a:latin typeface="Rokkitt Bold"/>
                <a:ea typeface="Rokkitt Bold"/>
                <a:cs typeface="Rokkitt Bold"/>
                <a:sym typeface="Rokkitt Bold"/>
              </a:rPr>
              <a:t>Chatbot</a:t>
            </a:r>
          </a:p>
        </p:txBody>
      </p:sp>
      <p:sp>
        <p:nvSpPr>
          <p:cNvPr id="12" name="TextBox 12"/>
          <p:cNvSpPr txBox="1"/>
          <p:nvPr/>
        </p:nvSpPr>
        <p:spPr>
          <a:xfrm>
            <a:off x="4326854" y="3169394"/>
            <a:ext cx="2974591" cy="443917"/>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Chỉ trả lời văn bản</a:t>
            </a:r>
          </a:p>
        </p:txBody>
      </p:sp>
      <p:grpSp>
        <p:nvGrpSpPr>
          <p:cNvPr id="13" name="Group 13"/>
          <p:cNvGrpSpPr/>
          <p:nvPr/>
        </p:nvGrpSpPr>
        <p:grpSpPr>
          <a:xfrm rot="-10800000">
            <a:off x="10909019" y="1564827"/>
            <a:ext cx="3520460" cy="2625970"/>
            <a:chOff x="0" y="0"/>
            <a:chExt cx="680068" cy="507274"/>
          </a:xfrm>
        </p:grpSpPr>
        <p:sp>
          <p:nvSpPr>
            <p:cNvPr id="14" name="Freeform 14"/>
            <p:cNvSpPr/>
            <p:nvPr/>
          </p:nvSpPr>
          <p:spPr>
            <a:xfrm>
              <a:off x="0" y="0"/>
              <a:ext cx="680068" cy="503059"/>
            </a:xfrm>
            <a:custGeom>
              <a:avLst/>
              <a:gdLst/>
              <a:ahLst/>
              <a:cxnLst/>
              <a:rect l="l" t="t" r="r" b="b"/>
              <a:pathLst>
                <a:path w="680068" h="503059">
                  <a:moveTo>
                    <a:pt x="680068" y="25771"/>
                  </a:moveTo>
                  <a:lnTo>
                    <a:pt x="680068" y="367203"/>
                  </a:lnTo>
                  <a:cubicBezTo>
                    <a:pt x="680068" y="382601"/>
                    <a:pt x="670235" y="396279"/>
                    <a:pt x="655640" y="401185"/>
                  </a:cubicBezTo>
                  <a:lnTo>
                    <a:pt x="364462" y="499063"/>
                  </a:lnTo>
                  <a:cubicBezTo>
                    <a:pt x="348612" y="504390"/>
                    <a:pt x="331456" y="504390"/>
                    <a:pt x="315606" y="499063"/>
                  </a:cubicBezTo>
                  <a:lnTo>
                    <a:pt x="24428" y="401185"/>
                  </a:lnTo>
                  <a:cubicBezTo>
                    <a:pt x="9832" y="396279"/>
                    <a:pt x="0" y="382601"/>
                    <a:pt x="0" y="367203"/>
                  </a:cubicBezTo>
                  <a:lnTo>
                    <a:pt x="0" y="25771"/>
                  </a:lnTo>
                  <a:cubicBezTo>
                    <a:pt x="0" y="11538"/>
                    <a:pt x="11538" y="0"/>
                    <a:pt x="25771" y="0"/>
                  </a:cubicBezTo>
                  <a:lnTo>
                    <a:pt x="654297" y="0"/>
                  </a:lnTo>
                  <a:cubicBezTo>
                    <a:pt x="668530" y="0"/>
                    <a:pt x="680068" y="11538"/>
                    <a:pt x="680068" y="25771"/>
                  </a:cubicBezTo>
                  <a:close/>
                </a:path>
              </a:pathLst>
            </a:custGeom>
            <a:solidFill>
              <a:srgbClr val="408789"/>
            </a:solidFill>
          </p:spPr>
        </p:sp>
        <p:sp>
          <p:nvSpPr>
            <p:cNvPr id="15" name="TextBox 15"/>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16" name="TextBox 16"/>
          <p:cNvSpPr txBox="1"/>
          <p:nvPr/>
        </p:nvSpPr>
        <p:spPr>
          <a:xfrm>
            <a:off x="11323199" y="2111714"/>
            <a:ext cx="2692101" cy="498848"/>
          </a:xfrm>
          <a:prstGeom prst="rect">
            <a:avLst/>
          </a:prstGeom>
        </p:spPr>
        <p:txBody>
          <a:bodyPr lIns="0" tIns="0" rIns="0" bIns="0" rtlCol="0" anchor="t">
            <a:spAutoFit/>
          </a:bodyPr>
          <a:lstStyle/>
          <a:p>
            <a:pPr marL="0" lvl="1" indent="0" algn="ctr">
              <a:lnSpc>
                <a:spcPts val="4037"/>
              </a:lnSpc>
              <a:spcBef>
                <a:spcPct val="0"/>
              </a:spcBef>
            </a:pPr>
            <a:r>
              <a:rPr lang="en-US" sz="2883" b="1" spc="92">
                <a:solidFill>
                  <a:srgbClr val="FFFFFF"/>
                </a:solidFill>
                <a:latin typeface="Rokkitt Bold"/>
                <a:ea typeface="Rokkitt Bold"/>
                <a:cs typeface="Rokkitt Bold"/>
                <a:sym typeface="Rokkitt Bold"/>
              </a:rPr>
              <a:t>AI Agent</a:t>
            </a:r>
          </a:p>
        </p:txBody>
      </p:sp>
      <p:sp>
        <p:nvSpPr>
          <p:cNvPr id="17" name="TextBox 17"/>
          <p:cNvSpPr txBox="1"/>
          <p:nvPr/>
        </p:nvSpPr>
        <p:spPr>
          <a:xfrm>
            <a:off x="11181954" y="2939135"/>
            <a:ext cx="2974591" cy="894402"/>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Thực thi hành động thật</a:t>
            </a:r>
          </a:p>
        </p:txBody>
      </p:sp>
      <p:sp>
        <p:nvSpPr>
          <p:cNvPr id="18" name="Freeform 18"/>
          <p:cNvSpPr/>
          <p:nvPr/>
        </p:nvSpPr>
        <p:spPr>
          <a:xfrm rot="-10800000">
            <a:off x="4053920" y="6338247"/>
            <a:ext cx="3520460" cy="1821838"/>
          </a:xfrm>
          <a:custGeom>
            <a:avLst/>
            <a:gdLst/>
            <a:ahLst/>
            <a:cxnLst/>
            <a:rect l="l" t="t" r="r" b="b"/>
            <a:pathLst>
              <a:path w="3520460" h="1821838">
                <a:moveTo>
                  <a:pt x="0" y="0"/>
                </a:moveTo>
                <a:lnTo>
                  <a:pt x="3520460" y="0"/>
                </a:lnTo>
                <a:lnTo>
                  <a:pt x="3520460" y="1821838"/>
                </a:lnTo>
                <a:lnTo>
                  <a:pt x="0" y="18218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4119764" y="7002515"/>
            <a:ext cx="3388771" cy="894402"/>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“Để lưu vào mục ăn uống bạn cần.....” </a:t>
            </a:r>
          </a:p>
        </p:txBody>
      </p:sp>
      <p:sp>
        <p:nvSpPr>
          <p:cNvPr id="20" name="Freeform 20"/>
          <p:cNvSpPr/>
          <p:nvPr/>
        </p:nvSpPr>
        <p:spPr>
          <a:xfrm rot="-10800000">
            <a:off x="10621691" y="4250243"/>
            <a:ext cx="4095117" cy="2119223"/>
          </a:xfrm>
          <a:custGeom>
            <a:avLst/>
            <a:gdLst/>
            <a:ahLst/>
            <a:cxnLst/>
            <a:rect l="l" t="t" r="r" b="b"/>
            <a:pathLst>
              <a:path w="4095117" h="2119223">
                <a:moveTo>
                  <a:pt x="0" y="0"/>
                </a:moveTo>
                <a:lnTo>
                  <a:pt x="4095117" y="0"/>
                </a:lnTo>
                <a:lnTo>
                  <a:pt x="4095117" y="2119223"/>
                </a:lnTo>
                <a:lnTo>
                  <a:pt x="0" y="2119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10974864" y="4574093"/>
            <a:ext cx="3388771" cy="1795373"/>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Bạn chụp ảnh một hóa đơn siêu thị và nói: "Lưu cái này vào mục ăn uống tháng này."</a:t>
            </a:r>
          </a:p>
        </p:txBody>
      </p:sp>
      <p:sp>
        <p:nvSpPr>
          <p:cNvPr id="22" name="Freeform 22"/>
          <p:cNvSpPr/>
          <p:nvPr/>
        </p:nvSpPr>
        <p:spPr>
          <a:xfrm rot="-10800000">
            <a:off x="10909019" y="6428912"/>
            <a:ext cx="3520460" cy="1821838"/>
          </a:xfrm>
          <a:custGeom>
            <a:avLst/>
            <a:gdLst/>
            <a:ahLst/>
            <a:cxnLst/>
            <a:rect l="l" t="t" r="r" b="b"/>
            <a:pathLst>
              <a:path w="3520460" h="1821838">
                <a:moveTo>
                  <a:pt x="0" y="0"/>
                </a:moveTo>
                <a:lnTo>
                  <a:pt x="3520460" y="0"/>
                </a:lnTo>
                <a:lnTo>
                  <a:pt x="3520460" y="1821838"/>
                </a:lnTo>
                <a:lnTo>
                  <a:pt x="0" y="18218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3" name="TextBox 23"/>
          <p:cNvSpPr txBox="1"/>
          <p:nvPr/>
        </p:nvSpPr>
        <p:spPr>
          <a:xfrm>
            <a:off x="10974864" y="7093180"/>
            <a:ext cx="3388771" cy="894402"/>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 AI agent lưu vào mục ăn uống thật</a:t>
            </a:r>
          </a:p>
        </p:txBody>
      </p:sp>
      <p:grpSp>
        <p:nvGrpSpPr>
          <p:cNvPr id="24" name="Group 24"/>
          <p:cNvGrpSpPr/>
          <p:nvPr/>
        </p:nvGrpSpPr>
        <p:grpSpPr>
          <a:xfrm>
            <a:off x="6550450" y="8250750"/>
            <a:ext cx="5292408" cy="853336"/>
            <a:chOff x="0" y="0"/>
            <a:chExt cx="1675728" cy="270191"/>
          </a:xfrm>
        </p:grpSpPr>
        <p:sp>
          <p:nvSpPr>
            <p:cNvPr id="25" name="Freeform 25"/>
            <p:cNvSpPr/>
            <p:nvPr/>
          </p:nvSpPr>
          <p:spPr>
            <a:xfrm>
              <a:off x="0" y="0"/>
              <a:ext cx="1675728" cy="270191"/>
            </a:xfrm>
            <a:custGeom>
              <a:avLst/>
              <a:gdLst/>
              <a:ahLst/>
              <a:cxnLst/>
              <a:rect l="l" t="t" r="r" b="b"/>
              <a:pathLst>
                <a:path w="1675728" h="270191">
                  <a:moveTo>
                    <a:pt x="48274" y="0"/>
                  </a:moveTo>
                  <a:lnTo>
                    <a:pt x="1627454" y="0"/>
                  </a:lnTo>
                  <a:cubicBezTo>
                    <a:pt x="1640257" y="0"/>
                    <a:pt x="1652536" y="5086"/>
                    <a:pt x="1661589" y="14139"/>
                  </a:cubicBezTo>
                  <a:cubicBezTo>
                    <a:pt x="1670642" y="23192"/>
                    <a:pt x="1675728" y="35471"/>
                    <a:pt x="1675728" y="48274"/>
                  </a:cubicBezTo>
                  <a:lnTo>
                    <a:pt x="1675728" y="221917"/>
                  </a:lnTo>
                  <a:cubicBezTo>
                    <a:pt x="1675728" y="248578"/>
                    <a:pt x="1654115" y="270191"/>
                    <a:pt x="1627454" y="270191"/>
                  </a:cubicBezTo>
                  <a:lnTo>
                    <a:pt x="48274" y="270191"/>
                  </a:lnTo>
                  <a:cubicBezTo>
                    <a:pt x="35471" y="270191"/>
                    <a:pt x="23192" y="265105"/>
                    <a:pt x="14139" y="256052"/>
                  </a:cubicBezTo>
                  <a:cubicBezTo>
                    <a:pt x="5086" y="246999"/>
                    <a:pt x="0" y="234720"/>
                    <a:pt x="0" y="221917"/>
                  </a:cubicBezTo>
                  <a:lnTo>
                    <a:pt x="0" y="48274"/>
                  </a:lnTo>
                  <a:cubicBezTo>
                    <a:pt x="0" y="35471"/>
                    <a:pt x="5086" y="23192"/>
                    <a:pt x="14139" y="14139"/>
                  </a:cubicBezTo>
                  <a:cubicBezTo>
                    <a:pt x="23192" y="5086"/>
                    <a:pt x="35471" y="0"/>
                    <a:pt x="48274" y="0"/>
                  </a:cubicBezTo>
                  <a:close/>
                </a:path>
              </a:pathLst>
            </a:custGeom>
            <a:solidFill>
              <a:srgbClr val="CADCD6">
                <a:alpha val="22745"/>
              </a:srgbClr>
            </a:solidFill>
          </p:spPr>
        </p:sp>
        <p:sp>
          <p:nvSpPr>
            <p:cNvPr id="26" name="TextBox 26"/>
            <p:cNvSpPr txBox="1"/>
            <p:nvPr/>
          </p:nvSpPr>
          <p:spPr>
            <a:xfrm>
              <a:off x="0" y="-47625"/>
              <a:ext cx="1675728" cy="317816"/>
            </a:xfrm>
            <a:prstGeom prst="rect">
              <a:avLst/>
            </a:prstGeom>
          </p:spPr>
          <p:txBody>
            <a:bodyPr lIns="50800" tIns="50800" rIns="50800" bIns="50800" rtlCol="0" anchor="ctr"/>
            <a:lstStyle/>
            <a:p>
              <a:pPr algn="just">
                <a:lnSpc>
                  <a:spcPts val="3079"/>
                </a:lnSpc>
              </a:pPr>
              <a:endParaRPr/>
            </a:p>
          </p:txBody>
        </p:sp>
      </p:grpSp>
      <p:sp>
        <p:nvSpPr>
          <p:cNvPr id="27" name="TextBox 27"/>
          <p:cNvSpPr txBox="1"/>
          <p:nvPr/>
        </p:nvSpPr>
        <p:spPr>
          <a:xfrm>
            <a:off x="6695597" y="8374973"/>
            <a:ext cx="5102948" cy="519166"/>
          </a:xfrm>
          <a:prstGeom prst="rect">
            <a:avLst/>
          </a:prstGeom>
        </p:spPr>
        <p:txBody>
          <a:bodyPr lIns="0" tIns="0" rIns="0" bIns="0" rtlCol="0" anchor="t">
            <a:spAutoFit/>
          </a:bodyPr>
          <a:lstStyle/>
          <a:p>
            <a:pPr algn="just">
              <a:lnSpc>
                <a:spcPts val="4297"/>
              </a:lnSpc>
            </a:pPr>
            <a:r>
              <a:rPr lang="en-US" sz="2864" b="1">
                <a:solidFill>
                  <a:srgbClr val="235A5B"/>
                </a:solidFill>
                <a:latin typeface="Rokkitt Bold"/>
                <a:ea typeface="Rokkitt Bold"/>
                <a:cs typeface="Rokkitt Bold"/>
                <a:sym typeface="Rokkitt Bold"/>
              </a:rPr>
              <a:t>Mục tiêu: Information → Action</a:t>
            </a:r>
          </a:p>
        </p:txBody>
      </p:sp>
      <p:sp>
        <p:nvSpPr>
          <p:cNvPr id="28" name="Freeform 28"/>
          <p:cNvSpPr/>
          <p:nvPr/>
        </p:nvSpPr>
        <p:spPr>
          <a:xfrm rot="-10800000">
            <a:off x="3766591" y="4128358"/>
            <a:ext cx="4095117" cy="2119223"/>
          </a:xfrm>
          <a:custGeom>
            <a:avLst/>
            <a:gdLst/>
            <a:ahLst/>
            <a:cxnLst/>
            <a:rect l="l" t="t" r="r" b="b"/>
            <a:pathLst>
              <a:path w="4095117" h="2119223">
                <a:moveTo>
                  <a:pt x="0" y="0"/>
                </a:moveTo>
                <a:lnTo>
                  <a:pt x="4095117" y="0"/>
                </a:lnTo>
                <a:lnTo>
                  <a:pt x="4095117" y="2119223"/>
                </a:lnTo>
                <a:lnTo>
                  <a:pt x="0" y="2119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TextBox 29"/>
          <p:cNvSpPr txBox="1"/>
          <p:nvPr/>
        </p:nvSpPr>
        <p:spPr>
          <a:xfrm>
            <a:off x="4119764" y="4452208"/>
            <a:ext cx="3388771" cy="1795373"/>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Bạn chụp ảnh một hóa đơn siêu thị và nói: "Lưu cái này vào mục ăn uống tháng này."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a:off x="17259300" y="0"/>
            <a:ext cx="2335743" cy="2057400"/>
          </a:xfrm>
          <a:custGeom>
            <a:avLst/>
            <a:gdLst/>
            <a:ahLst/>
            <a:cxnLst/>
            <a:rect l="l" t="t" r="r" b="b"/>
            <a:pathLst>
              <a:path w="2335743" h="2057400">
                <a:moveTo>
                  <a:pt x="0" y="0"/>
                </a:moveTo>
                <a:lnTo>
                  <a:pt x="2335743" y="0"/>
                </a:lnTo>
                <a:lnTo>
                  <a:pt x="2335743"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TextBox 5"/>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21</a:t>
            </a:r>
          </a:p>
        </p:txBody>
      </p:sp>
      <p:sp>
        <p:nvSpPr>
          <p:cNvPr id="6" name="TextBox 6"/>
          <p:cNvSpPr txBox="1"/>
          <p:nvPr/>
        </p:nvSpPr>
        <p:spPr>
          <a:xfrm>
            <a:off x="3233858" y="131391"/>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CƠ CHẾ HOẠT ĐỘNG - AGENT LOOP</a:t>
            </a:r>
          </a:p>
        </p:txBody>
      </p:sp>
      <p:sp>
        <p:nvSpPr>
          <p:cNvPr id="7" name="Freeform 7"/>
          <p:cNvSpPr/>
          <p:nvPr/>
        </p:nvSpPr>
        <p:spPr>
          <a:xfrm>
            <a:off x="2635313" y="4796766"/>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a:off x="55593" y="4200679"/>
            <a:ext cx="2523230" cy="1532777"/>
            <a:chOff x="0" y="0"/>
            <a:chExt cx="2106212" cy="1279453"/>
          </a:xfrm>
        </p:grpSpPr>
        <p:sp>
          <p:nvSpPr>
            <p:cNvPr id="9" name="Freeform 9"/>
            <p:cNvSpPr/>
            <p:nvPr/>
          </p:nvSpPr>
          <p:spPr>
            <a:xfrm>
              <a:off x="0" y="0"/>
              <a:ext cx="2106212" cy="1279453"/>
            </a:xfrm>
            <a:custGeom>
              <a:avLst/>
              <a:gdLst/>
              <a:ahLst/>
              <a:cxnLst/>
              <a:rect l="l" t="t" r="r" b="b"/>
              <a:pathLst>
                <a:path w="2106212" h="1279453">
                  <a:moveTo>
                    <a:pt x="76706" y="0"/>
                  </a:moveTo>
                  <a:lnTo>
                    <a:pt x="2029506" y="0"/>
                  </a:lnTo>
                  <a:cubicBezTo>
                    <a:pt x="2049850" y="0"/>
                    <a:pt x="2069360" y="8082"/>
                    <a:pt x="2083745" y="22467"/>
                  </a:cubicBezTo>
                  <a:cubicBezTo>
                    <a:pt x="2098131" y="36852"/>
                    <a:pt x="2106212" y="56363"/>
                    <a:pt x="2106212" y="76706"/>
                  </a:cubicBezTo>
                  <a:lnTo>
                    <a:pt x="2106212" y="1202747"/>
                  </a:lnTo>
                  <a:cubicBezTo>
                    <a:pt x="2106212" y="1223091"/>
                    <a:pt x="2098131" y="1242601"/>
                    <a:pt x="2083745" y="1256986"/>
                  </a:cubicBezTo>
                  <a:cubicBezTo>
                    <a:pt x="2069360" y="1271372"/>
                    <a:pt x="2049850" y="1279453"/>
                    <a:pt x="2029506" y="1279453"/>
                  </a:cubicBezTo>
                  <a:lnTo>
                    <a:pt x="76706" y="1279453"/>
                  </a:lnTo>
                  <a:cubicBezTo>
                    <a:pt x="56363" y="1279453"/>
                    <a:pt x="36852" y="1271372"/>
                    <a:pt x="22467" y="1256986"/>
                  </a:cubicBezTo>
                  <a:cubicBezTo>
                    <a:pt x="8082" y="1242601"/>
                    <a:pt x="0" y="1223091"/>
                    <a:pt x="0" y="1202747"/>
                  </a:cubicBezTo>
                  <a:lnTo>
                    <a:pt x="0" y="76706"/>
                  </a:lnTo>
                  <a:cubicBezTo>
                    <a:pt x="0" y="56363"/>
                    <a:pt x="8082" y="36852"/>
                    <a:pt x="22467" y="22467"/>
                  </a:cubicBezTo>
                  <a:cubicBezTo>
                    <a:pt x="36852" y="8082"/>
                    <a:pt x="56363" y="0"/>
                    <a:pt x="76706" y="0"/>
                  </a:cubicBezTo>
                  <a:close/>
                </a:path>
              </a:pathLst>
            </a:custGeom>
            <a:solidFill>
              <a:srgbClr val="408789"/>
            </a:solidFill>
          </p:spPr>
        </p:sp>
        <p:sp>
          <p:nvSpPr>
            <p:cNvPr id="10" name="TextBox 10"/>
            <p:cNvSpPr txBox="1"/>
            <p:nvPr/>
          </p:nvSpPr>
          <p:spPr>
            <a:xfrm>
              <a:off x="0" y="-47625"/>
              <a:ext cx="2106212" cy="1327078"/>
            </a:xfrm>
            <a:prstGeom prst="rect">
              <a:avLst/>
            </a:prstGeom>
          </p:spPr>
          <p:txBody>
            <a:bodyPr lIns="50800" tIns="50800" rIns="50800" bIns="50800" rtlCol="0" anchor="ctr"/>
            <a:lstStyle/>
            <a:p>
              <a:pPr algn="ctr">
                <a:lnSpc>
                  <a:spcPts val="3079"/>
                </a:lnSpc>
              </a:pPr>
              <a:endParaRPr/>
            </a:p>
          </p:txBody>
        </p:sp>
      </p:grpSp>
      <p:sp>
        <p:nvSpPr>
          <p:cNvPr id="11" name="TextBox 11"/>
          <p:cNvSpPr txBox="1"/>
          <p:nvPr/>
        </p:nvSpPr>
        <p:spPr>
          <a:xfrm>
            <a:off x="101662" y="4241858"/>
            <a:ext cx="2431093" cy="1560196"/>
          </a:xfrm>
          <a:prstGeom prst="rect">
            <a:avLst/>
          </a:prstGeom>
        </p:spPr>
        <p:txBody>
          <a:bodyPr lIns="0" tIns="0" rIns="0" bIns="0" rtlCol="0" anchor="t">
            <a:spAutoFit/>
          </a:bodyPr>
          <a:lstStyle/>
          <a:p>
            <a:pPr marL="0" lvl="0" indent="0" algn="ctr">
              <a:lnSpc>
                <a:spcPts val="4199"/>
              </a:lnSpc>
              <a:spcBef>
                <a:spcPct val="0"/>
              </a:spcBef>
            </a:pPr>
            <a:r>
              <a:rPr lang="en-US" sz="2799">
                <a:solidFill>
                  <a:srgbClr val="FFFFFF"/>
                </a:solidFill>
                <a:latin typeface="Rokkitt"/>
                <a:ea typeface="Rokkitt"/>
                <a:cs typeface="Rokkitt"/>
                <a:sym typeface="Rokkitt"/>
              </a:rPr>
              <a:t>User: “Chuyển nền sang màu đỏ”</a:t>
            </a:r>
          </a:p>
        </p:txBody>
      </p:sp>
      <p:grpSp>
        <p:nvGrpSpPr>
          <p:cNvPr id="12" name="Group 12"/>
          <p:cNvGrpSpPr/>
          <p:nvPr/>
        </p:nvGrpSpPr>
        <p:grpSpPr>
          <a:xfrm>
            <a:off x="4075452" y="4161500"/>
            <a:ext cx="2623829" cy="1532777"/>
            <a:chOff x="0" y="0"/>
            <a:chExt cx="2190185" cy="1279453"/>
          </a:xfrm>
        </p:grpSpPr>
        <p:sp>
          <p:nvSpPr>
            <p:cNvPr id="13" name="Freeform 13"/>
            <p:cNvSpPr/>
            <p:nvPr/>
          </p:nvSpPr>
          <p:spPr>
            <a:xfrm>
              <a:off x="0" y="0"/>
              <a:ext cx="2190185" cy="1279453"/>
            </a:xfrm>
            <a:custGeom>
              <a:avLst/>
              <a:gdLst/>
              <a:ahLst/>
              <a:cxnLst/>
              <a:rect l="l" t="t" r="r" b="b"/>
              <a:pathLst>
                <a:path w="2190185" h="1279453">
                  <a:moveTo>
                    <a:pt x="73765" y="0"/>
                  </a:moveTo>
                  <a:lnTo>
                    <a:pt x="2116420" y="0"/>
                  </a:lnTo>
                  <a:cubicBezTo>
                    <a:pt x="2135984" y="0"/>
                    <a:pt x="2154746" y="7772"/>
                    <a:pt x="2168580" y="21605"/>
                  </a:cubicBezTo>
                  <a:cubicBezTo>
                    <a:pt x="2182414" y="35439"/>
                    <a:pt x="2190185" y="54202"/>
                    <a:pt x="2190185" y="73765"/>
                  </a:cubicBezTo>
                  <a:lnTo>
                    <a:pt x="2190185" y="1205688"/>
                  </a:lnTo>
                  <a:cubicBezTo>
                    <a:pt x="2190185" y="1225252"/>
                    <a:pt x="2182414" y="1244014"/>
                    <a:pt x="2168580" y="1257848"/>
                  </a:cubicBezTo>
                  <a:cubicBezTo>
                    <a:pt x="2154746" y="1271681"/>
                    <a:pt x="2135984" y="1279453"/>
                    <a:pt x="2116420" y="1279453"/>
                  </a:cubicBezTo>
                  <a:lnTo>
                    <a:pt x="73765" y="1279453"/>
                  </a:lnTo>
                  <a:cubicBezTo>
                    <a:pt x="54202" y="1279453"/>
                    <a:pt x="35439" y="1271681"/>
                    <a:pt x="21605" y="1257848"/>
                  </a:cubicBezTo>
                  <a:cubicBezTo>
                    <a:pt x="7772" y="1244014"/>
                    <a:pt x="0" y="1225252"/>
                    <a:pt x="0" y="1205688"/>
                  </a:cubicBezTo>
                  <a:lnTo>
                    <a:pt x="0" y="73765"/>
                  </a:lnTo>
                  <a:cubicBezTo>
                    <a:pt x="0" y="54202"/>
                    <a:pt x="7772" y="35439"/>
                    <a:pt x="21605" y="21605"/>
                  </a:cubicBezTo>
                  <a:cubicBezTo>
                    <a:pt x="35439" y="7772"/>
                    <a:pt x="54202" y="0"/>
                    <a:pt x="73765" y="0"/>
                  </a:cubicBezTo>
                  <a:close/>
                </a:path>
              </a:pathLst>
            </a:custGeom>
            <a:solidFill>
              <a:srgbClr val="408789"/>
            </a:solidFill>
          </p:spPr>
        </p:sp>
        <p:sp>
          <p:nvSpPr>
            <p:cNvPr id="14" name="TextBox 14"/>
            <p:cNvSpPr txBox="1"/>
            <p:nvPr/>
          </p:nvSpPr>
          <p:spPr>
            <a:xfrm>
              <a:off x="0" y="-47625"/>
              <a:ext cx="2190185" cy="1327078"/>
            </a:xfrm>
            <a:prstGeom prst="rect">
              <a:avLst/>
            </a:prstGeom>
          </p:spPr>
          <p:txBody>
            <a:bodyPr lIns="50800" tIns="50800" rIns="50800" bIns="50800" rtlCol="0" anchor="ctr"/>
            <a:lstStyle/>
            <a:p>
              <a:pPr algn="ctr">
                <a:lnSpc>
                  <a:spcPts val="3079"/>
                </a:lnSpc>
              </a:pPr>
              <a:endParaRPr/>
            </a:p>
          </p:txBody>
        </p:sp>
      </p:grpSp>
      <p:sp>
        <p:nvSpPr>
          <p:cNvPr id="15" name="TextBox 15"/>
          <p:cNvSpPr txBox="1"/>
          <p:nvPr/>
        </p:nvSpPr>
        <p:spPr>
          <a:xfrm>
            <a:off x="4259431" y="4391757"/>
            <a:ext cx="2240186" cy="1036321"/>
          </a:xfrm>
          <a:prstGeom prst="rect">
            <a:avLst/>
          </a:prstGeom>
        </p:spPr>
        <p:txBody>
          <a:bodyPr lIns="0" tIns="0" rIns="0" bIns="0" rtlCol="0" anchor="t">
            <a:spAutoFit/>
          </a:bodyPr>
          <a:lstStyle/>
          <a:p>
            <a:pPr marL="0" lvl="0" indent="0" algn="ctr">
              <a:lnSpc>
                <a:spcPts val="4199"/>
              </a:lnSpc>
              <a:spcBef>
                <a:spcPct val="0"/>
              </a:spcBef>
            </a:pPr>
            <a:r>
              <a:rPr lang="en-US" sz="2799">
                <a:solidFill>
                  <a:srgbClr val="FFFFFF"/>
                </a:solidFill>
                <a:latin typeface="Rokkitt"/>
                <a:ea typeface="Rokkitt"/>
                <a:cs typeface="Rokkitt"/>
                <a:sym typeface="Rokkitt"/>
              </a:rPr>
              <a:t>LLM phân tích và chọn tool</a:t>
            </a:r>
          </a:p>
        </p:txBody>
      </p:sp>
      <p:sp>
        <p:nvSpPr>
          <p:cNvPr id="16" name="Freeform 16"/>
          <p:cNvSpPr/>
          <p:nvPr/>
        </p:nvSpPr>
        <p:spPr>
          <a:xfrm rot="5400000">
            <a:off x="4928723" y="6014346"/>
            <a:ext cx="901601" cy="261464"/>
          </a:xfrm>
          <a:custGeom>
            <a:avLst/>
            <a:gdLst/>
            <a:ahLst/>
            <a:cxnLst/>
            <a:rect l="l" t="t" r="r" b="b"/>
            <a:pathLst>
              <a:path w="901601" h="261464">
                <a:moveTo>
                  <a:pt x="0" y="0"/>
                </a:moveTo>
                <a:lnTo>
                  <a:pt x="901601" y="0"/>
                </a:lnTo>
                <a:lnTo>
                  <a:pt x="901601" y="261464"/>
                </a:lnTo>
                <a:lnTo>
                  <a:pt x="0" y="2614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7" name="Group 17"/>
          <p:cNvGrpSpPr/>
          <p:nvPr/>
        </p:nvGrpSpPr>
        <p:grpSpPr>
          <a:xfrm>
            <a:off x="2883491" y="6716062"/>
            <a:ext cx="4063968" cy="999107"/>
            <a:chOff x="0" y="0"/>
            <a:chExt cx="3937723" cy="968070"/>
          </a:xfrm>
        </p:grpSpPr>
        <p:sp>
          <p:nvSpPr>
            <p:cNvPr id="18" name="Freeform 18"/>
            <p:cNvSpPr/>
            <p:nvPr/>
          </p:nvSpPr>
          <p:spPr>
            <a:xfrm>
              <a:off x="0" y="0"/>
              <a:ext cx="3937723" cy="968070"/>
            </a:xfrm>
            <a:custGeom>
              <a:avLst/>
              <a:gdLst/>
              <a:ahLst/>
              <a:cxnLst/>
              <a:rect l="l" t="t" r="r" b="b"/>
              <a:pathLst>
                <a:path w="3937723" h="968070">
                  <a:moveTo>
                    <a:pt x="47625" y="0"/>
                  </a:moveTo>
                  <a:lnTo>
                    <a:pt x="3890097" y="0"/>
                  </a:lnTo>
                  <a:cubicBezTo>
                    <a:pt x="3902728" y="0"/>
                    <a:pt x="3914842" y="5018"/>
                    <a:pt x="3923774" y="13949"/>
                  </a:cubicBezTo>
                  <a:cubicBezTo>
                    <a:pt x="3932705" y="22881"/>
                    <a:pt x="3937723" y="34994"/>
                    <a:pt x="3937723" y="47625"/>
                  </a:cubicBezTo>
                  <a:lnTo>
                    <a:pt x="3937723" y="920445"/>
                  </a:lnTo>
                  <a:cubicBezTo>
                    <a:pt x="3937723" y="933076"/>
                    <a:pt x="3932705" y="945190"/>
                    <a:pt x="3923774" y="954121"/>
                  </a:cubicBezTo>
                  <a:cubicBezTo>
                    <a:pt x="3914842" y="963053"/>
                    <a:pt x="3902728" y="968070"/>
                    <a:pt x="3890097" y="968070"/>
                  </a:cubicBezTo>
                  <a:lnTo>
                    <a:pt x="47625" y="968070"/>
                  </a:lnTo>
                  <a:cubicBezTo>
                    <a:pt x="34994" y="968070"/>
                    <a:pt x="22881" y="963053"/>
                    <a:pt x="13949" y="954121"/>
                  </a:cubicBezTo>
                  <a:cubicBezTo>
                    <a:pt x="5018" y="945190"/>
                    <a:pt x="0" y="933076"/>
                    <a:pt x="0" y="920445"/>
                  </a:cubicBezTo>
                  <a:lnTo>
                    <a:pt x="0" y="47625"/>
                  </a:lnTo>
                  <a:cubicBezTo>
                    <a:pt x="0" y="34994"/>
                    <a:pt x="5018" y="22881"/>
                    <a:pt x="13949" y="13949"/>
                  </a:cubicBezTo>
                  <a:cubicBezTo>
                    <a:pt x="22881" y="5018"/>
                    <a:pt x="34994" y="0"/>
                    <a:pt x="47625" y="0"/>
                  </a:cubicBezTo>
                  <a:close/>
                </a:path>
              </a:pathLst>
            </a:custGeom>
            <a:solidFill>
              <a:srgbClr val="92BEBF"/>
            </a:solidFill>
          </p:spPr>
        </p:sp>
        <p:sp>
          <p:nvSpPr>
            <p:cNvPr id="19" name="TextBox 19"/>
            <p:cNvSpPr txBox="1"/>
            <p:nvPr/>
          </p:nvSpPr>
          <p:spPr>
            <a:xfrm>
              <a:off x="0" y="-47625"/>
              <a:ext cx="3937723" cy="1015695"/>
            </a:xfrm>
            <a:prstGeom prst="rect">
              <a:avLst/>
            </a:prstGeom>
          </p:spPr>
          <p:txBody>
            <a:bodyPr lIns="50800" tIns="50800" rIns="50800" bIns="50800" rtlCol="0" anchor="ctr"/>
            <a:lstStyle/>
            <a:p>
              <a:pPr algn="ctr">
                <a:lnSpc>
                  <a:spcPts val="3079"/>
                </a:lnSpc>
              </a:pPr>
              <a:endParaRPr/>
            </a:p>
          </p:txBody>
        </p:sp>
      </p:grpSp>
      <p:sp>
        <p:nvSpPr>
          <p:cNvPr id="20" name="TextBox 20"/>
          <p:cNvSpPr txBox="1"/>
          <p:nvPr/>
        </p:nvSpPr>
        <p:spPr>
          <a:xfrm>
            <a:off x="2995209" y="6909489"/>
            <a:ext cx="3764694" cy="457201"/>
          </a:xfrm>
          <a:prstGeom prst="rect">
            <a:avLst/>
          </a:prstGeom>
        </p:spPr>
        <p:txBody>
          <a:bodyPr lIns="0" tIns="0" rIns="0" bIns="0" rtlCol="0" anchor="t">
            <a:spAutoFit/>
          </a:bodyPr>
          <a:lstStyle/>
          <a:p>
            <a:pPr marL="0" lvl="0" indent="0" algn="ctr">
              <a:lnSpc>
                <a:spcPts val="3749"/>
              </a:lnSpc>
              <a:spcBef>
                <a:spcPct val="0"/>
              </a:spcBef>
            </a:pPr>
            <a:r>
              <a:rPr lang="en-US" sz="2499">
                <a:solidFill>
                  <a:srgbClr val="231F20"/>
                </a:solidFill>
                <a:latin typeface="Rokkitt"/>
                <a:ea typeface="Rokkitt"/>
                <a:cs typeface="Rokkitt"/>
                <a:sym typeface="Rokkitt"/>
              </a:rPr>
              <a:t>changeBackgroundColor()</a:t>
            </a:r>
          </a:p>
        </p:txBody>
      </p:sp>
      <p:sp>
        <p:nvSpPr>
          <p:cNvPr id="21" name="Freeform 21"/>
          <p:cNvSpPr/>
          <p:nvPr/>
        </p:nvSpPr>
        <p:spPr>
          <a:xfrm>
            <a:off x="6827789" y="4767111"/>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2" name="Group 22"/>
          <p:cNvGrpSpPr/>
          <p:nvPr/>
        </p:nvGrpSpPr>
        <p:grpSpPr>
          <a:xfrm>
            <a:off x="8060425" y="4161500"/>
            <a:ext cx="2623829" cy="1532777"/>
            <a:chOff x="0" y="0"/>
            <a:chExt cx="2190185" cy="1279453"/>
          </a:xfrm>
        </p:grpSpPr>
        <p:sp>
          <p:nvSpPr>
            <p:cNvPr id="23" name="Freeform 23"/>
            <p:cNvSpPr/>
            <p:nvPr/>
          </p:nvSpPr>
          <p:spPr>
            <a:xfrm>
              <a:off x="0" y="0"/>
              <a:ext cx="2190185" cy="1279453"/>
            </a:xfrm>
            <a:custGeom>
              <a:avLst/>
              <a:gdLst/>
              <a:ahLst/>
              <a:cxnLst/>
              <a:rect l="l" t="t" r="r" b="b"/>
              <a:pathLst>
                <a:path w="2190185" h="1279453">
                  <a:moveTo>
                    <a:pt x="73765" y="0"/>
                  </a:moveTo>
                  <a:lnTo>
                    <a:pt x="2116420" y="0"/>
                  </a:lnTo>
                  <a:cubicBezTo>
                    <a:pt x="2135984" y="0"/>
                    <a:pt x="2154746" y="7772"/>
                    <a:pt x="2168580" y="21605"/>
                  </a:cubicBezTo>
                  <a:cubicBezTo>
                    <a:pt x="2182414" y="35439"/>
                    <a:pt x="2190185" y="54202"/>
                    <a:pt x="2190185" y="73765"/>
                  </a:cubicBezTo>
                  <a:lnTo>
                    <a:pt x="2190185" y="1205688"/>
                  </a:lnTo>
                  <a:cubicBezTo>
                    <a:pt x="2190185" y="1225252"/>
                    <a:pt x="2182414" y="1244014"/>
                    <a:pt x="2168580" y="1257848"/>
                  </a:cubicBezTo>
                  <a:cubicBezTo>
                    <a:pt x="2154746" y="1271681"/>
                    <a:pt x="2135984" y="1279453"/>
                    <a:pt x="2116420" y="1279453"/>
                  </a:cubicBezTo>
                  <a:lnTo>
                    <a:pt x="73765" y="1279453"/>
                  </a:lnTo>
                  <a:cubicBezTo>
                    <a:pt x="54202" y="1279453"/>
                    <a:pt x="35439" y="1271681"/>
                    <a:pt x="21605" y="1257848"/>
                  </a:cubicBezTo>
                  <a:cubicBezTo>
                    <a:pt x="7772" y="1244014"/>
                    <a:pt x="0" y="1225252"/>
                    <a:pt x="0" y="1205688"/>
                  </a:cubicBezTo>
                  <a:lnTo>
                    <a:pt x="0" y="73765"/>
                  </a:lnTo>
                  <a:cubicBezTo>
                    <a:pt x="0" y="54202"/>
                    <a:pt x="7772" y="35439"/>
                    <a:pt x="21605" y="21605"/>
                  </a:cubicBezTo>
                  <a:cubicBezTo>
                    <a:pt x="35439" y="7772"/>
                    <a:pt x="54202" y="0"/>
                    <a:pt x="73765" y="0"/>
                  </a:cubicBezTo>
                  <a:close/>
                </a:path>
              </a:pathLst>
            </a:custGeom>
            <a:solidFill>
              <a:srgbClr val="408789"/>
            </a:solidFill>
          </p:spPr>
        </p:sp>
        <p:sp>
          <p:nvSpPr>
            <p:cNvPr id="24" name="TextBox 24"/>
            <p:cNvSpPr txBox="1"/>
            <p:nvPr/>
          </p:nvSpPr>
          <p:spPr>
            <a:xfrm>
              <a:off x="0" y="-47625"/>
              <a:ext cx="2190185" cy="1327078"/>
            </a:xfrm>
            <a:prstGeom prst="rect">
              <a:avLst/>
            </a:prstGeom>
          </p:spPr>
          <p:txBody>
            <a:bodyPr lIns="50800" tIns="50800" rIns="50800" bIns="50800" rtlCol="0" anchor="ctr"/>
            <a:lstStyle/>
            <a:p>
              <a:pPr algn="ctr">
                <a:lnSpc>
                  <a:spcPts val="3079"/>
                </a:lnSpc>
              </a:pPr>
              <a:endParaRPr/>
            </a:p>
          </p:txBody>
        </p:sp>
      </p:grpSp>
      <p:sp>
        <p:nvSpPr>
          <p:cNvPr id="25" name="TextBox 25"/>
          <p:cNvSpPr txBox="1"/>
          <p:nvPr/>
        </p:nvSpPr>
        <p:spPr>
          <a:xfrm>
            <a:off x="8252246" y="4681386"/>
            <a:ext cx="2240186" cy="487681"/>
          </a:xfrm>
          <a:prstGeom prst="rect">
            <a:avLst/>
          </a:prstGeom>
        </p:spPr>
        <p:txBody>
          <a:bodyPr lIns="0" tIns="0" rIns="0" bIns="0" rtlCol="0" anchor="t">
            <a:spAutoFit/>
          </a:bodyPr>
          <a:lstStyle/>
          <a:p>
            <a:pPr marL="0" lvl="0" indent="0" algn="ctr">
              <a:lnSpc>
                <a:spcPts val="4049"/>
              </a:lnSpc>
              <a:spcBef>
                <a:spcPct val="0"/>
              </a:spcBef>
            </a:pPr>
            <a:r>
              <a:rPr lang="en-US" sz="2699">
                <a:solidFill>
                  <a:srgbClr val="FFFFFF"/>
                </a:solidFill>
                <a:latin typeface="Rokkitt"/>
                <a:ea typeface="Rokkitt"/>
                <a:cs typeface="Rokkitt"/>
                <a:sym typeface="Rokkitt"/>
              </a:rPr>
              <a:t>Kotlin thực thi</a:t>
            </a:r>
          </a:p>
        </p:txBody>
      </p:sp>
      <p:sp>
        <p:nvSpPr>
          <p:cNvPr id="26" name="Freeform 26"/>
          <p:cNvSpPr/>
          <p:nvPr/>
        </p:nvSpPr>
        <p:spPr>
          <a:xfrm rot="5400000">
            <a:off x="9004133" y="6063481"/>
            <a:ext cx="736412" cy="213559"/>
          </a:xfrm>
          <a:custGeom>
            <a:avLst/>
            <a:gdLst/>
            <a:ahLst/>
            <a:cxnLst/>
            <a:rect l="l" t="t" r="r" b="b"/>
            <a:pathLst>
              <a:path w="736412" h="213559">
                <a:moveTo>
                  <a:pt x="0" y="0"/>
                </a:moveTo>
                <a:lnTo>
                  <a:pt x="736412" y="0"/>
                </a:lnTo>
                <a:lnTo>
                  <a:pt x="736412" y="213559"/>
                </a:lnTo>
                <a:lnTo>
                  <a:pt x="0" y="2135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7" name="Group 27"/>
          <p:cNvGrpSpPr/>
          <p:nvPr/>
        </p:nvGrpSpPr>
        <p:grpSpPr>
          <a:xfrm>
            <a:off x="7209424" y="6636630"/>
            <a:ext cx="4593953" cy="1078539"/>
            <a:chOff x="0" y="0"/>
            <a:chExt cx="5449731" cy="1279453"/>
          </a:xfrm>
        </p:grpSpPr>
        <p:sp>
          <p:nvSpPr>
            <p:cNvPr id="28" name="Freeform 28"/>
            <p:cNvSpPr/>
            <p:nvPr/>
          </p:nvSpPr>
          <p:spPr>
            <a:xfrm>
              <a:off x="0" y="0"/>
              <a:ext cx="5449731" cy="1279453"/>
            </a:xfrm>
            <a:custGeom>
              <a:avLst/>
              <a:gdLst/>
              <a:ahLst/>
              <a:cxnLst/>
              <a:rect l="l" t="t" r="r" b="b"/>
              <a:pathLst>
                <a:path w="5449731" h="1279453">
                  <a:moveTo>
                    <a:pt x="42131" y="0"/>
                  </a:moveTo>
                  <a:lnTo>
                    <a:pt x="5407600" y="0"/>
                  </a:lnTo>
                  <a:cubicBezTo>
                    <a:pt x="5418774" y="0"/>
                    <a:pt x="5429490" y="4439"/>
                    <a:pt x="5437391" y="12340"/>
                  </a:cubicBezTo>
                  <a:cubicBezTo>
                    <a:pt x="5445292" y="20241"/>
                    <a:pt x="5449731" y="30957"/>
                    <a:pt x="5449731" y="42131"/>
                  </a:cubicBezTo>
                  <a:lnTo>
                    <a:pt x="5449731" y="1237322"/>
                  </a:lnTo>
                  <a:cubicBezTo>
                    <a:pt x="5449731" y="1248496"/>
                    <a:pt x="5445292" y="1259212"/>
                    <a:pt x="5437391" y="1267113"/>
                  </a:cubicBezTo>
                  <a:cubicBezTo>
                    <a:pt x="5429490" y="1275014"/>
                    <a:pt x="5418774" y="1279453"/>
                    <a:pt x="5407600" y="1279453"/>
                  </a:cubicBezTo>
                  <a:lnTo>
                    <a:pt x="42131" y="1279453"/>
                  </a:lnTo>
                  <a:cubicBezTo>
                    <a:pt x="30957" y="1279453"/>
                    <a:pt x="20241" y="1275014"/>
                    <a:pt x="12340" y="1267113"/>
                  </a:cubicBezTo>
                  <a:cubicBezTo>
                    <a:pt x="4439" y="1259212"/>
                    <a:pt x="0" y="1248496"/>
                    <a:pt x="0" y="1237322"/>
                  </a:cubicBezTo>
                  <a:lnTo>
                    <a:pt x="0" y="42131"/>
                  </a:lnTo>
                  <a:cubicBezTo>
                    <a:pt x="0" y="30957"/>
                    <a:pt x="4439" y="20241"/>
                    <a:pt x="12340" y="12340"/>
                  </a:cubicBezTo>
                  <a:cubicBezTo>
                    <a:pt x="20241" y="4439"/>
                    <a:pt x="30957" y="0"/>
                    <a:pt x="42131" y="0"/>
                  </a:cubicBezTo>
                  <a:close/>
                </a:path>
              </a:pathLst>
            </a:custGeom>
            <a:solidFill>
              <a:srgbClr val="92BEBF"/>
            </a:solidFill>
          </p:spPr>
        </p:sp>
        <p:sp>
          <p:nvSpPr>
            <p:cNvPr id="29" name="TextBox 29"/>
            <p:cNvSpPr txBox="1"/>
            <p:nvPr/>
          </p:nvSpPr>
          <p:spPr>
            <a:xfrm>
              <a:off x="0" y="-47625"/>
              <a:ext cx="5449731" cy="1327078"/>
            </a:xfrm>
            <a:prstGeom prst="rect">
              <a:avLst/>
            </a:prstGeom>
          </p:spPr>
          <p:txBody>
            <a:bodyPr lIns="50800" tIns="50800" rIns="50800" bIns="50800" rtlCol="0" anchor="ctr"/>
            <a:lstStyle/>
            <a:p>
              <a:pPr algn="ctr">
                <a:lnSpc>
                  <a:spcPts val="3079"/>
                </a:lnSpc>
              </a:pPr>
              <a:endParaRPr/>
            </a:p>
          </p:txBody>
        </p:sp>
      </p:grpSp>
      <p:sp>
        <p:nvSpPr>
          <p:cNvPr id="30" name="TextBox 30"/>
          <p:cNvSpPr txBox="1"/>
          <p:nvPr/>
        </p:nvSpPr>
        <p:spPr>
          <a:xfrm>
            <a:off x="7382194" y="6892736"/>
            <a:ext cx="4208404" cy="457201"/>
          </a:xfrm>
          <a:prstGeom prst="rect">
            <a:avLst/>
          </a:prstGeom>
        </p:spPr>
        <p:txBody>
          <a:bodyPr lIns="0" tIns="0" rIns="0" bIns="0" rtlCol="0" anchor="t">
            <a:spAutoFit/>
          </a:bodyPr>
          <a:lstStyle/>
          <a:p>
            <a:pPr marL="0" lvl="0" indent="0" algn="ctr">
              <a:lnSpc>
                <a:spcPts val="3749"/>
              </a:lnSpc>
              <a:spcBef>
                <a:spcPct val="0"/>
              </a:spcBef>
            </a:pPr>
            <a:r>
              <a:rPr lang="en-US" sz="2499">
                <a:solidFill>
                  <a:srgbClr val="231F20"/>
                </a:solidFill>
                <a:latin typeface="Rokkitt"/>
                <a:ea typeface="Rokkitt"/>
                <a:cs typeface="Rokkitt"/>
                <a:sym typeface="Rokkitt"/>
              </a:rPr>
              <a:t>setBackgroundColor(color.RED)</a:t>
            </a:r>
          </a:p>
        </p:txBody>
      </p:sp>
      <p:sp>
        <p:nvSpPr>
          <p:cNvPr id="31" name="Freeform 31"/>
          <p:cNvSpPr/>
          <p:nvPr/>
        </p:nvSpPr>
        <p:spPr>
          <a:xfrm>
            <a:off x="10808079" y="4761591"/>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2" name="Group 32"/>
          <p:cNvGrpSpPr/>
          <p:nvPr/>
        </p:nvGrpSpPr>
        <p:grpSpPr>
          <a:xfrm>
            <a:off x="12040715" y="4155980"/>
            <a:ext cx="2623829" cy="1532777"/>
            <a:chOff x="0" y="0"/>
            <a:chExt cx="2190185" cy="1279453"/>
          </a:xfrm>
        </p:grpSpPr>
        <p:sp>
          <p:nvSpPr>
            <p:cNvPr id="33" name="Freeform 33"/>
            <p:cNvSpPr/>
            <p:nvPr/>
          </p:nvSpPr>
          <p:spPr>
            <a:xfrm>
              <a:off x="0" y="0"/>
              <a:ext cx="2190185" cy="1279453"/>
            </a:xfrm>
            <a:custGeom>
              <a:avLst/>
              <a:gdLst/>
              <a:ahLst/>
              <a:cxnLst/>
              <a:rect l="l" t="t" r="r" b="b"/>
              <a:pathLst>
                <a:path w="2190185" h="1279453">
                  <a:moveTo>
                    <a:pt x="73765" y="0"/>
                  </a:moveTo>
                  <a:lnTo>
                    <a:pt x="2116420" y="0"/>
                  </a:lnTo>
                  <a:cubicBezTo>
                    <a:pt x="2135984" y="0"/>
                    <a:pt x="2154746" y="7772"/>
                    <a:pt x="2168580" y="21605"/>
                  </a:cubicBezTo>
                  <a:cubicBezTo>
                    <a:pt x="2182414" y="35439"/>
                    <a:pt x="2190185" y="54202"/>
                    <a:pt x="2190185" y="73765"/>
                  </a:cubicBezTo>
                  <a:lnTo>
                    <a:pt x="2190185" y="1205688"/>
                  </a:lnTo>
                  <a:cubicBezTo>
                    <a:pt x="2190185" y="1225252"/>
                    <a:pt x="2182414" y="1244014"/>
                    <a:pt x="2168580" y="1257848"/>
                  </a:cubicBezTo>
                  <a:cubicBezTo>
                    <a:pt x="2154746" y="1271681"/>
                    <a:pt x="2135984" y="1279453"/>
                    <a:pt x="2116420" y="1279453"/>
                  </a:cubicBezTo>
                  <a:lnTo>
                    <a:pt x="73765" y="1279453"/>
                  </a:lnTo>
                  <a:cubicBezTo>
                    <a:pt x="54202" y="1279453"/>
                    <a:pt x="35439" y="1271681"/>
                    <a:pt x="21605" y="1257848"/>
                  </a:cubicBezTo>
                  <a:cubicBezTo>
                    <a:pt x="7772" y="1244014"/>
                    <a:pt x="0" y="1225252"/>
                    <a:pt x="0" y="1205688"/>
                  </a:cubicBezTo>
                  <a:lnTo>
                    <a:pt x="0" y="73765"/>
                  </a:lnTo>
                  <a:cubicBezTo>
                    <a:pt x="0" y="54202"/>
                    <a:pt x="7772" y="35439"/>
                    <a:pt x="21605" y="21605"/>
                  </a:cubicBezTo>
                  <a:cubicBezTo>
                    <a:pt x="35439" y="7772"/>
                    <a:pt x="54202" y="0"/>
                    <a:pt x="73765" y="0"/>
                  </a:cubicBezTo>
                  <a:close/>
                </a:path>
              </a:pathLst>
            </a:custGeom>
            <a:solidFill>
              <a:srgbClr val="408789"/>
            </a:solidFill>
          </p:spPr>
        </p:sp>
        <p:sp>
          <p:nvSpPr>
            <p:cNvPr id="34" name="TextBox 34"/>
            <p:cNvSpPr txBox="1"/>
            <p:nvPr/>
          </p:nvSpPr>
          <p:spPr>
            <a:xfrm>
              <a:off x="0" y="-47625"/>
              <a:ext cx="2190185" cy="1327078"/>
            </a:xfrm>
            <a:prstGeom prst="rect">
              <a:avLst/>
            </a:prstGeom>
          </p:spPr>
          <p:txBody>
            <a:bodyPr lIns="50800" tIns="50800" rIns="50800" bIns="50800" rtlCol="0" anchor="ctr"/>
            <a:lstStyle/>
            <a:p>
              <a:pPr algn="ctr">
                <a:lnSpc>
                  <a:spcPts val="3079"/>
                </a:lnSpc>
              </a:pPr>
              <a:endParaRPr/>
            </a:p>
          </p:txBody>
        </p:sp>
      </p:grpSp>
      <p:sp>
        <p:nvSpPr>
          <p:cNvPr id="35" name="TextBox 35"/>
          <p:cNvSpPr txBox="1"/>
          <p:nvPr/>
        </p:nvSpPr>
        <p:spPr>
          <a:xfrm>
            <a:off x="12232536" y="4175540"/>
            <a:ext cx="2240186" cy="1497331"/>
          </a:xfrm>
          <a:prstGeom prst="rect">
            <a:avLst/>
          </a:prstGeom>
        </p:spPr>
        <p:txBody>
          <a:bodyPr lIns="0" tIns="0" rIns="0" bIns="0" rtlCol="0" anchor="t">
            <a:spAutoFit/>
          </a:bodyPr>
          <a:lstStyle/>
          <a:p>
            <a:pPr marL="0" lvl="0" indent="0" algn="ctr">
              <a:lnSpc>
                <a:spcPts val="4049"/>
              </a:lnSpc>
              <a:spcBef>
                <a:spcPct val="0"/>
              </a:spcBef>
            </a:pPr>
            <a:r>
              <a:rPr lang="en-US" sz="2699">
                <a:solidFill>
                  <a:srgbClr val="FFFFFF"/>
                </a:solidFill>
                <a:latin typeface="Rokkitt"/>
                <a:ea typeface="Rokkitt"/>
                <a:cs typeface="Rokkitt"/>
                <a:sym typeface="Rokkitt"/>
              </a:rPr>
              <a:t>App trả trạng thái về cho LLM</a:t>
            </a:r>
          </a:p>
        </p:txBody>
      </p:sp>
      <p:sp>
        <p:nvSpPr>
          <p:cNvPr id="36" name="Freeform 36"/>
          <p:cNvSpPr/>
          <p:nvPr/>
        </p:nvSpPr>
        <p:spPr>
          <a:xfrm>
            <a:off x="14778844" y="4796766"/>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7" name="Group 37"/>
          <p:cNvGrpSpPr/>
          <p:nvPr/>
        </p:nvGrpSpPr>
        <p:grpSpPr>
          <a:xfrm>
            <a:off x="16011480" y="4191154"/>
            <a:ext cx="2184383" cy="1532777"/>
            <a:chOff x="0" y="0"/>
            <a:chExt cx="1823367" cy="1279453"/>
          </a:xfrm>
        </p:grpSpPr>
        <p:sp>
          <p:nvSpPr>
            <p:cNvPr id="38" name="Freeform 38"/>
            <p:cNvSpPr/>
            <p:nvPr/>
          </p:nvSpPr>
          <p:spPr>
            <a:xfrm>
              <a:off x="0" y="0"/>
              <a:ext cx="1823367" cy="1279453"/>
            </a:xfrm>
            <a:custGeom>
              <a:avLst/>
              <a:gdLst/>
              <a:ahLst/>
              <a:cxnLst/>
              <a:rect l="l" t="t" r="r" b="b"/>
              <a:pathLst>
                <a:path w="1823367" h="1279453">
                  <a:moveTo>
                    <a:pt x="88605" y="0"/>
                  </a:moveTo>
                  <a:lnTo>
                    <a:pt x="1734762" y="0"/>
                  </a:lnTo>
                  <a:cubicBezTo>
                    <a:pt x="1758262" y="0"/>
                    <a:pt x="1780799" y="9335"/>
                    <a:pt x="1797415" y="25952"/>
                  </a:cubicBezTo>
                  <a:cubicBezTo>
                    <a:pt x="1814032" y="42569"/>
                    <a:pt x="1823367" y="65106"/>
                    <a:pt x="1823367" y="88605"/>
                  </a:cubicBezTo>
                  <a:lnTo>
                    <a:pt x="1823367" y="1190848"/>
                  </a:lnTo>
                  <a:cubicBezTo>
                    <a:pt x="1823367" y="1214347"/>
                    <a:pt x="1814032" y="1236885"/>
                    <a:pt x="1797415" y="1253501"/>
                  </a:cubicBezTo>
                  <a:cubicBezTo>
                    <a:pt x="1780799" y="1270118"/>
                    <a:pt x="1758262" y="1279453"/>
                    <a:pt x="1734762" y="1279453"/>
                  </a:cubicBezTo>
                  <a:lnTo>
                    <a:pt x="88605" y="1279453"/>
                  </a:lnTo>
                  <a:cubicBezTo>
                    <a:pt x="65106" y="1279453"/>
                    <a:pt x="42569" y="1270118"/>
                    <a:pt x="25952" y="1253501"/>
                  </a:cubicBezTo>
                  <a:cubicBezTo>
                    <a:pt x="9335" y="1236885"/>
                    <a:pt x="0" y="1214347"/>
                    <a:pt x="0" y="1190848"/>
                  </a:cubicBezTo>
                  <a:lnTo>
                    <a:pt x="0" y="88605"/>
                  </a:lnTo>
                  <a:cubicBezTo>
                    <a:pt x="0" y="65106"/>
                    <a:pt x="9335" y="42569"/>
                    <a:pt x="25952" y="25952"/>
                  </a:cubicBezTo>
                  <a:cubicBezTo>
                    <a:pt x="42569" y="9335"/>
                    <a:pt x="65106" y="0"/>
                    <a:pt x="88605" y="0"/>
                  </a:cubicBezTo>
                  <a:close/>
                </a:path>
              </a:pathLst>
            </a:custGeom>
            <a:solidFill>
              <a:srgbClr val="408789"/>
            </a:solidFill>
          </p:spPr>
        </p:sp>
        <p:sp>
          <p:nvSpPr>
            <p:cNvPr id="39" name="TextBox 39"/>
            <p:cNvSpPr txBox="1"/>
            <p:nvPr/>
          </p:nvSpPr>
          <p:spPr>
            <a:xfrm>
              <a:off x="0" y="-47625"/>
              <a:ext cx="1823367" cy="1327078"/>
            </a:xfrm>
            <a:prstGeom prst="rect">
              <a:avLst/>
            </a:prstGeom>
          </p:spPr>
          <p:txBody>
            <a:bodyPr lIns="50800" tIns="50800" rIns="50800" bIns="50800" rtlCol="0" anchor="ctr"/>
            <a:lstStyle/>
            <a:p>
              <a:pPr algn="ctr">
                <a:lnSpc>
                  <a:spcPts val="3079"/>
                </a:lnSpc>
              </a:pPr>
              <a:endParaRPr/>
            </a:p>
          </p:txBody>
        </p:sp>
      </p:grpSp>
      <p:sp>
        <p:nvSpPr>
          <p:cNvPr id="40" name="TextBox 40"/>
          <p:cNvSpPr txBox="1"/>
          <p:nvPr/>
        </p:nvSpPr>
        <p:spPr>
          <a:xfrm>
            <a:off x="16067282" y="4356583"/>
            <a:ext cx="2072778" cy="1036321"/>
          </a:xfrm>
          <a:prstGeom prst="rect">
            <a:avLst/>
          </a:prstGeom>
        </p:spPr>
        <p:txBody>
          <a:bodyPr lIns="0" tIns="0" rIns="0" bIns="0" rtlCol="0" anchor="t">
            <a:spAutoFit/>
          </a:bodyPr>
          <a:lstStyle/>
          <a:p>
            <a:pPr marL="0" lvl="0" indent="0" algn="ctr">
              <a:lnSpc>
                <a:spcPts val="4199"/>
              </a:lnSpc>
              <a:spcBef>
                <a:spcPct val="0"/>
              </a:spcBef>
            </a:pPr>
            <a:r>
              <a:rPr lang="en-US" sz="2799">
                <a:solidFill>
                  <a:srgbClr val="FFFFFF"/>
                </a:solidFill>
                <a:latin typeface="Rokkitt"/>
                <a:ea typeface="Rokkitt"/>
                <a:cs typeface="Rokkitt"/>
                <a:sym typeface="Rokkitt"/>
              </a:rPr>
              <a:t>LLM trả lời người dùng</a:t>
            </a:r>
          </a:p>
        </p:txBody>
      </p:sp>
      <p:sp>
        <p:nvSpPr>
          <p:cNvPr id="41" name="Freeform 41"/>
          <p:cNvSpPr/>
          <p:nvPr/>
        </p:nvSpPr>
        <p:spPr>
          <a:xfrm rot="5400000">
            <a:off x="12915714" y="6027564"/>
            <a:ext cx="938836" cy="272262"/>
          </a:xfrm>
          <a:custGeom>
            <a:avLst/>
            <a:gdLst/>
            <a:ahLst/>
            <a:cxnLst/>
            <a:rect l="l" t="t" r="r" b="b"/>
            <a:pathLst>
              <a:path w="938836" h="272262">
                <a:moveTo>
                  <a:pt x="0" y="0"/>
                </a:moveTo>
                <a:lnTo>
                  <a:pt x="938836" y="0"/>
                </a:lnTo>
                <a:lnTo>
                  <a:pt x="938836" y="272262"/>
                </a:lnTo>
                <a:lnTo>
                  <a:pt x="0" y="2722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42" name="Group 42"/>
          <p:cNvGrpSpPr/>
          <p:nvPr/>
        </p:nvGrpSpPr>
        <p:grpSpPr>
          <a:xfrm>
            <a:off x="12252897" y="6716062"/>
            <a:ext cx="2264469" cy="999107"/>
            <a:chOff x="0" y="0"/>
            <a:chExt cx="2107104" cy="929676"/>
          </a:xfrm>
        </p:grpSpPr>
        <p:sp>
          <p:nvSpPr>
            <p:cNvPr id="43" name="Freeform 43"/>
            <p:cNvSpPr/>
            <p:nvPr/>
          </p:nvSpPr>
          <p:spPr>
            <a:xfrm>
              <a:off x="0" y="0"/>
              <a:ext cx="2107104" cy="929676"/>
            </a:xfrm>
            <a:custGeom>
              <a:avLst/>
              <a:gdLst/>
              <a:ahLst/>
              <a:cxnLst/>
              <a:rect l="l" t="t" r="r" b="b"/>
              <a:pathLst>
                <a:path w="2107104" h="929676">
                  <a:moveTo>
                    <a:pt x="85472" y="0"/>
                  </a:moveTo>
                  <a:lnTo>
                    <a:pt x="2021632" y="0"/>
                  </a:lnTo>
                  <a:cubicBezTo>
                    <a:pt x="2044300" y="0"/>
                    <a:pt x="2066040" y="9005"/>
                    <a:pt x="2082069" y="25034"/>
                  </a:cubicBezTo>
                  <a:cubicBezTo>
                    <a:pt x="2098098" y="41063"/>
                    <a:pt x="2107104" y="62803"/>
                    <a:pt x="2107104" y="85472"/>
                  </a:cubicBezTo>
                  <a:lnTo>
                    <a:pt x="2107104" y="844204"/>
                  </a:lnTo>
                  <a:cubicBezTo>
                    <a:pt x="2107104" y="866873"/>
                    <a:pt x="2098098" y="888613"/>
                    <a:pt x="2082069" y="904642"/>
                  </a:cubicBezTo>
                  <a:cubicBezTo>
                    <a:pt x="2066040" y="920671"/>
                    <a:pt x="2044300" y="929676"/>
                    <a:pt x="2021632" y="929676"/>
                  </a:cubicBezTo>
                  <a:lnTo>
                    <a:pt x="85472" y="929676"/>
                  </a:lnTo>
                  <a:cubicBezTo>
                    <a:pt x="62803" y="929676"/>
                    <a:pt x="41063" y="920671"/>
                    <a:pt x="25034" y="904642"/>
                  </a:cubicBezTo>
                  <a:cubicBezTo>
                    <a:pt x="9005" y="888613"/>
                    <a:pt x="0" y="866873"/>
                    <a:pt x="0" y="844204"/>
                  </a:cubicBezTo>
                  <a:lnTo>
                    <a:pt x="0" y="85472"/>
                  </a:lnTo>
                  <a:cubicBezTo>
                    <a:pt x="0" y="62803"/>
                    <a:pt x="9005" y="41063"/>
                    <a:pt x="25034" y="25034"/>
                  </a:cubicBezTo>
                  <a:cubicBezTo>
                    <a:pt x="41063" y="9005"/>
                    <a:pt x="62803" y="0"/>
                    <a:pt x="85472" y="0"/>
                  </a:cubicBezTo>
                  <a:close/>
                </a:path>
              </a:pathLst>
            </a:custGeom>
            <a:solidFill>
              <a:srgbClr val="92BEBF"/>
            </a:solidFill>
          </p:spPr>
        </p:sp>
        <p:sp>
          <p:nvSpPr>
            <p:cNvPr id="44" name="TextBox 44"/>
            <p:cNvSpPr txBox="1"/>
            <p:nvPr/>
          </p:nvSpPr>
          <p:spPr>
            <a:xfrm>
              <a:off x="0" y="-47625"/>
              <a:ext cx="2107104" cy="977301"/>
            </a:xfrm>
            <a:prstGeom prst="rect">
              <a:avLst/>
            </a:prstGeom>
          </p:spPr>
          <p:txBody>
            <a:bodyPr lIns="50800" tIns="50800" rIns="50800" bIns="50800" rtlCol="0" anchor="ctr"/>
            <a:lstStyle/>
            <a:p>
              <a:pPr algn="ctr">
                <a:lnSpc>
                  <a:spcPts val="3079"/>
                </a:lnSpc>
              </a:pPr>
              <a:endParaRPr/>
            </a:p>
          </p:txBody>
        </p:sp>
      </p:grpSp>
      <p:sp>
        <p:nvSpPr>
          <p:cNvPr id="45" name="TextBox 45"/>
          <p:cNvSpPr txBox="1"/>
          <p:nvPr/>
        </p:nvSpPr>
        <p:spPr>
          <a:xfrm>
            <a:off x="12347829" y="6676127"/>
            <a:ext cx="2009601" cy="923926"/>
          </a:xfrm>
          <a:prstGeom prst="rect">
            <a:avLst/>
          </a:prstGeom>
        </p:spPr>
        <p:txBody>
          <a:bodyPr lIns="0" tIns="0" rIns="0" bIns="0" rtlCol="0" anchor="t">
            <a:spAutoFit/>
          </a:bodyPr>
          <a:lstStyle/>
          <a:p>
            <a:pPr marL="0" lvl="0" indent="0" algn="ctr">
              <a:lnSpc>
                <a:spcPts val="3749"/>
              </a:lnSpc>
              <a:spcBef>
                <a:spcPct val="0"/>
              </a:spcBef>
            </a:pPr>
            <a:r>
              <a:rPr lang="en-US" sz="2499">
                <a:solidFill>
                  <a:srgbClr val="231F20"/>
                </a:solidFill>
                <a:latin typeface="Rokkitt"/>
                <a:ea typeface="Rokkitt"/>
                <a:cs typeface="Rokkitt"/>
                <a:sym typeface="Rokkitt"/>
              </a:rPr>
              <a:t>“status”: “success”</a:t>
            </a:r>
          </a:p>
        </p:txBody>
      </p:sp>
      <p:sp>
        <p:nvSpPr>
          <p:cNvPr id="46" name="Freeform 46"/>
          <p:cNvSpPr/>
          <p:nvPr/>
        </p:nvSpPr>
        <p:spPr>
          <a:xfrm>
            <a:off x="7306976" y="2444491"/>
            <a:ext cx="863050" cy="250284"/>
          </a:xfrm>
          <a:custGeom>
            <a:avLst/>
            <a:gdLst/>
            <a:ahLst/>
            <a:cxnLst/>
            <a:rect l="l" t="t" r="r" b="b"/>
            <a:pathLst>
              <a:path w="863050" h="250284">
                <a:moveTo>
                  <a:pt x="0" y="0"/>
                </a:moveTo>
                <a:lnTo>
                  <a:pt x="863050" y="0"/>
                </a:lnTo>
                <a:lnTo>
                  <a:pt x="863050" y="250284"/>
                </a:lnTo>
                <a:lnTo>
                  <a:pt x="0" y="2502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7" name="Group 47"/>
          <p:cNvGrpSpPr/>
          <p:nvPr/>
        </p:nvGrpSpPr>
        <p:grpSpPr>
          <a:xfrm>
            <a:off x="5097712" y="2010433"/>
            <a:ext cx="2122024" cy="1132642"/>
            <a:chOff x="0" y="0"/>
            <a:chExt cx="2275711" cy="1214673"/>
          </a:xfrm>
        </p:grpSpPr>
        <p:sp>
          <p:nvSpPr>
            <p:cNvPr id="48" name="Freeform 48"/>
            <p:cNvSpPr/>
            <p:nvPr/>
          </p:nvSpPr>
          <p:spPr>
            <a:xfrm>
              <a:off x="0" y="0"/>
              <a:ext cx="2275711" cy="1214673"/>
            </a:xfrm>
            <a:custGeom>
              <a:avLst/>
              <a:gdLst/>
              <a:ahLst/>
              <a:cxnLst/>
              <a:rect l="l" t="t" r="r" b="b"/>
              <a:pathLst>
                <a:path w="2275711" h="1214673">
                  <a:moveTo>
                    <a:pt x="91209" y="0"/>
                  </a:moveTo>
                  <a:lnTo>
                    <a:pt x="2184502" y="0"/>
                  </a:lnTo>
                  <a:cubicBezTo>
                    <a:pt x="2234875" y="0"/>
                    <a:pt x="2275711" y="40836"/>
                    <a:pt x="2275711" y="91209"/>
                  </a:cubicBezTo>
                  <a:lnTo>
                    <a:pt x="2275711" y="1123464"/>
                  </a:lnTo>
                  <a:cubicBezTo>
                    <a:pt x="2275711" y="1147654"/>
                    <a:pt x="2266102" y="1170853"/>
                    <a:pt x="2248997" y="1187958"/>
                  </a:cubicBezTo>
                  <a:cubicBezTo>
                    <a:pt x="2231891" y="1205064"/>
                    <a:pt x="2208692" y="1214673"/>
                    <a:pt x="2184502" y="1214673"/>
                  </a:cubicBezTo>
                  <a:lnTo>
                    <a:pt x="91209" y="1214673"/>
                  </a:lnTo>
                  <a:cubicBezTo>
                    <a:pt x="67019" y="1214673"/>
                    <a:pt x="43820" y="1205064"/>
                    <a:pt x="26715" y="1187958"/>
                  </a:cubicBezTo>
                  <a:cubicBezTo>
                    <a:pt x="9610" y="1170853"/>
                    <a:pt x="0" y="1147654"/>
                    <a:pt x="0" y="1123464"/>
                  </a:cubicBezTo>
                  <a:lnTo>
                    <a:pt x="0" y="91209"/>
                  </a:lnTo>
                  <a:cubicBezTo>
                    <a:pt x="0" y="67019"/>
                    <a:pt x="9610" y="43820"/>
                    <a:pt x="26715" y="26715"/>
                  </a:cubicBezTo>
                  <a:cubicBezTo>
                    <a:pt x="43820" y="9610"/>
                    <a:pt x="67019" y="0"/>
                    <a:pt x="91209" y="0"/>
                  </a:cubicBezTo>
                  <a:close/>
                </a:path>
              </a:pathLst>
            </a:custGeom>
            <a:solidFill>
              <a:srgbClr val="408789"/>
            </a:solidFill>
          </p:spPr>
        </p:sp>
        <p:sp>
          <p:nvSpPr>
            <p:cNvPr id="49" name="TextBox 49"/>
            <p:cNvSpPr txBox="1"/>
            <p:nvPr/>
          </p:nvSpPr>
          <p:spPr>
            <a:xfrm>
              <a:off x="0" y="-47625"/>
              <a:ext cx="2275711" cy="1262298"/>
            </a:xfrm>
            <a:prstGeom prst="rect">
              <a:avLst/>
            </a:prstGeom>
          </p:spPr>
          <p:txBody>
            <a:bodyPr lIns="50800" tIns="50800" rIns="50800" bIns="50800" rtlCol="0" anchor="ctr"/>
            <a:lstStyle/>
            <a:p>
              <a:pPr algn="ctr">
                <a:lnSpc>
                  <a:spcPts val="3079"/>
                </a:lnSpc>
              </a:pPr>
              <a:endParaRPr/>
            </a:p>
          </p:txBody>
        </p:sp>
      </p:grpSp>
      <p:sp>
        <p:nvSpPr>
          <p:cNvPr id="50" name="TextBox 50"/>
          <p:cNvSpPr txBox="1"/>
          <p:nvPr/>
        </p:nvSpPr>
        <p:spPr>
          <a:xfrm>
            <a:off x="5403999" y="2323111"/>
            <a:ext cx="1509449" cy="481965"/>
          </a:xfrm>
          <a:prstGeom prst="rect">
            <a:avLst/>
          </a:prstGeom>
        </p:spPr>
        <p:txBody>
          <a:bodyPr lIns="0" tIns="0" rIns="0" bIns="0" rtlCol="0" anchor="t">
            <a:spAutoFit/>
          </a:bodyPr>
          <a:lstStyle/>
          <a:p>
            <a:pPr marL="0" lvl="0" indent="0" algn="ctr">
              <a:lnSpc>
                <a:spcPts val="3900"/>
              </a:lnSpc>
              <a:spcBef>
                <a:spcPct val="0"/>
              </a:spcBef>
            </a:pPr>
            <a:r>
              <a:rPr lang="en-US" sz="2600">
                <a:solidFill>
                  <a:srgbClr val="FFFFFF"/>
                </a:solidFill>
                <a:latin typeface="Rokkitt"/>
                <a:ea typeface="Rokkitt"/>
                <a:cs typeface="Rokkitt"/>
                <a:sym typeface="Rokkitt"/>
              </a:rPr>
              <a:t>REASON</a:t>
            </a:r>
          </a:p>
        </p:txBody>
      </p:sp>
      <p:grpSp>
        <p:nvGrpSpPr>
          <p:cNvPr id="51" name="Group 51"/>
          <p:cNvGrpSpPr/>
          <p:nvPr/>
        </p:nvGrpSpPr>
        <p:grpSpPr>
          <a:xfrm>
            <a:off x="8255751" y="2010433"/>
            <a:ext cx="1908827" cy="1132642"/>
            <a:chOff x="0" y="0"/>
            <a:chExt cx="2047073" cy="1214673"/>
          </a:xfrm>
        </p:grpSpPr>
        <p:sp>
          <p:nvSpPr>
            <p:cNvPr id="52" name="Freeform 52"/>
            <p:cNvSpPr/>
            <p:nvPr/>
          </p:nvSpPr>
          <p:spPr>
            <a:xfrm>
              <a:off x="0" y="0"/>
              <a:ext cx="2047073" cy="1214673"/>
            </a:xfrm>
            <a:custGeom>
              <a:avLst/>
              <a:gdLst/>
              <a:ahLst/>
              <a:cxnLst/>
              <a:rect l="l" t="t" r="r" b="b"/>
              <a:pathLst>
                <a:path w="2047073" h="1214673">
                  <a:moveTo>
                    <a:pt x="101396" y="0"/>
                  </a:moveTo>
                  <a:lnTo>
                    <a:pt x="1945677" y="0"/>
                  </a:lnTo>
                  <a:cubicBezTo>
                    <a:pt x="1972569" y="0"/>
                    <a:pt x="1998359" y="10683"/>
                    <a:pt x="2017375" y="29698"/>
                  </a:cubicBezTo>
                  <a:cubicBezTo>
                    <a:pt x="2036390" y="48714"/>
                    <a:pt x="2047073" y="74504"/>
                    <a:pt x="2047073" y="101396"/>
                  </a:cubicBezTo>
                  <a:lnTo>
                    <a:pt x="2047073" y="1113277"/>
                  </a:lnTo>
                  <a:cubicBezTo>
                    <a:pt x="2047073" y="1140169"/>
                    <a:pt x="2036390" y="1165959"/>
                    <a:pt x="2017375" y="1184975"/>
                  </a:cubicBezTo>
                  <a:cubicBezTo>
                    <a:pt x="1998359" y="1203990"/>
                    <a:pt x="1972569" y="1214673"/>
                    <a:pt x="1945677" y="1214673"/>
                  </a:cubicBezTo>
                  <a:lnTo>
                    <a:pt x="101396" y="1214673"/>
                  </a:lnTo>
                  <a:cubicBezTo>
                    <a:pt x="74504" y="1214673"/>
                    <a:pt x="48714" y="1203990"/>
                    <a:pt x="29698" y="1184975"/>
                  </a:cubicBezTo>
                  <a:cubicBezTo>
                    <a:pt x="10683" y="1165959"/>
                    <a:pt x="0" y="1140169"/>
                    <a:pt x="0" y="1113277"/>
                  </a:cubicBezTo>
                  <a:lnTo>
                    <a:pt x="0" y="101396"/>
                  </a:lnTo>
                  <a:cubicBezTo>
                    <a:pt x="0" y="74504"/>
                    <a:pt x="10683" y="48714"/>
                    <a:pt x="29698" y="29698"/>
                  </a:cubicBezTo>
                  <a:cubicBezTo>
                    <a:pt x="48714" y="10683"/>
                    <a:pt x="74504" y="0"/>
                    <a:pt x="101396" y="0"/>
                  </a:cubicBezTo>
                  <a:close/>
                </a:path>
              </a:pathLst>
            </a:custGeom>
            <a:solidFill>
              <a:srgbClr val="408789"/>
            </a:solidFill>
          </p:spPr>
        </p:sp>
        <p:sp>
          <p:nvSpPr>
            <p:cNvPr id="53" name="TextBox 53"/>
            <p:cNvSpPr txBox="1"/>
            <p:nvPr/>
          </p:nvSpPr>
          <p:spPr>
            <a:xfrm>
              <a:off x="0" y="-47625"/>
              <a:ext cx="2047073" cy="1262298"/>
            </a:xfrm>
            <a:prstGeom prst="rect">
              <a:avLst/>
            </a:prstGeom>
          </p:spPr>
          <p:txBody>
            <a:bodyPr lIns="50800" tIns="50800" rIns="50800" bIns="50800" rtlCol="0" anchor="ctr"/>
            <a:lstStyle/>
            <a:p>
              <a:pPr algn="ctr">
                <a:lnSpc>
                  <a:spcPts val="3079"/>
                </a:lnSpc>
              </a:pPr>
              <a:endParaRPr/>
            </a:p>
          </p:txBody>
        </p:sp>
      </p:grpSp>
      <p:sp>
        <p:nvSpPr>
          <p:cNvPr id="54" name="TextBox 54"/>
          <p:cNvSpPr txBox="1"/>
          <p:nvPr/>
        </p:nvSpPr>
        <p:spPr>
          <a:xfrm>
            <a:off x="8536427" y="2344276"/>
            <a:ext cx="1267229" cy="481965"/>
          </a:xfrm>
          <a:prstGeom prst="rect">
            <a:avLst/>
          </a:prstGeom>
        </p:spPr>
        <p:txBody>
          <a:bodyPr lIns="0" tIns="0" rIns="0" bIns="0" rtlCol="0" anchor="t">
            <a:spAutoFit/>
          </a:bodyPr>
          <a:lstStyle/>
          <a:p>
            <a:pPr marL="0" lvl="0" indent="0" algn="ctr">
              <a:lnSpc>
                <a:spcPts val="3900"/>
              </a:lnSpc>
              <a:spcBef>
                <a:spcPct val="0"/>
              </a:spcBef>
            </a:pPr>
            <a:r>
              <a:rPr lang="en-US" sz="2600">
                <a:solidFill>
                  <a:srgbClr val="FFFFFF"/>
                </a:solidFill>
                <a:latin typeface="Rokkitt"/>
                <a:ea typeface="Rokkitt"/>
                <a:cs typeface="Rokkitt"/>
                <a:sym typeface="Rokkitt"/>
              </a:rPr>
              <a:t>ACT</a:t>
            </a:r>
          </a:p>
        </p:txBody>
      </p:sp>
      <p:sp>
        <p:nvSpPr>
          <p:cNvPr id="55" name="Freeform 55"/>
          <p:cNvSpPr/>
          <p:nvPr/>
        </p:nvSpPr>
        <p:spPr>
          <a:xfrm>
            <a:off x="10297928" y="2444491"/>
            <a:ext cx="863050" cy="250284"/>
          </a:xfrm>
          <a:custGeom>
            <a:avLst/>
            <a:gdLst/>
            <a:ahLst/>
            <a:cxnLst/>
            <a:rect l="l" t="t" r="r" b="b"/>
            <a:pathLst>
              <a:path w="863050" h="250284">
                <a:moveTo>
                  <a:pt x="0" y="0"/>
                </a:moveTo>
                <a:lnTo>
                  <a:pt x="863050" y="0"/>
                </a:lnTo>
                <a:lnTo>
                  <a:pt x="863050" y="250284"/>
                </a:lnTo>
                <a:lnTo>
                  <a:pt x="0" y="2502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6" name="Group 56"/>
          <p:cNvGrpSpPr/>
          <p:nvPr/>
        </p:nvGrpSpPr>
        <p:grpSpPr>
          <a:xfrm>
            <a:off x="11294328" y="2010433"/>
            <a:ext cx="2139080" cy="1193047"/>
            <a:chOff x="0" y="0"/>
            <a:chExt cx="2294002" cy="1279453"/>
          </a:xfrm>
        </p:grpSpPr>
        <p:sp>
          <p:nvSpPr>
            <p:cNvPr id="57" name="Freeform 57"/>
            <p:cNvSpPr/>
            <p:nvPr/>
          </p:nvSpPr>
          <p:spPr>
            <a:xfrm>
              <a:off x="0" y="0"/>
              <a:ext cx="2294002" cy="1279453"/>
            </a:xfrm>
            <a:custGeom>
              <a:avLst/>
              <a:gdLst/>
              <a:ahLst/>
              <a:cxnLst/>
              <a:rect l="l" t="t" r="r" b="b"/>
              <a:pathLst>
                <a:path w="2294002" h="1279453">
                  <a:moveTo>
                    <a:pt x="90482" y="0"/>
                  </a:moveTo>
                  <a:lnTo>
                    <a:pt x="2203521" y="0"/>
                  </a:lnTo>
                  <a:cubicBezTo>
                    <a:pt x="2253492" y="0"/>
                    <a:pt x="2294002" y="40510"/>
                    <a:pt x="2294002" y="90482"/>
                  </a:cubicBezTo>
                  <a:lnTo>
                    <a:pt x="2294002" y="1188971"/>
                  </a:lnTo>
                  <a:cubicBezTo>
                    <a:pt x="2294002" y="1238943"/>
                    <a:pt x="2253492" y="1279453"/>
                    <a:pt x="2203521" y="1279453"/>
                  </a:cubicBezTo>
                  <a:lnTo>
                    <a:pt x="90482" y="1279453"/>
                  </a:lnTo>
                  <a:cubicBezTo>
                    <a:pt x="40510" y="1279453"/>
                    <a:pt x="0" y="1238943"/>
                    <a:pt x="0" y="1188971"/>
                  </a:cubicBezTo>
                  <a:lnTo>
                    <a:pt x="0" y="90482"/>
                  </a:lnTo>
                  <a:cubicBezTo>
                    <a:pt x="0" y="40510"/>
                    <a:pt x="40510" y="0"/>
                    <a:pt x="90482" y="0"/>
                  </a:cubicBezTo>
                  <a:close/>
                </a:path>
              </a:pathLst>
            </a:custGeom>
            <a:solidFill>
              <a:srgbClr val="408789"/>
            </a:solidFill>
          </p:spPr>
        </p:sp>
        <p:sp>
          <p:nvSpPr>
            <p:cNvPr id="58" name="TextBox 58"/>
            <p:cNvSpPr txBox="1"/>
            <p:nvPr/>
          </p:nvSpPr>
          <p:spPr>
            <a:xfrm>
              <a:off x="0" y="-47625"/>
              <a:ext cx="2294002" cy="1327078"/>
            </a:xfrm>
            <a:prstGeom prst="rect">
              <a:avLst/>
            </a:prstGeom>
          </p:spPr>
          <p:txBody>
            <a:bodyPr lIns="50800" tIns="50800" rIns="50800" bIns="50800" rtlCol="0" anchor="ctr"/>
            <a:lstStyle/>
            <a:p>
              <a:pPr algn="ctr">
                <a:lnSpc>
                  <a:spcPts val="3079"/>
                </a:lnSpc>
              </a:pPr>
              <a:endParaRPr/>
            </a:p>
          </p:txBody>
        </p:sp>
      </p:grpSp>
      <p:sp>
        <p:nvSpPr>
          <p:cNvPr id="59" name="TextBox 59"/>
          <p:cNvSpPr txBox="1"/>
          <p:nvPr/>
        </p:nvSpPr>
        <p:spPr>
          <a:xfrm>
            <a:off x="11405724" y="2291964"/>
            <a:ext cx="1750659" cy="481965"/>
          </a:xfrm>
          <a:prstGeom prst="rect">
            <a:avLst/>
          </a:prstGeom>
        </p:spPr>
        <p:txBody>
          <a:bodyPr lIns="0" tIns="0" rIns="0" bIns="0" rtlCol="0" anchor="t">
            <a:spAutoFit/>
          </a:bodyPr>
          <a:lstStyle/>
          <a:p>
            <a:pPr marL="0" lvl="0" indent="0" algn="ctr">
              <a:lnSpc>
                <a:spcPts val="3900"/>
              </a:lnSpc>
              <a:spcBef>
                <a:spcPct val="0"/>
              </a:spcBef>
            </a:pPr>
            <a:r>
              <a:rPr lang="en-US" sz="2600">
                <a:solidFill>
                  <a:srgbClr val="FFFFFF"/>
                </a:solidFill>
                <a:latin typeface="Rokkitt"/>
                <a:ea typeface="Rokkitt"/>
                <a:cs typeface="Rokkitt"/>
                <a:sym typeface="Rokkitt"/>
              </a:rPr>
              <a:t>OBSERVER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7772027" y="9194574"/>
            <a:ext cx="1686269" cy="168626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aphicFrame>
        <p:nvGraphicFramePr>
          <p:cNvPr id="9" name="Object 9"/>
          <p:cNvGraphicFramePr/>
          <p:nvPr/>
        </p:nvGraphicFramePr>
        <p:xfrm>
          <a:off x="4021633" y="1950201"/>
          <a:ext cx="16908624" cy="6526335"/>
        </p:xfrm>
        <a:graphic>
          <a:graphicData uri="http://schemas.openxmlformats.org/presentationml/2006/ole">
            <mc:AlternateContent xmlns:mc="http://schemas.openxmlformats.org/markup-compatibility/2006">
              <mc:Choice xmlns:v="urn:schemas-microsoft-com:vml" Requires="v">
                <p:oleObj name="Worksheet" r:id="rId5" imgW="20281900" imgH="9906000" progId="Excel.Sheet.12">
                  <p:embed/>
                </p:oleObj>
              </mc:Choice>
              <mc:Fallback>
                <p:oleObj name="Worksheet" r:id="rId5" imgW="20281900" imgH="9906000" progId="Excel.Sheet.12">
                  <p:embed/>
                  <p:pic>
                    <p:nvPicPr>
                      <p:cNvPr id="0" name=""/>
                      <p:cNvPicPr/>
                      <p:nvPr/>
                    </p:nvPicPr>
                    <p:blipFill>
                      <a:blip r:embed="rId6"/>
                      <a:stretch>
                        <a:fillRect/>
                      </a:stretch>
                    </p:blipFill>
                    <p:spPr>
                      <a:xfrm>
                        <a:off x="4021633" y="1950201"/>
                        <a:ext cx="16908624" cy="6526335"/>
                      </a:xfrm>
                      <a:prstGeom prst="rect">
                        <a:avLst/>
                      </a:prstGeom>
                    </p:spPr>
                  </p:pic>
                </p:oleObj>
              </mc:Fallback>
            </mc:AlternateContent>
          </a:graphicData>
        </a:graphic>
      </p:graphicFrame>
      <p:sp>
        <p:nvSpPr>
          <p:cNvPr id="10" name="TextBox 1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22</a:t>
            </a:r>
          </a:p>
        </p:txBody>
      </p:sp>
      <p:sp>
        <p:nvSpPr>
          <p:cNvPr id="11" name="TextBox 11"/>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KIẾN TRÚC HYBRID</a:t>
            </a:r>
          </a:p>
        </p:txBody>
      </p:sp>
      <p:sp>
        <p:nvSpPr>
          <p:cNvPr id="12" name="Freeform 12"/>
          <p:cNvSpPr/>
          <p:nvPr/>
        </p:nvSpPr>
        <p:spPr>
          <a:xfrm>
            <a:off x="3121775" y="7090745"/>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3" name="Group 13"/>
          <p:cNvGrpSpPr/>
          <p:nvPr/>
        </p:nvGrpSpPr>
        <p:grpSpPr>
          <a:xfrm>
            <a:off x="4727652" y="5972487"/>
            <a:ext cx="8229936" cy="2236516"/>
            <a:chOff x="0" y="0"/>
            <a:chExt cx="6869763" cy="1866884"/>
          </a:xfrm>
        </p:grpSpPr>
        <p:sp>
          <p:nvSpPr>
            <p:cNvPr id="14" name="Freeform 14"/>
            <p:cNvSpPr/>
            <p:nvPr/>
          </p:nvSpPr>
          <p:spPr>
            <a:xfrm>
              <a:off x="0" y="0"/>
              <a:ext cx="6869763" cy="1866884"/>
            </a:xfrm>
            <a:custGeom>
              <a:avLst/>
              <a:gdLst/>
              <a:ahLst/>
              <a:cxnLst/>
              <a:rect l="l" t="t" r="r" b="b"/>
              <a:pathLst>
                <a:path w="6869763" h="1866884">
                  <a:moveTo>
                    <a:pt x="23518" y="0"/>
                  </a:moveTo>
                  <a:lnTo>
                    <a:pt x="6846246" y="0"/>
                  </a:lnTo>
                  <a:cubicBezTo>
                    <a:pt x="6852483" y="0"/>
                    <a:pt x="6858464" y="2478"/>
                    <a:pt x="6862875" y="6888"/>
                  </a:cubicBezTo>
                  <a:cubicBezTo>
                    <a:pt x="6867285" y="11299"/>
                    <a:pt x="6869763" y="17280"/>
                    <a:pt x="6869763" y="23518"/>
                  </a:cubicBezTo>
                  <a:lnTo>
                    <a:pt x="6869763" y="1843367"/>
                  </a:lnTo>
                  <a:cubicBezTo>
                    <a:pt x="6869763" y="1856355"/>
                    <a:pt x="6859234" y="1866884"/>
                    <a:pt x="6846246" y="1866884"/>
                  </a:cubicBezTo>
                  <a:lnTo>
                    <a:pt x="23518" y="1866884"/>
                  </a:lnTo>
                  <a:cubicBezTo>
                    <a:pt x="17280" y="1866884"/>
                    <a:pt x="11299" y="1864406"/>
                    <a:pt x="6888" y="1859996"/>
                  </a:cubicBezTo>
                  <a:cubicBezTo>
                    <a:pt x="2478" y="1855586"/>
                    <a:pt x="0" y="1849604"/>
                    <a:pt x="0" y="1843367"/>
                  </a:cubicBezTo>
                  <a:lnTo>
                    <a:pt x="0" y="23518"/>
                  </a:lnTo>
                  <a:cubicBezTo>
                    <a:pt x="0" y="17280"/>
                    <a:pt x="2478" y="11299"/>
                    <a:pt x="6888" y="6888"/>
                  </a:cubicBezTo>
                  <a:cubicBezTo>
                    <a:pt x="11299" y="2478"/>
                    <a:pt x="17280" y="0"/>
                    <a:pt x="23518" y="0"/>
                  </a:cubicBezTo>
                  <a:close/>
                </a:path>
              </a:pathLst>
            </a:custGeom>
            <a:solidFill>
              <a:srgbClr val="408789"/>
            </a:solidFill>
          </p:spPr>
        </p:sp>
        <p:sp>
          <p:nvSpPr>
            <p:cNvPr id="15" name="TextBox 15"/>
            <p:cNvSpPr txBox="1"/>
            <p:nvPr/>
          </p:nvSpPr>
          <p:spPr>
            <a:xfrm>
              <a:off x="0" y="-47625"/>
              <a:ext cx="6869763" cy="1914509"/>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5616642" y="6209682"/>
            <a:ext cx="7054716" cy="1666876"/>
          </a:xfrm>
          <a:prstGeom prst="rect">
            <a:avLst/>
          </a:prstGeom>
        </p:spPr>
        <p:txBody>
          <a:bodyPr lIns="0" tIns="0" rIns="0" bIns="0" rtlCol="0" anchor="t">
            <a:spAutoFit/>
          </a:bodyPr>
          <a:lstStyle/>
          <a:p>
            <a:pPr algn="l">
              <a:lnSpc>
                <a:spcPts val="4499"/>
              </a:lnSpc>
            </a:pPr>
            <a:r>
              <a:rPr lang="en-US" sz="2999">
                <a:solidFill>
                  <a:srgbClr val="FFFFFF"/>
                </a:solidFill>
                <a:latin typeface="Rokkitt"/>
                <a:ea typeface="Rokkitt"/>
                <a:cs typeface="Rokkitt"/>
                <a:sym typeface="Rokkitt"/>
              </a:rPr>
              <a:t>HYBRID: </a:t>
            </a:r>
          </a:p>
          <a:p>
            <a:pPr marL="647692" lvl="1" indent="-323846" algn="l">
              <a:lnSpc>
                <a:spcPts val="4499"/>
              </a:lnSpc>
              <a:buFont typeface="Arial"/>
              <a:buChar char="•"/>
            </a:pPr>
            <a:r>
              <a:rPr lang="en-US" sz="2999">
                <a:solidFill>
                  <a:srgbClr val="FFFFFF"/>
                </a:solidFill>
                <a:latin typeface="Rokkitt"/>
                <a:ea typeface="Rokkitt"/>
                <a:cs typeface="Rokkitt"/>
                <a:sym typeface="Rokkitt"/>
              </a:rPr>
              <a:t>Tác vụ nhẹ, riêng tư → Gemini nano</a:t>
            </a:r>
          </a:p>
          <a:p>
            <a:pPr marL="647692" lvl="1" indent="-323846" algn="l">
              <a:lnSpc>
                <a:spcPts val="4499"/>
              </a:lnSpc>
              <a:buFont typeface="Arial"/>
              <a:buChar char="•"/>
            </a:pPr>
            <a:r>
              <a:rPr lang="en-US" sz="2999">
                <a:solidFill>
                  <a:srgbClr val="FFFFFF"/>
                </a:solidFill>
                <a:latin typeface="Rokkitt"/>
                <a:ea typeface="Rokkitt"/>
                <a:cs typeface="Rokkitt"/>
                <a:sym typeface="Rokkitt"/>
              </a:rPr>
              <a:t>Tác vụ phức tạp → Gemini Flash/Pro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3815641" y="1604776"/>
            <a:ext cx="11370755" cy="2066750"/>
            <a:chOff x="0" y="0"/>
            <a:chExt cx="4814354" cy="875058"/>
          </a:xfrm>
        </p:grpSpPr>
        <p:sp>
          <p:nvSpPr>
            <p:cNvPr id="11" name="Freeform 11"/>
            <p:cNvSpPr/>
            <p:nvPr/>
          </p:nvSpPr>
          <p:spPr>
            <a:xfrm>
              <a:off x="0" y="0"/>
              <a:ext cx="4814354" cy="875058"/>
            </a:xfrm>
            <a:custGeom>
              <a:avLst/>
              <a:gdLst/>
              <a:ahLst/>
              <a:cxnLst/>
              <a:rect l="l" t="t" r="r" b="b"/>
              <a:pathLst>
                <a:path w="4814354" h="875058">
                  <a:moveTo>
                    <a:pt x="22468" y="0"/>
                  </a:moveTo>
                  <a:lnTo>
                    <a:pt x="4791885" y="0"/>
                  </a:lnTo>
                  <a:cubicBezTo>
                    <a:pt x="4804294" y="0"/>
                    <a:pt x="4814354" y="10059"/>
                    <a:pt x="4814354" y="22468"/>
                  </a:cubicBezTo>
                  <a:lnTo>
                    <a:pt x="4814354" y="852589"/>
                  </a:lnTo>
                  <a:cubicBezTo>
                    <a:pt x="4814354" y="864998"/>
                    <a:pt x="4804294" y="875058"/>
                    <a:pt x="4791885" y="875058"/>
                  </a:cubicBezTo>
                  <a:lnTo>
                    <a:pt x="22468" y="875058"/>
                  </a:lnTo>
                  <a:cubicBezTo>
                    <a:pt x="10059" y="875058"/>
                    <a:pt x="0" y="864998"/>
                    <a:pt x="0" y="852589"/>
                  </a:cubicBezTo>
                  <a:lnTo>
                    <a:pt x="0" y="22468"/>
                  </a:lnTo>
                  <a:cubicBezTo>
                    <a:pt x="0" y="10059"/>
                    <a:pt x="10059" y="0"/>
                    <a:pt x="22468" y="0"/>
                  </a:cubicBezTo>
                  <a:close/>
                </a:path>
              </a:pathLst>
            </a:custGeom>
            <a:solidFill>
              <a:srgbClr val="CADCD6">
                <a:alpha val="22745"/>
              </a:srgbClr>
            </a:solidFill>
          </p:spPr>
        </p:sp>
        <p:sp>
          <p:nvSpPr>
            <p:cNvPr id="12" name="TextBox 12"/>
            <p:cNvSpPr txBox="1"/>
            <p:nvPr/>
          </p:nvSpPr>
          <p:spPr>
            <a:xfrm>
              <a:off x="0" y="-47625"/>
              <a:ext cx="4814354" cy="922683"/>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3815641" y="1604776"/>
            <a:ext cx="127141" cy="2066750"/>
            <a:chOff x="0" y="0"/>
            <a:chExt cx="53831" cy="875058"/>
          </a:xfrm>
        </p:grpSpPr>
        <p:sp>
          <p:nvSpPr>
            <p:cNvPr id="14" name="Freeform 14"/>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sp>
        <p:sp>
          <p:nvSpPr>
            <p:cNvPr id="15" name="TextBox 15"/>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16" name="Group 16"/>
          <p:cNvGrpSpPr/>
          <p:nvPr/>
        </p:nvGrpSpPr>
        <p:grpSpPr>
          <a:xfrm>
            <a:off x="658649" y="1964994"/>
            <a:ext cx="2428694" cy="1346313"/>
            <a:chOff x="0" y="0"/>
            <a:chExt cx="2308082" cy="1279453"/>
          </a:xfrm>
        </p:grpSpPr>
        <p:sp>
          <p:nvSpPr>
            <p:cNvPr id="17" name="Freeform 17"/>
            <p:cNvSpPr/>
            <p:nvPr/>
          </p:nvSpPr>
          <p:spPr>
            <a:xfrm>
              <a:off x="0" y="0"/>
              <a:ext cx="2308082" cy="1279453"/>
            </a:xfrm>
            <a:custGeom>
              <a:avLst/>
              <a:gdLst/>
              <a:ahLst/>
              <a:cxnLst/>
              <a:rect l="l" t="t" r="r" b="b"/>
              <a:pathLst>
                <a:path w="2308082" h="1279453">
                  <a:moveTo>
                    <a:pt x="79692" y="0"/>
                  </a:moveTo>
                  <a:lnTo>
                    <a:pt x="2228389" y="0"/>
                  </a:lnTo>
                  <a:cubicBezTo>
                    <a:pt x="2249525" y="0"/>
                    <a:pt x="2269795" y="8396"/>
                    <a:pt x="2284740" y="23341"/>
                  </a:cubicBezTo>
                  <a:cubicBezTo>
                    <a:pt x="2299685" y="38287"/>
                    <a:pt x="2308082" y="58557"/>
                    <a:pt x="2308082" y="79692"/>
                  </a:cubicBezTo>
                  <a:lnTo>
                    <a:pt x="2308082" y="1199761"/>
                  </a:lnTo>
                  <a:cubicBezTo>
                    <a:pt x="2308082" y="1220897"/>
                    <a:pt x="2299685" y="1241167"/>
                    <a:pt x="2284740" y="1256112"/>
                  </a:cubicBezTo>
                  <a:cubicBezTo>
                    <a:pt x="2269795" y="1271057"/>
                    <a:pt x="2249525" y="1279453"/>
                    <a:pt x="2228389" y="1279453"/>
                  </a:cubicBezTo>
                  <a:lnTo>
                    <a:pt x="79692" y="1279453"/>
                  </a:lnTo>
                  <a:cubicBezTo>
                    <a:pt x="58557" y="1279453"/>
                    <a:pt x="38287" y="1271057"/>
                    <a:pt x="23341" y="1256112"/>
                  </a:cubicBezTo>
                  <a:cubicBezTo>
                    <a:pt x="8396" y="1241167"/>
                    <a:pt x="0" y="1220897"/>
                    <a:pt x="0" y="1199761"/>
                  </a:cubicBezTo>
                  <a:lnTo>
                    <a:pt x="0" y="79692"/>
                  </a:lnTo>
                  <a:cubicBezTo>
                    <a:pt x="0" y="58557"/>
                    <a:pt x="8396" y="38287"/>
                    <a:pt x="23341" y="23341"/>
                  </a:cubicBezTo>
                  <a:cubicBezTo>
                    <a:pt x="38287" y="8396"/>
                    <a:pt x="58557" y="0"/>
                    <a:pt x="79692" y="0"/>
                  </a:cubicBezTo>
                  <a:close/>
                </a:path>
              </a:pathLst>
            </a:custGeom>
            <a:solidFill>
              <a:srgbClr val="408789"/>
            </a:solidFill>
          </p:spPr>
        </p:sp>
        <p:sp>
          <p:nvSpPr>
            <p:cNvPr id="18" name="TextBox 18"/>
            <p:cNvSpPr txBox="1"/>
            <p:nvPr/>
          </p:nvSpPr>
          <p:spPr>
            <a:xfrm>
              <a:off x="0" y="-47625"/>
              <a:ext cx="2308082" cy="1327078"/>
            </a:xfrm>
            <a:prstGeom prst="rect">
              <a:avLst/>
            </a:prstGeom>
          </p:spPr>
          <p:txBody>
            <a:bodyPr lIns="50800" tIns="50800" rIns="50800" bIns="50800" rtlCol="0" anchor="ctr"/>
            <a:lstStyle/>
            <a:p>
              <a:pPr algn="ctr">
                <a:lnSpc>
                  <a:spcPts val="3079"/>
                </a:lnSpc>
              </a:pPr>
              <a:endParaRPr/>
            </a:p>
          </p:txBody>
        </p:sp>
      </p:grpSp>
      <p:sp>
        <p:nvSpPr>
          <p:cNvPr id="19" name="Freeform 19"/>
          <p:cNvSpPr/>
          <p:nvPr/>
        </p:nvSpPr>
        <p:spPr>
          <a:xfrm>
            <a:off x="1572821" y="4471113"/>
            <a:ext cx="15142358" cy="3919111"/>
          </a:xfrm>
          <a:custGeom>
            <a:avLst/>
            <a:gdLst/>
            <a:ahLst/>
            <a:cxnLst/>
            <a:rect l="l" t="t" r="r" b="b"/>
            <a:pathLst>
              <a:path w="15142358" h="3919111">
                <a:moveTo>
                  <a:pt x="0" y="0"/>
                </a:moveTo>
                <a:lnTo>
                  <a:pt x="15142358" y="0"/>
                </a:lnTo>
                <a:lnTo>
                  <a:pt x="15142358" y="3919111"/>
                </a:lnTo>
                <a:lnTo>
                  <a:pt x="0" y="3919111"/>
                </a:lnTo>
                <a:lnTo>
                  <a:pt x="0" y="0"/>
                </a:lnTo>
                <a:close/>
              </a:path>
            </a:pathLst>
          </a:custGeom>
          <a:blipFill>
            <a:blip r:embed="rId7"/>
            <a:stretch>
              <a:fillRect t="-2160" b="-2160"/>
            </a:stretch>
          </a:blipFill>
        </p:spPr>
      </p:sp>
      <p:sp>
        <p:nvSpPr>
          <p:cNvPr id="20" name="TextBox 2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23</a:t>
            </a:r>
          </a:p>
        </p:txBody>
      </p:sp>
      <p:sp>
        <p:nvSpPr>
          <p:cNvPr id="21" name="TextBox 21"/>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TÍCH HỢP GOOGLE AI SDK</a:t>
            </a:r>
          </a:p>
        </p:txBody>
      </p:sp>
      <p:sp>
        <p:nvSpPr>
          <p:cNvPr id="22" name="TextBox 22"/>
          <p:cNvSpPr txBox="1"/>
          <p:nvPr/>
        </p:nvSpPr>
        <p:spPr>
          <a:xfrm>
            <a:off x="4287628" y="2009001"/>
            <a:ext cx="10243002" cy="1149853"/>
          </a:xfrm>
          <a:prstGeom prst="rect">
            <a:avLst/>
          </a:prstGeom>
        </p:spPr>
        <p:txBody>
          <a:bodyPr lIns="0" tIns="0" rIns="0" bIns="0" rtlCol="0" anchor="t">
            <a:spAutoFit/>
          </a:bodyPr>
          <a:lstStyle/>
          <a:p>
            <a:pPr marL="662842" lvl="1" indent="-331421" algn="just">
              <a:lnSpc>
                <a:spcPts val="4605"/>
              </a:lnSpc>
              <a:spcBef>
                <a:spcPct val="0"/>
              </a:spcBef>
              <a:buFont typeface="Arial"/>
              <a:buChar char="•"/>
            </a:pPr>
            <a:r>
              <a:rPr lang="en-US" sz="3070">
                <a:solidFill>
                  <a:srgbClr val="2B2B2B"/>
                </a:solidFill>
                <a:latin typeface="Rokkitt"/>
                <a:ea typeface="Rokkitt"/>
                <a:cs typeface="Rokkitt"/>
                <a:sym typeface="Rokkitt"/>
              </a:rPr>
              <a:t>Sử dụng defineFunc</a:t>
            </a:r>
            <a:r>
              <a:rPr lang="en-US" sz="3070" u="none" strike="noStrike">
                <a:solidFill>
                  <a:srgbClr val="2B2B2B"/>
                </a:solidFill>
                <a:latin typeface="Rokkitt"/>
                <a:ea typeface="Rokkitt"/>
                <a:cs typeface="Rokkitt"/>
                <a:sym typeface="Rokkitt"/>
              </a:rPr>
              <a:t>tion để mô tả hàm cho AI hiểu.</a:t>
            </a:r>
          </a:p>
          <a:p>
            <a:pPr marL="662842" lvl="1" indent="-331421" algn="just">
              <a:lnSpc>
                <a:spcPts val="4605"/>
              </a:lnSpc>
              <a:spcBef>
                <a:spcPct val="0"/>
              </a:spcBef>
              <a:buFont typeface="Arial"/>
              <a:buChar char="•"/>
            </a:pPr>
            <a:r>
              <a:rPr lang="en-US" sz="3070" u="none" strike="noStrike">
                <a:solidFill>
                  <a:srgbClr val="2B2B2B"/>
                </a:solidFill>
                <a:latin typeface="Rokkitt"/>
                <a:ea typeface="Rokkitt"/>
                <a:cs typeface="Rokkitt"/>
                <a:sym typeface="Rokkitt"/>
              </a:rPr>
              <a:t>Quan trọng: name, description, parameters phải rõ ràng</a:t>
            </a:r>
          </a:p>
        </p:txBody>
      </p:sp>
      <p:sp>
        <p:nvSpPr>
          <p:cNvPr id="23" name="TextBox 23"/>
          <p:cNvSpPr txBox="1"/>
          <p:nvPr/>
        </p:nvSpPr>
        <p:spPr>
          <a:xfrm>
            <a:off x="749675" y="2378375"/>
            <a:ext cx="2246641" cy="458731"/>
          </a:xfrm>
          <a:prstGeom prst="rect">
            <a:avLst/>
          </a:prstGeom>
        </p:spPr>
        <p:txBody>
          <a:bodyPr lIns="0" tIns="0" rIns="0" bIns="0" rtlCol="0" anchor="t">
            <a:spAutoFit/>
          </a:bodyPr>
          <a:lstStyle/>
          <a:p>
            <a:pPr marL="0" lvl="1" indent="0" algn="ctr">
              <a:lnSpc>
                <a:spcPts val="3689"/>
              </a:lnSpc>
              <a:spcBef>
                <a:spcPct val="0"/>
              </a:spcBef>
            </a:pPr>
            <a:r>
              <a:rPr lang="en-US" sz="2635" b="1" spc="110">
                <a:solidFill>
                  <a:srgbClr val="F9F9F9"/>
                </a:solidFill>
                <a:latin typeface="Rokkitt Bold"/>
                <a:ea typeface="Rokkitt Bold"/>
                <a:cs typeface="Rokkitt Bold"/>
                <a:sym typeface="Rokkitt Bold"/>
              </a:rPr>
              <a:t>CAPABILITY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89812"/>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3815641" y="1604776"/>
            <a:ext cx="11370755" cy="2066750"/>
            <a:chOff x="0" y="0"/>
            <a:chExt cx="4814354" cy="875058"/>
          </a:xfrm>
        </p:grpSpPr>
        <p:sp>
          <p:nvSpPr>
            <p:cNvPr id="11" name="Freeform 11"/>
            <p:cNvSpPr/>
            <p:nvPr/>
          </p:nvSpPr>
          <p:spPr>
            <a:xfrm>
              <a:off x="0" y="0"/>
              <a:ext cx="4814354" cy="875058"/>
            </a:xfrm>
            <a:custGeom>
              <a:avLst/>
              <a:gdLst/>
              <a:ahLst/>
              <a:cxnLst/>
              <a:rect l="l" t="t" r="r" b="b"/>
              <a:pathLst>
                <a:path w="4814354" h="875058">
                  <a:moveTo>
                    <a:pt x="22468" y="0"/>
                  </a:moveTo>
                  <a:lnTo>
                    <a:pt x="4791885" y="0"/>
                  </a:lnTo>
                  <a:cubicBezTo>
                    <a:pt x="4804294" y="0"/>
                    <a:pt x="4814354" y="10059"/>
                    <a:pt x="4814354" y="22468"/>
                  </a:cubicBezTo>
                  <a:lnTo>
                    <a:pt x="4814354" y="852589"/>
                  </a:lnTo>
                  <a:cubicBezTo>
                    <a:pt x="4814354" y="864998"/>
                    <a:pt x="4804294" y="875058"/>
                    <a:pt x="4791885" y="875058"/>
                  </a:cubicBezTo>
                  <a:lnTo>
                    <a:pt x="22468" y="875058"/>
                  </a:lnTo>
                  <a:cubicBezTo>
                    <a:pt x="10059" y="875058"/>
                    <a:pt x="0" y="864998"/>
                    <a:pt x="0" y="852589"/>
                  </a:cubicBezTo>
                  <a:lnTo>
                    <a:pt x="0" y="22468"/>
                  </a:lnTo>
                  <a:cubicBezTo>
                    <a:pt x="0" y="10059"/>
                    <a:pt x="10059" y="0"/>
                    <a:pt x="22468" y="0"/>
                  </a:cubicBezTo>
                  <a:close/>
                </a:path>
              </a:pathLst>
            </a:custGeom>
            <a:solidFill>
              <a:srgbClr val="CADCD6">
                <a:alpha val="22745"/>
              </a:srgbClr>
            </a:solidFill>
          </p:spPr>
        </p:sp>
        <p:sp>
          <p:nvSpPr>
            <p:cNvPr id="12" name="TextBox 12"/>
            <p:cNvSpPr txBox="1"/>
            <p:nvPr/>
          </p:nvSpPr>
          <p:spPr>
            <a:xfrm>
              <a:off x="0" y="-47625"/>
              <a:ext cx="4814354" cy="922683"/>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3815641" y="1604776"/>
            <a:ext cx="127141" cy="2066750"/>
            <a:chOff x="0" y="0"/>
            <a:chExt cx="53831" cy="875058"/>
          </a:xfrm>
        </p:grpSpPr>
        <p:sp>
          <p:nvSpPr>
            <p:cNvPr id="14" name="Freeform 14"/>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sp>
        <p:sp>
          <p:nvSpPr>
            <p:cNvPr id="15" name="TextBox 15"/>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16" name="Group 16"/>
          <p:cNvGrpSpPr/>
          <p:nvPr/>
        </p:nvGrpSpPr>
        <p:grpSpPr>
          <a:xfrm>
            <a:off x="658649" y="1964994"/>
            <a:ext cx="2428694" cy="1346313"/>
            <a:chOff x="0" y="0"/>
            <a:chExt cx="2308082" cy="1279453"/>
          </a:xfrm>
        </p:grpSpPr>
        <p:sp>
          <p:nvSpPr>
            <p:cNvPr id="17" name="Freeform 17"/>
            <p:cNvSpPr/>
            <p:nvPr/>
          </p:nvSpPr>
          <p:spPr>
            <a:xfrm>
              <a:off x="0" y="0"/>
              <a:ext cx="2308082" cy="1279453"/>
            </a:xfrm>
            <a:custGeom>
              <a:avLst/>
              <a:gdLst/>
              <a:ahLst/>
              <a:cxnLst/>
              <a:rect l="l" t="t" r="r" b="b"/>
              <a:pathLst>
                <a:path w="2308082" h="1279453">
                  <a:moveTo>
                    <a:pt x="79692" y="0"/>
                  </a:moveTo>
                  <a:lnTo>
                    <a:pt x="2228389" y="0"/>
                  </a:lnTo>
                  <a:cubicBezTo>
                    <a:pt x="2249525" y="0"/>
                    <a:pt x="2269795" y="8396"/>
                    <a:pt x="2284740" y="23341"/>
                  </a:cubicBezTo>
                  <a:cubicBezTo>
                    <a:pt x="2299685" y="38287"/>
                    <a:pt x="2308082" y="58557"/>
                    <a:pt x="2308082" y="79692"/>
                  </a:cubicBezTo>
                  <a:lnTo>
                    <a:pt x="2308082" y="1199761"/>
                  </a:lnTo>
                  <a:cubicBezTo>
                    <a:pt x="2308082" y="1220897"/>
                    <a:pt x="2299685" y="1241167"/>
                    <a:pt x="2284740" y="1256112"/>
                  </a:cubicBezTo>
                  <a:cubicBezTo>
                    <a:pt x="2269795" y="1271057"/>
                    <a:pt x="2249525" y="1279453"/>
                    <a:pt x="2228389" y="1279453"/>
                  </a:cubicBezTo>
                  <a:lnTo>
                    <a:pt x="79692" y="1279453"/>
                  </a:lnTo>
                  <a:cubicBezTo>
                    <a:pt x="58557" y="1279453"/>
                    <a:pt x="38287" y="1271057"/>
                    <a:pt x="23341" y="1256112"/>
                  </a:cubicBezTo>
                  <a:cubicBezTo>
                    <a:pt x="8396" y="1241167"/>
                    <a:pt x="0" y="1220897"/>
                    <a:pt x="0" y="1199761"/>
                  </a:cubicBezTo>
                  <a:lnTo>
                    <a:pt x="0" y="79692"/>
                  </a:lnTo>
                  <a:cubicBezTo>
                    <a:pt x="0" y="58557"/>
                    <a:pt x="8396" y="38287"/>
                    <a:pt x="23341" y="23341"/>
                  </a:cubicBezTo>
                  <a:cubicBezTo>
                    <a:pt x="38287" y="8396"/>
                    <a:pt x="58557" y="0"/>
                    <a:pt x="79692" y="0"/>
                  </a:cubicBezTo>
                  <a:close/>
                </a:path>
              </a:pathLst>
            </a:custGeom>
            <a:solidFill>
              <a:srgbClr val="408789"/>
            </a:solidFill>
          </p:spPr>
        </p:sp>
        <p:sp>
          <p:nvSpPr>
            <p:cNvPr id="18" name="TextBox 18"/>
            <p:cNvSpPr txBox="1"/>
            <p:nvPr/>
          </p:nvSpPr>
          <p:spPr>
            <a:xfrm>
              <a:off x="0" y="-47625"/>
              <a:ext cx="2308082" cy="1327078"/>
            </a:xfrm>
            <a:prstGeom prst="rect">
              <a:avLst/>
            </a:prstGeom>
          </p:spPr>
          <p:txBody>
            <a:bodyPr lIns="50800" tIns="50800" rIns="50800" bIns="50800" rtlCol="0" anchor="ctr"/>
            <a:lstStyle/>
            <a:p>
              <a:pPr algn="ctr">
                <a:lnSpc>
                  <a:spcPts val="3079"/>
                </a:lnSpc>
              </a:pPr>
              <a:endParaRPr/>
            </a:p>
          </p:txBody>
        </p:sp>
      </p:grpSp>
      <p:sp>
        <p:nvSpPr>
          <p:cNvPr id="19" name="Freeform 19"/>
          <p:cNvSpPr/>
          <p:nvPr/>
        </p:nvSpPr>
        <p:spPr>
          <a:xfrm>
            <a:off x="6372414" y="3871551"/>
            <a:ext cx="5543173" cy="2378089"/>
          </a:xfrm>
          <a:custGeom>
            <a:avLst/>
            <a:gdLst/>
            <a:ahLst/>
            <a:cxnLst/>
            <a:rect l="l" t="t" r="r" b="b"/>
            <a:pathLst>
              <a:path w="5543173" h="2378089">
                <a:moveTo>
                  <a:pt x="0" y="0"/>
                </a:moveTo>
                <a:lnTo>
                  <a:pt x="5543172" y="0"/>
                </a:lnTo>
                <a:lnTo>
                  <a:pt x="5543172" y="2378089"/>
                </a:lnTo>
                <a:lnTo>
                  <a:pt x="0" y="2378089"/>
                </a:lnTo>
                <a:lnTo>
                  <a:pt x="0" y="0"/>
                </a:lnTo>
                <a:close/>
              </a:path>
            </a:pathLst>
          </a:custGeom>
          <a:blipFill>
            <a:blip r:embed="rId7"/>
            <a:stretch>
              <a:fillRect/>
            </a:stretch>
          </a:blipFill>
        </p:spPr>
      </p:sp>
      <p:sp>
        <p:nvSpPr>
          <p:cNvPr id="20" name="Freeform 20"/>
          <p:cNvSpPr/>
          <p:nvPr/>
        </p:nvSpPr>
        <p:spPr>
          <a:xfrm>
            <a:off x="5117249" y="6411565"/>
            <a:ext cx="8767538" cy="2620037"/>
          </a:xfrm>
          <a:custGeom>
            <a:avLst/>
            <a:gdLst/>
            <a:ahLst/>
            <a:cxnLst/>
            <a:rect l="l" t="t" r="r" b="b"/>
            <a:pathLst>
              <a:path w="8767538" h="2620037">
                <a:moveTo>
                  <a:pt x="0" y="0"/>
                </a:moveTo>
                <a:lnTo>
                  <a:pt x="8767538" y="0"/>
                </a:lnTo>
                <a:lnTo>
                  <a:pt x="8767538" y="2620037"/>
                </a:lnTo>
                <a:lnTo>
                  <a:pt x="0" y="2620037"/>
                </a:lnTo>
                <a:lnTo>
                  <a:pt x="0" y="0"/>
                </a:lnTo>
                <a:close/>
              </a:path>
            </a:pathLst>
          </a:custGeom>
          <a:blipFill>
            <a:blip r:embed="rId8"/>
            <a:stretch>
              <a:fillRect/>
            </a:stretch>
          </a:blipFill>
        </p:spPr>
      </p:sp>
      <p:sp>
        <p:nvSpPr>
          <p:cNvPr id="21" name="TextBox 21"/>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24</a:t>
            </a:r>
          </a:p>
        </p:txBody>
      </p:sp>
      <p:sp>
        <p:nvSpPr>
          <p:cNvPr id="22" name="TextBox 22"/>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TÍCH HỢP GOOGLE AI SDK</a:t>
            </a:r>
          </a:p>
        </p:txBody>
      </p:sp>
      <p:sp>
        <p:nvSpPr>
          <p:cNvPr id="23" name="TextBox 23"/>
          <p:cNvSpPr txBox="1"/>
          <p:nvPr/>
        </p:nvSpPr>
        <p:spPr>
          <a:xfrm>
            <a:off x="4287628" y="2001746"/>
            <a:ext cx="9031834" cy="1180921"/>
          </a:xfrm>
          <a:prstGeom prst="rect">
            <a:avLst/>
          </a:prstGeom>
        </p:spPr>
        <p:txBody>
          <a:bodyPr lIns="0" tIns="0" rIns="0" bIns="0" rtlCol="0" anchor="t">
            <a:spAutoFit/>
          </a:bodyPr>
          <a:lstStyle/>
          <a:p>
            <a:pPr marL="683571" lvl="1" indent="-341786" algn="just">
              <a:lnSpc>
                <a:spcPts val="4749"/>
              </a:lnSpc>
              <a:spcBef>
                <a:spcPct val="0"/>
              </a:spcBef>
              <a:buFont typeface="Arial"/>
              <a:buChar char="•"/>
            </a:pPr>
            <a:r>
              <a:rPr lang="en-US" sz="3166">
                <a:solidFill>
                  <a:srgbClr val="2B2B2B"/>
                </a:solidFill>
                <a:latin typeface="Rokkitt"/>
                <a:ea typeface="Rokkitt"/>
                <a:cs typeface="Rokkitt"/>
                <a:sym typeface="Rokkitt"/>
              </a:rPr>
              <a:t>Nhận Func</a:t>
            </a:r>
            <a:r>
              <a:rPr lang="en-US" sz="3166" u="none" strike="noStrike">
                <a:solidFill>
                  <a:srgbClr val="2B2B2B"/>
                </a:solidFill>
                <a:latin typeface="Rokkitt"/>
                <a:ea typeface="Rokkitt"/>
                <a:cs typeface="Rokkitt"/>
                <a:sym typeface="Rokkitt"/>
              </a:rPr>
              <a:t>tionCall từ AI (JSON).</a:t>
            </a:r>
          </a:p>
          <a:p>
            <a:pPr marL="683571" lvl="1" indent="-341786" algn="just">
              <a:lnSpc>
                <a:spcPts val="4749"/>
              </a:lnSpc>
              <a:spcBef>
                <a:spcPct val="0"/>
              </a:spcBef>
              <a:buFont typeface="Arial"/>
              <a:buChar char="•"/>
            </a:pPr>
            <a:r>
              <a:rPr lang="en-US" sz="3166" u="none" strike="noStrike">
                <a:solidFill>
                  <a:srgbClr val="2B2B2B"/>
                </a:solidFill>
                <a:latin typeface="Rokkitt"/>
                <a:ea typeface="Rokkitt"/>
                <a:cs typeface="Rokkitt"/>
                <a:sym typeface="Rokkitt"/>
              </a:rPr>
              <a:t>Chuyển đổi thành hàm Kotlin tương ứng.</a:t>
            </a:r>
          </a:p>
        </p:txBody>
      </p:sp>
      <p:sp>
        <p:nvSpPr>
          <p:cNvPr id="24" name="TextBox 24"/>
          <p:cNvSpPr txBox="1"/>
          <p:nvPr/>
        </p:nvSpPr>
        <p:spPr>
          <a:xfrm>
            <a:off x="749675" y="2144119"/>
            <a:ext cx="2246641" cy="927242"/>
          </a:xfrm>
          <a:prstGeom prst="rect">
            <a:avLst/>
          </a:prstGeom>
        </p:spPr>
        <p:txBody>
          <a:bodyPr lIns="0" tIns="0" rIns="0" bIns="0" rtlCol="0" anchor="t">
            <a:spAutoFit/>
          </a:bodyPr>
          <a:lstStyle/>
          <a:p>
            <a:pPr algn="ctr">
              <a:lnSpc>
                <a:spcPts val="3689"/>
              </a:lnSpc>
            </a:pPr>
            <a:r>
              <a:rPr lang="en-US" sz="2635" b="1" spc="110">
                <a:solidFill>
                  <a:srgbClr val="F9F9F9"/>
                </a:solidFill>
                <a:latin typeface="Rokkitt Bold"/>
                <a:ea typeface="Rokkitt Bold"/>
                <a:cs typeface="Rokkitt Bold"/>
                <a:sym typeface="Rokkitt Bold"/>
              </a:rPr>
              <a:t>MAPPING</a:t>
            </a:r>
          </a:p>
          <a:p>
            <a:pPr marL="0" lvl="1" indent="0" algn="ctr">
              <a:lnSpc>
                <a:spcPts val="3689"/>
              </a:lnSpc>
              <a:spcBef>
                <a:spcPct val="0"/>
              </a:spcBef>
            </a:pPr>
            <a:r>
              <a:rPr lang="en-US" sz="2635" b="1" spc="110">
                <a:solidFill>
                  <a:srgbClr val="F9F9F9"/>
                </a:solidFill>
                <a:latin typeface="Rokkitt Bold"/>
                <a:ea typeface="Rokkitt Bold"/>
                <a:cs typeface="Rokkitt Bold"/>
                <a:sym typeface="Rokkitt Bold"/>
              </a:rPr>
              <a:t>FUNCTION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89812"/>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6241195" y="3272507"/>
            <a:ext cx="8962602" cy="2756389"/>
            <a:chOff x="0" y="0"/>
            <a:chExt cx="3794747" cy="1167049"/>
          </a:xfrm>
        </p:grpSpPr>
        <p:sp>
          <p:nvSpPr>
            <p:cNvPr id="11" name="Freeform 11"/>
            <p:cNvSpPr/>
            <p:nvPr/>
          </p:nvSpPr>
          <p:spPr>
            <a:xfrm>
              <a:off x="0" y="0"/>
              <a:ext cx="3794747" cy="1167049"/>
            </a:xfrm>
            <a:custGeom>
              <a:avLst/>
              <a:gdLst/>
              <a:ahLst/>
              <a:cxnLst/>
              <a:rect l="l" t="t" r="r" b="b"/>
              <a:pathLst>
                <a:path w="3794747" h="1167049">
                  <a:moveTo>
                    <a:pt x="28505" y="0"/>
                  </a:moveTo>
                  <a:lnTo>
                    <a:pt x="3766241" y="0"/>
                  </a:lnTo>
                  <a:cubicBezTo>
                    <a:pt x="3781985" y="0"/>
                    <a:pt x="3794747" y="12762"/>
                    <a:pt x="3794747" y="28505"/>
                  </a:cubicBezTo>
                  <a:lnTo>
                    <a:pt x="3794747" y="1138544"/>
                  </a:lnTo>
                  <a:cubicBezTo>
                    <a:pt x="3794747" y="1146104"/>
                    <a:pt x="3791744" y="1153354"/>
                    <a:pt x="3786398" y="1158700"/>
                  </a:cubicBezTo>
                  <a:cubicBezTo>
                    <a:pt x="3781052" y="1164046"/>
                    <a:pt x="3773802" y="1167049"/>
                    <a:pt x="3766241" y="1167049"/>
                  </a:cubicBezTo>
                  <a:lnTo>
                    <a:pt x="28505" y="1167049"/>
                  </a:lnTo>
                  <a:cubicBezTo>
                    <a:pt x="20945" y="1167049"/>
                    <a:pt x="13695" y="1164046"/>
                    <a:pt x="8349" y="1158700"/>
                  </a:cubicBezTo>
                  <a:cubicBezTo>
                    <a:pt x="3003" y="1153354"/>
                    <a:pt x="0" y="1146104"/>
                    <a:pt x="0" y="1138544"/>
                  </a:cubicBezTo>
                  <a:lnTo>
                    <a:pt x="0" y="28505"/>
                  </a:lnTo>
                  <a:cubicBezTo>
                    <a:pt x="0" y="12762"/>
                    <a:pt x="12762" y="0"/>
                    <a:pt x="28505" y="0"/>
                  </a:cubicBezTo>
                  <a:close/>
                </a:path>
              </a:pathLst>
            </a:custGeom>
            <a:solidFill>
              <a:srgbClr val="CADCD6">
                <a:alpha val="22745"/>
              </a:srgbClr>
            </a:solidFill>
          </p:spPr>
        </p:sp>
        <p:sp>
          <p:nvSpPr>
            <p:cNvPr id="12" name="TextBox 12"/>
            <p:cNvSpPr txBox="1"/>
            <p:nvPr/>
          </p:nvSpPr>
          <p:spPr>
            <a:xfrm>
              <a:off x="0" y="-47625"/>
              <a:ext cx="3794747" cy="1214674"/>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6241195" y="3420937"/>
            <a:ext cx="74612" cy="2459528"/>
            <a:chOff x="0" y="0"/>
            <a:chExt cx="31591" cy="1041359"/>
          </a:xfrm>
        </p:grpSpPr>
        <p:sp>
          <p:nvSpPr>
            <p:cNvPr id="14" name="Freeform 14"/>
            <p:cNvSpPr/>
            <p:nvPr/>
          </p:nvSpPr>
          <p:spPr>
            <a:xfrm>
              <a:off x="0" y="0"/>
              <a:ext cx="31591" cy="1041359"/>
            </a:xfrm>
            <a:custGeom>
              <a:avLst/>
              <a:gdLst/>
              <a:ahLst/>
              <a:cxnLst/>
              <a:rect l="l" t="t" r="r" b="b"/>
              <a:pathLst>
                <a:path w="31591" h="1041359">
                  <a:moveTo>
                    <a:pt x="15795" y="0"/>
                  </a:moveTo>
                  <a:lnTo>
                    <a:pt x="15795" y="0"/>
                  </a:lnTo>
                  <a:cubicBezTo>
                    <a:pt x="19985" y="0"/>
                    <a:pt x="24002" y="1664"/>
                    <a:pt x="26964" y="4626"/>
                  </a:cubicBezTo>
                  <a:cubicBezTo>
                    <a:pt x="29927" y="7589"/>
                    <a:pt x="31591" y="11606"/>
                    <a:pt x="31591" y="15795"/>
                  </a:cubicBezTo>
                  <a:lnTo>
                    <a:pt x="31591" y="1025564"/>
                  </a:lnTo>
                  <a:cubicBezTo>
                    <a:pt x="31591" y="1034287"/>
                    <a:pt x="24519" y="1041359"/>
                    <a:pt x="15795" y="1041359"/>
                  </a:cubicBezTo>
                  <a:lnTo>
                    <a:pt x="15795" y="1041359"/>
                  </a:lnTo>
                  <a:cubicBezTo>
                    <a:pt x="7072" y="1041359"/>
                    <a:pt x="0" y="1034287"/>
                    <a:pt x="0" y="1025564"/>
                  </a:cubicBezTo>
                  <a:lnTo>
                    <a:pt x="0" y="15795"/>
                  </a:lnTo>
                  <a:cubicBezTo>
                    <a:pt x="0" y="7072"/>
                    <a:pt x="7072" y="0"/>
                    <a:pt x="15795" y="0"/>
                  </a:cubicBezTo>
                  <a:close/>
                </a:path>
              </a:pathLst>
            </a:custGeom>
            <a:solidFill>
              <a:srgbClr val="408789"/>
            </a:solidFill>
          </p:spPr>
        </p:sp>
        <p:sp>
          <p:nvSpPr>
            <p:cNvPr id="15" name="TextBox 15"/>
            <p:cNvSpPr txBox="1"/>
            <p:nvPr/>
          </p:nvSpPr>
          <p:spPr>
            <a:xfrm>
              <a:off x="0" y="-47625"/>
              <a:ext cx="31591" cy="1088984"/>
            </a:xfrm>
            <a:prstGeom prst="rect">
              <a:avLst/>
            </a:prstGeom>
          </p:spPr>
          <p:txBody>
            <a:bodyPr lIns="50800" tIns="50800" rIns="50800" bIns="50800" rtlCol="0" anchor="ctr"/>
            <a:lstStyle/>
            <a:p>
              <a:pPr algn="ctr">
                <a:lnSpc>
                  <a:spcPts val="3079"/>
                </a:lnSpc>
              </a:pPr>
              <a:endParaRPr/>
            </a:p>
          </p:txBody>
        </p:sp>
      </p:grpSp>
      <p:grpSp>
        <p:nvGrpSpPr>
          <p:cNvPr id="16" name="Group 16"/>
          <p:cNvGrpSpPr/>
          <p:nvPr/>
        </p:nvGrpSpPr>
        <p:grpSpPr>
          <a:xfrm>
            <a:off x="3084203" y="3632725"/>
            <a:ext cx="2428694" cy="1346313"/>
            <a:chOff x="0" y="0"/>
            <a:chExt cx="2308082" cy="1279453"/>
          </a:xfrm>
        </p:grpSpPr>
        <p:sp>
          <p:nvSpPr>
            <p:cNvPr id="17" name="Freeform 17"/>
            <p:cNvSpPr/>
            <p:nvPr/>
          </p:nvSpPr>
          <p:spPr>
            <a:xfrm>
              <a:off x="0" y="0"/>
              <a:ext cx="2308082" cy="1279453"/>
            </a:xfrm>
            <a:custGeom>
              <a:avLst/>
              <a:gdLst/>
              <a:ahLst/>
              <a:cxnLst/>
              <a:rect l="l" t="t" r="r" b="b"/>
              <a:pathLst>
                <a:path w="2308082" h="1279453">
                  <a:moveTo>
                    <a:pt x="79692" y="0"/>
                  </a:moveTo>
                  <a:lnTo>
                    <a:pt x="2228389" y="0"/>
                  </a:lnTo>
                  <a:cubicBezTo>
                    <a:pt x="2249525" y="0"/>
                    <a:pt x="2269795" y="8396"/>
                    <a:pt x="2284740" y="23341"/>
                  </a:cubicBezTo>
                  <a:cubicBezTo>
                    <a:pt x="2299685" y="38287"/>
                    <a:pt x="2308082" y="58557"/>
                    <a:pt x="2308082" y="79692"/>
                  </a:cubicBezTo>
                  <a:lnTo>
                    <a:pt x="2308082" y="1199761"/>
                  </a:lnTo>
                  <a:cubicBezTo>
                    <a:pt x="2308082" y="1220897"/>
                    <a:pt x="2299685" y="1241167"/>
                    <a:pt x="2284740" y="1256112"/>
                  </a:cubicBezTo>
                  <a:cubicBezTo>
                    <a:pt x="2269795" y="1271057"/>
                    <a:pt x="2249525" y="1279453"/>
                    <a:pt x="2228389" y="1279453"/>
                  </a:cubicBezTo>
                  <a:lnTo>
                    <a:pt x="79692" y="1279453"/>
                  </a:lnTo>
                  <a:cubicBezTo>
                    <a:pt x="58557" y="1279453"/>
                    <a:pt x="38287" y="1271057"/>
                    <a:pt x="23341" y="1256112"/>
                  </a:cubicBezTo>
                  <a:cubicBezTo>
                    <a:pt x="8396" y="1241167"/>
                    <a:pt x="0" y="1220897"/>
                    <a:pt x="0" y="1199761"/>
                  </a:cubicBezTo>
                  <a:lnTo>
                    <a:pt x="0" y="79692"/>
                  </a:lnTo>
                  <a:cubicBezTo>
                    <a:pt x="0" y="58557"/>
                    <a:pt x="8396" y="38287"/>
                    <a:pt x="23341" y="23341"/>
                  </a:cubicBezTo>
                  <a:cubicBezTo>
                    <a:pt x="38287" y="8396"/>
                    <a:pt x="58557" y="0"/>
                    <a:pt x="79692" y="0"/>
                  </a:cubicBezTo>
                  <a:close/>
                </a:path>
              </a:pathLst>
            </a:custGeom>
            <a:solidFill>
              <a:srgbClr val="408789"/>
            </a:solidFill>
          </p:spPr>
        </p:sp>
        <p:sp>
          <p:nvSpPr>
            <p:cNvPr id="18" name="TextBox 18"/>
            <p:cNvSpPr txBox="1"/>
            <p:nvPr/>
          </p:nvSpPr>
          <p:spPr>
            <a:xfrm>
              <a:off x="0" y="-47625"/>
              <a:ext cx="2308082" cy="1327078"/>
            </a:xfrm>
            <a:prstGeom prst="rect">
              <a:avLst/>
            </a:prstGeom>
          </p:spPr>
          <p:txBody>
            <a:bodyPr lIns="50800" tIns="50800" rIns="50800" bIns="50800" rtlCol="0" anchor="ctr"/>
            <a:lstStyle/>
            <a:p>
              <a:pPr algn="ctr">
                <a:lnSpc>
                  <a:spcPts val="3079"/>
                </a:lnSpc>
              </a:pPr>
              <a:endParaRPr/>
            </a:p>
          </p:txBody>
        </p:sp>
      </p:grpSp>
      <p:sp>
        <p:nvSpPr>
          <p:cNvPr id="19" name="TextBox 19"/>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25</a:t>
            </a:r>
          </a:p>
        </p:txBody>
      </p:sp>
      <p:sp>
        <p:nvSpPr>
          <p:cNvPr id="20" name="TextBox 20"/>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TÍCH HỢP GOOGLE AI SDK</a:t>
            </a:r>
          </a:p>
        </p:txBody>
      </p:sp>
      <p:sp>
        <p:nvSpPr>
          <p:cNvPr id="21" name="TextBox 21"/>
          <p:cNvSpPr txBox="1"/>
          <p:nvPr/>
        </p:nvSpPr>
        <p:spPr>
          <a:xfrm>
            <a:off x="6695744" y="3537475"/>
            <a:ext cx="8272619" cy="2194560"/>
          </a:xfrm>
          <a:prstGeom prst="rect">
            <a:avLst/>
          </a:prstGeom>
        </p:spPr>
        <p:txBody>
          <a:bodyPr lIns="0" tIns="0" rIns="0" bIns="0" rtlCol="0" anchor="t">
            <a:spAutoFit/>
          </a:bodyPr>
          <a:lstStyle/>
          <a:p>
            <a:pPr marL="626111" lvl="1" indent="-313055" algn="just">
              <a:lnSpc>
                <a:spcPts val="4350"/>
              </a:lnSpc>
              <a:buFont typeface="Arial"/>
              <a:buChar char="•"/>
            </a:pPr>
            <a:r>
              <a:rPr lang="en-US" sz="2900">
                <a:solidFill>
                  <a:srgbClr val="2B2B2B"/>
                </a:solidFill>
                <a:latin typeface="Rokkitt"/>
                <a:ea typeface="Rokkitt"/>
                <a:cs typeface="Rokkitt"/>
                <a:sym typeface="Rokkitt"/>
              </a:rPr>
              <a:t>AI không tự thực thi code.</a:t>
            </a:r>
          </a:p>
          <a:p>
            <a:pPr marL="626111" lvl="1" indent="-313055" algn="just">
              <a:lnSpc>
                <a:spcPts val="4350"/>
              </a:lnSpc>
              <a:spcBef>
                <a:spcPct val="0"/>
              </a:spcBef>
              <a:buFont typeface="Arial"/>
              <a:buChar char="•"/>
            </a:pPr>
            <a:r>
              <a:rPr lang="en-US" sz="2900">
                <a:solidFill>
                  <a:srgbClr val="2B2B2B"/>
                </a:solidFill>
                <a:latin typeface="Rokkitt"/>
                <a:ea typeface="Rokkitt"/>
                <a:cs typeface="Rokkitt"/>
                <a:sym typeface="Rokkitt"/>
              </a:rPr>
              <a:t>Ứng dụng android kiểm soát toàn bộ hành động</a:t>
            </a:r>
          </a:p>
          <a:p>
            <a:pPr marL="626111" lvl="1" indent="-313055" algn="just">
              <a:lnSpc>
                <a:spcPts val="4350"/>
              </a:lnSpc>
              <a:spcBef>
                <a:spcPct val="0"/>
              </a:spcBef>
              <a:buFont typeface="Arial"/>
              <a:buChar char="•"/>
            </a:pPr>
            <a:r>
              <a:rPr lang="en-US" sz="2900" u="none" strike="noStrike">
                <a:solidFill>
                  <a:srgbClr val="2B2B2B"/>
                </a:solidFill>
                <a:latin typeface="Rokkitt"/>
                <a:ea typeface="Rokkitt"/>
                <a:cs typeface="Rokkitt"/>
                <a:sym typeface="Rokkitt"/>
              </a:rPr>
              <a:t>AI chỉ gửi JSON yêu cầu. </a:t>
            </a:r>
          </a:p>
          <a:p>
            <a:pPr algn="just">
              <a:lnSpc>
                <a:spcPts val="4350"/>
              </a:lnSpc>
              <a:spcBef>
                <a:spcPct val="0"/>
              </a:spcBef>
            </a:pPr>
            <a:r>
              <a:rPr lang="en-US" sz="2900" u="none" strike="noStrike">
                <a:solidFill>
                  <a:srgbClr val="2B2B2B"/>
                </a:solidFill>
                <a:latin typeface="Rokkitt"/>
                <a:ea typeface="Rokkitt"/>
                <a:cs typeface="Rokkitt"/>
                <a:sym typeface="Rokkitt"/>
              </a:rPr>
              <a:t>→ An toàn.</a:t>
            </a:r>
          </a:p>
        </p:txBody>
      </p:sp>
      <p:sp>
        <p:nvSpPr>
          <p:cNvPr id="22" name="TextBox 22"/>
          <p:cNvSpPr txBox="1"/>
          <p:nvPr/>
        </p:nvSpPr>
        <p:spPr>
          <a:xfrm>
            <a:off x="3175229" y="3811850"/>
            <a:ext cx="2246641" cy="927242"/>
          </a:xfrm>
          <a:prstGeom prst="rect">
            <a:avLst/>
          </a:prstGeom>
        </p:spPr>
        <p:txBody>
          <a:bodyPr lIns="0" tIns="0" rIns="0" bIns="0" rtlCol="0" anchor="t">
            <a:spAutoFit/>
          </a:bodyPr>
          <a:lstStyle/>
          <a:p>
            <a:pPr algn="ctr">
              <a:lnSpc>
                <a:spcPts val="3689"/>
              </a:lnSpc>
            </a:pPr>
            <a:r>
              <a:rPr lang="en-US" sz="2635" b="1" spc="110">
                <a:solidFill>
                  <a:srgbClr val="F9F9F9"/>
                </a:solidFill>
                <a:latin typeface="Rokkitt Bold"/>
                <a:ea typeface="Rokkitt Bold"/>
                <a:cs typeface="Rokkitt Bold"/>
                <a:sym typeface="Rokkitt Bold"/>
              </a:rPr>
              <a:t>SAFETY</a:t>
            </a:r>
          </a:p>
          <a:p>
            <a:pPr marL="0" lvl="1" indent="0" algn="ctr">
              <a:lnSpc>
                <a:spcPts val="3689"/>
              </a:lnSpc>
              <a:spcBef>
                <a:spcPct val="0"/>
              </a:spcBef>
            </a:pPr>
            <a:r>
              <a:rPr lang="en-US" sz="2635" b="1" spc="110">
                <a:solidFill>
                  <a:srgbClr val="F9F9F9"/>
                </a:solidFill>
                <a:latin typeface="Rokkitt Bold"/>
                <a:ea typeface="Rokkitt Bold"/>
                <a:cs typeface="Rokkitt Bold"/>
                <a:sym typeface="Rokkitt Bold"/>
              </a:rPr>
              <a:t>SANDBOX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sp>
      <p:sp>
        <p:nvSpPr>
          <p:cNvPr id="4" name="AutoShape 4"/>
          <p:cNvSpPr/>
          <p:nvPr/>
        </p:nvSpPr>
        <p:spPr>
          <a:xfrm>
            <a:off x="1515899" y="9189812"/>
            <a:ext cx="15256203" cy="0"/>
          </a:xfrm>
          <a:prstGeom prst="line">
            <a:avLst/>
          </a:prstGeom>
          <a:ln w="9525" cap="flat">
            <a:solidFill>
              <a:srgbClr val="235A5B"/>
            </a:solidFill>
            <a:prstDash val="solid"/>
            <a:headEnd type="none" w="sm" len="sm"/>
            <a:tailEnd type="none" w="sm" len="sm"/>
          </a:ln>
        </p:spPr>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0" name="TextBox 1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26</a:t>
            </a:r>
          </a:p>
        </p:txBody>
      </p:sp>
      <p:sp>
        <p:nvSpPr>
          <p:cNvPr id="11" name="TextBox 11"/>
          <p:cNvSpPr txBox="1"/>
          <p:nvPr/>
        </p:nvSpPr>
        <p:spPr>
          <a:xfrm>
            <a:off x="1154377" y="576551"/>
            <a:ext cx="1597924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MỘT SỐ USE-CASE AI AGENT TRONG ANDROID</a:t>
            </a:r>
          </a:p>
        </p:txBody>
      </p:sp>
      <p:grpSp>
        <p:nvGrpSpPr>
          <p:cNvPr id="12" name="Group 12"/>
          <p:cNvGrpSpPr/>
          <p:nvPr/>
        </p:nvGrpSpPr>
        <p:grpSpPr>
          <a:xfrm rot="-10800000">
            <a:off x="2573702" y="1744221"/>
            <a:ext cx="3051880" cy="2276448"/>
            <a:chOff x="0" y="0"/>
            <a:chExt cx="680068" cy="507274"/>
          </a:xfrm>
        </p:grpSpPr>
        <p:sp>
          <p:nvSpPr>
            <p:cNvPr id="13" name="Freeform 13"/>
            <p:cNvSpPr/>
            <p:nvPr/>
          </p:nvSpPr>
          <p:spPr>
            <a:xfrm>
              <a:off x="0" y="0"/>
              <a:ext cx="680068" cy="502411"/>
            </a:xfrm>
            <a:custGeom>
              <a:avLst/>
              <a:gdLst/>
              <a:ahLst/>
              <a:cxnLst/>
              <a:rect l="l" t="t" r="r" b="b"/>
              <a:pathLst>
                <a:path w="680068" h="502411">
                  <a:moveTo>
                    <a:pt x="680068" y="29728"/>
                  </a:moveTo>
                  <a:lnTo>
                    <a:pt x="680068" y="363246"/>
                  </a:lnTo>
                  <a:cubicBezTo>
                    <a:pt x="680068" y="381008"/>
                    <a:pt x="668726" y="396787"/>
                    <a:pt x="651889" y="402446"/>
                  </a:cubicBezTo>
                  <a:lnTo>
                    <a:pt x="368212" y="497802"/>
                  </a:lnTo>
                  <a:cubicBezTo>
                    <a:pt x="349929" y="503948"/>
                    <a:pt x="330138" y="503948"/>
                    <a:pt x="311856" y="497802"/>
                  </a:cubicBezTo>
                  <a:lnTo>
                    <a:pt x="28178" y="402446"/>
                  </a:lnTo>
                  <a:cubicBezTo>
                    <a:pt x="11342" y="396787"/>
                    <a:pt x="0" y="381008"/>
                    <a:pt x="0" y="363246"/>
                  </a:cubicBezTo>
                  <a:lnTo>
                    <a:pt x="0" y="29728"/>
                  </a:lnTo>
                  <a:cubicBezTo>
                    <a:pt x="0" y="21843"/>
                    <a:pt x="3132" y="14282"/>
                    <a:pt x="8707" y="8707"/>
                  </a:cubicBezTo>
                  <a:cubicBezTo>
                    <a:pt x="14282" y="3132"/>
                    <a:pt x="21843" y="0"/>
                    <a:pt x="29728" y="0"/>
                  </a:cubicBezTo>
                  <a:lnTo>
                    <a:pt x="650340" y="0"/>
                  </a:lnTo>
                  <a:cubicBezTo>
                    <a:pt x="666758" y="0"/>
                    <a:pt x="680068" y="13310"/>
                    <a:pt x="680068" y="29728"/>
                  </a:cubicBezTo>
                  <a:close/>
                </a:path>
              </a:pathLst>
            </a:custGeom>
            <a:solidFill>
              <a:srgbClr val="408789"/>
            </a:solidFill>
          </p:spPr>
        </p:sp>
        <p:sp>
          <p:nvSpPr>
            <p:cNvPr id="14" name="TextBox 14"/>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15" name="TextBox 15"/>
          <p:cNvSpPr txBox="1"/>
          <p:nvPr/>
        </p:nvSpPr>
        <p:spPr>
          <a:xfrm>
            <a:off x="2573702" y="2580821"/>
            <a:ext cx="2937719" cy="869950"/>
          </a:xfrm>
          <a:prstGeom prst="rect">
            <a:avLst/>
          </a:prstGeom>
        </p:spPr>
        <p:txBody>
          <a:bodyPr lIns="0" tIns="0" rIns="0" bIns="0" rtlCol="0" anchor="t">
            <a:spAutoFit/>
          </a:bodyPr>
          <a:lstStyle/>
          <a:p>
            <a:pPr marL="0" lvl="1" indent="0" algn="ctr">
              <a:lnSpc>
                <a:spcPts val="3499"/>
              </a:lnSpc>
              <a:spcBef>
                <a:spcPct val="0"/>
              </a:spcBef>
            </a:pPr>
            <a:r>
              <a:rPr lang="en-US" sz="2499" b="1" spc="79">
                <a:solidFill>
                  <a:srgbClr val="FFFFFF"/>
                </a:solidFill>
                <a:latin typeface="Rokkitt Bold"/>
                <a:ea typeface="Rokkitt Bold"/>
                <a:cs typeface="Rokkitt Bold"/>
                <a:sym typeface="Rokkitt Bold"/>
              </a:rPr>
              <a:t> UI / Navigation Agent</a:t>
            </a:r>
          </a:p>
        </p:txBody>
      </p:sp>
      <p:sp>
        <p:nvSpPr>
          <p:cNvPr id="16" name="Freeform 16"/>
          <p:cNvSpPr/>
          <p:nvPr/>
        </p:nvSpPr>
        <p:spPr>
          <a:xfrm rot="-10800000">
            <a:off x="2398847" y="4335189"/>
            <a:ext cx="3401590" cy="1760323"/>
          </a:xfrm>
          <a:custGeom>
            <a:avLst/>
            <a:gdLst/>
            <a:ahLst/>
            <a:cxnLst/>
            <a:rect l="l" t="t" r="r" b="b"/>
            <a:pathLst>
              <a:path w="3401590" h="1760323">
                <a:moveTo>
                  <a:pt x="0" y="0"/>
                </a:moveTo>
                <a:lnTo>
                  <a:pt x="3401590" y="0"/>
                </a:lnTo>
                <a:lnTo>
                  <a:pt x="3401590" y="1760323"/>
                </a:lnTo>
                <a:lnTo>
                  <a:pt x="0" y="17603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7" name="TextBox 17"/>
          <p:cNvSpPr txBox="1"/>
          <p:nvPr/>
        </p:nvSpPr>
        <p:spPr>
          <a:xfrm>
            <a:off x="2630782" y="4854965"/>
            <a:ext cx="2937719" cy="1104901"/>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“Mở phần cài đặt wifi”</a:t>
            </a:r>
          </a:p>
        </p:txBody>
      </p:sp>
      <p:sp>
        <p:nvSpPr>
          <p:cNvPr id="18" name="Freeform 18"/>
          <p:cNvSpPr/>
          <p:nvPr/>
        </p:nvSpPr>
        <p:spPr>
          <a:xfrm rot="-10800000">
            <a:off x="2573702" y="6543502"/>
            <a:ext cx="3051880" cy="1579348"/>
          </a:xfrm>
          <a:custGeom>
            <a:avLst/>
            <a:gdLst/>
            <a:ahLst/>
            <a:cxnLst/>
            <a:rect l="l" t="t" r="r" b="b"/>
            <a:pathLst>
              <a:path w="3051880" h="1579348">
                <a:moveTo>
                  <a:pt x="0" y="0"/>
                </a:moveTo>
                <a:lnTo>
                  <a:pt x="3051880" y="0"/>
                </a:lnTo>
                <a:lnTo>
                  <a:pt x="3051880" y="1579348"/>
                </a:lnTo>
                <a:lnTo>
                  <a:pt x="0" y="15793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2630782" y="7098419"/>
            <a:ext cx="2937719" cy="542926"/>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“Bật darkmode”</a:t>
            </a:r>
          </a:p>
        </p:txBody>
      </p:sp>
      <p:grpSp>
        <p:nvGrpSpPr>
          <p:cNvPr id="20" name="Group 20"/>
          <p:cNvGrpSpPr/>
          <p:nvPr/>
        </p:nvGrpSpPr>
        <p:grpSpPr>
          <a:xfrm rot="-10800000">
            <a:off x="7733974" y="1874397"/>
            <a:ext cx="3051880" cy="2276448"/>
            <a:chOff x="0" y="0"/>
            <a:chExt cx="680068" cy="507274"/>
          </a:xfrm>
        </p:grpSpPr>
        <p:sp>
          <p:nvSpPr>
            <p:cNvPr id="21" name="Freeform 21"/>
            <p:cNvSpPr/>
            <p:nvPr/>
          </p:nvSpPr>
          <p:spPr>
            <a:xfrm>
              <a:off x="0" y="0"/>
              <a:ext cx="680068" cy="502411"/>
            </a:xfrm>
            <a:custGeom>
              <a:avLst/>
              <a:gdLst/>
              <a:ahLst/>
              <a:cxnLst/>
              <a:rect l="l" t="t" r="r" b="b"/>
              <a:pathLst>
                <a:path w="680068" h="502411">
                  <a:moveTo>
                    <a:pt x="680068" y="29728"/>
                  </a:moveTo>
                  <a:lnTo>
                    <a:pt x="680068" y="363246"/>
                  </a:lnTo>
                  <a:cubicBezTo>
                    <a:pt x="680068" y="381008"/>
                    <a:pt x="668726" y="396787"/>
                    <a:pt x="651889" y="402446"/>
                  </a:cubicBezTo>
                  <a:lnTo>
                    <a:pt x="368212" y="497802"/>
                  </a:lnTo>
                  <a:cubicBezTo>
                    <a:pt x="349929" y="503948"/>
                    <a:pt x="330138" y="503948"/>
                    <a:pt x="311856" y="497802"/>
                  </a:cubicBezTo>
                  <a:lnTo>
                    <a:pt x="28178" y="402446"/>
                  </a:lnTo>
                  <a:cubicBezTo>
                    <a:pt x="11342" y="396787"/>
                    <a:pt x="0" y="381008"/>
                    <a:pt x="0" y="363246"/>
                  </a:cubicBezTo>
                  <a:lnTo>
                    <a:pt x="0" y="29728"/>
                  </a:lnTo>
                  <a:cubicBezTo>
                    <a:pt x="0" y="21843"/>
                    <a:pt x="3132" y="14282"/>
                    <a:pt x="8707" y="8707"/>
                  </a:cubicBezTo>
                  <a:cubicBezTo>
                    <a:pt x="14282" y="3132"/>
                    <a:pt x="21843" y="0"/>
                    <a:pt x="29728" y="0"/>
                  </a:cubicBezTo>
                  <a:lnTo>
                    <a:pt x="650340" y="0"/>
                  </a:lnTo>
                  <a:cubicBezTo>
                    <a:pt x="666758" y="0"/>
                    <a:pt x="680068" y="13310"/>
                    <a:pt x="680068" y="29728"/>
                  </a:cubicBezTo>
                  <a:close/>
                </a:path>
              </a:pathLst>
            </a:custGeom>
            <a:solidFill>
              <a:srgbClr val="408789"/>
            </a:solidFill>
          </p:spPr>
        </p:sp>
        <p:sp>
          <p:nvSpPr>
            <p:cNvPr id="22" name="TextBox 22"/>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23" name="TextBox 23"/>
          <p:cNvSpPr txBox="1"/>
          <p:nvPr/>
        </p:nvSpPr>
        <p:spPr>
          <a:xfrm>
            <a:off x="7978865" y="2799896"/>
            <a:ext cx="2333777" cy="431800"/>
          </a:xfrm>
          <a:prstGeom prst="rect">
            <a:avLst/>
          </a:prstGeom>
        </p:spPr>
        <p:txBody>
          <a:bodyPr lIns="0" tIns="0" rIns="0" bIns="0" rtlCol="0" anchor="t">
            <a:spAutoFit/>
          </a:bodyPr>
          <a:lstStyle/>
          <a:p>
            <a:pPr marL="0" lvl="1" indent="0" algn="ctr">
              <a:lnSpc>
                <a:spcPts val="3499"/>
              </a:lnSpc>
              <a:spcBef>
                <a:spcPct val="0"/>
              </a:spcBef>
            </a:pPr>
            <a:r>
              <a:rPr lang="en-US" sz="2499" b="1" spc="79">
                <a:solidFill>
                  <a:srgbClr val="FFFFFF"/>
                </a:solidFill>
                <a:latin typeface="Rokkitt Bold"/>
                <a:ea typeface="Rokkitt Bold"/>
                <a:cs typeface="Rokkitt Bold"/>
                <a:sym typeface="Rokkitt Bold"/>
              </a:rPr>
              <a:t>Data Agent</a:t>
            </a:r>
          </a:p>
        </p:txBody>
      </p:sp>
      <p:sp>
        <p:nvSpPr>
          <p:cNvPr id="24" name="Freeform 24"/>
          <p:cNvSpPr/>
          <p:nvPr/>
        </p:nvSpPr>
        <p:spPr>
          <a:xfrm rot="-10800000">
            <a:off x="7156607" y="4366579"/>
            <a:ext cx="4206615" cy="2176923"/>
          </a:xfrm>
          <a:custGeom>
            <a:avLst/>
            <a:gdLst/>
            <a:ahLst/>
            <a:cxnLst/>
            <a:rect l="l" t="t" r="r" b="b"/>
            <a:pathLst>
              <a:path w="4206615" h="2176923">
                <a:moveTo>
                  <a:pt x="0" y="0"/>
                </a:moveTo>
                <a:lnTo>
                  <a:pt x="4206614" y="0"/>
                </a:lnTo>
                <a:lnTo>
                  <a:pt x="4206614" y="2176923"/>
                </a:lnTo>
                <a:lnTo>
                  <a:pt x="0" y="21769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TextBox 25"/>
          <p:cNvSpPr txBox="1"/>
          <p:nvPr/>
        </p:nvSpPr>
        <p:spPr>
          <a:xfrm>
            <a:off x="7791055" y="4831152"/>
            <a:ext cx="2937719" cy="1666876"/>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“Tóm tắt tin nhắn ngân hàng tháng này”</a:t>
            </a:r>
          </a:p>
        </p:txBody>
      </p:sp>
      <p:sp>
        <p:nvSpPr>
          <p:cNvPr id="26" name="Freeform 26"/>
          <p:cNvSpPr/>
          <p:nvPr/>
        </p:nvSpPr>
        <p:spPr>
          <a:xfrm rot="-10800000">
            <a:off x="7540107" y="6972127"/>
            <a:ext cx="3354275" cy="1735837"/>
          </a:xfrm>
          <a:custGeom>
            <a:avLst/>
            <a:gdLst/>
            <a:ahLst/>
            <a:cxnLst/>
            <a:rect l="l" t="t" r="r" b="b"/>
            <a:pathLst>
              <a:path w="3354275" h="1735837">
                <a:moveTo>
                  <a:pt x="0" y="0"/>
                </a:moveTo>
                <a:lnTo>
                  <a:pt x="3354275" y="0"/>
                </a:lnTo>
                <a:lnTo>
                  <a:pt x="3354275" y="1735837"/>
                </a:lnTo>
                <a:lnTo>
                  <a:pt x="0" y="17358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7" name="TextBox 27"/>
          <p:cNvSpPr txBox="1"/>
          <p:nvPr/>
        </p:nvSpPr>
        <p:spPr>
          <a:xfrm>
            <a:off x="7705715" y="7428152"/>
            <a:ext cx="2937719" cy="1104901"/>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“Tìm email từ sếp tuần trước”</a:t>
            </a:r>
          </a:p>
        </p:txBody>
      </p:sp>
      <p:grpSp>
        <p:nvGrpSpPr>
          <p:cNvPr id="28" name="Group 28"/>
          <p:cNvGrpSpPr/>
          <p:nvPr/>
        </p:nvGrpSpPr>
        <p:grpSpPr>
          <a:xfrm rot="-10800000">
            <a:off x="12662418" y="1874397"/>
            <a:ext cx="3051880" cy="2276448"/>
            <a:chOff x="0" y="0"/>
            <a:chExt cx="680068" cy="507274"/>
          </a:xfrm>
        </p:grpSpPr>
        <p:sp>
          <p:nvSpPr>
            <p:cNvPr id="29" name="Freeform 29"/>
            <p:cNvSpPr/>
            <p:nvPr/>
          </p:nvSpPr>
          <p:spPr>
            <a:xfrm>
              <a:off x="0" y="0"/>
              <a:ext cx="680068" cy="502411"/>
            </a:xfrm>
            <a:custGeom>
              <a:avLst/>
              <a:gdLst/>
              <a:ahLst/>
              <a:cxnLst/>
              <a:rect l="l" t="t" r="r" b="b"/>
              <a:pathLst>
                <a:path w="680068" h="502411">
                  <a:moveTo>
                    <a:pt x="680068" y="29728"/>
                  </a:moveTo>
                  <a:lnTo>
                    <a:pt x="680068" y="363246"/>
                  </a:lnTo>
                  <a:cubicBezTo>
                    <a:pt x="680068" y="381008"/>
                    <a:pt x="668726" y="396787"/>
                    <a:pt x="651889" y="402446"/>
                  </a:cubicBezTo>
                  <a:lnTo>
                    <a:pt x="368212" y="497802"/>
                  </a:lnTo>
                  <a:cubicBezTo>
                    <a:pt x="349929" y="503948"/>
                    <a:pt x="330138" y="503948"/>
                    <a:pt x="311856" y="497802"/>
                  </a:cubicBezTo>
                  <a:lnTo>
                    <a:pt x="28178" y="402446"/>
                  </a:lnTo>
                  <a:cubicBezTo>
                    <a:pt x="11342" y="396787"/>
                    <a:pt x="0" y="381008"/>
                    <a:pt x="0" y="363246"/>
                  </a:cubicBezTo>
                  <a:lnTo>
                    <a:pt x="0" y="29728"/>
                  </a:lnTo>
                  <a:cubicBezTo>
                    <a:pt x="0" y="21843"/>
                    <a:pt x="3132" y="14282"/>
                    <a:pt x="8707" y="8707"/>
                  </a:cubicBezTo>
                  <a:cubicBezTo>
                    <a:pt x="14282" y="3132"/>
                    <a:pt x="21843" y="0"/>
                    <a:pt x="29728" y="0"/>
                  </a:cubicBezTo>
                  <a:lnTo>
                    <a:pt x="650340" y="0"/>
                  </a:lnTo>
                  <a:cubicBezTo>
                    <a:pt x="666758" y="0"/>
                    <a:pt x="680068" y="13310"/>
                    <a:pt x="680068" y="29728"/>
                  </a:cubicBezTo>
                  <a:close/>
                </a:path>
              </a:pathLst>
            </a:custGeom>
            <a:solidFill>
              <a:srgbClr val="408789"/>
            </a:solidFill>
          </p:spPr>
        </p:sp>
        <p:sp>
          <p:nvSpPr>
            <p:cNvPr id="30" name="TextBox 30"/>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31" name="TextBox 31"/>
          <p:cNvSpPr txBox="1"/>
          <p:nvPr/>
        </p:nvSpPr>
        <p:spPr>
          <a:xfrm>
            <a:off x="13021470" y="2768146"/>
            <a:ext cx="2333777" cy="869950"/>
          </a:xfrm>
          <a:prstGeom prst="rect">
            <a:avLst/>
          </a:prstGeom>
        </p:spPr>
        <p:txBody>
          <a:bodyPr lIns="0" tIns="0" rIns="0" bIns="0" rtlCol="0" anchor="t">
            <a:spAutoFit/>
          </a:bodyPr>
          <a:lstStyle/>
          <a:p>
            <a:pPr marL="0" lvl="1" indent="0" algn="ctr">
              <a:lnSpc>
                <a:spcPts val="3499"/>
              </a:lnSpc>
              <a:spcBef>
                <a:spcPct val="0"/>
              </a:spcBef>
            </a:pPr>
            <a:r>
              <a:rPr lang="en-US" sz="2499" b="1" spc="79">
                <a:solidFill>
                  <a:srgbClr val="FFFFFF"/>
                </a:solidFill>
                <a:latin typeface="Rokkitt Bold"/>
                <a:ea typeface="Rokkitt Bold"/>
                <a:cs typeface="Rokkitt Bold"/>
                <a:sym typeface="Rokkitt Bold"/>
              </a:rPr>
              <a:t>Accessibility Agent</a:t>
            </a:r>
          </a:p>
        </p:txBody>
      </p:sp>
      <p:sp>
        <p:nvSpPr>
          <p:cNvPr id="32" name="Freeform 32"/>
          <p:cNvSpPr/>
          <p:nvPr/>
        </p:nvSpPr>
        <p:spPr>
          <a:xfrm rot="-10800000">
            <a:off x="12183177" y="4252406"/>
            <a:ext cx="4010362" cy="2075363"/>
          </a:xfrm>
          <a:custGeom>
            <a:avLst/>
            <a:gdLst/>
            <a:ahLst/>
            <a:cxnLst/>
            <a:rect l="l" t="t" r="r" b="b"/>
            <a:pathLst>
              <a:path w="4010362" h="2075363">
                <a:moveTo>
                  <a:pt x="0" y="0"/>
                </a:moveTo>
                <a:lnTo>
                  <a:pt x="4010362" y="0"/>
                </a:lnTo>
                <a:lnTo>
                  <a:pt x="4010362" y="2075362"/>
                </a:lnTo>
                <a:lnTo>
                  <a:pt x="0" y="2075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3" name="TextBox 33"/>
          <p:cNvSpPr txBox="1"/>
          <p:nvPr/>
        </p:nvSpPr>
        <p:spPr>
          <a:xfrm>
            <a:off x="12776718" y="4573977"/>
            <a:ext cx="2937719" cy="1666876"/>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Điều khiển toàn bộ App bằng giọng nói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AutoShape 3"/>
          <p:cNvSpPr/>
          <p:nvPr/>
        </p:nvSpPr>
        <p:spPr>
          <a:xfrm>
            <a:off x="1515899" y="9190098"/>
            <a:ext cx="15256203" cy="0"/>
          </a:xfrm>
          <a:prstGeom prst="line">
            <a:avLst/>
          </a:prstGeom>
          <a:ln w="9525" cap="flat">
            <a:solidFill>
              <a:srgbClr val="235A5B"/>
            </a:solidFill>
            <a:prstDash val="solid"/>
            <a:headEnd type="none" w="sm" len="sm"/>
            <a:tailEnd type="none" w="sm" len="sm"/>
          </a:ln>
        </p:spPr>
      </p:sp>
      <p:sp>
        <p:nvSpPr>
          <p:cNvPr id="4" name="Freeform 4"/>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7772027" y="9194574"/>
            <a:ext cx="1686269" cy="168626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8" name="TextBox 8"/>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27</a:t>
            </a:r>
          </a:p>
        </p:txBody>
      </p:sp>
      <p:sp>
        <p:nvSpPr>
          <p:cNvPr id="9" name="TextBox 9"/>
          <p:cNvSpPr txBox="1"/>
          <p:nvPr/>
        </p:nvSpPr>
        <p:spPr>
          <a:xfrm>
            <a:off x="1028700" y="2015199"/>
            <a:ext cx="16572817" cy="5509260"/>
          </a:xfrm>
          <a:prstGeom prst="rect">
            <a:avLst/>
          </a:prstGeom>
        </p:spPr>
        <p:txBody>
          <a:bodyPr lIns="0" tIns="0" rIns="0" bIns="0" rtlCol="0" anchor="t">
            <a:spAutoFit/>
          </a:bodyPr>
          <a:lstStyle/>
          <a:p>
            <a:pPr marL="626111" lvl="1" indent="-313055" algn="just">
              <a:lnSpc>
                <a:spcPts val="4350"/>
              </a:lnSpc>
              <a:buFont typeface="Arial"/>
              <a:buChar char="•"/>
            </a:pPr>
            <a:r>
              <a:rPr lang="en-US" sz="2900">
                <a:solidFill>
                  <a:srgbClr val="000000"/>
                </a:solidFill>
                <a:latin typeface="Rokkitt"/>
                <a:ea typeface="Rokkitt"/>
                <a:cs typeface="Rokkitt"/>
                <a:sym typeface="Rokkitt"/>
              </a:rPr>
              <a:t>Google AI Edge SDK. (n.d.). Android Developers. https://developer.android.com/ai/gemini-nano/ai-edge-sdk</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Function Calling Guide: https://ai.google.dev/gemini-api/docs/function-calling</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Google. (n.d.). TensorFlow Lite Android guide. TensorFlow. </a:t>
            </a:r>
            <a:r>
              <a:rPr lang="en-US" sz="2900">
                <a:solidFill>
                  <a:srgbClr val="000000"/>
                </a:solidFill>
                <a:latin typeface="Rokkitt"/>
                <a:ea typeface="Rokkitt"/>
                <a:cs typeface="Rokkitt"/>
                <a:sym typeface="Rokkitt"/>
                <a:hlinkClick r:id="rId5" tooltip="https://www.tensorflow.org/lite/android"/>
              </a:rPr>
              <a:t>https://www.tensorflow.org/lite/android</a:t>
            </a:r>
          </a:p>
          <a:p>
            <a:pPr marL="626111" lvl="1" indent="-313055" algn="l">
              <a:lnSpc>
                <a:spcPts val="4350"/>
              </a:lnSpc>
              <a:buFont typeface="Arial"/>
              <a:buChar char="•"/>
            </a:pPr>
            <a:r>
              <a:rPr lang="en-US" sz="2900">
                <a:solidFill>
                  <a:srgbClr val="000000"/>
                </a:solidFill>
                <a:latin typeface="Rokkitt"/>
                <a:ea typeface="Rokkitt"/>
                <a:cs typeface="Rokkitt"/>
                <a:sym typeface="Rokkitt"/>
              </a:rPr>
              <a:t>Google. (n.d.). TensorFlow Lite Support Library: Kotlin API reference. TensorFlow. </a:t>
            </a:r>
            <a:r>
              <a:rPr lang="en-US" sz="2900">
                <a:solidFill>
                  <a:srgbClr val="000000"/>
                </a:solidFill>
                <a:latin typeface="Rokkitt"/>
                <a:ea typeface="Rokkitt"/>
                <a:cs typeface="Rokkitt"/>
                <a:sym typeface="Rokkitt"/>
                <a:hlinkClick r:id="rId6" tooltip="https://www.tensorflow.org/lite/inference_with_metadata/lite_support"/>
              </a:rPr>
              <a:t>https://www.tensorflow.org/lite/inference_with_metadata/lite_support</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Google. (n.d.). ML Kit documentation. Google for Developers. </a:t>
            </a:r>
            <a:r>
              <a:rPr lang="en-US" sz="2900">
                <a:solidFill>
                  <a:srgbClr val="000000"/>
                </a:solidFill>
                <a:latin typeface="Rokkitt"/>
                <a:ea typeface="Rokkitt"/>
                <a:cs typeface="Rokkitt"/>
                <a:sym typeface="Rokkitt"/>
                <a:hlinkClick r:id="rId7" tooltip="https://developers.google.com/ml-kit"/>
              </a:rPr>
              <a:t>https://developers.google.com/ml-kit</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Meta AI. (n.d.). ExecuTorch documentation. PyTorch. https://pytorch.org/executorch</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Large Language Model (LLM) API: Full Guide 2024,” Medium, Apr. 30, 2024</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Prompt Engineering Guide, Promptingguide.ai. Accessed: Dec. 04, 2025</a:t>
            </a:r>
          </a:p>
        </p:txBody>
      </p:sp>
      <p:sp>
        <p:nvSpPr>
          <p:cNvPr id="10" name="TextBox 10"/>
          <p:cNvSpPr txBox="1"/>
          <p:nvPr/>
        </p:nvSpPr>
        <p:spPr>
          <a:xfrm>
            <a:off x="3757370" y="576551"/>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TÀI LIỆU THAM KHẢO</a:t>
            </a:r>
          </a:p>
        </p:txBody>
      </p:sp>
      <p:sp>
        <p:nvSpPr>
          <p:cNvPr id="11" name="TextBox 11"/>
          <p:cNvSpPr txBox="1"/>
          <p:nvPr/>
        </p:nvSpPr>
        <p:spPr>
          <a:xfrm>
            <a:off x="7226197" y="9446461"/>
            <a:ext cx="3835605" cy="533400"/>
          </a:xfrm>
          <a:prstGeom prst="rect">
            <a:avLst/>
          </a:prstGeom>
        </p:spPr>
        <p:txBody>
          <a:bodyPr lIns="0" tIns="0" rIns="0" bIns="0" rtlCol="0" anchor="t">
            <a:spAutoFit/>
          </a:bodyPr>
          <a:lstStyle/>
          <a:p>
            <a:pPr marL="0" lvl="1" indent="0" algn="ctr">
              <a:lnSpc>
                <a:spcPts val="4200"/>
              </a:lnSpc>
              <a:spcBef>
                <a:spcPct val="0"/>
              </a:spcBef>
            </a:pPr>
            <a:r>
              <a:rPr lang="en-US" sz="3000" b="1" spc="126">
                <a:solidFill>
                  <a:srgbClr val="F0F0F3"/>
                </a:solidFill>
                <a:latin typeface="Rokkitt Bold"/>
                <a:ea typeface="Rokkitt Bold"/>
                <a:cs typeface="Rokkitt Bold"/>
                <a:sym typeface="Rokkit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2067</Words>
  <Application>Microsoft Office PowerPoint</Application>
  <PresentationFormat>Custom</PresentationFormat>
  <Paragraphs>265</Paragraphs>
  <Slides>27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5" baseType="lpstr">
      <vt:lpstr>Arial</vt:lpstr>
      <vt:lpstr>Calibri</vt:lpstr>
      <vt:lpstr>DM Sans Bold</vt:lpstr>
      <vt:lpstr>Rokkitt</vt:lpstr>
      <vt:lpstr>Rokkitt Bold</vt:lpstr>
      <vt:lpstr>Roboto</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seminar</dc:title>
  <cp:lastModifiedBy>NGUYỄN ĐOÀN XUÂN THU</cp:lastModifiedBy>
  <cp:revision>2</cp:revision>
  <dcterms:created xsi:type="dcterms:W3CDTF">2006-08-16T00:00:00Z</dcterms:created>
  <dcterms:modified xsi:type="dcterms:W3CDTF">2026-02-05T06:01:18Z</dcterms:modified>
  <dc:identifier>DAG62GT7h4s</dc:identifier>
</cp:coreProperties>
</file>