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9144000"/>
  <p:notesSz cx="9144000" cy="6858000"/>
  <p:embeddedFontLst>
    <p:embeddedFont>
      <p:font typeface="Quattrocento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g6o3SRtc7EM82MCvNyVHbfDp7Q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QuattrocentoSans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QuattrocentoSans-italic.fntdata"/><Relationship Id="rId12" Type="http://schemas.openxmlformats.org/officeDocument/2006/relationships/slide" Target="slides/slide7.xml"/><Relationship Id="rId56" Type="http://schemas.openxmlformats.org/officeDocument/2006/relationships/font" Target="fonts/QuattrocentoSans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Quattrocento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0c7f39f4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0c7f39f4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6e0c7f39f4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6f378309e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56f378309e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256f378309e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e0c7f39f4_0_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e0c7f39f4_0_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6e0c7f39f4_0_7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342bd786eee53_9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cf342bd786eee53_9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cf342bd786eee53_9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c2da7d2e2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ec2da7d2e2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2ec2da7d2e2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f342bd786eee53_43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cf342bd786eee53_43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2f3548ed7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2f3548ed7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22f3548ed7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f342bd786eee53_3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cf342bd786eee53_3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f342bd786eee53_16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cf342bd786eee53_1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cf342bd786eee53_16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f342bd786eee53_23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cf342bd786eee53_23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cf342bd786eee53_23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Số nguyên chia cho 0 thì văng exception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Số thực chia cho 0 thì ra infinity :v</a:t>
            </a:r>
            <a:endParaRPr/>
          </a:p>
        </p:txBody>
      </p:sp>
      <p:sp>
        <p:nvSpPr>
          <p:cNvPr id="237" name="Google Shape;237;p14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c28490a4a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c28490a4a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2c28490a4a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c28490a4a_0_9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2c28490a4a_0_9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2c28490a4a_0_9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2f172d3ba3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22f172d3ba3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22f172d3ba3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5b3ce7516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25b3ce7516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25b3ce7516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2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82d108b219_1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282d108b219_1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282d108b219_1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25b3ce7516_0_8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25b3ce7516_0_8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25b3ce7516_0_8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25b3ce7516_0_15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25b3ce7516_0_15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25b3ce7516_0_15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2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2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3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3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3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25026565c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725026565c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725026565c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25026565c_0_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25026565c_0_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725026565c_0_7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694705"/>
            <a:ext cx="91440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b="0" u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1397794" y="42179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0"/>
          <p:cNvSpPr/>
          <p:nvPr/>
        </p:nvSpPr>
        <p:spPr>
          <a:xfrm rot="-5400000">
            <a:off x="7873492" y="5587492"/>
            <a:ext cx="1271016" cy="1270000"/>
          </a:xfrm>
          <a:prstGeom prst="rtTriangl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0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1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1"/>
          <p:cNvSpPr/>
          <p:nvPr/>
        </p:nvSpPr>
        <p:spPr>
          <a:xfrm rot="-3654751">
            <a:off x="3125207" y="-2450268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694705"/>
            <a:ext cx="79629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2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3060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3"/>
          <p:cNvSpPr txBox="1"/>
          <p:nvPr>
            <p:ph type="title"/>
          </p:nvPr>
        </p:nvSpPr>
        <p:spPr>
          <a:xfrm>
            <a:off x="584200" y="25225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/>
          <p:nvPr/>
        </p:nvSpPr>
        <p:spPr>
          <a:xfrm rot="-3654751">
            <a:off x="1611729" y="686067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4"/>
          <p:cNvSpPr txBox="1"/>
          <p:nvPr>
            <p:ph type="title"/>
          </p:nvPr>
        </p:nvSpPr>
        <p:spPr>
          <a:xfrm>
            <a:off x="584200" y="31448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405" y="1489809"/>
            <a:ext cx="5988167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5"/>
          <p:cNvSpPr/>
          <p:nvPr/>
        </p:nvSpPr>
        <p:spPr>
          <a:xfrm rot="-3654751">
            <a:off x="1579444" y="130908"/>
            <a:ext cx="2251314" cy="7188200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5"/>
          <p:cNvSpPr txBox="1"/>
          <p:nvPr>
            <p:ph type="title"/>
          </p:nvPr>
        </p:nvSpPr>
        <p:spPr>
          <a:xfrm>
            <a:off x="117828" y="2582009"/>
            <a:ext cx="55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6200" y="0"/>
            <a:ext cx="1447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onlinegdb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learn.microsoft.com/en-us/dotnet/standard/base-types/regular-expression-language-quick-referenc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-US" sz="6600"/>
              <a:t>Basic C#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.Net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42650" y="14788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Software framework by Microsoft</a:t>
            </a:r>
            <a:endParaRPr/>
          </a:p>
        </p:txBody>
      </p:sp>
      <p:sp>
        <p:nvSpPr>
          <p:cNvPr id="75" name="Google Shape;75;p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2746701" y="6507150"/>
            <a:ext cx="35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Wikipedia, last update: </a:t>
            </a: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September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" y="2066925"/>
            <a:ext cx="8763001" cy="4136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Mechanism</a:t>
            </a:r>
            <a:endParaRPr/>
          </a:p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925" y="1431925"/>
            <a:ext cx="455714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e0c7f39f4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start</a:t>
            </a:r>
            <a:endParaRPr/>
          </a:p>
        </p:txBody>
      </p:sp>
      <p:sp>
        <p:nvSpPr>
          <p:cNvPr id="91" name="Google Shape;91;g36e0c7f39f4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onlinegdb.com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Console app</a:t>
            </a:r>
            <a:endParaRPr/>
          </a:p>
        </p:txBody>
      </p:sp>
      <p:sp>
        <p:nvSpPr>
          <p:cNvPr id="92" name="Google Shape;92;g36e0c7f39f4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Hello world &amp; artifacts</a:t>
            </a:r>
            <a:endParaRPr/>
          </a:p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Create a new console app</a:t>
            </a:r>
            <a:endParaRPr/>
          </a:p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732" y="2247682"/>
            <a:ext cx="5229955" cy="312463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101" name="Google Shape;1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732" y="5821267"/>
            <a:ext cx="2610214" cy="68589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6f378309e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Top level statements</a:t>
            </a:r>
            <a:endParaRPr/>
          </a:p>
        </p:txBody>
      </p:sp>
      <p:sp>
        <p:nvSpPr>
          <p:cNvPr id="108" name="Google Shape;108;g256f378309e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g256f378309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72650"/>
            <a:ext cx="8229600" cy="581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g256f378309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800" y="2994950"/>
            <a:ext cx="6940425" cy="223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Constants &amp; Variables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Write a program that calculate sum from 1 to 10</a:t>
            </a:r>
            <a:endParaRPr/>
          </a:p>
        </p:txBody>
      </p:sp>
      <p:sp>
        <p:nvSpPr>
          <p:cNvPr id="117" name="Google Shape;117;p6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373" y="5975250"/>
            <a:ext cx="2629267" cy="71447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942" y="2242898"/>
            <a:ext cx="7640116" cy="343900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Messing around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Position of parameter for string format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String interpolation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Char char="▪"/>
            </a:pPr>
            <a:r>
              <a:rPr b="1" lang="en-US">
                <a:solidFill>
                  <a:srgbClr val="0000FF"/>
                </a:solidFill>
              </a:rPr>
              <a:t>$</a:t>
            </a:r>
            <a:r>
              <a:rPr lang="en-US"/>
              <a:t>”Tong tu {start} den {end} la: {sum}”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Function examples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ref (chiếu) / out (yên tâm ra khỏi hàm sẽ có giá trị)</a:t>
            </a:r>
            <a:endParaRPr/>
          </a:p>
        </p:txBody>
      </p:sp>
      <p:sp>
        <p:nvSpPr>
          <p:cNvPr id="126" name="Google Shape;126;p7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Artifact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Build (Ctrl + Shift + B) =&gt; Error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Run (F5) vs Run without debugging (Ctrl + F5)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Release vs  Debug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Breakpoint &amp; watch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Step in (F11) &amp; Step over (F10) &amp; step out (Shift + F10)</a:t>
            </a:r>
            <a:endParaRPr/>
          </a:p>
          <a:p>
            <a:pPr indent="-1905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Set as startup project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Open project location</a:t>
            </a:r>
            <a:endParaRPr/>
          </a:p>
        </p:txBody>
      </p:sp>
      <p:sp>
        <p:nvSpPr>
          <p:cNvPr id="133" name="Google Shape;133;p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e0c7f39f4_0_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140" name="Google Shape;140;g36e0c7f39f4_0_7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AutoNum type="alphaLcPeriod"/>
            </a:pPr>
            <a:r>
              <a:rPr b="1" lang="en-US"/>
              <a:t>MinInteger</a:t>
            </a:r>
            <a:r>
              <a:rPr lang="en-US"/>
              <a:t>: Cho biết số nhỏ nhất trong 3 số nguyên a, b, c với giá trị code cứng cho trước.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b="1" lang="en-US"/>
              <a:t>Triangle</a:t>
            </a:r>
            <a:r>
              <a:rPr lang="en-US"/>
              <a:t>: Tính chu vi và diện tích tam giác từ độ dài 3 cạnh a, b, c với giá trị code cứng cho trước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1. Algorithm design using Pseudo Code / Flow Chart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2. Implement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3. Unit test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4. Refactoring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5. Adding comments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6. Generate documents based on comments</a:t>
            </a:r>
            <a:endParaRPr/>
          </a:p>
        </p:txBody>
      </p:sp>
      <p:sp>
        <p:nvSpPr>
          <p:cNvPr id="141" name="Google Shape;141;g36e0c7f39f4_0_7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Types</a:t>
            </a:r>
            <a:endParaRPr/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494" y="1600200"/>
            <a:ext cx="4676191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f342bd786eee53_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55" name="Google Shape;155;g3cf342bd786eee53_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Write a function to check if 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❑"/>
            </a:pPr>
            <a:r>
              <a:rPr lang="en-US"/>
              <a:t>An integer is a prime number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❑"/>
            </a:pPr>
            <a:r>
              <a:rPr lang="en-US"/>
              <a:t>An integer has all odd digits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bool IsPrime(int value) / CheckPrime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bool HasAllOddDigits(int value) / CheckAllOddDigits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6" name="Google Shape;156;g3cf342bd786eee53_9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c2da7d2e2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Answer</a:t>
            </a:r>
            <a:endParaRPr/>
          </a:p>
        </p:txBody>
      </p:sp>
      <p:sp>
        <p:nvSpPr>
          <p:cNvPr id="163" name="Google Shape;163;g2ec2da7d2e2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Functin name must be a </a:t>
            </a:r>
            <a:r>
              <a:rPr b="1" lang="en-US">
                <a:solidFill>
                  <a:srgbClr val="0000FF"/>
                </a:solidFill>
              </a:rPr>
              <a:t>verb </a:t>
            </a:r>
            <a:r>
              <a:rPr lang="en-US"/>
              <a:t>(to be is acceptable)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bool IsPrime(int 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bool CheckAllOddDigits(int 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bool HasAllOddDigits(int number)</a:t>
            </a:r>
            <a:endParaRPr/>
          </a:p>
        </p:txBody>
      </p:sp>
      <p:sp>
        <p:nvSpPr>
          <p:cNvPr id="164" name="Google Shape;164;g2ec2da7d2e2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Array</a:t>
            </a:r>
            <a:endParaRPr/>
          </a:p>
        </p:txBody>
      </p:sp>
      <p:sp>
        <p:nvSpPr>
          <p:cNvPr id="170" name="Google Shape;170;p10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10"/>
          <p:cNvPicPr preferRelativeResize="0"/>
          <p:nvPr/>
        </p:nvPicPr>
        <p:blipFill rotWithShape="1">
          <a:blip r:embed="rId3">
            <a:alphaModFix/>
          </a:blip>
          <a:srcRect b="12982" l="0" r="0" t="0"/>
          <a:stretch/>
        </p:blipFill>
        <p:spPr>
          <a:xfrm>
            <a:off x="582125" y="1756401"/>
            <a:ext cx="8360750" cy="371312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f342bd786eee53_4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177" name="Google Shape;177;g3cf342bd786eee53_4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Given a date stored in 3 variables: day, month, year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(hard code, change everytime the app runs)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Write a function to check if these variables create a valid date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Write a helper function to check for leap year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Write a function that prints out the previous day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Write a function that prints out the next day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Create unit test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8" name="Google Shape;178;g3cf342bd786eee53_43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2f3548ed7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</a:t>
            </a:r>
            <a:endParaRPr/>
          </a:p>
        </p:txBody>
      </p:sp>
      <p:sp>
        <p:nvSpPr>
          <p:cNvPr id="185" name="Google Shape;185;g322f3548ed7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M</a:t>
            </a:r>
            <a:r>
              <a:rPr lang="en-US"/>
              <a:t>ake all these above functions part of class DateTime</a:t>
            </a:r>
            <a:endParaRPr/>
          </a:p>
        </p:txBody>
      </p:sp>
      <p:sp>
        <p:nvSpPr>
          <p:cNvPr id="186" name="Google Shape;186;g322f3548ed7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Loop through an array</a:t>
            </a:r>
            <a:endParaRPr/>
          </a:p>
        </p:txBody>
      </p:sp>
      <p:sp>
        <p:nvSpPr>
          <p:cNvPr id="192" name="Google Shape;192;p11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29" y="1619494"/>
            <a:ext cx="5735205" cy="320417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194" name="Google Shape;1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434" y="2780439"/>
            <a:ext cx="2949999" cy="114935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195" name="Google Shape;1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29" y="5244798"/>
            <a:ext cx="2429214" cy="704948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f342bd786eee53_3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Random generator</a:t>
            </a:r>
            <a:endParaRPr/>
          </a:p>
        </p:txBody>
      </p:sp>
      <p:sp>
        <p:nvSpPr>
          <p:cNvPr id="201" name="Google Shape;201;g3cf342bd786eee53_37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g3cf342bd786eee53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19" y="1663818"/>
            <a:ext cx="8440162" cy="214618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f342bd786eee53_1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09" name="Google Shape;209;g3cf342bd786eee53_16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Generate 10 integers into an int array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Check if all integers are even numbers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Count the number of prime numbers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Create a sub array that contains all odd numbers</a:t>
            </a:r>
            <a:endParaRPr/>
          </a:p>
        </p:txBody>
      </p:sp>
      <p:sp>
        <p:nvSpPr>
          <p:cNvPr id="210" name="Google Shape;210;g3cf342bd786eee53_16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Number casting</a:t>
            </a:r>
            <a:endParaRPr/>
          </a:p>
        </p:txBody>
      </p:sp>
      <p:sp>
        <p:nvSpPr>
          <p:cNvPr id="216" name="Google Shape;216;p1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Small to big -&gt; OK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b = 5;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implicit int to byte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i = b; 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i = 5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Big to small -&gt; NOT OK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i = 500;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j = i;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compile error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j = (</a:t>
            </a: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)i;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i = 244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Boxing / Unboxing</a:t>
            </a:r>
            <a:endParaRPr/>
          </a:p>
        </p:txBody>
      </p:sp>
      <p:sp>
        <p:nvSpPr>
          <p:cNvPr id="223" name="Google Shape;223;p1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Boxing: convert value type to object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Unboxing: extract value type from object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211" y="2952750"/>
            <a:ext cx="4460789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f342bd786eee53_2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32" name="Google Shape;232;g3cf342bd786eee53_2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Understanding the boxing/unboxing mechanism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</a:rPr>
              <a:t>int </a:t>
            </a:r>
            <a:r>
              <a:rPr lang="en-US"/>
              <a:t>i = 7;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</a:rPr>
              <a:t>string </a:t>
            </a:r>
            <a:r>
              <a:rPr lang="en-US"/>
              <a:t>name = i.ToString() + “ $”; // Integer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00FF"/>
                </a:solidFill>
              </a:rPr>
              <a:t>int </a:t>
            </a:r>
            <a:r>
              <a:rPr lang="en-US"/>
              <a:t>result = i.CompareTo(100);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Java: (new Integer(i)).toString())</a:t>
            </a:r>
            <a:endParaRPr/>
          </a:p>
        </p:txBody>
      </p:sp>
      <p:sp>
        <p:nvSpPr>
          <p:cNvPr id="233" name="Google Shape;233;g3cf342bd786eee53_23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/>
              <a:t>Minimum &amp; maximum value</a:t>
            </a:r>
            <a:endParaRPr/>
          </a:p>
        </p:txBody>
      </p:sp>
      <p:sp>
        <p:nvSpPr>
          <p:cNvPr id="240" name="Google Shape;240;p14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789" y="1607195"/>
            <a:ext cx="8543620" cy="22098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242" name="Google Shape;2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400" y="4419600"/>
            <a:ext cx="4013199" cy="150495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sp>
        <p:nvSpPr>
          <p:cNvPr id="243" name="Google Shape;243;p14"/>
          <p:cNvSpPr/>
          <p:nvPr/>
        </p:nvSpPr>
        <p:spPr>
          <a:xfrm>
            <a:off x="5674517" y="4710410"/>
            <a:ext cx="25314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Result?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Operation 1/2</a:t>
            </a:r>
            <a:endParaRPr/>
          </a:p>
        </p:txBody>
      </p:sp>
      <p:sp>
        <p:nvSpPr>
          <p:cNvPr id="249" name="Google Shape;249;p15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438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References:   </a:t>
            </a:r>
            <a:r>
              <a:rPr lang="en-US">
                <a:solidFill>
                  <a:srgbClr val="0000FF"/>
                </a:solidFill>
              </a:rPr>
              <a:t>.    ()   []   new   </a:t>
            </a:r>
            <a:r>
              <a:rPr lang="en-US">
                <a:solidFill>
                  <a:srgbClr val="FF0000"/>
                </a:solidFill>
              </a:rPr>
              <a:t>-&gt;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Arithmetic: </a:t>
            </a:r>
            <a:r>
              <a:rPr lang="en-US">
                <a:solidFill>
                  <a:srgbClr val="0000FF"/>
                </a:solidFill>
              </a:rPr>
              <a:t>+   ++   -   --   *  /   %   sizeof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Logical:  </a:t>
            </a:r>
            <a:r>
              <a:rPr lang="en-US">
                <a:solidFill>
                  <a:srgbClr val="0000FF"/>
                </a:solidFill>
              </a:rPr>
              <a:t>&amp;   |   ^   !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Conditional: </a:t>
            </a:r>
            <a:r>
              <a:rPr lang="en-US">
                <a:solidFill>
                  <a:srgbClr val="0000FF"/>
                </a:solidFill>
              </a:rPr>
              <a:t>&amp;&amp; (&amp;)   ||   ! ==   !=   &gt;   &gt;=   &lt;   &lt;=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Type verification:  </a:t>
            </a:r>
            <a:r>
              <a:rPr lang="en-US">
                <a:solidFill>
                  <a:srgbClr val="FF0000"/>
                </a:solidFill>
              </a:rPr>
              <a:t> is    as   typeof</a:t>
            </a:r>
            <a:endParaRPr>
              <a:solidFill>
                <a:srgbClr val="FF0000"/>
              </a:solidFill>
            </a:endParaRPr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Bitwise:  </a:t>
            </a:r>
            <a:r>
              <a:rPr lang="en-US">
                <a:solidFill>
                  <a:srgbClr val="0000FF"/>
                </a:solidFill>
              </a:rPr>
              <a:t>~   &gt;&gt;   &lt;&lt;</a:t>
            </a:r>
            <a:r>
              <a:rPr lang="en-US"/>
              <a:t> 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Assignment: </a:t>
            </a:r>
            <a:r>
              <a:rPr lang="en-US">
                <a:solidFill>
                  <a:srgbClr val="0000FF"/>
                </a:solidFill>
              </a:rPr>
              <a:t>=   +=   -=   *=   /=   %=   &amp;=   |=   ^=   &gt;&gt;=   &lt;&lt;=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Selection:   </a:t>
            </a:r>
            <a:r>
              <a:rPr lang="en-US">
                <a:solidFill>
                  <a:srgbClr val="0000FF"/>
                </a:solidFill>
              </a:rPr>
              <a:t>?:   </a:t>
            </a:r>
            <a:r>
              <a:rPr lang="en-US">
                <a:solidFill>
                  <a:srgbClr val="FF0000"/>
                </a:solidFill>
              </a:rPr>
              <a:t>?? (not null)</a:t>
            </a:r>
            <a:endParaRPr/>
          </a:p>
          <a:p>
            <a:pPr indent="-44386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Char char="❑"/>
            </a:pPr>
            <a:r>
              <a:rPr lang="en-US"/>
              <a:t>Lambda expression definition:   </a:t>
            </a:r>
            <a:r>
              <a:rPr lang="en-US">
                <a:solidFill>
                  <a:srgbClr val="FF0000"/>
                </a:solidFill>
              </a:rPr>
              <a:t>=&gt;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Operation 2/2</a:t>
            </a:r>
            <a:endParaRPr/>
          </a:p>
        </p:txBody>
      </p:sp>
      <p:sp>
        <p:nvSpPr>
          <p:cNvPr id="256" name="Google Shape;256;p16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i = 5;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Selection ?: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x = i == 5 ? </a:t>
            </a:r>
            <a:r>
              <a:rPr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? x = 5;    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nullable type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y = x ?? </a:t>
            </a:r>
            <a:r>
              <a:rPr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Selection ?? operator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z = x;      </a:t>
            </a: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Error: nullable type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   // cannot assign to non-nullable type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Lambda expression – anonymous method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x) =&gt; x * 2;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⇔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PowerUp(int x){return x * 2;}</a:t>
            </a:r>
            <a:endParaRPr/>
          </a:p>
          <a:p>
            <a:pPr indent="-306070" lvl="0" marL="45720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 sz="4300"/>
              <a:t>Use String format for concatenation</a:t>
            </a:r>
            <a:endParaRPr sz="4300"/>
          </a:p>
        </p:txBody>
      </p:sp>
      <p:sp>
        <p:nvSpPr>
          <p:cNvPr id="263" name="Google Shape;263;p20"/>
          <p:cNvSpPr txBox="1"/>
          <p:nvPr>
            <p:ph idx="1" type="body"/>
          </p:nvPr>
        </p:nvSpPr>
        <p:spPr>
          <a:xfrm>
            <a:off x="381000" y="4191000"/>
            <a:ext cx="8305800" cy="19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Positive: right align, negative: left align</a:t>
            </a:r>
            <a:endParaRPr/>
          </a:p>
        </p:txBody>
      </p:sp>
      <p:sp>
        <p:nvSpPr>
          <p:cNvPr id="264" name="Google Shape;264;p20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739" y="1676400"/>
            <a:ext cx="8696848" cy="13716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266" name="Google Shape;2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738" y="3581400"/>
            <a:ext cx="8490863" cy="6096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String concatenation</a:t>
            </a:r>
            <a:endParaRPr/>
          </a:p>
        </p:txBody>
      </p:sp>
      <p:sp>
        <p:nvSpPr>
          <p:cNvPr id="272" name="Google Shape;272;p18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Noto Sans Symbols"/>
              <a:buChar char="❑"/>
            </a:pPr>
            <a:r>
              <a:rPr lang="en-US" sz="2400"/>
              <a:t>Use “+” character</a:t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4318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Noto Sans Symbols"/>
              <a:buChar char="❑"/>
            </a:pPr>
            <a:r>
              <a:rPr lang="en-US" sz="2400"/>
              <a:t>Use </a:t>
            </a:r>
            <a:r>
              <a:rPr lang="en-US" sz="2400">
                <a:solidFill>
                  <a:srgbClr val="0070C0"/>
                </a:solidFill>
              </a:rPr>
              <a:t>StringBuilder</a:t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2794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  <a:p>
            <a:pPr indent="-4318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Noto Sans Symbols"/>
              <a:buChar char="❑"/>
            </a:pPr>
            <a:r>
              <a:rPr lang="en-US" sz="2400"/>
              <a:t>Use string interpolation with $“{variable}”</a:t>
            </a:r>
            <a:endParaRPr sz="2400"/>
          </a:p>
          <a:p>
            <a:pPr indent="-4318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400"/>
              <a:buChar char="❑"/>
            </a:pPr>
            <a:r>
              <a:rPr lang="en-US" sz="2400"/>
              <a:t>Use string.Format</a:t>
            </a:r>
            <a:endParaRPr sz="2400"/>
          </a:p>
        </p:txBody>
      </p:sp>
      <p:sp>
        <p:nvSpPr>
          <p:cNvPr id="273" name="Google Shape;273;p1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209800"/>
            <a:ext cx="4699910" cy="8382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pic>
        <p:nvPicPr>
          <p:cNvPr id="275" name="Google Shape;2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399" y="3662925"/>
            <a:ext cx="3670175" cy="1317119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String Split</a:t>
            </a:r>
            <a:endParaRPr/>
          </a:p>
        </p:txBody>
      </p:sp>
      <p:sp>
        <p:nvSpPr>
          <p:cNvPr id="281" name="Google Shape;281;p19"/>
          <p:cNvSpPr txBox="1"/>
          <p:nvPr>
            <p:ph idx="1" type="body"/>
          </p:nvPr>
        </p:nvSpPr>
        <p:spPr>
          <a:xfrm>
            <a:off x="457200" y="3352800"/>
            <a:ext cx="8229600" cy="2773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b="1" lang="en-US"/>
              <a:t>StringSplitOptions</a:t>
            </a:r>
            <a:r>
              <a:rPr lang="en-US"/>
              <a:t>.RemoveEmptyEntries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Exercise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Calculate sum of string numbers = “5,3,8,11,-12,3”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Comma separated values : .csv file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Split String fraction = “3/4” into int numerator and denominator</a:t>
            </a:r>
            <a:endParaRPr/>
          </a:p>
          <a:p>
            <a:pPr indent="0" lvl="2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What if we meet 3//4?</a:t>
            </a:r>
            <a:endParaRPr/>
          </a:p>
        </p:txBody>
      </p:sp>
      <p:sp>
        <p:nvSpPr>
          <p:cNvPr id="282" name="Google Shape;282;p1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3" name="Google Shape;2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93837"/>
            <a:ext cx="8090003" cy="17526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Currency format</a:t>
            </a:r>
            <a:endParaRPr/>
          </a:p>
        </p:txBody>
      </p:sp>
      <p:sp>
        <p:nvSpPr>
          <p:cNvPr id="289" name="Google Shape;289;p21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</a:rPr>
              <a:t>CultureInfo </a:t>
            </a:r>
            <a:r>
              <a:rPr lang="en-US" sz="2000"/>
              <a:t>culture </a:t>
            </a:r>
            <a:r>
              <a:rPr lang="en-US" sz="2000"/>
              <a:t>= </a:t>
            </a:r>
            <a:r>
              <a:rPr lang="en-US" sz="2000">
                <a:solidFill>
                  <a:schemeClr val="dk2"/>
                </a:solidFill>
              </a:rPr>
              <a:t>CultureInfo</a:t>
            </a:r>
            <a:r>
              <a:rPr lang="en-US" sz="2000"/>
              <a:t>.GetCultureInfo("</a:t>
            </a:r>
            <a:r>
              <a:rPr lang="en-US" sz="2000">
                <a:solidFill>
                  <a:schemeClr val="accent2"/>
                </a:solidFill>
              </a:rPr>
              <a:t>vi-VN</a:t>
            </a:r>
            <a:r>
              <a:rPr lang="en-US" sz="2000"/>
              <a:t>");  // en-US /en-UK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FF"/>
                </a:solidFill>
              </a:rPr>
              <a:t>int </a:t>
            </a:r>
            <a:r>
              <a:rPr lang="en-US" sz="2000"/>
              <a:t>money = 1250000;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FF"/>
                </a:solidFill>
              </a:rPr>
              <a:t>1. </a:t>
            </a:r>
            <a:r>
              <a:rPr lang="en-US" sz="2000">
                <a:solidFill>
                  <a:srgbClr val="0000FF"/>
                </a:solidFill>
              </a:rPr>
              <a:t>string </a:t>
            </a:r>
            <a:r>
              <a:rPr lang="en-US" sz="2000"/>
              <a:t>formatted </a:t>
            </a:r>
            <a:r>
              <a:rPr lang="en-US" sz="2000"/>
              <a:t>= money.</a:t>
            </a:r>
            <a:r>
              <a:rPr b="1" lang="en-US" sz="2000">
                <a:solidFill>
                  <a:srgbClr val="9900FF"/>
                </a:solidFill>
              </a:rPr>
              <a:t>ToString</a:t>
            </a:r>
            <a:r>
              <a:rPr lang="en-US" sz="2000"/>
              <a:t>("</a:t>
            </a:r>
            <a:r>
              <a:rPr lang="en-US" sz="2000">
                <a:solidFill>
                  <a:schemeClr val="accent2"/>
                </a:solidFill>
              </a:rPr>
              <a:t>#,### đ</a:t>
            </a:r>
            <a:r>
              <a:rPr lang="en-US" sz="2000"/>
              <a:t>", culture.NumberFormat);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FF"/>
                </a:solidFill>
              </a:rPr>
              <a:t>2. </a:t>
            </a:r>
            <a:r>
              <a:rPr lang="en-US" sz="2000">
                <a:solidFill>
                  <a:srgbClr val="0000FF"/>
                </a:solidFill>
              </a:rPr>
              <a:t>string </a:t>
            </a:r>
            <a:r>
              <a:rPr lang="en-US" sz="2000"/>
              <a:t>formatted</a:t>
            </a:r>
            <a:r>
              <a:rPr lang="en-US" sz="2000"/>
              <a:t> = </a:t>
            </a:r>
            <a:r>
              <a:rPr b="1" lang="en-US" sz="2000">
                <a:solidFill>
                  <a:srgbClr val="FF9900"/>
                </a:solidFill>
              </a:rPr>
              <a:t>string</a:t>
            </a:r>
            <a:r>
              <a:rPr lang="en-US" sz="2000"/>
              <a:t>.</a:t>
            </a:r>
            <a:r>
              <a:rPr b="1" lang="en-US" sz="2000">
                <a:solidFill>
                  <a:srgbClr val="9900FF"/>
                </a:solidFill>
              </a:rPr>
              <a:t>Format</a:t>
            </a:r>
            <a:r>
              <a:rPr lang="en-US" sz="2000"/>
              <a:t>(</a:t>
            </a:r>
            <a:r>
              <a:rPr lang="en-US" sz="2000"/>
              <a:t>culture </a:t>
            </a:r>
            <a:r>
              <a:rPr lang="en-US" sz="2000"/>
              <a:t>, "</a:t>
            </a:r>
            <a:r>
              <a:rPr lang="en-US" sz="2000">
                <a:solidFill>
                  <a:srgbClr val="C00000"/>
                </a:solidFill>
              </a:rPr>
              <a:t>{0:c}</a:t>
            </a:r>
            <a:r>
              <a:rPr lang="en-US" sz="2000"/>
              <a:t>", money);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$n, n$, $ n, n $  =&gt; 0 1 2 3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1.000.000,29 đ 10/07/2023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$ 1,000,000.29 07/10/2023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Cùng 1 dữ liệu =&gt; nhiều cách hiển thị khác nhau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6/8 =&gt; </a:t>
            </a:r>
            <a:r>
              <a:rPr lang="en-US" sz="2000"/>
              <a:t>3/4</a:t>
            </a:r>
            <a:r>
              <a:rPr lang="en-US" sz="2000"/>
              <a:t> =&gt; 75% =&gt; 0.75</a:t>
            </a:r>
            <a:endParaRPr sz="2000"/>
          </a:p>
        </p:txBody>
      </p:sp>
      <p:sp>
        <p:nvSpPr>
          <p:cNvPr id="290" name="Google Shape;290;p21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c28490a4a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/>
              <a:t>Currency format using Regular expression</a:t>
            </a:r>
            <a:endParaRPr sz="3700"/>
          </a:p>
        </p:txBody>
      </p:sp>
      <p:sp>
        <p:nvSpPr>
          <p:cNvPr id="297" name="Google Shape;297;g32c28490a4a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string info = </a:t>
            </a:r>
            <a:r>
              <a:rPr b="1" lang="en-US">
                <a:solidFill>
                  <a:srgbClr val="0000FF"/>
                </a:solidFill>
              </a:rPr>
              <a:t>Regex</a:t>
            </a:r>
            <a:r>
              <a:rPr lang="en-US"/>
              <a:t>.</a:t>
            </a:r>
            <a:r>
              <a:rPr b="1" lang="en-US">
                <a:solidFill>
                  <a:srgbClr val="9900FF"/>
                </a:solidFill>
              </a:rPr>
              <a:t>Replace</a:t>
            </a:r>
            <a:r>
              <a:rPr lang="en-US"/>
              <a:t>("1234567",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@"</a:t>
            </a:r>
            <a:r>
              <a:rPr b="1" lang="en-US">
                <a:solidFill>
                  <a:srgbClr val="FF0000"/>
                </a:solidFill>
              </a:rPr>
              <a:t>\d{1,3}</a:t>
            </a:r>
            <a:r>
              <a:rPr b="1" lang="en-US">
                <a:solidFill>
                  <a:srgbClr val="38761D"/>
                </a:solidFill>
              </a:rPr>
              <a:t>(?=(\d{3})+</a:t>
            </a:r>
            <a:r>
              <a:rPr b="1" lang="en-US">
                <a:solidFill>
                  <a:srgbClr val="0000FF"/>
                </a:solidFill>
              </a:rPr>
              <a:t>(?!\d)</a:t>
            </a:r>
            <a:r>
              <a:rPr lang="en-US"/>
              <a:t>)",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        "</a:t>
            </a:r>
            <a:r>
              <a:rPr b="1" lang="en-US">
                <a:solidFill>
                  <a:schemeClr val="accent6"/>
                </a:solidFill>
              </a:rPr>
              <a:t>$&amp;.</a:t>
            </a:r>
            <a:r>
              <a:rPr lang="en-US"/>
              <a:t>"); // 1.234.567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\d{1,3}: 1-3 digits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?=(\d{3})+: </a:t>
            </a:r>
            <a:r>
              <a:rPr lang="en-US" u="sng"/>
              <a:t>lookahead</a:t>
            </a:r>
            <a:r>
              <a:rPr lang="en-US"/>
              <a:t>, after 1-3 digits, must follow by </a:t>
            </a:r>
            <a:r>
              <a:rPr b="1" lang="en-US">
                <a:solidFill>
                  <a:srgbClr val="FF0000"/>
                </a:solidFill>
              </a:rPr>
              <a:t>3</a:t>
            </a:r>
            <a:r>
              <a:rPr lang="en-US"/>
              <a:t> digits, repeats more than one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?!\d: </a:t>
            </a:r>
            <a:r>
              <a:rPr lang="en-US" u="sng"/>
              <a:t>negative lookahead</a:t>
            </a:r>
            <a:r>
              <a:rPr lang="en-US"/>
              <a:t>, must follows by </a:t>
            </a:r>
            <a:r>
              <a:rPr b="1" lang="en-US">
                <a:solidFill>
                  <a:srgbClr val="FF0000"/>
                </a:solidFill>
              </a:rPr>
              <a:t>no </a:t>
            </a:r>
            <a:r>
              <a:rPr lang="en-US"/>
              <a:t>digits</a:t>
            </a:r>
            <a:endParaRPr/>
          </a:p>
        </p:txBody>
      </p:sp>
      <p:sp>
        <p:nvSpPr>
          <p:cNvPr id="298" name="Google Shape;298;g32c28490a4a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String search</a:t>
            </a:r>
            <a:endParaRPr/>
          </a:p>
        </p:txBody>
      </p:sp>
      <p:sp>
        <p:nvSpPr>
          <p:cNvPr id="304" name="Google Shape;304;p22"/>
          <p:cNvSpPr txBox="1"/>
          <p:nvPr>
            <p:ph idx="1" type="body"/>
          </p:nvPr>
        </p:nvSpPr>
        <p:spPr>
          <a:xfrm>
            <a:off x="525780" y="3245644"/>
            <a:ext cx="8229600" cy="326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Exercise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Given string s = “She sells seashells by the seashore. The shells she sells are seashells”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Calculate the number of occurrence of the word “sells” and “she”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Further reading: replace and regular expression</a:t>
            </a:r>
            <a:endParaRPr/>
          </a:p>
        </p:txBody>
      </p:sp>
      <p:sp>
        <p:nvSpPr>
          <p:cNvPr id="305" name="Google Shape;305;p2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543889"/>
            <a:ext cx="6581614" cy="145326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String Exercises</a:t>
            </a:r>
            <a:endParaRPr/>
          </a:p>
        </p:txBody>
      </p:sp>
      <p:sp>
        <p:nvSpPr>
          <p:cNvPr id="312" name="Google Shape;312;p2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Read a string and give statistics about the number of occurrence for each of the word in the string.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Normalize a string of full name and print out on the screen: no more than one spaces between words, the first letter is capitalized meanwhile the rest are in lower case, no space in the beginning and the end of the string.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3. Split string fullpath = “C:\Documents\Photos\Test.jpg” into:</a:t>
            </a:r>
            <a:endParaRPr/>
          </a:p>
          <a:p>
            <a:pPr indent="457200" lvl="1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a) Containing directory b) File name c) Extension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13" name="Google Shape;313;p2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c28490a4a_0_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extraction</a:t>
            </a:r>
            <a:endParaRPr/>
          </a:p>
        </p:txBody>
      </p:sp>
      <p:sp>
        <p:nvSpPr>
          <p:cNvPr id="320" name="Google Shape;320;g32c28490a4a_0_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/>
              <a:t>FileInfo </a:t>
            </a:r>
            <a:r>
              <a:rPr lang="en-US"/>
              <a:t>vs </a:t>
            </a:r>
            <a:r>
              <a:rPr b="1" lang="en-US"/>
              <a:t>Path</a:t>
            </a:r>
            <a:endParaRPr b="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Path.GetDirectoryName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Path.GetFileName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Path.GetFileNameWithoutExtension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Path.GetExtension</a:t>
            </a:r>
            <a:endParaRPr/>
          </a:p>
        </p:txBody>
      </p:sp>
      <p:sp>
        <p:nvSpPr>
          <p:cNvPr id="321" name="Google Shape;321;g32c28490a4a_0_9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DateTime</a:t>
            </a:r>
            <a:endParaRPr/>
          </a:p>
        </p:txBody>
      </p:sp>
      <p:sp>
        <p:nvSpPr>
          <p:cNvPr id="327" name="Google Shape;327;p24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System;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31859B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a = new </a:t>
            </a:r>
            <a:r>
              <a:rPr lang="en-US">
                <a:solidFill>
                  <a:srgbClr val="31859B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Full construction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31859B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b = new </a:t>
            </a:r>
            <a:r>
              <a:rPr lang="en-US">
                <a:solidFill>
                  <a:srgbClr val="31859B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(2025, 01, 15, 20, 06, 31, 927);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Current time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31859B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today = </a:t>
            </a:r>
            <a:r>
              <a:rPr lang="en-US">
                <a:solidFill>
                  <a:srgbClr val="31859B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.Now;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2f172d3ba3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Datetime string display</a:t>
            </a:r>
            <a:endParaRPr/>
          </a:p>
        </p:txBody>
      </p:sp>
      <p:sp>
        <p:nvSpPr>
          <p:cNvPr id="335" name="Google Shape;335;g22f172d3ba3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var culture = </a:t>
            </a:r>
            <a:r>
              <a:rPr b="1" lang="en-US" sz="2600">
                <a:solidFill>
                  <a:srgbClr val="0000FF"/>
                </a:solidFill>
              </a:rPr>
              <a:t>CultureInfo</a:t>
            </a:r>
            <a:r>
              <a:rPr lang="en-US" sz="2600"/>
              <a:t>.GetCultureInfo("</a:t>
            </a:r>
            <a:r>
              <a:rPr b="1" lang="en-US" sz="2600">
                <a:solidFill>
                  <a:srgbClr val="FF0000"/>
                </a:solidFill>
              </a:rPr>
              <a:t>vi-VN</a:t>
            </a:r>
            <a:r>
              <a:rPr lang="en-US" sz="2600"/>
              <a:t>");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var now = </a:t>
            </a:r>
            <a:r>
              <a:rPr b="1" lang="en-US" sz="2600">
                <a:solidFill>
                  <a:srgbClr val="1155CC"/>
                </a:solidFill>
              </a:rPr>
              <a:t>DateTime</a:t>
            </a:r>
            <a:r>
              <a:rPr lang="en-US" sz="2600"/>
              <a:t>.Now;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now.ToString(</a:t>
            </a:r>
            <a:r>
              <a:rPr lang="en-US" sz="2600"/>
              <a:t>culture</a:t>
            </a:r>
            <a:r>
              <a:rPr lang="en-US" sz="2600"/>
              <a:t>);       </a:t>
            </a:r>
            <a:r>
              <a:rPr lang="en-US" sz="2600">
                <a:solidFill>
                  <a:srgbClr val="38761D"/>
                </a:solidFill>
              </a:rPr>
              <a:t>// 15/01/</a:t>
            </a:r>
            <a:r>
              <a:rPr lang="en-US" sz="2600">
                <a:solidFill>
                  <a:srgbClr val="38761D"/>
                </a:solidFill>
              </a:rPr>
              <a:t>2025</a:t>
            </a:r>
            <a:r>
              <a:rPr lang="en-US" sz="2600">
                <a:solidFill>
                  <a:srgbClr val="38761D"/>
                </a:solidFill>
              </a:rPr>
              <a:t> 22:07:25</a:t>
            </a:r>
            <a:endParaRPr sz="2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now.ToLongDateString();  </a:t>
            </a:r>
            <a:r>
              <a:rPr lang="en-US" sz="2600">
                <a:solidFill>
                  <a:srgbClr val="38761D"/>
                </a:solidFill>
              </a:rPr>
              <a:t>// Monday, July 10, 2023</a:t>
            </a:r>
            <a:endParaRPr sz="2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now.ToShortDateString(); </a:t>
            </a:r>
            <a:r>
              <a:rPr lang="en-US" sz="2600">
                <a:solidFill>
                  <a:srgbClr val="38761D"/>
                </a:solidFill>
              </a:rPr>
              <a:t>// Mon 10 07 2023</a:t>
            </a:r>
            <a:endParaRPr sz="2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How about 10-07-2023?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now.ToString("</a:t>
            </a:r>
            <a:r>
              <a:rPr b="1" lang="en-US" sz="2600">
                <a:solidFill>
                  <a:srgbClr val="FF0000"/>
                </a:solidFill>
              </a:rPr>
              <a:t>dd-</a:t>
            </a:r>
            <a:r>
              <a:rPr b="1" lang="en-US" sz="2600">
                <a:solidFill>
                  <a:srgbClr val="FF0000"/>
                </a:solidFill>
              </a:rPr>
              <a:t>MM</a:t>
            </a:r>
            <a:r>
              <a:rPr b="1" lang="en-US" sz="2600">
                <a:solidFill>
                  <a:srgbClr val="FF0000"/>
                </a:solidFill>
              </a:rPr>
              <a:t>-yyyy</a:t>
            </a:r>
            <a:r>
              <a:rPr lang="en-US" sz="2600"/>
              <a:t>", </a:t>
            </a:r>
            <a:r>
              <a:rPr b="1" lang="en-US" sz="2600">
                <a:solidFill>
                  <a:srgbClr val="0000FF"/>
                </a:solidFill>
              </a:rPr>
              <a:t>CultureInfo</a:t>
            </a:r>
            <a:r>
              <a:rPr lang="en-US" sz="2600"/>
              <a:t>.InvariantCulture)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/>
              <a:t>now.ToString("</a:t>
            </a:r>
            <a:r>
              <a:rPr b="1" lang="en-US" sz="2600">
                <a:solidFill>
                  <a:srgbClr val="FF0000"/>
                </a:solidFill>
              </a:rPr>
              <a:t>dd/MM/yy</a:t>
            </a:r>
            <a:r>
              <a:rPr lang="en-US" sz="2600"/>
              <a:t>", </a:t>
            </a:r>
            <a:r>
              <a:rPr b="1" lang="en-US" sz="2600">
                <a:solidFill>
                  <a:srgbClr val="0000FF"/>
                </a:solidFill>
              </a:rPr>
              <a:t>CultureInfo</a:t>
            </a:r>
            <a:r>
              <a:rPr lang="en-US" sz="2600"/>
              <a:t>.InvariantCulture)</a:t>
            </a:r>
            <a:endParaRPr sz="2600"/>
          </a:p>
        </p:txBody>
      </p:sp>
      <p:sp>
        <p:nvSpPr>
          <p:cNvPr id="336" name="Google Shape;336;g22f172d3ba3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5b3ce7516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Telephone number</a:t>
            </a:r>
            <a:endParaRPr/>
          </a:p>
        </p:txBody>
      </p:sp>
      <p:sp>
        <p:nvSpPr>
          <p:cNvPr id="343" name="Google Shape;343;g325b3ce7516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Learn regular expression</a:t>
            </a:r>
            <a:endParaRPr/>
          </a:p>
          <a:p>
            <a:pPr indent="-353060" lvl="0" marL="457200" rtl="0" algn="l">
              <a:spcBef>
                <a:spcPts val="560"/>
              </a:spcBef>
              <a:spcAft>
                <a:spcPts val="0"/>
              </a:spcAft>
              <a:buSzPct val="100000"/>
              <a:buChar char="❑"/>
            </a:pPr>
            <a:r>
              <a:rPr lang="en-US"/>
              <a:t>Regexr.com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❑"/>
            </a:pPr>
            <a:r>
              <a:rPr lang="en-US"/>
              <a:t>With example: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https://learn.microsoft.com/en-us/dotnet/standard/base-types/regular-expression-language-quick-reference</a:t>
            </a:r>
            <a:r>
              <a:rPr lang="en-US"/>
              <a:t> </a:t>
            </a:r>
            <a:endParaRPr/>
          </a:p>
          <a:p>
            <a:pPr indent="0" lvl="0" marL="9144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phone = </a:t>
            </a:r>
            <a:r>
              <a:rPr b="1" lang="en-US">
                <a:solidFill>
                  <a:srgbClr val="0B5394"/>
                </a:solidFill>
              </a:rPr>
              <a:t>Regex</a:t>
            </a:r>
            <a:r>
              <a:rPr lang="en-US"/>
              <a:t>.Replace(phone, 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@"(</a:t>
            </a:r>
            <a:r>
              <a:rPr b="1" lang="en-US">
                <a:solidFill>
                  <a:srgbClr val="FF0000"/>
                </a:solidFill>
              </a:rPr>
              <a:t>\d{4,5}</a:t>
            </a:r>
            <a:r>
              <a:rPr lang="en-US"/>
              <a:t>)(</a:t>
            </a:r>
            <a:r>
              <a:rPr b="1" lang="en-US">
                <a:solidFill>
                  <a:srgbClr val="38761D"/>
                </a:solidFill>
              </a:rPr>
              <a:t>\d{3}</a:t>
            </a:r>
            <a:r>
              <a:rPr lang="en-US"/>
              <a:t>)(</a:t>
            </a:r>
            <a:r>
              <a:rPr b="1" lang="en-US">
                <a:solidFill>
                  <a:srgbClr val="0000FF"/>
                </a:solidFill>
              </a:rPr>
              <a:t>\d{3}</a:t>
            </a:r>
            <a:r>
              <a:rPr lang="en-US"/>
              <a:t>)", 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"</a:t>
            </a:r>
            <a:r>
              <a:rPr b="1" lang="en-US">
                <a:solidFill>
                  <a:srgbClr val="FF0000"/>
                </a:solidFill>
              </a:rPr>
              <a:t>$1</a:t>
            </a:r>
            <a:r>
              <a:rPr lang="en-US"/>
              <a:t>-</a:t>
            </a:r>
            <a:r>
              <a:rPr b="1" lang="en-US">
                <a:solidFill>
                  <a:srgbClr val="38761D"/>
                </a:solidFill>
              </a:rPr>
              <a:t>$2</a:t>
            </a:r>
            <a:r>
              <a:rPr lang="en-US"/>
              <a:t>-</a:t>
            </a:r>
            <a:r>
              <a:rPr b="1" lang="en-US">
                <a:solidFill>
                  <a:srgbClr val="0000FF"/>
                </a:solidFill>
              </a:rPr>
              <a:t>$3</a:t>
            </a:r>
            <a:r>
              <a:rPr lang="en-US"/>
              <a:t>"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);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“0986111222” 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=&gt; “0986-111-222”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=&gt; “0986.111.222”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25b3ce7516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350" name="Google Shape;350;p25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25"/>
          <p:cNvSpPr txBox="1"/>
          <p:nvPr>
            <p:ph idx="1" type="body"/>
          </p:nvPr>
        </p:nvSpPr>
        <p:spPr>
          <a:xfrm>
            <a:off x="468630" y="1562100"/>
            <a:ext cx="43434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Branching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Selection: </a:t>
            </a:r>
            <a:r>
              <a:rPr lang="en-US">
                <a:solidFill>
                  <a:srgbClr val="0000FF"/>
                </a:solidFill>
              </a:rPr>
              <a:t>?:   ??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if… else if … else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switch … case … default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Iteration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for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foreach</a:t>
            </a:r>
            <a:endParaRPr>
              <a:solidFill>
                <a:srgbClr val="0000FF"/>
              </a:solidFill>
            </a:endParaRPr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do while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while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4507230" y="1608137"/>
            <a:ext cx="43434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Ignore &amp; breaking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switch case example</a:t>
            </a:r>
            <a:endParaRPr/>
          </a:p>
        </p:txBody>
      </p:sp>
      <p:sp>
        <p:nvSpPr>
          <p:cNvPr id="358" name="Google Shape;358;p26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9" name="Google Shape;3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7620" y="2071445"/>
            <a:ext cx="6163535" cy="347711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82d108b219_1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Tuple</a:t>
            </a:r>
            <a:endParaRPr/>
          </a:p>
        </p:txBody>
      </p:sp>
      <p:sp>
        <p:nvSpPr>
          <p:cNvPr id="366" name="Google Shape;366;g282d108b219_1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❑"/>
            </a:pPr>
            <a:r>
              <a:rPr lang="en-US"/>
              <a:t>Creating a tuple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1" lang="en-US">
                <a:solidFill>
                  <a:srgbClr val="0000FF"/>
                </a:solidFill>
              </a:rPr>
              <a:t>var </a:t>
            </a:r>
            <a:r>
              <a:rPr lang="en-US"/>
              <a:t>result = new </a:t>
            </a:r>
            <a:r>
              <a:rPr b="1" lang="en-US">
                <a:solidFill>
                  <a:srgbClr val="0000FF"/>
                </a:solidFill>
              </a:rPr>
              <a:t>Tuple</a:t>
            </a:r>
            <a:r>
              <a:rPr lang="en-US"/>
              <a:t>&lt;</a:t>
            </a:r>
            <a:r>
              <a:rPr lang="en-US">
                <a:solidFill>
                  <a:srgbClr val="0000FF"/>
                </a:solidFill>
              </a:rPr>
              <a:t>int</a:t>
            </a:r>
            <a:r>
              <a:rPr lang="en-US"/>
              <a:t>, </a:t>
            </a:r>
            <a:r>
              <a:rPr lang="en-US">
                <a:solidFill>
                  <a:srgbClr val="0000FF"/>
                </a:solidFill>
              </a:rPr>
              <a:t>string</a:t>
            </a:r>
            <a:r>
              <a:rPr lang="en-US"/>
              <a:t>&gt;(200, “</a:t>
            </a:r>
            <a:r>
              <a:rPr b="1" lang="en-US">
                <a:solidFill>
                  <a:srgbClr val="FF0000"/>
                </a:solidFill>
              </a:rPr>
              <a:t>OK</a:t>
            </a:r>
            <a:r>
              <a:rPr lang="en-US"/>
              <a:t>”);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❑"/>
            </a:pPr>
            <a:r>
              <a:rPr lang="en-US"/>
              <a:t>Accessing elements in a tuple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lang="en-US">
                <a:solidFill>
                  <a:srgbClr val="0000FF"/>
                </a:solidFill>
              </a:rPr>
              <a:t>int </a:t>
            </a:r>
            <a:r>
              <a:rPr lang="en-US"/>
              <a:t>code = result.Item1;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lang="en-US">
                <a:solidFill>
                  <a:srgbClr val="0000FF"/>
                </a:solidFill>
              </a:rPr>
              <a:t>string </a:t>
            </a:r>
            <a:r>
              <a:rPr lang="en-US"/>
              <a:t>message = result.Item2;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❑"/>
            </a:pPr>
            <a:r>
              <a:rPr b="1" lang="en-US"/>
              <a:t>Destructuring </a:t>
            </a:r>
            <a:r>
              <a:rPr lang="en-US"/>
              <a:t>a tuple into multiple elements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b="1" lang="en-US"/>
              <a:t>var </a:t>
            </a:r>
            <a:r>
              <a:rPr lang="en-US"/>
              <a:t>(code, message) = new </a:t>
            </a:r>
            <a:r>
              <a:rPr b="1" lang="en-US">
                <a:solidFill>
                  <a:srgbClr val="0000FF"/>
                </a:solidFill>
              </a:rPr>
              <a:t>Tuple</a:t>
            </a:r>
            <a:r>
              <a:rPr lang="en-US"/>
              <a:t>&lt;</a:t>
            </a:r>
            <a:r>
              <a:rPr lang="en-US">
                <a:solidFill>
                  <a:srgbClr val="0000FF"/>
                </a:solidFill>
              </a:rPr>
              <a:t>int</a:t>
            </a:r>
            <a:r>
              <a:rPr lang="en-US"/>
              <a:t>, </a:t>
            </a:r>
            <a:r>
              <a:rPr lang="en-US">
                <a:solidFill>
                  <a:srgbClr val="0000FF"/>
                </a:solidFill>
              </a:rPr>
              <a:t>string</a:t>
            </a:r>
            <a:r>
              <a:rPr lang="en-US"/>
              <a:t>&gt;(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	404, “</a:t>
            </a:r>
            <a:r>
              <a:rPr b="1" lang="en-US">
                <a:solidFill>
                  <a:srgbClr val="FF0000"/>
                </a:solidFill>
              </a:rPr>
              <a:t>File not found</a:t>
            </a:r>
            <a:r>
              <a:rPr lang="en-US"/>
              <a:t>”);</a:t>
            </a:r>
            <a:endParaRPr/>
          </a:p>
        </p:txBody>
      </p:sp>
      <p:sp>
        <p:nvSpPr>
          <p:cNvPr id="367" name="Google Shape;367;g282d108b219_1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25b3ce7516_0_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Dictionary</a:t>
            </a:r>
            <a:endParaRPr/>
          </a:p>
        </p:txBody>
      </p:sp>
      <p:sp>
        <p:nvSpPr>
          <p:cNvPr id="374" name="Google Shape;374;g325b3ce7516_0_8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Key-Value store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var </a:t>
            </a:r>
            <a:r>
              <a:rPr lang="en-US"/>
              <a:t>enDict = new </a:t>
            </a:r>
            <a:r>
              <a:rPr b="1" lang="en-US">
                <a:solidFill>
                  <a:srgbClr val="0000FF"/>
                </a:solidFill>
              </a:rPr>
              <a:t>Dictionary</a:t>
            </a:r>
            <a:r>
              <a:rPr lang="en-US"/>
              <a:t>&lt;</a:t>
            </a:r>
            <a:r>
              <a:rPr b="1" lang="en-US">
                <a:solidFill>
                  <a:srgbClr val="0000FF"/>
                </a:solidFill>
              </a:rPr>
              <a:t>string</a:t>
            </a:r>
            <a:r>
              <a:rPr lang="en-US"/>
              <a:t>, </a:t>
            </a:r>
            <a:r>
              <a:rPr b="1" lang="en-US">
                <a:solidFill>
                  <a:srgbClr val="0000FF"/>
                </a:solidFill>
              </a:rPr>
              <a:t>string</a:t>
            </a:r>
            <a:r>
              <a:rPr lang="en-US"/>
              <a:t>&gt; {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	{“one”, “một”},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	{“two”, “hai”},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	{“three”, “ba”}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};</a:t>
            </a:r>
            <a:endParaRPr/>
          </a:p>
        </p:txBody>
      </p:sp>
      <p:sp>
        <p:nvSpPr>
          <p:cNvPr id="375" name="Google Shape;375;g325b3ce7516_0_8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5b3ce7516_0_1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Array</a:t>
            </a:r>
            <a:endParaRPr/>
          </a:p>
        </p:txBody>
      </p:sp>
      <p:sp>
        <p:nvSpPr>
          <p:cNvPr id="382" name="Google Shape;382;g325b3ce7516_0_15"/>
          <p:cNvSpPr txBox="1"/>
          <p:nvPr>
            <p:ph idx="1" type="body"/>
          </p:nvPr>
        </p:nvSpPr>
        <p:spPr>
          <a:xfrm>
            <a:off x="334975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66FF"/>
                </a:solidFill>
              </a:rPr>
              <a:t>List</a:t>
            </a:r>
            <a:r>
              <a:rPr lang="en-US"/>
              <a:t>&lt;</a:t>
            </a:r>
            <a:r>
              <a:rPr b="1" lang="en-US"/>
              <a:t>int</a:t>
            </a:r>
            <a:r>
              <a:rPr lang="en-US"/>
              <a:t>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66FF"/>
                </a:solidFill>
              </a:rPr>
              <a:t>List</a:t>
            </a:r>
            <a:r>
              <a:rPr lang="en-US"/>
              <a:t>&lt;</a:t>
            </a:r>
            <a:r>
              <a:rPr b="1" lang="en-US"/>
              <a:t>string</a:t>
            </a:r>
            <a:r>
              <a:rPr lang="en-US"/>
              <a:t>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66FF"/>
                </a:solidFill>
              </a:rPr>
              <a:t>IEnumerable</a:t>
            </a:r>
            <a:r>
              <a:rPr lang="en-US"/>
              <a:t>&lt;</a:t>
            </a:r>
            <a:r>
              <a:rPr b="1" lang="en-US"/>
              <a:t>int</a:t>
            </a:r>
            <a:r>
              <a:rPr lang="en-US"/>
              <a:t>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66FF"/>
                </a:solidFill>
              </a:rPr>
              <a:t>IEnumerable</a:t>
            </a:r>
            <a:r>
              <a:rPr lang="en-US"/>
              <a:t>&lt;</a:t>
            </a:r>
            <a:r>
              <a:rPr b="1" lang="en-US"/>
              <a:t>string</a:t>
            </a:r>
            <a:r>
              <a:rPr lang="en-US"/>
              <a:t>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66FF"/>
                </a:solidFill>
              </a:rPr>
              <a:t>ArrayList</a:t>
            </a:r>
            <a:endParaRPr b="1">
              <a:solidFill>
                <a:srgbClr val="0066FF"/>
              </a:solidFill>
            </a:endParaRPr>
          </a:p>
        </p:txBody>
      </p:sp>
      <p:sp>
        <p:nvSpPr>
          <p:cNvPr id="383" name="Google Shape;383;g325b3ce7516_0_15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/>
              <a:t>Basic coding convention</a:t>
            </a:r>
            <a:endParaRPr/>
          </a:p>
        </p:txBody>
      </p:sp>
      <p:sp>
        <p:nvSpPr>
          <p:cNvPr id="389" name="Google Shape;389;p28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if for do while</a:t>
            </a:r>
            <a:endParaRPr/>
          </a:p>
        </p:txBody>
      </p:sp>
      <p:sp>
        <p:nvSpPr>
          <p:cNvPr id="395" name="Google Shape;395;p2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Add an empty line before and after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Always use brackets even if there is one line of code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96" name="Google Shape;396;p2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7" name="Google Shape;3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626" y="3429000"/>
            <a:ext cx="7255239" cy="1952183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  <p:sp>
        <p:nvSpPr>
          <p:cNvPr id="398" name="Google Shape;398;p29"/>
          <p:cNvSpPr/>
          <p:nvPr/>
        </p:nvSpPr>
        <p:spPr>
          <a:xfrm>
            <a:off x="1305098" y="4089861"/>
            <a:ext cx="440575" cy="16625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1305098" y="4933602"/>
            <a:ext cx="440575" cy="16625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4686300" y="4256116"/>
            <a:ext cx="440575" cy="307571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Comment</a:t>
            </a:r>
            <a:endParaRPr/>
          </a:p>
        </p:txBody>
      </p:sp>
      <p:sp>
        <p:nvSpPr>
          <p:cNvPr id="406" name="Google Shape;406;p3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Should provide purpose of a block of function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XML comment for document generation (</a:t>
            </a:r>
            <a:r>
              <a:rPr b="1" lang="en-US"/>
              <a:t>doxygen</a:t>
            </a:r>
            <a:r>
              <a:rPr lang="en-US"/>
              <a:t>)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07" name="Google Shape;407;p30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8" name="Google Shape;4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825" y="3231832"/>
            <a:ext cx="5444566" cy="2787968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1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Function name</a:t>
            </a:r>
            <a:endParaRPr/>
          </a:p>
        </p:txBody>
      </p:sp>
      <p:sp>
        <p:nvSpPr>
          <p:cNvPr id="414" name="Google Shape;414;p31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</a:rPr>
              <a:t>Start</a:t>
            </a:r>
            <a:r>
              <a:rPr lang="en-US"/>
              <a:t> with a </a:t>
            </a:r>
            <a:r>
              <a:rPr lang="en-US">
                <a:solidFill>
                  <a:srgbClr val="00B050"/>
                </a:solidFill>
              </a:rPr>
              <a:t>verb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Private: _camelCase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Public: PascalCase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</a:rPr>
              <a:t>Good</a:t>
            </a:r>
            <a:r>
              <a:rPr lang="en-US"/>
              <a:t>: isPrime, checkExists, called, calling</a:t>
            </a:r>
            <a:endParaRPr/>
          </a:p>
          <a:p>
            <a:pPr indent="-368300" lvl="1" marL="8001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▪"/>
            </a:pPr>
            <a:r>
              <a:rPr lang="en-US"/>
              <a:t>didCall, willChange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FF0000"/>
                </a:solidFill>
              </a:rPr>
              <a:t>Avoid</a:t>
            </a:r>
            <a:r>
              <a:rPr lang="en-US"/>
              <a:t>: </a:t>
            </a:r>
            <a:r>
              <a:rPr b="1" lang="en-US">
                <a:solidFill>
                  <a:srgbClr val="FF0000"/>
                </a:solidFill>
              </a:rPr>
              <a:t>do</a:t>
            </a:r>
            <a:r>
              <a:rPr lang="en-US"/>
              <a:t>Calculate =&gt; calculate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Quiz: Check if a element exists in an array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15" name="Google Shape;415;p31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Constants</a:t>
            </a:r>
            <a:endParaRPr/>
          </a:p>
        </p:txBody>
      </p:sp>
      <p:sp>
        <p:nvSpPr>
          <p:cNvPr id="421" name="Google Shape;421;p3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PascalCase</a:t>
            </a:r>
            <a:endParaRPr/>
          </a:p>
        </p:txBody>
      </p:sp>
      <p:sp>
        <p:nvSpPr>
          <p:cNvPr id="422" name="Google Shape;422;p3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428" name="Google Shape;428;p3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Check if a number is a prime number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bool IsPrime(int number) / LaSoNguyenTo()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Check if a number is a square number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bool isSquare(int number) / LaSoChinhPhuong()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Calculate x</a:t>
            </a:r>
            <a:r>
              <a:rPr baseline="30000" lang="en-US"/>
              <a:t>n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double Pow(double x, int n) / LuyThua</a:t>
            </a:r>
            <a:endParaRPr/>
          </a:p>
        </p:txBody>
      </p:sp>
      <p:sp>
        <p:nvSpPr>
          <p:cNvPr id="429" name="Google Shape;429;p3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25026565c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File</a:t>
            </a:r>
            <a:endParaRPr/>
          </a:p>
        </p:txBody>
      </p:sp>
      <p:sp>
        <p:nvSpPr>
          <p:cNvPr id="436" name="Google Shape;436;g3725026565c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File.ReadAllLines(string filename)</a:t>
            </a:r>
            <a:endParaRPr/>
          </a:p>
        </p:txBody>
      </p:sp>
      <p:sp>
        <p:nvSpPr>
          <p:cNvPr id="437" name="Google Shape;437;g3725026565c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725026565c_0_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Json</a:t>
            </a:r>
            <a:endParaRPr/>
          </a:p>
        </p:txBody>
      </p:sp>
      <p:sp>
        <p:nvSpPr>
          <p:cNvPr id="444" name="Google Shape;444;g3725026565c_0_7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string content = File.ReadAllText(input);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List&lt;Student&gt; students =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    JsonSerializer.Deserialize&lt;List&lt;Student&gt;&gt;(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        content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    )!;</a:t>
            </a:r>
            <a:endParaRPr/>
          </a:p>
        </p:txBody>
      </p:sp>
      <p:sp>
        <p:nvSpPr>
          <p:cNvPr id="445" name="Google Shape;445;g3725026565c_0_7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Glossy2014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2014-01-21T07:24:28Z</dcterms:created>
  <dc:creator>tdquang7@gmail.com</dc:creator>
</cp:coreProperties>
</file>