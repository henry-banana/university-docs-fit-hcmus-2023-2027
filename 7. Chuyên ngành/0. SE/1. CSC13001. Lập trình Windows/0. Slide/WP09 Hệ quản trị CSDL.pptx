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  <p:embeddedFont>
      <p:font typeface="Quattrocento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hSIdM6mspNZrG3BaZtf0S2xGpn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Roboto-italic.fntdata"/><Relationship Id="rId10" Type="http://schemas.openxmlformats.org/officeDocument/2006/relationships/slide" Target="slides/slide6.xml"/><Relationship Id="rId32" Type="http://schemas.openxmlformats.org/officeDocument/2006/relationships/font" Target="fonts/Roboto-bold.fntdata"/><Relationship Id="rId13" Type="http://schemas.openxmlformats.org/officeDocument/2006/relationships/slide" Target="slides/slide9.xml"/><Relationship Id="rId35" Type="http://schemas.openxmlformats.org/officeDocument/2006/relationships/font" Target="fonts/QuattrocentoSans-regular.fntdata"/><Relationship Id="rId12" Type="http://schemas.openxmlformats.org/officeDocument/2006/relationships/slide" Target="slides/slide8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1.xml"/><Relationship Id="rId37" Type="http://schemas.openxmlformats.org/officeDocument/2006/relationships/font" Target="fonts/QuattrocentoSans-italic.fntdata"/><Relationship Id="rId14" Type="http://schemas.openxmlformats.org/officeDocument/2006/relationships/slide" Target="slides/slide10.xml"/><Relationship Id="rId36" Type="http://schemas.openxmlformats.org/officeDocument/2006/relationships/font" Target="fonts/QuattrocentoSans-bold.fntdata"/><Relationship Id="rId17" Type="http://schemas.openxmlformats.org/officeDocument/2006/relationships/slide" Target="slides/slide13.xml"/><Relationship Id="rId39" Type="http://customschemas.google.com/relationships/presentationmetadata" Target="metadata"/><Relationship Id="rId16" Type="http://schemas.openxmlformats.org/officeDocument/2006/relationships/slide" Target="slides/slide12.xml"/><Relationship Id="rId38" Type="http://schemas.openxmlformats.org/officeDocument/2006/relationships/font" Target="fonts/QuattrocentoSans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1878455" y="1143000"/>
            <a:ext cx="3101090" cy="30852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587b6b6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587b6b6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1706bc88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1706bc88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880bf62a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880bf62a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587b6b6f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587b6b6f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fa0b5c901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fa0b5c901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42e44051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42e44051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3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3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" name="Google Shape;1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25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  <a:effectLst>
            <a:outerShdw blurRad="757238" rotWithShape="0" algn="bl" dir="12000000" dist="9525">
              <a:srgbClr val="000000">
                <a:alpha val="5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26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2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5" name="Google Shape;4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8" name="Google Shape;4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2" name="Google Shape;52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33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4" name="Google Shape;5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7" name="Google Shape;5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4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6"/>
          <p:cNvSpPr txBox="1"/>
          <p:nvPr>
            <p:ph type="title"/>
          </p:nvPr>
        </p:nvSpPr>
        <p:spPr>
          <a:xfrm>
            <a:off x="381000" y="114300"/>
            <a:ext cx="876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b="0" sz="5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36"/>
          <p:cNvSpPr txBox="1"/>
          <p:nvPr>
            <p:ph idx="1" type="body"/>
          </p:nvPr>
        </p:nvSpPr>
        <p:spPr>
          <a:xfrm>
            <a:off x="381000" y="1200150"/>
            <a:ext cx="8610600" cy="3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  <a:defRPr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4BD97"/>
              </a:buClr>
              <a:buSzPts val="2400"/>
              <a:buFont typeface="Noto Sans Symbols"/>
              <a:buChar char="▪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2" type="sldNum"/>
          </p:nvPr>
        </p:nvSpPr>
        <p:spPr>
          <a:xfrm>
            <a:off x="6858000" y="474345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36"/>
          <p:cNvSpPr/>
          <p:nvPr/>
        </p:nvSpPr>
        <p:spPr>
          <a:xfrm rot="-3205996">
            <a:off x="3332392" y="-2918302"/>
            <a:ext cx="1836986" cy="10393570"/>
          </a:xfrm>
          <a:prstGeom prst="moon">
            <a:avLst>
              <a:gd fmla="val 50000" name="adj"/>
            </a:avLst>
          </a:prstGeom>
          <a:solidFill>
            <a:schemeClr val="lt1">
              <a:alpha val="1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0400" y="1271029"/>
            <a:ext cx="7962900" cy="175609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7"/>
          <p:cNvSpPr txBox="1"/>
          <p:nvPr>
            <p:ph type="title"/>
          </p:nvPr>
        </p:nvSpPr>
        <p:spPr>
          <a:xfrm>
            <a:off x="527050" y="1720452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37"/>
          <p:cNvSpPr/>
          <p:nvPr/>
        </p:nvSpPr>
        <p:spPr>
          <a:xfrm rot="-3205996">
            <a:off x="3141891" y="-1854199"/>
            <a:ext cx="1836986" cy="10393570"/>
          </a:xfrm>
          <a:prstGeom prst="moon">
            <a:avLst>
              <a:gd fmla="val 50000" name="adj"/>
            </a:avLst>
          </a:prstGeom>
          <a:solidFill>
            <a:schemeClr val="lt1">
              <a:alpha val="1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817525"/>
            <a:ext cx="9144000" cy="78606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2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microsoft.com/en-us/download/details.aspx?id=29062" TargetMode="External"/><Relationship Id="rId4" Type="http://schemas.openxmlformats.org/officeDocument/2006/relationships/hyperlink" Target="https://docs.microsoft.com/en-us/sql/ssms/download-sql-server-management-studio-ssms?view=sql-server-ver15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Hệ quản trị CSDL SQL Server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"/>
              <a:t>Nội dung chính</a:t>
            </a:r>
            <a:endParaRPr/>
          </a:p>
        </p:txBody>
      </p:sp>
      <p:sp>
        <p:nvSpPr>
          <p:cNvPr id="82" name="Google Shape;82;p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Cài đặt &amp; Kiểm tra phần mềm</a:t>
            </a:r>
            <a:endParaRPr/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Một số thao tác cơ bản với CSDL</a:t>
            </a:r>
            <a:endParaRPr/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Backup &amp; Restore</a:t>
            </a:r>
            <a:endParaRPr/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Attach &amp; Detach CSDL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AutoNum type="arabicPeriod"/>
            </a:pPr>
            <a:r>
              <a:rPr lang="en" sz="6000"/>
              <a:t>Cài đặt &amp; Kiểm tra</a:t>
            </a:r>
            <a:endParaRPr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Các công cụ cần cài</a:t>
            </a:r>
            <a:endParaRPr/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Phương án truyền thống:</a:t>
            </a:r>
            <a:endParaRPr/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❏"/>
            </a:pPr>
            <a:r>
              <a:rPr lang="en" sz="2500"/>
              <a:t>Chỉ cần SQL Server 2022 </a:t>
            </a:r>
            <a:r>
              <a:rPr lang="en" sz="2500">
                <a:solidFill>
                  <a:srgbClr val="9900FF"/>
                </a:solidFill>
              </a:rPr>
              <a:t>Express </a:t>
            </a:r>
            <a:r>
              <a:rPr lang="en" sz="2500"/>
              <a:t>là quá đủ, </a:t>
            </a:r>
            <a:r>
              <a:rPr lang="en" sz="2500" u="sng">
                <a:solidFill>
                  <a:schemeClr val="hlink"/>
                </a:solidFill>
                <a:hlinkClick r:id="rId3"/>
              </a:rPr>
              <a:t>link tải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❏"/>
            </a:pPr>
            <a:r>
              <a:rPr lang="en" sz="2500"/>
              <a:t>Giao diện quản lí: Management Studio </a:t>
            </a:r>
            <a:r>
              <a:rPr lang="en" sz="25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tải</a:t>
            </a:r>
            <a:r>
              <a:rPr lang="en" sz="2500">
                <a:solidFill>
                  <a:schemeClr val="dk1"/>
                </a:solidFill>
              </a:rPr>
              <a:t> (19)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Char char="❏"/>
            </a:pPr>
            <a:r>
              <a:rPr lang="en">
                <a:solidFill>
                  <a:schemeClr val="dk1"/>
                </a:solidFill>
              </a:rPr>
              <a:t>Phương án khác</a:t>
            </a:r>
            <a:endParaRPr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❏"/>
            </a:pPr>
            <a:r>
              <a:rPr lang="en" sz="2400">
                <a:solidFill>
                  <a:schemeClr val="dk1"/>
                </a:solidFill>
              </a:rPr>
              <a:t>docker pull mcr.microsoft.com/mssql/server:2022-latest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❏"/>
            </a:pPr>
            <a:r>
              <a:rPr lang="en" sz="2400">
                <a:solidFill>
                  <a:schemeClr val="dk1"/>
                </a:solidFill>
              </a:rPr>
              <a:t>VS Code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600"/>
              <a:buNone/>
            </a:pP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587b6b6fd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Một số lệnh hữu ích</a:t>
            </a:r>
            <a:endParaRPr/>
          </a:p>
        </p:txBody>
      </p:sp>
      <p:sp>
        <p:nvSpPr>
          <p:cNvPr id="100" name="Google Shape;100;g33587b6b6fd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$ docker images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Liệt kê các image trong máy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$ docker ps -a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Liệt kê các container đang chạy và trạng thái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$ docker rm CONTAINER_ID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$ docker rmi IMAGE_ID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1706bc8842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Tạo ra container</a:t>
            </a:r>
            <a:endParaRPr/>
          </a:p>
        </p:txBody>
      </p:sp>
      <p:sp>
        <p:nvSpPr>
          <p:cNvPr id="106" name="Google Shape;106;g21706bc8842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Để tạo ra container, dùng double quote </a:t>
            </a:r>
            <a:r>
              <a:rPr lang="en">
                <a:solidFill>
                  <a:srgbClr val="FF0000"/>
                </a:solidFill>
              </a:rPr>
              <a:t>“</a:t>
            </a:r>
            <a:r>
              <a:rPr lang="en"/>
              <a:t> thay vì </a:t>
            </a:r>
            <a:r>
              <a:rPr lang="en">
                <a:solidFill>
                  <a:srgbClr val="9900FF"/>
                </a:solidFill>
              </a:rPr>
              <a:t>‘</a:t>
            </a:r>
            <a:r>
              <a:rPr lang="en"/>
              <a:t> (Windows only)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/>
              <a:t>$ docker </a:t>
            </a:r>
            <a:r>
              <a:rPr b="1" i="1" lang="en" sz="2200"/>
              <a:t>create </a:t>
            </a:r>
            <a:r>
              <a:rPr i="1" lang="en" sz="2200"/>
              <a:t>-e "ACCEPT_EULA=Y" -e "MSSQL_SA_PASSWORD=</a:t>
            </a:r>
            <a:r>
              <a:rPr i="1" lang="en" sz="2200">
                <a:solidFill>
                  <a:srgbClr val="9900FF"/>
                </a:solidFill>
              </a:rPr>
              <a:t>SqlServer@123</a:t>
            </a:r>
            <a:r>
              <a:rPr i="1" lang="en" sz="2200"/>
              <a:t>" -p </a:t>
            </a:r>
            <a:r>
              <a:rPr b="1" i="1" lang="en" sz="2200">
                <a:solidFill>
                  <a:srgbClr val="38761D"/>
                </a:solidFill>
              </a:rPr>
              <a:t>1433</a:t>
            </a:r>
            <a:r>
              <a:rPr i="1" lang="en" sz="2200"/>
              <a:t>:1433 </a:t>
            </a:r>
            <a:r>
              <a:rPr i="1" lang="en" sz="2200">
                <a:solidFill>
                  <a:srgbClr val="FF0000"/>
                </a:solidFill>
              </a:rPr>
              <a:t>--name sql1 </a:t>
            </a:r>
            <a:r>
              <a:rPr i="1" lang="en" sz="2200"/>
              <a:t>--hostname sql1 mcr.microsoft.com/mssql/server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$ d</a:t>
            </a:r>
            <a:r>
              <a:rPr i="1" lang="en"/>
              <a:t>ocker </a:t>
            </a:r>
            <a:r>
              <a:rPr b="1" i="1" lang="en"/>
              <a:t>start </a:t>
            </a:r>
            <a:r>
              <a:rPr i="1" lang="en"/>
              <a:t>sql1</a:t>
            </a:r>
            <a:endParaRPr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880bf62a3_2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Tạo ra container - postgres</a:t>
            </a:r>
            <a:endParaRPr/>
          </a:p>
        </p:txBody>
      </p:sp>
      <p:sp>
        <p:nvSpPr>
          <p:cNvPr id="112" name="Google Shape;112;g33880bf62a3_2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$ docker create --name </a:t>
            </a:r>
            <a:r>
              <a:rPr b="1" lang="en"/>
              <a:t>db1 </a:t>
            </a:r>
            <a:r>
              <a:rPr lang="en"/>
              <a:t>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-e POSTGRES_USER=admin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-e POSTGRES_PASSWORD=1234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-e POSTGRES_DB=myshop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-p 5432:5432 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ostgres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docker ps -a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docker start </a:t>
            </a:r>
            <a:r>
              <a:rPr b="1" lang="en"/>
              <a:t>db1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Kiểm tra dịch vụ SQL Server Express có chạy</a:t>
            </a:r>
            <a:endParaRPr/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Mở hộp thoại </a:t>
            </a:r>
            <a:r>
              <a:rPr b="1" lang="en"/>
              <a:t>Run</a:t>
            </a:r>
            <a:r>
              <a:rPr lang="en"/>
              <a:t> với </a:t>
            </a:r>
            <a:r>
              <a:rPr b="1" lang="en">
                <a:solidFill>
                  <a:srgbClr val="38761D"/>
                </a:solidFill>
              </a:rPr>
              <a:t>Windows + R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600"/>
              <a:buNone/>
            </a:pPr>
            <a:r>
              <a:rPr lang="en"/>
              <a:t>Gõ </a:t>
            </a:r>
            <a:r>
              <a:rPr b="1" lang="en">
                <a:solidFill>
                  <a:srgbClr val="FF0000"/>
                </a:solidFill>
              </a:rPr>
              <a:t>services.msc</a:t>
            </a:r>
            <a:r>
              <a:rPr lang="en"/>
              <a:t> và </a:t>
            </a:r>
            <a:r>
              <a:rPr b="1" lang="en">
                <a:solidFill>
                  <a:srgbClr val="0000FF"/>
                </a:solidFill>
              </a:rPr>
              <a:t>Enter</a:t>
            </a:r>
            <a:endParaRPr b="1">
              <a:solidFill>
                <a:srgbClr val="0000FF"/>
              </a:solidFill>
            </a:endParaRPr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500" y="2221575"/>
            <a:ext cx="2565774" cy="1497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" name="Google Shape;1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750" y="4054050"/>
            <a:ext cx="8468700" cy="673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" name="Google Shape;121;p6"/>
          <p:cNvSpPr txBox="1"/>
          <p:nvPr/>
        </p:nvSpPr>
        <p:spPr>
          <a:xfrm>
            <a:off x="425900" y="4782550"/>
            <a:ext cx="88686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Lưu ý: Nếu cài bản xịn (ko phải express) sẽ chỉ thấy tên instance là  </a:t>
            </a:r>
            <a:r>
              <a:rPr b="1" i="1" lang="en" sz="1400" u="none" cap="none" strike="noStrike">
                <a:solidFill>
                  <a:srgbClr val="0066FF"/>
                </a:solidFill>
                <a:latin typeface="Roboto"/>
                <a:ea typeface="Roboto"/>
                <a:cs typeface="Roboto"/>
                <a:sym typeface="Roboto"/>
              </a:rPr>
              <a:t>SQL Server</a:t>
            </a:r>
            <a:r>
              <a:rPr b="0" i="1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thay vì </a:t>
            </a:r>
            <a:r>
              <a:rPr b="0" i="1" lang="en" sz="14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SqlExpress</a:t>
            </a:r>
            <a:endParaRPr b="0" i="1" sz="14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376975" y="3970975"/>
            <a:ext cx="1930500" cy="742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 rot="788724">
            <a:off x="3552721" y="4491328"/>
            <a:ext cx="2793912" cy="124145"/>
          </a:xfrm>
          <a:prstGeom prst="lef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Kết nối tới CSDL</a:t>
            </a:r>
            <a:endParaRPr/>
          </a:p>
        </p:txBody>
      </p:sp>
      <p:pic>
        <p:nvPicPr>
          <p:cNvPr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4026" y="914000"/>
            <a:ext cx="6448426" cy="40471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587b6b6fd_0_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Kết nối sử dụng VS Code</a:t>
            </a:r>
            <a:endParaRPr/>
          </a:p>
        </p:txBody>
      </p:sp>
      <p:sp>
        <p:nvSpPr>
          <p:cNvPr id="135" name="Google Shape;135;g33587b6b6fd_0_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extension </a:t>
            </a:r>
            <a:r>
              <a:rPr b="1" lang="en"/>
              <a:t>Database</a:t>
            </a:r>
            <a:endParaRPr b="1"/>
          </a:p>
        </p:txBody>
      </p:sp>
      <p:pic>
        <p:nvPicPr>
          <p:cNvPr id="136" name="Google Shape;136;g33587b6b6fd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625" y="1703350"/>
            <a:ext cx="8276625" cy="27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fa0b5c9019_1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Kết nối sử dụng tài khoản phân quyền</a:t>
            </a:r>
            <a:endParaRPr/>
          </a:p>
        </p:txBody>
      </p:sp>
      <p:sp>
        <p:nvSpPr>
          <p:cNvPr id="142" name="Google Shape;142;g1fa0b5c9019_1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Cần đảm bảo có thể đăng nhập theo cả hai cách</a:t>
            </a:r>
            <a:endParaRPr/>
          </a:p>
        </p:txBody>
      </p:sp>
      <p:pic>
        <p:nvPicPr>
          <p:cNvPr id="143" name="Google Shape;143;g1fa0b5c9019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588" y="1560250"/>
            <a:ext cx="4638675" cy="2266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Tạo mới CSDL</a:t>
            </a:r>
            <a:endParaRPr/>
          </a:p>
        </p:txBody>
      </p:sp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450" y="1257300"/>
            <a:ext cx="6515100" cy="262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Tạo bảng</a:t>
            </a:r>
            <a:endParaRPr/>
          </a:p>
        </p:txBody>
      </p:sp>
      <p:pic>
        <p:nvPicPr>
          <p:cNvPr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125" y="1176400"/>
            <a:ext cx="8667750" cy="3276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Thay đổi cấu trúc bảng</a:t>
            </a:r>
            <a:endParaRPr/>
          </a:p>
        </p:txBody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Số nguyên, khóa chính, tự tăng dần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Số thực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Chuỗi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600"/>
              <a:buNone/>
            </a:pPr>
            <a:r>
              <a:t/>
            </a:r>
            <a:endParaRPr/>
          </a:p>
        </p:txBody>
      </p:sp>
      <p:pic>
        <p:nvPicPr>
          <p:cNvPr id="162" name="Google Shape;16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901" y="2503299"/>
            <a:ext cx="5742774" cy="676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3" name="Google Shape;16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900" y="3392575"/>
            <a:ext cx="6601150" cy="1029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4" name="Google Shape;16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5725" y="914000"/>
            <a:ext cx="2228850" cy="1543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Tạo bảng với khóa ngoại</a:t>
            </a:r>
            <a:endParaRPr/>
          </a:p>
        </p:txBody>
      </p:sp>
      <p:pic>
        <p:nvPicPr>
          <p:cNvPr id="170" name="Google Shape;1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87950"/>
            <a:ext cx="8839203" cy="182791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1" name="Google Shape;17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5225" y="2900925"/>
            <a:ext cx="3186374" cy="1269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2" name="Google Shape;17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399" y="2900913"/>
            <a:ext cx="5014819" cy="212283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6000"/>
              <a:t>2. Một số thao tác cơ bản</a:t>
            </a:r>
            <a:endParaRPr sz="6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Viết câu truy vấn</a:t>
            </a:r>
            <a:endParaRPr/>
          </a:p>
        </p:txBody>
      </p:sp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25" y="1043400"/>
            <a:ext cx="3284350" cy="1375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4" name="Google Shape;1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6325" y="1043400"/>
            <a:ext cx="4668687" cy="1375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5" name="Google Shape;18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825" y="2823229"/>
            <a:ext cx="5179824" cy="1501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6" name="Google Shape;18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0075" y="3442900"/>
            <a:ext cx="4668675" cy="139974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6000"/>
              <a:t>3. Backup &amp; Restore</a:t>
            </a:r>
            <a:endParaRPr sz="6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Thực hiện backup</a:t>
            </a:r>
            <a:endParaRPr/>
          </a:p>
        </p:txBody>
      </p:sp>
      <p:pic>
        <p:nvPicPr>
          <p:cNvPr id="197" name="Google Shape;1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2095750" cy="17103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8" name="Google Shape;19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0550" y="894900"/>
            <a:ext cx="6591049" cy="363779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Phục hồi</a:t>
            </a:r>
            <a:endParaRPr/>
          </a:p>
        </p:txBody>
      </p:sp>
      <p:pic>
        <p:nvPicPr>
          <p:cNvPr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900225"/>
            <a:ext cx="8839203" cy="31138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5" name="Google Shape;20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894900"/>
            <a:ext cx="3424199" cy="852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Xuất dữ liệu ra file sql để backup</a:t>
            </a:r>
            <a:endParaRPr/>
          </a:p>
        </p:txBody>
      </p:sp>
      <p:sp>
        <p:nvSpPr>
          <p:cNvPr id="211" name="Google Shape;211;p1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Mặc định chỉ xuất </a:t>
            </a:r>
            <a:r>
              <a:rPr b="1" lang="en">
                <a:solidFill>
                  <a:srgbClr val="0000FF"/>
                </a:solidFill>
              </a:rPr>
              <a:t>cấu trúc</a:t>
            </a:r>
            <a:r>
              <a:rPr lang="en"/>
              <a:t> bảng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Cần chỉnh để xuất luôn </a:t>
            </a:r>
            <a:r>
              <a:rPr b="1" lang="en">
                <a:solidFill>
                  <a:srgbClr val="FF0000"/>
                </a:solidFill>
              </a:rPr>
              <a:t>dữ liệu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212" name="Google Shape;2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100" y="2207200"/>
            <a:ext cx="3225675" cy="267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3" name="Google Shape;21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2325" y="2078600"/>
            <a:ext cx="4883751" cy="1469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4" name="Google Shape;21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7325" y="3795775"/>
            <a:ext cx="5353751" cy="112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Tái tạo csdl từ script</a:t>
            </a:r>
            <a:endParaRPr/>
          </a:p>
        </p:txBody>
      </p:sp>
      <p:sp>
        <p:nvSpPr>
          <p:cNvPr id="220" name="Google Shape;220;p1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Chú ý script có một số đoạn tạo database với đường dẫn tuyệt đối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rPr lang="en"/>
              <a:t>Có thể xóa đi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600"/>
              <a:buNone/>
            </a:pPr>
            <a:r>
              <a:rPr lang="en"/>
              <a:t>“</a:t>
            </a:r>
            <a:r>
              <a:rPr i="1" lang="en" sz="2400"/>
              <a:t>Microsoft SQL Server\MSSQL14.SQLEXPRESS\MSSQL\DATA</a:t>
            </a:r>
            <a:r>
              <a:rPr lang="en" sz="2400"/>
              <a:t>”</a:t>
            </a:r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200"/>
              <a:t>4. Attach &amp; Detach</a:t>
            </a:r>
            <a:endParaRPr sz="7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Detach</a:t>
            </a:r>
            <a:endParaRPr/>
          </a:p>
        </p:txBody>
      </p:sp>
      <p:sp>
        <p:nvSpPr>
          <p:cNvPr id="231" name="Google Shape;231;p2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CSDL được lưu trong file .mdf và quản lí bởi SQL Service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rPr lang="en"/>
              <a:t>Detach là tách ra khỏi sự quản lí của Sql Service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rPr lang="en"/>
              <a:t>Sau khi attach, tìm file mdf trong Microsoft SQL Server\MSSQL14.SQLEXPRESS\MSSQL\DATA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600"/>
              <a:buNone/>
            </a:pPr>
            <a:r>
              <a:t/>
            </a:r>
            <a:endParaRPr/>
          </a:p>
        </p:txBody>
      </p:sp>
      <p:pic>
        <p:nvPicPr>
          <p:cNvPr id="232" name="Google Shape;2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625" y="2255650"/>
            <a:ext cx="2864676" cy="1062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Attach</a:t>
            </a:r>
            <a:endParaRPr/>
          </a:p>
        </p:txBody>
      </p:sp>
      <p:pic>
        <p:nvPicPr>
          <p:cNvPr id="238" name="Google Shape;2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175" y="1034300"/>
            <a:ext cx="3028950" cy="1276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2e440514a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Các vấn đề khác</a:t>
            </a:r>
            <a:endParaRPr/>
          </a:p>
        </p:txBody>
      </p:sp>
      <p:sp>
        <p:nvSpPr>
          <p:cNvPr id="244" name="Google Shape;244;g342e440514a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Migrations &amp; seedings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On update cascade / set null / default / no action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Database testing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Image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Role-based security</a:t>
            </a:r>
            <a:endParaRPr/>
          </a:p>
          <a:p>
            <a:pPr indent="-393700" lvl="0" marL="9144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Row level &amp; column level security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Indexing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High availability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redis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