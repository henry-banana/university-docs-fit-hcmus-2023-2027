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Robot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hZ2pOb+Sz8UFCYw/x/SFYd/Yxk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italic.fntdata"/><Relationship Id="rId10" Type="http://schemas.openxmlformats.org/officeDocument/2006/relationships/slide" Target="slides/slide5.xml"/><Relationship Id="rId54" Type="http://schemas.openxmlformats.org/officeDocument/2006/relationships/font" Target="fonts/Roboto-bold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9302b8ef6_0_0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39302b8ef6_0_0:notes"/>
          <p:cNvSpPr/>
          <p:nvPr>
            <p:ph idx="2" type="sldImg"/>
          </p:nvPr>
        </p:nvSpPr>
        <p:spPr>
          <a:xfrm>
            <a:off x="687388" y="1143000"/>
            <a:ext cx="548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9302b8ef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39302b8e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9302b8ef6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39302b8e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9302b8ef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9302b8ef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9302b8ef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9302b8ef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9302b8ef6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9302b8ef6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9302b8ef6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9302b8ef6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9302b8ef6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39302b8ef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9302b8ef6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39302b8ef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9302b8ef6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39302b8ef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9302b8ef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9302b8ef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9302b8ef6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39302b8ef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9302b8ef6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39302b8ef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9302b8ef6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39302b8ef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9302b8ef6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39302b8ef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9302b8ef6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39302b8ef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9302b8ef6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39302b8ef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9302b8ef6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39302b8ef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9302b8ef6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39302b8ef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9302b8ef6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39302b8ef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9302b8ef6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39302b8ef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9302b8ef6_0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39302b8ef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9302b8ef6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39302b8ef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9302b8ef6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39302b8ef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9302b8ef6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39302b8ef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_students = new ObservableCollection&lt;Student&gt;()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"001",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Name="Ngư Thuận Phong",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Avatar="Images/avatar01.jpg"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"002",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Name="Mai Việt Hùng",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Avatar="Images/avatar02.jpg"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"003",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Name="Thủy Tất Hiếu",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Avatar="Images/avatar03.jpg"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"004",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Name="Nguyễn Trí Dũng",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Avatar="Images/avatar04.jpg"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"005",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Name="Hồ Hồng Quang",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Avatar="Images/avatar05.jpg"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"006",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Name="Vũ Tuấn Hùng",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Avatar="Images/avatar06.jpg"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"007",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Name="Nguyễn Việt Cường",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Avatar="Images/avatar07.jpg"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"008",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Name="Lâm Thanh Toàn",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Avatar="Images/avatar08.jpg"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"009",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Name="Trịnh Việt Nhân",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Avatar="Images/avatar09.jpg"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"010",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Name="Bùi Ðức Cường",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Avatar="Images/avatar10.jpg"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"011",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Name="Phan Thiện Dũng",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Avatar="Images/avatar11.jpg"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"012",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Name="Phan Nhật Quân",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Avatar="Images/avatar12.jpg"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"013",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Name="Ngô Việt Dũng",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Avatar="Images/avatar13.jpg"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"014",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Name="Hoàng Vinh Quốc",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Avatar="Images/avatar14.jpg"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"015",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Name="Đặng Ðức Siêu",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Avatar="Images/avatar15.jpg"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"016",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Name="Đàm Thanh Thanh",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Avatar="Images/avatar16.jpg"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"017",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Name="Lục Phương Loan",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Avatar="Images/avatar17.jpg"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"018",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Name="Uất Như Quỳnh",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Avatar="Images/avatar18.jpg"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"019",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Name="Lạc Huyền Trân",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Avatar="Images/avatar19.jpg"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new Student()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ID = "020",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Name="Nguyễn Băng Băng",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Avatar="Images/avatar20.jpg"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9302b8ef6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39302b8ef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9302b8ef6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39302b8ef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9302b8ef6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39302b8ef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9302b8ef6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39302b8ef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9302b8ef6_0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39302b8ef6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9302b8ef6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39302b8ef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9302b8ef6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39302b8ef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39302b8ef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39302b8ef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9302b8ef6_0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39302b8ef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9302b8ef6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39302b8ef6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9302b8ef6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39302b8ef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39302b8ef6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39302b8ef6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9302b8ef6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39302b8ef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39302b8ef6_0_2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39302b8ef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9302b8ef6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39302b8ef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9302b8ef6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39302b8ef6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39302b8ef6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39302b8ef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a94d27d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a94d27d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9302b8ef6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39302b8ef6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9302b8ef6_0_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39302b8ef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9302b8ef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9302b8ef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windows/apps/develop/data-binding/data-binding-overvie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Data binding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https://learn.microsoft.com/en-us/windows/apps/develop/data-binding/data-binding-overview</a:t>
            </a:r>
            <a:r>
              <a:rPr lang="en" sz="1200">
                <a:solidFill>
                  <a:schemeClr val="lt1"/>
                </a:solidFill>
              </a:rPr>
              <a:t> 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9302b8ef6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"/>
              <a:t>Main content</a:t>
            </a:r>
            <a:endParaRPr/>
          </a:p>
        </p:txBody>
      </p:sp>
      <p:sp>
        <p:nvSpPr>
          <p:cNvPr id="68" name="Google Shape;68;g339302b8ef6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❑"/>
            </a:pPr>
            <a:r>
              <a:rPr lang="en"/>
              <a:t>Basic Data binding</a:t>
            </a:r>
            <a:endParaRPr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❑"/>
            </a:pPr>
            <a:r>
              <a:rPr lang="en"/>
              <a:t>Converter</a:t>
            </a:r>
            <a:endParaRPr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❑"/>
            </a:pPr>
            <a:r>
              <a:rPr lang="en"/>
              <a:t>INotifyPropertyChanged</a:t>
            </a:r>
            <a:endParaRPr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❑"/>
            </a:pPr>
            <a:r>
              <a:rPr lang="en"/>
              <a:t>List data binding: ComboBox, ListView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9" name="Google Shape;69;g339302b8ef6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302b8ef6_0_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6000"/>
              <a:t>Basic Data binding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9302b8ef6_0_1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Old way: DataContext &amp; Binding</a:t>
            </a:r>
            <a:endParaRPr/>
          </a:p>
        </p:txBody>
      </p:sp>
      <p:pic>
        <p:nvPicPr>
          <p:cNvPr id="80" name="Google Shape;80;g339302b8ef6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1600" y="894900"/>
            <a:ext cx="3934700" cy="148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g339302b8ef6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9600" y="4102113"/>
            <a:ext cx="13906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39302b8ef6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875" y="3750975"/>
            <a:ext cx="6172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39302b8ef6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894900"/>
            <a:ext cx="4736801" cy="2161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9302b8ef6_0_34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way: x:Bind</a:t>
            </a:r>
            <a:endParaRPr/>
          </a:p>
        </p:txBody>
      </p:sp>
      <p:sp>
        <p:nvSpPr>
          <p:cNvPr id="89" name="Google Shape;89;g339302b8ef6_0_3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g339302b8ef6_0_3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38" y="3580575"/>
            <a:ext cx="64103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39302b8ef6_0_3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850" y="861274"/>
            <a:ext cx="4502100" cy="25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9302b8ef6_0_35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Binding vs x:Bind</a:t>
            </a:r>
            <a:endParaRPr/>
          </a:p>
        </p:txBody>
      </p:sp>
      <p:sp>
        <p:nvSpPr>
          <p:cNvPr id="97" name="Google Shape;97;g339302b8ef6_0_35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Binding: any type, runtime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x:Bind: type strict, compile</a:t>
            </a:r>
            <a:endParaRPr/>
          </a:p>
        </p:txBody>
      </p:sp>
      <p:sp>
        <p:nvSpPr>
          <p:cNvPr id="98" name="Google Shape;98;g339302b8ef6_0_3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302b8ef6_0_360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Converter</a:t>
            </a:r>
            <a:endParaRPr/>
          </a:p>
        </p:txBody>
      </p:sp>
      <p:sp>
        <p:nvSpPr>
          <p:cNvPr id="104" name="Google Shape;104;g339302b8ef6_0_3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9302b8ef6_0_36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result</a:t>
            </a:r>
            <a:endParaRPr/>
          </a:p>
        </p:txBody>
      </p:sp>
      <p:sp>
        <p:nvSpPr>
          <p:cNvPr id="110" name="Google Shape;110;g339302b8ef6_0_3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g339302b8ef6_0_3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7400" y="948900"/>
            <a:ext cx="2601600" cy="14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39302b8ef6_0_3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4900"/>
            <a:ext cx="4154795" cy="16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39302b8ef6_0_3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89875"/>
            <a:ext cx="3981500" cy="19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9302b8ef6_0_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Converter – Step 1 - StringToTelephoneConverter</a:t>
            </a:r>
            <a:endParaRPr/>
          </a:p>
        </p:txBody>
      </p:sp>
      <p:pic>
        <p:nvPicPr>
          <p:cNvPr id="119" name="Google Shape;119;g339302b8ef6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309616" cy="40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9302b8ef6_0_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Step 2: Declaration as a resource</a:t>
            </a:r>
            <a:endParaRPr/>
          </a:p>
        </p:txBody>
      </p:sp>
      <p:sp>
        <p:nvSpPr>
          <p:cNvPr id="125" name="Google Shape;125;g339302b8ef6_0_4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126" name="Google Shape;126;g339302b8ef6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75" y="837574"/>
            <a:ext cx="8134424" cy="26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39302b8ef6_0_44"/>
          <p:cNvSpPr txBox="1"/>
          <p:nvPr/>
        </p:nvSpPr>
        <p:spPr>
          <a:xfrm>
            <a:off x="403275" y="3424600"/>
            <a:ext cx="65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 converter = new StringToTelephoneConverter();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9302b8ef6_0_5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Step 3: Use the Converter</a:t>
            </a:r>
            <a:endParaRPr/>
          </a:p>
        </p:txBody>
      </p:sp>
      <p:pic>
        <p:nvPicPr>
          <p:cNvPr id="133" name="Google Shape;133;g339302b8ef6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200" cy="68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9302b8ef6_0_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Multi value converter</a:t>
            </a:r>
            <a:endParaRPr/>
          </a:p>
        </p:txBody>
      </p:sp>
      <p:pic>
        <p:nvPicPr>
          <p:cNvPr id="139" name="Google Shape;139;g339302b8ef6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518" y="1008612"/>
            <a:ext cx="5003986" cy="39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9302b8ef6_0_7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Displaying image using data binding</a:t>
            </a:r>
            <a:endParaRPr/>
          </a:p>
        </p:txBody>
      </p:sp>
      <p:sp>
        <p:nvSpPr>
          <p:cNvPr id="145" name="Google Shape;145;g339302b8ef6_0_7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"/>
              <a:t>Using embeded image inside the executable file</a:t>
            </a:r>
            <a:endParaRPr/>
          </a:p>
        </p:txBody>
      </p:sp>
      <p:pic>
        <p:nvPicPr>
          <p:cNvPr id="146" name="Google Shape;146;g339302b8ef6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125" y="2072650"/>
            <a:ext cx="3926475" cy="2211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g339302b8ef6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3500" y="2072654"/>
            <a:ext cx="4423150" cy="787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g339302b8ef6_0_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7375" y="3087125"/>
            <a:ext cx="2091199" cy="178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9302b8ef6_0_8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Using absolute path</a:t>
            </a:r>
            <a:endParaRPr/>
          </a:p>
        </p:txBody>
      </p:sp>
      <p:pic>
        <p:nvPicPr>
          <p:cNvPr id="154" name="Google Shape;154;g339302b8ef6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899" y="1209524"/>
            <a:ext cx="6606801" cy="2069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g339302b8ef6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5800" y="3278850"/>
            <a:ext cx="2012575" cy="167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g339302b8ef6_0_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8250" y="3887825"/>
            <a:ext cx="2133350" cy="772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g339302b8ef6_0_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074" y="3903050"/>
            <a:ext cx="4135975" cy="8047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9302b8ef6_0_9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Bonus: Add rounded corner</a:t>
            </a:r>
            <a:endParaRPr/>
          </a:p>
        </p:txBody>
      </p:sp>
      <p:pic>
        <p:nvPicPr>
          <p:cNvPr id="163" name="Google Shape;163;g339302b8ef6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476" y="1607750"/>
            <a:ext cx="6371026" cy="2332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g339302b8ef6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8625" y="1766050"/>
            <a:ext cx="944950" cy="881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9302b8ef6_0_9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6000"/>
              <a:t>UI Synchronization</a:t>
            </a:r>
            <a:endParaRPr sz="6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9302b8ef6_0_10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Core idea</a:t>
            </a:r>
            <a:endParaRPr/>
          </a:p>
        </p:txBody>
      </p:sp>
      <p:sp>
        <p:nvSpPr>
          <p:cNvPr id="175" name="Google Shape;175;g339302b8ef6_0_10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"/>
              <a:t>Underlying </a:t>
            </a:r>
            <a:r>
              <a:rPr i="1" lang="en">
                <a:solidFill>
                  <a:srgbClr val="0070C0"/>
                </a:solidFill>
              </a:rPr>
              <a:t>data</a:t>
            </a:r>
            <a:r>
              <a:rPr lang="en"/>
              <a:t> change =&gt; </a:t>
            </a:r>
            <a:r>
              <a:rPr lang="en">
                <a:solidFill>
                  <a:srgbClr val="FF0000"/>
                </a:solidFill>
              </a:rPr>
              <a:t>UI</a:t>
            </a:r>
            <a:r>
              <a:rPr lang="en"/>
              <a:t> automatically change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9302b8ef6_0_10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Adding button to update</a:t>
            </a:r>
            <a:endParaRPr/>
          </a:p>
        </p:txBody>
      </p:sp>
      <p:pic>
        <p:nvPicPr>
          <p:cNvPr id="181" name="Google Shape;181;g339302b8ef6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975" y="2107050"/>
            <a:ext cx="5689924" cy="128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Google Shape;182;g339302b8ef6_0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1775" y="1760675"/>
            <a:ext cx="2281175" cy="2148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9302b8ef6_0_1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Update the credits when clicked</a:t>
            </a:r>
            <a:endParaRPr/>
          </a:p>
        </p:txBody>
      </p:sp>
      <p:sp>
        <p:nvSpPr>
          <p:cNvPr id="188" name="Google Shape;188;g339302b8ef6_0_116"/>
          <p:cNvSpPr txBox="1"/>
          <p:nvPr>
            <p:ph idx="1" type="body"/>
          </p:nvPr>
        </p:nvSpPr>
        <p:spPr>
          <a:xfrm>
            <a:off x="141300" y="3105500"/>
            <a:ext cx="89322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We see nothing change in the UI! Why?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"/>
              <a:t>Need to implement </a:t>
            </a:r>
            <a:r>
              <a:rPr lang="en">
                <a:solidFill>
                  <a:srgbClr val="0000FF"/>
                </a:solidFill>
              </a:rPr>
              <a:t>INotifyPropertyChanged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189" name="Google Shape;189;g339302b8ef6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839198" cy="164816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9302b8ef6_0_1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Underlying code of getter and setter</a:t>
            </a:r>
            <a:endParaRPr/>
          </a:p>
        </p:txBody>
      </p:sp>
      <p:pic>
        <p:nvPicPr>
          <p:cNvPr id="195" name="Google Shape;195;g339302b8ef6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4162743" cy="409619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9302b8ef6_0_1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Implementing INotifyPropertyChanged</a:t>
            </a:r>
            <a:endParaRPr/>
          </a:p>
        </p:txBody>
      </p:sp>
      <p:pic>
        <p:nvPicPr>
          <p:cNvPr id="201" name="Google Shape;201;g339302b8ef6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5594642" cy="40962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9302b8ef6_0_1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Tools to use rather than manually writing</a:t>
            </a:r>
            <a:endParaRPr/>
          </a:p>
        </p:txBody>
      </p:sp>
      <p:sp>
        <p:nvSpPr>
          <p:cNvPr id="207" name="Google Shape;207;g339302b8ef6_0_1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rgbClr val="2196F3"/>
                </a:solidFill>
              </a:rPr>
              <a:t>PropertyChanged.Fody </a:t>
            </a:r>
            <a:r>
              <a:rPr lang="en"/>
              <a:t>(Need at least VS </a:t>
            </a:r>
            <a:r>
              <a:rPr lang="en">
                <a:solidFill>
                  <a:srgbClr val="FF0000"/>
                </a:solidFill>
              </a:rPr>
              <a:t>2019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900FF"/>
                </a:solidFill>
              </a:rPr>
              <a:t>Weaving</a:t>
            </a:r>
            <a:r>
              <a:rPr lang="en"/>
              <a:t>: injecting functionality into an existing program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Source code: inject source code lines before the code is compiled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IL weaving (for .NET) adds the code as IL instructions in the assembly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ByteCode weaving (for Java) works on the class file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9302b8ef6_0_1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Exercises</a:t>
            </a:r>
            <a:endParaRPr/>
          </a:p>
        </p:txBody>
      </p:sp>
      <p:sp>
        <p:nvSpPr>
          <p:cNvPr id="213" name="Google Shape;213;g339302b8ef6_0_1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Do data binding for a </a:t>
            </a:r>
            <a:r>
              <a:rPr b="1" lang="en"/>
              <a:t>book</a:t>
            </a:r>
            <a:r>
              <a:rPr lang="en"/>
              <a:t>: Book’s name, Cover’s image, Author, Published Year, ISBN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Do data binding for a </a:t>
            </a:r>
            <a:r>
              <a:rPr b="1" lang="en"/>
              <a:t>mobile phone</a:t>
            </a:r>
            <a:r>
              <a:rPr lang="en"/>
              <a:t>: Phone’s name, Image, Manufacturer, Price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Do data binding for an </a:t>
            </a:r>
            <a:r>
              <a:rPr b="1" lang="en"/>
              <a:t>employee</a:t>
            </a:r>
            <a:r>
              <a:rPr lang="en"/>
              <a:t>: Fullname, Email, Address, Telephone number, Avatar’s image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9302b8ef6_0_14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Binding a list</a:t>
            </a:r>
            <a:endParaRPr sz="7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9302b8ef6_0_14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Prepare UI using ComboBox</a:t>
            </a:r>
            <a:endParaRPr/>
          </a:p>
        </p:txBody>
      </p:sp>
      <p:pic>
        <p:nvPicPr>
          <p:cNvPr id="224" name="Google Shape;224;g339302b8ef6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300" y="1575274"/>
            <a:ext cx="7651523" cy="177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" name="Google Shape;225;g339302b8ef6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5700" y="3516700"/>
            <a:ext cx="2495550" cy="1504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9302b8ef6_0_15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Sample data</a:t>
            </a:r>
            <a:endParaRPr/>
          </a:p>
        </p:txBody>
      </p:sp>
      <p:pic>
        <p:nvPicPr>
          <p:cNvPr id="231" name="Google Shape;231;g339302b8ef6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00" y="1657600"/>
            <a:ext cx="8657725" cy="25570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9302b8ef6_0_15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result</a:t>
            </a:r>
            <a:endParaRPr/>
          </a:p>
        </p:txBody>
      </p:sp>
      <p:pic>
        <p:nvPicPr>
          <p:cNvPr id="237" name="Google Shape;237;g339302b8ef6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3700" y="1313475"/>
            <a:ext cx="4324350" cy="3105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9302b8ef6_0_16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Simple way to modify</a:t>
            </a:r>
            <a:endParaRPr/>
          </a:p>
        </p:txBody>
      </p:sp>
      <p:sp>
        <p:nvSpPr>
          <p:cNvPr id="243" name="Google Shape;243;g339302b8ef6_0_162"/>
          <p:cNvSpPr txBox="1"/>
          <p:nvPr>
            <p:ph idx="1" type="body"/>
          </p:nvPr>
        </p:nvSpPr>
        <p:spPr>
          <a:xfrm>
            <a:off x="141300" y="3457900"/>
            <a:ext cx="89322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But it should not be this way, why?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"/>
              <a:t>Because this class’s job is not displaying data</a:t>
            </a:r>
            <a:endParaRPr/>
          </a:p>
        </p:txBody>
      </p:sp>
      <p:pic>
        <p:nvPicPr>
          <p:cNvPr id="244" name="Google Shape;244;g339302b8ef6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7850" y="914000"/>
            <a:ext cx="2486350" cy="222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g339302b8ef6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075" y="914000"/>
            <a:ext cx="4261250" cy="184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9302b8ef6_0_16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Using ItemTemplate</a:t>
            </a:r>
            <a:endParaRPr/>
          </a:p>
        </p:txBody>
      </p:sp>
      <p:pic>
        <p:nvPicPr>
          <p:cNvPr id="251" name="Google Shape;251;g339302b8ef6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7159000" cy="28152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2" name="Google Shape;252;g339302b8ef6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225" y="2973850"/>
            <a:ext cx="2881825" cy="2169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9302b8ef6_0_17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Adding image</a:t>
            </a:r>
            <a:endParaRPr/>
          </a:p>
        </p:txBody>
      </p:sp>
      <p:pic>
        <p:nvPicPr>
          <p:cNvPr id="258" name="Google Shape;258;g339302b8ef6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839203" cy="205103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g339302b8ef6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300" y="3024788"/>
            <a:ext cx="1793142" cy="189276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9302b8ef6_0_18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6000"/>
              <a:t>Editing the list</a:t>
            </a:r>
            <a:endParaRPr sz="6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9302b8ef6_0_18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Adding a new item</a:t>
            </a:r>
            <a:endParaRPr/>
          </a:p>
        </p:txBody>
      </p:sp>
      <p:sp>
        <p:nvSpPr>
          <p:cNvPr id="270" name="Google Shape;270;g339302b8ef6_0_185"/>
          <p:cNvSpPr txBox="1"/>
          <p:nvPr>
            <p:ph idx="1" type="body"/>
          </p:nvPr>
        </p:nvSpPr>
        <p:spPr>
          <a:xfrm>
            <a:off x="141300" y="3175975"/>
            <a:ext cx="89322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"/>
              <a:t>Convert the list to </a:t>
            </a:r>
            <a:r>
              <a:rPr b="1" lang="en"/>
              <a:t>BindingList</a:t>
            </a:r>
            <a:endParaRPr b="1"/>
          </a:p>
        </p:txBody>
      </p:sp>
      <p:pic>
        <p:nvPicPr>
          <p:cNvPr id="271" name="Google Shape;271;g339302b8ef6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50" y="914001"/>
            <a:ext cx="7830198" cy="1967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2" name="Google Shape;272;g339302b8ef6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2612" y="2643000"/>
            <a:ext cx="2234788" cy="2183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39302b8ef6_0_19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2. Delete an item based on index</a:t>
            </a:r>
            <a:endParaRPr/>
          </a:p>
        </p:txBody>
      </p:sp>
      <p:pic>
        <p:nvPicPr>
          <p:cNvPr id="278" name="Google Shape;278;g339302b8ef6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3425" y="2291250"/>
            <a:ext cx="3278300" cy="1954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g339302b8ef6_0_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894900"/>
            <a:ext cx="8839201" cy="11766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9302b8ef6_0_19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Deleting an item - The other way</a:t>
            </a:r>
            <a:endParaRPr/>
          </a:p>
        </p:txBody>
      </p:sp>
      <p:pic>
        <p:nvPicPr>
          <p:cNvPr id="285" name="Google Shape;285;g339302b8ef6_0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075" y="984350"/>
            <a:ext cx="6543675" cy="65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9302b8ef6_0_20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4. Update an item</a:t>
            </a:r>
            <a:endParaRPr/>
          </a:p>
        </p:txBody>
      </p:sp>
      <p:pic>
        <p:nvPicPr>
          <p:cNvPr id="291" name="Google Shape;291;g339302b8ef6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839204" cy="145419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9302b8ef6_0_208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Using ListView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9302b8ef6_0_2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Convert to using ListView</a:t>
            </a:r>
            <a:endParaRPr/>
          </a:p>
        </p:txBody>
      </p:sp>
      <p:pic>
        <p:nvPicPr>
          <p:cNvPr id="302" name="Google Shape;302;g339302b8ef6_0_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00" y="914001"/>
            <a:ext cx="8621023" cy="2985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3" name="Google Shape;303;g339302b8ef6_0_2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6325" y="3313146"/>
            <a:ext cx="3880342" cy="169705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39302b8ef6_0_2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Minor change in displaying</a:t>
            </a:r>
            <a:endParaRPr/>
          </a:p>
        </p:txBody>
      </p:sp>
      <p:pic>
        <p:nvPicPr>
          <p:cNvPr id="309" name="Google Shape;309;g339302b8ef6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839195" cy="3531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g339302b8ef6_0_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3076" y="3331775"/>
            <a:ext cx="1935401" cy="1708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9302b8ef6_0_2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Using WrapPanel / WrapGrid</a:t>
            </a:r>
            <a:endParaRPr/>
          </a:p>
        </p:txBody>
      </p:sp>
      <p:pic>
        <p:nvPicPr>
          <p:cNvPr id="316" name="Google Shape;316;g339302b8ef6_0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839197" cy="152890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7" name="Google Shape;317;g339302b8ef6_0_2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3275" y="1630249"/>
            <a:ext cx="3452649" cy="3253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g339302b8ef6_0_224"/>
          <p:cNvSpPr/>
          <p:nvPr/>
        </p:nvSpPr>
        <p:spPr>
          <a:xfrm>
            <a:off x="4080100" y="1073400"/>
            <a:ext cx="4911600" cy="36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9302b8ef6_0_2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 class exercises (choose 1 only)</a:t>
            </a:r>
            <a:endParaRPr/>
          </a:p>
        </p:txBody>
      </p:sp>
      <p:sp>
        <p:nvSpPr>
          <p:cNvPr id="324" name="Google Shape;324;g339302b8ef6_0_2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Do data binding for a list of </a:t>
            </a:r>
            <a:r>
              <a:rPr b="1" lang="en"/>
              <a:t>books</a:t>
            </a:r>
            <a:r>
              <a:rPr lang="en"/>
              <a:t>: Book’s name, Cover’s image, Author, Published Year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Do data binding for a list of </a:t>
            </a:r>
            <a:r>
              <a:rPr b="1" lang="en"/>
              <a:t>mobile phones</a:t>
            </a:r>
            <a:r>
              <a:rPr lang="en"/>
              <a:t>: Phone’s name, Image, Manufacturer, Price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Do data binding for a list of </a:t>
            </a:r>
            <a:r>
              <a:rPr b="1" lang="en"/>
              <a:t>employees</a:t>
            </a:r>
            <a:r>
              <a:rPr lang="en"/>
              <a:t>: Fullname, Email, Address, Telephone number, Avatar’s image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at least </a:t>
            </a:r>
            <a:r>
              <a:rPr b="1" lang="en"/>
              <a:t>22</a:t>
            </a:r>
            <a:r>
              <a:rPr lang="en"/>
              <a:t> items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Add</a:t>
            </a:r>
            <a:r>
              <a:rPr lang="en"/>
              <a:t>, </a:t>
            </a:r>
            <a:r>
              <a:rPr b="1" lang="en"/>
              <a:t>Delete</a:t>
            </a:r>
            <a:r>
              <a:rPr lang="en"/>
              <a:t>, </a:t>
            </a:r>
            <a:r>
              <a:rPr b="1" lang="en"/>
              <a:t>Update </a:t>
            </a:r>
            <a:r>
              <a:rPr lang="en"/>
              <a:t>(hard code data)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9302b8ef6_0_2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template for reuse - Step 01 </a:t>
            </a:r>
            <a:endParaRPr/>
          </a:p>
        </p:txBody>
      </p:sp>
      <p:sp>
        <p:nvSpPr>
          <p:cNvPr id="330" name="Google Shape;330;g339302b8ef6_0_2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Extract data template to a </a:t>
            </a:r>
            <a:r>
              <a:rPr lang="en">
                <a:solidFill>
                  <a:srgbClr val="0000FF"/>
                </a:solidFill>
              </a:rPr>
              <a:t>Dictionary.xaml</a:t>
            </a:r>
            <a:r>
              <a:rPr lang="en"/>
              <a:t> file</a:t>
            </a:r>
            <a:endParaRPr/>
          </a:p>
        </p:txBody>
      </p:sp>
      <p:pic>
        <p:nvPicPr>
          <p:cNvPr id="331" name="Google Shape;331;g339302b8ef6_0_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625" y="1509725"/>
            <a:ext cx="4782774" cy="3458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2" name="Google Shape;332;g339302b8ef6_0_236"/>
          <p:cNvSpPr/>
          <p:nvPr/>
        </p:nvSpPr>
        <p:spPr>
          <a:xfrm>
            <a:off x="1749275" y="1888425"/>
            <a:ext cx="4452900" cy="36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39302b8ef6_0_2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template - Step 02</a:t>
            </a:r>
            <a:endParaRPr/>
          </a:p>
        </p:txBody>
      </p:sp>
      <p:sp>
        <p:nvSpPr>
          <p:cNvPr id="338" name="Google Shape;338;g339302b8ef6_0_2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resource into our Window</a:t>
            </a:r>
            <a:endParaRPr/>
          </a:p>
        </p:txBody>
      </p:sp>
      <p:pic>
        <p:nvPicPr>
          <p:cNvPr id="339" name="Google Shape;339;g339302b8ef6_0_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900" y="1790700"/>
            <a:ext cx="6934200" cy="781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9302b8ef6_0_2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template - Step 03</a:t>
            </a:r>
            <a:endParaRPr/>
          </a:p>
        </p:txBody>
      </p:sp>
      <p:sp>
        <p:nvSpPr>
          <p:cNvPr id="345" name="Google Shape;345;g339302b8ef6_0_24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the template we want to use</a:t>
            </a:r>
            <a:endParaRPr/>
          </a:p>
        </p:txBody>
      </p:sp>
      <p:pic>
        <p:nvPicPr>
          <p:cNvPr id="346" name="Google Shape;346;g339302b8ef6_0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75" y="1744513"/>
            <a:ext cx="7410450" cy="581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a94d27df7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menu</a:t>
            </a:r>
            <a:endParaRPr/>
          </a:p>
        </p:txBody>
      </p:sp>
      <p:sp>
        <p:nvSpPr>
          <p:cNvPr id="352" name="Google Shape;352;g38a94d27df7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3" name="Google Shape;353;g38a94d27df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71500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9302b8ef6_0_25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Handling context menu (Old)</a:t>
            </a:r>
            <a:endParaRPr/>
          </a:p>
        </p:txBody>
      </p:sp>
      <p:sp>
        <p:nvSpPr>
          <p:cNvPr id="359" name="Google Shape;359;g339302b8ef6_0_25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ListView.Resources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ContextMenu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TenCuaContextMenu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"&gt;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MenuItem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Header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="Delete"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Click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="MenuItem_Click"/&gt;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MenuItem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Header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="Edit"/&gt;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ContextMenu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ListView.Resources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ListView.ItemContainerStyle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TargetType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="{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ListViewItem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}" 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Setter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Property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="ContextMenu"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="{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StaticResource</a:t>
            </a:r>
            <a:r>
              <a:rPr lang="en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TenCuaContextMenu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}" /&gt;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ListView.ItemContainerStyle</a:t>
            </a:r>
            <a:r>
              <a:rPr lang="en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</p:txBody>
      </p:sp>
      <p:sp>
        <p:nvSpPr>
          <p:cNvPr id="360" name="Google Shape;360;g339302b8ef6_0_255"/>
          <p:cNvSpPr/>
          <p:nvPr/>
        </p:nvSpPr>
        <p:spPr>
          <a:xfrm>
            <a:off x="2345550" y="1302000"/>
            <a:ext cx="3459000" cy="36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339302b8ef6_0_255"/>
          <p:cNvSpPr/>
          <p:nvPr/>
        </p:nvSpPr>
        <p:spPr>
          <a:xfrm>
            <a:off x="141300" y="3809975"/>
            <a:ext cx="2611800" cy="36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9302b8ef6_0_26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Handling double click</a:t>
            </a:r>
            <a:endParaRPr/>
          </a:p>
        </p:txBody>
      </p:sp>
      <p:sp>
        <p:nvSpPr>
          <p:cNvPr id="367" name="Google Shape;367;g339302b8ef6_0_26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"/>
              <a:t>Does not work when clicking on empty space, must set event handler using Style</a:t>
            </a:r>
            <a:endParaRPr/>
          </a:p>
        </p:txBody>
      </p:sp>
      <p:pic>
        <p:nvPicPr>
          <p:cNvPr id="368" name="Google Shape;368;g339302b8ef6_0_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00" y="2070388"/>
            <a:ext cx="8039100" cy="2352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39302b8ef6_0_26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Master-Detail data binding</a:t>
            </a:r>
            <a:endParaRPr/>
          </a:p>
        </p:txBody>
      </p:sp>
      <p:pic>
        <p:nvPicPr>
          <p:cNvPr id="374" name="Google Shape;374;g339302b8ef6_0_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914000"/>
            <a:ext cx="8414501" cy="1817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5" name="Google Shape;375;g339302b8ef6_0_2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3288" y="2862263"/>
            <a:ext cx="351472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39302b8ef6_0_268"/>
          <p:cNvSpPr/>
          <p:nvPr/>
        </p:nvSpPr>
        <p:spPr>
          <a:xfrm>
            <a:off x="1331750" y="1729375"/>
            <a:ext cx="7126500" cy="36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