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Quattrocento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iAsELvZNJtpBiWN6PXgfEBcE2O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regular.fntdata"/><Relationship Id="rId20" Type="http://schemas.openxmlformats.org/officeDocument/2006/relationships/slide" Target="slides/slide15.xml"/><Relationship Id="rId42" Type="http://schemas.openxmlformats.org/officeDocument/2006/relationships/font" Target="fonts/QuattrocentoSans-italic.fntdata"/><Relationship Id="rId41" Type="http://schemas.openxmlformats.org/officeDocument/2006/relationships/font" Target="fonts/QuattrocentoSans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QuattrocentoSa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bold.fntdata"/><Relationship Id="rId14" Type="http://schemas.openxmlformats.org/officeDocument/2006/relationships/slide" Target="slides/slide9.xml"/><Relationship Id="rId36" Type="http://schemas.openxmlformats.org/officeDocument/2006/relationships/font" Target="fonts/Robot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c1528074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1c1528074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36893c4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36893c4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82e11d28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282e11d2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0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0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0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32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3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1" name="Google Shape;4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39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0" name="Google Shape;5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42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725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2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3"/>
          <p:cNvSpPr txBox="1"/>
          <p:nvPr>
            <p:ph type="title"/>
          </p:nvPr>
        </p:nvSpPr>
        <p:spPr>
          <a:xfrm>
            <a:off x="381000" y="114300"/>
            <a:ext cx="876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43"/>
          <p:cNvSpPr txBox="1"/>
          <p:nvPr>
            <p:ph idx="1" type="body"/>
          </p:nvPr>
        </p:nvSpPr>
        <p:spPr>
          <a:xfrm>
            <a:off x="381000" y="1200150"/>
            <a:ext cx="861060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4BD97"/>
              </a:buClr>
              <a:buSzPts val="2400"/>
              <a:buFont typeface="Noto Sans Symbols"/>
              <a:buChar char="▪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2" type="sldNum"/>
          </p:nvPr>
        </p:nvSpPr>
        <p:spPr>
          <a:xfrm>
            <a:off x="6858000" y="474345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43"/>
          <p:cNvSpPr/>
          <p:nvPr/>
        </p:nvSpPr>
        <p:spPr>
          <a:xfrm rot="-3206046">
            <a:off x="3332299" y="-2918285"/>
            <a:ext cx="1837129" cy="10393516"/>
          </a:xfrm>
          <a:prstGeom prst="moon">
            <a:avLst>
              <a:gd fmla="val 50000" name="adj"/>
            </a:avLst>
          </a:prstGeom>
          <a:solidFill>
            <a:schemeClr val="lt1">
              <a:alpha val="1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400" y="1271029"/>
            <a:ext cx="7962900" cy="175609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4"/>
          <p:cNvSpPr txBox="1"/>
          <p:nvPr>
            <p:ph type="title"/>
          </p:nvPr>
        </p:nvSpPr>
        <p:spPr>
          <a:xfrm>
            <a:off x="527050" y="1720452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44"/>
          <p:cNvSpPr/>
          <p:nvPr/>
        </p:nvSpPr>
        <p:spPr>
          <a:xfrm rot="-3206046">
            <a:off x="3141798" y="-1854182"/>
            <a:ext cx="1837129" cy="10393516"/>
          </a:xfrm>
          <a:prstGeom prst="moon">
            <a:avLst>
              <a:gd fmla="val 50000" name="adj"/>
            </a:avLst>
          </a:prstGeom>
          <a:solidFill>
            <a:schemeClr val="lt1">
              <a:alpha val="1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817525"/>
            <a:ext cx="9144000" cy="78606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9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w3schools.com/cs/cs_oop.asp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learn.microsoft.com/en-us/dotnet/csharp/programming-guide/classes-and-structs/extension-metho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-US" sz="4400"/>
              <a:t>C# Object Oriented Programming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Four pillars of Object Oriented Programming</a:t>
            </a:r>
            <a:endParaRPr/>
          </a:p>
        </p:txBody>
      </p:sp>
      <p:sp>
        <p:nvSpPr>
          <p:cNvPr id="82" name="Google Shape;82;p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b="1" lang="en-US">
                <a:solidFill>
                  <a:schemeClr val="dk1"/>
                </a:solidFill>
              </a:rPr>
              <a:t>Abstraction</a:t>
            </a:r>
            <a:r>
              <a:rPr lang="en-US">
                <a:solidFill>
                  <a:schemeClr val="dk1"/>
                </a:solidFill>
              </a:rPr>
              <a:t> 		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❏"/>
            </a:pPr>
            <a:r>
              <a:rPr i="1" lang="en-US" sz="1800">
                <a:solidFill>
                  <a:srgbClr val="666666"/>
                </a:solidFill>
              </a:rPr>
              <a:t>What – not how</a:t>
            </a:r>
            <a:endParaRPr b="1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b="1" lang="en-US"/>
              <a:t>Encapsulation</a:t>
            </a:r>
            <a:r>
              <a:rPr lang="en-US"/>
              <a:t> 	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○"/>
            </a:pPr>
            <a:r>
              <a:rPr i="1" lang="en-US" sz="1800">
                <a:solidFill>
                  <a:srgbClr val="666666"/>
                </a:solidFill>
              </a:rPr>
              <a:t>Avoid direct access to data (data hiding)</a:t>
            </a:r>
            <a:endParaRPr i="1" sz="1800">
              <a:solidFill>
                <a:srgbClr val="666666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b="1" lang="en-US"/>
              <a:t>Inheritance</a:t>
            </a:r>
            <a:r>
              <a:rPr lang="en-US"/>
              <a:t> 		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Char char="○"/>
            </a:pPr>
            <a:r>
              <a:rPr i="1" lang="en-US">
                <a:solidFill>
                  <a:srgbClr val="666666"/>
                </a:solidFill>
              </a:rPr>
              <a:t>Reuse &amp; Upgrade</a:t>
            </a:r>
            <a:endParaRPr i="1">
              <a:solidFill>
                <a:srgbClr val="666666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b="1" lang="en-US"/>
              <a:t>Polymorphism</a:t>
            </a:r>
            <a:r>
              <a:rPr lang="en-US"/>
              <a:t> 	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○"/>
            </a:pPr>
            <a:r>
              <a:rPr i="1" lang="en-US" sz="1800">
                <a:solidFill>
                  <a:srgbClr val="666666"/>
                </a:solidFill>
              </a:rPr>
              <a:t>Objects with different types can be accessed through the same interface</a:t>
            </a:r>
            <a:endParaRPr i="1" sz="1800">
              <a:solidFill>
                <a:srgbClr val="666666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○"/>
            </a:pPr>
            <a:r>
              <a:rPr i="1" lang="en-US" sz="1800">
                <a:solidFill>
                  <a:srgbClr val="666666"/>
                </a:solidFill>
              </a:rPr>
              <a:t>Same name of function, difference in behaviors</a:t>
            </a:r>
            <a:endParaRPr i="1" sz="1800"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Core concepts</a:t>
            </a:r>
            <a:endParaRPr/>
          </a:p>
        </p:txBody>
      </p:sp>
      <p:sp>
        <p:nvSpPr>
          <p:cNvPr id="88" name="Google Shape;88;p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-US"/>
              <a:t>Class &amp; Object, UML Class diagram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-US"/>
              <a:t>Override &amp; Overloading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-US"/>
              <a:t>Abstract class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-US"/>
              <a:t>Interface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Class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600"/>
              <a:buNone/>
            </a:pPr>
            <a:r>
              <a:rPr lang="en-US"/>
              <a:t>A </a:t>
            </a:r>
            <a:r>
              <a:rPr lang="en-US">
                <a:solidFill>
                  <a:srgbClr val="0070C0"/>
                </a:solidFill>
              </a:rPr>
              <a:t>blueprint</a:t>
            </a:r>
            <a:r>
              <a:rPr lang="en-US"/>
              <a:t> to create objects</a:t>
            </a:r>
            <a:endParaRPr/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998" y="2971648"/>
            <a:ext cx="6310950" cy="173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6" name="Google Shape;96;p4"/>
          <p:cNvGrpSpPr/>
          <p:nvPr/>
        </p:nvGrpSpPr>
        <p:grpSpPr>
          <a:xfrm>
            <a:off x="5622453" y="1212083"/>
            <a:ext cx="2966845" cy="2322952"/>
            <a:chOff x="1005080" y="1858226"/>
            <a:chExt cx="7133839" cy="4648189"/>
          </a:xfrm>
        </p:grpSpPr>
        <p:grpSp>
          <p:nvGrpSpPr>
            <p:cNvPr id="97" name="Google Shape;97;p4"/>
            <p:cNvGrpSpPr/>
            <p:nvPr/>
          </p:nvGrpSpPr>
          <p:grpSpPr>
            <a:xfrm>
              <a:off x="1005080" y="1858226"/>
              <a:ext cx="7133839" cy="4382941"/>
              <a:chOff x="1005080" y="2124221"/>
              <a:chExt cx="7133839" cy="4382941"/>
            </a:xfrm>
          </p:grpSpPr>
          <p:pic>
            <p:nvPicPr>
              <p:cNvPr id="98" name="Google Shape;98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05080" y="2478164"/>
                <a:ext cx="7133839" cy="40289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" name="Google Shape;99;p4"/>
              <p:cNvSpPr/>
              <p:nvPr/>
            </p:nvSpPr>
            <p:spPr>
              <a:xfrm>
                <a:off x="2954668" y="2124221"/>
                <a:ext cx="3234658" cy="677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accent1"/>
                    </a:solidFill>
                    <a:latin typeface="Arial"/>
                    <a:ea typeface="Arial"/>
                    <a:cs typeface="Arial"/>
                    <a:sym typeface="Arial"/>
                  </a:rPr>
                  <a:t>Class House</a:t>
                </a:r>
                <a:endParaRPr b="0" i="0" sz="24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" name="Google Shape;100;p4"/>
            <p:cNvSpPr/>
            <p:nvPr/>
          </p:nvSpPr>
          <p:spPr>
            <a:xfrm>
              <a:off x="1140334" y="5890558"/>
              <a:ext cx="2047488" cy="615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House 1</a:t>
              </a:r>
              <a:endPara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3453005" y="5890558"/>
              <a:ext cx="2047485" cy="615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House 2</a:t>
              </a:r>
              <a:endPara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5857114" y="5887224"/>
              <a:ext cx="2047485" cy="615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House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00" y="3601972"/>
            <a:ext cx="3935400" cy="125505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p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Object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600"/>
              <a:buNone/>
            </a:pPr>
            <a:r>
              <a:rPr lang="en-US"/>
              <a:t>A specific </a:t>
            </a:r>
            <a:r>
              <a:rPr lang="en-US">
                <a:solidFill>
                  <a:srgbClr val="0000FF"/>
                </a:solidFill>
              </a:rPr>
              <a:t>instance</a:t>
            </a:r>
            <a:r>
              <a:rPr lang="en-US"/>
              <a:t> created from a class</a:t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3404700" y="4620575"/>
            <a:ext cx="57486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many classes are there? How many instances are there?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2850" y="1559150"/>
            <a:ext cx="6419850" cy="2933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Common misunderstanding &amp; error for beginners</a:t>
            </a:r>
            <a:endParaRPr/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686" y="1238250"/>
            <a:ext cx="7923689" cy="97555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Destructor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600"/>
              <a:buNone/>
            </a:pPr>
            <a:r>
              <a:rPr lang="en-US"/>
              <a:t>No need because we have an </a:t>
            </a:r>
            <a:r>
              <a:rPr lang="en-US">
                <a:solidFill>
                  <a:srgbClr val="FF0000"/>
                </a:solidFill>
              </a:rPr>
              <a:t>automatic</a:t>
            </a:r>
            <a:r>
              <a:rPr lang="en-US"/>
              <a:t> </a:t>
            </a:r>
            <a:r>
              <a:rPr b="1" lang="en-US"/>
              <a:t>Garbage Collector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What does a class have?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-US"/>
              <a:t>Attributes (data)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-US"/>
              <a:t>Behaviors (functions)</a:t>
            </a:r>
            <a:endParaRPr/>
          </a:p>
        </p:txBody>
      </p:sp>
      <p:sp>
        <p:nvSpPr>
          <p:cNvPr id="130" name="Google Shape;13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3400" y="2125980"/>
            <a:ext cx="976122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 txBox="1"/>
          <p:nvPr/>
        </p:nvSpPr>
        <p:spPr>
          <a:xfrm>
            <a:off x="3070563" y="2971800"/>
            <a:ext cx="2560099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Behaviors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eat, sleep, run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3070563" y="2687247"/>
            <a:ext cx="2560099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weight, height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2498828" y="4663097"/>
            <a:ext cx="3703579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When a cat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sleep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 what changes?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2595007" y="4378544"/>
            <a:ext cx="3511219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When a cat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eats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 what changes?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/>
              <a:t>Behaviors can change attributes</a:t>
            </a:r>
            <a:endParaRPr/>
          </a:p>
        </p:txBody>
      </p:sp>
      <p:sp>
        <p:nvSpPr>
          <p:cNvPr id="141" name="Google Shape;1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932" y="2039423"/>
            <a:ext cx="976122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487" y="1636931"/>
            <a:ext cx="3094472" cy="19185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9"/>
          <p:cNvCxnSpPr/>
          <p:nvPr/>
        </p:nvCxnSpPr>
        <p:spPr>
          <a:xfrm>
            <a:off x="3326907" y="2695982"/>
            <a:ext cx="1291701" cy="0"/>
          </a:xfrm>
          <a:prstGeom prst="straightConnector1">
            <a:avLst/>
          </a:prstGeom>
          <a:noFill/>
          <a:ln cap="flat" cmpd="sng" w="76200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" name="Google Shape;145;p9"/>
          <p:cNvSpPr/>
          <p:nvPr/>
        </p:nvSpPr>
        <p:spPr>
          <a:xfrm>
            <a:off x="3482908" y="2039424"/>
            <a:ext cx="859851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251384" y="2626460"/>
            <a:ext cx="1379225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sleep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Represent a cat with UML</a:t>
            </a:r>
            <a:endParaRPr/>
          </a:p>
        </p:txBody>
      </p:sp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-US"/>
              <a:t>Universal Modeling Language - Class diagram</a:t>
            </a:r>
            <a:endParaRPr/>
          </a:p>
        </p:txBody>
      </p:sp>
      <p:sp>
        <p:nvSpPr>
          <p:cNvPr id="153" name="Google Shape;1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3852733" y="2252060"/>
            <a:ext cx="1438535" cy="4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3817467" y="2820074"/>
            <a:ext cx="1509067" cy="4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Behaviors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5384" y="1816824"/>
            <a:ext cx="1614488" cy="1893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Note</a:t>
            </a:r>
            <a:endParaRPr/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5763" lvl="0" marL="3857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AutoNum type="arabicPeriod"/>
            </a:pPr>
            <a:r>
              <a:rPr lang="en-US"/>
              <a:t>Class is a blueprint of an object</a:t>
            </a:r>
            <a:endParaRPr/>
          </a:p>
          <a:p>
            <a:pPr indent="-385763" lvl="0" marL="3857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AutoNum type="arabicPeriod"/>
            </a:pPr>
            <a:r>
              <a:rPr lang="en-US"/>
              <a:t>Object is an instance of a class</a:t>
            </a:r>
            <a:endParaRPr/>
          </a:p>
          <a:p>
            <a:pPr indent="-385763" lvl="0" marL="3857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AutoNum type="arabicPeriod"/>
            </a:pPr>
            <a:r>
              <a:rPr lang="en-US"/>
              <a:t>A class has attributes &amp; behaviors</a:t>
            </a:r>
            <a:endParaRPr/>
          </a:p>
          <a:p>
            <a:pPr indent="-385763" lvl="0" marL="3857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AutoNum type="arabicPeriod"/>
            </a:pPr>
            <a:r>
              <a:rPr lang="en-US"/>
              <a:t>Behaviors can change an object’s attributes</a:t>
            </a:r>
            <a:endParaRPr/>
          </a:p>
          <a:p>
            <a:pPr indent="-385763" lvl="0" marL="3857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AutoNum type="arabicPeriod"/>
            </a:pPr>
            <a:r>
              <a:rPr lang="en-US">
                <a:solidFill>
                  <a:srgbClr val="0070C0"/>
                </a:solidFill>
              </a:rPr>
              <a:t>Use UML to model a class </a:t>
            </a:r>
            <a:endParaRPr/>
          </a:p>
          <a:p>
            <a:pPr indent="-385763" lvl="0" marL="3857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AutoNum type="arabicPeriod"/>
            </a:pPr>
            <a:r>
              <a:rPr lang="en-US">
                <a:solidFill>
                  <a:srgbClr val="0070C0"/>
                </a:solidFill>
              </a:rPr>
              <a:t>Abstraction: focus on what is important</a:t>
            </a:r>
            <a:endParaRPr/>
          </a:p>
        </p:txBody>
      </p:sp>
      <p:sp>
        <p:nvSpPr>
          <p:cNvPr id="163" name="Google Shape;1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169" name="Google Shape;169;p1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Create UML diagram using </a:t>
            </a:r>
            <a:r>
              <a:rPr b="1" lang="en-US"/>
              <a:t>mermaid.live</a:t>
            </a:r>
            <a:r>
              <a:rPr lang="en-US"/>
              <a:t>  (/draw.io)</a:t>
            </a:r>
            <a:endParaRPr/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1. A </a:t>
            </a:r>
            <a:r>
              <a:rPr b="1" lang="en-US"/>
              <a:t>S</a:t>
            </a:r>
            <a:r>
              <a:rPr b="1" lang="en-US"/>
              <a:t>oldier </a:t>
            </a:r>
            <a:r>
              <a:rPr lang="en-US"/>
              <a:t>that has Hit points and Mana, can attack and defend</a:t>
            </a:r>
            <a:endParaRPr/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2. An </a:t>
            </a:r>
            <a:r>
              <a:rPr b="1" lang="en-US"/>
              <a:t>Autobot </a:t>
            </a:r>
            <a:r>
              <a:rPr lang="en-US"/>
              <a:t>transformer that can toggle between vehicle form and robot form, fly, fight and escape. Its life depends on its energy in W (wattage)</a:t>
            </a:r>
            <a:endParaRPr/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Submit back the image in this format: </a:t>
            </a:r>
            <a:r>
              <a:rPr lang="en-US">
                <a:solidFill>
                  <a:srgbClr val="0070C0"/>
                </a:solidFill>
              </a:rPr>
              <a:t>StudentID</a:t>
            </a:r>
            <a:r>
              <a:rPr lang="en-US"/>
              <a:t>.</a:t>
            </a:r>
            <a:r>
              <a:rPr lang="en-US">
                <a:solidFill>
                  <a:srgbClr val="FF0000"/>
                </a:solidFill>
              </a:rPr>
              <a:t>png</a:t>
            </a:r>
            <a:r>
              <a:rPr lang="en-US"/>
              <a:t>/jpg</a:t>
            </a:r>
            <a:endParaRPr/>
          </a:p>
        </p:txBody>
      </p:sp>
      <p:sp>
        <p:nvSpPr>
          <p:cNvPr id="170" name="Google Shape;17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Encapsulation - Getter &amp; Setter</a:t>
            </a:r>
            <a:endParaRPr/>
          </a:p>
        </p:txBody>
      </p:sp>
      <p:sp>
        <p:nvSpPr>
          <p:cNvPr id="176" name="Google Shape;176;p1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600"/>
              <a:buNone/>
            </a:pPr>
            <a:r>
              <a:rPr b="1" lang="en-US" u="sng">
                <a:solidFill>
                  <a:srgbClr val="0000FF"/>
                </a:solidFill>
              </a:rPr>
              <a:t>Avoid </a:t>
            </a:r>
            <a:r>
              <a:rPr lang="en-US"/>
              <a:t> </a:t>
            </a:r>
            <a:r>
              <a:rPr b="1" lang="en-US">
                <a:solidFill>
                  <a:srgbClr val="FF0000"/>
                </a:solidFill>
              </a:rPr>
              <a:t>direct</a:t>
            </a:r>
            <a:r>
              <a:rPr lang="en-US"/>
              <a:t> access to attribute</a:t>
            </a:r>
            <a:endParaRPr/>
          </a:p>
        </p:txBody>
      </p:sp>
      <p:pic>
        <p:nvPicPr>
          <p:cNvPr id="177" name="Google Shape;1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375" y="1590675"/>
            <a:ext cx="4103150" cy="1128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8" name="Google Shape;1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5413" y="1590663"/>
            <a:ext cx="4352925" cy="2790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13"/>
          <p:cNvSpPr/>
          <p:nvPr/>
        </p:nvSpPr>
        <p:spPr>
          <a:xfrm>
            <a:off x="3835725" y="3226250"/>
            <a:ext cx="5349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Shortcut for encapsulation</a:t>
            </a:r>
            <a:endParaRPr/>
          </a:p>
        </p:txBody>
      </p:sp>
      <p:pic>
        <p:nvPicPr>
          <p:cNvPr id="185" name="Google Shape;1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4300" y="4036700"/>
            <a:ext cx="3467100" cy="95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63" y="926988"/>
            <a:ext cx="4352925" cy="2790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7" name="Google Shape;187;p14"/>
          <p:cNvSpPr/>
          <p:nvPr/>
        </p:nvSpPr>
        <p:spPr>
          <a:xfrm>
            <a:off x="3996225" y="4036700"/>
            <a:ext cx="5349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Why should we use getter &amp; setter?</a:t>
            </a:r>
            <a:endParaRPr/>
          </a:p>
        </p:txBody>
      </p:sp>
      <p:sp>
        <p:nvSpPr>
          <p:cNvPr id="193" name="Google Shape;193;p1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-US"/>
              <a:t>May be adding business logic later</a:t>
            </a:r>
            <a:endParaRPr b="1"/>
          </a:p>
          <a:p>
            <a:pPr indent="-393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600"/>
              <a:buChar char="❏"/>
            </a:pPr>
            <a:r>
              <a:rPr lang="en-US">
                <a:solidFill>
                  <a:srgbClr val="666666"/>
                </a:solidFill>
              </a:rPr>
              <a:t>For example: your account has a balance of 200.000, you cannot withdraw 300.000</a:t>
            </a:r>
            <a:endParaRPr>
              <a:solidFill>
                <a:srgbClr val="666666"/>
              </a:solidFill>
            </a:endParaRPr>
          </a:p>
          <a:p>
            <a:pPr indent="-393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600"/>
              <a:buChar char="❏"/>
            </a:pPr>
            <a:r>
              <a:rPr lang="en-US">
                <a:solidFill>
                  <a:srgbClr val="666666"/>
                </a:solidFill>
              </a:rPr>
              <a:t>Isolation, good for maintenance</a:t>
            </a:r>
            <a:endParaRPr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rgbClr val="666666"/>
                </a:solidFill>
              </a:rPr>
              <a:t>Derivative properties</a:t>
            </a:r>
            <a:endParaRPr>
              <a:solidFill>
                <a:srgbClr val="666666"/>
              </a:solidFill>
            </a:endParaRPr>
          </a:p>
          <a:p>
            <a:pPr indent="-514350" lvl="0" marL="5778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AutoNum type="arabicPeriod" startAt="2"/>
            </a:pPr>
            <a:r>
              <a:rPr b="1" lang="en-US"/>
              <a:t>UI programming: databinding!</a:t>
            </a:r>
            <a:endParaRPr/>
          </a:p>
          <a:p>
            <a:pPr indent="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-US"/>
              <a:t>UI elements automatically update based on the databound variable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</a:pPr>
            <a:r>
              <a:rPr lang="en-US"/>
              <a:t>	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Derivative property</a:t>
            </a:r>
            <a:endParaRPr/>
          </a:p>
        </p:txBody>
      </p:sp>
      <p:pic>
        <p:nvPicPr>
          <p:cNvPr id="199" name="Google Shape;1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000" y="1079450"/>
            <a:ext cx="6368250" cy="3230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Lambda expression</a:t>
            </a:r>
            <a:endParaRPr/>
          </a:p>
        </p:txBody>
      </p:sp>
      <p:pic>
        <p:nvPicPr>
          <p:cNvPr id="205" name="Google Shape;2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181" y="1133175"/>
            <a:ext cx="7129924" cy="2012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Static function - Public function organized</a:t>
            </a:r>
            <a:endParaRPr/>
          </a:p>
        </p:txBody>
      </p:sp>
      <p:pic>
        <p:nvPicPr>
          <p:cNvPr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8741575" cy="3451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Static attribute / Property</a:t>
            </a:r>
            <a:endParaRPr/>
          </a:p>
        </p:txBody>
      </p:sp>
      <p:pic>
        <p:nvPicPr>
          <p:cNvPr id="217" name="Google Shape;2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400" y="914000"/>
            <a:ext cx="5086350" cy="3190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8" name="Google Shape;2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0588" y="3303225"/>
            <a:ext cx="5572125" cy="171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Inheritance - Reuse &amp; Upgrade</a:t>
            </a:r>
            <a:endParaRPr/>
          </a:p>
        </p:txBody>
      </p:sp>
      <p:pic>
        <p:nvPicPr>
          <p:cNvPr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03064"/>
            <a:ext cx="3800000" cy="2925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5749" y="3291149"/>
            <a:ext cx="5747800" cy="1692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c15280742d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Examples of inheritance - Reuse &amp; Upgrade</a:t>
            </a:r>
            <a:endParaRPr/>
          </a:p>
        </p:txBody>
      </p:sp>
      <p:sp>
        <p:nvSpPr>
          <p:cNvPr id="231" name="Google Shape;231;g1c15280742d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>
                <a:solidFill>
                  <a:schemeClr val="dk1"/>
                </a:solidFill>
              </a:rPr>
              <a:t>Employee &gt; DailyEmployee &gt; ProductEmployee &gt; Manager</a:t>
            </a:r>
            <a:endParaRPr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>
                <a:solidFill>
                  <a:schemeClr val="dk1"/>
                </a:solidFill>
              </a:rPr>
              <a:t>Shape &gt; Rectangle &gt; Square &gt; Circle &gt; Ellipse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US"/>
              <a:t>Point3D from Point2D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US"/>
              <a:t>Person &gt; Student &gt; Teacher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US"/>
              <a:t>Character &gt; Knight &gt; Swordman &gt; Pikeman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Overriding</a:t>
            </a:r>
            <a:endParaRPr/>
          </a:p>
        </p:txBody>
      </p:sp>
      <p:pic>
        <p:nvPicPr>
          <p:cNvPr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13" y="959513"/>
            <a:ext cx="4448175" cy="1876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8" name="Google Shape;2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8025" y="2964263"/>
            <a:ext cx="5219700" cy="1943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Polymorphism</a:t>
            </a:r>
            <a:endParaRPr/>
          </a:p>
        </p:txBody>
      </p:sp>
      <p:pic>
        <p:nvPicPr>
          <p:cNvPr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5838825" cy="3924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4225" y="2492488"/>
            <a:ext cx="5067300" cy="1362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Array of objects</a:t>
            </a:r>
            <a:endParaRPr/>
          </a:p>
        </p:txBody>
      </p:sp>
      <p:pic>
        <p:nvPicPr>
          <p:cNvPr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675" y="1129200"/>
            <a:ext cx="6749925" cy="2269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Multiple inheritance</a:t>
            </a:r>
            <a:endParaRPr/>
          </a:p>
        </p:txBody>
      </p:sp>
      <p:sp>
        <p:nvSpPr>
          <p:cNvPr id="257" name="Google Shape;257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-US"/>
              <a:t>C# </a:t>
            </a:r>
            <a:r>
              <a:rPr lang="en-US">
                <a:solidFill>
                  <a:srgbClr val="FF0000"/>
                </a:solidFill>
              </a:rPr>
              <a:t>does not</a:t>
            </a:r>
            <a:r>
              <a:rPr lang="en-US"/>
              <a:t> support multiple </a:t>
            </a:r>
            <a:r>
              <a:rPr lang="en-US" u="sng">
                <a:solidFill>
                  <a:srgbClr val="00B050"/>
                </a:solidFill>
              </a:rPr>
              <a:t>classes</a:t>
            </a:r>
            <a:r>
              <a:rPr lang="en-US"/>
              <a:t> </a:t>
            </a:r>
            <a:r>
              <a:rPr lang="en-US">
                <a:solidFill>
                  <a:srgbClr val="0070C0"/>
                </a:solidFill>
              </a:rPr>
              <a:t>inheritance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-US"/>
              <a:t>But we have multiple </a:t>
            </a:r>
            <a:r>
              <a:rPr lang="en-US" u="sng">
                <a:solidFill>
                  <a:srgbClr val="00B050"/>
                </a:solidFill>
              </a:rPr>
              <a:t>interfaces</a:t>
            </a:r>
            <a:r>
              <a:rPr lang="en-US"/>
              <a:t> inheritance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263" name="Google Shape;263;p2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A student will have this information: StudentID, FullName, GPA, Address</a:t>
            </a:r>
            <a:endParaRPr/>
          </a:p>
          <a:p>
            <a:pPr indent="-400050" lvl="0" marL="5715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Char char="❏"/>
            </a:pPr>
            <a:r>
              <a:rPr lang="en-US"/>
              <a:t>Generate random 10 students </a:t>
            </a:r>
            <a:endParaRPr/>
          </a:p>
          <a:p>
            <a:pPr indent="-400050" lvl="0" marL="5715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Char char="❏"/>
            </a:pPr>
            <a:r>
              <a:rPr lang="en-US"/>
              <a:t>Print out the average GPA of all the students</a:t>
            </a:r>
            <a:endParaRPr/>
          </a:p>
          <a:p>
            <a:pPr indent="-400050" lvl="0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-US"/>
              <a:t>Print out full information of the top 3 students with the highest GPA</a:t>
            </a:r>
            <a:endParaRPr/>
          </a:p>
          <a:p>
            <a:pPr indent="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Name the project: </a:t>
            </a:r>
            <a:r>
              <a:rPr lang="en-US">
                <a:solidFill>
                  <a:srgbClr val="0070C0"/>
                </a:solidFill>
              </a:rPr>
              <a:t>RandomStudents</a:t>
            </a:r>
            <a:r>
              <a:rPr lang="en-US"/>
              <a:t>, submit back the onlinedgb / VS project link.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Instructions (extra work)</a:t>
            </a:r>
            <a:endParaRPr/>
          </a:p>
        </p:txBody>
      </p:sp>
      <p:sp>
        <p:nvSpPr>
          <p:cNvPr id="269" name="Google Shape;269;p26"/>
          <p:cNvSpPr txBox="1"/>
          <p:nvPr>
            <p:ph idx="1" type="body"/>
          </p:nvPr>
        </p:nvSpPr>
        <p:spPr>
          <a:xfrm>
            <a:off x="105900" y="7425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-US"/>
              <a:t>StudentID: Length is 8, first two numbers: year 18/19/20 =&gt; Next 6 digits is random (0-9)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-US"/>
              <a:t>Fullname: Firstname (Trần/Nguyễn/Lê/Lý/Đỗ/Đặng)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MiddleName: Tấn / Việt / Đức / Nhật / Khắc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Name: Quang / Minh / Thu / Thủy / Thắng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-US"/>
              <a:t>GPA: random 0-10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-US"/>
              <a:t>Address: Number (1-100), street name (Nguyễn Đình Chiểu, Hoàng Hoa Thám, CMT8, Quang Trung, Nguyễn Huệ), Ward (1-10), District (1-10/BinhTan/TanPhu) </a:t>
            </a:r>
            <a:endParaRPr/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36893c429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75" name="Google Shape;275;g3736893c429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Mc Donald’s farm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Employees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81" name="Google Shape;281;p2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6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https://www.w3schools.com/cs/cs_oop.asp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82e11d2898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Extension method</a:t>
            </a:r>
            <a:endParaRPr/>
          </a:p>
        </p:txBody>
      </p:sp>
      <p:sp>
        <p:nvSpPr>
          <p:cNvPr id="287" name="Google Shape;287;g282e11d2898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https://learn.microsoft.com/en-us/dotnet/csharp/programming-guide/classes-and-structs/extension-methods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