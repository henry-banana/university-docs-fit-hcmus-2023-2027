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iZckYJJewvePhtLQIUW6eUoU+7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italic.fntdata"/><Relationship Id="rId14" Type="http://schemas.openxmlformats.org/officeDocument/2006/relationships/slide" Target="slides/slide9.xml"/><Relationship Id="rId36" Type="http://schemas.openxmlformats.org/officeDocument/2006/relationships/font" Target="fonts/Roboto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964f5a7b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2964f5a7b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7e6cd4e9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7e6cd4e9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07e6cd4e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07e6cd4e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07e6cd4e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07e6cd4e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7e6cd4e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07e6cd4e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7e6cd4e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7e6cd4e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7e6cd4e9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7e6cd4e9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89a3bb7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89a3bb7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&lt;Grid&gt;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&lt;VisualStateManager.VisualStateGroups&gt;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&lt;VisualStateGroup&gt;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&lt;VisualState&gt;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&lt;VisualState.StateTriggers&gt;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&lt;AdaptiveTrigger MinWindowWidth="400"/&gt;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&lt;/VisualState.StateTriggers&gt;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&lt;VisualState.Setters&gt;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&lt;Setter Target="myPanel.Orientation" Value="Horizontal"/&gt;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&lt;/VisualState.Setters&gt;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&lt;/VisualState&gt;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&lt;/VisualStateGroup&gt;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&lt;/VisualStateManager.VisualStateGroups&gt;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&lt;StackPanel Name="myPanel" Orientation="Vertical"&gt;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&lt;Rectangle Width="200" Height="100" Fill="Red"/&gt;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&lt;Rectangle Width="200" Height="100" Fill="Green"/&gt;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&lt;/StackPanel&gt;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&lt;/Grid&gt;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7e6cd4e9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7e6cd4e9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&lt;StackPanel x:Name="rootLayout" Orientation="Vertical"&gt;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&lt;TextBlock x:Name="dataTextBlock" TextWrapping="Wrap"/&gt;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&lt;/StackPanel&gt;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7e6cd4e9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07e6cd4e9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7e6cd4e9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07e6cd4e9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7e6cd4e9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07e6cd4e9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07e6cd4e9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07e6cd4e9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07e6cd4e9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07e6cd4e9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7e6cd4e9e_0_127:notes"/>
          <p:cNvSpPr txBox="1"/>
          <p:nvPr>
            <p:ph idx="1" type="body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07e6cd4e9e_0_127:notes"/>
          <p:cNvSpPr/>
          <p:nvPr>
            <p:ph idx="2" type="sldImg"/>
          </p:nvPr>
        </p:nvSpPr>
        <p:spPr>
          <a:xfrm>
            <a:off x="687388" y="1143000"/>
            <a:ext cx="548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08579fd680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08579fd680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&lt;StackPanel&gt;</a:t>
            </a:r>
            <a:endParaRPr sz="1050">
              <a:solidFill>
                <a:srgbClr val="161616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61616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&lt;Rectangle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Fill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"Red"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"44"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50">
              <a:solidFill>
                <a:srgbClr val="161616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61616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&lt;Rectangle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Fill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"Blue"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"44"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50">
              <a:solidFill>
                <a:srgbClr val="161616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61616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&lt;Rectangle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Fill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"Green"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"44"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50">
              <a:solidFill>
                <a:srgbClr val="161616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61616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&lt;Rectangle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Fill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"Orange"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"44"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50">
              <a:solidFill>
                <a:srgbClr val="161616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&lt;/StackPanel&gt;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07e6cd4e9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07e6cd4e9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07e6cd4e9e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07e6cd4e9e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8579fd680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08579fd680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&lt;RelativePanel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BorderBrush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"Gray"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BorderThickness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"1"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161616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61616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&lt;Rectangle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x:Name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"RedRect"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Fill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"Red"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"44"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"44"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50">
              <a:solidFill>
                <a:srgbClr val="161616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61616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&lt;Rectangle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x:Name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"BlueRect"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Fill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"Blue"</a:t>
            </a:r>
            <a:endParaRPr sz="1050">
              <a:solidFill>
                <a:srgbClr val="0101FD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"44"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"88"</a:t>
            </a:r>
            <a:endParaRPr sz="1050">
              <a:solidFill>
                <a:srgbClr val="0101FD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RelativePanel.RightOf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"RedRect"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/&gt;</a:t>
            </a:r>
            <a:endParaRPr sz="1050">
              <a:solidFill>
                <a:srgbClr val="161616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61616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61616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&lt;Rectangle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x:Name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"GreenRect"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Fill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"Green"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50">
              <a:solidFill>
                <a:srgbClr val="0101FD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"44"</a:t>
            </a:r>
            <a:endParaRPr sz="1050">
              <a:solidFill>
                <a:srgbClr val="0101FD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RelativePanel.Below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"RedRect"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50">
              <a:solidFill>
                <a:srgbClr val="0101FD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RelativePanel.AlignLeftWith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"RedRect"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50">
              <a:solidFill>
                <a:srgbClr val="0101FD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RelativePanel.AlignRightWith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"BlueRect"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50">
              <a:solidFill>
                <a:srgbClr val="161616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61616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&lt;Rectangle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Fill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"Orange"</a:t>
            </a:r>
            <a:endParaRPr sz="1050">
              <a:solidFill>
                <a:srgbClr val="0101FD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RelativePanel.Below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"GreenRect"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50">
              <a:solidFill>
                <a:srgbClr val="0101FD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RelativePanel.AlignLeftWith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"BlueRect"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50">
              <a:solidFill>
                <a:srgbClr val="0101FD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RelativePanel.AlignRightWithPanel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endParaRPr sz="1050">
              <a:solidFill>
                <a:srgbClr val="0101FD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50">
                <a:solidFill>
                  <a:srgbClr val="0451A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RelativePanel.AlignBottomWithPanel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A31515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"True"</a:t>
            </a: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50">
              <a:solidFill>
                <a:srgbClr val="161616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&lt;/RelativePanel&gt;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08579fd680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08579fd680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08579fd680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08579fd680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08579fd680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08579fd680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08579fd680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08579fd680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08579fd680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08579fd680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f9c11ef033_4_6:notes"/>
          <p:cNvSpPr txBox="1"/>
          <p:nvPr>
            <p:ph idx="1" type="body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2f9c11ef033_4_6:notes"/>
          <p:cNvSpPr/>
          <p:nvPr>
            <p:ph idx="2" type="sldImg"/>
          </p:nvPr>
        </p:nvSpPr>
        <p:spPr>
          <a:xfrm>
            <a:off x="687388" y="1143000"/>
            <a:ext cx="548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f9c11ef033_4_23:notes"/>
          <p:cNvSpPr txBox="1"/>
          <p:nvPr>
            <p:ph idx="1" type="body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2f9c11ef033_4_23:notes"/>
          <p:cNvSpPr/>
          <p:nvPr>
            <p:ph idx="2" type="sldImg"/>
          </p:nvPr>
        </p:nvSpPr>
        <p:spPr>
          <a:xfrm>
            <a:off x="687388" y="1143000"/>
            <a:ext cx="548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08579fd680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08579fd680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08579fd680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08579fd680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4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65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63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  <a:effectLst>
            <a:outerShdw blurRad="757238" rotWithShape="0" algn="bl" dir="12000000" dist="9525">
              <a:srgbClr val="000000">
                <a:alpha val="5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5e795b85a1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6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2" name="Google Shape;4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6" name="Google Shape;46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7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earn.microsoft.com/en-us/windows/apps/design/layou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learn.microsoft.com/en-us/windows/apps/design/layout/responsive-design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earn.microsoft.com/en-us/windows/apps/design/layout/layout-panel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Layout basic</a:t>
            </a:r>
            <a:endParaRPr sz="4400"/>
          </a:p>
        </p:txBody>
      </p:sp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7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https://learn.microsoft.com/en-us/windows/apps/design/layout</a:t>
            </a:r>
            <a:r>
              <a:rPr lang="en" sz="1700">
                <a:solidFill>
                  <a:schemeClr val="lt1"/>
                </a:solidFill>
              </a:rPr>
              <a:t> 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964f5a7bf4_0_0"/>
          <p:cNvSpPr txBox="1"/>
          <p:nvPr>
            <p:ph type="title"/>
          </p:nvPr>
        </p:nvSpPr>
        <p:spPr>
          <a:xfrm>
            <a:off x="731175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Screen sizes &amp; breakpoints</a:t>
            </a:r>
            <a:endParaRPr/>
          </a:p>
        </p:txBody>
      </p:sp>
      <p:sp>
        <p:nvSpPr>
          <p:cNvPr id="68" name="Google Shape;68;g2964f5a7bf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07e6cd4e9e_0_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g307e6cd4e9e_0_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Breakpoints</a:t>
            </a:r>
            <a:endParaRPr/>
          </a:p>
        </p:txBody>
      </p:sp>
      <p:pic>
        <p:nvPicPr>
          <p:cNvPr id="75" name="Google Shape;75;g307e6cd4e9e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25" y="2497125"/>
            <a:ext cx="8601075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g307e6cd4e9e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9325" y="903263"/>
            <a:ext cx="5738876" cy="143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7e6cd4e9e_0_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 pixels and scale factor</a:t>
            </a:r>
            <a:endParaRPr/>
          </a:p>
        </p:txBody>
      </p:sp>
      <p:sp>
        <p:nvSpPr>
          <p:cNvPr id="82" name="Google Shape;82;g307e6cd4e9e_0_2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caling algorithm takes into account </a:t>
            </a:r>
            <a:r>
              <a:rPr b="1" lang="en"/>
              <a:t>viewing distance</a:t>
            </a:r>
            <a:r>
              <a:rPr lang="en"/>
              <a:t> and </a:t>
            </a:r>
            <a:r>
              <a:rPr b="1" lang="en"/>
              <a:t>screen density</a:t>
            </a:r>
            <a:r>
              <a:rPr lang="en"/>
              <a:t> (pixels per inch) to optimize for perceived size</a:t>
            </a:r>
            <a:endParaRPr/>
          </a:p>
        </p:txBody>
      </p:sp>
      <p:sp>
        <p:nvSpPr>
          <p:cNvPr id="83" name="Google Shape;83;g307e6cd4e9e_0_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" name="Google Shape;84;g307e6cd4e9e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451" y="2074626"/>
            <a:ext cx="5909100" cy="26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7e6cd4e9e_0_1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TVs considered "small"?</a:t>
            </a:r>
            <a:endParaRPr/>
          </a:p>
        </p:txBody>
      </p:sp>
      <p:sp>
        <p:nvSpPr>
          <p:cNvPr id="90" name="Google Shape;90;g307e6cd4e9e_0_1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Viewing distance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Effective pixels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1080p TV has 1080 physical pixels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540 effective pixels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=&gt; designing for a </a:t>
            </a:r>
            <a:r>
              <a:rPr b="1" lang="en">
                <a:solidFill>
                  <a:srgbClr val="9900FF"/>
                </a:solidFill>
              </a:rPr>
              <a:t>TV </a:t>
            </a:r>
            <a:r>
              <a:rPr lang="en"/>
              <a:t>== designing for a </a:t>
            </a:r>
            <a:r>
              <a:rPr lang="en">
                <a:solidFill>
                  <a:srgbClr val="9900FF"/>
                </a:solidFill>
              </a:rPr>
              <a:t>small screen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91" name="Google Shape;91;g307e6cd4e9e_0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7e6cd4e9e_0_3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Multiples of Four</a:t>
            </a:r>
            <a:endParaRPr/>
          </a:p>
        </p:txBody>
      </p:sp>
      <p:sp>
        <p:nvSpPr>
          <p:cNvPr id="97" name="Google Shape;97;g307e6cd4e9e_0_3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sizes, margins, and positions of UI elements should always be in multiples of 4 epx</a:t>
            </a:r>
            <a:endParaRPr/>
          </a:p>
        </p:txBody>
      </p:sp>
      <p:sp>
        <p:nvSpPr>
          <p:cNvPr id="98" name="Google Shape;98;g307e6cd4e9e_0_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9" name="Google Shape;99;g307e6cd4e9e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1352" y="1973900"/>
            <a:ext cx="5769000" cy="294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7e6cd4e9e_0_39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Responsive design techniques</a:t>
            </a:r>
            <a:endParaRPr/>
          </a:p>
        </p:txBody>
      </p:sp>
      <p:sp>
        <p:nvSpPr>
          <p:cNvPr id="105" name="Google Shape;105;g307e6cd4e9e_0_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g307e6cd4e9e_0_39"/>
          <p:cNvSpPr txBox="1"/>
          <p:nvPr/>
        </p:nvSpPr>
        <p:spPr>
          <a:xfrm>
            <a:off x="2303200" y="4362425"/>
            <a:ext cx="431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Responsive design techniques - Windows apps | Microsoft Learn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7e6cd4e9e_0_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g307e6cd4e9e_0_5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Reposition</a:t>
            </a:r>
            <a:endParaRPr/>
          </a:p>
        </p:txBody>
      </p:sp>
      <p:pic>
        <p:nvPicPr>
          <p:cNvPr id="113" name="Google Shape;113;g307e6cd4e9e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00" y="1340975"/>
            <a:ext cx="4210776" cy="2639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" name="Google Shape;114;g307e6cd4e9e_0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8626" y="940400"/>
            <a:ext cx="1812490" cy="361591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089a3bb7a5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g3089a3bb7a5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VisualState &gt; StateTrigger (inside a Grid &gt; </a:t>
            </a:r>
            <a:r>
              <a:rPr b="1" lang="en"/>
              <a:t>Page</a:t>
            </a:r>
            <a:r>
              <a:rPr lang="en"/>
              <a:t>)</a:t>
            </a:r>
            <a:endParaRPr/>
          </a:p>
        </p:txBody>
      </p:sp>
      <p:pic>
        <p:nvPicPr>
          <p:cNvPr id="121" name="Google Shape;121;g3089a3bb7a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7820025" cy="3752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7e6cd4e9e_0_9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Resize</a:t>
            </a:r>
            <a:endParaRPr/>
          </a:p>
        </p:txBody>
      </p:sp>
      <p:sp>
        <p:nvSpPr>
          <p:cNvPr id="127" name="Google Shape;127;g307e6cd4e9e_0_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g307e6cd4e9e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775" y="985950"/>
            <a:ext cx="4373750" cy="2529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9" name="Google Shape;129;g307e6cd4e9e_0_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7800" y="940425"/>
            <a:ext cx="1776398" cy="361591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" name="Google Shape;130;g307e6cd4e9e_0_90"/>
          <p:cNvSpPr txBox="1"/>
          <p:nvPr>
            <p:ph idx="1" type="body"/>
          </p:nvPr>
        </p:nvSpPr>
        <p:spPr>
          <a:xfrm>
            <a:off x="141300" y="3606825"/>
            <a:ext cx="6158400" cy="14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</a:t>
            </a:r>
            <a:r>
              <a:rPr lang="en"/>
              <a:t>ugment the reading experience on a larger screen by simply growing the content frame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07e6cd4e9e_0_8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Reflow</a:t>
            </a:r>
            <a:endParaRPr/>
          </a:p>
        </p:txBody>
      </p:sp>
      <p:sp>
        <p:nvSpPr>
          <p:cNvPr id="136" name="Google Shape;136;g307e6cd4e9e_0_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g307e6cd4e9e_0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325" y="904000"/>
            <a:ext cx="5233674" cy="3039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8" name="Google Shape;138;g307e6cd4e9e_0_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9524" y="904000"/>
            <a:ext cx="1816953" cy="361591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" name="Google Shape;139;g307e6cd4e9e_0_82"/>
          <p:cNvSpPr txBox="1"/>
          <p:nvPr>
            <p:ph idx="1" type="body"/>
          </p:nvPr>
        </p:nvSpPr>
        <p:spPr>
          <a:xfrm>
            <a:off x="141300" y="4007375"/>
            <a:ext cx="5748600" cy="11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L</a:t>
            </a:r>
            <a:r>
              <a:rPr lang="en"/>
              <a:t>arger screen -&gt; more columns, larger containers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7e6cd4e9e_0_5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Show/Hide</a:t>
            </a:r>
            <a:endParaRPr/>
          </a:p>
        </p:txBody>
      </p:sp>
      <p:sp>
        <p:nvSpPr>
          <p:cNvPr id="145" name="Google Shape;145;g307e6cd4e9e_0_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g307e6cd4e9e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0875" y="967725"/>
            <a:ext cx="2428875" cy="384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" name="Google Shape;147;g307e6cd4e9e_0_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725" y="1122500"/>
            <a:ext cx="5682476" cy="328466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07e6cd4e9e_0_6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Replace</a:t>
            </a:r>
            <a:endParaRPr/>
          </a:p>
        </p:txBody>
      </p:sp>
      <p:sp>
        <p:nvSpPr>
          <p:cNvPr id="153" name="Google Shape;153;g307e6cd4e9e_0_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4" name="Google Shape;154;g307e6cd4e9e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9275" y="1003175"/>
            <a:ext cx="1866900" cy="3829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g307e6cd4e9e_0_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825" y="929423"/>
            <a:ext cx="4699775" cy="2716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" name="Google Shape;156;g307e6cd4e9e_0_64"/>
          <p:cNvSpPr txBox="1"/>
          <p:nvPr>
            <p:ph idx="1" type="body"/>
          </p:nvPr>
        </p:nvSpPr>
        <p:spPr>
          <a:xfrm>
            <a:off x="141300" y="3832975"/>
            <a:ext cx="89322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NavigationView</a:t>
            </a:r>
            <a:r>
              <a:rPr lang="en"/>
              <a:t>: set pane to top or left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7e6cd4e9e_0_7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Re-architect</a:t>
            </a:r>
            <a:endParaRPr/>
          </a:p>
        </p:txBody>
      </p:sp>
      <p:sp>
        <p:nvSpPr>
          <p:cNvPr id="162" name="Google Shape;162;g307e6cd4e9e_0_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3" name="Google Shape;163;g307e6cd4e9e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450" y="982563"/>
            <a:ext cx="4597524" cy="263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4" name="Google Shape;164;g307e6cd4e9e_0_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2199" y="982563"/>
            <a:ext cx="1807958" cy="361591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" name="Google Shape;165;g307e6cd4e9e_0_70"/>
          <p:cNvSpPr txBox="1"/>
          <p:nvPr>
            <p:ph idx="1" type="body"/>
          </p:nvPr>
        </p:nvSpPr>
        <p:spPr>
          <a:xfrm>
            <a:off x="141300" y="3852625"/>
            <a:ext cx="5275200" cy="12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</a:t>
            </a:r>
            <a:r>
              <a:rPr lang="en"/>
              <a:t>xpanding the window shows the entire list/details pattern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07e6cd4e9e_0_107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panels</a:t>
            </a:r>
            <a:endParaRPr/>
          </a:p>
        </p:txBody>
      </p:sp>
      <p:sp>
        <p:nvSpPr>
          <p:cNvPr id="171" name="Google Shape;171;g307e6cd4e9e_0_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g307e6cd4e9e_0_107"/>
          <p:cNvSpPr txBox="1"/>
          <p:nvPr/>
        </p:nvSpPr>
        <p:spPr>
          <a:xfrm>
            <a:off x="2346150" y="4309225"/>
            <a:ext cx="445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Layout panels for Windows apps - Windows apps | Microsoft Learn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7e6cd4e9e_0_12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"/>
              <a:t>Canvas - Absolute positions</a:t>
            </a:r>
            <a:endParaRPr/>
          </a:p>
        </p:txBody>
      </p:sp>
      <p:sp>
        <p:nvSpPr>
          <p:cNvPr id="178" name="Google Shape;178;g307e6cd4e9e_0_12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"/>
              <a:t>Index: Canvas.</a:t>
            </a:r>
            <a:r>
              <a:rPr lang="en">
                <a:solidFill>
                  <a:srgbClr val="FF0000"/>
                </a:solidFill>
              </a:rPr>
              <a:t>ZIndex</a:t>
            </a:r>
            <a:r>
              <a:rPr lang="en"/>
              <a:t>. Bigger number on top</a:t>
            </a:r>
            <a:endParaRPr/>
          </a:p>
        </p:txBody>
      </p:sp>
      <p:sp>
        <p:nvSpPr>
          <p:cNvPr id="179" name="Google Shape;179;g307e6cd4e9e_0_1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0" name="Google Shape;180;g307e6cd4e9e_0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4776" y="1527612"/>
            <a:ext cx="4195462" cy="979345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0"/>
              </a:srgbClr>
            </a:outerShdw>
          </a:effectLst>
        </p:spPr>
      </p:pic>
      <p:sp>
        <p:nvSpPr>
          <p:cNvPr id="181" name="Google Shape;181;g307e6cd4e9e_0_127"/>
          <p:cNvSpPr/>
          <p:nvPr/>
        </p:nvSpPr>
        <p:spPr>
          <a:xfrm>
            <a:off x="459677" y="1867269"/>
            <a:ext cx="2264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Attached properties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g307e6cd4e9e_0_127"/>
          <p:cNvCxnSpPr>
            <a:stCxn id="181" idx="3"/>
          </p:cNvCxnSpPr>
          <p:nvPr/>
        </p:nvCxnSpPr>
        <p:spPr>
          <a:xfrm>
            <a:off x="2723777" y="2017269"/>
            <a:ext cx="1662300" cy="600"/>
          </a:xfrm>
          <a:prstGeom prst="straightConnector1">
            <a:avLst/>
          </a:prstGeom>
          <a:noFill/>
          <a:ln cap="flat" cmpd="sng" w="114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83" name="Google Shape;183;g307e6cd4e9e_0_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896" y="2925617"/>
            <a:ext cx="4848833" cy="1521202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410"/>
              </a:srgbClr>
            </a:outerShdw>
          </a:effectLst>
        </p:spPr>
      </p:pic>
      <p:pic>
        <p:nvPicPr>
          <p:cNvPr id="184" name="Google Shape;184;g307e6cd4e9e_0_1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0577" y="3191137"/>
            <a:ext cx="1403211" cy="91421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07e6cd4e9e_0_127"/>
          <p:cNvSpPr/>
          <p:nvPr/>
        </p:nvSpPr>
        <p:spPr>
          <a:xfrm>
            <a:off x="3309589" y="3500745"/>
            <a:ext cx="2199000" cy="217200"/>
          </a:xfrm>
          <a:prstGeom prst="rect">
            <a:avLst/>
          </a:prstGeom>
          <a:solidFill>
            <a:srgbClr val="FF0000">
              <a:alpha val="3530"/>
            </a:srgbClr>
          </a:solidFill>
          <a:ln cap="flat" cmpd="sng" w="40000">
            <a:solidFill>
              <a:srgbClr val="FF000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07e6cd4e9e_0_127"/>
          <p:cNvSpPr/>
          <p:nvPr/>
        </p:nvSpPr>
        <p:spPr>
          <a:xfrm>
            <a:off x="975514" y="3120580"/>
            <a:ext cx="1232400" cy="217200"/>
          </a:xfrm>
          <a:prstGeom prst="rect">
            <a:avLst/>
          </a:prstGeom>
          <a:solidFill>
            <a:srgbClr val="FF0000">
              <a:alpha val="3530"/>
            </a:srgbClr>
          </a:solidFill>
          <a:ln cap="flat" cmpd="sng" w="40000">
            <a:solidFill>
              <a:srgbClr val="FF000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07e6cd4e9e_0_127"/>
          <p:cNvSpPr/>
          <p:nvPr/>
        </p:nvSpPr>
        <p:spPr>
          <a:xfrm>
            <a:off x="3731301" y="4067510"/>
            <a:ext cx="2045100" cy="217200"/>
          </a:xfrm>
          <a:prstGeom prst="rect">
            <a:avLst/>
          </a:prstGeom>
          <a:solidFill>
            <a:srgbClr val="FF0000">
              <a:alpha val="3530"/>
            </a:srgbClr>
          </a:solidFill>
          <a:ln cap="flat" cmpd="sng" w="40000">
            <a:solidFill>
              <a:srgbClr val="FF000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" name="Google Shape;188;g307e6cd4e9e_0_127"/>
          <p:cNvGrpSpPr/>
          <p:nvPr/>
        </p:nvGrpSpPr>
        <p:grpSpPr>
          <a:xfrm>
            <a:off x="4515169" y="4533428"/>
            <a:ext cx="1261086" cy="526175"/>
            <a:chOff x="2386940" y="5993749"/>
            <a:chExt cx="1261086" cy="701567"/>
          </a:xfrm>
        </p:grpSpPr>
        <p:sp>
          <p:nvSpPr>
            <p:cNvPr id="189" name="Google Shape;189;g307e6cd4e9e_0_127"/>
            <p:cNvSpPr/>
            <p:nvPr/>
          </p:nvSpPr>
          <p:spPr>
            <a:xfrm>
              <a:off x="2386940" y="6198919"/>
              <a:ext cx="473400" cy="4908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g307e6cd4e9e_0_127"/>
            <p:cNvSpPr/>
            <p:nvPr/>
          </p:nvSpPr>
          <p:spPr>
            <a:xfrm>
              <a:off x="3174626" y="6204516"/>
              <a:ext cx="473400" cy="4908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g307e6cd4e9e_0_127"/>
            <p:cNvSpPr/>
            <p:nvPr/>
          </p:nvSpPr>
          <p:spPr>
            <a:xfrm>
              <a:off x="2703180" y="5993749"/>
              <a:ext cx="606300" cy="57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g307e6cd4e9e_0_127"/>
          <p:cNvSpPr/>
          <p:nvPr/>
        </p:nvSpPr>
        <p:spPr>
          <a:xfrm>
            <a:off x="2974159" y="4446830"/>
            <a:ext cx="1492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Quiz: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08579fd680_1_1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StackPanel</a:t>
            </a:r>
            <a:endParaRPr/>
          </a:p>
        </p:txBody>
      </p:sp>
      <p:sp>
        <p:nvSpPr>
          <p:cNvPr id="198" name="Google Shape;198;g308579fd680_1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9" name="Google Shape;199;g308579fd680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7009325" cy="2458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0" name="Google Shape;200;g308579fd680_1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3800" y="999800"/>
            <a:ext cx="1657350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07e6cd4e9e_0_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g307e6cd4e9e_0_11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Panel border’s properties</a:t>
            </a:r>
            <a:endParaRPr/>
          </a:p>
        </p:txBody>
      </p:sp>
      <p:sp>
        <p:nvSpPr>
          <p:cNvPr id="207" name="Google Shape;207;g307e6cd4e9e_0_11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 RelativePanel, StackPanel, and Grid: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>
                <a:solidFill>
                  <a:schemeClr val="dk1"/>
                </a:solidFill>
              </a:rPr>
              <a:t>BorderThickness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BorderBrush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CornerRadius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Padding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</p:txBody>
      </p:sp>
      <p:pic>
        <p:nvPicPr>
          <p:cNvPr id="208" name="Google Shape;208;g307e6cd4e9e_0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9666" y="1727929"/>
            <a:ext cx="2495275" cy="19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07e6cd4e9e_0_1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RelativePanel</a:t>
            </a:r>
            <a:endParaRPr/>
          </a:p>
        </p:txBody>
      </p:sp>
      <p:sp>
        <p:nvSpPr>
          <p:cNvPr id="214" name="Google Shape;214;g307e6cd4e9e_0_121"/>
          <p:cNvSpPr txBox="1"/>
          <p:nvPr>
            <p:ph idx="1" type="body"/>
          </p:nvPr>
        </p:nvSpPr>
        <p:spPr>
          <a:xfrm>
            <a:off x="141300" y="3800125"/>
            <a:ext cx="8932200" cy="13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rearrange, use: VisualStateManager &amp; AdaptiveTrigger </a:t>
            </a:r>
            <a:endParaRPr/>
          </a:p>
        </p:txBody>
      </p:sp>
      <p:sp>
        <p:nvSpPr>
          <p:cNvPr id="215" name="Google Shape;215;g307e6cd4e9e_0_1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6" name="Google Shape;216;g307e6cd4e9e_0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88" y="913988"/>
            <a:ext cx="5972175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08579fd680_1_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RelativePanel Example</a:t>
            </a:r>
            <a:endParaRPr/>
          </a:p>
        </p:txBody>
      </p:sp>
      <p:sp>
        <p:nvSpPr>
          <p:cNvPr id="222" name="Google Shape;222;g308579fd680_1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3" name="Google Shape;223;g308579fd680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6423425" cy="4007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4" name="Google Shape;224;g308579fd680_1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9150" y="894900"/>
            <a:ext cx="1971675" cy="1704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08579fd680_1_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 =&gt; Table</a:t>
            </a:r>
            <a:endParaRPr/>
          </a:p>
        </p:txBody>
      </p:sp>
      <p:sp>
        <p:nvSpPr>
          <p:cNvPr id="230" name="Google Shape;230;g308579fd680_1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" name="Google Shape;231;g308579fd680_1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6540625" cy="3835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2" name="Google Shape;232;g308579fd680_1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6649" y="894900"/>
            <a:ext cx="1714500" cy="171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08579fd680_1_3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 Sizing</a:t>
            </a:r>
            <a:endParaRPr/>
          </a:p>
        </p:txBody>
      </p:sp>
      <p:sp>
        <p:nvSpPr>
          <p:cNvPr id="238" name="Google Shape;238;g308579fd680_1_3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9900FF"/>
                </a:solidFill>
              </a:rPr>
              <a:t>Auto</a:t>
            </a:r>
            <a:r>
              <a:rPr lang="en"/>
              <a:t>: UI elements resize to fit their </a:t>
            </a:r>
            <a:r>
              <a:rPr b="1" lang="en"/>
              <a:t>content </a:t>
            </a:r>
            <a:r>
              <a:rPr lang="en"/>
              <a:t>or parent container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>
                <a:solidFill>
                  <a:srgbClr val="9900FF"/>
                </a:solidFill>
              </a:rPr>
              <a:t>*</a:t>
            </a:r>
            <a:r>
              <a:rPr lang="en"/>
              <a:t>:  proportional sizing</a:t>
            </a:r>
            <a:endParaRPr/>
          </a:p>
        </p:txBody>
      </p:sp>
      <p:sp>
        <p:nvSpPr>
          <p:cNvPr id="239" name="Google Shape;239;g308579fd680_1_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08579fd680_1_4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VariableSizedWrapGrid</a:t>
            </a:r>
            <a:endParaRPr/>
          </a:p>
        </p:txBody>
      </p:sp>
      <p:sp>
        <p:nvSpPr>
          <p:cNvPr id="245" name="Google Shape;245;g308579fd680_1_41"/>
          <p:cNvSpPr txBox="1"/>
          <p:nvPr>
            <p:ph idx="1" type="body"/>
          </p:nvPr>
        </p:nvSpPr>
        <p:spPr>
          <a:xfrm>
            <a:off x="105900" y="9141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</a:t>
            </a:r>
            <a:r>
              <a:rPr lang="en"/>
              <a:t>ows or columns automatically </a:t>
            </a:r>
            <a:r>
              <a:rPr b="1" lang="en"/>
              <a:t>wrap to a new row</a:t>
            </a:r>
            <a:r>
              <a:rPr lang="en"/>
              <a:t> or column when the </a:t>
            </a:r>
            <a:r>
              <a:rPr b="1" lang="en"/>
              <a:t>MaximumRowsOrColumns </a:t>
            </a:r>
            <a:r>
              <a:rPr lang="en"/>
              <a:t>value is reached.</a:t>
            </a:r>
            <a:endParaRPr/>
          </a:p>
        </p:txBody>
      </p:sp>
      <p:sp>
        <p:nvSpPr>
          <p:cNvPr id="246" name="Google Shape;246;g308579fd680_1_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08579fd680_1_4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VariableSizedWrapGrid Example</a:t>
            </a:r>
            <a:endParaRPr/>
          </a:p>
        </p:txBody>
      </p:sp>
      <p:sp>
        <p:nvSpPr>
          <p:cNvPr id="252" name="Google Shape;252;g308579fd680_1_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3" name="Google Shape;253;g308579fd680_1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6856251" cy="2212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4" name="Google Shape;254;g308579fd680_1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59350"/>
            <a:ext cx="141922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08579fd680_1_5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Special-purpose panels </a:t>
            </a:r>
            <a:endParaRPr/>
          </a:p>
        </p:txBody>
      </p:sp>
      <p:sp>
        <p:nvSpPr>
          <p:cNvPr id="260" name="Google Shape;260;g308579fd680_1_5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/>
              <a:t>nly as an </a:t>
            </a:r>
            <a:r>
              <a:rPr b="1" lang="en">
                <a:solidFill>
                  <a:srgbClr val="9900FF"/>
                </a:solidFill>
              </a:rPr>
              <a:t>ItemsPanel </a:t>
            </a:r>
            <a:r>
              <a:rPr lang="en"/>
              <a:t>to display items in an </a:t>
            </a:r>
            <a:r>
              <a:rPr b="1" lang="en">
                <a:solidFill>
                  <a:srgbClr val="9900FF"/>
                </a:solidFill>
              </a:rPr>
              <a:t>ItemsControl</a:t>
            </a:r>
            <a:endParaRPr b="1">
              <a:solidFill>
                <a:srgbClr val="9900FF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ItemsStackPanel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ItemsWrapGrid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VirtualizingStackPanel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WrapGrid</a:t>
            </a:r>
            <a:endParaRPr/>
          </a:p>
        </p:txBody>
      </p:sp>
      <p:sp>
        <p:nvSpPr>
          <p:cNvPr id="261" name="Google Shape;261;g308579fd680_1_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f9c11ef033_4_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"/>
              <a:t>Inclass excersise</a:t>
            </a:r>
            <a:endParaRPr/>
          </a:p>
        </p:txBody>
      </p:sp>
      <p:sp>
        <p:nvSpPr>
          <p:cNvPr id="267" name="Google Shape;267;g2f9c11ef033_4_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">
                <a:solidFill>
                  <a:srgbClr val="FF0000"/>
                </a:solidFill>
              </a:rPr>
              <a:t>Write xaml code to create UI nearly like the image (80%)</a:t>
            </a:r>
            <a:endParaRPr/>
          </a:p>
          <a:p>
            <a:pPr indent="-457200" lvl="0" marL="45720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"/>
              <a:t>Hint: there are a lot of solutions</a:t>
            </a:r>
            <a:endParaRPr/>
          </a:p>
        </p:txBody>
      </p:sp>
      <p:sp>
        <p:nvSpPr>
          <p:cNvPr id="268" name="Google Shape;268;g2f9c11ef033_4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9" name="Google Shape;269;g2f9c11ef033_4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3203" y="2042305"/>
            <a:ext cx="4953986" cy="1586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2f9c11ef033_4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1896" y="3800344"/>
            <a:ext cx="3282078" cy="121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2f9c11ef033_4_6"/>
          <p:cNvSpPr/>
          <p:nvPr/>
        </p:nvSpPr>
        <p:spPr>
          <a:xfrm>
            <a:off x="113138" y="2208774"/>
            <a:ext cx="5358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2f9c11ef033_4_6"/>
          <p:cNvSpPr/>
          <p:nvPr/>
        </p:nvSpPr>
        <p:spPr>
          <a:xfrm>
            <a:off x="1925961" y="4050952"/>
            <a:ext cx="5358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2f9c11ef033_4_6"/>
          <p:cNvSpPr txBox="1"/>
          <p:nvPr/>
        </p:nvSpPr>
        <p:spPr>
          <a:xfrm>
            <a:off x="1536441" y="1872816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274" name="Google Shape;274;g2f9c11ef033_4_6"/>
          <p:cNvSpPr txBox="1"/>
          <p:nvPr/>
        </p:nvSpPr>
        <p:spPr>
          <a:xfrm>
            <a:off x="979715" y="2597004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400</a:t>
            </a:r>
            <a:endParaRPr/>
          </a:p>
        </p:txBody>
      </p:sp>
      <p:sp>
        <p:nvSpPr>
          <p:cNvPr id="275" name="Google Shape;275;g2f9c11ef033_4_6"/>
          <p:cNvSpPr txBox="1"/>
          <p:nvPr/>
        </p:nvSpPr>
        <p:spPr>
          <a:xfrm>
            <a:off x="4405888" y="3406817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276" name="Google Shape;276;g2f9c11ef033_4_6"/>
          <p:cNvSpPr txBox="1"/>
          <p:nvPr/>
        </p:nvSpPr>
        <p:spPr>
          <a:xfrm>
            <a:off x="5063558" y="2019533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/>
          </a:p>
        </p:txBody>
      </p:sp>
      <p:sp>
        <p:nvSpPr>
          <p:cNvPr id="277" name="Google Shape;277;g2f9c11ef033_4_6"/>
          <p:cNvSpPr txBox="1"/>
          <p:nvPr/>
        </p:nvSpPr>
        <p:spPr>
          <a:xfrm>
            <a:off x="5266883" y="3406816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/>
          </a:p>
        </p:txBody>
      </p:sp>
      <p:sp>
        <p:nvSpPr>
          <p:cNvPr id="278" name="Google Shape;278;g2f9c11ef033_4_6"/>
          <p:cNvSpPr txBox="1"/>
          <p:nvPr/>
        </p:nvSpPr>
        <p:spPr>
          <a:xfrm>
            <a:off x="2812219" y="3629297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/>
          </a:p>
        </p:txBody>
      </p:sp>
      <p:sp>
        <p:nvSpPr>
          <p:cNvPr id="279" name="Google Shape;279;g2f9c11ef033_4_6"/>
          <p:cNvSpPr txBox="1"/>
          <p:nvPr/>
        </p:nvSpPr>
        <p:spPr>
          <a:xfrm>
            <a:off x="4330588" y="4878271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400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f9c11ef033_4_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"/>
              <a:t>Exercises (cont)</a:t>
            </a:r>
            <a:endParaRPr/>
          </a:p>
        </p:txBody>
      </p:sp>
      <p:sp>
        <p:nvSpPr>
          <p:cNvPr id="285" name="Google Shape;285;g2f9c11ef033_4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6" name="Google Shape;286;g2f9c11ef033_4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419" y="1678507"/>
            <a:ext cx="5524917" cy="298472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2f9c11ef033_4_23"/>
          <p:cNvSpPr/>
          <p:nvPr/>
        </p:nvSpPr>
        <p:spPr>
          <a:xfrm>
            <a:off x="113138" y="2208774"/>
            <a:ext cx="5358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2f9c11ef033_4_23"/>
          <p:cNvSpPr txBox="1"/>
          <p:nvPr/>
        </p:nvSpPr>
        <p:spPr>
          <a:xfrm>
            <a:off x="1114048" y="1260543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60</a:t>
            </a:r>
            <a:endParaRPr/>
          </a:p>
        </p:txBody>
      </p:sp>
      <p:sp>
        <p:nvSpPr>
          <p:cNvPr id="289" name="Google Shape;289;g2f9c11ef033_4_23"/>
          <p:cNvSpPr txBox="1"/>
          <p:nvPr/>
        </p:nvSpPr>
        <p:spPr>
          <a:xfrm>
            <a:off x="628144" y="1518691"/>
            <a:ext cx="3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290" name="Google Shape;290;g2f9c11ef033_4_23"/>
          <p:cNvSpPr txBox="1"/>
          <p:nvPr/>
        </p:nvSpPr>
        <p:spPr>
          <a:xfrm>
            <a:off x="4330588" y="1321748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</a:t>
            </a:r>
            <a:endParaRPr/>
          </a:p>
        </p:txBody>
      </p:sp>
      <p:sp>
        <p:nvSpPr>
          <p:cNvPr id="291" name="Google Shape;291;g2f9c11ef033_4_23"/>
          <p:cNvSpPr txBox="1"/>
          <p:nvPr/>
        </p:nvSpPr>
        <p:spPr>
          <a:xfrm>
            <a:off x="3214025" y="348334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292" name="Google Shape;292;g2f9c11ef033_4_23"/>
          <p:cNvSpPr txBox="1"/>
          <p:nvPr/>
        </p:nvSpPr>
        <p:spPr>
          <a:xfrm>
            <a:off x="2041478" y="3088344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08579fd680_1_6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Inclass Exercise 4 - </a:t>
            </a:r>
            <a:r>
              <a:rPr lang="en"/>
              <a:t>Classic</a:t>
            </a:r>
            <a:r>
              <a:rPr lang="en"/>
              <a:t> layouts</a:t>
            </a:r>
            <a:endParaRPr/>
          </a:p>
        </p:txBody>
      </p:sp>
      <p:sp>
        <p:nvSpPr>
          <p:cNvPr id="298" name="Google Shape;298;g308579fd680_1_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9" name="Google Shape;299;g308579fd680_1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5133975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08579fd680_1_7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- Responsive design</a:t>
            </a:r>
            <a:endParaRPr/>
          </a:p>
        </p:txBody>
      </p:sp>
      <p:sp>
        <p:nvSpPr>
          <p:cNvPr id="305" name="Google Shape;305;g308579fd680_1_7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Settings</a:t>
            </a:r>
            <a:endParaRPr/>
          </a:p>
        </p:txBody>
      </p:sp>
      <p:sp>
        <p:nvSpPr>
          <p:cNvPr id="306" name="Google Shape;306;g308579fd680_1_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