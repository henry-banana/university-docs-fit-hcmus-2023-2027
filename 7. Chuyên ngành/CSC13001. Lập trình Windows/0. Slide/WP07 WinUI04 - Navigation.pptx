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EeG+DCdhyw3rNd52yIhlLmyVQ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277f607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277f607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277f6070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277f6070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277f6070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277f6070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964f5a7b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964f5a7b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dc72481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dc72481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dc72481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0dc72481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dc724817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dc724817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0dc724817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0dc724817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f03cbef4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0f03cbef4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dc7248176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dc724817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f03cbef4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0f03cbef4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0f03cbef4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0f03cbef4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f03cbef4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0f03cbef4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0f1154f8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0f1154f8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f1154f80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0f1154f80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0f0dac8c1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0f0dac8c1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0f0dac8c1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0f0dac8c1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0f1154f80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0f1154f80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0f1154f80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0f1154f80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0f1154f80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0f1154f80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f1154f80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0f1154f80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earn.microsoft.com/en-us/windows/apps/design/controls/navigationview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s://learn.microsoft.com/en-us/windows/apps/design/basics/navigate-between-two-pages?tabs=wasd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Navigation</a:t>
            </a:r>
            <a:endParaRPr sz="4400"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4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https://learn.microsoft.com/en-us/windows/apps/design/controls/navigationview</a:t>
            </a:r>
            <a:r>
              <a:rPr lang="en" sz="1400">
                <a:solidFill>
                  <a:schemeClr val="lt1"/>
                </a:solidFill>
              </a:rPr>
              <a:t> 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277f6070d_1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navigation</a:t>
            </a:r>
            <a:endParaRPr/>
          </a:p>
        </p:txBody>
      </p:sp>
      <p:sp>
        <p:nvSpPr>
          <p:cNvPr id="68" name="Google Shape;68;g33277f6070d_1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=&gt; </a:t>
            </a:r>
            <a:r>
              <a:rPr b="1" lang="en"/>
              <a:t>Activate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(Shell) =&gt; Frame as Container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Multiple Pages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Frame.</a:t>
            </a:r>
            <a:r>
              <a:rPr b="1" lang="en"/>
              <a:t>Navigate</a:t>
            </a:r>
            <a:r>
              <a:rPr lang="en"/>
              <a:t> (inside Pages)</a:t>
            </a:r>
            <a:endParaRPr/>
          </a:p>
        </p:txBody>
      </p:sp>
      <p:sp>
        <p:nvSpPr>
          <p:cNvPr id="69" name="Google Shape;69;g33277f6070d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277f6070d_1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</a:t>
            </a:r>
            <a:r>
              <a:rPr lang="en"/>
              <a:t> windows example</a:t>
            </a:r>
            <a:endParaRPr/>
          </a:p>
        </p:txBody>
      </p:sp>
      <p:sp>
        <p:nvSpPr>
          <p:cNvPr id="75" name="Google Shape;75;g33277f6070d_1_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Logi(Window) &gt; Dashboard (Window)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Activated: show </a:t>
            </a:r>
            <a:r>
              <a:rPr b="1" lang="en"/>
              <a:t>ProductsPage</a:t>
            </a:r>
            <a:r>
              <a:rPr lang="en"/>
              <a:t> &gt; </a:t>
            </a:r>
            <a:r>
              <a:rPr b="1" lang="en"/>
              <a:t>AddProductPage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GoBack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76" name="Google Shape;76;g33277f6070d_1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277f6070d_1_1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passing between windows &amp; pages</a:t>
            </a:r>
            <a:endParaRPr/>
          </a:p>
        </p:txBody>
      </p:sp>
      <p:sp>
        <p:nvSpPr>
          <p:cNvPr id="82" name="Google Shape;82;g33277f6070d_1_1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Constructor’s parameters</a:t>
            </a:r>
            <a:endParaRPr/>
          </a:p>
        </p:txBody>
      </p:sp>
      <p:sp>
        <p:nvSpPr>
          <p:cNvPr id="83" name="Google Shape;83;g33277f6070d_1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964f5a7bf4_0_0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Basic 2 Pages</a:t>
            </a:r>
            <a:endParaRPr/>
          </a:p>
        </p:txBody>
      </p:sp>
      <p:sp>
        <p:nvSpPr>
          <p:cNvPr id="89" name="Google Shape;89;g2964f5a7b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g2964f5a7bf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25" y="194650"/>
            <a:ext cx="1539200" cy="914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" name="Google Shape;91;g2964f5a7bf4_0_0"/>
          <p:cNvSpPr txBox="1"/>
          <p:nvPr/>
        </p:nvSpPr>
        <p:spPr>
          <a:xfrm>
            <a:off x="1703738" y="4271400"/>
            <a:ext cx="5243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Peer-to-peer navigation between two pages - Windows apps | Microsoft Learn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dc7248176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ideas</a:t>
            </a:r>
            <a:endParaRPr/>
          </a:p>
        </p:txBody>
      </p:sp>
      <p:sp>
        <p:nvSpPr>
          <p:cNvPr id="97" name="Google Shape;97;g30dc7248176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Use </a:t>
            </a:r>
            <a:r>
              <a:rPr b="1" lang="en">
                <a:solidFill>
                  <a:srgbClr val="0000FF"/>
                </a:solidFill>
              </a:rPr>
              <a:t>Frame </a:t>
            </a:r>
            <a:r>
              <a:rPr lang="en"/>
              <a:t>to navigate between </a:t>
            </a:r>
            <a:r>
              <a:rPr b="1" lang="en">
                <a:solidFill>
                  <a:srgbClr val="0000FF"/>
                </a:solidFill>
              </a:rPr>
              <a:t>Page</a:t>
            </a:r>
            <a:r>
              <a:rPr lang="en"/>
              <a:t>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N</a:t>
            </a:r>
            <a:r>
              <a:rPr lang="en"/>
              <a:t>avigation methods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2000"/>
              <a:buAutoNum type="alphaLcPeriod"/>
            </a:pPr>
            <a:r>
              <a:rPr b="1" lang="en">
                <a:solidFill>
                  <a:srgbClr val="9900FF"/>
                </a:solidFill>
              </a:rPr>
              <a:t>Navigate</a:t>
            </a:r>
            <a:endParaRPr b="1">
              <a:solidFill>
                <a:srgbClr val="9900FF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"/>
              <a:t>GoBack / GoForward</a:t>
            </a:r>
            <a:endParaRPr b="1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Properties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BackStack / ForwardStack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BackStackDepth</a:t>
            </a:r>
            <a:endParaRPr/>
          </a:p>
        </p:txBody>
      </p:sp>
      <p:sp>
        <p:nvSpPr>
          <p:cNvPr id="98" name="Google Shape;98;g30dc7248176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dc7248176_0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Enable navigation - App.xaml.cs</a:t>
            </a:r>
            <a:endParaRPr/>
          </a:p>
        </p:txBody>
      </p:sp>
      <p:sp>
        <p:nvSpPr>
          <p:cNvPr id="104" name="Google Shape;104;g30dc7248176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g30dc7248176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839200" cy="268376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dc7248176_0_1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Navigate to another Page using string</a:t>
            </a:r>
            <a:endParaRPr/>
          </a:p>
        </p:txBody>
      </p:sp>
      <p:sp>
        <p:nvSpPr>
          <p:cNvPr id="111" name="Google Shape;111;g30dc7248176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g30dc7248176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167658" cy="146383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" name="Google Shape;113;g30dc7248176_0_12"/>
          <p:cNvSpPr txBox="1"/>
          <p:nvPr>
            <p:ph idx="1" type="body"/>
          </p:nvPr>
        </p:nvSpPr>
        <p:spPr>
          <a:xfrm>
            <a:off x="141300" y="2696475"/>
            <a:ext cx="8932200" cy="24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ideas: </a:t>
            </a:r>
            <a:r>
              <a:rPr b="1" lang="en">
                <a:solidFill>
                  <a:srgbClr val="38761D"/>
                </a:solidFill>
              </a:rPr>
              <a:t>Using full namespace name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example: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base namespace is “</a:t>
            </a:r>
            <a:r>
              <a:rPr lang="en">
                <a:solidFill>
                  <a:srgbClr val="FF0000"/>
                </a:solidFill>
              </a:rPr>
              <a:t>MyProject</a:t>
            </a:r>
            <a:r>
              <a:rPr lang="en"/>
              <a:t>”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the full name of the Page </a:t>
            </a:r>
            <a:r>
              <a:rPr lang="en">
                <a:solidFill>
                  <a:srgbClr val="0000FF"/>
                </a:solidFill>
              </a:rPr>
              <a:t>MainPage </a:t>
            </a:r>
            <a:r>
              <a:rPr lang="en"/>
              <a:t>is 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>
                <a:solidFill>
                  <a:srgbClr val="FF0000"/>
                </a:solidFill>
              </a:rPr>
              <a:t>MyProject</a:t>
            </a:r>
            <a:r>
              <a:rPr lang="en"/>
              <a:t>.</a:t>
            </a:r>
            <a:r>
              <a:rPr lang="en">
                <a:solidFill>
                  <a:srgbClr val="0000FF"/>
                </a:solidFill>
              </a:rPr>
              <a:t>Mainpage</a:t>
            </a:r>
            <a:r>
              <a:rPr lang="en"/>
              <a:t>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dc7248176_0_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the MainPage</a:t>
            </a:r>
            <a:endParaRPr/>
          </a:p>
        </p:txBody>
      </p:sp>
      <p:sp>
        <p:nvSpPr>
          <p:cNvPr id="119" name="Google Shape;119;g30dc7248176_0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g30dc7248176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375" y="2755650"/>
            <a:ext cx="5971826" cy="1907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g30dc7248176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94900"/>
            <a:ext cx="1350973" cy="11978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" name="Google Shape;122;g30dc7248176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5773" y="894900"/>
            <a:ext cx="5672057" cy="1708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0f03cbef44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4500" y="1700938"/>
            <a:ext cx="7419975" cy="3295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" name="Google Shape;128;g30f03cbef44_0_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the EditPage</a:t>
            </a:r>
            <a:endParaRPr/>
          </a:p>
        </p:txBody>
      </p:sp>
      <p:sp>
        <p:nvSpPr>
          <p:cNvPr id="129" name="Google Shape;129;g30f03cbef44_0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g30f03cbef44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300" y="914400"/>
            <a:ext cx="1885950" cy="133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dc7248176_1_1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data to another Page - Basic ideas</a:t>
            </a:r>
            <a:endParaRPr/>
          </a:p>
        </p:txBody>
      </p:sp>
      <p:sp>
        <p:nvSpPr>
          <p:cNvPr id="136" name="Google Shape;136;g30dc7248176_1_1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Use the </a:t>
            </a:r>
            <a:r>
              <a:rPr lang="en">
                <a:solidFill>
                  <a:srgbClr val="9900FF"/>
                </a:solidFill>
              </a:rPr>
              <a:t>second parameter</a:t>
            </a:r>
            <a:r>
              <a:rPr lang="en"/>
              <a:t> of the function </a:t>
            </a:r>
            <a:r>
              <a:rPr b="1" lang="en">
                <a:solidFill>
                  <a:srgbClr val="0000FF"/>
                </a:solidFill>
              </a:rPr>
              <a:t>Navigate</a:t>
            </a:r>
            <a:endParaRPr b="1">
              <a:solidFill>
                <a:srgbClr val="00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 the destination page, handle </a:t>
            </a:r>
            <a:r>
              <a:rPr lang="en">
                <a:solidFill>
                  <a:srgbClr val="9900FF"/>
                </a:solidFill>
              </a:rPr>
              <a:t>OnNavigatedTo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37" name="Google Shape;137;g30dc7248176_1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g30dc7248176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13" y="2005000"/>
            <a:ext cx="6086475" cy="1133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g30dc7248176_1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25" y="3295650"/>
            <a:ext cx="6515100" cy="148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f03cbef44_0_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flow (not good)</a:t>
            </a:r>
            <a:endParaRPr/>
          </a:p>
        </p:txBody>
      </p:sp>
      <p:sp>
        <p:nvSpPr>
          <p:cNvPr id="145" name="Google Shape;145;g30f03cbef44_0_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g30f03cbef44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975" y="933013"/>
            <a:ext cx="1609725" cy="1247775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g30f03cbef44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0675" y="933000"/>
            <a:ext cx="2190750" cy="1466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8" name="Google Shape;148;g30f03cbef44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4725" y="3377350"/>
            <a:ext cx="1362075" cy="1181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9" name="Google Shape;149;g30f03cbef44_0_19"/>
          <p:cNvCxnSpPr/>
          <p:nvPr/>
        </p:nvCxnSpPr>
        <p:spPr>
          <a:xfrm>
            <a:off x="6781800" y="2257425"/>
            <a:ext cx="857400" cy="100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0" name="Google Shape;150;g30f03cbef44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175" y="966338"/>
            <a:ext cx="1362075" cy="1181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51" name="Google Shape;151;g30f03cbef44_0_19"/>
          <p:cNvCxnSpPr/>
          <p:nvPr/>
        </p:nvCxnSpPr>
        <p:spPr>
          <a:xfrm>
            <a:off x="1819275" y="1571625"/>
            <a:ext cx="86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g30f03cbef44_0_19"/>
          <p:cNvCxnSpPr/>
          <p:nvPr/>
        </p:nvCxnSpPr>
        <p:spPr>
          <a:xfrm>
            <a:off x="4619625" y="1600200"/>
            <a:ext cx="58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g30f03cbef44_0_19"/>
          <p:cNvSpPr txBox="1"/>
          <p:nvPr/>
        </p:nvSpPr>
        <p:spPr>
          <a:xfrm>
            <a:off x="2409825" y="3505200"/>
            <a:ext cx="31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We should see that</a:t>
            </a:r>
            <a:r>
              <a:rPr lang="en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, not this</a:t>
            </a:r>
            <a:endParaRPr sz="18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" name="Google Shape;154;g30f03cbef44_0_19"/>
          <p:cNvCxnSpPr/>
          <p:nvPr/>
        </p:nvCxnSpPr>
        <p:spPr>
          <a:xfrm>
            <a:off x="5529225" y="3742950"/>
            <a:ext cx="1586100" cy="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g30f03cbef44_0_19"/>
          <p:cNvCxnSpPr/>
          <p:nvPr/>
        </p:nvCxnSpPr>
        <p:spPr>
          <a:xfrm flipH="1" rot="10800000">
            <a:off x="3533775" y="2352750"/>
            <a:ext cx="9600" cy="10953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f03cbef44_0_3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data back &amp; forth</a:t>
            </a:r>
            <a:endParaRPr/>
          </a:p>
        </p:txBody>
      </p:sp>
      <p:sp>
        <p:nvSpPr>
          <p:cNvPr id="161" name="Google Shape;161;g30f03cbef44_0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g30f03cbef44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7107562" cy="409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f03cbef44_0_4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passing an object rather than a string?</a:t>
            </a:r>
            <a:endParaRPr/>
          </a:p>
        </p:txBody>
      </p:sp>
      <p:sp>
        <p:nvSpPr>
          <p:cNvPr id="168" name="Google Shape;168;g30f03cbef44_0_4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Problem?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Solution: IClonable</a:t>
            </a:r>
            <a:endParaRPr/>
          </a:p>
        </p:txBody>
      </p:sp>
      <p:sp>
        <p:nvSpPr>
          <p:cNvPr id="169" name="Google Shape;169;g30f03cbef44_0_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f1154f804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the Employee class Cloneable</a:t>
            </a:r>
            <a:endParaRPr/>
          </a:p>
        </p:txBody>
      </p:sp>
      <p:sp>
        <p:nvSpPr>
          <p:cNvPr id="175" name="Google Shape;175;g30f1154f80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6" name="Google Shape;176;g30f1154f80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782852" cy="40961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0f1154f804_0_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Store for later retrieval</a:t>
            </a:r>
            <a:endParaRPr/>
          </a:p>
        </p:txBody>
      </p:sp>
      <p:sp>
        <p:nvSpPr>
          <p:cNvPr id="182" name="Google Shape;182;g30f1154f804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g30f1154f804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7210425" cy="4029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0f0dac8c10_0_2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NavigationView</a:t>
            </a:r>
            <a:endParaRPr/>
          </a:p>
        </p:txBody>
      </p:sp>
      <p:sp>
        <p:nvSpPr>
          <p:cNvPr id="189" name="Google Shape;189;g30f0dac8c10_0_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0f0dac8c10_0_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NavigationView</a:t>
            </a:r>
            <a:endParaRPr/>
          </a:p>
        </p:txBody>
      </p:sp>
      <p:sp>
        <p:nvSpPr>
          <p:cNvPr id="195" name="Google Shape;195;g30f0dac8c10_0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" name="Google Shape;196;g30f0dac8c1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591300" cy="1581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7" name="Google Shape;197;g30f0dac8c10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28450"/>
            <a:ext cx="5452667" cy="2362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f1154f804_0_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NavigationView_SelectionChanged</a:t>
            </a:r>
            <a:endParaRPr/>
          </a:p>
        </p:txBody>
      </p:sp>
      <p:sp>
        <p:nvSpPr>
          <p:cNvPr id="203" name="Google Shape;203;g30f1154f804_0_1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Extract the Page name from Tag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Create type from the Page name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Navigate using Frame</a:t>
            </a:r>
            <a:endParaRPr/>
          </a:p>
        </p:txBody>
      </p:sp>
      <p:sp>
        <p:nvSpPr>
          <p:cNvPr id="204" name="Google Shape;204;g30f1154f804_0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f1154f804_0_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PaneDisplayMode="Top"</a:t>
            </a:r>
            <a:endParaRPr/>
          </a:p>
        </p:txBody>
      </p:sp>
      <p:sp>
        <p:nvSpPr>
          <p:cNvPr id="210" name="Google Shape;210;g30f1154f804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g30f1154f804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25" y="1052413"/>
            <a:ext cx="6191250" cy="3248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f1154f804_0_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 panes based on window’s width</a:t>
            </a:r>
            <a:endParaRPr/>
          </a:p>
        </p:txBody>
      </p:sp>
      <p:sp>
        <p:nvSpPr>
          <p:cNvPr id="217" name="Google Shape;217;g30f1154f804_0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8" name="Google Shape;218;g30f1154f804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763474" cy="2625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f1154f804_0_3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Footer menu items</a:t>
            </a:r>
            <a:endParaRPr/>
          </a:p>
        </p:txBody>
      </p:sp>
      <p:sp>
        <p:nvSpPr>
          <p:cNvPr id="224" name="Google Shape;224;g30f1154f804_0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5" name="Google Shape;225;g30f1154f804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951825"/>
            <a:ext cx="1552375" cy="3956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6" name="Google Shape;226;g30f1154f804_0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6075" y="951825"/>
            <a:ext cx="5943600" cy="895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