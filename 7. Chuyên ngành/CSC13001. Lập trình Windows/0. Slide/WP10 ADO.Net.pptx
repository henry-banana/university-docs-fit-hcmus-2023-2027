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9144000"/>
  <p:notesSz cx="9144000" cy="6858000"/>
  <p:embeddedFontLst>
    <p:embeddedFont>
      <p:font typeface="Quattrocento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jMlwSnbon7rilMNYT27i13U7rq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QuattrocentoSans-bold.fntdata"/><Relationship Id="rId12" Type="http://schemas.openxmlformats.org/officeDocument/2006/relationships/slide" Target="slides/slide7.xml"/><Relationship Id="rId56" Type="http://schemas.openxmlformats.org/officeDocument/2006/relationships/font" Target="fonts/QuattrocentoSans-regular.fntdata"/><Relationship Id="rId15" Type="http://schemas.openxmlformats.org/officeDocument/2006/relationships/slide" Target="slides/slide10.xml"/><Relationship Id="rId59" Type="http://schemas.openxmlformats.org/officeDocument/2006/relationships/font" Target="fonts/QuattrocentoSans-boldItalic.fntdata"/><Relationship Id="rId14" Type="http://schemas.openxmlformats.org/officeDocument/2006/relationships/slide" Target="slides/slide9.xml"/><Relationship Id="rId58" Type="http://schemas.openxmlformats.org/officeDocument/2006/relationships/font" Target="fonts/Quattrocento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a4f0fe4a2a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a4f0fe4a2a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1a4f0fe4a2a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a4f0fe4a2a_0_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a4f0fe4a2a_0_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1a4f0fe4a2a_0_7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09d5c3b0b2_0_32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09d5c3b0b2_0_32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587a47c5f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587a47c5f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3587a47c5f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65a6ac92a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65a6ac92a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465a6ac92a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09d5c3b0b2_0_19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09d5c3b0b2_0_19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209d5c3b0b2_0_19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4ac0cea4ac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4ac0cea4ac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24ac0cea4ac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4ac0cea538_1_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24ac0cea538_1_8:notes"/>
          <p:cNvSpPr/>
          <p:nvPr>
            <p:ph idx="2" type="sldImg"/>
          </p:nvPr>
        </p:nvSpPr>
        <p:spPr>
          <a:xfrm>
            <a:off x="1524400" y="514350"/>
            <a:ext cx="6096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3587a47c5f_0_8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3587a47c5f_0_8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3587a47c5f_0_8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587a47c5f_0_16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3587a47c5f_0_1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3587a47c5f_0_16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587a47c5f_0_24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3587a47c5f_0_24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3587a47c5f_0_24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:notes"/>
          <p:cNvSpPr txBox="1"/>
          <p:nvPr>
            <p:ph idx="12" type="sldNum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0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1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1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3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5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3587a47c5f_0_32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3587a47c5f_0_32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3587a47c5f_0_32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7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8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9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2b4a5d3612_0_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2b4a5d3612_0_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22b4a5d3612_0_7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2849228beb_0_12:notes"/>
          <p:cNvSpPr/>
          <p:nvPr>
            <p:ph idx="2" type="sldImg"/>
          </p:nvPr>
        </p:nvSpPr>
        <p:spPr>
          <a:xfrm>
            <a:off x="1524400" y="514350"/>
            <a:ext cx="6096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22849228beb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2a9a045e75_1_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2a9a045e75_1_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22a9a045e75_1_7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4ac0cea4ac_0_26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4ac0cea4ac_0_2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24ac0cea4ac_0_26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4ac0cea4ac_0_4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4ac0cea4ac_0_4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24ac0cea4ac_0_4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35d6121e41_0_8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35d6121e41_0_8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35d6121e41_0_8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35d6121e41_0_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35d6121e41_0_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35d6121e41_0_0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35d6121e41_0_15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35d6121e41_0_15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35d6121e41_0_15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35d6121e41_0_23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35d6121e41_0_23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35d6121e41_0_23:notes"/>
          <p:cNvSpPr txBox="1"/>
          <p:nvPr>
            <p:ph idx="12" type="sldNum"/>
          </p:nvPr>
        </p:nvSpPr>
        <p:spPr>
          <a:xfrm>
            <a:off x="5180013" y="6513513"/>
            <a:ext cx="39624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694705"/>
            <a:ext cx="91440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 b="0" u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2"/>
          <p:cNvSpPr txBox="1"/>
          <p:nvPr>
            <p:ph idx="1" type="subTitle"/>
          </p:nvPr>
        </p:nvSpPr>
        <p:spPr>
          <a:xfrm>
            <a:off x="1397794" y="42179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u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52"/>
          <p:cNvSpPr/>
          <p:nvPr/>
        </p:nvSpPr>
        <p:spPr>
          <a:xfrm rot="-5400000">
            <a:off x="7873492" y="5587492"/>
            <a:ext cx="1271016" cy="1270000"/>
          </a:xfrm>
          <a:prstGeom prst="rtTriangl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52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"/>
            <a:ext cx="9144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b="0" sz="54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rgbClr val="C4BD97"/>
              </a:buClr>
              <a:buSzPts val="2400"/>
              <a:buFont typeface="Noto Sans Symbols"/>
              <a:buChar char="▪"/>
              <a:defRPr sz="24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algn="r">
              <a:spcBef>
                <a:spcPts val="0"/>
              </a:spcBef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53"/>
          <p:cNvSpPr/>
          <p:nvPr/>
        </p:nvSpPr>
        <p:spPr>
          <a:xfrm rot="-3654751">
            <a:off x="3125207" y="-2450268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3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400" y="1694705"/>
            <a:ext cx="7962900" cy="234146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4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53060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5"/>
          <p:cNvSpPr txBox="1"/>
          <p:nvPr>
            <p:ph type="title"/>
          </p:nvPr>
        </p:nvSpPr>
        <p:spPr>
          <a:xfrm>
            <a:off x="584200" y="25225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5"/>
          <p:cNvSpPr/>
          <p:nvPr/>
        </p:nvSpPr>
        <p:spPr>
          <a:xfrm rot="-3654751">
            <a:off x="1611729" y="686067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6"/>
          <p:cNvSpPr txBox="1"/>
          <p:nvPr>
            <p:ph type="title"/>
          </p:nvPr>
        </p:nvSpPr>
        <p:spPr>
          <a:xfrm>
            <a:off x="584200" y="31448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6"/>
          <p:cNvSpPr/>
          <p:nvPr/>
        </p:nvSpPr>
        <p:spPr>
          <a:xfrm rot="-3654751">
            <a:off x="2934706" y="-1031464"/>
            <a:ext cx="2251314" cy="10976464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405" y="1489809"/>
            <a:ext cx="5988167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7"/>
          <p:cNvSpPr/>
          <p:nvPr/>
        </p:nvSpPr>
        <p:spPr>
          <a:xfrm rot="-3654751">
            <a:off x="1579444" y="130908"/>
            <a:ext cx="2251314" cy="7188200"/>
          </a:xfrm>
          <a:prstGeom prst="moon">
            <a:avLst>
              <a:gd fmla="val 50000" name="adj"/>
            </a:avLst>
          </a:prstGeom>
          <a:solidFill>
            <a:schemeClr val="lt1">
              <a:alpha val="1568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7"/>
          <p:cNvSpPr txBox="1"/>
          <p:nvPr>
            <p:ph type="title"/>
          </p:nvPr>
        </p:nvSpPr>
        <p:spPr>
          <a:xfrm>
            <a:off x="117828" y="2582009"/>
            <a:ext cx="5575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6200" y="0"/>
            <a:ext cx="1447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8" name="Google Shape;48;p5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9" name="Google Shape;49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5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5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5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849228beb_0_90"/>
          <p:cNvSpPr/>
          <p:nvPr/>
        </p:nvSpPr>
        <p:spPr>
          <a:xfrm>
            <a:off x="-20250" y="0"/>
            <a:ext cx="9184500" cy="1047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2849228beb_0_90"/>
          <p:cNvSpPr txBox="1"/>
          <p:nvPr>
            <p:ph type="title"/>
          </p:nvPr>
        </p:nvSpPr>
        <p:spPr>
          <a:xfrm>
            <a:off x="141300" y="0"/>
            <a:ext cx="9012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g22849228beb_0_90"/>
          <p:cNvSpPr txBox="1"/>
          <p:nvPr>
            <p:ph idx="1" type="body"/>
          </p:nvPr>
        </p:nvSpPr>
        <p:spPr>
          <a:xfrm>
            <a:off x="141300" y="1218667"/>
            <a:ext cx="8932200" cy="56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9" name="Google Shape;69;g22849228beb_0_90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-US" sz="6600"/>
              <a:t>ADO.Net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Tổng quan về ADO.Net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Connected model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Giới thiệu ADO.Net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Các công nghệ cũ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ODBC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OLEDB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ActiveX Data Object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ADO.Net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Dùng cho môi trường .Net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Là một phần của .Net Framework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Các lớp chứa trong </a:t>
            </a:r>
            <a:r>
              <a:rPr b="1" lang="en-US"/>
              <a:t>System.Data.dll</a:t>
            </a:r>
            <a:endParaRPr/>
          </a:p>
        </p:txBody>
      </p:sp>
      <p:sp>
        <p:nvSpPr>
          <p:cNvPr id="87" name="Google Shape;87;p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Các loại CSDL quan tâm</a:t>
            </a:r>
            <a:endParaRPr/>
          </a:p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XML / json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SQL Server</a:t>
            </a:r>
            <a:endParaRPr/>
          </a:p>
          <a:p>
            <a:pPr indent="-2794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Ngoài ra còn có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Excel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Oracle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MySQL / MariaDB / Postgres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SQLite </a:t>
            </a:r>
            <a:endParaRPr/>
          </a:p>
        </p:txBody>
      </p:sp>
      <p:sp>
        <p:nvSpPr>
          <p:cNvPr id="94" name="Google Shape;94;p4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724055" y="1994569"/>
            <a:ext cx="52634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5B8B7"/>
                </a:solidFill>
                <a:latin typeface="Calibri"/>
                <a:ea typeface="Calibri"/>
                <a:cs typeface="Calibri"/>
                <a:sym typeface="Calibri"/>
              </a:rPr>
              <a:t>Tại sao lại là các CSDL này?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975805" y="3340085"/>
            <a:ext cx="4942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5B8B7"/>
                </a:solidFill>
                <a:latin typeface="Calibri"/>
                <a:ea typeface="Calibri"/>
                <a:cs typeface="Calibri"/>
                <a:sym typeface="Calibri"/>
              </a:rPr>
              <a:t>Tại sao lại phải quan tâm thêm những cái này?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918297" y="2140085"/>
            <a:ext cx="583660" cy="500815"/>
          </a:xfrm>
          <a:prstGeom prst="lef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DE7E7"/>
              </a:gs>
              <a:gs pos="49000">
                <a:srgbClr val="F3B0AE"/>
              </a:gs>
              <a:gs pos="49100">
                <a:srgbClr val="E79C9A"/>
              </a:gs>
              <a:gs pos="92000">
                <a:srgbClr val="F3B0AE"/>
              </a:gs>
              <a:gs pos="100000">
                <a:srgbClr val="F2BFBD"/>
              </a:gs>
            </a:gsLst>
            <a:lin ang="5400000" scaled="0"/>
          </a:gradFill>
          <a:ln cap="flat" cmpd="sng" w="11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5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970372" y="3866659"/>
            <a:ext cx="583800" cy="500700"/>
          </a:xfrm>
          <a:prstGeom prst="lef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DE7E7"/>
              </a:gs>
              <a:gs pos="49000">
                <a:srgbClr val="F3B0AE"/>
              </a:gs>
              <a:gs pos="49100">
                <a:srgbClr val="E79C9A"/>
              </a:gs>
              <a:gs pos="92000">
                <a:srgbClr val="F3B0AE"/>
              </a:gs>
              <a:gs pos="100000">
                <a:srgbClr val="F2BFBD"/>
              </a:gs>
            </a:gsLst>
            <a:lin ang="5400000" scaled="0"/>
          </a:gradFill>
          <a:ln cap="flat" cmpd="sng" w="114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dir="5400000" dist="25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a4f0fe4a2a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hot trends</a:t>
            </a:r>
            <a:endParaRPr/>
          </a:p>
        </p:txBody>
      </p:sp>
      <p:sp>
        <p:nvSpPr>
          <p:cNvPr id="105" name="Google Shape;105;g1a4f0fe4a2a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SzPts val="2800"/>
              <a:buChar char="❑"/>
            </a:pPr>
            <a:r>
              <a:rPr lang="en-US"/>
              <a:t>MongoDB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❑"/>
            </a:pPr>
            <a:r>
              <a:rPr lang="en-US"/>
              <a:t>Firebase</a:t>
            </a:r>
            <a:endParaRPr/>
          </a:p>
        </p:txBody>
      </p:sp>
      <p:sp>
        <p:nvSpPr>
          <p:cNvPr id="106" name="Google Shape;106;g1a4f0fe4a2a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Để bắt đầu, cần tập trung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Microsoft.Data.</a:t>
            </a:r>
            <a:r>
              <a:rPr lang="en-US">
                <a:solidFill>
                  <a:schemeClr val="accent1"/>
                </a:solidFill>
              </a:rPr>
              <a:t>SqlClient</a:t>
            </a:r>
            <a:r>
              <a:rPr lang="en-US"/>
              <a:t>:</a:t>
            </a:r>
            <a:r>
              <a:rPr b="1" lang="en-US"/>
              <a:t> SQL Server</a:t>
            </a:r>
            <a:endParaRPr/>
          </a:p>
          <a:p>
            <a:pPr indent="-2794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Câu hỏi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Tại sao lại là SQL Server?</a:t>
            </a:r>
            <a:endParaRPr/>
          </a:p>
        </p:txBody>
      </p:sp>
      <p:sp>
        <p:nvSpPr>
          <p:cNvPr id="113" name="Google Shape;113;p7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5 bước chính khi thao tác</a:t>
            </a:r>
            <a:endParaRPr/>
          </a:p>
        </p:txBody>
      </p:sp>
      <p:sp>
        <p:nvSpPr>
          <p:cNvPr id="119" name="Google Shape;119;p14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>
                <a:solidFill>
                  <a:srgbClr val="FF0000"/>
                </a:solidFill>
              </a:rPr>
              <a:t>Mở kết nối </a:t>
            </a:r>
            <a:r>
              <a:rPr lang="en-US"/>
              <a:t>tới CSDL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Chuẩn bị </a:t>
            </a:r>
            <a:r>
              <a:rPr lang="en-US" u="sng"/>
              <a:t>câu truy vấn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i="1" lang="en-US"/>
              <a:t>Thực thi </a:t>
            </a:r>
            <a:r>
              <a:rPr lang="en-US"/>
              <a:t>câu truy vấn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i="1" lang="en-US"/>
              <a:t>Xử lí kết quả</a:t>
            </a:r>
            <a:r>
              <a:rPr lang="en-US"/>
              <a:t> trả về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b="1" lang="en-US">
                <a:solidFill>
                  <a:srgbClr val="FF0000"/>
                </a:solidFill>
              </a:rPr>
              <a:t>Đóng kết nối </a:t>
            </a:r>
            <a:r>
              <a:rPr lang="en-US"/>
              <a:t>tới CSDL</a:t>
            </a:r>
            <a:endParaRPr/>
          </a:p>
          <a:p>
            <a:pPr indent="-2794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" name="Google Shape;1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174" y="4331263"/>
            <a:ext cx="3057217" cy="2292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222" y="4331263"/>
            <a:ext cx="2226191" cy="2292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a4f0fe4a2a_0_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Thêm NuGet package</a:t>
            </a:r>
            <a:endParaRPr/>
          </a:p>
        </p:txBody>
      </p:sp>
      <p:sp>
        <p:nvSpPr>
          <p:cNvPr id="129" name="Google Shape;129;g1a4f0fe4a2a_0_7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900FF"/>
                </a:solidFill>
              </a:rPr>
              <a:t>Microsoft.Data.SqlClient</a:t>
            </a:r>
            <a:r>
              <a:rPr lang="en-US"/>
              <a:t> (chỉ dành cho .net </a:t>
            </a:r>
            <a:r>
              <a:rPr lang="en-US"/>
              <a:t>8</a:t>
            </a:r>
            <a:r>
              <a:rPr lang="en-US"/>
              <a:t>)</a:t>
            </a:r>
            <a:endParaRPr/>
          </a:p>
        </p:txBody>
      </p:sp>
      <p:sp>
        <p:nvSpPr>
          <p:cNvPr id="130" name="Google Shape;130;g1a4f0fe4a2a_0_7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/>
              <a:t>1. Mở kết nối</a:t>
            </a:r>
            <a:endParaRPr/>
          </a:p>
        </p:txBody>
      </p:sp>
      <p:sp>
        <p:nvSpPr>
          <p:cNvPr id="136" name="Google Shape;136;p15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9d5c3b0b2_0_32"/>
          <p:cNvSpPr txBox="1"/>
          <p:nvPr>
            <p:ph type="title"/>
          </p:nvPr>
        </p:nvSpPr>
        <p:spPr>
          <a:xfrm>
            <a:off x="228600" y="92075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Quattrocento Sans"/>
              <a:buNone/>
            </a:pPr>
            <a:r>
              <a:rPr lang="en-US" sz="4000"/>
              <a:t>Connection string cho các CSDL</a:t>
            </a:r>
            <a:endParaRPr/>
          </a:p>
        </p:txBody>
      </p:sp>
      <p:sp>
        <p:nvSpPr>
          <p:cNvPr id="142" name="Google Shape;142;g209d5c3b0b2_0_3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Connectionstrings.com </a:t>
            </a:r>
            <a:endParaRPr/>
          </a:p>
        </p:txBody>
      </p:sp>
      <p:sp>
        <p:nvSpPr>
          <p:cNvPr id="143" name="Google Shape;143;g209d5c3b0b2_0_32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g209d5c3b0b2_0_32"/>
          <p:cNvSpPr txBox="1"/>
          <p:nvPr>
            <p:ph idx="11" type="ftr"/>
          </p:nvPr>
        </p:nvSpPr>
        <p:spPr>
          <a:xfrm>
            <a:off x="381000" y="6356350"/>
            <a:ext cx="5638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1: Mở kết nối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587a47c5f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Tạo kết nối</a:t>
            </a:r>
            <a:endParaRPr/>
          </a:p>
        </p:txBody>
      </p:sp>
      <p:sp>
        <p:nvSpPr>
          <p:cNvPr id="151" name="Google Shape;151;g33587a47c5f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2" name="Google Shape;152;g33587a47c5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7800"/>
            <a:ext cx="8839198" cy="4212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65a6ac92a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pinggy</a:t>
            </a:r>
            <a:endParaRPr/>
          </a:p>
        </p:txBody>
      </p:sp>
      <p:sp>
        <p:nvSpPr>
          <p:cNvPr id="159" name="Google Shape;159;g3465a6ac92a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g3465a6ac92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0200"/>
            <a:ext cx="8839198" cy="234208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228600" y="92075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Tạo chuỗi kết nối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Dùng </a:t>
            </a:r>
            <a:r>
              <a:rPr lang="en-US">
                <a:solidFill>
                  <a:srgbClr val="9900FF"/>
                </a:solidFill>
              </a:rPr>
              <a:t>windows authentication</a:t>
            </a:r>
            <a:r>
              <a:rPr lang="en-US"/>
              <a:t>, localhost, bản express, kết nối tới CSDL có tên: QLNhanVien</a:t>
            </a:r>
            <a:endParaRPr/>
          </a:p>
          <a:p>
            <a:pPr indent="-2794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366092"/>
                </a:solidFill>
              </a:rPr>
              <a:t>var</a:t>
            </a:r>
            <a:r>
              <a:rPr lang="en-US"/>
              <a:t> </a:t>
            </a:r>
            <a:r>
              <a:rPr b="1" lang="en-US">
                <a:solidFill>
                  <a:srgbClr val="0000FF"/>
                </a:solidFill>
              </a:rPr>
              <a:t>connectionString </a:t>
            </a:r>
            <a:r>
              <a:rPr lang="en-US"/>
              <a:t>=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"</a:t>
            </a:r>
            <a:r>
              <a:rPr i="1" lang="en-US">
                <a:solidFill>
                  <a:srgbClr val="C00000"/>
                </a:solidFill>
              </a:rPr>
              <a:t>Server=.\SQLEXPRESS;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i="1" lang="en-US">
                <a:solidFill>
                  <a:srgbClr val="C00000"/>
                </a:solidFill>
              </a:rPr>
              <a:t>	Database=DemoDB;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i="1" lang="en-US">
                <a:solidFill>
                  <a:srgbClr val="C00000"/>
                </a:solidFill>
              </a:rPr>
              <a:t>	</a:t>
            </a:r>
            <a:r>
              <a:rPr i="1" lang="en-US">
                <a:solidFill>
                  <a:srgbClr val="9900FF"/>
                </a:solidFill>
              </a:rPr>
              <a:t>Trusted_Connection=yes</a:t>
            </a:r>
            <a:r>
              <a:rPr lang="en-US"/>
              <a:t>;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TrustServerCertificate=True</a:t>
            </a:r>
            <a:endParaRPr/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“</a:t>
            </a:r>
            <a:endParaRPr/>
          </a:p>
        </p:txBody>
      </p:sp>
      <p:sp>
        <p:nvSpPr>
          <p:cNvPr id="167" name="Google Shape;167;p1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8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1: Mở kết nối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228600" y="92075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Tạo chuỗi kết nối – SQL Server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Localhost, kết nối có username và password, bản đầy đủ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connectionString =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"</a:t>
            </a:r>
            <a:r>
              <a:rPr i="1" lang="en-US">
                <a:solidFill>
                  <a:srgbClr val="C00000"/>
                </a:solidFill>
              </a:rPr>
              <a:t>Server= .\</a:t>
            </a:r>
            <a:r>
              <a:rPr i="1" lang="en-US">
                <a:solidFill>
                  <a:srgbClr val="C00000"/>
                </a:solidFill>
              </a:rPr>
              <a:t>SQLEXPRESS</a:t>
            </a:r>
            <a:r>
              <a:rPr i="1" lang="en-US">
                <a:solidFill>
                  <a:srgbClr val="C00000"/>
                </a:solidFill>
              </a:rPr>
              <a:t>;</a:t>
            </a:r>
            <a:endParaRPr i="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i="1" lang="en-US">
                <a:solidFill>
                  <a:srgbClr val="C00000"/>
                </a:solidFill>
              </a:rPr>
              <a:t>	Database=QLNhanVien;</a:t>
            </a:r>
            <a:endParaRPr i="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i="1" lang="en-US">
                <a:solidFill>
                  <a:srgbClr val="C00000"/>
                </a:solidFill>
              </a:rPr>
              <a:t>	User ID = tester1; Password = 123;</a:t>
            </a:r>
            <a:endParaRPr i="1">
              <a:solidFill>
                <a:srgbClr val="C0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i="1" lang="en-US"/>
              <a:t>	</a:t>
            </a:r>
            <a:r>
              <a:rPr i="1" lang="en-US">
                <a:solidFill>
                  <a:srgbClr val="C00000"/>
                </a:solidFill>
              </a:rPr>
              <a:t>TrustServerCertificate=True</a:t>
            </a:r>
            <a:endParaRPr i="1">
              <a:solidFill>
                <a:srgbClr val="C00000"/>
              </a:solidFill>
            </a:endParaRPr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”;</a:t>
            </a:r>
            <a:endParaRPr/>
          </a:p>
        </p:txBody>
      </p:sp>
      <p:sp>
        <p:nvSpPr>
          <p:cNvPr id="175" name="Google Shape;175;p1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9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1: Mở kết nối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Mở kết nối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70C0"/>
                </a:solidFill>
              </a:rPr>
              <a:t>var</a:t>
            </a:r>
            <a:r>
              <a:rPr lang="en-US" sz="2400"/>
              <a:t> connection </a:t>
            </a:r>
            <a:r>
              <a:rPr lang="en-US" sz="2400">
                <a:solidFill>
                  <a:srgbClr val="0070C0"/>
                </a:solidFill>
              </a:rPr>
              <a:t>= new </a:t>
            </a:r>
            <a:r>
              <a:rPr lang="en-US" sz="2400">
                <a:solidFill>
                  <a:srgbClr val="FF0000"/>
                </a:solidFill>
              </a:rPr>
              <a:t>Sql</a:t>
            </a:r>
            <a:r>
              <a:rPr lang="en-US" sz="2400"/>
              <a:t>Connection(connectionString);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connection.Open();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Một số cách đặt tên biến khác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0066FF"/>
              </a:buClr>
              <a:buSzPts val="2400"/>
              <a:buFont typeface="Noto Sans Symbols"/>
              <a:buChar char="❑"/>
            </a:pPr>
            <a:r>
              <a:rPr lang="en-US" sz="2400"/>
              <a:t>con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rgbClr val="0066FF"/>
              </a:buClr>
              <a:buSzPts val="2400"/>
              <a:buFont typeface="Noto Sans Symbols"/>
              <a:buChar char="❑"/>
            </a:pPr>
            <a:r>
              <a:rPr lang="en-US" sz="2400"/>
              <a:t>cnn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3" name="Google Shape;183;p20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20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1: Mở kết nối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9d5c3b0b2_0_1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Đưa kết nối vào thread khác</a:t>
            </a:r>
            <a:endParaRPr/>
          </a:p>
        </p:txBody>
      </p:sp>
      <p:sp>
        <p:nvSpPr>
          <p:cNvPr id="191" name="Google Shape;191;g209d5c3b0b2_0_1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Mở kết nối chiếm dụng main thread khiến UI không phản hồi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-US"/>
              <a:t>Giải pháp</a:t>
            </a:r>
            <a:r>
              <a:rPr lang="en-US"/>
              <a:t>: đưa vào thread khác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rPr lang="en-US" sz="2691"/>
              <a:t>connection = </a:t>
            </a:r>
            <a:r>
              <a:rPr lang="en-US" sz="2691">
                <a:solidFill>
                  <a:srgbClr val="0066FF"/>
                </a:solidFill>
              </a:rPr>
              <a:t>await </a:t>
            </a:r>
            <a:r>
              <a:rPr lang="en-US" sz="2691">
                <a:solidFill>
                  <a:srgbClr val="9900FF"/>
                </a:solidFill>
              </a:rPr>
              <a:t>Task</a:t>
            </a:r>
            <a:r>
              <a:rPr lang="en-US" sz="2691"/>
              <a:t>.Run(() =&gt; {</a:t>
            </a:r>
            <a:endParaRPr sz="269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rPr lang="en-US" sz="2691"/>
              <a:t>       </a:t>
            </a:r>
            <a:r>
              <a:rPr lang="en-US" sz="2691">
                <a:solidFill>
                  <a:srgbClr val="0066FF"/>
                </a:solidFill>
              </a:rPr>
              <a:t>var _</a:t>
            </a:r>
            <a:r>
              <a:rPr lang="en-US" sz="2691"/>
              <a:t>connection = </a:t>
            </a:r>
            <a:r>
              <a:rPr lang="en-US" sz="2691">
                <a:solidFill>
                  <a:srgbClr val="0066FF"/>
                </a:solidFill>
              </a:rPr>
              <a:t>new </a:t>
            </a:r>
            <a:r>
              <a:rPr lang="en-US" sz="2691">
                <a:solidFill>
                  <a:srgbClr val="9900FF"/>
                </a:solidFill>
              </a:rPr>
              <a:t>SqlConnection</a:t>
            </a:r>
            <a:r>
              <a:rPr lang="en-US" sz="2691"/>
              <a:t>(connectionString);</a:t>
            </a:r>
            <a:endParaRPr sz="269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rPr lang="en-US" sz="2691"/>
              <a:t>      _connection.Open();</a:t>
            </a:r>
            <a:endParaRPr sz="269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t/>
            </a:r>
            <a:endParaRPr sz="269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rPr lang="en-US" sz="2691"/>
              <a:t>      </a:t>
            </a:r>
            <a:r>
              <a:rPr lang="en-US" sz="2691">
                <a:solidFill>
                  <a:srgbClr val="00B050"/>
                </a:solidFill>
              </a:rPr>
              <a:t>// Test khi chạy quá nhanh</a:t>
            </a:r>
            <a:endParaRPr sz="2691">
              <a:solidFill>
                <a:srgbClr val="00B05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rPr lang="en-US" sz="2691"/>
              <a:t>      </a:t>
            </a:r>
            <a:r>
              <a:rPr lang="en-US" sz="2691">
                <a:solidFill>
                  <a:srgbClr val="9900FF"/>
                </a:solidFill>
              </a:rPr>
              <a:t>System</a:t>
            </a:r>
            <a:r>
              <a:rPr lang="en-US" sz="2691"/>
              <a:t>.Threading.Thread.Sleep(3000);</a:t>
            </a:r>
            <a:endParaRPr sz="269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rPr lang="en-US" sz="2691"/>
              <a:t>      </a:t>
            </a:r>
            <a:r>
              <a:rPr lang="en-US" sz="2691">
                <a:solidFill>
                  <a:srgbClr val="0066FF"/>
                </a:solidFill>
              </a:rPr>
              <a:t>return _</a:t>
            </a:r>
            <a:r>
              <a:rPr lang="en-US" sz="2691"/>
              <a:t>connection;</a:t>
            </a:r>
            <a:endParaRPr sz="269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40863"/>
              <a:buFont typeface="Arial"/>
              <a:buNone/>
            </a:pPr>
            <a:r>
              <a:rPr lang="en-US" sz="2691"/>
              <a:t>});</a:t>
            </a:r>
            <a:endParaRPr sz="2691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209d5c3b0b2_0_19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ac0cea4ac_0_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Lưu chuỗi kết nối ở đâu?</a:t>
            </a:r>
            <a:endParaRPr/>
          </a:p>
        </p:txBody>
      </p:sp>
      <p:sp>
        <p:nvSpPr>
          <p:cNvPr id="199" name="Google Shape;199;g24ac0cea4ac_0_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</a:pPr>
            <a:r>
              <a:rPr lang="en-US"/>
              <a:t>Biến môi trường ở Settings Debug</a:t>
            </a:r>
            <a:endParaRPr/>
          </a:p>
        </p:txBody>
      </p:sp>
      <p:sp>
        <p:nvSpPr>
          <p:cNvPr id="200" name="Google Shape;200;g24ac0cea4ac_0_0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4ac0cea538_1_8"/>
          <p:cNvSpPr txBox="1"/>
          <p:nvPr>
            <p:ph type="title"/>
          </p:nvPr>
        </p:nvSpPr>
        <p:spPr>
          <a:xfrm>
            <a:off x="141300" y="0"/>
            <a:ext cx="90120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Sử dụng builder</a:t>
            </a:r>
            <a:endParaRPr sz="4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g24ac0cea538_1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8175" y="1492225"/>
            <a:ext cx="6398250" cy="375705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2. Chuẩn bị câu truy vấn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Truy vấn bình thường</a:t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var </a:t>
            </a:r>
            <a:r>
              <a:rPr lang="en-US"/>
              <a:t>sql = “</a:t>
            </a:r>
            <a:r>
              <a:rPr i="1" lang="en-US">
                <a:solidFill>
                  <a:srgbClr val="C00000"/>
                </a:solidFill>
              </a:rPr>
              <a:t>s</a:t>
            </a:r>
            <a:r>
              <a:rPr i="1" lang="en-US">
                <a:solidFill>
                  <a:srgbClr val="C00000"/>
                </a:solidFill>
              </a:rPr>
              <a:t>elect * from NhanVien</a:t>
            </a:r>
            <a:r>
              <a:rPr lang="en-US"/>
              <a:t>”;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Một số cách đặt tên biến khác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query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queryString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sqlQuery</a:t>
            </a:r>
            <a:endParaRPr/>
          </a:p>
        </p:txBody>
      </p:sp>
      <p:sp>
        <p:nvSpPr>
          <p:cNvPr id="220" name="Google Shape;220;p2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23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2: Chuẩn bị câu truy vấn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587a47c5f_0_8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Truy vấn</a:t>
            </a:r>
            <a:endParaRPr/>
          </a:p>
        </p:txBody>
      </p:sp>
      <p:sp>
        <p:nvSpPr>
          <p:cNvPr id="228" name="Google Shape;228;g33587a47c5f_0_8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9" name="Google Shape;229;g33587a47c5f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7800"/>
            <a:ext cx="8839202" cy="3000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 txBox="1"/>
          <p:nvPr>
            <p:ph type="title"/>
          </p:nvPr>
        </p:nvSpPr>
        <p:spPr>
          <a:xfrm>
            <a:off x="228600" y="188976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Truy vấn phức tạp – Nối chuỗi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 txBox="1"/>
          <p:nvPr>
            <p:ph idx="1" type="body"/>
          </p:nvPr>
        </p:nvSpPr>
        <p:spPr>
          <a:xfrm>
            <a:off x="381000" y="1600200"/>
            <a:ext cx="8610600" cy="50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Ví dụ đăng nhập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var</a:t>
            </a:r>
            <a:r>
              <a:rPr lang="en-US"/>
              <a:t> sql = “</a:t>
            </a:r>
            <a:r>
              <a:rPr i="1" lang="en-US">
                <a:solidFill>
                  <a:srgbClr val="FF0000"/>
                </a:solidFill>
              </a:rPr>
              <a:t>select * from NhanVien where Username=’</a:t>
            </a:r>
            <a:r>
              <a:rPr lang="en-US"/>
              <a:t>“</a:t>
            </a:r>
            <a:r>
              <a:rPr i="1" lang="en-US"/>
              <a:t> +</a:t>
            </a:r>
            <a:r>
              <a:rPr lang="en-US"/>
              <a:t> username + “</a:t>
            </a:r>
            <a:r>
              <a:rPr lang="en-US">
                <a:solidFill>
                  <a:srgbClr val="FF0000"/>
                </a:solidFill>
              </a:rPr>
              <a:t>‘</a:t>
            </a:r>
            <a:r>
              <a:rPr lang="en-US"/>
              <a:t>”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b="1" lang="en-US" u="sng">
                <a:solidFill>
                  <a:srgbClr val="FF0000"/>
                </a:solidFill>
              </a:rPr>
              <a:t>Rất nguy hiểm</a:t>
            </a:r>
            <a:r>
              <a:rPr lang="en-US"/>
              <a:t>, nên tránh việc cộng chuỗi với toán tử +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⇒ Tiềm ẩn lỗi </a:t>
            </a:r>
            <a:r>
              <a:rPr b="1" lang="en-US">
                <a:solidFill>
                  <a:srgbClr val="C00000"/>
                </a:solidFill>
              </a:rPr>
              <a:t>sql injection</a:t>
            </a:r>
            <a:r>
              <a:rPr lang="en-US"/>
              <a:t> giúp kẻ tấn công đăng nhập mà không cần biết username cũng như không cần biết mật khẩu!!! (username = “</a:t>
            </a:r>
            <a:r>
              <a:rPr lang="en-US">
                <a:solidFill>
                  <a:srgbClr val="FF0000"/>
                </a:solidFill>
              </a:rPr>
              <a:t>‘ or ‘1’=’1</a:t>
            </a:r>
            <a:r>
              <a:rPr lang="en-US"/>
              <a:t> “ )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select * from NhanVien where Username=</a:t>
            </a:r>
            <a:r>
              <a:rPr lang="en-US">
                <a:solidFill>
                  <a:srgbClr val="FF0000"/>
                </a:solidFill>
              </a:rPr>
              <a:t>’’ or ‘1’=’1’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36" name="Google Shape;236;p24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24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2: Chuẩn bị câu truy vấn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4807075" y="5652125"/>
            <a:ext cx="3856200" cy="908100"/>
          </a:xfrm>
          <a:prstGeom prst="rect">
            <a:avLst/>
          </a:prstGeom>
          <a:noFill/>
          <a:ln cap="flat" cmpd="sng" w="19050">
            <a:solidFill>
              <a:srgbClr val="D2212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5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Sử dụng parameter</a:t>
            </a:r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sql = “</a:t>
            </a:r>
            <a:r>
              <a:rPr i="1" lang="en-US" sz="2400">
                <a:solidFill>
                  <a:srgbClr val="C00000"/>
                </a:solidFill>
              </a:rPr>
              <a:t>select * from NhanVien where </a:t>
            </a:r>
            <a:r>
              <a:rPr i="1" lang="en-US" sz="2400">
                <a:solidFill>
                  <a:srgbClr val="C00000"/>
                </a:solidFill>
              </a:rPr>
              <a:t>Username=@User</a:t>
            </a:r>
            <a:r>
              <a:rPr lang="en-US" sz="2400"/>
              <a:t>“;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70C0"/>
                </a:solidFill>
              </a:rPr>
              <a:t>var</a:t>
            </a:r>
            <a:r>
              <a:rPr lang="en-US" sz="2400"/>
              <a:t> command = new </a:t>
            </a:r>
            <a:r>
              <a:rPr lang="en-US" sz="2400">
                <a:solidFill>
                  <a:srgbClr val="0070C0"/>
                </a:solidFill>
              </a:rPr>
              <a:t>Sql</a:t>
            </a:r>
            <a:r>
              <a:rPr lang="en-US" sz="2400">
                <a:solidFill>
                  <a:srgbClr val="0070C0"/>
                </a:solidFill>
              </a:rPr>
              <a:t>Command</a:t>
            </a:r>
            <a:r>
              <a:rPr lang="en-US" sz="2400"/>
              <a:t>(sql, connection);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command.Parameters.Add(“</a:t>
            </a:r>
            <a:r>
              <a:rPr i="1" lang="en-US" sz="2400">
                <a:solidFill>
                  <a:srgbClr val="C00000"/>
                </a:solidFill>
              </a:rPr>
              <a:t>@User</a:t>
            </a:r>
            <a:r>
              <a:rPr lang="en-US" sz="2400"/>
              <a:t>”, </a:t>
            </a:r>
            <a:r>
              <a:rPr lang="en-US" sz="2400">
                <a:solidFill>
                  <a:srgbClr val="0070C0"/>
                </a:solidFill>
              </a:rPr>
              <a:t>OleDbType</a:t>
            </a:r>
            <a:r>
              <a:rPr lang="en-US" sz="2400"/>
              <a:t>.NVarChar);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command.Parameters[“</a:t>
            </a:r>
            <a:r>
              <a:rPr i="1" lang="en-US" sz="2400">
                <a:solidFill>
                  <a:srgbClr val="C00000"/>
                </a:solidFill>
              </a:rPr>
              <a:t>@User</a:t>
            </a:r>
            <a:r>
              <a:rPr lang="en-US" sz="2400"/>
              <a:t>”].Value = username;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 u="sng"/>
              <a:t>Viết tắt: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cmd.Parametes.Add(“</a:t>
            </a:r>
            <a:r>
              <a:rPr i="1" lang="en-US" sz="2400">
                <a:solidFill>
                  <a:srgbClr val="FF0000"/>
                </a:solidFill>
              </a:rPr>
              <a:t>@User</a:t>
            </a:r>
            <a:r>
              <a:rPr lang="en-US" sz="2400"/>
              <a:t>”, </a:t>
            </a:r>
            <a:r>
              <a:rPr lang="en-US" sz="2400">
                <a:solidFill>
                  <a:srgbClr val="0070C0"/>
                </a:solidFill>
              </a:rPr>
              <a:t>OleDbType</a:t>
            </a:r>
            <a:r>
              <a:rPr lang="en-US" sz="2400"/>
              <a:t>.NVarChar).Value = </a:t>
            </a:r>
            <a:r>
              <a:rPr lang="en-US" sz="2400">
                <a:solidFill>
                  <a:srgbClr val="FF0000"/>
                </a:solidFill>
              </a:rPr>
              <a:t>“”</a:t>
            </a:r>
            <a:r>
              <a:rPr lang="en-US" sz="2400"/>
              <a:t>;</a:t>
            </a:r>
            <a:endParaRPr/>
          </a:p>
        </p:txBody>
      </p:sp>
      <p:sp>
        <p:nvSpPr>
          <p:cNvPr id="245" name="Google Shape;245;p25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25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2: Chuẩn bị câu truy vấn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587a47c5f_0_1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Ví dụ GetById</a:t>
            </a:r>
            <a:endParaRPr/>
          </a:p>
        </p:txBody>
      </p:sp>
      <p:sp>
        <p:nvSpPr>
          <p:cNvPr id="253" name="Google Shape;253;g33587a47c5f_0_16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4" name="Google Shape;254;g33587a47c5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9650"/>
            <a:ext cx="8839203" cy="1759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587a47c5f_0_24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Ví dụ DeleteById</a:t>
            </a:r>
            <a:endParaRPr/>
          </a:p>
        </p:txBody>
      </p:sp>
      <p:sp>
        <p:nvSpPr>
          <p:cNvPr id="261" name="Google Shape;261;g33587a47c5f_0_24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2" name="Google Shape;262;g33587a47c5f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7800"/>
            <a:ext cx="8839198" cy="4001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/>
              <a:t>3. Thực thi câu truy vấn</a:t>
            </a:r>
            <a:endParaRPr/>
          </a:p>
        </p:txBody>
      </p:sp>
      <p:sp>
        <p:nvSpPr>
          <p:cNvPr id="268" name="Google Shape;268;p28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Các kiểu lệnh cần thực thi</a:t>
            </a:r>
            <a:endParaRPr/>
          </a:p>
        </p:txBody>
      </p:sp>
      <p:sp>
        <p:nvSpPr>
          <p:cNvPr id="275" name="Google Shape;275;p2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0070C0"/>
                </a:solidFill>
              </a:rPr>
              <a:t>ExecuteReader</a:t>
            </a:r>
            <a:r>
              <a:rPr lang="en-US"/>
              <a:t>: là câu truy vấn lấy dữ liệu gồm </a:t>
            </a:r>
            <a:r>
              <a:rPr lang="en-US">
                <a:solidFill>
                  <a:srgbClr val="FF0000"/>
                </a:solidFill>
              </a:rPr>
              <a:t>nhiều dòng nhiều cột</a:t>
            </a:r>
            <a:r>
              <a:rPr lang="en-US"/>
              <a:t>.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>
                <a:solidFill>
                  <a:srgbClr val="0070C0"/>
                </a:solidFill>
              </a:rPr>
              <a:t>ExecuteNonQuery</a:t>
            </a:r>
            <a:r>
              <a:rPr lang="en-US"/>
              <a:t>: </a:t>
            </a:r>
            <a:r>
              <a:rPr lang="en-US">
                <a:solidFill>
                  <a:srgbClr val="FF0000"/>
                </a:solidFill>
              </a:rPr>
              <a:t>không có kết quả trả về</a:t>
            </a:r>
            <a:r>
              <a:rPr lang="en-US"/>
              <a:t>, thường là </a:t>
            </a:r>
            <a:r>
              <a:rPr b="1" lang="en-US"/>
              <a:t>Thêm</a:t>
            </a:r>
            <a:r>
              <a:rPr lang="en-US"/>
              <a:t>, </a:t>
            </a:r>
            <a:r>
              <a:rPr b="1" lang="en-US"/>
              <a:t>Xóa</a:t>
            </a:r>
            <a:r>
              <a:rPr lang="en-US"/>
              <a:t>, </a:t>
            </a:r>
            <a:r>
              <a:rPr b="1" lang="en-US"/>
              <a:t>Sửa</a:t>
            </a:r>
            <a:endParaRPr b="1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❑"/>
            </a:pPr>
            <a:r>
              <a:rPr lang="en-US">
                <a:solidFill>
                  <a:srgbClr val="0070C0"/>
                </a:solidFill>
              </a:rPr>
              <a:t>ExecuteScalar</a:t>
            </a:r>
            <a:r>
              <a:rPr lang="en-US"/>
              <a:t>: lấy </a:t>
            </a:r>
            <a:r>
              <a:rPr lang="en-US">
                <a:solidFill>
                  <a:srgbClr val="FF0000"/>
                </a:solidFill>
              </a:rPr>
              <a:t>một giá trị đơn</a:t>
            </a:r>
            <a:r>
              <a:rPr lang="en-US"/>
              <a:t>. Ví dụ số lớn nhất, trung bình, nhỏ nhất, ID vừa chèn…</a:t>
            </a:r>
            <a:endParaRPr b="1"/>
          </a:p>
        </p:txBody>
      </p:sp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29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3: Thực thi câu truy vấn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 sz="4400"/>
              <a:t>Command &amp; DataReader</a:t>
            </a:r>
            <a:endParaRPr/>
          </a:p>
        </p:txBody>
      </p:sp>
      <p:sp>
        <p:nvSpPr>
          <p:cNvPr id="284" name="Google Shape;284;p30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2600">
                <a:solidFill>
                  <a:srgbClr val="0070C0"/>
                </a:solidFill>
              </a:rPr>
              <a:t>var</a:t>
            </a:r>
            <a:r>
              <a:rPr lang="en-US" sz="2600"/>
              <a:t> command </a:t>
            </a:r>
            <a:r>
              <a:rPr lang="en-US" sz="2600">
                <a:solidFill>
                  <a:srgbClr val="0070C0"/>
                </a:solidFill>
              </a:rPr>
              <a:t>=</a:t>
            </a:r>
            <a:r>
              <a:rPr lang="en-US" sz="2600"/>
              <a:t> </a:t>
            </a:r>
            <a:r>
              <a:rPr lang="en-US" sz="2600">
                <a:solidFill>
                  <a:srgbClr val="0070C0"/>
                </a:solidFill>
              </a:rPr>
              <a:t>new</a:t>
            </a:r>
            <a:r>
              <a:rPr lang="en-US" sz="2600"/>
              <a:t> </a:t>
            </a:r>
            <a:r>
              <a:rPr lang="en-US" sz="2600">
                <a:solidFill>
                  <a:srgbClr val="0070C0"/>
                </a:solidFill>
              </a:rPr>
              <a:t>Sql</a:t>
            </a:r>
            <a:r>
              <a:rPr lang="en-US" sz="2600">
                <a:solidFill>
                  <a:srgbClr val="0070C0"/>
                </a:solidFill>
              </a:rPr>
              <a:t>Command</a:t>
            </a:r>
            <a:r>
              <a:rPr lang="en-US" sz="2600"/>
              <a:t>(sql, connection);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600"/>
              <a:buNone/>
            </a:pPr>
            <a:r>
              <a:rPr lang="en-US" sz="2600">
                <a:solidFill>
                  <a:srgbClr val="0070C0"/>
                </a:solidFill>
              </a:rPr>
              <a:t>var </a:t>
            </a:r>
            <a:r>
              <a:rPr lang="en-US" sz="2600"/>
              <a:t>reader = command.ExecuteReader();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Kết quả trả về là bảng, </a:t>
            </a:r>
            <a:r>
              <a:rPr lang="en-US">
                <a:solidFill>
                  <a:srgbClr val="FF0000"/>
                </a:solidFill>
              </a:rPr>
              <a:t>vẫn đang giữ kết nối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Biến reader đang trỏ đến </a:t>
            </a:r>
            <a:r>
              <a:rPr lang="en-US">
                <a:solidFill>
                  <a:srgbClr val="FF0000"/>
                </a:solidFill>
              </a:rPr>
              <a:t>dòng thứ nhất </a:t>
            </a:r>
            <a:r>
              <a:rPr lang="en-US"/>
              <a:t>của bảng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Phải đọc </a:t>
            </a:r>
            <a:r>
              <a:rPr lang="en-US">
                <a:solidFill>
                  <a:srgbClr val="FF0000"/>
                </a:solidFill>
              </a:rPr>
              <a:t>lần lượt </a:t>
            </a:r>
            <a:r>
              <a:rPr lang="en-US"/>
              <a:t>từng dòng trong kết quả</a:t>
            </a:r>
            <a:endParaRPr/>
          </a:p>
        </p:txBody>
      </p:sp>
      <p:sp>
        <p:nvSpPr>
          <p:cNvPr id="285" name="Google Shape;285;p30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30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3: Thực thi câu truy vấn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/>
              <a:t>4. Xử lí kết quả trả về</a:t>
            </a:r>
            <a:endParaRPr/>
          </a:p>
        </p:txBody>
      </p:sp>
      <p:sp>
        <p:nvSpPr>
          <p:cNvPr id="292" name="Google Shape;292;p32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Đọc dữ liệu từ DataReader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while</a:t>
            </a:r>
            <a:r>
              <a:rPr lang="en-US"/>
              <a:t> ( reader.Read() ) { </a:t>
            </a:r>
            <a:r>
              <a:rPr i="1" lang="en-US">
                <a:solidFill>
                  <a:srgbClr val="00B050"/>
                </a:solidFill>
              </a:rPr>
              <a:t>‘ Đọc từng dòng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r>
              <a:rPr lang="en-US">
                <a:solidFill>
                  <a:srgbClr val="0070C0"/>
                </a:solidFill>
              </a:rPr>
              <a:t>var</a:t>
            </a:r>
            <a:r>
              <a:rPr lang="en-US"/>
              <a:t> id = (</a:t>
            </a:r>
            <a:r>
              <a:rPr lang="en-US">
                <a:solidFill>
                  <a:srgbClr val="0070C0"/>
                </a:solidFill>
              </a:rPr>
              <a:t>int</a:t>
            </a:r>
            <a:r>
              <a:rPr lang="en-US"/>
              <a:t>) reader[</a:t>
            </a:r>
            <a:r>
              <a:rPr b="1" lang="en-US">
                <a:solidFill>
                  <a:srgbClr val="FF0000"/>
                </a:solidFill>
              </a:rPr>
              <a:t>0</a:t>
            </a:r>
            <a:r>
              <a:rPr lang="en-US"/>
              <a:t>];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/>
              <a:t>	</a:t>
            </a:r>
            <a:r>
              <a:rPr lang="en-US">
                <a:solidFill>
                  <a:srgbClr val="0070C0"/>
                </a:solidFill>
              </a:rPr>
              <a:t>var</a:t>
            </a:r>
            <a:r>
              <a:rPr lang="en-US"/>
              <a:t> fullName = (</a:t>
            </a:r>
            <a:r>
              <a:rPr lang="en-US">
                <a:solidFill>
                  <a:srgbClr val="0070C0"/>
                </a:solidFill>
              </a:rPr>
              <a:t>s</a:t>
            </a:r>
            <a:r>
              <a:rPr lang="en-US">
                <a:solidFill>
                  <a:srgbClr val="0070C0"/>
                </a:solidFill>
              </a:rPr>
              <a:t>tring</a:t>
            </a:r>
            <a:r>
              <a:rPr lang="en-US"/>
              <a:t>) reader[</a:t>
            </a:r>
            <a:r>
              <a:rPr b="1" lang="en-US">
                <a:solidFill>
                  <a:srgbClr val="FF0000"/>
                </a:solidFill>
              </a:rPr>
              <a:t>1</a:t>
            </a:r>
            <a:r>
              <a:rPr lang="en-US"/>
              <a:t>];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070C0"/>
                </a:solidFill>
              </a:rPr>
              <a:t>}</a:t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</a:pPr>
            <a:r>
              <a:rPr lang="en-US"/>
              <a:t>Cách tốt hơn </a:t>
            </a:r>
            <a:r>
              <a:rPr lang="en-US">
                <a:solidFill>
                  <a:srgbClr val="FF9900"/>
                </a:solidFill>
              </a:rPr>
              <a:t>(Dễ bảo trì)</a:t>
            </a:r>
            <a:endParaRPr>
              <a:solidFill>
                <a:srgbClr val="FF9900"/>
              </a:solidFill>
            </a:endParaRPr>
          </a:p>
          <a:p>
            <a:pPr indent="45720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>
                <a:solidFill>
                  <a:srgbClr val="0070C0"/>
                </a:solidFill>
              </a:rPr>
              <a:t>var</a:t>
            </a:r>
            <a:r>
              <a:rPr lang="en-US"/>
              <a:t> id = (</a:t>
            </a:r>
            <a:r>
              <a:rPr lang="en-US">
                <a:solidFill>
                  <a:srgbClr val="0070C0"/>
                </a:solidFill>
              </a:rPr>
              <a:t>int</a:t>
            </a:r>
            <a:r>
              <a:rPr lang="en-US"/>
              <a:t>) reader[</a:t>
            </a:r>
            <a:r>
              <a:rPr b="1" lang="en-US">
                <a:solidFill>
                  <a:srgbClr val="FF0000"/>
                </a:solidFill>
              </a:rPr>
              <a:t>“ID”</a:t>
            </a:r>
            <a:r>
              <a:rPr lang="en-US"/>
              <a:t>];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	</a:t>
            </a:r>
            <a:r>
              <a:rPr lang="en-US">
                <a:solidFill>
                  <a:srgbClr val="0070C0"/>
                </a:solidFill>
              </a:rPr>
              <a:t>var</a:t>
            </a:r>
            <a:r>
              <a:rPr lang="en-US"/>
              <a:t> fullName = (</a:t>
            </a:r>
            <a:r>
              <a:rPr lang="en-US">
                <a:solidFill>
                  <a:srgbClr val="0070C0"/>
                </a:solidFill>
              </a:rPr>
              <a:t>string</a:t>
            </a:r>
            <a:r>
              <a:rPr lang="en-US"/>
              <a:t>) reader[</a:t>
            </a:r>
            <a:r>
              <a:rPr b="1" lang="en-US">
                <a:solidFill>
                  <a:srgbClr val="FF0000"/>
                </a:solidFill>
              </a:rPr>
              <a:t>“Name”</a:t>
            </a:r>
            <a:r>
              <a:rPr lang="en-US"/>
              <a:t>];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300" name="Google Shape;300;p3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3"/>
          <p:cNvSpPr txBox="1"/>
          <p:nvPr>
            <p:ph idx="11" type="ftr"/>
          </p:nvPr>
        </p:nvSpPr>
        <p:spPr>
          <a:xfrm>
            <a:off x="381000" y="6356350"/>
            <a:ext cx="5638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Bước 4: Xử lí kết quả truy vấn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8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Cập nhật dữ liệu - Command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8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70C0"/>
                </a:solidFill>
              </a:rPr>
              <a:t>var</a:t>
            </a:r>
            <a:r>
              <a:rPr lang="en-US" sz="2400"/>
              <a:t> sql = “</a:t>
            </a:r>
            <a:r>
              <a:rPr i="1" lang="en-US" sz="2400">
                <a:solidFill>
                  <a:srgbClr val="C00000"/>
                </a:solidFill>
              </a:rPr>
              <a:t>update SinhVien set Name=@name where ID=@id</a:t>
            </a:r>
            <a:r>
              <a:rPr lang="en-US" sz="2400"/>
              <a:t>”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solidFill>
                  <a:srgbClr val="0070C0"/>
                </a:solidFill>
              </a:rPr>
              <a:t>var</a:t>
            </a:r>
            <a:r>
              <a:rPr lang="en-US" sz="2400"/>
              <a:t> command </a:t>
            </a:r>
            <a:r>
              <a:rPr lang="en-US" sz="2400">
                <a:solidFill>
                  <a:srgbClr val="0070C0"/>
                </a:solidFill>
              </a:rPr>
              <a:t>= new</a:t>
            </a:r>
            <a:r>
              <a:rPr lang="en-US" sz="2400"/>
              <a:t> </a:t>
            </a:r>
            <a:r>
              <a:rPr lang="en-US" sz="2400">
                <a:solidFill>
                  <a:srgbClr val="0070C0"/>
                </a:solidFill>
              </a:rPr>
              <a:t>Sql</a:t>
            </a:r>
            <a:r>
              <a:rPr lang="en-US" sz="2400">
                <a:solidFill>
                  <a:srgbClr val="0070C0"/>
                </a:solidFill>
              </a:rPr>
              <a:t>Command</a:t>
            </a:r>
            <a:r>
              <a:rPr lang="en-US" sz="2400"/>
              <a:t>(sql, connection)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int rows = command.ExecuteNonQuery();</a:t>
            </a:r>
            <a:endParaRPr/>
          </a:p>
        </p:txBody>
      </p:sp>
      <p:sp>
        <p:nvSpPr>
          <p:cNvPr id="308" name="Google Shape;308;p3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5. Đóng kết nối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0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Đóng kết nối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Quá dễ: connection.Close();</a:t>
            </a:r>
            <a:endParaRPr/>
          </a:p>
          <a:p>
            <a:pPr indent="-2794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1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Những việc làm thông dụng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GetAll </a:t>
            </a:r>
            <a:endParaRPr/>
          </a:p>
          <a:p>
            <a:pPr indent="-368300" lvl="1" marL="8001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▪"/>
            </a:pPr>
            <a:r>
              <a:rPr lang="en-US"/>
              <a:t>Với danh sách nhỏ thì lấy toàn bộ</a:t>
            </a:r>
            <a:endParaRPr/>
          </a:p>
          <a:p>
            <a:pPr indent="-342900" lvl="1" marL="8001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Với danh sách lớn cần</a:t>
            </a:r>
            <a:endParaRPr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- Phân trang (vd: 10 dòng mỗi trang, hiện trang 4)</a:t>
            </a:r>
            <a:endParaRPr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- Sắp xếp (vd: giảm dần theo ngày tháng, tăng dần theo giá)</a:t>
            </a:r>
            <a:endParaRPr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- </a:t>
            </a:r>
            <a:r>
              <a:rPr lang="en-US" sz="2000"/>
              <a:t>Lọc (vd: t</a:t>
            </a:r>
            <a:r>
              <a:rPr lang="en-US"/>
              <a:t>ìm trong khoảng giá, CPU, Ram)</a:t>
            </a:r>
            <a:endParaRPr sz="2000"/>
          </a:p>
          <a:p>
            <a:pPr indent="0" lvl="2" marL="91440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- </a:t>
            </a:r>
            <a:r>
              <a:rPr lang="en-US" sz="2000"/>
              <a:t>Tìm kiếm (</a:t>
            </a:r>
            <a:r>
              <a:rPr lang="en-US"/>
              <a:t>vd: tên / mô tả có chứa “3080”)</a:t>
            </a:r>
            <a:endParaRPr sz="2000"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GetByID (Lấy thông tin 1 đối tượng dựa vào ID)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Insert 			- Thêm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DeleteByID		- Xóa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UpdateByID	- Sửa</a:t>
            </a:r>
            <a:endParaRPr/>
          </a:p>
          <a:p>
            <a:pPr indent="-2794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28" name="Google Shape;328;p42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/>
              <a:t>Mini quiz 3</a:t>
            </a:r>
            <a:endParaRPr/>
          </a:p>
        </p:txBody>
      </p:sp>
      <p:sp>
        <p:nvSpPr>
          <p:cNvPr id="334" name="Google Shape;334;p43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GetAll: Những bảng có đặc điểm nào thì sẽ lấy hết vào bộ nhớ?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Những bảng có đặc điểm nào không thích hợp lấy hết vào bộ nhớ?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Nếu không lấy hết thì phải lấy như thế nào?</a:t>
            </a:r>
            <a:endParaRPr/>
          </a:p>
        </p:txBody>
      </p:sp>
      <p:sp>
        <p:nvSpPr>
          <p:cNvPr id="335" name="Google Shape;335;p43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Một số vấn đề khác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5"/>
          <p:cNvSpPr txBox="1"/>
          <p:nvPr>
            <p:ph idx="4294967295" type="sldNum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6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Lấy ID của đối tượng vừa chèn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6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66FF"/>
                </a:solidFill>
              </a:rPr>
              <a:t>string </a:t>
            </a:r>
            <a:r>
              <a:rPr lang="en-US" sz="2400"/>
              <a:t>sql = "</a:t>
            </a:r>
            <a:r>
              <a:rPr lang="en-US" sz="2400">
                <a:solidFill>
                  <a:srgbClr val="D22121"/>
                </a:solidFill>
              </a:rPr>
              <a:t>insert into Category(Name) values(@Name); </a:t>
            </a:r>
            <a:endParaRPr sz="2400">
              <a:solidFill>
                <a:srgbClr val="D22121"/>
              </a:solidFill>
            </a:endParaRPr>
          </a:p>
          <a:p>
            <a:pPr indent="0" lvl="0" marL="13716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D22121"/>
                </a:solidFill>
              </a:rPr>
              <a:t>   select ident_current('Category');</a:t>
            </a:r>
            <a:r>
              <a:rPr lang="en-US" sz="2400"/>
              <a:t>";</a:t>
            </a:r>
            <a:endParaRPr sz="2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66FF"/>
                </a:solidFill>
              </a:rPr>
              <a:t>var </a:t>
            </a:r>
            <a:r>
              <a:rPr lang="en-US" sz="2400"/>
              <a:t>command = </a:t>
            </a:r>
            <a:r>
              <a:rPr lang="en-US" sz="2400">
                <a:solidFill>
                  <a:srgbClr val="0066FF"/>
                </a:solidFill>
              </a:rPr>
              <a:t>new </a:t>
            </a:r>
            <a:r>
              <a:rPr lang="en-US" sz="2400">
                <a:solidFill>
                  <a:srgbClr val="9900FF"/>
                </a:solidFill>
              </a:rPr>
              <a:t>SqlCommand</a:t>
            </a:r>
            <a:r>
              <a:rPr lang="en-US" sz="2400"/>
              <a:t>(sql, _connection);</a:t>
            </a:r>
            <a:endParaRPr sz="2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command.Parameters.Add("</a:t>
            </a:r>
            <a:r>
              <a:rPr lang="en-US" sz="2400">
                <a:solidFill>
                  <a:srgbClr val="D22121"/>
                </a:solidFill>
              </a:rPr>
              <a:t>@Name</a:t>
            </a:r>
            <a:r>
              <a:rPr lang="en-US" sz="2400"/>
              <a:t>", </a:t>
            </a:r>
            <a:r>
              <a:rPr lang="en-US" sz="2400">
                <a:solidFill>
                  <a:srgbClr val="0000FF"/>
                </a:solidFill>
              </a:rPr>
              <a:t>SqlDbType</a:t>
            </a:r>
            <a:r>
              <a:rPr lang="en-US" sz="2400"/>
              <a:t>.</a:t>
            </a:r>
            <a:r>
              <a:rPr b="1" lang="en-US" sz="2400">
                <a:solidFill>
                  <a:srgbClr val="38761D"/>
                </a:solidFill>
              </a:rPr>
              <a:t>NText</a:t>
            </a:r>
            <a:r>
              <a:rPr lang="en-US" sz="2400"/>
              <a:t>)</a:t>
            </a:r>
            <a:endParaRPr sz="2400"/>
          </a:p>
          <a:p>
            <a:pPr indent="457200" lvl="0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.Value = newCategory.Name;</a:t>
            </a:r>
            <a:endParaRPr sz="24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66FF"/>
                </a:solidFill>
              </a:rPr>
              <a:t>int </a:t>
            </a:r>
            <a:r>
              <a:rPr lang="en-US" sz="2400"/>
              <a:t>id = </a:t>
            </a:r>
            <a:r>
              <a:rPr lang="en-US" sz="2400">
                <a:solidFill>
                  <a:srgbClr val="0066FF"/>
                </a:solidFill>
              </a:rPr>
              <a:t>Convert.ToInt32(</a:t>
            </a:r>
            <a:r>
              <a:rPr lang="en-US" sz="2400"/>
              <a:t>command.</a:t>
            </a:r>
            <a:r>
              <a:rPr b="1" lang="en-US" sz="2400">
                <a:solidFill>
                  <a:srgbClr val="FF9900"/>
                </a:solidFill>
              </a:rPr>
              <a:t>ExecuteScalar</a:t>
            </a:r>
            <a:r>
              <a:rPr lang="en-US" sz="2400"/>
              <a:t>());</a:t>
            </a:r>
            <a:endParaRPr sz="2400"/>
          </a:p>
          <a:p>
            <a:pPr indent="-2794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348" name="Google Shape;348;p46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3587a47c5f_0_32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Chèn và lấy id</a:t>
            </a:r>
            <a:endParaRPr/>
          </a:p>
        </p:txBody>
      </p:sp>
      <p:sp>
        <p:nvSpPr>
          <p:cNvPr id="355" name="Google Shape;355;g33587a47c5f_0_32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6" name="Google Shape;356;g33587a47c5f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7800"/>
            <a:ext cx="8839200" cy="302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800">
                <a:latin typeface="Arial"/>
                <a:ea typeface="Arial"/>
                <a:cs typeface="Arial"/>
                <a:sym typeface="Arial"/>
              </a:rPr>
              <a:t>Làm việc với stored procedure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7"/>
          <p:cNvSpPr txBox="1"/>
          <p:nvPr>
            <p:ph idx="1" type="body"/>
          </p:nvPr>
        </p:nvSpPr>
        <p:spPr>
          <a:xfrm>
            <a:off x="243840" y="1600200"/>
            <a:ext cx="874776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var</a:t>
            </a:r>
            <a:r>
              <a:rPr lang="en-US" sz="1800"/>
              <a:t> sql = “</a:t>
            </a:r>
            <a:r>
              <a:rPr i="1" lang="en-US" sz="1800">
                <a:solidFill>
                  <a:srgbClr val="FF0000"/>
                </a:solidFill>
              </a:rPr>
              <a:t>StoredName</a:t>
            </a:r>
            <a:r>
              <a:rPr lang="en-US" sz="1800"/>
              <a:t>”;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var</a:t>
            </a:r>
            <a:r>
              <a:rPr lang="en-US" sz="1800"/>
              <a:t> command </a:t>
            </a:r>
            <a:r>
              <a:rPr lang="en-US" sz="1800">
                <a:solidFill>
                  <a:srgbClr val="0070C0"/>
                </a:solidFill>
              </a:rPr>
              <a:t>=</a:t>
            </a:r>
            <a:r>
              <a:rPr lang="en-US" sz="1800"/>
              <a:t> </a:t>
            </a:r>
            <a:r>
              <a:rPr lang="en-US" sz="1800">
                <a:solidFill>
                  <a:srgbClr val="0070C0"/>
                </a:solidFill>
              </a:rPr>
              <a:t>new</a:t>
            </a:r>
            <a:r>
              <a:rPr lang="en-US" sz="1800"/>
              <a:t> </a:t>
            </a:r>
            <a:r>
              <a:rPr lang="en-US" sz="1800">
                <a:solidFill>
                  <a:srgbClr val="0070C0"/>
                </a:solidFill>
              </a:rPr>
              <a:t>SqlCommand</a:t>
            </a:r>
            <a:r>
              <a:rPr lang="en-US" sz="1800"/>
              <a:t>(sql, connection);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command.CommandType = </a:t>
            </a:r>
            <a:r>
              <a:rPr lang="en-US" sz="1800">
                <a:solidFill>
                  <a:srgbClr val="0070C0"/>
                </a:solidFill>
              </a:rPr>
              <a:t>CommandType</a:t>
            </a:r>
            <a:r>
              <a:rPr lang="en-US" sz="1800"/>
              <a:t>.StoredProcedure;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var</a:t>
            </a:r>
            <a:r>
              <a:rPr lang="en-US" sz="1800"/>
              <a:t> RetVal = command.Parameters.Add ("</a:t>
            </a:r>
            <a:r>
              <a:rPr i="1" lang="en-US" sz="1800">
                <a:solidFill>
                  <a:srgbClr val="FF0000"/>
                </a:solidFill>
              </a:rPr>
              <a:t>RetVal</a:t>
            </a:r>
            <a:r>
              <a:rPr lang="en-US" sz="1800"/>
              <a:t>", </a:t>
            </a:r>
            <a:r>
              <a:rPr lang="en-US" sz="1800">
                <a:solidFill>
                  <a:srgbClr val="0070C0"/>
                </a:solidFill>
              </a:rPr>
              <a:t>SqlDbType</a:t>
            </a:r>
            <a:r>
              <a:rPr lang="en-US" sz="1800"/>
              <a:t>.Int);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RetVal.Direction = ParameterDirection.</a:t>
            </a:r>
            <a:r>
              <a:rPr lang="en-US" sz="1800">
                <a:solidFill>
                  <a:srgbClr val="0000FF"/>
                </a:solidFill>
              </a:rPr>
              <a:t>ReturnValue</a:t>
            </a:r>
            <a:r>
              <a:rPr lang="en-US" sz="1800"/>
              <a:t>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command.Parameters.Add("</a:t>
            </a:r>
            <a:r>
              <a:rPr i="1" lang="en-US" sz="1800">
                <a:solidFill>
                  <a:srgbClr val="FF0000"/>
                </a:solidFill>
              </a:rPr>
              <a:t>@id</a:t>
            </a:r>
            <a:r>
              <a:rPr lang="en-US" sz="1800"/>
              <a:t>", </a:t>
            </a:r>
            <a:r>
              <a:rPr lang="en-US" sz="1800">
                <a:solidFill>
                  <a:srgbClr val="0070C0"/>
                </a:solidFill>
              </a:rPr>
              <a:t>SqlDbType</a:t>
            </a:r>
            <a:r>
              <a:rPr lang="en-US" sz="1800"/>
              <a:t>.VarChar, 11)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	.Direction = ParameterDirection.</a:t>
            </a:r>
            <a:r>
              <a:rPr lang="en-US" sz="1800">
                <a:solidFill>
                  <a:srgbClr val="0000FF"/>
                </a:solidFill>
              </a:rPr>
              <a:t>Input</a:t>
            </a:r>
            <a:r>
              <a:rPr lang="en-US" sz="1800"/>
              <a:t>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70C0"/>
                </a:solidFill>
              </a:rPr>
              <a:t>var</a:t>
            </a:r>
            <a:r>
              <a:rPr lang="en-US" sz="1800"/>
              <a:t> NumTitles  = 	command.Parameters.Add("</a:t>
            </a:r>
            <a:r>
              <a:rPr i="1" lang="en-US" sz="1800">
                <a:solidFill>
                  <a:srgbClr val="FF0000"/>
                </a:solidFill>
              </a:rPr>
              <a:t>@titlesout</a:t>
            </a:r>
            <a:r>
              <a:rPr lang="en-US" sz="1800"/>
              <a:t>", </a:t>
            </a:r>
            <a:r>
              <a:rPr lang="en-US" sz="1800">
                <a:solidFill>
                  <a:srgbClr val="0070C0"/>
                </a:solidFill>
              </a:rPr>
              <a:t>SqlDbType</a:t>
            </a:r>
            <a:r>
              <a:rPr lang="en-US" sz="1800"/>
              <a:t>.VarChar, 11);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NumTitles.Direction = ParameterDirection.</a:t>
            </a:r>
            <a:r>
              <a:rPr lang="en-US" sz="1800">
                <a:solidFill>
                  <a:srgbClr val="0000FF"/>
                </a:solidFill>
              </a:rPr>
              <a:t>Output</a:t>
            </a:r>
            <a:r>
              <a:rPr lang="en-US" sz="1800"/>
              <a:t>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8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Phân trang – Các yếu tố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8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Tổng số lượng trang có thể có?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Tổng số dòng kết quả trả về? - TotalItems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Số lượng kết quả mỗi trang? – RowsPerPage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TotalPages = TotalItems / RowsPerPage + 0 / 1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Mất một lần truy vấn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Trang hiện tại là trang nào? Trang kế?</a:t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Trước SQL Server 2012 sử dụng hàm Row_Number()</a:t>
            </a:r>
            <a:endParaRPr/>
          </a:p>
        </p:txBody>
      </p:sp>
      <p:sp>
        <p:nvSpPr>
          <p:cNvPr id="370" name="Google Shape;370;p48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9"/>
          <p:cNvSpPr txBox="1"/>
          <p:nvPr>
            <p:ph type="title"/>
          </p:nvPr>
        </p:nvSpPr>
        <p:spPr>
          <a:xfrm>
            <a:off x="228600" y="198120"/>
            <a:ext cx="876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Quattrocento Sans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Phân trang từ SQL Server 2012</a:t>
            </a:r>
            <a:endParaRPr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9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Bỏ qua 10 kết quả đầu tiên, lấy toàn bộ còn lại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Select</a:t>
            </a:r>
            <a:r>
              <a:rPr lang="en-US"/>
              <a:t> * </a:t>
            </a:r>
            <a:r>
              <a:rPr lang="en-US">
                <a:solidFill>
                  <a:srgbClr val="C00000"/>
                </a:solidFill>
              </a:rPr>
              <a:t>from</a:t>
            </a:r>
            <a:r>
              <a:rPr lang="en-US"/>
              <a:t> NhanVien </a:t>
            </a:r>
            <a:r>
              <a:rPr lang="en-US">
                <a:solidFill>
                  <a:srgbClr val="0070C0"/>
                </a:solidFill>
              </a:rPr>
              <a:t>order by</a:t>
            </a:r>
            <a:r>
              <a:rPr lang="en-US"/>
              <a:t> ID </a:t>
            </a:r>
            <a:r>
              <a:rPr lang="en-US">
                <a:solidFill>
                  <a:srgbClr val="C00000"/>
                </a:solidFill>
              </a:rPr>
              <a:t>offset</a:t>
            </a:r>
            <a:r>
              <a:rPr lang="en-US"/>
              <a:t> 10 </a:t>
            </a:r>
            <a:r>
              <a:rPr lang="en-US">
                <a:solidFill>
                  <a:srgbClr val="C00000"/>
                </a:solidFill>
              </a:rPr>
              <a:t>rows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rPr b="1" lang="en-US">
                <a:solidFill>
                  <a:srgbClr val="FF0000"/>
                </a:solidFill>
              </a:rPr>
              <a:t>(Bắt buộc phải có order by)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560"/>
              </a:spcBef>
              <a:spcAft>
                <a:spcPts val="0"/>
              </a:spcAft>
              <a:buClr>
                <a:srgbClr val="0066FF"/>
              </a:buClr>
              <a:buSzPts val="2800"/>
              <a:buFont typeface="Noto Sans Symbols"/>
              <a:buChar char="❑"/>
            </a:pPr>
            <a:r>
              <a:rPr lang="en-US"/>
              <a:t>Bỏ qua 10 kết quả đầu tiên, lấy 7 kết quả kế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Select</a:t>
            </a:r>
            <a:r>
              <a:rPr lang="en-US"/>
              <a:t> * </a:t>
            </a:r>
            <a:r>
              <a:rPr lang="en-US">
                <a:solidFill>
                  <a:srgbClr val="C00000"/>
                </a:solidFill>
              </a:rPr>
              <a:t>from</a:t>
            </a:r>
            <a:r>
              <a:rPr lang="en-US"/>
              <a:t> NhanVien </a:t>
            </a:r>
            <a:r>
              <a:rPr lang="en-US">
                <a:solidFill>
                  <a:srgbClr val="0070C0"/>
                </a:solidFill>
              </a:rPr>
              <a:t>order by</a:t>
            </a:r>
            <a:r>
              <a:rPr lang="en-US"/>
              <a:t> ID </a:t>
            </a:r>
            <a:r>
              <a:rPr lang="en-US">
                <a:solidFill>
                  <a:srgbClr val="C00000"/>
                </a:solidFill>
              </a:rPr>
              <a:t>offset</a:t>
            </a:r>
            <a:r>
              <a:rPr lang="en-US"/>
              <a:t> 10 </a:t>
            </a:r>
            <a:r>
              <a:rPr lang="en-US">
                <a:solidFill>
                  <a:srgbClr val="C00000"/>
                </a:solidFill>
              </a:rPr>
              <a:t>rows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	 fetch</a:t>
            </a:r>
            <a:r>
              <a:rPr lang="en-US"/>
              <a:t> </a:t>
            </a:r>
            <a:r>
              <a:rPr lang="en-US">
                <a:solidFill>
                  <a:srgbClr val="C00000"/>
                </a:solidFill>
              </a:rPr>
              <a:t>next</a:t>
            </a:r>
            <a:r>
              <a:rPr lang="en-US"/>
              <a:t> 7 </a:t>
            </a:r>
            <a:r>
              <a:rPr lang="en-US">
                <a:solidFill>
                  <a:srgbClr val="C00000"/>
                </a:solidFill>
              </a:rPr>
              <a:t>rows</a:t>
            </a:r>
            <a:r>
              <a:rPr lang="en-US"/>
              <a:t> </a:t>
            </a:r>
            <a:r>
              <a:rPr lang="en-US">
                <a:solidFill>
                  <a:srgbClr val="C00000"/>
                </a:solidFill>
              </a:rPr>
              <a:t>only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7" name="Google Shape;377;p49"/>
          <p:cNvSpPr txBox="1"/>
          <p:nvPr>
            <p:ph idx="12" type="sldNum"/>
          </p:nvPr>
        </p:nvSpPr>
        <p:spPr>
          <a:xfrm>
            <a:off x="6858000" y="6324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2b4a5d3612_0_7"/>
          <p:cNvSpPr txBox="1"/>
          <p:nvPr>
            <p:ph type="title"/>
          </p:nvPr>
        </p:nvSpPr>
        <p:spPr>
          <a:xfrm>
            <a:off x="381000" y="152400"/>
            <a:ext cx="87630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Trả ra tổng item</a:t>
            </a:r>
            <a:endParaRPr/>
          </a:p>
        </p:txBody>
      </p:sp>
      <p:sp>
        <p:nvSpPr>
          <p:cNvPr id="384" name="Google Shape;384;g22b4a5d3612_0_7"/>
          <p:cNvSpPr txBox="1"/>
          <p:nvPr>
            <p:ph idx="1" type="body"/>
          </p:nvPr>
        </p:nvSpPr>
        <p:spPr>
          <a:xfrm>
            <a:off x="381000" y="1600200"/>
            <a:ext cx="8610600" cy="472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select ID, Name, </a:t>
            </a:r>
            <a:r>
              <a:rPr lang="en-US">
                <a:solidFill>
                  <a:srgbClr val="FF0000"/>
                </a:solidFill>
              </a:rPr>
              <a:t>count(*) over() as TotalItems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1 - Laptop - 3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2- Mouse - 3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3 - Keyboard - 3</a:t>
            </a:r>
            <a:endParaRPr/>
          </a:p>
        </p:txBody>
      </p:sp>
      <p:sp>
        <p:nvSpPr>
          <p:cNvPr id="385" name="Google Shape;385;g22b4a5d3612_0_7"/>
          <p:cNvSpPr txBox="1"/>
          <p:nvPr>
            <p:ph idx="12" type="sldNum"/>
          </p:nvPr>
        </p:nvSpPr>
        <p:spPr>
          <a:xfrm>
            <a:off x="6858000" y="632460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2849228beb_0_12"/>
          <p:cNvSpPr txBox="1"/>
          <p:nvPr>
            <p:ph type="title"/>
          </p:nvPr>
        </p:nvSpPr>
        <p:spPr>
          <a:xfrm>
            <a:off x="141300" y="0"/>
            <a:ext cx="9012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Vấn đề trạng thái đơn hàng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22849228beb_0_12"/>
          <p:cNvSpPr txBox="1"/>
          <p:nvPr>
            <p:ph idx="1" type="body"/>
          </p:nvPr>
        </p:nvSpPr>
        <p:spPr>
          <a:xfrm>
            <a:off x="141300" y="1218667"/>
            <a:ext cx="8932200" cy="56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Các trạng thái có thể có: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Char char="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Mới tạo, Đã hủy, Đã hoàn thành, Đang giao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New, Cancelled, Completed, Shipping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6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Tạo ra enum ánh xạ 1-1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g22849228beb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575" y="3911092"/>
            <a:ext cx="3766425" cy="1356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3" name="Google Shape;393;g22849228beb_0_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3700" y="3911092"/>
            <a:ext cx="2447925" cy="2133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2a9a045e75_1_7"/>
          <p:cNvSpPr txBox="1"/>
          <p:nvPr>
            <p:ph type="title"/>
          </p:nvPr>
        </p:nvSpPr>
        <p:spPr>
          <a:xfrm>
            <a:off x="117828" y="2582009"/>
            <a:ext cx="5575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Ảnh lưu ở đâu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4ac0cea4ac_0_26"/>
          <p:cNvSpPr txBox="1"/>
          <p:nvPr>
            <p:ph type="title"/>
          </p:nvPr>
        </p:nvSpPr>
        <p:spPr>
          <a:xfrm>
            <a:off x="141300" y="0"/>
            <a:ext cx="9012000" cy="9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Phạm vi môn học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24ac0cea4ac_0_26"/>
          <p:cNvSpPr txBox="1"/>
          <p:nvPr>
            <p:ph idx="1" type="body"/>
          </p:nvPr>
        </p:nvSpPr>
        <p:spPr>
          <a:xfrm>
            <a:off x="141300" y="1218667"/>
            <a:ext cx="8932200" cy="5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Dành một thư mục chứa ảnh tập trung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Khi nộp bài nhớ nộp kèm </a:t>
            </a:r>
            <a:endParaRPr/>
          </a:p>
        </p:txBody>
      </p:sp>
      <p:sp>
        <p:nvSpPr>
          <p:cNvPr id="407" name="Google Shape;407;g24ac0cea4ac_0_26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4ac0cea4ac_0_40"/>
          <p:cNvSpPr txBox="1"/>
          <p:nvPr>
            <p:ph type="title"/>
          </p:nvPr>
        </p:nvSpPr>
        <p:spPr>
          <a:xfrm>
            <a:off x="141300" y="0"/>
            <a:ext cx="9012000" cy="9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Thực tế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24ac0cea4ac_0_40"/>
          <p:cNvSpPr txBox="1"/>
          <p:nvPr>
            <p:ph idx="1" type="body"/>
          </p:nvPr>
        </p:nvSpPr>
        <p:spPr>
          <a:xfrm>
            <a:off x="141300" y="1218667"/>
            <a:ext cx="8932200" cy="5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-US"/>
              <a:t>Cần setup file server - nginx </a:t>
            </a:r>
            <a:endParaRPr/>
          </a:p>
        </p:txBody>
      </p:sp>
      <p:sp>
        <p:nvSpPr>
          <p:cNvPr id="415" name="Google Shape;415;g24ac0cea4ac_0_40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5d6121e41_0_8"/>
          <p:cNvSpPr txBox="1"/>
          <p:nvPr>
            <p:ph type="title"/>
          </p:nvPr>
        </p:nvSpPr>
        <p:spPr>
          <a:xfrm>
            <a:off x="527050" y="2293936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Postgres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5d6121e41_0_0"/>
          <p:cNvSpPr txBox="1"/>
          <p:nvPr>
            <p:ph type="title"/>
          </p:nvPr>
        </p:nvSpPr>
        <p:spPr>
          <a:xfrm>
            <a:off x="141300" y="0"/>
            <a:ext cx="9012000" cy="9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Tạo ra container và chạy</a:t>
            </a:r>
            <a:endParaRPr/>
          </a:p>
        </p:txBody>
      </p:sp>
      <p:sp>
        <p:nvSpPr>
          <p:cNvPr id="428" name="Google Shape;428;g335d6121e41_0_0"/>
          <p:cNvSpPr txBox="1"/>
          <p:nvPr>
            <p:ph idx="1" type="body"/>
          </p:nvPr>
        </p:nvSpPr>
        <p:spPr>
          <a:xfrm>
            <a:off x="141300" y="1218667"/>
            <a:ext cx="8932200" cy="5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docker create --name db -e POSTGRES_PASSWORD=1234 -p 5432:5432 postgres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docker start db</a:t>
            </a:r>
            <a:endParaRPr/>
          </a:p>
        </p:txBody>
      </p:sp>
      <p:sp>
        <p:nvSpPr>
          <p:cNvPr id="429" name="Google Shape;429;g335d6121e41_0_0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5d6121e41_0_15"/>
          <p:cNvSpPr txBox="1"/>
          <p:nvPr>
            <p:ph type="title"/>
          </p:nvPr>
        </p:nvSpPr>
        <p:spPr>
          <a:xfrm>
            <a:off x="141300" y="0"/>
            <a:ext cx="9012000" cy="9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Lấy id vừa tạo ra</a:t>
            </a:r>
            <a:endParaRPr/>
          </a:p>
        </p:txBody>
      </p:sp>
      <p:sp>
        <p:nvSpPr>
          <p:cNvPr id="436" name="Google Shape;436;g335d6121e41_0_15"/>
          <p:cNvSpPr txBox="1"/>
          <p:nvPr>
            <p:ph idx="1" type="body"/>
          </p:nvPr>
        </p:nvSpPr>
        <p:spPr>
          <a:xfrm>
            <a:off x="141300" y="1218667"/>
            <a:ext cx="8932200" cy="5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currval(pg_get_serial_sequence('Category','id'));</a:t>
            </a:r>
            <a:endParaRPr/>
          </a:p>
        </p:txBody>
      </p:sp>
      <p:sp>
        <p:nvSpPr>
          <p:cNvPr id="437" name="Google Shape;437;g335d6121e41_0_15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35d6121e41_0_23"/>
          <p:cNvSpPr txBox="1"/>
          <p:nvPr>
            <p:ph type="title"/>
          </p:nvPr>
        </p:nvSpPr>
        <p:spPr>
          <a:xfrm>
            <a:off x="141300" y="0"/>
            <a:ext cx="9012000" cy="99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Paging</a:t>
            </a:r>
            <a:endParaRPr/>
          </a:p>
        </p:txBody>
      </p:sp>
      <p:sp>
        <p:nvSpPr>
          <p:cNvPr id="444" name="Google Shape;444;g335d6121e41_0_23"/>
          <p:cNvSpPr txBox="1"/>
          <p:nvPr>
            <p:ph idx="1" type="body"/>
          </p:nvPr>
        </p:nvSpPr>
        <p:spPr>
          <a:xfrm>
            <a:off x="141300" y="1218667"/>
            <a:ext cx="8932200" cy="5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* from category offset 1 limit 3;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Get the total rows of the query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SELECT *, count(*) OVER() AS 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FROM </a:t>
            </a:r>
            <a:r>
              <a:rPr lang="en-US">
                <a:solidFill>
                  <a:schemeClr val="dk1"/>
                </a:solidFill>
              </a:rPr>
              <a:t>category OFFSET 1 LIMIT 3;</a:t>
            </a:r>
            <a:endParaRPr/>
          </a:p>
        </p:txBody>
      </p:sp>
      <p:sp>
        <p:nvSpPr>
          <p:cNvPr id="445" name="Google Shape;445;g335d6121e41_0_2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Glossy2014Theme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2014-01-21T07:24:28Z</dcterms:created>
  <dc:creator>tdquang7@gmail.com</dc:creator>
</cp:coreProperties>
</file>