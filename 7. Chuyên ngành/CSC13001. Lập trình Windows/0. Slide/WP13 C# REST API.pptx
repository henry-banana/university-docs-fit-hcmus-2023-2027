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qufDOhibWXKzDKIBQah56TnCc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3" Type="http://customschemas.google.com/relationships/presentationmetadata" Target="metadata"/><Relationship Id="rId12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964f5a7b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2964f5a7b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9f269706e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9f269706e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4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65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63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  <a:effectLst>
            <a:outerShdw blurRad="757238" rotWithShape="0" algn="bl" dir="12000000" dist="9525">
              <a:srgbClr val="000000">
                <a:alpha val="5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5e795b85a1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6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2" name="Google Shape;4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6" name="Google Shape;46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7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C# Call REST API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964f5a7bf4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Making the request</a:t>
            </a:r>
            <a:endParaRPr/>
          </a:p>
        </p:txBody>
      </p:sp>
      <p:sp>
        <p:nvSpPr>
          <p:cNvPr id="67" name="Google Shape;67;g2964f5a7bf4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00FF"/>
                </a:solidFill>
              </a:rPr>
              <a:t>using </a:t>
            </a:r>
            <a:r>
              <a:rPr lang="en" sz="2400"/>
              <a:t>var client = </a:t>
            </a:r>
            <a:r>
              <a:rPr lang="en" sz="2400">
                <a:solidFill>
                  <a:srgbClr val="0000FF"/>
                </a:solidFill>
              </a:rPr>
              <a:t>new </a:t>
            </a:r>
            <a:r>
              <a:rPr lang="en" sz="2400">
                <a:solidFill>
                  <a:srgbClr val="B45F06"/>
                </a:solidFill>
              </a:rPr>
              <a:t>HttpClient</a:t>
            </a:r>
            <a:r>
              <a:rPr lang="en" sz="2400"/>
              <a:t>();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client.BaseAddress = </a:t>
            </a:r>
            <a:r>
              <a:rPr lang="en" sz="2400">
                <a:solidFill>
                  <a:srgbClr val="0000FF"/>
                </a:solidFill>
              </a:rPr>
              <a:t>new </a:t>
            </a:r>
            <a:r>
              <a:rPr lang="en" sz="2400">
                <a:solidFill>
                  <a:srgbClr val="B45F06"/>
                </a:solidFill>
              </a:rPr>
              <a:t>Uri</a:t>
            </a:r>
            <a:r>
              <a:rPr lang="en" sz="2400"/>
              <a:t>(url);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client.DefaultRequestHeaders.Accept.Add(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   </a:t>
            </a:r>
            <a:r>
              <a:rPr lang="en" sz="2400">
                <a:solidFill>
                  <a:srgbClr val="0000FF"/>
                </a:solidFill>
              </a:rPr>
              <a:t>new </a:t>
            </a:r>
            <a:r>
              <a:rPr lang="en" sz="2400">
                <a:solidFill>
                  <a:srgbClr val="FF00FF"/>
                </a:solidFill>
              </a:rPr>
              <a:t>MediaTypeWithQualityHeaderValue</a:t>
            </a:r>
            <a:r>
              <a:rPr lang="en" sz="2400"/>
              <a:t>("</a:t>
            </a:r>
            <a:r>
              <a:rPr lang="en" sz="2400">
                <a:solidFill>
                  <a:srgbClr val="FF0000"/>
                </a:solidFill>
              </a:rPr>
              <a:t>application/json</a:t>
            </a:r>
            <a:r>
              <a:rPr lang="en" sz="2400"/>
              <a:t>"));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// JWT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/>
              <a:t>    </a:t>
            </a:r>
            <a:endParaRPr sz="2400"/>
          </a:p>
        </p:txBody>
      </p:sp>
      <p:sp>
        <p:nvSpPr>
          <p:cNvPr id="68" name="Google Shape;68;g2964f5a7bf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9f269706ee_0_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response</a:t>
            </a:r>
            <a:endParaRPr/>
          </a:p>
        </p:txBody>
      </p:sp>
      <p:sp>
        <p:nvSpPr>
          <p:cNvPr id="74" name="Google Shape;74;g29f269706ee_0_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00FF"/>
                </a:solidFill>
              </a:rPr>
              <a:t>var </a:t>
            </a:r>
            <a:r>
              <a:rPr lang="en" sz="1900">
                <a:solidFill>
                  <a:schemeClr val="dk1"/>
                </a:solidFill>
              </a:rPr>
              <a:t>response = client.GetAsync(urlParameters).Result; 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</a:rPr>
              <a:t>if </a:t>
            </a:r>
            <a:r>
              <a:rPr lang="en" sz="1900">
                <a:solidFill>
                  <a:schemeClr val="dk1"/>
                </a:solidFill>
              </a:rPr>
              <a:t>(response.IsSuccessStatusCode)    {     </a:t>
            </a:r>
            <a:endParaRPr sz="19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00FF"/>
                </a:solidFill>
              </a:rPr>
              <a:t>var </a:t>
            </a:r>
            <a:r>
              <a:rPr lang="en" sz="1900">
                <a:solidFill>
                  <a:schemeClr val="dk1"/>
                </a:solidFill>
              </a:rPr>
              <a:t>items = response.Content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                     .ReadAsAsync&lt;</a:t>
            </a:r>
            <a:r>
              <a:rPr lang="en" sz="1900">
                <a:solidFill>
                  <a:srgbClr val="3D85C6"/>
                </a:solidFill>
              </a:rPr>
              <a:t>IEnumerable</a:t>
            </a:r>
            <a:r>
              <a:rPr lang="en" sz="1900">
                <a:solidFill>
                  <a:schemeClr val="dk1"/>
                </a:solidFill>
              </a:rPr>
              <a:t>&lt;</a:t>
            </a:r>
            <a:r>
              <a:rPr lang="en" sz="1900">
                <a:solidFill>
                  <a:srgbClr val="FF00FF"/>
                </a:solidFill>
              </a:rPr>
              <a:t>DataObject</a:t>
            </a:r>
            <a:r>
              <a:rPr lang="en" sz="1900">
                <a:solidFill>
                  <a:schemeClr val="dk1"/>
                </a:solidFill>
              </a:rPr>
              <a:t>&gt;&gt;().Result; 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      </a:t>
            </a:r>
            <a:r>
              <a:rPr lang="en" sz="1900">
                <a:solidFill>
                  <a:srgbClr val="0000FF"/>
                </a:solidFill>
              </a:rPr>
              <a:t>foreach </a:t>
            </a:r>
            <a:r>
              <a:rPr lang="en" sz="1900">
                <a:solidFill>
                  <a:schemeClr val="dk1"/>
                </a:solidFill>
              </a:rPr>
              <a:t>(</a:t>
            </a:r>
            <a:r>
              <a:rPr lang="en" sz="1900">
                <a:solidFill>
                  <a:srgbClr val="0000FF"/>
                </a:solidFill>
              </a:rPr>
              <a:t>var</a:t>
            </a:r>
            <a:r>
              <a:rPr lang="en" sz="1900">
                <a:solidFill>
                  <a:schemeClr val="dk1"/>
                </a:solidFill>
              </a:rPr>
              <a:t> d </a:t>
            </a:r>
            <a:r>
              <a:rPr lang="en" sz="1900">
                <a:solidFill>
                  <a:srgbClr val="0000FF"/>
                </a:solidFill>
              </a:rPr>
              <a:t>in </a:t>
            </a:r>
            <a:r>
              <a:rPr lang="en" sz="1900">
                <a:solidFill>
                  <a:schemeClr val="dk1"/>
                </a:solidFill>
              </a:rPr>
              <a:t>items) {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          Console.WriteLine(</a:t>
            </a:r>
            <a:r>
              <a:rPr lang="en" sz="1900">
                <a:solidFill>
                  <a:srgbClr val="FF0000"/>
                </a:solidFill>
              </a:rPr>
              <a:t>"{0}"</a:t>
            </a:r>
            <a:r>
              <a:rPr lang="en" sz="1900">
                <a:solidFill>
                  <a:schemeClr val="dk1"/>
                </a:solidFill>
              </a:rPr>
              <a:t>, d.Name);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       }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} </a:t>
            </a:r>
            <a:r>
              <a:rPr lang="en" sz="1900">
                <a:solidFill>
                  <a:srgbClr val="0000FF"/>
                </a:solidFill>
              </a:rPr>
              <a:t>else </a:t>
            </a:r>
            <a:r>
              <a:rPr lang="en" sz="1900">
                <a:solidFill>
                  <a:schemeClr val="dk1"/>
                </a:solidFill>
              </a:rPr>
              <a:t>{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       Console.WriteLine(</a:t>
            </a:r>
            <a:r>
              <a:rPr lang="en" sz="1900">
                <a:solidFill>
                  <a:srgbClr val="FF0000"/>
                </a:solidFill>
              </a:rPr>
              <a:t>"{0} ({1})"</a:t>
            </a:r>
            <a:r>
              <a:rPr lang="en" sz="1900">
                <a:solidFill>
                  <a:schemeClr val="dk1"/>
                </a:solidFill>
              </a:rPr>
              <a:t>, </a:t>
            </a:r>
            <a:endParaRPr sz="19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(</a:t>
            </a:r>
            <a:r>
              <a:rPr lang="en" sz="1900">
                <a:solidFill>
                  <a:srgbClr val="0000FF"/>
                </a:solidFill>
              </a:rPr>
              <a:t>int</a:t>
            </a:r>
            <a:r>
              <a:rPr lang="en" sz="1900">
                <a:solidFill>
                  <a:schemeClr val="dk1"/>
                </a:solidFill>
              </a:rPr>
              <a:t>)response.StatusCode,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             response.ReasonPhrase);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}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5" name="Google Shape;75;g29f269706ee_0_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