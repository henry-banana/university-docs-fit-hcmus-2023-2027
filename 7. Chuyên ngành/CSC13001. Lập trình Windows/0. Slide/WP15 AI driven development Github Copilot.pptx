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y="5143500" cx="9144000"/>
  <p:notesSz cx="6858000" cy="9144000"/>
  <p:embeddedFontLst>
    <p:embeddedFont>
      <p:font typeface="Roboto"/>
      <p:regular r:id="rId57"/>
      <p:bold r:id="rId58"/>
      <p:italic r:id="rId59"/>
      <p:boldItalic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61" roundtripDataSignature="AMtx7mietsy1rS9oeleee51TRhmVweF+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C5AA54B-7C56-4049-BA56-FE0AA3128098}">
  <a:tblStyle styleId="{DC5AA54B-7C56-4049-BA56-FE0AA312809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1" Type="http://customschemas.google.com/relationships/presentationmetadata" Target="meta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Roboto-bold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font" Target="fonts/Roboto-regular.fntdata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font" Target="fonts/Roboto-italic.fntdata"/><Relationship Id="rId14" Type="http://schemas.openxmlformats.org/officeDocument/2006/relationships/slide" Target="slides/slide8.xml"/><Relationship Id="rId58" Type="http://schemas.openxmlformats.org/officeDocument/2006/relationships/font" Target="fonts/Roboto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" name="Google Shape;59;p1:notes"/>
          <p:cNvSpPr/>
          <p:nvPr>
            <p:ph idx="2" type="sldImg"/>
          </p:nvPr>
        </p:nvSpPr>
        <p:spPr>
          <a:xfrm>
            <a:off x="1885950" y="1143000"/>
            <a:ext cx="3086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964f5a7bf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2964f5a7b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dc0d66357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dc0d66357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dc0d66357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dc0d66357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dc0d66357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dc0d66357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c943aea66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c943aea66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dbe9e7ec1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dbe9e7ec1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dbe9e7ec1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dbe9e7ec1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dbe9e7ec12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dbe9e7ec12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dbe9e7ec12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dbe9e7ec12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dbe9e7ec12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dbe9e7ec12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dbe9e7ec1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dbe9e7ec1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dbe9e7ec12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dbe9e7ec1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dbe9e7ec12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dbe9e7ec12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dbe9e7ec12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dbe9e7ec1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dbe9e7ec12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dbe9e7ec12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dbe9e7ec12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dbe9e7ec12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dbe9e7ec12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dbe9e7ec12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dbe9e7ec12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dbe9e7ec12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dbe9e7ec12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dbe9e7ec1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dbe9e7ec12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dbe9e7ec12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dbe9e7ec12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dbe9e7ec12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dbe9e7ec12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dbe9e7ec12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dbe9e7ec12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dbe9e7ec12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dbe9e7ec12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dbe9e7ec12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dbe9e7ec12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dbe9e7ec12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dbe9e7ec12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dbe9e7ec12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dbe9e7ec12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dbe9e7ec12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dbe9e7ec12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dbe9e7ec12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dbe9e7ec12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dbe9e7ec12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dbe9e7ec12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dbe9e7ec12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dbe9e7ec12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2dbe9e7ec12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dbe9e7ec12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dbe9e7ec12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dbe9e7ec12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dbe9e7ec12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dbe9e7ec12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dbe9e7ec12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dc943aea66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2dc943aea6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dc943aea66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2dc943aea66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dc943aea66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2dc943aea6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dc943aea66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2dc943aea66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e20484b55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2e20484b5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dc943aea6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2dc943aea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dc943aea6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2dc943aea6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dc943aea6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2dc943aea6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dc943aea6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2dc943aea6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dc943aea66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2dc943aea6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dc943aea66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2dc943aea6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2dbe9e7ec12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2dbe9e7ec12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dbe9e7ec12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2dbe9e7ec12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dc943aea66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2dc943aea66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2e20484b55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2e20484b55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2019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2"/>
          <p:cNvSpPr/>
          <p:nvPr/>
        </p:nvSpPr>
        <p:spPr>
          <a:xfrm>
            <a:off x="0" y="1907425"/>
            <a:ext cx="9144000" cy="1392900"/>
          </a:xfrm>
          <a:prstGeom prst="rect">
            <a:avLst/>
          </a:prstGeom>
          <a:solidFill>
            <a:srgbClr val="171E27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62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62"/>
          <p:cNvSpPr txBox="1"/>
          <p:nvPr>
            <p:ph idx="1" type="subTitle"/>
          </p:nvPr>
        </p:nvSpPr>
        <p:spPr>
          <a:xfrm>
            <a:off x="311700" y="376466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4"/>
          <p:cNvSpPr/>
          <p:nvPr/>
        </p:nvSpPr>
        <p:spPr>
          <a:xfrm>
            <a:off x="-20250" y="0"/>
            <a:ext cx="9184500" cy="7857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6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6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❏"/>
              <a:defRPr sz="2600">
                <a:solidFill>
                  <a:srgbClr val="000000"/>
                </a:solidFill>
              </a:defRPr>
            </a:lvl1pPr>
            <a:lvl2pPr indent="-355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Char char="❏"/>
              <a:defRPr sz="2000">
                <a:solidFill>
                  <a:srgbClr val="000000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❏"/>
              <a:defRPr sz="1800"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8" name="Google Shape;18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65"/>
          <p:cNvSpPr/>
          <p:nvPr/>
        </p:nvSpPr>
        <p:spPr>
          <a:xfrm flipH="1" rot="10800000">
            <a:off x="615650" y="2959437"/>
            <a:ext cx="7856700" cy="1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63"/>
          <p:cNvSpPr/>
          <p:nvPr/>
        </p:nvSpPr>
        <p:spPr>
          <a:xfrm>
            <a:off x="540000" y="1281775"/>
            <a:ext cx="8064000" cy="2240700"/>
          </a:xfrm>
          <a:prstGeom prst="rect">
            <a:avLst/>
          </a:prstGeom>
          <a:solidFill>
            <a:srgbClr val="2196F3"/>
          </a:solidFill>
          <a:ln>
            <a:noFill/>
          </a:ln>
          <a:effectLst>
            <a:outerShdw blurRad="757238" rotWithShape="0" algn="bl" dir="12000000" dist="9525">
              <a:srgbClr val="000000">
                <a:alpha val="5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63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25e795b85a1_0_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6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6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7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MAIN_POINT_1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2" name="Google Shape;42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43950" y="2559800"/>
            <a:ext cx="1981149" cy="1981149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 1">
  <p:cSld name="MAIN_POINT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6" name="Google Shape;46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54225" y="2887900"/>
            <a:ext cx="1683875" cy="168387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7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" name="Google Shape;51;p7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" name="Google Shape;52;p72"/>
          <p:cNvSpPr txBox="1"/>
          <p:nvPr>
            <p:ph idx="2" type="body"/>
          </p:nvPr>
        </p:nvSpPr>
        <p:spPr>
          <a:xfrm>
            <a:off x="4834400" y="403700"/>
            <a:ext cx="4107600" cy="43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3" name="Google Shape;53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6" name="Google Shape;56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196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1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"/>
              <a:buNone/>
              <a:defRPr b="0" i="0" sz="2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1"/>
          <p:cNvSpPr txBox="1"/>
          <p:nvPr>
            <p:ph idx="1" type="body"/>
          </p:nvPr>
        </p:nvSpPr>
        <p:spPr>
          <a:xfrm>
            <a:off x="90825" y="863550"/>
            <a:ext cx="9053100" cy="4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education.github.com/benefits" TargetMode="External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png"/><Relationship Id="rId4" Type="http://schemas.openxmlformats.org/officeDocument/2006/relationships/image" Target="../media/image3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0.png"/><Relationship Id="rId4" Type="http://schemas.openxmlformats.org/officeDocument/2006/relationships/image" Target="../media/image3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developers.google.com/idx/guides/code-with-gemini-in-idx" TargetMode="External"/><Relationship Id="rId4" Type="http://schemas.openxmlformats.org/officeDocument/2006/relationships/image" Target="../media/image3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s://microsoft.github.io/prompt-engineering" TargetMode="Externa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s://github.com/f/awesome-chatgpt-prompts" TargetMode="Externa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Quattrocento Sans"/>
              <a:buNone/>
            </a:pPr>
            <a:r>
              <a:rPr lang="en" sz="4400"/>
              <a:t>AI driven development</a:t>
            </a:r>
            <a:endParaRPr sz="4400"/>
          </a:p>
        </p:txBody>
      </p:sp>
      <p:sp>
        <p:nvSpPr>
          <p:cNvPr id="62" name="Google Shape;62;p1"/>
          <p:cNvSpPr txBox="1"/>
          <p:nvPr>
            <p:ph idx="1" type="subTitle"/>
          </p:nvPr>
        </p:nvSpPr>
        <p:spPr>
          <a:xfrm>
            <a:off x="311700" y="347571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Github Copilot</a:t>
            </a:r>
            <a:endParaRPr/>
          </a:p>
        </p:txBody>
      </p:sp>
      <p:pic>
        <p:nvPicPr>
          <p:cNvPr id="63" name="Google Shape;63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9825" y="210200"/>
            <a:ext cx="2564359" cy="160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964f5a7bf4_0_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What is GitHub Copilot?</a:t>
            </a:r>
            <a:endParaRPr/>
          </a:p>
        </p:txBody>
      </p:sp>
      <p:sp>
        <p:nvSpPr>
          <p:cNvPr id="69" name="Google Shape;69;g2964f5a7bf4_0_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T</a:t>
            </a:r>
            <a:r>
              <a:rPr lang="en"/>
              <a:t>ool to write easier and faster code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Powered by GPT-3</a:t>
            </a:r>
            <a:endParaRPr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Generative Pre-trained Transformer 3 (GPT-3) </a:t>
            </a:r>
            <a:endParaRPr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Large language model released by OpenAI in 2020</a:t>
            </a:r>
            <a:endParaRPr/>
          </a:p>
        </p:txBody>
      </p:sp>
      <p:sp>
        <p:nvSpPr>
          <p:cNvPr id="70" name="Google Shape;70;g2964f5a7bf4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dc0d66357b_0_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idea</a:t>
            </a:r>
            <a:endParaRPr/>
          </a:p>
        </p:txBody>
      </p:sp>
      <p:sp>
        <p:nvSpPr>
          <p:cNvPr id="76" name="Google Shape;76;g2dc0d66357b_0_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Write a description of what you need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Copilot will create for you</a:t>
            </a:r>
            <a:endParaRPr/>
          </a:p>
        </p:txBody>
      </p:sp>
      <p:sp>
        <p:nvSpPr>
          <p:cNvPr id="77" name="Google Shape;77;g2dc0d66357b_0_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dc0d66357b_0_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Copilot as a student</a:t>
            </a:r>
            <a:endParaRPr/>
          </a:p>
        </p:txBody>
      </p:sp>
      <p:sp>
        <p:nvSpPr>
          <p:cNvPr id="83" name="Google Shape;83;g2dc0d66357b_0_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Go to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https://education.github.com/benefits</a:t>
            </a:r>
            <a:r>
              <a:rPr lang="en"/>
              <a:t> 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Use your </a:t>
            </a:r>
            <a:r>
              <a:rPr lang="en"/>
              <a:t>student email to register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Still need to wait 2-3 days to be activated</a:t>
            </a:r>
            <a:endParaRPr/>
          </a:p>
        </p:txBody>
      </p:sp>
      <p:sp>
        <p:nvSpPr>
          <p:cNvPr id="84" name="Google Shape;84;g2dc0d66357b_0_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5" name="Google Shape;85;g2dc0d66357b_0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1139" y="2747127"/>
            <a:ext cx="4181725" cy="95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dc0d66357b_0_1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Extensions to install</a:t>
            </a:r>
            <a:endParaRPr/>
          </a:p>
        </p:txBody>
      </p:sp>
      <p:sp>
        <p:nvSpPr>
          <p:cNvPr id="91" name="Google Shape;91;g2dc0d66357b_0_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2" name="Google Shape;92;g2dc0d66357b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9613" y="894900"/>
            <a:ext cx="3331987" cy="245855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3" name="Google Shape;93;g2dc0d66357b_0_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894900"/>
            <a:ext cx="5354812" cy="181129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4" name="Google Shape;94;g2dc0d66357b_0_13"/>
          <p:cNvSpPr/>
          <p:nvPr/>
        </p:nvSpPr>
        <p:spPr>
          <a:xfrm>
            <a:off x="949150" y="2932850"/>
            <a:ext cx="3010178" cy="35029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2"/>
                </a:solidFill>
                <a:latin typeface="Arial"/>
              </a:rPr>
              <a:t>Visual Studio</a:t>
            </a:r>
          </a:p>
        </p:txBody>
      </p:sp>
      <p:sp>
        <p:nvSpPr>
          <p:cNvPr id="95" name="Google Shape;95;g2dc0d66357b_0_13"/>
          <p:cNvSpPr/>
          <p:nvPr/>
        </p:nvSpPr>
        <p:spPr>
          <a:xfrm>
            <a:off x="6410600" y="3505850"/>
            <a:ext cx="2061844" cy="35029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2"/>
                </a:solidFill>
                <a:latin typeface="Arial"/>
              </a:rPr>
              <a:t>VS Code</a:t>
            </a:r>
          </a:p>
        </p:txBody>
      </p:sp>
      <p:sp>
        <p:nvSpPr>
          <p:cNvPr id="96" name="Google Shape;96;g2dc0d66357b_0_13"/>
          <p:cNvSpPr txBox="1"/>
          <p:nvPr>
            <p:ph idx="1" type="body"/>
          </p:nvPr>
        </p:nvSpPr>
        <p:spPr>
          <a:xfrm>
            <a:off x="141300" y="4286550"/>
            <a:ext cx="8932200" cy="8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Login using your Github account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dc943aea66_0_9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Copilot for help instructions</a:t>
            </a:r>
            <a:endParaRPr/>
          </a:p>
        </p:txBody>
      </p:sp>
      <p:sp>
        <p:nvSpPr>
          <p:cNvPr id="102" name="Google Shape;102;g2dc943aea66_0_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3" name="Google Shape;103;g2dc943aea66_0_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71100"/>
            <a:ext cx="3676650" cy="37052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4" name="Google Shape;104;g2dc943aea66_0_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1450" y="894900"/>
            <a:ext cx="3250575" cy="27350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5" name="Google Shape;105;g2dc943aea66_0_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05272" y="3545672"/>
            <a:ext cx="2894000" cy="1397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dbe9e7ec12_0_17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generation</a:t>
            </a:r>
            <a:endParaRPr/>
          </a:p>
        </p:txBody>
      </p:sp>
      <p:sp>
        <p:nvSpPr>
          <p:cNvPr id="111" name="Google Shape;111;g2dbe9e7ec12_0_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dbe9e7ec12_0_1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ways to use Copilot to generate code</a:t>
            </a:r>
            <a:endParaRPr/>
          </a:p>
        </p:txBody>
      </p:sp>
      <p:sp>
        <p:nvSpPr>
          <p:cNvPr id="117" name="Google Shape;117;g2dbe9e7ec12_0_1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>
                <a:solidFill>
                  <a:srgbClr val="0000FF"/>
                </a:solidFill>
              </a:rPr>
              <a:t>Manually </a:t>
            </a:r>
            <a:r>
              <a:rPr lang="en"/>
              <a:t>write description in comment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>
                <a:solidFill>
                  <a:srgbClr val="9900FF"/>
                </a:solidFill>
              </a:rPr>
              <a:t>Automatically </a:t>
            </a:r>
            <a:r>
              <a:rPr lang="en"/>
              <a:t>suggest code as you write</a:t>
            </a:r>
            <a:endParaRPr/>
          </a:p>
        </p:txBody>
      </p:sp>
      <p:sp>
        <p:nvSpPr>
          <p:cNvPr id="118" name="Google Shape;118;g2dbe9e7ec12_0_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dbe9e7ec12_0_14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Generate a class Fraction</a:t>
            </a:r>
            <a:endParaRPr/>
          </a:p>
        </p:txBody>
      </p:sp>
      <p:sp>
        <p:nvSpPr>
          <p:cNvPr id="124" name="Google Shape;124;g2dbe9e7ec12_0_148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Write comment: “//class Fraction” &gt; Enter</a:t>
            </a:r>
            <a:endParaRPr/>
          </a:p>
        </p:txBody>
      </p:sp>
      <p:sp>
        <p:nvSpPr>
          <p:cNvPr id="125" name="Google Shape;125;g2dbe9e7ec12_0_1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dbe9e7ec12_0_41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explaination</a:t>
            </a:r>
            <a:endParaRPr/>
          </a:p>
        </p:txBody>
      </p:sp>
      <p:sp>
        <p:nvSpPr>
          <p:cNvPr id="131" name="Google Shape;131;g2dbe9e7ec12_0_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dbe9e7ec12_0_4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Copilot to explain the code for you /explain</a:t>
            </a:r>
            <a:endParaRPr/>
          </a:p>
        </p:txBody>
      </p:sp>
      <p:sp>
        <p:nvSpPr>
          <p:cNvPr id="137" name="Google Shape;137;g2dbe9e7ec12_0_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8" name="Google Shape;138;g2dbe9e7ec12_0_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4029171" cy="40961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9" name="Google Shape;139;g2dbe9e7ec12_0_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3971" y="894900"/>
            <a:ext cx="3912349" cy="4096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dbe9e7ec12_0_23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documentation</a:t>
            </a:r>
            <a:endParaRPr/>
          </a:p>
        </p:txBody>
      </p:sp>
      <p:sp>
        <p:nvSpPr>
          <p:cNvPr id="145" name="Google Shape;145;g2dbe9e7ec12_0_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dbe9e7ec12_0_2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Copilot to generate documentation: /doc</a:t>
            </a:r>
            <a:endParaRPr/>
          </a:p>
        </p:txBody>
      </p:sp>
      <p:sp>
        <p:nvSpPr>
          <p:cNvPr id="151" name="Google Shape;151;g2dbe9e7ec12_0_29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Preview then accept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Use </a:t>
            </a:r>
            <a:r>
              <a:rPr b="1" lang="en"/>
              <a:t>doxygen </a:t>
            </a:r>
            <a:r>
              <a:rPr lang="en"/>
              <a:t>to create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documentation</a:t>
            </a:r>
            <a:endParaRPr/>
          </a:p>
        </p:txBody>
      </p:sp>
      <p:sp>
        <p:nvSpPr>
          <p:cNvPr id="152" name="Google Shape;152;g2dbe9e7ec12_0_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3" name="Google Shape;153;g2dbe9e7ec12_0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2100" y="987100"/>
            <a:ext cx="3790350" cy="38345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dbe9e7ec12_0_53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improvement</a:t>
            </a:r>
            <a:endParaRPr/>
          </a:p>
        </p:txBody>
      </p:sp>
      <p:sp>
        <p:nvSpPr>
          <p:cNvPr id="159" name="Google Shape;159;g2dbe9e7ec12_0_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dbe9e7ec12_0_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" name="Google Shape;165;g2dbe9e7ec12_0_5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Copilot to improve your code /optimize</a:t>
            </a:r>
            <a:endParaRPr/>
          </a:p>
        </p:txBody>
      </p:sp>
      <p:pic>
        <p:nvPicPr>
          <p:cNvPr id="166" name="Google Shape;166;g2dbe9e7ec12_0_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300" y="960925"/>
            <a:ext cx="4993149" cy="1155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7" name="Google Shape;167;g2dbe9e7ec12_0_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6849" y="894900"/>
            <a:ext cx="3704750" cy="3422418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8" name="Google Shape;168;g2dbe9e7ec12_0_59"/>
          <p:cNvSpPr txBox="1"/>
          <p:nvPr>
            <p:ph idx="1" type="body"/>
          </p:nvPr>
        </p:nvSpPr>
        <p:spPr>
          <a:xfrm>
            <a:off x="141300" y="3183725"/>
            <a:ext cx="8932200" cy="19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To apply the change, click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Preview </a:t>
            </a:r>
            <a:r>
              <a:rPr lang="en"/>
              <a:t>&gt; </a:t>
            </a:r>
            <a:r>
              <a:rPr b="1" lang="en"/>
              <a:t>Accept</a:t>
            </a:r>
            <a:endParaRPr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dbe9e7ec12_0_17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example of /optimize</a:t>
            </a:r>
            <a:endParaRPr/>
          </a:p>
        </p:txBody>
      </p:sp>
      <p:sp>
        <p:nvSpPr>
          <p:cNvPr id="174" name="Google Shape;174;g2dbe9e7ec12_0_1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5" name="Google Shape;175;g2dbe9e7ec12_0_1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5375726" cy="12673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6" name="Google Shape;176;g2dbe9e7ec12_0_1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0526" y="894900"/>
            <a:ext cx="3228710" cy="361591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dbe9e7ec12_0_17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we want to improve more?</a:t>
            </a:r>
            <a:endParaRPr/>
          </a:p>
        </p:txBody>
      </p:sp>
      <p:sp>
        <p:nvSpPr>
          <p:cNvPr id="182" name="Google Shape;182;g2dbe9e7ec12_0_17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“Improve the selected function to return a reduced fraction using greatest common divisor”</a:t>
            </a:r>
            <a:endParaRPr/>
          </a:p>
        </p:txBody>
      </p:sp>
      <p:sp>
        <p:nvSpPr>
          <p:cNvPr id="183" name="Google Shape;183;g2dbe9e7ec12_0_1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4" name="Google Shape;184;g2dbe9e7ec12_0_1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750" y="2037675"/>
            <a:ext cx="3561575" cy="28360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5" name="Google Shape;185;g2dbe9e7ec12_0_1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3875" y="2037675"/>
            <a:ext cx="4076858" cy="28360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dbe9e7ec12_0_18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ask Copilot to add a Parse function</a:t>
            </a:r>
            <a:endParaRPr/>
          </a:p>
        </p:txBody>
      </p:sp>
      <p:sp>
        <p:nvSpPr>
          <p:cNvPr id="191" name="Google Shape;191;g2dbe9e7ec12_0_1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2" name="Google Shape;192;g2dbe9e7ec12_0_1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346" y="1204046"/>
            <a:ext cx="5598700" cy="33007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dbe9e7ec12_0_19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about</a:t>
            </a:r>
            <a:endParaRPr/>
          </a:p>
        </p:txBody>
      </p:sp>
      <p:sp>
        <p:nvSpPr>
          <p:cNvPr id="198" name="Google Shape;198;g2dbe9e7ec12_0_19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❏"/>
            </a:pPr>
            <a:r>
              <a:rPr lang="en">
                <a:solidFill>
                  <a:schemeClr val="dk1"/>
                </a:solidFill>
              </a:rPr>
              <a:t>Explain the code for us?</a:t>
            </a:r>
            <a:endParaRPr>
              <a:solidFill>
                <a:schemeClr val="dk1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Adding comments to create documentation?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Could we improve / optimize the code more?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How can our teammate be sure that our code is good?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=&gt; Unit test</a:t>
            </a:r>
            <a:endParaRPr/>
          </a:p>
        </p:txBody>
      </p:sp>
      <p:sp>
        <p:nvSpPr>
          <p:cNvPr id="199" name="Google Shape;199;g2dbe9e7ec12_0_19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dbe9e7ec12_0_65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generation</a:t>
            </a:r>
            <a:endParaRPr/>
          </a:p>
        </p:txBody>
      </p:sp>
      <p:sp>
        <p:nvSpPr>
          <p:cNvPr id="205" name="Google Shape;205;g2dbe9e7ec12_0_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dbe9e7ec12_0_7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Generate unit tests with /tests</a:t>
            </a:r>
            <a:endParaRPr/>
          </a:p>
        </p:txBody>
      </p:sp>
      <p:sp>
        <p:nvSpPr>
          <p:cNvPr id="211" name="Google Shape;211;g2dbe9e7ec12_0_7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Create MSTest Test project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Copy&amp;Paste the generated code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Add project reference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Problem? Naming convention not good</a:t>
            </a:r>
            <a:endParaRPr/>
          </a:p>
        </p:txBody>
      </p:sp>
      <p:sp>
        <p:nvSpPr>
          <p:cNvPr id="212" name="Google Shape;212;g2dbe9e7ec12_0_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3" name="Google Shape;213;g2dbe9e7ec12_0_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1050" y="1133787"/>
            <a:ext cx="2960100" cy="37898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dbe9e7ec12_0_7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Asking Copilot to fix it</a:t>
            </a:r>
            <a:endParaRPr/>
          </a:p>
        </p:txBody>
      </p:sp>
      <p:sp>
        <p:nvSpPr>
          <p:cNvPr id="219" name="Google Shape;219;g2dbe9e7ec12_0_7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Function naming convention should be: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UnitOfWork</a:t>
            </a:r>
            <a:r>
              <a:rPr lang="en"/>
              <a:t>_</a:t>
            </a:r>
            <a:r>
              <a:rPr lang="en">
                <a:solidFill>
                  <a:srgbClr val="9900FF"/>
                </a:solidFill>
              </a:rPr>
              <a:t>StateUnderTest</a:t>
            </a:r>
            <a:r>
              <a:rPr lang="en"/>
              <a:t>_</a:t>
            </a:r>
            <a:r>
              <a:rPr lang="en">
                <a:solidFill>
                  <a:srgbClr val="FF9900"/>
                </a:solidFill>
              </a:rPr>
              <a:t>ExpectedBehavior</a:t>
            </a:r>
            <a:endParaRPr>
              <a:solidFill>
                <a:srgbClr val="FF9900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❏"/>
            </a:pPr>
            <a:r>
              <a:rPr lang="en">
                <a:solidFill>
                  <a:schemeClr val="dk1"/>
                </a:solidFill>
              </a:rPr>
              <a:t>Prompt: “</a:t>
            </a:r>
            <a:r>
              <a:rPr b="1" lang="en">
                <a:solidFill>
                  <a:schemeClr val="dk1"/>
                </a:solidFill>
              </a:rPr>
              <a:t>Improve the name of all the functions using the naming standard UnitOfWork_StateUnderTest_ExpectedBehavior</a:t>
            </a:r>
            <a:r>
              <a:rPr lang="en">
                <a:solidFill>
                  <a:schemeClr val="dk1"/>
                </a:solidFill>
              </a:rPr>
              <a:t>”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0" name="Google Shape;220;g2dbe9e7ec12_0_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dbe9e7ec12_0_20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Better result</a:t>
            </a:r>
            <a:endParaRPr/>
          </a:p>
        </p:txBody>
      </p:sp>
      <p:sp>
        <p:nvSpPr>
          <p:cNvPr id="226" name="Google Shape;226;g2dbe9e7ec12_0_20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7" name="Google Shape;227;g2dbe9e7ec12_0_2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1650" y="1239300"/>
            <a:ext cx="4301850" cy="34239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8" name="Google Shape;228;g2dbe9e7ec12_0_2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600" y="989137"/>
            <a:ext cx="2960100" cy="37898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9" name="Google Shape;229;g2dbe9e7ec12_0_204"/>
          <p:cNvSpPr/>
          <p:nvPr/>
        </p:nvSpPr>
        <p:spPr>
          <a:xfrm>
            <a:off x="3471175" y="2532875"/>
            <a:ext cx="1016100" cy="58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dbe9e7ec12_0_95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Fixing bugs</a:t>
            </a:r>
            <a:endParaRPr/>
          </a:p>
        </p:txBody>
      </p:sp>
      <p:sp>
        <p:nvSpPr>
          <p:cNvPr id="235" name="Google Shape;235;g2dbe9e7ec12_0_9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dbe9e7ec12_0_10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the main function</a:t>
            </a:r>
            <a:endParaRPr/>
          </a:p>
        </p:txBody>
      </p:sp>
      <p:sp>
        <p:nvSpPr>
          <p:cNvPr id="241" name="Google Shape;241;g2dbe9e7ec12_0_10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// Generate randomly 20 fractions into a list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// Sort the list of fractions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// Print out all the fractions</a:t>
            </a:r>
            <a:endParaRPr/>
          </a:p>
        </p:txBody>
      </p:sp>
      <p:sp>
        <p:nvSpPr>
          <p:cNvPr id="242" name="Google Shape;242;g2dbe9e7ec12_0_10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3" name="Google Shape;243;g2dbe9e7ec12_0_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425" y="2797099"/>
            <a:ext cx="8241076" cy="179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dbe9e7ec12_0_10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Copilot to explain the error</a:t>
            </a:r>
            <a:endParaRPr/>
          </a:p>
        </p:txBody>
      </p:sp>
      <p:sp>
        <p:nvSpPr>
          <p:cNvPr id="249" name="Google Shape;249;g2dbe9e7ec12_0_10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0" name="Google Shape;250;g2dbe9e7ec12_0_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5649063" cy="4096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dbe9e7ec12_0_11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Copilot to fix the error /fix</a:t>
            </a:r>
            <a:endParaRPr/>
          </a:p>
        </p:txBody>
      </p:sp>
      <p:sp>
        <p:nvSpPr>
          <p:cNvPr id="256" name="Google Shape;256;g2dbe9e7ec12_0_1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7" name="Google Shape;257;g2dbe9e7ec12_0_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6305550" cy="36385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dbe9e7ec12_0_26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Alternative to improve</a:t>
            </a:r>
            <a:endParaRPr/>
          </a:p>
        </p:txBody>
      </p:sp>
      <p:sp>
        <p:nvSpPr>
          <p:cNvPr id="263" name="Google Shape;263;g2dbe9e7ec12_0_2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4" name="Google Shape;264;g2dbe9e7ec12_0_2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4259526" cy="4096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dbe9e7ec12_0_21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Further improvement</a:t>
            </a:r>
            <a:endParaRPr/>
          </a:p>
        </p:txBody>
      </p:sp>
      <p:sp>
        <p:nvSpPr>
          <p:cNvPr id="270" name="Google Shape;270;g2dbe9e7ec12_0_2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1" name="Google Shape;271;g2dbe9e7ec12_0_2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00" y="922775"/>
            <a:ext cx="6343650" cy="40671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2" name="Google Shape;272;g2dbe9e7ec12_0_2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36763" y="936074"/>
            <a:ext cx="1192387" cy="4120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dbe9e7ec12_0_227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other tips</a:t>
            </a:r>
            <a:endParaRPr/>
          </a:p>
        </p:txBody>
      </p:sp>
      <p:sp>
        <p:nvSpPr>
          <p:cNvPr id="278" name="Google Shape;278;g2dbe9e7ec12_0_2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dbe9e7ec12_0_26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things</a:t>
            </a:r>
            <a:endParaRPr/>
          </a:p>
        </p:txBody>
      </p:sp>
      <p:sp>
        <p:nvSpPr>
          <p:cNvPr id="284" name="Google Shape;284;g2dbe9e7ec12_0_2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5" name="Google Shape;285;g2dbe9e7ec12_0_2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550" y="1119075"/>
            <a:ext cx="8714875" cy="12699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86" name="Google Shape;286;g2dbe9e7ec12_0_2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550" y="2571750"/>
            <a:ext cx="7658901" cy="17546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dbe9e7ec12_0_2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2" name="Google Shape;292;g2dbe9e7ec12_0_23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Translate your comment</a:t>
            </a:r>
            <a:endParaRPr/>
          </a:p>
        </p:txBody>
      </p:sp>
      <p:pic>
        <p:nvPicPr>
          <p:cNvPr id="293" name="Google Shape;293;g2dbe9e7ec12_0_2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300" y="1229375"/>
            <a:ext cx="8839202" cy="61114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dbe9e7ec12_0_24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Quickly prepared sample data</a:t>
            </a:r>
            <a:endParaRPr/>
          </a:p>
        </p:txBody>
      </p:sp>
      <p:sp>
        <p:nvSpPr>
          <p:cNvPr id="299" name="Google Shape;299;g2dbe9e7ec12_0_2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0" name="Google Shape;300;g2dbe9e7ec12_0_2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8839201" cy="242464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dbe9e7ec12_0_24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 reminder of regular expression</a:t>
            </a:r>
            <a:endParaRPr/>
          </a:p>
        </p:txBody>
      </p:sp>
      <p:sp>
        <p:nvSpPr>
          <p:cNvPr id="306" name="Google Shape;306;g2dbe9e7ec12_0_24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2dbe9e7ec12_0_2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8" name="Google Shape;308;g2dbe9e7ec12_0_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00" y="914000"/>
            <a:ext cx="9143999" cy="8764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09" name="Google Shape;309;g2dbe9e7ec12_0_2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5354" y="1836900"/>
            <a:ext cx="3426700" cy="31607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dbe9e7ec12_0_25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Converting to another language</a:t>
            </a:r>
            <a:endParaRPr/>
          </a:p>
        </p:txBody>
      </p:sp>
      <p:sp>
        <p:nvSpPr>
          <p:cNvPr id="315" name="Google Shape;315;g2dbe9e7ec12_0_255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❏"/>
            </a:pPr>
            <a:r>
              <a:rPr lang="en" sz="3000">
                <a:solidFill>
                  <a:schemeClr val="dk1"/>
                </a:solidFill>
              </a:rPr>
              <a:t>Try translate &amp; explain</a:t>
            </a:r>
            <a:endParaRPr sz="3000">
              <a:solidFill>
                <a:schemeClr val="dk1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❏"/>
            </a:pPr>
            <a:r>
              <a:rPr lang="en" sz="3000">
                <a:solidFill>
                  <a:schemeClr val="dk1"/>
                </a:solidFill>
              </a:rPr>
              <a:t>For example</a:t>
            </a:r>
            <a:endParaRPr sz="3000">
              <a:solidFill>
                <a:schemeClr val="dk1"/>
              </a:solidFill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❏"/>
            </a:pPr>
            <a:r>
              <a:rPr lang="en" sz="3000">
                <a:solidFill>
                  <a:schemeClr val="dk1"/>
                </a:solidFill>
              </a:rPr>
              <a:t>Write a function to calculate the sum of an integer array in </a:t>
            </a:r>
            <a:r>
              <a:rPr b="1" lang="en" sz="3000">
                <a:solidFill>
                  <a:srgbClr val="9900FF"/>
                </a:solidFill>
              </a:rPr>
              <a:t>C#</a:t>
            </a:r>
            <a:r>
              <a:rPr lang="en" sz="3000">
                <a:solidFill>
                  <a:schemeClr val="dk1"/>
                </a:solidFill>
              </a:rPr>
              <a:t>. </a:t>
            </a:r>
            <a:endParaRPr sz="3000">
              <a:solidFill>
                <a:schemeClr val="dk1"/>
              </a:solidFill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❏"/>
            </a:pPr>
            <a:r>
              <a:rPr lang="en" sz="3000">
                <a:solidFill>
                  <a:schemeClr val="dk1"/>
                </a:solidFill>
              </a:rPr>
              <a:t>Convert this function into </a:t>
            </a:r>
            <a:r>
              <a:rPr b="1" lang="en" sz="3000">
                <a:solidFill>
                  <a:srgbClr val="FF00FF"/>
                </a:solidFill>
              </a:rPr>
              <a:t>python</a:t>
            </a:r>
            <a:endParaRPr b="1" sz="3000">
              <a:solidFill>
                <a:srgbClr val="FF00FF"/>
              </a:solidFill>
            </a:endParaRPr>
          </a:p>
        </p:txBody>
      </p:sp>
      <p:sp>
        <p:nvSpPr>
          <p:cNvPr id="316" name="Google Shape;316;g2dbe9e7ec12_0_2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dc943aea66_0_4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 schema &amp; data creation</a:t>
            </a:r>
            <a:endParaRPr/>
          </a:p>
        </p:txBody>
      </p:sp>
      <p:sp>
        <p:nvSpPr>
          <p:cNvPr id="322" name="Google Shape;322;g2dc943aea66_0_49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 sz="1800"/>
              <a:t>Generate the script to create the tables and foreign keys: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0000FF"/>
                </a:solidFill>
              </a:rPr>
              <a:t>Table</a:t>
            </a:r>
            <a:r>
              <a:rPr lang="en" sz="1800"/>
              <a:t>: </a:t>
            </a:r>
            <a:r>
              <a:rPr b="1" lang="en" sz="1800">
                <a:solidFill>
                  <a:srgbClr val="9900FF"/>
                </a:solidFill>
              </a:rPr>
              <a:t>User</a:t>
            </a:r>
            <a:r>
              <a:rPr lang="en" sz="1800"/>
              <a:t>, Fields and Types: id auto, firstName text(50), lastName text(50), email text(50), password text(20)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0000FF"/>
                </a:solidFill>
              </a:rPr>
              <a:t>Table</a:t>
            </a:r>
            <a:r>
              <a:rPr lang="en" sz="1800"/>
              <a:t>: </a:t>
            </a:r>
            <a:r>
              <a:rPr b="1" lang="en" sz="1800">
                <a:solidFill>
                  <a:srgbClr val="9900FF"/>
                </a:solidFill>
              </a:rPr>
              <a:t>Project</a:t>
            </a:r>
            <a:r>
              <a:rPr lang="en" sz="1800"/>
              <a:t>, Fields and Types: id auto, name text(50)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0000FF"/>
                </a:solidFill>
              </a:rPr>
              <a:t>Table</a:t>
            </a:r>
            <a:r>
              <a:rPr lang="en" sz="1800"/>
              <a:t>: </a:t>
            </a:r>
            <a:r>
              <a:rPr b="1" lang="en" sz="1800">
                <a:solidFill>
                  <a:srgbClr val="9900FF"/>
                </a:solidFill>
              </a:rPr>
              <a:t>ExpenseType</a:t>
            </a:r>
            <a:r>
              <a:rPr lang="en" sz="1800"/>
              <a:t>, Fields and Types: id auto, name text(50)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0000FF"/>
                </a:solidFill>
              </a:rPr>
              <a:t>Table</a:t>
            </a:r>
            <a:r>
              <a:rPr lang="en" sz="1800"/>
              <a:t>: </a:t>
            </a:r>
            <a:r>
              <a:rPr b="1" lang="en" sz="1800">
                <a:solidFill>
                  <a:srgbClr val="9900FF"/>
                </a:solidFill>
              </a:rPr>
              <a:t>Expense</a:t>
            </a:r>
            <a:r>
              <a:rPr lang="en" sz="1800"/>
              <a:t>, Fields and Types: id auto, description text(100), idExpenseType numeric, idProject numeric, idUser numeric, date date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 sz="1800"/>
              <a:t>Generate the script to fill with sample data those tables: 5 Users, 3 Projects, 4 ExpenseTypes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 sz="1800"/>
              <a:t>Generate 30 Expenses with random combination for users, projects and expenseTypes, with dates between November 15 and December 15, 2022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3" name="Google Shape;323;g2dc943aea66_0_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dc943aea66_0_5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about models / </a:t>
            </a:r>
            <a:r>
              <a:rPr lang="en"/>
              <a:t>entities</a:t>
            </a:r>
            <a:r>
              <a:rPr lang="en"/>
              <a:t> from the database?</a:t>
            </a:r>
            <a:endParaRPr/>
          </a:p>
        </p:txBody>
      </p:sp>
      <p:sp>
        <p:nvSpPr>
          <p:cNvPr id="329" name="Google Shape;329;g2dc943aea66_0_56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Prompt: </a:t>
            </a:r>
            <a:r>
              <a:rPr lang="en"/>
              <a:t>Create the C# classes to map those tables</a:t>
            </a:r>
            <a:endParaRPr/>
          </a:p>
        </p:txBody>
      </p:sp>
      <p:sp>
        <p:nvSpPr>
          <p:cNvPr id="330" name="Google Shape;330;g2dc943aea66_0_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1" name="Google Shape;331;g2dc943aea66_0_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800" y="1640338"/>
            <a:ext cx="3714750" cy="27146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32" name="Google Shape;332;g2dc943aea66_0_56"/>
          <p:cNvSpPr/>
          <p:nvPr/>
        </p:nvSpPr>
        <p:spPr>
          <a:xfrm>
            <a:off x="707650" y="3348200"/>
            <a:ext cx="3512100" cy="891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dc943aea66_0_6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</a:t>
            </a:r>
            <a:r>
              <a:rPr lang="en"/>
              <a:t>should</a:t>
            </a:r>
            <a:r>
              <a:rPr lang="en"/>
              <a:t> we notice?</a:t>
            </a:r>
            <a:endParaRPr/>
          </a:p>
        </p:txBody>
      </p:sp>
      <p:sp>
        <p:nvSpPr>
          <p:cNvPr id="338" name="Google Shape;338;g2dc943aea66_0_65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The AI is aware of the flow of the conversation and previous generated code.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It can continue to work on the chat history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Context window</a:t>
            </a:r>
            <a:endParaRPr/>
          </a:p>
        </p:txBody>
      </p:sp>
      <p:sp>
        <p:nvSpPr>
          <p:cNvPr id="339" name="Google Shape;339;g2dc943aea66_0_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dc943aea66_0_8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Pull request suggestions</a:t>
            </a:r>
            <a:endParaRPr/>
          </a:p>
        </p:txBody>
      </p:sp>
      <p:sp>
        <p:nvSpPr>
          <p:cNvPr id="345" name="Google Shape;345;g2dc943aea66_0_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6" name="Google Shape;346;g2dc943aea66_0_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6105525" cy="36766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e20484b55a_0_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IDX + Gemini</a:t>
            </a:r>
            <a:endParaRPr/>
          </a:p>
        </p:txBody>
      </p:sp>
      <p:sp>
        <p:nvSpPr>
          <p:cNvPr id="352" name="Google Shape;352;g2e20484b55a_0_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Activate: </a:t>
            </a:r>
            <a:r>
              <a:rPr b="1" lang="en"/>
              <a:t>Ctrl + Shift + Space</a:t>
            </a:r>
            <a:endParaRPr b="1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Inline code help: </a:t>
            </a:r>
            <a:r>
              <a:rPr b="1" lang="en"/>
              <a:t>Ctrl + I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Get code help with Gemini  |  Project IDX  |  Google for Developers</a:t>
            </a:r>
            <a:endParaRPr/>
          </a:p>
        </p:txBody>
      </p:sp>
      <p:sp>
        <p:nvSpPr>
          <p:cNvPr id="353" name="Google Shape;353;g2e20484b55a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54" name="Google Shape;354;g2e20484b55a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2375" y="1926600"/>
            <a:ext cx="5631300" cy="24948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dc943aea66_0_0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pros &amp; cons</a:t>
            </a:r>
            <a:endParaRPr/>
          </a:p>
        </p:txBody>
      </p:sp>
      <p:sp>
        <p:nvSpPr>
          <p:cNvPr id="360" name="Google Shape;360;g2dc943aea66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dc943aea66_0_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 &amp; Drawbacks (1)</a:t>
            </a:r>
            <a:endParaRPr/>
          </a:p>
        </p:txBody>
      </p:sp>
      <p:sp>
        <p:nvSpPr>
          <p:cNvPr id="366" name="Google Shape;366;g2dc943aea66_0_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367" name="Google Shape;367;g2dc943aea66_0_6"/>
          <p:cNvGraphicFramePr/>
          <p:nvPr/>
        </p:nvGraphicFramePr>
        <p:xfrm>
          <a:off x="382450" y="105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{DC5AA54B-7C56-4049-BA56-FE0AA3128098}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1"/>
                          </a:solidFill>
                        </a:rPr>
                        <a:t>Benefits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1"/>
                          </a:solidFill>
                        </a:rPr>
                        <a:t>Drawbacks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2000">
                          <a:solidFill>
                            <a:srgbClr val="0000FF"/>
                          </a:solidFill>
                        </a:rPr>
                        <a:t>Increased efficiency and productivity</a:t>
                      </a:r>
                      <a:endParaRPr b="1" sz="2000">
                        <a:solidFill>
                          <a:srgbClr val="00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2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AI-driven development tools can automate repetitive and time-consuming tasks, such as code generation and testing, allowing developers to focus on more complex and higher-value work.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2000">
                          <a:solidFill>
                            <a:srgbClr val="0000FF"/>
                          </a:solidFill>
                        </a:rPr>
                        <a:t>High initial costs</a:t>
                      </a:r>
                      <a:endParaRPr b="1" sz="2000">
                        <a:solidFill>
                          <a:srgbClr val="00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2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Implementing AI-driven development tools and processes can be costly in terms of both time and money. However, subscription models such as Copilot can solve the issue for developers.</a:t>
                      </a:r>
                      <a:endParaRPr sz="2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dc943aea66_0_1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 &amp; Drawbacks (2)</a:t>
            </a:r>
            <a:endParaRPr/>
          </a:p>
        </p:txBody>
      </p:sp>
      <p:sp>
        <p:nvSpPr>
          <p:cNvPr id="373" name="Google Shape;373;g2dc943aea66_0_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374" name="Google Shape;374;g2dc943aea66_0_16"/>
          <p:cNvGraphicFramePr/>
          <p:nvPr/>
        </p:nvGraphicFramePr>
        <p:xfrm>
          <a:off x="382450" y="105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{DC5AA54B-7C56-4049-BA56-FE0AA3128098}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1"/>
                          </a:solidFill>
                        </a:rPr>
                        <a:t>Benefits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1"/>
                          </a:solidFill>
                        </a:rPr>
                        <a:t>Drawbacks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0000FF"/>
                          </a:solidFill>
                        </a:rPr>
                        <a:t>Improved code quality</a:t>
                      </a:r>
                      <a:endParaRPr b="1" sz="2000">
                        <a:solidFill>
                          <a:srgbClr val="00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000">
                        <a:solidFill>
                          <a:srgbClr val="00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AI-driven development tools can analyze code and identify potential bugs or errors, helping to improve the overall quality of the code.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0000FF"/>
                          </a:solidFill>
                        </a:rPr>
                        <a:t>Limited capabilities</a:t>
                      </a:r>
                      <a:endParaRPr b="1" sz="2000">
                        <a:solidFill>
                          <a:srgbClr val="00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000">
                        <a:solidFill>
                          <a:srgbClr val="00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AI-driven development tools are still in the early stages of development and may not be able to handle all aspects of the software development process.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dc943aea66_0_2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 &amp; Drawbacks (3)</a:t>
            </a:r>
            <a:endParaRPr/>
          </a:p>
        </p:txBody>
      </p:sp>
      <p:sp>
        <p:nvSpPr>
          <p:cNvPr id="380" name="Google Shape;380;g2dc943aea66_0_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381" name="Google Shape;381;g2dc943aea66_0_24"/>
          <p:cNvGraphicFramePr/>
          <p:nvPr/>
        </p:nvGraphicFramePr>
        <p:xfrm>
          <a:off x="382450" y="105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{DC5AA54B-7C56-4049-BA56-FE0AA3128098}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1"/>
                          </a:solidFill>
                        </a:rPr>
                        <a:t>Benefits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1"/>
                          </a:solidFill>
                        </a:rPr>
                        <a:t>Drawbacks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0000FF"/>
                          </a:solidFill>
                        </a:rPr>
                        <a:t>Enhanced scalability</a:t>
                      </a:r>
                      <a:endParaRPr b="1" sz="2000">
                        <a:solidFill>
                          <a:srgbClr val="00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000">
                        <a:solidFill>
                          <a:srgbClr val="00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AI-driven development tools can help identify and address scalability issues early on in the development process, allowing for the creation of more robust and scalable software.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0000FF"/>
                          </a:solidFill>
                        </a:rPr>
                        <a:t>Dependence on data</a:t>
                      </a:r>
                      <a:endParaRPr b="1" sz="2000">
                        <a:solidFill>
                          <a:srgbClr val="00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000">
                        <a:solidFill>
                          <a:srgbClr val="00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AI-driven development tools rely on data to function, which can be a problem if the data is not accurate or of high quality.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2dc943aea66_0_3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 &amp; Drawbacks (4)</a:t>
            </a:r>
            <a:endParaRPr/>
          </a:p>
        </p:txBody>
      </p:sp>
      <p:sp>
        <p:nvSpPr>
          <p:cNvPr id="387" name="Google Shape;387;g2dc943aea66_0_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388" name="Google Shape;388;g2dc943aea66_0_32"/>
          <p:cNvGraphicFramePr/>
          <p:nvPr/>
        </p:nvGraphicFramePr>
        <p:xfrm>
          <a:off x="382450" y="105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{DC5AA54B-7C56-4049-BA56-FE0AA3128098}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1"/>
                          </a:solidFill>
                        </a:rPr>
                        <a:t>Benefits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1"/>
                          </a:solidFill>
                        </a:rPr>
                        <a:t>Drawbacks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0000FF"/>
                          </a:solidFill>
                        </a:rPr>
                        <a:t>Faster time to market</a:t>
                      </a:r>
                      <a:endParaRPr b="1" sz="2000">
                        <a:solidFill>
                          <a:srgbClr val="00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000">
                        <a:solidFill>
                          <a:srgbClr val="00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By automating certain tasks, AI-driven development can help to speed up the overall development process, allowing for faster deployment and time-to-market.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0000FF"/>
                          </a:solidFill>
                        </a:rPr>
                        <a:t>Lack of transparency</a:t>
                      </a:r>
                      <a:endParaRPr b="1" sz="2000">
                        <a:solidFill>
                          <a:srgbClr val="00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000">
                        <a:solidFill>
                          <a:srgbClr val="00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Some of the decisions made by AI-driven development tools can be difficult to understand or explain, which can be a problem if stakeholders need to understand the reasoning behind certain decisions.</a:t>
                      </a:r>
                      <a:endParaRPr b="1" sz="20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dc943aea66_0_4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 &amp; Drawbacks (5)</a:t>
            </a:r>
            <a:endParaRPr/>
          </a:p>
        </p:txBody>
      </p:sp>
      <p:sp>
        <p:nvSpPr>
          <p:cNvPr id="394" name="Google Shape;394;g2dc943aea66_0_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395" name="Google Shape;395;g2dc943aea66_0_40"/>
          <p:cNvGraphicFramePr/>
          <p:nvPr/>
        </p:nvGraphicFramePr>
        <p:xfrm>
          <a:off x="382450" y="105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{DC5AA54B-7C56-4049-BA56-FE0AA3128098}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1"/>
                          </a:solidFill>
                        </a:rPr>
                        <a:t>Benefits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1"/>
                          </a:solidFill>
                        </a:rPr>
                        <a:t>Drawbacks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0000FF"/>
                          </a:solidFill>
                        </a:rPr>
                        <a:t>Better collaboration</a:t>
                      </a:r>
                      <a:endParaRPr b="1" sz="2000">
                        <a:solidFill>
                          <a:srgbClr val="00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000">
                        <a:solidFill>
                          <a:srgbClr val="00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AI-driven development tools can help bridge communication gaps between developers, stakeholders, and customers, leading to better collaboration and more efficient decision-making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0000FF"/>
                          </a:solidFill>
                        </a:rPr>
                        <a:t>Job Losses</a:t>
                      </a:r>
                      <a:endParaRPr b="1" sz="2000">
                        <a:solidFill>
                          <a:srgbClr val="00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000">
                        <a:solidFill>
                          <a:srgbClr val="00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As AI-driven development automates repetitive and time-consuming tasks, some less skilled jobs may become redundant, leading to job losses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dbe9e7ec12_0_133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Further reading</a:t>
            </a:r>
            <a:endParaRPr/>
          </a:p>
        </p:txBody>
      </p:sp>
      <p:sp>
        <p:nvSpPr>
          <p:cNvPr id="401" name="Google Shape;401;g2dbe9e7ec12_0_1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2dbe9e7ec12_0_1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 sz="700"/>
              <a:t>‹#›</a:t>
            </a:fld>
            <a:endParaRPr sz="700"/>
          </a:p>
        </p:txBody>
      </p:sp>
      <p:sp>
        <p:nvSpPr>
          <p:cNvPr id="407" name="Google Shape;407;g2dbe9e7ec12_0_13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What’s more</a:t>
            </a:r>
            <a:endParaRPr sz="2700"/>
          </a:p>
        </p:txBody>
      </p:sp>
      <p:sp>
        <p:nvSpPr>
          <p:cNvPr id="408" name="Google Shape;408;g2dbe9e7ec12_0_139"/>
          <p:cNvSpPr txBox="1"/>
          <p:nvPr>
            <p:ph idx="1" type="body"/>
          </p:nvPr>
        </p:nvSpPr>
        <p:spPr>
          <a:xfrm>
            <a:off x="141300" y="85505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❏"/>
            </a:pPr>
            <a:r>
              <a:rPr lang="en" sz="2300"/>
              <a:t>10 Best AI Chatbots for Coding in 2025?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❏"/>
            </a:pPr>
            <a:r>
              <a:rPr lang="en" sz="2300"/>
              <a:t>Strategy for prompt engineering</a:t>
            </a:r>
            <a:endParaRPr sz="23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u="sng">
                <a:solidFill>
                  <a:schemeClr val="hlink"/>
                </a:solidFill>
                <a:hlinkClick r:id="rId3"/>
              </a:rPr>
              <a:t>https://microsoft.github.io/prompt-engineering</a:t>
            </a:r>
            <a:r>
              <a:rPr lang="en" sz="2300"/>
              <a:t> 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2dc943aea66_0_12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Related - Better Prompts</a:t>
            </a:r>
            <a:endParaRPr/>
          </a:p>
        </p:txBody>
      </p:sp>
      <p:sp>
        <p:nvSpPr>
          <p:cNvPr id="414" name="Google Shape;414;g2dc943aea66_0_122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Awesome</a:t>
            </a:r>
            <a:r>
              <a:rPr lang="en"/>
              <a:t> prompts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https://github.com/f/awesome-chatgpt-prompts</a:t>
            </a:r>
            <a:r>
              <a:rPr lang="en"/>
              <a:t> </a:t>
            </a:r>
            <a:endParaRPr/>
          </a:p>
        </p:txBody>
      </p:sp>
      <p:sp>
        <p:nvSpPr>
          <p:cNvPr id="415" name="Google Shape;415;g2dc943aea66_0_1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2e20484b55a_0_1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Gemini prompting guide 101</a:t>
            </a:r>
            <a:endParaRPr/>
          </a:p>
        </p:txBody>
      </p:sp>
      <p:sp>
        <p:nvSpPr>
          <p:cNvPr id="421" name="Google Shape;421;g2e20484b55a_0_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22" name="Google Shape;422;g2e20484b55a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4050" y="833425"/>
            <a:ext cx="5295900" cy="347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