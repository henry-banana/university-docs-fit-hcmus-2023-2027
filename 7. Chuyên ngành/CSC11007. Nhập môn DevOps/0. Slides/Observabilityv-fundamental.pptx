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78"/>
  </p:notesMasterIdLst>
  <p:sldIdLst>
    <p:sldId id="256" r:id="rId2"/>
    <p:sldId id="257" r:id="rId3"/>
    <p:sldId id="258" r:id="rId4"/>
    <p:sldId id="262" r:id="rId5"/>
    <p:sldId id="302" r:id="rId6"/>
    <p:sldId id="263" r:id="rId7"/>
    <p:sldId id="264" r:id="rId8"/>
    <p:sldId id="265" r:id="rId9"/>
    <p:sldId id="269" r:id="rId10"/>
    <p:sldId id="270" r:id="rId11"/>
    <p:sldId id="271" r:id="rId12"/>
    <p:sldId id="259" r:id="rId13"/>
    <p:sldId id="266" r:id="rId14"/>
    <p:sldId id="267" r:id="rId15"/>
    <p:sldId id="268" r:id="rId16"/>
    <p:sldId id="272" r:id="rId17"/>
    <p:sldId id="273" r:id="rId18"/>
    <p:sldId id="274" r:id="rId19"/>
    <p:sldId id="275" r:id="rId20"/>
    <p:sldId id="276" r:id="rId21"/>
    <p:sldId id="277" r:id="rId22"/>
    <p:sldId id="278" r:id="rId23"/>
    <p:sldId id="279" r:id="rId24"/>
    <p:sldId id="291" r:id="rId25"/>
    <p:sldId id="289" r:id="rId26"/>
    <p:sldId id="290" r:id="rId27"/>
    <p:sldId id="280" r:id="rId28"/>
    <p:sldId id="281" r:id="rId29"/>
    <p:sldId id="292" r:id="rId30"/>
    <p:sldId id="282" r:id="rId31"/>
    <p:sldId id="293" r:id="rId32"/>
    <p:sldId id="294" r:id="rId33"/>
    <p:sldId id="295" r:id="rId34"/>
    <p:sldId id="285" r:id="rId35"/>
    <p:sldId id="296" r:id="rId36"/>
    <p:sldId id="283" r:id="rId37"/>
    <p:sldId id="286" r:id="rId38"/>
    <p:sldId id="287" r:id="rId39"/>
    <p:sldId id="288" r:id="rId40"/>
    <p:sldId id="284" r:id="rId41"/>
    <p:sldId id="297" r:id="rId42"/>
    <p:sldId id="298" r:id="rId43"/>
    <p:sldId id="299" r:id="rId44"/>
    <p:sldId id="300" r:id="rId45"/>
    <p:sldId id="261" r:id="rId46"/>
    <p:sldId id="301" r:id="rId47"/>
    <p:sldId id="614" r:id="rId48"/>
    <p:sldId id="303" r:id="rId49"/>
    <p:sldId id="582" r:id="rId50"/>
    <p:sldId id="583" r:id="rId51"/>
    <p:sldId id="589" r:id="rId52"/>
    <p:sldId id="584" r:id="rId53"/>
    <p:sldId id="585" r:id="rId54"/>
    <p:sldId id="586" r:id="rId55"/>
    <p:sldId id="587" r:id="rId56"/>
    <p:sldId id="588" r:id="rId57"/>
    <p:sldId id="595" r:id="rId58"/>
    <p:sldId id="596" r:id="rId59"/>
    <p:sldId id="597" r:id="rId60"/>
    <p:sldId id="598" r:id="rId61"/>
    <p:sldId id="599" r:id="rId62"/>
    <p:sldId id="600" r:id="rId63"/>
    <p:sldId id="601" r:id="rId64"/>
    <p:sldId id="602" r:id="rId65"/>
    <p:sldId id="603" r:id="rId66"/>
    <p:sldId id="604" r:id="rId67"/>
    <p:sldId id="605" r:id="rId68"/>
    <p:sldId id="606" r:id="rId69"/>
    <p:sldId id="607" r:id="rId70"/>
    <p:sldId id="608" r:id="rId71"/>
    <p:sldId id="609" r:id="rId72"/>
    <p:sldId id="610" r:id="rId73"/>
    <p:sldId id="611" r:id="rId74"/>
    <p:sldId id="612" r:id="rId75"/>
    <p:sldId id="613" r:id="rId76"/>
    <p:sldId id="260"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556"/>
    <p:restoredTop sz="94757"/>
  </p:normalViewPr>
  <p:slideViewPr>
    <p:cSldViewPr snapToGrid="0" snapToObjects="1">
      <p:cViewPr varScale="1">
        <p:scale>
          <a:sx n="147" d="100"/>
          <a:sy n="147" d="100"/>
        </p:scale>
        <p:origin x="36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_rels/data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svg"/><Relationship Id="rId1" Type="http://schemas.openxmlformats.org/officeDocument/2006/relationships/image" Target="../media/image45.svg"/><Relationship Id="rId4" Type="http://schemas.openxmlformats.org/officeDocument/2006/relationships/image" Target="../media/image48.svg"/></Relationships>
</file>

<file path=ppt/diagrams/_rels/drawing1.xml.rels><?xml version="1.0" encoding="UTF-8" standalone="yes"?>
<Relationships xmlns="http://schemas.openxmlformats.org/package/2006/relationships"><Relationship Id="rId3" Type="http://schemas.openxmlformats.org/officeDocument/2006/relationships/image" Target="../media/image47.svg"/><Relationship Id="rId2" Type="http://schemas.openxmlformats.org/officeDocument/2006/relationships/image" Target="../media/image46.svg"/><Relationship Id="rId1" Type="http://schemas.openxmlformats.org/officeDocument/2006/relationships/image" Target="../media/image45.svg"/><Relationship Id="rId4" Type="http://schemas.openxmlformats.org/officeDocument/2006/relationships/image" Target="../media/image48.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F5A8571-B3CA-4772-99DB-F28EB214CE57}"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E22E22F-DE07-4F01-9831-EBFA29E6AD22}">
      <dgm:prSet/>
      <dgm:spPr/>
      <dgm:t>
        <a:bodyPr/>
        <a:lstStyle/>
        <a:p>
          <a:r>
            <a:rPr lang="en-US" dirty="0"/>
            <a:t>Removing the need to manually reproduce and gather evidence when responding to support tickets</a:t>
          </a:r>
        </a:p>
      </dgm:t>
    </dgm:pt>
    <dgm:pt modelId="{960927E9-E220-410B-8EF9-83B56E55DEC0}" type="parTrans" cxnId="{16F4E563-1C50-4C1C-84C0-CDADF5A905B9}">
      <dgm:prSet/>
      <dgm:spPr/>
      <dgm:t>
        <a:bodyPr/>
        <a:lstStyle/>
        <a:p>
          <a:endParaRPr lang="en-US"/>
        </a:p>
      </dgm:t>
    </dgm:pt>
    <dgm:pt modelId="{88FAEBA9-BF31-471F-AEB5-A85AC151DB5D}" type="sibTrans" cxnId="{16F4E563-1C50-4C1C-84C0-CDADF5A905B9}">
      <dgm:prSet/>
      <dgm:spPr/>
      <dgm:t>
        <a:bodyPr/>
        <a:lstStyle/>
        <a:p>
          <a:endParaRPr lang="en-US"/>
        </a:p>
      </dgm:t>
    </dgm:pt>
    <dgm:pt modelId="{698A0683-BF74-49D0-936C-F204F336C54F}">
      <dgm:prSet/>
      <dgm:spPr/>
      <dgm:t>
        <a:bodyPr/>
        <a:lstStyle/>
        <a:p>
          <a:r>
            <a:rPr lang="en-US" dirty="0"/>
            <a:t>Fully understanding the impact of user-facing issues</a:t>
          </a:r>
        </a:p>
      </dgm:t>
    </dgm:pt>
    <dgm:pt modelId="{700FA60D-8708-4FD1-8E30-4EA2E37D4804}" type="parTrans" cxnId="{86C3E2E6-BDB8-4A5D-8E37-109A31FFF8A9}">
      <dgm:prSet/>
      <dgm:spPr/>
      <dgm:t>
        <a:bodyPr/>
        <a:lstStyle/>
        <a:p>
          <a:endParaRPr lang="en-US"/>
        </a:p>
      </dgm:t>
    </dgm:pt>
    <dgm:pt modelId="{0E17E617-7A23-40D1-9FD2-EAFBEEAA2A8E}" type="sibTrans" cxnId="{86C3E2E6-BDB8-4A5D-8E37-109A31FFF8A9}">
      <dgm:prSet/>
      <dgm:spPr/>
      <dgm:t>
        <a:bodyPr/>
        <a:lstStyle/>
        <a:p>
          <a:endParaRPr lang="en-US"/>
        </a:p>
      </dgm:t>
    </dgm:pt>
    <dgm:pt modelId="{15001A63-09B2-4954-9A91-E5745B754BE9}">
      <dgm:prSet/>
      <dgm:spPr/>
      <dgm:t>
        <a:bodyPr/>
        <a:lstStyle/>
        <a:p>
          <a:r>
            <a:rPr lang="en-US"/>
            <a:t>Prioritizing the improvements based on the impact to end user</a:t>
          </a:r>
        </a:p>
      </dgm:t>
    </dgm:pt>
    <dgm:pt modelId="{10689136-BAA9-485D-93B7-87550CB14792}" type="parTrans" cxnId="{92807B9E-05BC-410F-A8D7-CD36EBA68B5A}">
      <dgm:prSet/>
      <dgm:spPr/>
      <dgm:t>
        <a:bodyPr/>
        <a:lstStyle/>
        <a:p>
          <a:endParaRPr lang="en-US"/>
        </a:p>
      </dgm:t>
    </dgm:pt>
    <dgm:pt modelId="{69984F3F-FF99-4592-876F-A5EA0255370E}" type="sibTrans" cxnId="{92807B9E-05BC-410F-A8D7-CD36EBA68B5A}">
      <dgm:prSet/>
      <dgm:spPr/>
      <dgm:t>
        <a:bodyPr/>
        <a:lstStyle/>
        <a:p>
          <a:endParaRPr lang="en-US"/>
        </a:p>
      </dgm:t>
    </dgm:pt>
    <dgm:pt modelId="{C79003F2-D36E-4A6A-9D7C-7B6AC6F85B57}">
      <dgm:prSet/>
      <dgm:spPr/>
      <dgm:t>
        <a:bodyPr/>
        <a:lstStyle/>
        <a:p>
          <a:r>
            <a:rPr lang="en-US"/>
            <a:t>Proactively responding to issues via alerting based on the tracing information</a:t>
          </a:r>
        </a:p>
      </dgm:t>
    </dgm:pt>
    <dgm:pt modelId="{6909C085-4682-47D3-BE54-D21B3B838B3B}" type="parTrans" cxnId="{F3EA51F8-EBE8-41D5-9859-40DB42D73E07}">
      <dgm:prSet/>
      <dgm:spPr/>
      <dgm:t>
        <a:bodyPr/>
        <a:lstStyle/>
        <a:p>
          <a:endParaRPr lang="en-US"/>
        </a:p>
      </dgm:t>
    </dgm:pt>
    <dgm:pt modelId="{51935E4A-FF6E-4856-AA18-FBB981BF648F}" type="sibTrans" cxnId="{F3EA51F8-EBE8-41D5-9859-40DB42D73E07}">
      <dgm:prSet/>
      <dgm:spPr/>
      <dgm:t>
        <a:bodyPr/>
        <a:lstStyle/>
        <a:p>
          <a:endParaRPr lang="en-US"/>
        </a:p>
      </dgm:t>
    </dgm:pt>
    <dgm:pt modelId="{8E2EAB01-A122-4E5B-A5C1-C7D0C6C39D28}" type="pres">
      <dgm:prSet presAssocID="{6F5A8571-B3CA-4772-99DB-F28EB214CE57}" presName="root" presStyleCnt="0">
        <dgm:presLayoutVars>
          <dgm:dir/>
          <dgm:resizeHandles val="exact"/>
        </dgm:presLayoutVars>
      </dgm:prSet>
      <dgm:spPr/>
    </dgm:pt>
    <dgm:pt modelId="{4178A796-AEF0-41B3-BFDC-88DF12D50007}" type="pres">
      <dgm:prSet presAssocID="{9E22E22F-DE07-4F01-9831-EBFA29E6AD22}" presName="compNode" presStyleCnt="0"/>
      <dgm:spPr/>
    </dgm:pt>
    <dgm:pt modelId="{A5928F2B-79BA-430D-8B3C-1915BC1CFB19}" type="pres">
      <dgm:prSet presAssocID="{9E22E22F-DE07-4F01-9831-EBFA29E6AD22}" presName="bgRect" presStyleLbl="bgShp" presStyleIdx="0" presStyleCnt="4"/>
      <dgm:spPr/>
    </dgm:pt>
    <dgm:pt modelId="{2F14E69A-5607-4A6C-8330-D733F0BD735E}" type="pres">
      <dgm:prSet presAssocID="{9E22E22F-DE07-4F01-9831-EBFA29E6AD22}"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all center"/>
        </a:ext>
      </dgm:extLst>
    </dgm:pt>
    <dgm:pt modelId="{D416A68F-4902-445E-B411-E7E6FAB24274}" type="pres">
      <dgm:prSet presAssocID="{9E22E22F-DE07-4F01-9831-EBFA29E6AD22}" presName="spaceRect" presStyleCnt="0"/>
      <dgm:spPr/>
    </dgm:pt>
    <dgm:pt modelId="{4A2685AE-F1D0-4858-A89B-641118171A7F}" type="pres">
      <dgm:prSet presAssocID="{9E22E22F-DE07-4F01-9831-EBFA29E6AD22}" presName="parTx" presStyleLbl="revTx" presStyleIdx="0" presStyleCnt="4">
        <dgm:presLayoutVars>
          <dgm:chMax val="0"/>
          <dgm:chPref val="0"/>
        </dgm:presLayoutVars>
      </dgm:prSet>
      <dgm:spPr/>
    </dgm:pt>
    <dgm:pt modelId="{101C1037-89A2-4122-A55A-076427CCAE0C}" type="pres">
      <dgm:prSet presAssocID="{88FAEBA9-BF31-471F-AEB5-A85AC151DB5D}" presName="sibTrans" presStyleCnt="0"/>
      <dgm:spPr/>
    </dgm:pt>
    <dgm:pt modelId="{B360B6FC-2C94-4FD7-B28D-C05A0B703D76}" type="pres">
      <dgm:prSet presAssocID="{698A0683-BF74-49D0-936C-F204F336C54F}" presName="compNode" presStyleCnt="0"/>
      <dgm:spPr/>
    </dgm:pt>
    <dgm:pt modelId="{DA713B08-BD03-4F89-9DDE-079B5C48ED12}" type="pres">
      <dgm:prSet presAssocID="{698A0683-BF74-49D0-936C-F204F336C54F}" presName="bgRect" presStyleLbl="bgShp" presStyleIdx="1" presStyleCnt="4"/>
      <dgm:spPr/>
    </dgm:pt>
    <dgm:pt modelId="{EDC937B4-81A4-4DCA-BAAE-61C2FFEEB1F9}" type="pres">
      <dgm:prSet presAssocID="{698A0683-BF74-49D0-936C-F204F336C54F}"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mentFire"/>
        </a:ext>
      </dgm:extLst>
    </dgm:pt>
    <dgm:pt modelId="{1F3F0F66-DE29-454A-A0A6-0687E3695C21}" type="pres">
      <dgm:prSet presAssocID="{698A0683-BF74-49D0-936C-F204F336C54F}" presName="spaceRect" presStyleCnt="0"/>
      <dgm:spPr/>
    </dgm:pt>
    <dgm:pt modelId="{E26C5B63-0AB3-4805-9BF9-CF0B6440AF70}" type="pres">
      <dgm:prSet presAssocID="{698A0683-BF74-49D0-936C-F204F336C54F}" presName="parTx" presStyleLbl="revTx" presStyleIdx="1" presStyleCnt="4">
        <dgm:presLayoutVars>
          <dgm:chMax val="0"/>
          <dgm:chPref val="0"/>
        </dgm:presLayoutVars>
      </dgm:prSet>
      <dgm:spPr/>
    </dgm:pt>
    <dgm:pt modelId="{F5248B75-AB89-43F3-AB1B-47FB205864A2}" type="pres">
      <dgm:prSet presAssocID="{0E17E617-7A23-40D1-9FD2-EAFBEEAA2A8E}" presName="sibTrans" presStyleCnt="0"/>
      <dgm:spPr/>
    </dgm:pt>
    <dgm:pt modelId="{F4DAE489-79DE-422B-92DF-4E96828D17C5}" type="pres">
      <dgm:prSet presAssocID="{15001A63-09B2-4954-9A91-E5745B754BE9}" presName="compNode" presStyleCnt="0"/>
      <dgm:spPr/>
    </dgm:pt>
    <dgm:pt modelId="{947691B4-06BA-4A80-AA6C-9F2CCCD366D5}" type="pres">
      <dgm:prSet presAssocID="{15001A63-09B2-4954-9A91-E5745B754BE9}" presName="bgRect" presStyleLbl="bgShp" presStyleIdx="2" presStyleCnt="4"/>
      <dgm:spPr/>
    </dgm:pt>
    <dgm:pt modelId="{8ACA2744-B529-432F-BDCB-4489076256DE}" type="pres">
      <dgm:prSet presAssocID="{15001A63-09B2-4954-9A91-E5745B754BE9}"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Business Growth"/>
        </a:ext>
      </dgm:extLst>
    </dgm:pt>
    <dgm:pt modelId="{CBDBA516-EB21-4A2E-AF83-BB98AA875E0F}" type="pres">
      <dgm:prSet presAssocID="{15001A63-09B2-4954-9A91-E5745B754BE9}" presName="spaceRect" presStyleCnt="0"/>
      <dgm:spPr/>
    </dgm:pt>
    <dgm:pt modelId="{50181C76-F034-4925-8EC6-30707CC1ADF4}" type="pres">
      <dgm:prSet presAssocID="{15001A63-09B2-4954-9A91-E5745B754BE9}" presName="parTx" presStyleLbl="revTx" presStyleIdx="2" presStyleCnt="4">
        <dgm:presLayoutVars>
          <dgm:chMax val="0"/>
          <dgm:chPref val="0"/>
        </dgm:presLayoutVars>
      </dgm:prSet>
      <dgm:spPr/>
    </dgm:pt>
    <dgm:pt modelId="{29D9FA73-1A0E-4368-B8E2-87CA865CC0E1}" type="pres">
      <dgm:prSet presAssocID="{69984F3F-FF99-4592-876F-A5EA0255370E}" presName="sibTrans" presStyleCnt="0"/>
      <dgm:spPr/>
    </dgm:pt>
    <dgm:pt modelId="{632A2EBC-AC49-433B-BC1E-119CEE57BB6B}" type="pres">
      <dgm:prSet presAssocID="{C79003F2-D36E-4A6A-9D7C-7B6AC6F85B57}" presName="compNode" presStyleCnt="0"/>
      <dgm:spPr/>
    </dgm:pt>
    <dgm:pt modelId="{CB3C121E-CD4A-46AE-88D7-7FF03D0D5F52}" type="pres">
      <dgm:prSet presAssocID="{C79003F2-D36E-4A6A-9D7C-7B6AC6F85B57}" presName="bgRect" presStyleLbl="bgShp" presStyleIdx="3" presStyleCnt="4"/>
      <dgm:spPr/>
    </dgm:pt>
    <dgm:pt modelId="{2CB45F1A-AE62-4A2B-8716-74745F9E093A}" type="pres">
      <dgm:prSet presAssocID="{C79003F2-D36E-4A6A-9D7C-7B6AC6F85B57}"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Warning"/>
        </a:ext>
      </dgm:extLst>
    </dgm:pt>
    <dgm:pt modelId="{5A05D54E-FDA3-493A-B9C6-DE8F7165D5A8}" type="pres">
      <dgm:prSet presAssocID="{C79003F2-D36E-4A6A-9D7C-7B6AC6F85B57}" presName="spaceRect" presStyleCnt="0"/>
      <dgm:spPr/>
    </dgm:pt>
    <dgm:pt modelId="{302A527A-CB37-43E7-B766-27A8B0994AC5}" type="pres">
      <dgm:prSet presAssocID="{C79003F2-D36E-4A6A-9D7C-7B6AC6F85B57}" presName="parTx" presStyleLbl="revTx" presStyleIdx="3" presStyleCnt="4">
        <dgm:presLayoutVars>
          <dgm:chMax val="0"/>
          <dgm:chPref val="0"/>
        </dgm:presLayoutVars>
      </dgm:prSet>
      <dgm:spPr/>
    </dgm:pt>
  </dgm:ptLst>
  <dgm:cxnLst>
    <dgm:cxn modelId="{B15CE130-18CA-4392-9042-03A9856130E8}" type="presOf" srcId="{9E22E22F-DE07-4F01-9831-EBFA29E6AD22}" destId="{4A2685AE-F1D0-4858-A89B-641118171A7F}" srcOrd="0" destOrd="0" presId="urn:microsoft.com/office/officeart/2018/2/layout/IconVerticalSolidList"/>
    <dgm:cxn modelId="{83819633-2E78-42E2-8EC0-DEC53F737CD1}" type="presOf" srcId="{6F5A8571-B3CA-4772-99DB-F28EB214CE57}" destId="{8E2EAB01-A122-4E5B-A5C1-C7D0C6C39D28}" srcOrd="0" destOrd="0" presId="urn:microsoft.com/office/officeart/2018/2/layout/IconVerticalSolidList"/>
    <dgm:cxn modelId="{0F9BA259-C265-4ECF-833A-7882959611B4}" type="presOf" srcId="{C79003F2-D36E-4A6A-9D7C-7B6AC6F85B57}" destId="{302A527A-CB37-43E7-B766-27A8B0994AC5}" srcOrd="0" destOrd="0" presId="urn:microsoft.com/office/officeart/2018/2/layout/IconVerticalSolidList"/>
    <dgm:cxn modelId="{16F4E563-1C50-4C1C-84C0-CDADF5A905B9}" srcId="{6F5A8571-B3CA-4772-99DB-F28EB214CE57}" destId="{9E22E22F-DE07-4F01-9831-EBFA29E6AD22}" srcOrd="0" destOrd="0" parTransId="{960927E9-E220-410B-8EF9-83B56E55DEC0}" sibTransId="{88FAEBA9-BF31-471F-AEB5-A85AC151DB5D}"/>
    <dgm:cxn modelId="{D858257D-8EA1-4AC9-B01E-C8DFC2C39D0D}" type="presOf" srcId="{15001A63-09B2-4954-9A91-E5745B754BE9}" destId="{50181C76-F034-4925-8EC6-30707CC1ADF4}" srcOrd="0" destOrd="0" presId="urn:microsoft.com/office/officeart/2018/2/layout/IconVerticalSolidList"/>
    <dgm:cxn modelId="{92807B9E-05BC-410F-A8D7-CD36EBA68B5A}" srcId="{6F5A8571-B3CA-4772-99DB-F28EB214CE57}" destId="{15001A63-09B2-4954-9A91-E5745B754BE9}" srcOrd="2" destOrd="0" parTransId="{10689136-BAA9-485D-93B7-87550CB14792}" sibTransId="{69984F3F-FF99-4592-876F-A5EA0255370E}"/>
    <dgm:cxn modelId="{86C3E2E6-BDB8-4A5D-8E37-109A31FFF8A9}" srcId="{6F5A8571-B3CA-4772-99DB-F28EB214CE57}" destId="{698A0683-BF74-49D0-936C-F204F336C54F}" srcOrd="1" destOrd="0" parTransId="{700FA60D-8708-4FD1-8E30-4EA2E37D4804}" sibTransId="{0E17E617-7A23-40D1-9FD2-EAFBEEAA2A8E}"/>
    <dgm:cxn modelId="{DDCF46ED-A64C-485B-8548-61CCC8EF605C}" type="presOf" srcId="{698A0683-BF74-49D0-936C-F204F336C54F}" destId="{E26C5B63-0AB3-4805-9BF9-CF0B6440AF70}" srcOrd="0" destOrd="0" presId="urn:microsoft.com/office/officeart/2018/2/layout/IconVerticalSolidList"/>
    <dgm:cxn modelId="{F3EA51F8-EBE8-41D5-9859-40DB42D73E07}" srcId="{6F5A8571-B3CA-4772-99DB-F28EB214CE57}" destId="{C79003F2-D36E-4A6A-9D7C-7B6AC6F85B57}" srcOrd="3" destOrd="0" parTransId="{6909C085-4682-47D3-BE54-D21B3B838B3B}" sibTransId="{51935E4A-FF6E-4856-AA18-FBB981BF648F}"/>
    <dgm:cxn modelId="{8C5321B2-09EF-4ED5-85AF-E0367C4129AE}" type="presParOf" srcId="{8E2EAB01-A122-4E5B-A5C1-C7D0C6C39D28}" destId="{4178A796-AEF0-41B3-BFDC-88DF12D50007}" srcOrd="0" destOrd="0" presId="urn:microsoft.com/office/officeart/2018/2/layout/IconVerticalSolidList"/>
    <dgm:cxn modelId="{71445CBB-B1DC-41F2-A4B2-5C46F86E6735}" type="presParOf" srcId="{4178A796-AEF0-41B3-BFDC-88DF12D50007}" destId="{A5928F2B-79BA-430D-8B3C-1915BC1CFB19}" srcOrd="0" destOrd="0" presId="urn:microsoft.com/office/officeart/2018/2/layout/IconVerticalSolidList"/>
    <dgm:cxn modelId="{796AC437-F520-41D9-A85F-8C77ED8AA410}" type="presParOf" srcId="{4178A796-AEF0-41B3-BFDC-88DF12D50007}" destId="{2F14E69A-5607-4A6C-8330-D733F0BD735E}" srcOrd="1" destOrd="0" presId="urn:microsoft.com/office/officeart/2018/2/layout/IconVerticalSolidList"/>
    <dgm:cxn modelId="{F103AEB6-6DE6-4C09-869C-688960F4937A}" type="presParOf" srcId="{4178A796-AEF0-41B3-BFDC-88DF12D50007}" destId="{D416A68F-4902-445E-B411-E7E6FAB24274}" srcOrd="2" destOrd="0" presId="urn:microsoft.com/office/officeart/2018/2/layout/IconVerticalSolidList"/>
    <dgm:cxn modelId="{BAED6DEE-B193-420D-8B90-1ED3B1E2AA5D}" type="presParOf" srcId="{4178A796-AEF0-41B3-BFDC-88DF12D50007}" destId="{4A2685AE-F1D0-4858-A89B-641118171A7F}" srcOrd="3" destOrd="0" presId="urn:microsoft.com/office/officeart/2018/2/layout/IconVerticalSolidList"/>
    <dgm:cxn modelId="{FD53B924-814B-43F6-8671-1FEEF4400885}" type="presParOf" srcId="{8E2EAB01-A122-4E5B-A5C1-C7D0C6C39D28}" destId="{101C1037-89A2-4122-A55A-076427CCAE0C}" srcOrd="1" destOrd="0" presId="urn:microsoft.com/office/officeart/2018/2/layout/IconVerticalSolidList"/>
    <dgm:cxn modelId="{1CAF4F47-F598-4886-8CB3-37442B644CA5}" type="presParOf" srcId="{8E2EAB01-A122-4E5B-A5C1-C7D0C6C39D28}" destId="{B360B6FC-2C94-4FD7-B28D-C05A0B703D76}" srcOrd="2" destOrd="0" presId="urn:microsoft.com/office/officeart/2018/2/layout/IconVerticalSolidList"/>
    <dgm:cxn modelId="{4C440594-95B7-47E5-994C-30000F916984}" type="presParOf" srcId="{B360B6FC-2C94-4FD7-B28D-C05A0B703D76}" destId="{DA713B08-BD03-4F89-9DDE-079B5C48ED12}" srcOrd="0" destOrd="0" presId="urn:microsoft.com/office/officeart/2018/2/layout/IconVerticalSolidList"/>
    <dgm:cxn modelId="{FC6F500C-2BBF-40E6-ACF5-E7DEF407684D}" type="presParOf" srcId="{B360B6FC-2C94-4FD7-B28D-C05A0B703D76}" destId="{EDC937B4-81A4-4DCA-BAAE-61C2FFEEB1F9}" srcOrd="1" destOrd="0" presId="urn:microsoft.com/office/officeart/2018/2/layout/IconVerticalSolidList"/>
    <dgm:cxn modelId="{7B162482-67A1-4AF3-B480-0BA400B4A918}" type="presParOf" srcId="{B360B6FC-2C94-4FD7-B28D-C05A0B703D76}" destId="{1F3F0F66-DE29-454A-A0A6-0687E3695C21}" srcOrd="2" destOrd="0" presId="urn:microsoft.com/office/officeart/2018/2/layout/IconVerticalSolidList"/>
    <dgm:cxn modelId="{2383E58B-A69A-46C1-84E4-B54DAB53F209}" type="presParOf" srcId="{B360B6FC-2C94-4FD7-B28D-C05A0B703D76}" destId="{E26C5B63-0AB3-4805-9BF9-CF0B6440AF70}" srcOrd="3" destOrd="0" presId="urn:microsoft.com/office/officeart/2018/2/layout/IconVerticalSolidList"/>
    <dgm:cxn modelId="{7DE1597F-56F2-4B2C-A703-F20B5B1FA643}" type="presParOf" srcId="{8E2EAB01-A122-4E5B-A5C1-C7D0C6C39D28}" destId="{F5248B75-AB89-43F3-AB1B-47FB205864A2}" srcOrd="3" destOrd="0" presId="urn:microsoft.com/office/officeart/2018/2/layout/IconVerticalSolidList"/>
    <dgm:cxn modelId="{B036DF7F-0E7A-42D4-82D2-55B1D7BAEBE7}" type="presParOf" srcId="{8E2EAB01-A122-4E5B-A5C1-C7D0C6C39D28}" destId="{F4DAE489-79DE-422B-92DF-4E96828D17C5}" srcOrd="4" destOrd="0" presId="urn:microsoft.com/office/officeart/2018/2/layout/IconVerticalSolidList"/>
    <dgm:cxn modelId="{32FD71C2-9F2E-4835-BFA2-57805C01515C}" type="presParOf" srcId="{F4DAE489-79DE-422B-92DF-4E96828D17C5}" destId="{947691B4-06BA-4A80-AA6C-9F2CCCD366D5}" srcOrd="0" destOrd="0" presId="urn:microsoft.com/office/officeart/2018/2/layout/IconVerticalSolidList"/>
    <dgm:cxn modelId="{B6F7094E-A818-416B-A19F-FA4284F13D66}" type="presParOf" srcId="{F4DAE489-79DE-422B-92DF-4E96828D17C5}" destId="{8ACA2744-B529-432F-BDCB-4489076256DE}" srcOrd="1" destOrd="0" presId="urn:microsoft.com/office/officeart/2018/2/layout/IconVerticalSolidList"/>
    <dgm:cxn modelId="{B1256C5E-C0D8-4DA6-9ED7-2B77F779BDC3}" type="presParOf" srcId="{F4DAE489-79DE-422B-92DF-4E96828D17C5}" destId="{CBDBA516-EB21-4A2E-AF83-BB98AA875E0F}" srcOrd="2" destOrd="0" presId="urn:microsoft.com/office/officeart/2018/2/layout/IconVerticalSolidList"/>
    <dgm:cxn modelId="{2D14EC98-E457-4162-9F03-37BC3F20F182}" type="presParOf" srcId="{F4DAE489-79DE-422B-92DF-4E96828D17C5}" destId="{50181C76-F034-4925-8EC6-30707CC1ADF4}" srcOrd="3" destOrd="0" presId="urn:microsoft.com/office/officeart/2018/2/layout/IconVerticalSolidList"/>
    <dgm:cxn modelId="{263745AC-C48C-4983-96F3-F33C49DD38B4}" type="presParOf" srcId="{8E2EAB01-A122-4E5B-A5C1-C7D0C6C39D28}" destId="{29D9FA73-1A0E-4368-B8E2-87CA865CC0E1}" srcOrd="5" destOrd="0" presId="urn:microsoft.com/office/officeart/2018/2/layout/IconVerticalSolidList"/>
    <dgm:cxn modelId="{E2A26880-94E3-4E6D-AA7E-309DC0069CA5}" type="presParOf" srcId="{8E2EAB01-A122-4E5B-A5C1-C7D0C6C39D28}" destId="{632A2EBC-AC49-433B-BC1E-119CEE57BB6B}" srcOrd="6" destOrd="0" presId="urn:microsoft.com/office/officeart/2018/2/layout/IconVerticalSolidList"/>
    <dgm:cxn modelId="{3705F3E7-08D0-4B25-A227-797F8FCE8655}" type="presParOf" srcId="{632A2EBC-AC49-433B-BC1E-119CEE57BB6B}" destId="{CB3C121E-CD4A-46AE-88D7-7FF03D0D5F52}" srcOrd="0" destOrd="0" presId="urn:microsoft.com/office/officeart/2018/2/layout/IconVerticalSolidList"/>
    <dgm:cxn modelId="{4D8D7121-46F7-49FF-B022-F1542A2BCF2E}" type="presParOf" srcId="{632A2EBC-AC49-433B-BC1E-119CEE57BB6B}" destId="{2CB45F1A-AE62-4A2B-8716-74745F9E093A}" srcOrd="1" destOrd="0" presId="urn:microsoft.com/office/officeart/2018/2/layout/IconVerticalSolidList"/>
    <dgm:cxn modelId="{AE07BA26-F6E9-467A-B63E-655D77359679}" type="presParOf" srcId="{632A2EBC-AC49-433B-BC1E-119CEE57BB6B}" destId="{5A05D54E-FDA3-493A-B9C6-DE8F7165D5A8}" srcOrd="2" destOrd="0" presId="urn:microsoft.com/office/officeart/2018/2/layout/IconVerticalSolidList"/>
    <dgm:cxn modelId="{3320FC4E-9213-4946-AD38-8112B604416C}" type="presParOf" srcId="{632A2EBC-AC49-433B-BC1E-119CEE57BB6B}" destId="{302A527A-CB37-43E7-B766-27A8B0994AC5}"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E66CC2-0184-4AC6-94E0-D00454D38E79}"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1278099F-17C1-49DF-AF23-5104DCE17FD0}">
      <dgm:prSet/>
      <dgm:spPr/>
      <dgm:t>
        <a:bodyPr/>
        <a:lstStyle/>
        <a:p>
          <a:r>
            <a:rPr lang="en-US"/>
            <a:t>Metadata added to the trace allowed us to search for the evidence</a:t>
          </a:r>
        </a:p>
      </dgm:t>
    </dgm:pt>
    <dgm:pt modelId="{04157320-F7DF-449C-AD30-E92D885BF86A}" type="parTrans" cxnId="{75FEC317-F33F-4E37-BDFB-69DB03802F9B}">
      <dgm:prSet/>
      <dgm:spPr/>
      <dgm:t>
        <a:bodyPr/>
        <a:lstStyle/>
        <a:p>
          <a:endParaRPr lang="en-US"/>
        </a:p>
      </dgm:t>
    </dgm:pt>
    <dgm:pt modelId="{AFFD9EAD-3FCB-4778-980F-22FA3D4D2EAD}" type="sibTrans" cxnId="{75FEC317-F33F-4E37-BDFB-69DB03802F9B}">
      <dgm:prSet/>
      <dgm:spPr/>
      <dgm:t>
        <a:bodyPr/>
        <a:lstStyle/>
        <a:p>
          <a:endParaRPr lang="en-US"/>
        </a:p>
      </dgm:t>
    </dgm:pt>
    <dgm:pt modelId="{71906E2F-8FFB-4E84-91AF-149A1C383983}">
      <dgm:prSet/>
      <dgm:spPr/>
      <dgm:t>
        <a:bodyPr/>
        <a:lstStyle/>
        <a:p>
          <a:r>
            <a:rPr lang="en-US"/>
            <a:t>Spans linked to the trace allowed us to verify the failure had indeed occurred</a:t>
          </a:r>
        </a:p>
      </dgm:t>
    </dgm:pt>
    <dgm:pt modelId="{89AA94A1-26E6-4310-87D4-32729E190DCD}" type="parTrans" cxnId="{45C4BC61-7FB0-477F-AF80-25F04E276ED5}">
      <dgm:prSet/>
      <dgm:spPr/>
      <dgm:t>
        <a:bodyPr/>
        <a:lstStyle/>
        <a:p>
          <a:endParaRPr lang="en-US"/>
        </a:p>
      </dgm:t>
    </dgm:pt>
    <dgm:pt modelId="{93108E0A-1F02-401F-8250-4F95EC0EFE52}" type="sibTrans" cxnId="{45C4BC61-7FB0-477F-AF80-25F04E276ED5}">
      <dgm:prSet/>
      <dgm:spPr/>
      <dgm:t>
        <a:bodyPr/>
        <a:lstStyle/>
        <a:p>
          <a:endParaRPr lang="en-US"/>
        </a:p>
      </dgm:t>
    </dgm:pt>
    <dgm:pt modelId="{215CBE15-B61E-9A42-A6D6-246365A7118C}" type="pres">
      <dgm:prSet presAssocID="{62E66CC2-0184-4AC6-94E0-D00454D38E79}" presName="linear" presStyleCnt="0">
        <dgm:presLayoutVars>
          <dgm:animLvl val="lvl"/>
          <dgm:resizeHandles val="exact"/>
        </dgm:presLayoutVars>
      </dgm:prSet>
      <dgm:spPr/>
    </dgm:pt>
    <dgm:pt modelId="{B6DCD107-1C5C-BA43-9DEF-97F49035E062}" type="pres">
      <dgm:prSet presAssocID="{1278099F-17C1-49DF-AF23-5104DCE17FD0}" presName="parentText" presStyleLbl="node1" presStyleIdx="0" presStyleCnt="2">
        <dgm:presLayoutVars>
          <dgm:chMax val="0"/>
          <dgm:bulletEnabled val="1"/>
        </dgm:presLayoutVars>
      </dgm:prSet>
      <dgm:spPr/>
    </dgm:pt>
    <dgm:pt modelId="{F46C1B53-100F-724F-B704-2025A3668154}" type="pres">
      <dgm:prSet presAssocID="{AFFD9EAD-3FCB-4778-980F-22FA3D4D2EAD}" presName="spacer" presStyleCnt="0"/>
      <dgm:spPr/>
    </dgm:pt>
    <dgm:pt modelId="{EA291835-1443-3A40-9E21-FC23BB5B5D88}" type="pres">
      <dgm:prSet presAssocID="{71906E2F-8FFB-4E84-91AF-149A1C383983}" presName="parentText" presStyleLbl="node1" presStyleIdx="1" presStyleCnt="2">
        <dgm:presLayoutVars>
          <dgm:chMax val="0"/>
          <dgm:bulletEnabled val="1"/>
        </dgm:presLayoutVars>
      </dgm:prSet>
      <dgm:spPr/>
    </dgm:pt>
  </dgm:ptLst>
  <dgm:cxnLst>
    <dgm:cxn modelId="{75FEC317-F33F-4E37-BDFB-69DB03802F9B}" srcId="{62E66CC2-0184-4AC6-94E0-D00454D38E79}" destId="{1278099F-17C1-49DF-AF23-5104DCE17FD0}" srcOrd="0" destOrd="0" parTransId="{04157320-F7DF-449C-AD30-E92D885BF86A}" sibTransId="{AFFD9EAD-3FCB-4778-980F-22FA3D4D2EAD}"/>
    <dgm:cxn modelId="{2047F95D-193F-654C-BC1B-72F71A44050A}" type="presOf" srcId="{71906E2F-8FFB-4E84-91AF-149A1C383983}" destId="{EA291835-1443-3A40-9E21-FC23BB5B5D88}" srcOrd="0" destOrd="0" presId="urn:microsoft.com/office/officeart/2005/8/layout/vList2"/>
    <dgm:cxn modelId="{45C4BC61-7FB0-477F-AF80-25F04E276ED5}" srcId="{62E66CC2-0184-4AC6-94E0-D00454D38E79}" destId="{71906E2F-8FFB-4E84-91AF-149A1C383983}" srcOrd="1" destOrd="0" parTransId="{89AA94A1-26E6-4310-87D4-32729E190DCD}" sibTransId="{93108E0A-1F02-401F-8250-4F95EC0EFE52}"/>
    <dgm:cxn modelId="{A31BE486-8658-3B4F-947F-CC7A35611C2E}" type="presOf" srcId="{1278099F-17C1-49DF-AF23-5104DCE17FD0}" destId="{B6DCD107-1C5C-BA43-9DEF-97F49035E062}" srcOrd="0" destOrd="0" presId="urn:microsoft.com/office/officeart/2005/8/layout/vList2"/>
    <dgm:cxn modelId="{E31721D9-B81F-2746-AD83-E757ACAA7C56}" type="presOf" srcId="{62E66CC2-0184-4AC6-94E0-D00454D38E79}" destId="{215CBE15-B61E-9A42-A6D6-246365A7118C}" srcOrd="0" destOrd="0" presId="urn:microsoft.com/office/officeart/2005/8/layout/vList2"/>
    <dgm:cxn modelId="{2E47D096-196A-2642-9929-9F694301EAF6}" type="presParOf" srcId="{215CBE15-B61E-9A42-A6D6-246365A7118C}" destId="{B6DCD107-1C5C-BA43-9DEF-97F49035E062}" srcOrd="0" destOrd="0" presId="urn:microsoft.com/office/officeart/2005/8/layout/vList2"/>
    <dgm:cxn modelId="{F7BA0D57-B51E-8A4F-911D-9ABFECBECEB4}" type="presParOf" srcId="{215CBE15-B61E-9A42-A6D6-246365A7118C}" destId="{F46C1B53-100F-724F-B704-2025A3668154}" srcOrd="1" destOrd="0" presId="urn:microsoft.com/office/officeart/2005/8/layout/vList2"/>
    <dgm:cxn modelId="{26D17D5E-8B79-CF42-850C-ED4A1F2B8FD0}" type="presParOf" srcId="{215CBE15-B61E-9A42-A6D6-246365A7118C}" destId="{EA291835-1443-3A40-9E21-FC23BB5B5D88}" srcOrd="2"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A4814A5-C337-416B-96AE-7069D168572D}"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F365AA4C-B5C6-4CCE-8FDF-CFEA15E63B9F}">
      <dgm:prSet/>
      <dgm:spPr/>
      <dgm:t>
        <a:bodyPr/>
        <a:lstStyle/>
        <a:p>
          <a:r>
            <a:rPr lang="en-US"/>
            <a:t>Unique identification of an error coupled with distributed tracing allows you to objectively quantify the priority for a particular error.</a:t>
          </a:r>
        </a:p>
      </dgm:t>
    </dgm:pt>
    <dgm:pt modelId="{3577E8A1-4F28-4338-9833-38503E0CBF9A}" type="parTrans" cxnId="{D10B058A-3091-4FE6-B839-5721C4347DE3}">
      <dgm:prSet/>
      <dgm:spPr/>
      <dgm:t>
        <a:bodyPr/>
        <a:lstStyle/>
        <a:p>
          <a:endParaRPr lang="en-US"/>
        </a:p>
      </dgm:t>
    </dgm:pt>
    <dgm:pt modelId="{268E097F-ED23-4343-841D-42BD7D724939}" type="sibTrans" cxnId="{D10B058A-3091-4FE6-B839-5721C4347DE3}">
      <dgm:prSet/>
      <dgm:spPr/>
      <dgm:t>
        <a:bodyPr/>
        <a:lstStyle/>
        <a:p>
          <a:endParaRPr lang="en-US"/>
        </a:p>
      </dgm:t>
    </dgm:pt>
    <dgm:pt modelId="{8E8F6BCF-259D-47FC-9063-8A5F40065C8B}">
      <dgm:prSet/>
      <dgm:spPr/>
      <dgm:t>
        <a:bodyPr/>
        <a:lstStyle/>
        <a:p>
          <a:r>
            <a:rPr lang="en-US"/>
            <a:t>In the specific situation, (a high priority) response is likely not justified.</a:t>
          </a:r>
        </a:p>
      </dgm:t>
    </dgm:pt>
    <dgm:pt modelId="{F18F2B8A-E4EF-48A4-99A0-AF5DEEB8D36D}" type="parTrans" cxnId="{EA66FC93-FEA2-4467-A4B3-5D6568BDAFC1}">
      <dgm:prSet/>
      <dgm:spPr/>
      <dgm:t>
        <a:bodyPr/>
        <a:lstStyle/>
        <a:p>
          <a:endParaRPr lang="en-US"/>
        </a:p>
      </dgm:t>
    </dgm:pt>
    <dgm:pt modelId="{260E693A-4A9F-4101-9D51-7501C2B5D4D7}" type="sibTrans" cxnId="{EA66FC93-FEA2-4467-A4B3-5D6568BDAFC1}">
      <dgm:prSet/>
      <dgm:spPr/>
      <dgm:t>
        <a:bodyPr/>
        <a:lstStyle/>
        <a:p>
          <a:endParaRPr lang="en-US"/>
        </a:p>
      </dgm:t>
    </dgm:pt>
    <dgm:pt modelId="{FC3C59FD-8C99-F444-9BB5-7E1ABBCC9A1E}" type="pres">
      <dgm:prSet presAssocID="{BA4814A5-C337-416B-96AE-7069D168572D}" presName="linear" presStyleCnt="0">
        <dgm:presLayoutVars>
          <dgm:animLvl val="lvl"/>
          <dgm:resizeHandles val="exact"/>
        </dgm:presLayoutVars>
      </dgm:prSet>
      <dgm:spPr/>
    </dgm:pt>
    <dgm:pt modelId="{0E276081-25A0-4246-B816-3ECDDBFCD941}" type="pres">
      <dgm:prSet presAssocID="{F365AA4C-B5C6-4CCE-8FDF-CFEA15E63B9F}" presName="parentText" presStyleLbl="node1" presStyleIdx="0" presStyleCnt="2">
        <dgm:presLayoutVars>
          <dgm:chMax val="0"/>
          <dgm:bulletEnabled val="1"/>
        </dgm:presLayoutVars>
      </dgm:prSet>
      <dgm:spPr/>
    </dgm:pt>
    <dgm:pt modelId="{591E1E04-2C46-9F4D-BB65-A1E41D10664A}" type="pres">
      <dgm:prSet presAssocID="{268E097F-ED23-4343-841D-42BD7D724939}" presName="spacer" presStyleCnt="0"/>
      <dgm:spPr/>
    </dgm:pt>
    <dgm:pt modelId="{08D75DBC-50AE-9241-9A11-AFAFB24638FC}" type="pres">
      <dgm:prSet presAssocID="{8E8F6BCF-259D-47FC-9063-8A5F40065C8B}" presName="parentText" presStyleLbl="node1" presStyleIdx="1" presStyleCnt="2">
        <dgm:presLayoutVars>
          <dgm:chMax val="0"/>
          <dgm:bulletEnabled val="1"/>
        </dgm:presLayoutVars>
      </dgm:prSet>
      <dgm:spPr/>
    </dgm:pt>
  </dgm:ptLst>
  <dgm:cxnLst>
    <dgm:cxn modelId="{AF30ED41-DB3C-EC41-BA4A-163002954090}" type="presOf" srcId="{8E8F6BCF-259D-47FC-9063-8A5F40065C8B}" destId="{08D75DBC-50AE-9241-9A11-AFAFB24638FC}" srcOrd="0" destOrd="0" presId="urn:microsoft.com/office/officeart/2005/8/layout/vList2"/>
    <dgm:cxn modelId="{5D606978-61A7-4843-BEE9-B16A60B75548}" type="presOf" srcId="{F365AA4C-B5C6-4CCE-8FDF-CFEA15E63B9F}" destId="{0E276081-25A0-4246-B816-3ECDDBFCD941}" srcOrd="0" destOrd="0" presId="urn:microsoft.com/office/officeart/2005/8/layout/vList2"/>
    <dgm:cxn modelId="{D10B058A-3091-4FE6-B839-5721C4347DE3}" srcId="{BA4814A5-C337-416B-96AE-7069D168572D}" destId="{F365AA4C-B5C6-4CCE-8FDF-CFEA15E63B9F}" srcOrd="0" destOrd="0" parTransId="{3577E8A1-4F28-4338-9833-38503E0CBF9A}" sibTransId="{268E097F-ED23-4343-841D-42BD7D724939}"/>
    <dgm:cxn modelId="{EA66FC93-FEA2-4467-A4B3-5D6568BDAFC1}" srcId="{BA4814A5-C337-416B-96AE-7069D168572D}" destId="{8E8F6BCF-259D-47FC-9063-8A5F40065C8B}" srcOrd="1" destOrd="0" parTransId="{F18F2B8A-E4EF-48A4-99A0-AF5DEEB8D36D}" sibTransId="{260E693A-4A9F-4101-9D51-7501C2B5D4D7}"/>
    <dgm:cxn modelId="{02A189CD-1028-2745-91C5-C5DB92BAAC26}" type="presOf" srcId="{BA4814A5-C337-416B-96AE-7069D168572D}" destId="{FC3C59FD-8C99-F444-9BB5-7E1ABBCC9A1E}" srcOrd="0" destOrd="0" presId="urn:microsoft.com/office/officeart/2005/8/layout/vList2"/>
    <dgm:cxn modelId="{1748FB47-05C1-7546-B38A-B007494AC5EB}" type="presParOf" srcId="{FC3C59FD-8C99-F444-9BB5-7E1ABBCC9A1E}" destId="{0E276081-25A0-4246-B816-3ECDDBFCD941}" srcOrd="0" destOrd="0" presId="urn:microsoft.com/office/officeart/2005/8/layout/vList2"/>
    <dgm:cxn modelId="{9D1C0DCE-D07A-5948-B609-0A76D9DC6944}" type="presParOf" srcId="{FC3C59FD-8C99-F444-9BB5-7E1ABBCC9A1E}" destId="{591E1E04-2C46-9F4D-BB65-A1E41D10664A}" srcOrd="1" destOrd="0" presId="urn:microsoft.com/office/officeart/2005/8/layout/vList2"/>
    <dgm:cxn modelId="{3A13D63F-E83C-1C46-AAD7-4277E2E7D0F5}" type="presParOf" srcId="{FC3C59FD-8C99-F444-9BB5-7E1ABBCC9A1E}" destId="{08D75DBC-50AE-9241-9A11-AFAFB24638FC}"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60E820E-8F21-4F0F-88C9-5264AD21EAF2}" type="doc">
      <dgm:prSet loTypeId="urn:microsoft.com/office/officeart/2005/8/layout/vList2" loCatId="list" qsTypeId="urn:microsoft.com/office/officeart/2005/8/quickstyle/simple1" qsCatId="simple" csTypeId="urn:microsoft.com/office/officeart/2005/8/colors/colorful5" csCatId="colorful"/>
      <dgm:spPr/>
      <dgm:t>
        <a:bodyPr/>
        <a:lstStyle/>
        <a:p>
          <a:endParaRPr lang="en-US"/>
        </a:p>
      </dgm:t>
    </dgm:pt>
    <dgm:pt modelId="{C5F5B8A8-19C5-466F-8699-57F851F08086}">
      <dgm:prSet/>
      <dgm:spPr/>
      <dgm:t>
        <a:bodyPr/>
        <a:lstStyle/>
        <a:p>
          <a:r>
            <a:rPr lang="en-US"/>
            <a:t>Distributed tracing can and should leave the server rooms</a:t>
          </a:r>
        </a:p>
      </dgm:t>
    </dgm:pt>
    <dgm:pt modelId="{A16B5854-2432-4687-9C02-EC79A58BF92D}" type="parTrans" cxnId="{049F33D7-CD22-4E05-A851-39C511956E0E}">
      <dgm:prSet/>
      <dgm:spPr/>
      <dgm:t>
        <a:bodyPr/>
        <a:lstStyle/>
        <a:p>
          <a:endParaRPr lang="en-US"/>
        </a:p>
      </dgm:t>
    </dgm:pt>
    <dgm:pt modelId="{663CBBAF-465D-4658-8A86-4C1C187A324F}" type="sibTrans" cxnId="{049F33D7-CD22-4E05-A851-39C511956E0E}">
      <dgm:prSet/>
      <dgm:spPr/>
      <dgm:t>
        <a:bodyPr/>
        <a:lstStyle/>
        <a:p>
          <a:endParaRPr lang="en-US"/>
        </a:p>
      </dgm:t>
    </dgm:pt>
    <dgm:pt modelId="{6AC615EA-DE5A-416D-BA46-85E7B2EF1C00}">
      <dgm:prSet/>
      <dgm:spPr/>
      <dgm:t>
        <a:bodyPr/>
        <a:lstStyle/>
        <a:p>
          <a:r>
            <a:rPr lang="en-US"/>
            <a:t>End-to-end traces are the way to expose both the impact and root cause correctly</a:t>
          </a:r>
        </a:p>
      </dgm:t>
    </dgm:pt>
    <dgm:pt modelId="{C8274B98-9A0A-438C-810C-3E77501D0FF7}" type="parTrans" cxnId="{7394DC8B-FF2E-408D-A41C-CF446A0DA95A}">
      <dgm:prSet/>
      <dgm:spPr/>
      <dgm:t>
        <a:bodyPr/>
        <a:lstStyle/>
        <a:p>
          <a:endParaRPr lang="en-US"/>
        </a:p>
      </dgm:t>
    </dgm:pt>
    <dgm:pt modelId="{86CD0DD5-7E22-4F3E-8524-612A218355F0}" type="sibTrans" cxnId="{7394DC8B-FF2E-408D-A41C-CF446A0DA95A}">
      <dgm:prSet/>
      <dgm:spPr/>
      <dgm:t>
        <a:bodyPr/>
        <a:lstStyle/>
        <a:p>
          <a:endParaRPr lang="en-US"/>
        </a:p>
      </dgm:t>
    </dgm:pt>
    <dgm:pt modelId="{CE5FF858-9A73-1746-A6A3-FC237E5E398A}" type="pres">
      <dgm:prSet presAssocID="{C60E820E-8F21-4F0F-88C9-5264AD21EAF2}" presName="linear" presStyleCnt="0">
        <dgm:presLayoutVars>
          <dgm:animLvl val="lvl"/>
          <dgm:resizeHandles val="exact"/>
        </dgm:presLayoutVars>
      </dgm:prSet>
      <dgm:spPr/>
    </dgm:pt>
    <dgm:pt modelId="{C3629B36-A6A3-4E41-8B0E-7914FA4EBFF3}" type="pres">
      <dgm:prSet presAssocID="{C5F5B8A8-19C5-466F-8699-57F851F08086}" presName="parentText" presStyleLbl="node1" presStyleIdx="0" presStyleCnt="2">
        <dgm:presLayoutVars>
          <dgm:chMax val="0"/>
          <dgm:bulletEnabled val="1"/>
        </dgm:presLayoutVars>
      </dgm:prSet>
      <dgm:spPr/>
    </dgm:pt>
    <dgm:pt modelId="{F3A22608-BC9F-0D44-9644-C2FCB7FEB761}" type="pres">
      <dgm:prSet presAssocID="{663CBBAF-465D-4658-8A86-4C1C187A324F}" presName="spacer" presStyleCnt="0"/>
      <dgm:spPr/>
    </dgm:pt>
    <dgm:pt modelId="{8343EED6-5E63-7C49-B3C6-E5FA12315822}" type="pres">
      <dgm:prSet presAssocID="{6AC615EA-DE5A-416D-BA46-85E7B2EF1C00}" presName="parentText" presStyleLbl="node1" presStyleIdx="1" presStyleCnt="2">
        <dgm:presLayoutVars>
          <dgm:chMax val="0"/>
          <dgm:bulletEnabled val="1"/>
        </dgm:presLayoutVars>
      </dgm:prSet>
      <dgm:spPr/>
    </dgm:pt>
  </dgm:ptLst>
  <dgm:cxnLst>
    <dgm:cxn modelId="{B379FB76-100C-A34B-A364-C39D33EBA570}" type="presOf" srcId="{C60E820E-8F21-4F0F-88C9-5264AD21EAF2}" destId="{CE5FF858-9A73-1746-A6A3-FC237E5E398A}" srcOrd="0" destOrd="0" presId="urn:microsoft.com/office/officeart/2005/8/layout/vList2"/>
    <dgm:cxn modelId="{7394DC8B-FF2E-408D-A41C-CF446A0DA95A}" srcId="{C60E820E-8F21-4F0F-88C9-5264AD21EAF2}" destId="{6AC615EA-DE5A-416D-BA46-85E7B2EF1C00}" srcOrd="1" destOrd="0" parTransId="{C8274B98-9A0A-438C-810C-3E77501D0FF7}" sibTransId="{86CD0DD5-7E22-4F3E-8524-612A218355F0}"/>
    <dgm:cxn modelId="{48E49097-3CF4-3340-AE6A-3A0BF59BA458}" type="presOf" srcId="{6AC615EA-DE5A-416D-BA46-85E7B2EF1C00}" destId="{8343EED6-5E63-7C49-B3C6-E5FA12315822}" srcOrd="0" destOrd="0" presId="urn:microsoft.com/office/officeart/2005/8/layout/vList2"/>
    <dgm:cxn modelId="{AF04239E-5C8D-8A40-B17C-5C0CE7B93180}" type="presOf" srcId="{C5F5B8A8-19C5-466F-8699-57F851F08086}" destId="{C3629B36-A6A3-4E41-8B0E-7914FA4EBFF3}" srcOrd="0" destOrd="0" presId="urn:microsoft.com/office/officeart/2005/8/layout/vList2"/>
    <dgm:cxn modelId="{049F33D7-CD22-4E05-A851-39C511956E0E}" srcId="{C60E820E-8F21-4F0F-88C9-5264AD21EAF2}" destId="{C5F5B8A8-19C5-466F-8699-57F851F08086}" srcOrd="0" destOrd="0" parTransId="{A16B5854-2432-4687-9C02-EC79A58BF92D}" sibTransId="{663CBBAF-465D-4658-8A86-4C1C187A324F}"/>
    <dgm:cxn modelId="{C2B1C500-4A6C-B742-B21E-1C68310F9050}" type="presParOf" srcId="{CE5FF858-9A73-1746-A6A3-FC237E5E398A}" destId="{C3629B36-A6A3-4E41-8B0E-7914FA4EBFF3}" srcOrd="0" destOrd="0" presId="urn:microsoft.com/office/officeart/2005/8/layout/vList2"/>
    <dgm:cxn modelId="{43A60240-0BF8-8644-AF70-7FD8553747CE}" type="presParOf" srcId="{CE5FF858-9A73-1746-A6A3-FC237E5E398A}" destId="{F3A22608-BC9F-0D44-9644-C2FCB7FEB761}" srcOrd="1" destOrd="0" presId="urn:microsoft.com/office/officeart/2005/8/layout/vList2"/>
    <dgm:cxn modelId="{5D0F5FAD-4ED3-C340-A043-71EC7EE31AD8}" type="presParOf" srcId="{CE5FF858-9A73-1746-A6A3-FC237E5E398A}" destId="{8343EED6-5E63-7C49-B3C6-E5FA12315822}" srcOrd="2"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928F2B-79BA-430D-8B3C-1915BC1CFB19}">
      <dsp:nvSpPr>
        <dsp:cNvPr id="0" name=""/>
        <dsp:cNvSpPr/>
      </dsp:nvSpPr>
      <dsp:spPr>
        <a:xfrm>
          <a:off x="0" y="2442"/>
          <a:ext cx="6513603" cy="123800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14E69A-5607-4A6C-8330-D733F0BD735E}">
      <dsp:nvSpPr>
        <dsp:cNvPr id="0" name=""/>
        <dsp:cNvSpPr/>
      </dsp:nvSpPr>
      <dsp:spPr>
        <a:xfrm>
          <a:off x="374497" y="280994"/>
          <a:ext cx="680904" cy="6809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A2685AE-F1D0-4858-A89B-641118171A7F}">
      <dsp:nvSpPr>
        <dsp:cNvPr id="0" name=""/>
        <dsp:cNvSpPr/>
      </dsp:nvSpPr>
      <dsp:spPr>
        <a:xfrm>
          <a:off x="1429899" y="2442"/>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dirty="0"/>
            <a:t>Removing the need to manually reproduce and gather evidence when responding to support tickets</a:t>
          </a:r>
        </a:p>
      </dsp:txBody>
      <dsp:txXfrm>
        <a:off x="1429899" y="2442"/>
        <a:ext cx="5083704" cy="1238008"/>
      </dsp:txXfrm>
    </dsp:sp>
    <dsp:sp modelId="{DA713B08-BD03-4F89-9DDE-079B5C48ED12}">
      <dsp:nvSpPr>
        <dsp:cNvPr id="0" name=""/>
        <dsp:cNvSpPr/>
      </dsp:nvSpPr>
      <dsp:spPr>
        <a:xfrm>
          <a:off x="0" y="1549953"/>
          <a:ext cx="6513603" cy="123800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DC937B4-81A4-4DCA-BAAE-61C2FFEEB1F9}">
      <dsp:nvSpPr>
        <dsp:cNvPr id="0" name=""/>
        <dsp:cNvSpPr/>
      </dsp:nvSpPr>
      <dsp:spPr>
        <a:xfrm>
          <a:off x="374497" y="1828505"/>
          <a:ext cx="680904" cy="6809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26C5B63-0AB3-4805-9BF9-CF0B6440AF70}">
      <dsp:nvSpPr>
        <dsp:cNvPr id="0" name=""/>
        <dsp:cNvSpPr/>
      </dsp:nvSpPr>
      <dsp:spPr>
        <a:xfrm>
          <a:off x="1429899" y="1549953"/>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dirty="0"/>
            <a:t>Fully understanding the impact of user-facing issues</a:t>
          </a:r>
        </a:p>
      </dsp:txBody>
      <dsp:txXfrm>
        <a:off x="1429899" y="1549953"/>
        <a:ext cx="5083704" cy="1238008"/>
      </dsp:txXfrm>
    </dsp:sp>
    <dsp:sp modelId="{947691B4-06BA-4A80-AA6C-9F2CCCD366D5}">
      <dsp:nvSpPr>
        <dsp:cNvPr id="0" name=""/>
        <dsp:cNvSpPr/>
      </dsp:nvSpPr>
      <dsp:spPr>
        <a:xfrm>
          <a:off x="0" y="3097464"/>
          <a:ext cx="6513603" cy="123800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ACA2744-B529-432F-BDCB-4489076256DE}">
      <dsp:nvSpPr>
        <dsp:cNvPr id="0" name=""/>
        <dsp:cNvSpPr/>
      </dsp:nvSpPr>
      <dsp:spPr>
        <a:xfrm>
          <a:off x="374497" y="3376015"/>
          <a:ext cx="680904" cy="6809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0181C76-F034-4925-8EC6-30707CC1ADF4}">
      <dsp:nvSpPr>
        <dsp:cNvPr id="0" name=""/>
        <dsp:cNvSpPr/>
      </dsp:nvSpPr>
      <dsp:spPr>
        <a:xfrm>
          <a:off x="1429899" y="309746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a:t>Prioritizing the improvements based on the impact to end user</a:t>
          </a:r>
        </a:p>
      </dsp:txBody>
      <dsp:txXfrm>
        <a:off x="1429899" y="3097464"/>
        <a:ext cx="5083704" cy="1238008"/>
      </dsp:txXfrm>
    </dsp:sp>
    <dsp:sp modelId="{CB3C121E-CD4A-46AE-88D7-7FF03D0D5F52}">
      <dsp:nvSpPr>
        <dsp:cNvPr id="0" name=""/>
        <dsp:cNvSpPr/>
      </dsp:nvSpPr>
      <dsp:spPr>
        <a:xfrm>
          <a:off x="0" y="4644974"/>
          <a:ext cx="6513603" cy="1238008"/>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B45F1A-AE62-4A2B-8716-74745F9E093A}">
      <dsp:nvSpPr>
        <dsp:cNvPr id="0" name=""/>
        <dsp:cNvSpPr/>
      </dsp:nvSpPr>
      <dsp:spPr>
        <a:xfrm>
          <a:off x="374497" y="4923526"/>
          <a:ext cx="680904" cy="6809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02A527A-CB37-43E7-B766-27A8B0994AC5}">
      <dsp:nvSpPr>
        <dsp:cNvPr id="0" name=""/>
        <dsp:cNvSpPr/>
      </dsp:nvSpPr>
      <dsp:spPr>
        <a:xfrm>
          <a:off x="1429899" y="4644974"/>
          <a:ext cx="5083704" cy="12380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023" tIns="131023" rIns="131023" bIns="131023" numCol="1" spcCol="1270" anchor="ctr" anchorCtr="0">
          <a:noAutofit/>
        </a:bodyPr>
        <a:lstStyle/>
        <a:p>
          <a:pPr marL="0" lvl="0" indent="0" algn="l" defTabSz="977900">
            <a:lnSpc>
              <a:spcPct val="90000"/>
            </a:lnSpc>
            <a:spcBef>
              <a:spcPct val="0"/>
            </a:spcBef>
            <a:spcAft>
              <a:spcPct val="35000"/>
            </a:spcAft>
            <a:buNone/>
          </a:pPr>
          <a:r>
            <a:rPr lang="en-US" sz="2200" kern="1200"/>
            <a:t>Proactively responding to issues via alerting based on the tracing information</a:t>
          </a:r>
        </a:p>
      </dsp:txBody>
      <dsp:txXfrm>
        <a:off x="1429899" y="4644974"/>
        <a:ext cx="5083704" cy="123800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DCD107-1C5C-BA43-9DEF-97F49035E062}">
      <dsp:nvSpPr>
        <dsp:cNvPr id="0" name=""/>
        <dsp:cNvSpPr/>
      </dsp:nvSpPr>
      <dsp:spPr>
        <a:xfrm>
          <a:off x="0" y="56441"/>
          <a:ext cx="6513603" cy="282723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Metadata added to the trace allowed us to search for the evidence</a:t>
          </a:r>
        </a:p>
      </dsp:txBody>
      <dsp:txXfrm>
        <a:off x="138014" y="194455"/>
        <a:ext cx="6237575" cy="2551203"/>
      </dsp:txXfrm>
    </dsp:sp>
    <dsp:sp modelId="{EA291835-1443-3A40-9E21-FC23BB5B5D88}">
      <dsp:nvSpPr>
        <dsp:cNvPr id="0" name=""/>
        <dsp:cNvSpPr/>
      </dsp:nvSpPr>
      <dsp:spPr>
        <a:xfrm>
          <a:off x="0" y="3001753"/>
          <a:ext cx="6513603" cy="2827231"/>
        </a:xfrm>
        <a:prstGeom prst="roundRect">
          <a:avLst/>
        </a:prstGeom>
        <a:solidFill>
          <a:schemeClr val="accent5">
            <a:hueOff val="-21323124"/>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Spans linked to the trace allowed us to verify the failure had indeed occurred</a:t>
          </a:r>
        </a:p>
      </dsp:txBody>
      <dsp:txXfrm>
        <a:off x="138014" y="3139767"/>
        <a:ext cx="6237575" cy="25512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276081-25A0-4246-B816-3ECDDBFCD941}">
      <dsp:nvSpPr>
        <dsp:cNvPr id="0" name=""/>
        <dsp:cNvSpPr/>
      </dsp:nvSpPr>
      <dsp:spPr>
        <a:xfrm>
          <a:off x="0" y="29592"/>
          <a:ext cx="6513603" cy="28641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Unique identification of an error coupled with distributed tracing allows you to objectively quantify the priority for a particular error.</a:t>
          </a:r>
        </a:p>
      </dsp:txBody>
      <dsp:txXfrm>
        <a:off x="139817" y="169409"/>
        <a:ext cx="6233969" cy="2584526"/>
      </dsp:txXfrm>
    </dsp:sp>
    <dsp:sp modelId="{08D75DBC-50AE-9241-9A11-AFAFB24638FC}">
      <dsp:nvSpPr>
        <dsp:cNvPr id="0" name=""/>
        <dsp:cNvSpPr/>
      </dsp:nvSpPr>
      <dsp:spPr>
        <a:xfrm>
          <a:off x="0" y="2991673"/>
          <a:ext cx="6513603" cy="2864160"/>
        </a:xfrm>
        <a:prstGeom prst="roundRect">
          <a:avLst/>
        </a:prstGeom>
        <a:solidFill>
          <a:schemeClr val="accent5">
            <a:hueOff val="-21323124"/>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US" sz="3400" kern="1200"/>
            <a:t>In the specific situation, (a high priority) response is likely not justified.</a:t>
          </a:r>
        </a:p>
      </dsp:txBody>
      <dsp:txXfrm>
        <a:off x="139817" y="3131490"/>
        <a:ext cx="6233969" cy="258452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3629B36-A6A3-4E41-8B0E-7914FA4EBFF3}">
      <dsp:nvSpPr>
        <dsp:cNvPr id="0" name=""/>
        <dsp:cNvSpPr/>
      </dsp:nvSpPr>
      <dsp:spPr>
        <a:xfrm>
          <a:off x="0" y="56441"/>
          <a:ext cx="6513603" cy="2827231"/>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Distributed tracing can and should leave the server rooms</a:t>
          </a:r>
        </a:p>
      </dsp:txBody>
      <dsp:txXfrm>
        <a:off x="138014" y="194455"/>
        <a:ext cx="6237575" cy="2551203"/>
      </dsp:txXfrm>
    </dsp:sp>
    <dsp:sp modelId="{8343EED6-5E63-7C49-B3C6-E5FA12315822}">
      <dsp:nvSpPr>
        <dsp:cNvPr id="0" name=""/>
        <dsp:cNvSpPr/>
      </dsp:nvSpPr>
      <dsp:spPr>
        <a:xfrm>
          <a:off x="0" y="3001753"/>
          <a:ext cx="6513603" cy="2827231"/>
        </a:xfrm>
        <a:prstGeom prst="roundRect">
          <a:avLst/>
        </a:prstGeom>
        <a:solidFill>
          <a:schemeClr val="accent5">
            <a:hueOff val="-21323124"/>
            <a:satOff val="12119"/>
            <a:lumOff val="-1000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210" tIns="156210" rIns="156210" bIns="156210" numCol="1" spcCol="1270" anchor="ctr" anchorCtr="0">
          <a:noAutofit/>
        </a:bodyPr>
        <a:lstStyle/>
        <a:p>
          <a:pPr marL="0" lvl="0" indent="0" algn="l" defTabSz="1822450">
            <a:lnSpc>
              <a:spcPct val="90000"/>
            </a:lnSpc>
            <a:spcBef>
              <a:spcPct val="0"/>
            </a:spcBef>
            <a:spcAft>
              <a:spcPct val="35000"/>
            </a:spcAft>
            <a:buNone/>
          </a:pPr>
          <a:r>
            <a:rPr lang="en-US" sz="4100" kern="1200"/>
            <a:t>End-to-end traces are the way to expose both the impact and root cause correctly</a:t>
          </a:r>
        </a:p>
      </dsp:txBody>
      <dsp:txXfrm>
        <a:off x="138014" y="3139767"/>
        <a:ext cx="6237575" cy="25512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V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00C497-6857-9F4D-B7BB-81935999ED21}" type="datetimeFigureOut">
              <a:rPr lang="en-VN" smtClean="0"/>
              <a:t>3/6/26</a:t>
            </a:fld>
            <a:endParaRPr lang="en-V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V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V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V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B54D2DD-A407-2040-808D-B7F0F89560F1}" type="slidenum">
              <a:rPr lang="en-VN" smtClean="0"/>
              <a:t>‹#›</a:t>
            </a:fld>
            <a:endParaRPr lang="en-VN"/>
          </a:p>
        </p:txBody>
      </p:sp>
    </p:spTree>
    <p:extLst>
      <p:ext uri="{BB962C8B-B14F-4D97-AF65-F5344CB8AC3E}">
        <p14:creationId xmlns:p14="http://schemas.microsoft.com/office/powerpoint/2010/main" val="15398410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t-EE" dirty="0"/>
              <a:t>Kas suudame seda protsessi kuidagi lihtsalt animeerida? Mikroteenuste pildi peal?</a:t>
            </a:r>
          </a:p>
          <a:p>
            <a:pPr marL="628650" lvl="1" indent="-171450"/>
            <a:r>
              <a:rPr lang="et-EE" dirty="0"/>
              <a:t>Ülevalt tuleb päring sisse</a:t>
            </a:r>
          </a:p>
          <a:p>
            <a:pPr marL="628650" lvl="1" indent="-171450"/>
            <a:r>
              <a:rPr lang="et-EE" dirty="0"/>
              <a:t>Esimese </a:t>
            </a:r>
            <a:r>
              <a:rPr lang="et-EE" dirty="0" err="1"/>
              <a:t>node</a:t>
            </a:r>
            <a:r>
              <a:rPr lang="et-EE" dirty="0"/>
              <a:t> juures luuakse ID (midagi automaatset, a la sdv0894vöeb8sv) ja registreeritakse alguse aeg</a:t>
            </a:r>
          </a:p>
          <a:p>
            <a:pPr marL="628650" lvl="1" indent="-171450"/>
            <a:r>
              <a:rPr lang="et-EE" dirty="0"/>
              <a:t>Päring liigub teise </a:t>
            </a:r>
            <a:r>
              <a:rPr lang="et-EE" dirty="0" err="1"/>
              <a:t>node</a:t>
            </a:r>
            <a:r>
              <a:rPr lang="et-EE" dirty="0"/>
              <a:t> juurde</a:t>
            </a:r>
          </a:p>
          <a:p>
            <a:pPr marL="628650" lvl="1" indent="-171450"/>
            <a:r>
              <a:rPr lang="et-EE" dirty="0"/>
              <a:t>Teise </a:t>
            </a:r>
            <a:r>
              <a:rPr lang="et-EE" dirty="0" err="1"/>
              <a:t>node</a:t>
            </a:r>
            <a:r>
              <a:rPr lang="et-EE" dirty="0"/>
              <a:t> juures on sama ID ja rügatakse alguse aeg</a:t>
            </a:r>
          </a:p>
          <a:p>
            <a:pPr marL="628650" lvl="1" indent="-171450">
              <a:lnSpc>
                <a:spcPct val="100000"/>
              </a:lnSpc>
              <a:spcBef>
                <a:spcPts val="0"/>
              </a:spcBef>
              <a:defRPr/>
            </a:pPr>
            <a:r>
              <a:rPr lang="et-EE" dirty="0"/>
              <a:t>Päring liigub kolmanda </a:t>
            </a:r>
            <a:r>
              <a:rPr lang="et-EE" dirty="0" err="1"/>
              <a:t>node</a:t>
            </a:r>
            <a:r>
              <a:rPr lang="et-EE" dirty="0"/>
              <a:t> juurde</a:t>
            </a:r>
          </a:p>
          <a:p>
            <a:pPr marL="628650" lvl="1" indent="-171450"/>
            <a:r>
              <a:rPr lang="et-EE" dirty="0"/>
              <a:t>Kolmanda juures sama ID ja alguse ning lõpu aeg</a:t>
            </a:r>
          </a:p>
          <a:p>
            <a:pPr marL="628650" lvl="1" indent="-171450"/>
            <a:r>
              <a:rPr lang="et-EE" dirty="0"/>
              <a:t>Päring liigub tagasi teise </a:t>
            </a:r>
            <a:r>
              <a:rPr lang="et-EE" dirty="0" err="1"/>
              <a:t>node</a:t>
            </a:r>
            <a:r>
              <a:rPr lang="et-EE" dirty="0"/>
              <a:t> juurde, teine </a:t>
            </a:r>
            <a:r>
              <a:rPr lang="et-EE" dirty="0" err="1"/>
              <a:t>node</a:t>
            </a:r>
            <a:r>
              <a:rPr lang="et-EE" dirty="0"/>
              <a:t> saab lõpuaja</a:t>
            </a:r>
          </a:p>
          <a:p>
            <a:pPr marL="628650" lvl="1" indent="-171450"/>
            <a:r>
              <a:rPr lang="et-EE" dirty="0"/>
              <a:t>Liigub tagasi esimese </a:t>
            </a:r>
            <a:r>
              <a:rPr lang="et-EE" dirty="0" err="1"/>
              <a:t>node</a:t>
            </a:r>
            <a:r>
              <a:rPr lang="et-EE" dirty="0"/>
              <a:t> juurde, esimene saab lõpuaja</a:t>
            </a:r>
          </a:p>
          <a:p>
            <a:pPr marL="628650" lvl="1" indent="-171450"/>
            <a:r>
              <a:rPr lang="et-EE" dirty="0"/>
              <a:t>Liigub ülevalt välja</a:t>
            </a:r>
          </a:p>
          <a:p>
            <a:pPr marL="628650" lvl="1" indent="-171450"/>
            <a:r>
              <a:rPr lang="et-EE" dirty="0"/>
              <a:t>Kõikidest </a:t>
            </a:r>
            <a:r>
              <a:rPr lang="et-EE" dirty="0" err="1"/>
              <a:t>nodedest</a:t>
            </a:r>
            <a:r>
              <a:rPr lang="et-EE" dirty="0"/>
              <a:t> liigub info monitooringu </a:t>
            </a:r>
            <a:r>
              <a:rPr lang="et-EE" dirty="0" err="1"/>
              <a:t>keskserverisse</a:t>
            </a:r>
            <a:endParaRPr lang="en-US" dirty="0"/>
          </a:p>
          <a:p>
            <a:endParaRPr lang="en-US" dirty="0"/>
          </a:p>
        </p:txBody>
      </p:sp>
      <p:sp>
        <p:nvSpPr>
          <p:cNvPr id="4" name="Slide Number Placeholder 3"/>
          <p:cNvSpPr>
            <a:spLocks noGrp="1"/>
          </p:cNvSpPr>
          <p:nvPr>
            <p:ph type="sldNum" sz="quarter" idx="5"/>
          </p:nvPr>
        </p:nvSpPr>
        <p:spPr/>
        <p:txBody>
          <a:bodyPr/>
          <a:lstStyle/>
          <a:p>
            <a:fld id="{F3EF7B0F-F07B-4C9D-968D-F9FB62A4BAEA}" type="slidenum">
              <a:rPr lang="en-US" smtClean="0"/>
              <a:t>48</a:t>
            </a:fld>
            <a:endParaRPr lang="en-US"/>
          </a:p>
        </p:txBody>
      </p:sp>
    </p:spTree>
    <p:extLst>
      <p:ext uri="{BB962C8B-B14F-4D97-AF65-F5344CB8AC3E}">
        <p14:creationId xmlns:p14="http://schemas.microsoft.com/office/powerpoint/2010/main" val="12466921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The last piece of all tracing infrastructure is the monitoring agents themselves. </a:t>
            </a:r>
            <a:endParaRPr lang="en-US" b="0" dirty="0">
              <a:effectLst/>
            </a:endParaRPr>
          </a:p>
          <a:p>
            <a:pPr rtl="0"/>
            <a:r>
              <a:rPr lang="en-US" sz="1200" b="0" i="0" u="none" strike="noStrike" kern="1200" dirty="0">
                <a:solidFill>
                  <a:schemeClr val="tx1"/>
                </a:solidFill>
                <a:effectLst/>
                <a:latin typeface="+mn-lt"/>
                <a:ea typeface="+mn-ea"/>
                <a:cs typeface="+mn-cs"/>
              </a:rPr>
              <a:t>Monitoring agents are a work of software craft by themselves. </a:t>
            </a:r>
            <a:endParaRPr lang="en-US" b="0" dirty="0">
              <a:effectLst/>
            </a:endParaRPr>
          </a:p>
          <a:p>
            <a:pPr rtl="0"/>
            <a:r>
              <a:rPr lang="en-US" sz="1200" b="0" i="0" u="none" strike="noStrike" kern="1200" dirty="0">
                <a:solidFill>
                  <a:schemeClr val="tx1"/>
                </a:solidFill>
                <a:effectLst/>
                <a:latin typeface="+mn-lt"/>
                <a:ea typeface="+mn-ea"/>
                <a:cs typeface="+mn-cs"/>
              </a:rPr>
              <a:t>The common denominator among all web applications is http or https traffic. </a:t>
            </a:r>
            <a:endParaRPr lang="en-US" b="0" dirty="0">
              <a:effectLst/>
            </a:endParaRPr>
          </a:p>
          <a:p>
            <a:pPr rtl="0"/>
            <a:r>
              <a:rPr lang="en-US" sz="1200" b="0" i="0" u="none" strike="noStrike" kern="1200" dirty="0">
                <a:solidFill>
                  <a:schemeClr val="tx1"/>
                </a:solidFill>
                <a:effectLst/>
                <a:latin typeface="+mn-lt"/>
                <a:ea typeface="+mn-ea"/>
                <a:cs typeface="+mn-cs"/>
              </a:rPr>
              <a:t>Therefore it is a common practice to have agents that can operate at the lowest levels so that they can capture the complete details of traffic between all the nodes in an application. </a:t>
            </a:r>
            <a:endParaRPr lang="en-US" b="0" dirty="0">
              <a:effectLst/>
            </a:endParaRPr>
          </a:p>
          <a:p>
            <a:pPr rtl="0"/>
            <a:r>
              <a:rPr lang="en-US" sz="1200" b="0" i="0" u="none" strike="noStrike" kern="1200" dirty="0">
                <a:solidFill>
                  <a:schemeClr val="tx1"/>
                </a:solidFill>
                <a:effectLst/>
                <a:latin typeface="+mn-lt"/>
                <a:ea typeface="+mn-ea"/>
                <a:cs typeface="+mn-cs"/>
              </a:rPr>
              <a:t>Agents must be able to capture and analyze traffic in a manner that is agnostic to languages, frameworks, and other infrastructure. </a:t>
            </a:r>
          </a:p>
          <a:p>
            <a:pPr rtl="0"/>
            <a:r>
              <a:rPr lang="en-US" sz="1200" b="0" i="0" u="none" strike="noStrike" kern="1200" dirty="0">
                <a:solidFill>
                  <a:schemeClr val="tx1"/>
                </a:solidFill>
                <a:effectLst/>
                <a:latin typeface="+mn-lt"/>
                <a:ea typeface="+mn-ea"/>
                <a:cs typeface="+mn-cs"/>
              </a:rPr>
              <a:t>Such agents are built either using the language-specific APIs at bytecode level (such as Java or .NET agents) or dig deeper and hook into system library calls via LD_PRELOAD at native code level.</a:t>
            </a:r>
            <a:endParaRPr lang="en-US" b="0" dirty="0">
              <a:effectLst/>
            </a:endParaRPr>
          </a:p>
          <a:p>
            <a:br>
              <a:rPr lang="en-US" b="0" dirty="0">
                <a:effectLst/>
              </a:rPr>
            </a:br>
            <a:endParaRPr lang="en-US" dirty="0"/>
          </a:p>
          <a:p>
            <a:endParaRPr lang="en-US" dirty="0"/>
          </a:p>
        </p:txBody>
      </p:sp>
      <p:sp>
        <p:nvSpPr>
          <p:cNvPr id="4" name="Slide Number Placeholder 3"/>
          <p:cNvSpPr>
            <a:spLocks noGrp="1"/>
          </p:cNvSpPr>
          <p:nvPr>
            <p:ph type="sldNum" sz="quarter" idx="5"/>
          </p:nvPr>
        </p:nvSpPr>
        <p:spPr/>
        <p:txBody>
          <a:bodyPr/>
          <a:lstStyle/>
          <a:p>
            <a:fld id="{C1D09CD2-28B1-A741-9C11-3759B52CCA39}" type="slidenum">
              <a:rPr lang="en-US" smtClean="0"/>
              <a:t>56</a:t>
            </a:fld>
            <a:endParaRPr lang="en-US"/>
          </a:p>
        </p:txBody>
      </p:sp>
    </p:spTree>
    <p:extLst>
      <p:ext uri="{BB962C8B-B14F-4D97-AF65-F5344CB8AC3E}">
        <p14:creationId xmlns:p14="http://schemas.microsoft.com/office/powerpoint/2010/main" val="28618759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covered the concept. Distributed tracing builds up a data model, consisting of traces and spans which are uniquely identified and contain valuable metadata. This data is captured by agents, deployed per microservice under monitoring. The data is sent to the central server where it is processed and made available for querying and visualization. </a:t>
            </a:r>
          </a:p>
        </p:txBody>
      </p:sp>
      <p:sp>
        <p:nvSpPr>
          <p:cNvPr id="4" name="Slide Number Placeholder 3"/>
          <p:cNvSpPr>
            <a:spLocks noGrp="1"/>
          </p:cNvSpPr>
          <p:nvPr>
            <p:ph type="sldNum" sz="quarter" idx="5"/>
          </p:nvPr>
        </p:nvSpPr>
        <p:spPr/>
        <p:txBody>
          <a:bodyPr/>
          <a:lstStyle/>
          <a:p>
            <a:fld id="{C1D09CD2-28B1-A741-9C11-3759B52CCA39}" type="slidenum">
              <a:rPr lang="en-US" smtClean="0"/>
              <a:t>58</a:t>
            </a:fld>
            <a:endParaRPr lang="en-US"/>
          </a:p>
        </p:txBody>
      </p:sp>
    </p:spTree>
    <p:extLst>
      <p:ext uri="{BB962C8B-B14F-4D97-AF65-F5344CB8AC3E}">
        <p14:creationId xmlns:p14="http://schemas.microsoft.com/office/powerpoint/2010/main" val="26305585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I bet your mind is already racing a million miles a minute, thinking about all the cool things that can be done given such information, right? Let me show you three examples, going from a simple and straightforward use case to something I bet you never even thought about:</a:t>
            </a:r>
            <a:endParaRPr lang="en-US" b="0" dirty="0">
              <a:effectLst/>
            </a:endParaRPr>
          </a:p>
          <a:p>
            <a:br>
              <a:rPr lang="en-US" dirty="0"/>
            </a:br>
            <a:endParaRPr lang="en-US" dirty="0"/>
          </a:p>
        </p:txBody>
      </p:sp>
      <p:sp>
        <p:nvSpPr>
          <p:cNvPr id="4" name="Slide Number Placeholder 3"/>
          <p:cNvSpPr>
            <a:spLocks noGrp="1"/>
          </p:cNvSpPr>
          <p:nvPr>
            <p:ph type="sldNum" sz="quarter" idx="5"/>
          </p:nvPr>
        </p:nvSpPr>
        <p:spPr/>
        <p:txBody>
          <a:bodyPr/>
          <a:lstStyle/>
          <a:p>
            <a:fld id="{C1D09CD2-28B1-A741-9C11-3759B52CCA39}" type="slidenum">
              <a:rPr lang="en-US" smtClean="0"/>
              <a:t>59</a:t>
            </a:fld>
            <a:endParaRPr lang="en-US"/>
          </a:p>
        </p:txBody>
      </p:sp>
    </p:spTree>
    <p:extLst>
      <p:ext uri="{BB962C8B-B14F-4D97-AF65-F5344CB8AC3E}">
        <p14:creationId xmlns:p14="http://schemas.microsoft.com/office/powerpoint/2010/main" val="20089925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Just as easily, you are now able to confirm that the customer complaint is real - evidence is right in front of you. No more trying to reproduce or gathering additional evidence. You see the failure right in front of you. So you can confirm the presence of the issue and proceed with fixing the bug right away. Right?</a:t>
            </a:r>
            <a:endParaRPr lang="en-US" b="0" dirty="0">
              <a:effectLst/>
            </a:endParaRPr>
          </a:p>
        </p:txBody>
      </p:sp>
      <p:sp>
        <p:nvSpPr>
          <p:cNvPr id="4" name="Slide Number Placeholder 3"/>
          <p:cNvSpPr>
            <a:spLocks noGrp="1"/>
          </p:cNvSpPr>
          <p:nvPr>
            <p:ph type="sldNum" sz="quarter" idx="5"/>
          </p:nvPr>
        </p:nvSpPr>
        <p:spPr/>
        <p:txBody>
          <a:bodyPr/>
          <a:lstStyle/>
          <a:p>
            <a:fld id="{C1D09CD2-28B1-A741-9C11-3759B52CCA39}" type="slidenum">
              <a:rPr lang="en-US" smtClean="0"/>
              <a:t>65</a:t>
            </a:fld>
            <a:endParaRPr lang="en-US"/>
          </a:p>
        </p:txBody>
      </p:sp>
    </p:spTree>
    <p:extLst>
      <p:ext uri="{BB962C8B-B14F-4D97-AF65-F5344CB8AC3E}">
        <p14:creationId xmlns:p14="http://schemas.microsoft.com/office/powerpoint/2010/main" val="8903811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Just as easily, you are now able to confirm that the customer complaint is real - evidence is right in front of you. No more trying to reproduce or gathering additional evidence. You see the failure right in front of you. So you can confirm the presence of the issue and proceed with fixing the bug right away. Right?</a:t>
            </a:r>
            <a:endParaRPr lang="en-US" b="0" dirty="0">
              <a:effectLst/>
            </a:endParaRPr>
          </a:p>
        </p:txBody>
      </p:sp>
      <p:sp>
        <p:nvSpPr>
          <p:cNvPr id="4" name="Slide Number Placeholder 3"/>
          <p:cNvSpPr>
            <a:spLocks noGrp="1"/>
          </p:cNvSpPr>
          <p:nvPr>
            <p:ph type="sldNum" sz="quarter" idx="5"/>
          </p:nvPr>
        </p:nvSpPr>
        <p:spPr/>
        <p:txBody>
          <a:bodyPr/>
          <a:lstStyle/>
          <a:p>
            <a:fld id="{C1D09CD2-28B1-A741-9C11-3759B52CCA39}" type="slidenum">
              <a:rPr lang="en-US" smtClean="0"/>
              <a:t>66</a:t>
            </a:fld>
            <a:endParaRPr lang="en-US"/>
          </a:p>
        </p:txBody>
      </p:sp>
    </p:spTree>
    <p:extLst>
      <p:ext uri="{BB962C8B-B14F-4D97-AF65-F5344CB8AC3E}">
        <p14:creationId xmlns:p14="http://schemas.microsoft.com/office/powerpoint/2010/main" val="40994729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Hm. Now you still have the evidence right in front of you. John Smith indeed was unable to complete the checkout, but apparently he was the only one experiencing this error. Should you really spend your time on this issue, considering all the other bugs and features waiting for your attention in the backlog?</a:t>
            </a:r>
            <a:endParaRPr lang="en-US" b="0" dirty="0">
              <a:effectLst/>
            </a:endParaRPr>
          </a:p>
        </p:txBody>
      </p:sp>
      <p:sp>
        <p:nvSpPr>
          <p:cNvPr id="4" name="Slide Number Placeholder 3"/>
          <p:cNvSpPr>
            <a:spLocks noGrp="1"/>
          </p:cNvSpPr>
          <p:nvPr>
            <p:ph type="sldNum" sz="quarter" idx="5"/>
          </p:nvPr>
        </p:nvSpPr>
        <p:spPr/>
        <p:txBody>
          <a:bodyPr/>
          <a:lstStyle/>
          <a:p>
            <a:fld id="{C1D09CD2-28B1-A741-9C11-3759B52CCA39}" type="slidenum">
              <a:rPr lang="en-US" smtClean="0"/>
              <a:t>69</a:t>
            </a:fld>
            <a:endParaRPr lang="en-US"/>
          </a:p>
        </p:txBody>
      </p:sp>
    </p:spTree>
    <p:extLst>
      <p:ext uri="{BB962C8B-B14F-4D97-AF65-F5344CB8AC3E}">
        <p14:creationId xmlns:p14="http://schemas.microsoft.com/office/powerpoint/2010/main" val="73678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US" sz="1200" b="0" i="0" u="none" strike="noStrike" kern="1200" dirty="0">
                <a:solidFill>
                  <a:schemeClr val="tx1"/>
                </a:solidFill>
                <a:effectLst/>
                <a:latin typeface="+mn-lt"/>
                <a:ea typeface="+mn-ea"/>
                <a:cs typeface="+mn-cs"/>
              </a:rPr>
              <a:t>Whoa. So it was not the checkout all along. It was the subscription details that was the culprit. Apparently the failure to fetch subscription details was not handled properly and thus a non-existing subscription ID was passed to the checkout. But the subscription detail API has been failing for hours now, for hundreds of users. Houston, P1!</a:t>
            </a:r>
            <a:endParaRPr lang="en-US" b="0" dirty="0">
              <a:effectLst/>
            </a:endParaRPr>
          </a:p>
        </p:txBody>
      </p:sp>
      <p:sp>
        <p:nvSpPr>
          <p:cNvPr id="4" name="Slide Number Placeholder 3"/>
          <p:cNvSpPr>
            <a:spLocks noGrp="1"/>
          </p:cNvSpPr>
          <p:nvPr>
            <p:ph type="sldNum" sz="quarter" idx="5"/>
          </p:nvPr>
        </p:nvSpPr>
        <p:spPr/>
        <p:txBody>
          <a:bodyPr/>
          <a:lstStyle/>
          <a:p>
            <a:fld id="{C1D09CD2-28B1-A741-9C11-3759B52CCA39}" type="slidenum">
              <a:rPr lang="en-US" smtClean="0"/>
              <a:t>71</a:t>
            </a:fld>
            <a:endParaRPr lang="en-US"/>
          </a:p>
        </p:txBody>
      </p:sp>
    </p:spTree>
    <p:extLst>
      <p:ext uri="{BB962C8B-B14F-4D97-AF65-F5344CB8AC3E}">
        <p14:creationId xmlns:p14="http://schemas.microsoft.com/office/powerpoint/2010/main" val="20352348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u="none" strike="noStrike" kern="1200" dirty="0">
                <a:solidFill>
                  <a:schemeClr val="tx1"/>
                </a:solidFill>
                <a:effectLst/>
                <a:latin typeface="+mn-lt"/>
                <a:ea typeface="+mn-ea"/>
                <a:cs typeface="+mn-cs"/>
              </a:rPr>
              <a:t>Whoa. So it was not the checkout all along. It was the subscription details that was the culprit. Apparently the failure to fetch subscription details was not handled properly and thus a non-existing subscription ID was passed to the checkout. But the subscription detail API has been failing for hours now, for hundreds of users. Houston, P1!</a:t>
            </a:r>
            <a:endParaRPr lang="en-US" b="0" dirty="0">
              <a:effectLst/>
            </a:endParaRPr>
          </a:p>
        </p:txBody>
      </p:sp>
      <p:sp>
        <p:nvSpPr>
          <p:cNvPr id="4" name="Slide Number Placeholder 3"/>
          <p:cNvSpPr>
            <a:spLocks noGrp="1"/>
          </p:cNvSpPr>
          <p:nvPr>
            <p:ph type="sldNum" sz="quarter" idx="5"/>
          </p:nvPr>
        </p:nvSpPr>
        <p:spPr/>
        <p:txBody>
          <a:bodyPr/>
          <a:lstStyle/>
          <a:p>
            <a:fld id="{C1D09CD2-28B1-A741-9C11-3759B52CCA39}" type="slidenum">
              <a:rPr lang="en-US" smtClean="0"/>
              <a:t>72</a:t>
            </a:fld>
            <a:endParaRPr lang="en-US"/>
          </a:p>
        </p:txBody>
      </p:sp>
    </p:spTree>
    <p:extLst>
      <p:ext uri="{BB962C8B-B14F-4D97-AF65-F5344CB8AC3E}">
        <p14:creationId xmlns:p14="http://schemas.microsoft.com/office/powerpoint/2010/main" val="203778450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4.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920834" y="134694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6200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920834" y="4299696"/>
            <a:ext cx="10222992" cy="80683"/>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175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920834" y="1484779"/>
            <a:ext cx="10222992" cy="274320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p:cNvGrpSpPr/>
          <p:nvPr/>
        </p:nvGrpSpPr>
        <p:grpSpPr>
          <a:xfrm>
            <a:off x="9649215" y="4068923"/>
            <a:ext cx="1080904" cy="1080902"/>
            <a:chOff x="9685338" y="4460675"/>
            <a:chExt cx="1080904" cy="1080902"/>
          </a:xfrm>
        </p:grpSpPr>
        <p:sp>
          <p:nvSpPr>
            <p:cNvPr id="11" name="Oval 10"/>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2" name="Oval 11"/>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2" name="Title 1"/>
          <p:cNvSpPr>
            <a:spLocks noGrp="1"/>
          </p:cNvSpPr>
          <p:nvPr>
            <p:ph type="ctrTitle"/>
          </p:nvPr>
        </p:nvSpPr>
        <p:spPr>
          <a:xfrm>
            <a:off x="1051560" y="1432223"/>
            <a:ext cx="9966960" cy="3035808"/>
          </a:xfrm>
        </p:spPr>
        <p:txBody>
          <a:bodyPr anchor="ctr">
            <a:noAutofit/>
          </a:bodyPr>
          <a:lstStyle>
            <a:lvl1pPr algn="l">
              <a:lnSpc>
                <a:spcPct val="80000"/>
              </a:lnSpc>
              <a:defRPr sz="9600" cap="all" baseline="0">
                <a:blipFill dpi="0" rotWithShape="1">
                  <a:blip r:embed="rId4"/>
                  <a:srcRect/>
                  <a:tile tx="6350" ty="-127000" sx="65000" sy="64000" flip="none" algn="tl"/>
                </a:blipFill>
              </a:defRPr>
            </a:lvl1pPr>
          </a:lstStyle>
          <a:p>
            <a:r>
              <a:rPr lang="en-GB"/>
              <a:t>Click to edit Master title style</a:t>
            </a:r>
            <a:endParaRPr lang="en-US" dirty="0"/>
          </a:p>
        </p:txBody>
      </p:sp>
      <p:sp>
        <p:nvSpPr>
          <p:cNvPr id="3" name="Subtitle 2"/>
          <p:cNvSpPr>
            <a:spLocks noGrp="1"/>
          </p:cNvSpPr>
          <p:nvPr>
            <p:ph type="subTitle" idx="1"/>
          </p:nvPr>
        </p:nvSpPr>
        <p:spPr>
          <a:xfrm>
            <a:off x="1069848" y="4389120"/>
            <a:ext cx="7891272" cy="1069848"/>
          </a:xfrm>
        </p:spPr>
        <p:txBody>
          <a:bodyPr>
            <a:normAutofit/>
          </a:bodyPr>
          <a:lstStyle>
            <a:lvl1pPr marL="0" indent="0" algn="l">
              <a:buNone/>
              <a:defRPr sz="2200">
                <a:solidFill>
                  <a:schemeClr val="tx1"/>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CA618A79-B066-5846-A5D6-AB81F847D0F3}" type="datetimeFigureOut">
              <a:rPr lang="en-GB" smtClean="0"/>
              <a:t>03/06/2026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a:xfrm>
            <a:off x="9592733" y="4289334"/>
            <a:ext cx="1193868" cy="640080"/>
          </a:xfrm>
        </p:spPr>
        <p:txBody>
          <a:bodyPr/>
          <a:lstStyle>
            <a:lvl1pPr>
              <a:defRPr sz="2800"/>
            </a:lvl1pPr>
          </a:lstStyle>
          <a:p>
            <a:fld id="{D3FDA4FC-4489-AC41-B03E-87E7AD63B868}" type="slidenum">
              <a:rPr lang="en-GB" smtClean="0"/>
              <a:t>‹#›</a:t>
            </a:fld>
            <a:endParaRPr lang="en-GB"/>
          </a:p>
        </p:txBody>
      </p:sp>
    </p:spTree>
    <p:extLst>
      <p:ext uri="{BB962C8B-B14F-4D97-AF65-F5344CB8AC3E}">
        <p14:creationId xmlns:p14="http://schemas.microsoft.com/office/powerpoint/2010/main" val="11563796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A618A79-B066-5846-A5D6-AB81F847D0F3}" type="datetimeFigureOut">
              <a:rPr lang="en-GB" smtClean="0"/>
              <a:t>03/06/2026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2108040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4917989"/>
            <a:ext cx="12192000" cy="1940010"/>
          </a:xfrm>
          <a:prstGeom prst="rect">
            <a:avLst/>
          </a:prstGeom>
          <a:blipFill dpi="0" rotWithShape="1">
            <a:blip r:embed="rId2">
              <a:alphaModFix amt="85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2167128" y="1225296"/>
            <a:ext cx="9281160" cy="3520440"/>
          </a:xfrm>
        </p:spPr>
        <p:txBody>
          <a:bodyPr anchor="ctr">
            <a:normAutofit/>
          </a:bodyPr>
          <a:lstStyle>
            <a:lvl1pPr>
              <a:lnSpc>
                <a:spcPct val="80000"/>
              </a:lnSpc>
              <a:defRPr sz="8000" b="0"/>
            </a:lvl1pPr>
          </a:lstStyle>
          <a:p>
            <a:r>
              <a:rPr lang="en-GB"/>
              <a:t>Click to edit Master title style</a:t>
            </a:r>
            <a:endParaRPr lang="en-US" dirty="0"/>
          </a:p>
        </p:txBody>
      </p:sp>
      <p:sp>
        <p:nvSpPr>
          <p:cNvPr id="3" name="Text Placeholder 2"/>
          <p:cNvSpPr>
            <a:spLocks noGrp="1"/>
          </p:cNvSpPr>
          <p:nvPr>
            <p:ph type="body" idx="1"/>
          </p:nvPr>
        </p:nvSpPr>
        <p:spPr>
          <a:xfrm>
            <a:off x="2165774" y="5020056"/>
            <a:ext cx="9052560" cy="1066800"/>
          </a:xfrm>
        </p:spPr>
        <p:txBody>
          <a:bodyPr anchor="t">
            <a:normAutofit/>
          </a:bodyPr>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8593667" y="6272784"/>
            <a:ext cx="2644309" cy="365125"/>
          </a:xfrm>
        </p:spPr>
        <p:txBody>
          <a:bodyPr/>
          <a:lstStyle/>
          <a:p>
            <a:fld id="{CA618A79-B066-5846-A5D6-AB81F847D0F3}" type="datetimeFigureOut">
              <a:rPr lang="en-GB" smtClean="0"/>
              <a:t>03/06/2026</a:t>
            </a:fld>
            <a:endParaRPr lang="en-GB"/>
          </a:p>
        </p:txBody>
      </p:sp>
      <p:sp>
        <p:nvSpPr>
          <p:cNvPr id="5" name="Footer Placeholder 4"/>
          <p:cNvSpPr>
            <a:spLocks noGrp="1"/>
          </p:cNvSpPr>
          <p:nvPr>
            <p:ph type="ftr" sz="quarter" idx="11"/>
          </p:nvPr>
        </p:nvSpPr>
        <p:spPr>
          <a:xfrm>
            <a:off x="2182708" y="6272784"/>
            <a:ext cx="6327648" cy="365125"/>
          </a:xfrm>
        </p:spPr>
        <p:txBody>
          <a:bodyPr/>
          <a:lstStyle/>
          <a:p>
            <a:endParaRPr lang="en-GB"/>
          </a:p>
        </p:txBody>
      </p:sp>
      <p:grpSp>
        <p:nvGrpSpPr>
          <p:cNvPr id="8" name="Group 7"/>
          <p:cNvGrpSpPr/>
          <p:nvPr/>
        </p:nvGrpSpPr>
        <p:grpSpPr>
          <a:xfrm>
            <a:off x="897399" y="2325848"/>
            <a:ext cx="1080904" cy="1080902"/>
            <a:chOff x="9685338" y="4460675"/>
            <a:chExt cx="1080904" cy="1080902"/>
          </a:xfrm>
        </p:grpSpPr>
        <p:sp>
          <p:nvSpPr>
            <p:cNvPr id="9" name="Oval 8"/>
            <p:cNvSpPr/>
            <p:nvPr/>
          </p:nvSpPr>
          <p:spPr>
            <a:xfrm>
              <a:off x="9685338" y="4460675"/>
              <a:ext cx="1080904" cy="1080902"/>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Layer>
                    </a14:imgProps>
                  </a:ext>
                </a:extLst>
              </a:blip>
              <a:srcRect/>
              <a:tile tx="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9793429" y="4568765"/>
              <a:ext cx="864723" cy="864722"/>
            </a:xfrm>
            <a:prstGeom prst="ellipse">
              <a:avLst/>
            </a:prstGeom>
            <a:noFill/>
            <a:ln w="254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12"/>
          </p:nvPr>
        </p:nvSpPr>
        <p:spPr>
          <a:xfrm>
            <a:off x="843702" y="2506133"/>
            <a:ext cx="1188298" cy="720332"/>
          </a:xfrm>
        </p:spPr>
        <p:txBody>
          <a:bodyPr/>
          <a:lstStyle>
            <a:lvl1pPr>
              <a:defRPr sz="2800"/>
            </a:lvl1pPr>
          </a:lstStyle>
          <a:p>
            <a:fld id="{D3FDA4FC-4489-AC41-B03E-87E7AD63B868}" type="slidenum">
              <a:rPr lang="en-GB" smtClean="0"/>
              <a:t>‹#›</a:t>
            </a:fld>
            <a:endParaRPr lang="en-GB"/>
          </a:p>
        </p:txBody>
      </p:sp>
    </p:spTree>
    <p:extLst>
      <p:ext uri="{BB962C8B-B14F-4D97-AF65-F5344CB8AC3E}">
        <p14:creationId xmlns:p14="http://schemas.microsoft.com/office/powerpoint/2010/main" val="17604989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069848"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6364224" y="2194560"/>
            <a:ext cx="4754880" cy="3977640"/>
          </a:xfrm>
        </p:spPr>
        <p:txBody>
          <a:bodyPr/>
          <a:lstStyle>
            <a:lvl1pPr>
              <a:defRPr sz="2000"/>
            </a:lvl1pPr>
            <a:lvl2pPr>
              <a:defRPr sz="1800"/>
            </a:lvl2pPr>
            <a:lvl3pPr>
              <a:defRPr sz="1600"/>
            </a:lvl3pPr>
            <a:lvl4pPr>
              <a:defRPr sz="1600"/>
            </a:lvl4pPr>
            <a:lvl5pPr>
              <a:defRPr sz="16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CA618A79-B066-5846-A5D6-AB81F847D0F3}" type="datetimeFigureOut">
              <a:rPr lang="en-GB" smtClean="0"/>
              <a:t>03/06/2026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38428635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066800"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069848"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64224" y="2048256"/>
            <a:ext cx="4754880" cy="640080"/>
          </a:xfrm>
        </p:spPr>
        <p:txBody>
          <a:bodyPr anchor="ctr">
            <a:normAutofit/>
          </a:bodyPr>
          <a:lstStyle>
            <a:lvl1pPr marL="0" indent="0">
              <a:buNone/>
              <a:defRPr sz="2000" b="1">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364224" y="2743200"/>
            <a:ext cx="4754880" cy="3291840"/>
          </a:xfrm>
        </p:spPr>
        <p:txBody>
          <a:bodyPr/>
          <a:lstStyle>
            <a:lvl1pPr>
              <a:defRPr sz="2000"/>
            </a:lvl1pPr>
            <a:lvl2pPr>
              <a:defRPr sz="18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CA618A79-B066-5846-A5D6-AB81F847D0F3}" type="datetimeFigureOut">
              <a:rPr lang="en-GB" smtClean="0"/>
              <a:t>03/06/2026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D3FDA4FC-4489-AC41-B03E-87E7AD63B868}" type="slidenum">
              <a:rPr lang="en-GB" smtClean="0"/>
              <a:t>‹#›</a:t>
            </a:fld>
            <a:endParaRPr lang="en-GB"/>
          </a:p>
        </p:txBody>
      </p:sp>
      <p:sp>
        <p:nvSpPr>
          <p:cNvPr id="10" name="Title 9"/>
          <p:cNvSpPr>
            <a:spLocks noGrp="1"/>
          </p:cNvSpPr>
          <p:nvPr>
            <p:ph type="title"/>
          </p:nvPr>
        </p:nvSpPr>
        <p:spPr/>
        <p:txBody>
          <a:bodyPr/>
          <a:lstStyle/>
          <a:p>
            <a:r>
              <a:rPr lang="en-GB"/>
              <a:t>Click to edit Master title style</a:t>
            </a:r>
            <a:endParaRPr lang="en-US" dirty="0"/>
          </a:p>
        </p:txBody>
      </p:sp>
    </p:spTree>
    <p:extLst>
      <p:ext uri="{BB962C8B-B14F-4D97-AF65-F5344CB8AC3E}">
        <p14:creationId xmlns:p14="http://schemas.microsoft.com/office/powerpoint/2010/main" val="19311971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CA618A79-B066-5846-A5D6-AB81F847D0F3}" type="datetimeFigureOut">
              <a:rPr lang="en-GB" smtClean="0"/>
              <a:t>03/06/2026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D3FDA4FC-4489-AC41-B03E-87E7AD63B868}" type="slidenum">
              <a:rPr lang="en-GB" smtClean="0"/>
              <a:t>‹#›</a:t>
            </a:fld>
            <a:endParaRPr lang="en-GB"/>
          </a:p>
        </p:txBody>
      </p:sp>
      <p:sp>
        <p:nvSpPr>
          <p:cNvPr id="6" name="Title 5"/>
          <p:cNvSpPr>
            <a:spLocks noGrp="1"/>
          </p:cNvSpPr>
          <p:nvPr>
            <p:ph type="title"/>
          </p:nvPr>
        </p:nvSpPr>
        <p:spPr/>
        <p:txBody>
          <a:bodyPr/>
          <a:lstStyle/>
          <a:p>
            <a:r>
              <a:rPr lang="en-GB"/>
              <a:t>Click to edit Master title style</a:t>
            </a:r>
            <a:endParaRPr lang="en-US"/>
          </a:p>
        </p:txBody>
      </p:sp>
    </p:spTree>
    <p:extLst>
      <p:ext uri="{BB962C8B-B14F-4D97-AF65-F5344CB8AC3E}">
        <p14:creationId xmlns:p14="http://schemas.microsoft.com/office/powerpoint/2010/main" val="38466012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A618A79-B066-5846-A5D6-AB81F847D0F3}" type="datetimeFigureOut">
              <a:rPr lang="en-GB" smtClean="0"/>
              <a:t>03/06/2026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152331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Content Placeholder 2"/>
          <p:cNvSpPr>
            <a:spLocks noGrp="1"/>
          </p:cNvSpPr>
          <p:nvPr>
            <p:ph idx="1"/>
          </p:nvPr>
        </p:nvSpPr>
        <p:spPr>
          <a:xfrm>
            <a:off x="838200" y="685800"/>
            <a:ext cx="6711696" cy="5020056"/>
          </a:xfrm>
        </p:spPr>
        <p:txBody>
          <a:bodyPr/>
          <a:lstStyle>
            <a:lvl1pPr>
              <a:defRPr sz="2000"/>
            </a:lvl1pPr>
            <a:lvl2pPr>
              <a:defRPr sz="18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A618A79-B066-5846-A5D6-AB81F847D0F3}" type="datetimeFigureOut">
              <a:rPr lang="en-GB" smtClean="0"/>
              <a:t>03/06/2026</a:t>
            </a:fld>
            <a:endParaRPr lang="en-GB"/>
          </a:p>
        </p:txBody>
      </p:sp>
      <p:sp>
        <p:nvSpPr>
          <p:cNvPr id="6" name="Footer Placeholder 5"/>
          <p:cNvSpPr>
            <a:spLocks noGrp="1"/>
          </p:cNvSpPr>
          <p:nvPr>
            <p:ph type="ftr" sz="quarter" idx="11"/>
          </p:nvPr>
        </p:nvSpPr>
        <p:spPr/>
        <p:txBody>
          <a:bodyPr/>
          <a:lstStyle/>
          <a:p>
            <a:endParaRPr lang="en-GB"/>
          </a:p>
        </p:txBody>
      </p:sp>
      <p:grpSp>
        <p:nvGrpSpPr>
          <p:cNvPr id="9" name="Group 8"/>
          <p:cNvGrpSpPr>
            <a:grpSpLocks noChangeAspect="1"/>
          </p:cNvGrpSpPr>
          <p:nvPr/>
        </p:nvGrpSpPr>
        <p:grpSpPr>
          <a:xfrm>
            <a:off x="11401725" y="6229681"/>
            <a:ext cx="457200" cy="457200"/>
            <a:chOff x="11361456" y="6195813"/>
            <a:chExt cx="548640" cy="548640"/>
          </a:xfrm>
        </p:grpSpPr>
        <p:sp>
          <p:nvSpPr>
            <p:cNvPr id="10" name="Oval 9"/>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1" name="Oval 10"/>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351448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303740" y="0"/>
            <a:ext cx="3888259" cy="6857999"/>
          </a:xfrm>
          <a:prstGeom prst="rect">
            <a:avLst/>
          </a:prstGeom>
          <a:blipFill dpi="0" rotWithShape="1">
            <a:blip r:embed="rId2">
              <a:alphaModFix amt="60000"/>
              <a:lum bright="70000" contrast="-70000"/>
              <a:extLst>
                <a:ext uri="{BEBA8EAE-BF5A-486C-A8C5-ECC9F3942E4B}">
                  <a14:imgProps xmlns:a14="http://schemas.microsoft.com/office/drawing/2010/main">
                    <a14:imgLayer r:embed="rId3">
                      <a14:imgEffect>
                        <a14:sharpenSoften amount="61000"/>
                      </a14:imgEffect>
                    </a14:imgLayer>
                  </a14:imgProps>
                </a:ext>
                <a:ext uri="{28A0092B-C50C-407E-A947-70E740481C1C}">
                  <a14:useLocalDpi xmlns:a14="http://schemas.microsoft.com/office/drawing/2010/main" val="0"/>
                </a:ext>
              </a:extLst>
            </a:blip>
            <a:srcRect/>
            <a:tile tx="0" ty="-704850" sx="92000" sy="89000" flip="xy" algn="ctr"/>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8549640" y="685800"/>
            <a:ext cx="3200400" cy="1737360"/>
          </a:xfrm>
        </p:spPr>
        <p:txBody>
          <a:bodyPr anchor="b">
            <a:normAutofit/>
          </a:bodyPr>
          <a:lstStyle>
            <a:lvl1pPr>
              <a:defRPr sz="3200" b="1"/>
            </a:lvl1pPr>
          </a:lstStyle>
          <a:p>
            <a:r>
              <a:rPr lang="en-GB"/>
              <a:t>Click to edit Master title style</a:t>
            </a:r>
            <a:endParaRPr lang="en-US" dirty="0"/>
          </a:p>
        </p:txBody>
      </p:sp>
      <p:sp>
        <p:nvSpPr>
          <p:cNvPr id="3" name="Picture Placeholder 2"/>
          <p:cNvSpPr>
            <a:spLocks noGrp="1"/>
          </p:cNvSpPr>
          <p:nvPr>
            <p:ph type="pic" idx="1"/>
          </p:nvPr>
        </p:nvSpPr>
        <p:spPr>
          <a:xfrm>
            <a:off x="0" y="0"/>
            <a:ext cx="8303740" cy="6858000"/>
          </a:xfrm>
          <a:solidFill>
            <a:schemeClr val="tx2">
              <a:lumMod val="20000"/>
              <a:lumOff val="80000"/>
            </a:schemeClr>
          </a:solid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8549640" y="2423160"/>
            <a:ext cx="3200400" cy="3291840"/>
          </a:xfrm>
        </p:spPr>
        <p:txBody>
          <a:bodyPr>
            <a:normAutofit/>
          </a:bodyPr>
          <a:lstStyle>
            <a:lvl1pPr marL="0" indent="0">
              <a:lnSpc>
                <a:spcPct val="100000"/>
              </a:lnSpc>
              <a:spcBef>
                <a:spcPts val="1000"/>
              </a:spcBef>
              <a:buNone/>
              <a:defRPr sz="1400">
                <a:solidFill>
                  <a:schemeClr val="accent1">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CA618A79-B066-5846-A5D6-AB81F847D0F3}" type="datetimeFigureOut">
              <a:rPr lang="en-GB" smtClean="0"/>
              <a:t>03/06/2026</a:t>
            </a:fld>
            <a:endParaRPr lang="en-GB"/>
          </a:p>
        </p:txBody>
      </p:sp>
      <p:grpSp>
        <p:nvGrpSpPr>
          <p:cNvPr id="8" name="Group 7"/>
          <p:cNvGrpSpPr>
            <a:grpSpLocks noChangeAspect="1"/>
          </p:cNvGrpSpPr>
          <p:nvPr/>
        </p:nvGrpSpPr>
        <p:grpSpPr>
          <a:xfrm>
            <a:off x="11401725" y="6229681"/>
            <a:ext cx="457200" cy="457200"/>
            <a:chOff x="11361456" y="6195813"/>
            <a:chExt cx="548640" cy="548640"/>
          </a:xfrm>
        </p:grpSpPr>
        <p:sp>
          <p:nvSpPr>
            <p:cNvPr id="9" name="Oval 8"/>
            <p:cNvSpPr/>
            <p:nvPr/>
          </p:nvSpPr>
          <p:spPr>
            <a:xfrm>
              <a:off x="11361456" y="6195813"/>
              <a:ext cx="548640" cy="548640"/>
            </a:xfrm>
            <a:prstGeom prst="ellipse">
              <a:avLst/>
            </a:prstGeom>
            <a:blipFill dpi="0" rotWithShape="1">
              <a:blip r:embed="rId4">
                <a:duotone>
                  <a:schemeClr val="accent1">
                    <a:shade val="45000"/>
                    <a:satMod val="135000"/>
                  </a:schemeClr>
                  <a:prstClr val="white"/>
                </a:duotone>
                <a:extLst>
                  <a:ext uri="{BEBA8EAE-BF5A-486C-A8C5-ECC9F3942E4B}">
                    <a14:imgProps xmlns:a14="http://schemas.microsoft.com/office/drawing/2010/main">
                      <a14:imgLayer r:embed="rId5">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10" name="Oval 9"/>
            <p:cNvSpPr/>
            <p:nvPr/>
          </p:nvSpPr>
          <p:spPr>
            <a:xfrm>
              <a:off x="11396488" y="6230844"/>
              <a:ext cx="478576" cy="478578"/>
            </a:xfrm>
            <a:prstGeom prst="ellipse">
              <a:avLst/>
            </a:prstGeom>
            <a:noFill/>
            <a:ln w="12700" cap="flat" cmpd="sng" algn="ctr">
              <a:solidFill>
                <a:sysClr val="window" lastClr="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7" name="Slide Number Placeholder 6"/>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39415067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A618A79-B066-5846-A5D6-AB81F847D0F3}" type="datetimeFigureOut">
              <a:rPr lang="en-GB" smtClean="0"/>
              <a:t>03/06/2026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21610108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533400"/>
            <a:ext cx="2552700" cy="5638800"/>
          </a:xfrm>
        </p:spPr>
        <p:txBody>
          <a:bodyPr vert="eaVert"/>
          <a:lstStyle/>
          <a:p>
            <a:r>
              <a:rPr lang="en-GB"/>
              <a:t>Click to edit Master title style</a:t>
            </a:r>
            <a:endParaRPr lang="en-US" dirty="0"/>
          </a:p>
        </p:txBody>
      </p:sp>
      <p:sp>
        <p:nvSpPr>
          <p:cNvPr id="3" name="Vertical Text Placeholder 2"/>
          <p:cNvSpPr>
            <a:spLocks noGrp="1"/>
          </p:cNvSpPr>
          <p:nvPr>
            <p:ph type="body" orient="vert" idx="1"/>
          </p:nvPr>
        </p:nvSpPr>
        <p:spPr>
          <a:xfrm>
            <a:off x="1066800" y="533400"/>
            <a:ext cx="7505700" cy="5638800"/>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CA618A79-B066-5846-A5D6-AB81F847D0F3}" type="datetimeFigureOut">
              <a:rPr lang="en-GB" smtClean="0"/>
              <a:t>03/06/2026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D3FDA4FC-4489-AC41-B03E-87E7AD63B868}" type="slidenum">
              <a:rPr lang="en-GB" smtClean="0"/>
              <a:t>‹#›</a:t>
            </a:fld>
            <a:endParaRPr lang="en-GB"/>
          </a:p>
        </p:txBody>
      </p:sp>
    </p:spTree>
    <p:extLst>
      <p:ext uri="{BB962C8B-B14F-4D97-AF65-F5344CB8AC3E}">
        <p14:creationId xmlns:p14="http://schemas.microsoft.com/office/powerpoint/2010/main" val="20645497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9848" y="484632"/>
            <a:ext cx="10058400" cy="1609344"/>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1069848" y="2121408"/>
            <a:ext cx="10058400" cy="4050792"/>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964424" y="6272784"/>
            <a:ext cx="3273552" cy="365125"/>
          </a:xfrm>
          <a:prstGeom prst="rect">
            <a:avLst/>
          </a:prstGeom>
        </p:spPr>
        <p:txBody>
          <a:bodyPr vert="horz" lIns="91440" tIns="45720" rIns="91440" bIns="45720" rtlCol="0" anchor="ctr"/>
          <a:lstStyle>
            <a:lvl1pPr algn="r">
              <a:defRPr sz="1100">
                <a:solidFill>
                  <a:schemeClr val="tx2"/>
                </a:solidFill>
              </a:defRPr>
            </a:lvl1pPr>
          </a:lstStyle>
          <a:p>
            <a:fld id="{CA618A79-B066-5846-A5D6-AB81F847D0F3}" type="datetimeFigureOut">
              <a:rPr lang="en-GB" smtClean="0"/>
              <a:t>03/06/2026</a:t>
            </a:fld>
            <a:endParaRPr lang="en-GB"/>
          </a:p>
        </p:txBody>
      </p:sp>
      <p:sp>
        <p:nvSpPr>
          <p:cNvPr id="5" name="Footer Placeholder 4"/>
          <p:cNvSpPr>
            <a:spLocks noGrp="1"/>
          </p:cNvSpPr>
          <p:nvPr>
            <p:ph type="ftr" sz="quarter" idx="3"/>
          </p:nvPr>
        </p:nvSpPr>
        <p:spPr>
          <a:xfrm>
            <a:off x="1088136" y="6272784"/>
            <a:ext cx="6327648" cy="365125"/>
          </a:xfrm>
          <a:prstGeom prst="rect">
            <a:avLst/>
          </a:prstGeom>
        </p:spPr>
        <p:txBody>
          <a:bodyPr vert="horz" lIns="91440" tIns="45720" rIns="91440" bIns="45720" rtlCol="0" anchor="ctr"/>
          <a:lstStyle>
            <a:lvl1pPr algn="l">
              <a:defRPr sz="1100">
                <a:solidFill>
                  <a:schemeClr val="tx2"/>
                </a:solidFill>
              </a:defRPr>
            </a:lvl1pPr>
          </a:lstStyle>
          <a:p>
            <a:endParaRPr lang="en-GB"/>
          </a:p>
        </p:txBody>
      </p:sp>
      <p:grpSp>
        <p:nvGrpSpPr>
          <p:cNvPr id="7" name="Group 6"/>
          <p:cNvGrpSpPr>
            <a:grpSpLocks noChangeAspect="1"/>
          </p:cNvGrpSpPr>
          <p:nvPr/>
        </p:nvGrpSpPr>
        <p:grpSpPr>
          <a:xfrm>
            <a:off x="11401725" y="6229681"/>
            <a:ext cx="457200" cy="457200"/>
            <a:chOff x="11361456" y="6195813"/>
            <a:chExt cx="548640" cy="548640"/>
          </a:xfrm>
        </p:grpSpPr>
        <p:sp>
          <p:nvSpPr>
            <p:cNvPr id="8" name="Oval 7"/>
            <p:cNvSpPr/>
            <p:nvPr/>
          </p:nvSpPr>
          <p:spPr>
            <a:xfrm>
              <a:off x="11361456" y="6195813"/>
              <a:ext cx="548640" cy="548640"/>
            </a:xfrm>
            <a:prstGeom prst="ellipse">
              <a:avLst/>
            </a:prstGeom>
            <a:blipFill dpi="0" rotWithShape="1">
              <a:blip r:embed="rId13">
                <a:duotone>
                  <a:schemeClr val="accent1">
                    <a:shade val="45000"/>
                    <a:satMod val="135000"/>
                  </a:schemeClr>
                  <a:prstClr val="white"/>
                </a:duotone>
                <a:extLst>
                  <a:ext uri="{BEBA8EAE-BF5A-486C-A8C5-ECC9F3942E4B}">
                    <a14:imgProps xmlns:a14="http://schemas.microsoft.com/office/drawing/2010/main">
                      <a14:imgLayer r:embed="rId14">
                        <a14:imgEffect>
                          <a14:saturation sat="95000"/>
                        </a14:imgEffect>
                        <a14:imgEffect>
                          <a14:brightnessContrast bright="-40000" contrast="20000"/>
                        </a14:imgEffect>
                      </a14:imgLayer>
                    </a14:imgProps>
                  </a:ext>
                </a:extLst>
              </a:blip>
              <a:srcRect/>
              <a:tile tx="50800" ty="0" sx="85000" sy="85000" flip="none" algn="tl"/>
            </a:blipFill>
            <a:ln w="25400" cap="flat" cmpd="sng" algn="ctr">
              <a:noFill/>
              <a:prstDash val="solid"/>
            </a:ln>
            <a:effectLst/>
          </p:spPr>
          <p:txBody>
            <a:bodyPr lIns="0" tIns="0" rIns="0" bIns="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000" b="0" i="0" u="none" strike="noStrike" kern="0" cap="none" spc="0" normalizeH="0" baseline="0" noProof="0" dirty="0">
                <a:ln>
                  <a:noFill/>
                </a:ln>
                <a:solidFill>
                  <a:prstClr val="white"/>
                </a:solidFill>
                <a:effectLst/>
                <a:uLnTx/>
                <a:uFillTx/>
                <a:latin typeface="Rockwell Extra Bold" pitchFamily="18" charset="0"/>
                <a:ea typeface="+mn-ea"/>
                <a:cs typeface="+mn-cs"/>
              </a:endParaRPr>
            </a:p>
          </p:txBody>
        </p:sp>
        <p:sp>
          <p:nvSpPr>
            <p:cNvPr id="9" name="Oval 8"/>
            <p:cNvSpPr/>
            <p:nvPr/>
          </p:nvSpPr>
          <p:spPr>
            <a:xfrm>
              <a:off x="11396488" y="6230844"/>
              <a:ext cx="478576" cy="478578"/>
            </a:xfrm>
            <a:prstGeom prst="ellipse">
              <a:avLst/>
            </a:prstGeom>
            <a:noFill/>
            <a:ln w="12700" cap="flat" cmpd="sng" algn="ctr">
              <a:solidFill>
                <a:srgbClr val="FFFFFF"/>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prstClr val="white"/>
                </a:solidFill>
                <a:effectLst/>
                <a:uLnTx/>
                <a:uFillTx/>
                <a:latin typeface="Calibri"/>
                <a:ea typeface="+mn-ea"/>
                <a:cs typeface="+mn-cs"/>
              </a:endParaRPr>
            </a:p>
          </p:txBody>
        </p:sp>
      </p:grpSp>
      <p:sp>
        <p:nvSpPr>
          <p:cNvPr id="6" name="Slide Number Placeholder 5"/>
          <p:cNvSpPr>
            <a:spLocks noGrp="1"/>
          </p:cNvSpPr>
          <p:nvPr>
            <p:ph type="sldNum" sz="quarter" idx="4"/>
          </p:nvPr>
        </p:nvSpPr>
        <p:spPr>
          <a:xfrm>
            <a:off x="11311128" y="6272784"/>
            <a:ext cx="640080" cy="365125"/>
          </a:xfrm>
          <a:prstGeom prst="rect">
            <a:avLst/>
          </a:prstGeom>
        </p:spPr>
        <p:txBody>
          <a:bodyPr vert="horz" lIns="91440" tIns="45720" rIns="91440" bIns="45720" rtlCol="0" anchor="ctr"/>
          <a:lstStyle>
            <a:lvl1pPr algn="ctr">
              <a:defRPr sz="1400" b="1">
                <a:solidFill>
                  <a:srgbClr val="FFFFFF"/>
                </a:solidFill>
                <a:latin typeface="+mj-lt"/>
              </a:defRPr>
            </a:lvl1pPr>
          </a:lstStyle>
          <a:p>
            <a:fld id="{D3FDA4FC-4489-AC41-B03E-87E7AD63B868}" type="slidenum">
              <a:rPr lang="en-GB" smtClean="0"/>
              <a:t>‹#›</a:t>
            </a:fld>
            <a:endParaRPr lang="en-GB"/>
          </a:p>
        </p:txBody>
      </p:sp>
    </p:spTree>
    <p:extLst>
      <p:ext uri="{BB962C8B-B14F-4D97-AF65-F5344CB8AC3E}">
        <p14:creationId xmlns:p14="http://schemas.microsoft.com/office/powerpoint/2010/main" val="253933491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5400" kern="1200" cap="all" baseline="0">
          <a:blipFill>
            <a:blip r:embed="rId15">
              <a:extLst>
                <a:ext uri="{28A0092B-C50C-407E-A947-70E740481C1C}">
                  <a14:useLocalDpi xmlns:a14="http://schemas.microsoft.com/office/drawing/2010/main" val="0"/>
                </a:ext>
              </a:extLst>
            </a:blip>
            <a:tile tx="6350" ty="-127000" sx="65000" sy="64000" flip="none" algn="tl"/>
          </a:blip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lumMod val="75000"/>
          </a:schemeClr>
        </a:buClr>
        <a:buSzPct val="85000"/>
        <a:buFont typeface="Wingdings" pitchFamily="2" charset="2"/>
        <a:buChar char="§"/>
        <a:defRPr sz="2000" kern="1200">
          <a:solidFill>
            <a:schemeClr val="tx1"/>
          </a:solidFill>
          <a:latin typeface="+mn-lt"/>
          <a:ea typeface="+mn-ea"/>
          <a:cs typeface="+mn-cs"/>
        </a:defRPr>
      </a:lvl1pPr>
      <a:lvl2pPr marL="45720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800" kern="1200">
          <a:solidFill>
            <a:schemeClr val="tx1"/>
          </a:solidFill>
          <a:latin typeface="+mn-lt"/>
          <a:ea typeface="+mn-ea"/>
          <a:cs typeface="+mn-cs"/>
        </a:defRPr>
      </a:lvl2pPr>
      <a:lvl3pPr marL="73152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3pPr>
      <a:lvl4pPr marL="100584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4pPr>
      <a:lvl5pPr marL="1280160" indent="-18288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5pPr>
      <a:lvl6pPr marL="16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6pPr>
      <a:lvl7pPr marL="19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7pPr>
      <a:lvl8pPr marL="22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8pPr>
      <a:lvl9pPr marL="2500000" indent="-228600" algn="l" defTabSz="914400" rtl="0" eaLnBrk="1" latinLnBrk="0" hangingPunct="1">
        <a:lnSpc>
          <a:spcPct val="90000"/>
        </a:lnSpc>
        <a:spcBef>
          <a:spcPts val="400"/>
        </a:spcBef>
        <a:spcAft>
          <a:spcPts val="200"/>
        </a:spcAft>
        <a:buClr>
          <a:schemeClr val="accent1">
            <a:lumMod val="75000"/>
          </a:schemeClr>
        </a:buClr>
        <a:buSzPct val="85000"/>
        <a:buFont typeface="Wingdings" pitchFamily="2" charset="2"/>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hyperlink" Target="https://cncf.io/" TargetMode="Externa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hyperlink" Target="https://uptimerobot.com/" TargetMode="External"/><Relationship Id="rId2" Type="http://schemas.openxmlformats.org/officeDocument/2006/relationships/hyperlink" Target="https://www.zabbix.com/" TargetMode="Externa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www.pingdom.com/"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fluentd.org/" TargetMode="External"/><Relationship Id="rId2" Type="http://schemas.openxmlformats.org/officeDocument/2006/relationships/hyperlink" Target="https://www.elastic.co/elastic-stack" TargetMode="Externa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hyperlink" Target="https://grafana.com/" TargetMode="Externa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hyperlink" Target="https://prometheus.io/"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hyperlink" Target="https://openmetrics.io/" TargetMode="External"/><Relationship Id="rId2" Type="http://schemas.openxmlformats.org/officeDocument/2006/relationships/hyperlink" Target="https://prometheus.io/docs/instrumenting/exposition_formats" TargetMode="Externa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www.container-solutions.com/cloud-native-operations" TargetMode="External"/><Relationship Id="rId2" Type="http://schemas.openxmlformats.org/officeDocument/2006/relationships/hyperlink" Target="https://sre.google/" TargetMode="Externa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2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hyperlink" Target="https://status.azure.com/en-us/statu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github.com/kubernetes/kube-state-metric" TargetMode="External"/><Relationship Id="rId2" Type="http://schemas.openxmlformats.org/officeDocument/2006/relationships/hyperlink" Target="https://github.com/google/cadvisor" TargetMode="External"/><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hyperlink" Target="https://github.com/kubernetes/kube-state-metrics/tree/master/docs" TargetMode="Externa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opentelemetry.io/" TargetMode="External"/><Relationship Id="rId2" Type="http://schemas.openxmlformats.org/officeDocument/2006/relationships/hyperlink" Target="https://www.jaegertracing.io/" TargetMode="Externa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hyperlink" Target="https://istio.io/" TargetMode="External"/><Relationship Id="rId2" Type="http://schemas.openxmlformats.org/officeDocument/2006/relationships/hyperlink" Target="Linkerd20" TargetMode="Externa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hyperlink" Target="https://www.envoyproxy.io/"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hyperlink" Target="https://kiali.io/" TargetMode="Externa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34.xml.rels><?xml version="1.0" encoding="UTF-8" standalone="yes"?>
<Relationships xmlns="http://schemas.openxmlformats.org/package/2006/relationships"><Relationship Id="rId3" Type="http://schemas.openxmlformats.org/officeDocument/2006/relationships/hyperlink" Target="https://www.weave.works/" TargetMode="External"/><Relationship Id="rId2" Type="http://schemas.openxmlformats.org/officeDocument/2006/relationships/hyperlink" Target="https://grafana.com/" TargetMode="External"/><Relationship Id="rId1" Type="http://schemas.openxmlformats.org/officeDocument/2006/relationships/slideLayout" Target="../slideLayouts/slideLayout2.xml"/><Relationship Id="rId5" Type="http://schemas.openxmlformats.org/officeDocument/2006/relationships/image" Target="../media/image25.png"/><Relationship Id="rId4" Type="http://schemas.openxmlformats.org/officeDocument/2006/relationships/hyperlink" Target="https://www.weave.works/blog/the-red-method-key-metrics-for-microservices-architecture" TargetMode="External"/></Relationships>
</file>

<file path=ppt/slides/_rels/slide3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hyperlink" Target="https://prometheus.io/docs/alerting/alertmanager)" TargetMode="Externa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2.tiff"/></Relationships>
</file>

<file path=ppt/slides/_rels/slide5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51.jpe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1.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7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image" Target="../media/image57.jpe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76.xml.rels><?xml version="1.0" encoding="UTF-8" standalone="yes"?>
<Relationships xmlns="http://schemas.openxmlformats.org/package/2006/relationships"><Relationship Id="rId2" Type="http://schemas.openxmlformats.org/officeDocument/2006/relationships/image" Target="../media/image60.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75C5BB-373C-FC48-960E-68C47504C006}"/>
              </a:ext>
            </a:extLst>
          </p:cNvPr>
          <p:cNvSpPr>
            <a:spLocks noGrp="1"/>
          </p:cNvSpPr>
          <p:nvPr>
            <p:ph type="ctrTitle"/>
          </p:nvPr>
        </p:nvSpPr>
        <p:spPr>
          <a:xfrm>
            <a:off x="912513" y="1946787"/>
            <a:ext cx="10237267" cy="2064774"/>
          </a:xfrm>
        </p:spPr>
        <p:txBody>
          <a:bodyPr/>
          <a:lstStyle/>
          <a:p>
            <a:r>
              <a:rPr lang="en-GB" b="1" dirty="0">
                <a:solidFill>
                  <a:srgbClr val="FF0000"/>
                </a:solidFill>
              </a:rPr>
              <a:t>OBSERVABILITY</a:t>
            </a:r>
          </a:p>
        </p:txBody>
      </p:sp>
      <p:sp>
        <p:nvSpPr>
          <p:cNvPr id="3" name="Subtitle 2">
            <a:extLst>
              <a:ext uri="{FF2B5EF4-FFF2-40B4-BE49-F238E27FC236}">
                <a16:creationId xmlns:a16="http://schemas.microsoft.com/office/drawing/2014/main" id="{D06E3A03-9DCF-4E4A-9909-FAFC11AE1F60}"/>
              </a:ext>
            </a:extLst>
          </p:cNvPr>
          <p:cNvSpPr>
            <a:spLocks noGrp="1"/>
          </p:cNvSpPr>
          <p:nvPr>
            <p:ph type="subTitle" idx="1"/>
          </p:nvPr>
        </p:nvSpPr>
        <p:spPr>
          <a:xfrm>
            <a:off x="912513" y="4403870"/>
            <a:ext cx="7891272" cy="949796"/>
          </a:xfrm>
        </p:spPr>
        <p:txBody>
          <a:bodyPr>
            <a:normAutofit/>
          </a:bodyPr>
          <a:lstStyle/>
          <a:p>
            <a:r>
              <a:rPr lang="en-ZA" dirty="0"/>
              <a:t>Open Source Observability for Cloud Native Applications </a:t>
            </a:r>
          </a:p>
          <a:p>
            <a:r>
              <a:rPr lang="en-ZA" dirty="0"/>
              <a:t>By Serdar </a:t>
            </a:r>
            <a:r>
              <a:rPr lang="en-ZA" dirty="0" err="1"/>
              <a:t>Kalaycı</a:t>
            </a:r>
            <a:r>
              <a:rPr lang="en-ZA" dirty="0"/>
              <a:t> </a:t>
            </a:r>
            <a:endParaRPr lang="en-ZA" dirty="0">
              <a:effectLst/>
            </a:endParaRPr>
          </a:p>
        </p:txBody>
      </p:sp>
      <p:pic>
        <p:nvPicPr>
          <p:cNvPr id="5" name="Graphic 4" descr="Binoculars with solid fill">
            <a:extLst>
              <a:ext uri="{FF2B5EF4-FFF2-40B4-BE49-F238E27FC236}">
                <a16:creationId xmlns:a16="http://schemas.microsoft.com/office/drawing/2014/main" id="{ED9DD4B1-4854-0645-83D0-8969CB1CCC9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9083557" y="1669605"/>
            <a:ext cx="2195930" cy="2195930"/>
          </a:xfrm>
          <a:prstGeom prst="rect">
            <a:avLst/>
          </a:prstGeom>
        </p:spPr>
      </p:pic>
      <p:sp>
        <p:nvSpPr>
          <p:cNvPr id="6" name="TextBox 5">
            <a:extLst>
              <a:ext uri="{FF2B5EF4-FFF2-40B4-BE49-F238E27FC236}">
                <a16:creationId xmlns:a16="http://schemas.microsoft.com/office/drawing/2014/main" id="{5418EFF1-E289-764F-BB16-7D116F85195E}"/>
              </a:ext>
            </a:extLst>
          </p:cNvPr>
          <p:cNvSpPr txBox="1"/>
          <p:nvPr/>
        </p:nvSpPr>
        <p:spPr>
          <a:xfrm>
            <a:off x="8617058" y="6273225"/>
            <a:ext cx="3574942" cy="584775"/>
          </a:xfrm>
          <a:prstGeom prst="rect">
            <a:avLst/>
          </a:prstGeom>
          <a:noFill/>
        </p:spPr>
        <p:txBody>
          <a:bodyPr wrap="square" rtlCol="0">
            <a:spAutoFit/>
          </a:bodyPr>
          <a:lstStyle/>
          <a:p>
            <a:r>
              <a:rPr lang="en-GB" b="1" dirty="0">
                <a:latin typeface="Arial Hebrew" pitchFamily="2" charset="-79"/>
                <a:cs typeface="Arial Hebrew" pitchFamily="2" charset="-79"/>
              </a:rPr>
              <a:t>MAGANATHIN VEERARAGALOO</a:t>
            </a:r>
          </a:p>
          <a:p>
            <a:r>
              <a:rPr lang="en-GB" sz="1400" b="1" dirty="0"/>
              <a:t>25</a:t>
            </a:r>
            <a:r>
              <a:rPr lang="en-GB" sz="1400" b="1" baseline="30000" dirty="0"/>
              <a:t>TH</a:t>
            </a:r>
            <a:r>
              <a:rPr lang="en-GB" sz="1400" b="1" dirty="0"/>
              <a:t> DECEMBER 2021</a:t>
            </a:r>
          </a:p>
        </p:txBody>
      </p:sp>
    </p:spTree>
    <p:extLst>
      <p:ext uri="{BB962C8B-B14F-4D97-AF65-F5344CB8AC3E}">
        <p14:creationId xmlns:p14="http://schemas.microsoft.com/office/powerpoint/2010/main" val="31141056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18569F-3622-6E47-929D-978D22B7BBFB}"/>
              </a:ext>
            </a:extLst>
          </p:cNvPr>
          <p:cNvSpPr>
            <a:spLocks noGrp="1"/>
          </p:cNvSpPr>
          <p:nvPr>
            <p:ph type="title"/>
          </p:nvPr>
        </p:nvSpPr>
        <p:spPr/>
        <p:txBody>
          <a:bodyPr/>
          <a:lstStyle/>
          <a:p>
            <a:pPr algn="ctr"/>
            <a:r>
              <a:rPr lang="en-GB" dirty="0"/>
              <a:t>CONTENT</a:t>
            </a:r>
          </a:p>
        </p:txBody>
      </p:sp>
      <p:sp>
        <p:nvSpPr>
          <p:cNvPr id="3" name="Content Placeholder 2">
            <a:extLst>
              <a:ext uri="{FF2B5EF4-FFF2-40B4-BE49-F238E27FC236}">
                <a16:creationId xmlns:a16="http://schemas.microsoft.com/office/drawing/2014/main" id="{5D39DF11-E558-BC4F-952E-3095D345E11F}"/>
              </a:ext>
            </a:extLst>
          </p:cNvPr>
          <p:cNvSpPr>
            <a:spLocks noGrp="1"/>
          </p:cNvSpPr>
          <p:nvPr>
            <p:ph idx="1"/>
          </p:nvPr>
        </p:nvSpPr>
        <p:spPr/>
        <p:txBody>
          <a:bodyPr/>
          <a:lstStyle/>
          <a:p>
            <a:pPr marL="457200" indent="-457200">
              <a:buFont typeface="+mj-lt"/>
              <a:buAutoNum type="arabicPeriod"/>
            </a:pPr>
            <a:r>
              <a:rPr lang="en-GB" dirty="0"/>
              <a:t>WHAT IS OBSERVABILITY?</a:t>
            </a:r>
          </a:p>
          <a:p>
            <a:pPr marL="457200" indent="-457200">
              <a:buFont typeface="+mj-lt"/>
              <a:buAutoNum type="arabicPeriod"/>
            </a:pPr>
            <a:r>
              <a:rPr lang="en-GB" dirty="0"/>
              <a:t>IMPLEMENTING OBSERVABILITY</a:t>
            </a:r>
          </a:p>
          <a:p>
            <a:pPr marL="457200" indent="-457200">
              <a:buFont typeface="+mj-lt"/>
              <a:buAutoNum type="arabicPeriod"/>
            </a:pPr>
            <a:r>
              <a:rPr lang="en-GB" dirty="0"/>
              <a:t>CONCLUSION</a:t>
            </a:r>
          </a:p>
          <a:p>
            <a:pPr marL="457200" indent="-457200">
              <a:buFont typeface="+mj-lt"/>
              <a:buAutoNum type="arabicPeriod"/>
            </a:pPr>
            <a:endParaRPr lang="en-GB" dirty="0"/>
          </a:p>
        </p:txBody>
      </p:sp>
    </p:spTree>
    <p:extLst>
      <p:ext uri="{BB962C8B-B14F-4D97-AF65-F5344CB8AC3E}">
        <p14:creationId xmlns:p14="http://schemas.microsoft.com/office/powerpoint/2010/main" val="15049806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D4B3-4BEC-7D41-A88F-A44E744EDB9F}"/>
              </a:ext>
            </a:extLst>
          </p:cNvPr>
          <p:cNvSpPr>
            <a:spLocks noGrp="1"/>
          </p:cNvSpPr>
          <p:nvPr>
            <p:ph type="title"/>
          </p:nvPr>
        </p:nvSpPr>
        <p:spPr/>
        <p:txBody>
          <a:bodyPr>
            <a:normAutofit/>
          </a:bodyPr>
          <a:lstStyle/>
          <a:p>
            <a:pPr marL="1371600" indent="-1371600">
              <a:buFont typeface="+mj-lt"/>
              <a:buAutoNum type="arabicPeriod"/>
            </a:pPr>
            <a:r>
              <a:rPr lang="en-GB" sz="6600" dirty="0"/>
              <a:t>WHAT IS OBSERVABILITY?</a:t>
            </a:r>
          </a:p>
        </p:txBody>
      </p:sp>
    </p:spTree>
    <p:extLst>
      <p:ext uri="{BB962C8B-B14F-4D97-AF65-F5344CB8AC3E}">
        <p14:creationId xmlns:p14="http://schemas.microsoft.com/office/powerpoint/2010/main" val="40639043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383459" y="1403603"/>
            <a:ext cx="11636476" cy="5427259"/>
          </a:xfrm>
          <a:solidFill>
            <a:schemeClr val="bg1"/>
          </a:solidFill>
        </p:spPr>
        <p:txBody>
          <a:bodyPr>
            <a:normAutofit/>
          </a:bodyPr>
          <a:lstStyle/>
          <a:p>
            <a:pPr>
              <a:buFont typeface="Wingdings" pitchFamily="2" charset="2"/>
              <a:buChar char="Ø"/>
            </a:pPr>
            <a:r>
              <a:rPr lang="en-ZA" sz="2400" dirty="0"/>
              <a:t>Although it is often confused with monitoring, we need to say that the concept of observability, which was introduced with the adoption of Cloud Native and distributed applications, includes much more than observing software in a classical sense. </a:t>
            </a:r>
          </a:p>
          <a:p>
            <a:pPr algn="just">
              <a:buFont typeface="Wingdings" pitchFamily="2" charset="2"/>
              <a:buChar char="Ø"/>
            </a:pPr>
            <a:r>
              <a:rPr lang="en-ZA" sz="2400" dirty="0"/>
              <a:t>“Observability is a term borrowed from mechanical engineering /control theory. It means, paraphrasing: “can you understand what is happening inside the system—can you understand ANY internal state the system may get itself into, simply by asking questions from the outside?”” </a:t>
            </a:r>
          </a:p>
          <a:p>
            <a:pPr algn="just">
              <a:buFont typeface="Wingdings" pitchFamily="2" charset="2"/>
              <a:buChar char="Ø"/>
            </a:pPr>
            <a:r>
              <a:rPr lang="en-ZA" sz="2400" dirty="0"/>
              <a:t>In software all of the monitoring, logging, metrics collection, tracing, visualization and alerting observability - observe the services if they fulfil all of these practices at the optimum level—But that isn’t the goal. </a:t>
            </a:r>
          </a:p>
          <a:p>
            <a:pPr algn="just">
              <a:buFont typeface="Wingdings" pitchFamily="2" charset="2"/>
              <a:buChar char="Ø"/>
            </a:pPr>
            <a:r>
              <a:rPr lang="en-ZA" sz="2400" dirty="0"/>
              <a:t>Rather, as Brian Knox, points out the goal is “to build a culture of engineering based on facts and feedback and then spread that culture within the broader organization.” </a:t>
            </a:r>
          </a:p>
          <a:p>
            <a:pPr>
              <a:buFont typeface="Wingdings" pitchFamily="2" charset="2"/>
              <a:buChar char="Ø"/>
            </a:pPr>
            <a:endParaRPr lang="en-ZA" sz="2400" dirty="0"/>
          </a:p>
          <a:p>
            <a:endParaRPr lang="en-GB" dirty="0"/>
          </a:p>
        </p:txBody>
      </p:sp>
    </p:spTree>
    <p:extLst>
      <p:ext uri="{BB962C8B-B14F-4D97-AF65-F5344CB8AC3E}">
        <p14:creationId xmlns:p14="http://schemas.microsoft.com/office/powerpoint/2010/main" val="11530288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D86167-74D5-7AA3-49FE-E50B546BBB5F}"/>
              </a:ext>
            </a:extLst>
          </p:cNvPr>
          <p:cNvSpPr>
            <a:spLocks noGrp="1"/>
          </p:cNvSpPr>
          <p:nvPr>
            <p:ph type="title"/>
          </p:nvPr>
        </p:nvSpPr>
        <p:spPr/>
        <p:txBody>
          <a:bodyPr/>
          <a:lstStyle/>
          <a:p>
            <a:pPr algn="ctr"/>
            <a:r>
              <a:rPr lang="en-GB" dirty="0"/>
              <a:t>1. WHAT IS OBSERVABILITY?</a:t>
            </a:r>
            <a:endParaRPr lang="en-VN" dirty="0"/>
          </a:p>
        </p:txBody>
      </p:sp>
      <p:pic>
        <p:nvPicPr>
          <p:cNvPr id="6" name="Content Placeholder 5" descr="A diagram of a diagram of a diagram of a diagram of a diagram of a diagram of a diagram of a diagram of a diagram of a diagram of a diagram of a diagram of a diagram of&#10;&#10;AI-generated content may be incorrect.">
            <a:extLst>
              <a:ext uri="{FF2B5EF4-FFF2-40B4-BE49-F238E27FC236}">
                <a16:creationId xmlns:a16="http://schemas.microsoft.com/office/drawing/2014/main" id="{913F5A0B-1514-5FD8-0D9A-6DDC1AD05E5D}"/>
              </a:ext>
            </a:extLst>
          </p:cNvPr>
          <p:cNvPicPr>
            <a:picLocks noGrp="1" noChangeAspect="1"/>
          </p:cNvPicPr>
          <p:nvPr>
            <p:ph idx="1"/>
          </p:nvPr>
        </p:nvPicPr>
        <p:blipFill>
          <a:blip r:embed="rId2"/>
          <a:stretch>
            <a:fillRect/>
          </a:stretch>
        </p:blipFill>
        <p:spPr>
          <a:xfrm>
            <a:off x="2307007" y="2120900"/>
            <a:ext cx="7584336" cy="4051300"/>
          </a:xfrm>
        </p:spPr>
      </p:pic>
    </p:spTree>
    <p:extLst>
      <p:ext uri="{BB962C8B-B14F-4D97-AF65-F5344CB8AC3E}">
        <p14:creationId xmlns:p14="http://schemas.microsoft.com/office/powerpoint/2010/main" val="35373433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713703"/>
            <a:ext cx="12191999" cy="4117160"/>
          </a:xfrm>
          <a:solidFill>
            <a:schemeClr val="bg1"/>
          </a:solidFill>
        </p:spPr>
        <p:txBody>
          <a:bodyPr>
            <a:normAutofit fontScale="92500" lnSpcReduction="10000"/>
          </a:bodyPr>
          <a:lstStyle/>
          <a:p>
            <a:pPr marL="457200" indent="-457200">
              <a:buFont typeface="+mj-lt"/>
              <a:buAutoNum type="arabicPeriod"/>
            </a:pPr>
            <a:r>
              <a:rPr lang="en-ZA" sz="3200" b="1" dirty="0"/>
              <a:t>Monitoring</a:t>
            </a:r>
            <a:r>
              <a:rPr lang="en-ZA" b="1" dirty="0"/>
              <a:t> </a:t>
            </a:r>
            <a:endParaRPr lang="en-ZA" sz="2400" dirty="0"/>
          </a:p>
          <a:p>
            <a:pPr lvl="2" algn="just">
              <a:buFont typeface="Wingdings" pitchFamily="2" charset="2"/>
              <a:buChar char="Ø"/>
            </a:pPr>
            <a:r>
              <a:rPr lang="en-ZA" sz="2400" dirty="0"/>
              <a:t>Monitoring methods are always performed from the point of view of the user of the service, which is why they are called black-box checks. </a:t>
            </a:r>
          </a:p>
          <a:p>
            <a:pPr lvl="2" algn="just">
              <a:buFont typeface="Wingdings" pitchFamily="2" charset="2"/>
              <a:buChar char="Ø"/>
            </a:pPr>
            <a:r>
              <a:rPr lang="en-ZA" sz="2400" dirty="0"/>
              <a:t>This point of view is always useful because the fact that the service is up and running does not mean that it’s serving the user. </a:t>
            </a:r>
          </a:p>
          <a:p>
            <a:pPr lvl="2" algn="just">
              <a:buFont typeface="Wingdings" pitchFamily="2" charset="2"/>
              <a:buChar char="Ø"/>
            </a:pPr>
            <a:r>
              <a:rPr lang="en-ZA" sz="2400" dirty="0"/>
              <a:t>With monitoring tools, there is a chance to catch “predictable problems” with these methods. </a:t>
            </a:r>
          </a:p>
          <a:p>
            <a:pPr lvl="2" algn="just">
              <a:buFont typeface="Wingdings" pitchFamily="2" charset="2"/>
              <a:buChar char="Ø"/>
            </a:pPr>
            <a:r>
              <a:rPr lang="en-ZA" sz="2400" dirty="0"/>
              <a:t>Furthermore, the monitoring approach can inform if or when a problem occurred. </a:t>
            </a:r>
          </a:p>
          <a:p>
            <a:pPr lvl="2" algn="just">
              <a:buFont typeface="Wingdings" pitchFamily="2" charset="2"/>
              <a:buChar char="Ø"/>
            </a:pPr>
            <a:r>
              <a:rPr lang="en-ZA" sz="2400" dirty="0"/>
              <a:t>In other words, it is only possible to act reactively. </a:t>
            </a:r>
          </a:p>
          <a:p>
            <a:pPr lvl="2" algn="just">
              <a:buFont typeface="Wingdings" pitchFamily="2" charset="2"/>
              <a:buChar char="Ø"/>
            </a:pPr>
            <a:r>
              <a:rPr lang="en-ZA" sz="2400" dirty="0"/>
              <a:t>There is usually no way to warn proactively—before a problem occurs. </a:t>
            </a:r>
          </a:p>
          <a:p>
            <a:pPr lvl="2" algn="just">
              <a:buFont typeface="Wingdings" pitchFamily="2" charset="2"/>
              <a:buChar char="Ø"/>
            </a:pPr>
            <a:r>
              <a:rPr lang="en-ZA" sz="2400" dirty="0"/>
              <a:t>Finally, by monitoring, it will indicate there is a problem and what it is, but this approach will not hint at why it is so because it is done from the point of view of the end user. </a:t>
            </a:r>
          </a:p>
          <a:p>
            <a:pPr>
              <a:buFont typeface="Wingdings" pitchFamily="2" charset="2"/>
              <a:buChar char="Ø"/>
            </a:pPr>
            <a:endParaRPr lang="en-ZA" sz="2400" dirty="0"/>
          </a:p>
          <a:p>
            <a:endParaRPr lang="en-GB" dirty="0"/>
          </a:p>
        </p:txBody>
      </p:sp>
      <p:pic>
        <p:nvPicPr>
          <p:cNvPr id="4" name="Picture 3">
            <a:extLst>
              <a:ext uri="{FF2B5EF4-FFF2-40B4-BE49-F238E27FC236}">
                <a16:creationId xmlns:a16="http://schemas.microsoft.com/office/drawing/2014/main" id="{9463C6A3-F372-9549-8044-D586C4980C48}"/>
              </a:ext>
            </a:extLst>
          </p:cNvPr>
          <p:cNvPicPr>
            <a:picLocks noChangeAspect="1"/>
          </p:cNvPicPr>
          <p:nvPr/>
        </p:nvPicPr>
        <p:blipFill>
          <a:blip r:embed="rId2"/>
          <a:stretch>
            <a:fillRect/>
          </a:stretch>
        </p:blipFill>
        <p:spPr>
          <a:xfrm>
            <a:off x="3897671" y="1014360"/>
            <a:ext cx="4013200" cy="2082800"/>
          </a:xfrm>
          <a:prstGeom prst="rect">
            <a:avLst/>
          </a:prstGeom>
        </p:spPr>
      </p:pic>
    </p:spTree>
    <p:extLst>
      <p:ext uri="{BB962C8B-B14F-4D97-AF65-F5344CB8AC3E}">
        <p14:creationId xmlns:p14="http://schemas.microsoft.com/office/powerpoint/2010/main" val="4231323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787445"/>
            <a:ext cx="12192000" cy="4043418"/>
          </a:xfrm>
          <a:solidFill>
            <a:schemeClr val="bg1"/>
          </a:solidFill>
        </p:spPr>
        <p:txBody>
          <a:bodyPr>
            <a:normAutofit lnSpcReduction="10000"/>
          </a:bodyPr>
          <a:lstStyle/>
          <a:p>
            <a:pPr marL="514350" indent="-514350">
              <a:buFont typeface="+mj-lt"/>
              <a:buAutoNum type="arabicPeriod" startAt="2"/>
            </a:pPr>
            <a:r>
              <a:rPr lang="en-ZA" sz="3200" b="1" dirty="0"/>
              <a:t>Logging</a:t>
            </a:r>
            <a:r>
              <a:rPr lang="en-ZA" b="1" dirty="0"/>
              <a:t> </a:t>
            </a:r>
            <a:endParaRPr lang="en-ZA" sz="2400" dirty="0"/>
          </a:p>
          <a:p>
            <a:pPr lvl="2" algn="just">
              <a:buFont typeface="Wingdings" pitchFamily="2" charset="2"/>
              <a:buChar char="Ø"/>
            </a:pPr>
            <a:r>
              <a:rPr lang="en-ZA" sz="2800" dirty="0"/>
              <a:t>Logging, when used properly, can easily provide information about what happened when a problem occurs, and also why it happened. </a:t>
            </a:r>
          </a:p>
          <a:p>
            <a:pPr lvl="2" algn="just">
              <a:buFont typeface="Wingdings" pitchFamily="2" charset="2"/>
              <a:buChar char="Ø"/>
            </a:pPr>
            <a:r>
              <a:rPr lang="en-ZA" sz="2800" dirty="0"/>
              <a:t>However, just like the monitoring method, logging can only assist to identify predictable or foreseeable problems. </a:t>
            </a:r>
          </a:p>
          <a:p>
            <a:pPr lvl="2" algn="just">
              <a:buFont typeface="Wingdings" pitchFamily="2" charset="2"/>
              <a:buChar char="Ø"/>
            </a:pPr>
            <a:r>
              <a:rPr lang="en-ZA" sz="2800" dirty="0"/>
              <a:t>Indeed, in most cases, when an error occurs, it may be necessary to increase the logging level and wait until the same error occurs again to obtain tangible information about that error. </a:t>
            </a:r>
          </a:p>
          <a:p>
            <a:pPr lvl="2" algn="just">
              <a:buFont typeface="Wingdings" pitchFamily="2" charset="2"/>
              <a:buChar char="Ø"/>
            </a:pPr>
            <a:r>
              <a:rPr lang="en-ZA" sz="2800" dirty="0"/>
              <a:t>In other words, the logging method is a reactive method rather than a proactive one. </a:t>
            </a:r>
          </a:p>
        </p:txBody>
      </p:sp>
      <p:pic>
        <p:nvPicPr>
          <p:cNvPr id="4" name="Picture 3">
            <a:extLst>
              <a:ext uri="{FF2B5EF4-FFF2-40B4-BE49-F238E27FC236}">
                <a16:creationId xmlns:a16="http://schemas.microsoft.com/office/drawing/2014/main" id="{1747315F-B710-3449-B69D-E301ABEBC0F7}"/>
              </a:ext>
            </a:extLst>
          </p:cNvPr>
          <p:cNvPicPr>
            <a:picLocks noChangeAspect="1"/>
          </p:cNvPicPr>
          <p:nvPr/>
        </p:nvPicPr>
        <p:blipFill>
          <a:blip r:embed="rId2"/>
          <a:stretch>
            <a:fillRect/>
          </a:stretch>
        </p:blipFill>
        <p:spPr>
          <a:xfrm>
            <a:off x="4271297" y="917062"/>
            <a:ext cx="3860800" cy="2044700"/>
          </a:xfrm>
          <a:prstGeom prst="rect">
            <a:avLst/>
          </a:prstGeom>
        </p:spPr>
      </p:pic>
    </p:spTree>
    <p:extLst>
      <p:ext uri="{BB962C8B-B14F-4D97-AF65-F5344CB8AC3E}">
        <p14:creationId xmlns:p14="http://schemas.microsoft.com/office/powerpoint/2010/main" val="30678887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639961"/>
            <a:ext cx="12192000" cy="4190901"/>
          </a:xfrm>
          <a:solidFill>
            <a:schemeClr val="bg1"/>
          </a:solidFill>
        </p:spPr>
        <p:txBody>
          <a:bodyPr>
            <a:normAutofit lnSpcReduction="10000"/>
          </a:bodyPr>
          <a:lstStyle/>
          <a:p>
            <a:pPr marL="514350" indent="-514350">
              <a:buFont typeface="+mj-lt"/>
              <a:buAutoNum type="arabicPeriod" startAt="3"/>
            </a:pPr>
            <a:r>
              <a:rPr lang="en-ZA" sz="3200" b="1" dirty="0"/>
              <a:t>Metrics Collection </a:t>
            </a:r>
            <a:endParaRPr lang="en-ZA" sz="2400" dirty="0"/>
          </a:p>
          <a:p>
            <a:pPr lvl="2" algn="just">
              <a:buFont typeface="Wingdings" pitchFamily="2" charset="2"/>
              <a:buChar char="Ø"/>
            </a:pPr>
            <a:r>
              <a:rPr lang="en-ZA" sz="2000" dirty="0"/>
              <a:t>Metrics, unlike logs, contain numeric values and allow access to numeric information to track specifics to the application, starting with basic hardware data, such as the amount of memory used by the application at any point during execution and the corresponding CPU consumption. </a:t>
            </a:r>
          </a:p>
          <a:p>
            <a:pPr lvl="2" algn="just">
              <a:buFont typeface="Wingdings" pitchFamily="2" charset="2"/>
              <a:buChar char="Ø"/>
            </a:pPr>
            <a:r>
              <a:rPr lang="en-ZA" sz="2000" dirty="0"/>
              <a:t>Since metric data is numerical, the cost of collection is lower than logging. </a:t>
            </a:r>
          </a:p>
          <a:p>
            <a:pPr lvl="2" algn="just">
              <a:buFont typeface="Wingdings" pitchFamily="2" charset="2"/>
              <a:buChar char="Ø"/>
            </a:pPr>
            <a:r>
              <a:rPr lang="en-ZA" sz="2000" dirty="0"/>
              <a:t>Therefore, metric data can be collected much more frequently than logs. </a:t>
            </a:r>
          </a:p>
          <a:p>
            <a:pPr lvl="2" algn="just">
              <a:buFont typeface="Wingdings" pitchFamily="2" charset="2"/>
              <a:buChar char="Ø"/>
            </a:pPr>
            <a:r>
              <a:rPr lang="en-ZA" sz="2000" dirty="0"/>
              <a:t>Changes in this data, stored at regular intervals, can assist to detect problems in the application before they are visible to users. </a:t>
            </a:r>
          </a:p>
          <a:p>
            <a:pPr lvl="2" algn="just">
              <a:buFont typeface="Wingdings" pitchFamily="2" charset="2"/>
              <a:buChar char="Ø"/>
            </a:pPr>
            <a:r>
              <a:rPr lang="en-ZA" sz="2000" dirty="0"/>
              <a:t>For example, it is not hard to predict that an application whose CPU usage increases by 10% every hour will become unresponsive after a few hours. </a:t>
            </a:r>
          </a:p>
          <a:p>
            <a:pPr lvl="2" algn="just">
              <a:buFont typeface="Wingdings" pitchFamily="2" charset="2"/>
              <a:buChar char="Ø"/>
            </a:pPr>
            <a:r>
              <a:rPr lang="en-ZA" sz="2000" dirty="0"/>
              <a:t>Even more accurate problem estimates can be made with machine learning models (ML) created by matching historical metrics data and errors. </a:t>
            </a:r>
          </a:p>
          <a:p>
            <a:pPr lvl="2" algn="just">
              <a:buFont typeface="Wingdings" pitchFamily="2" charset="2"/>
              <a:buChar char="Ø"/>
            </a:pPr>
            <a:r>
              <a:rPr lang="en-ZA" sz="2000" dirty="0"/>
              <a:t>For this reason, a widely used approach is to keep the collected metrics data in time-series databases and monitor them by graphing them on a time axis. </a:t>
            </a:r>
          </a:p>
          <a:p>
            <a:pPr>
              <a:buFont typeface="Wingdings" pitchFamily="2" charset="2"/>
              <a:buChar char="Ø"/>
            </a:pPr>
            <a:endParaRPr lang="en-ZA" sz="2400" dirty="0"/>
          </a:p>
          <a:p>
            <a:endParaRPr lang="en-GB" dirty="0"/>
          </a:p>
        </p:txBody>
      </p:sp>
      <p:pic>
        <p:nvPicPr>
          <p:cNvPr id="4" name="Picture 3">
            <a:extLst>
              <a:ext uri="{FF2B5EF4-FFF2-40B4-BE49-F238E27FC236}">
                <a16:creationId xmlns:a16="http://schemas.microsoft.com/office/drawing/2014/main" id="{3C8FED8F-177D-3C4E-B551-96769940C525}"/>
              </a:ext>
            </a:extLst>
          </p:cNvPr>
          <p:cNvPicPr>
            <a:picLocks noChangeAspect="1"/>
          </p:cNvPicPr>
          <p:nvPr/>
        </p:nvPicPr>
        <p:blipFill>
          <a:blip r:embed="rId2"/>
          <a:stretch>
            <a:fillRect/>
          </a:stretch>
        </p:blipFill>
        <p:spPr>
          <a:xfrm>
            <a:off x="4543119" y="936932"/>
            <a:ext cx="4610100" cy="1968500"/>
          </a:xfrm>
          <a:prstGeom prst="rect">
            <a:avLst/>
          </a:prstGeom>
        </p:spPr>
      </p:pic>
    </p:spTree>
    <p:extLst>
      <p:ext uri="{BB962C8B-B14F-4D97-AF65-F5344CB8AC3E}">
        <p14:creationId xmlns:p14="http://schemas.microsoft.com/office/powerpoint/2010/main" val="7342748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a:t>WHAT IS OBSERVABILITY?</a:t>
            </a:r>
            <a:endParaRPr lang="en-GB" dirty="0"/>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107403"/>
            <a:ext cx="12192000" cy="3723459"/>
          </a:xfrm>
          <a:solidFill>
            <a:schemeClr val="bg1"/>
          </a:solidFill>
        </p:spPr>
        <p:txBody>
          <a:bodyPr>
            <a:normAutofit/>
          </a:bodyPr>
          <a:lstStyle/>
          <a:p>
            <a:pPr marL="514350" indent="-514350">
              <a:buFont typeface="+mj-lt"/>
              <a:buAutoNum type="arabicPeriod" startAt="4"/>
            </a:pPr>
            <a:r>
              <a:rPr lang="en-ZA" sz="3200" b="1"/>
              <a:t>Tracing</a:t>
            </a:r>
            <a:endParaRPr lang="en-ZA" sz="2400"/>
          </a:p>
          <a:p>
            <a:pPr lvl="2" algn="just">
              <a:buFont typeface="Wingdings" pitchFamily="2" charset="2"/>
              <a:buChar char="Ø"/>
            </a:pPr>
            <a:r>
              <a:rPr lang="en-ZA" sz="2000"/>
              <a:t>Although methods like logging and tracking metrics provides the state of the application’s components, it cannot indicate how an end-user request behaves in the systems, especially in distributed systems. </a:t>
            </a:r>
          </a:p>
          <a:p>
            <a:pPr lvl="2" algn="just">
              <a:buFont typeface="Wingdings" pitchFamily="2" charset="2"/>
              <a:buChar char="Ø"/>
            </a:pPr>
            <a:r>
              <a:rPr lang="en-ZA" sz="2000"/>
              <a:t>Distributed tracing is the process of following a transaction request and recording all the relevant data throughout the path of distributed architecture. </a:t>
            </a:r>
          </a:p>
          <a:p>
            <a:pPr lvl="2" algn="just">
              <a:buFont typeface="Wingdings" pitchFamily="2" charset="2"/>
              <a:buChar char="Ø"/>
            </a:pPr>
            <a:r>
              <a:rPr lang="en-ZA" sz="2000"/>
              <a:t>This can assist to visualize all communication between the services that make up the system, including supporting components such as databases and external services that do not belong to organisation, collecting metrics related to these movements from the moment the request enters the systems. It provides a break down from the time between the end user’s request and the time interval in which a response is made, on a service-by-service basis. </a:t>
            </a:r>
          </a:p>
          <a:p>
            <a:pPr marL="548640" lvl="2" indent="0" algn="just">
              <a:buNone/>
            </a:pPr>
            <a:endParaRPr lang="en-ZA" sz="2000"/>
          </a:p>
          <a:p>
            <a:pPr>
              <a:buFont typeface="Wingdings" pitchFamily="2" charset="2"/>
              <a:buChar char="Ø"/>
            </a:pPr>
            <a:endParaRPr lang="en-ZA" sz="2400"/>
          </a:p>
          <a:p>
            <a:endParaRPr lang="en-GB" dirty="0"/>
          </a:p>
        </p:txBody>
      </p:sp>
      <p:pic>
        <p:nvPicPr>
          <p:cNvPr id="5" name="Picture 4">
            <a:extLst>
              <a:ext uri="{FF2B5EF4-FFF2-40B4-BE49-F238E27FC236}">
                <a16:creationId xmlns:a16="http://schemas.microsoft.com/office/drawing/2014/main" id="{4466D889-C775-CF49-A342-98E24BD96F38}"/>
              </a:ext>
            </a:extLst>
          </p:cNvPr>
          <p:cNvPicPr>
            <a:picLocks noChangeAspect="1"/>
          </p:cNvPicPr>
          <p:nvPr/>
        </p:nvPicPr>
        <p:blipFill>
          <a:blip r:embed="rId2"/>
          <a:stretch>
            <a:fillRect/>
          </a:stretch>
        </p:blipFill>
        <p:spPr>
          <a:xfrm>
            <a:off x="3899718" y="948402"/>
            <a:ext cx="4322913" cy="2310991"/>
          </a:xfrm>
          <a:prstGeom prst="rect">
            <a:avLst/>
          </a:prstGeom>
        </p:spPr>
      </p:pic>
    </p:spTree>
    <p:extLst>
      <p:ext uri="{BB962C8B-B14F-4D97-AF65-F5344CB8AC3E}">
        <p14:creationId xmlns:p14="http://schemas.microsoft.com/office/powerpoint/2010/main" val="25298590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4719484"/>
            <a:ext cx="12192000" cy="2111377"/>
          </a:xfrm>
          <a:solidFill>
            <a:schemeClr val="bg1"/>
          </a:solidFill>
        </p:spPr>
        <p:txBody>
          <a:bodyPr>
            <a:normAutofit/>
          </a:bodyPr>
          <a:lstStyle/>
          <a:p>
            <a:pPr marL="514350" indent="-514350">
              <a:buFont typeface="+mj-lt"/>
              <a:buAutoNum type="arabicPeriod" startAt="5"/>
            </a:pPr>
            <a:r>
              <a:rPr lang="en-ZA" sz="3200" b="1" dirty="0"/>
              <a:t>Visualisation</a:t>
            </a:r>
            <a:endParaRPr lang="en-ZA" sz="2400" dirty="0"/>
          </a:p>
          <a:p>
            <a:pPr lvl="2" algn="just">
              <a:buFont typeface="Wingdings" pitchFamily="2" charset="2"/>
              <a:buChar char="Ø"/>
            </a:pPr>
            <a:r>
              <a:rPr lang="en-ZA" sz="2800" dirty="0"/>
              <a:t>Sometimes it is necessary to use visualization tools that provide the current state of the system at a glance. </a:t>
            </a:r>
          </a:p>
        </p:txBody>
      </p:sp>
      <p:pic>
        <p:nvPicPr>
          <p:cNvPr id="5" name="Picture 4">
            <a:extLst>
              <a:ext uri="{FF2B5EF4-FFF2-40B4-BE49-F238E27FC236}">
                <a16:creationId xmlns:a16="http://schemas.microsoft.com/office/drawing/2014/main" id="{E46F1CAB-E6AE-FC45-BD67-21F6D746A09B}"/>
              </a:ext>
            </a:extLst>
          </p:cNvPr>
          <p:cNvPicPr>
            <a:picLocks noChangeAspect="1"/>
          </p:cNvPicPr>
          <p:nvPr/>
        </p:nvPicPr>
        <p:blipFill>
          <a:blip r:embed="rId2"/>
          <a:stretch>
            <a:fillRect/>
          </a:stretch>
        </p:blipFill>
        <p:spPr>
          <a:xfrm>
            <a:off x="3906046" y="1150374"/>
            <a:ext cx="4379908" cy="3515451"/>
          </a:xfrm>
          <a:prstGeom prst="rect">
            <a:avLst/>
          </a:prstGeom>
        </p:spPr>
      </p:pic>
    </p:spTree>
    <p:extLst>
      <p:ext uri="{BB962C8B-B14F-4D97-AF65-F5344CB8AC3E}">
        <p14:creationId xmlns:p14="http://schemas.microsoft.com/office/powerpoint/2010/main" val="38700086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a:pPr>
            <a:r>
              <a:rPr lang="en-GB" dirty="0"/>
              <a:t>WHAT IS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763199"/>
            <a:ext cx="12192000" cy="3094801"/>
          </a:xfrm>
          <a:solidFill>
            <a:schemeClr val="bg1"/>
          </a:solidFill>
        </p:spPr>
        <p:txBody>
          <a:bodyPr>
            <a:normAutofit/>
          </a:bodyPr>
          <a:lstStyle/>
          <a:p>
            <a:pPr marL="514350" indent="-514350">
              <a:buFont typeface="+mj-lt"/>
              <a:buAutoNum type="arabicPeriod" startAt="6"/>
            </a:pPr>
            <a:r>
              <a:rPr lang="en-ZA" sz="3200" b="1" dirty="0"/>
              <a:t>Alerting</a:t>
            </a:r>
            <a:endParaRPr lang="en-ZA" sz="2400" dirty="0"/>
          </a:p>
          <a:p>
            <a:pPr lvl="2" algn="just">
              <a:buFont typeface="Wingdings" pitchFamily="2" charset="2"/>
              <a:buChar char="Ø"/>
            </a:pPr>
            <a:r>
              <a:rPr lang="en-ZA" sz="2400" dirty="0"/>
              <a:t>Even if all the observability components are activated in the  system, it may not always indicate what is going on before the alert mechanisms are activated. </a:t>
            </a:r>
          </a:p>
          <a:p>
            <a:pPr lvl="2" algn="just">
              <a:buFont typeface="Wingdings" pitchFamily="2" charset="2"/>
              <a:buChar char="Ø"/>
            </a:pPr>
            <a:r>
              <a:rPr lang="en-ZA" sz="2400" dirty="0"/>
              <a:t>In this instance, a requirement to activate a system that monitors the applications 24/7 and draws attention to an unexpected situation is needed.</a:t>
            </a:r>
          </a:p>
          <a:p>
            <a:pPr lvl="2" algn="just">
              <a:buFont typeface="Wingdings" pitchFamily="2" charset="2"/>
              <a:buChar char="Ø"/>
            </a:pPr>
            <a:r>
              <a:rPr lang="en-ZA" sz="2400" dirty="0"/>
              <a:t>It is crucial to detect and, if possible, solve the problems that occur in the system before the users—both in terms of user satisfaction and reputation, and in terms of not interrupting the creation of value can be detected with alerts.</a:t>
            </a:r>
          </a:p>
          <a:p>
            <a:pPr>
              <a:buFont typeface="Wingdings" pitchFamily="2" charset="2"/>
              <a:buChar char="Ø"/>
            </a:pPr>
            <a:endParaRPr lang="en-ZA" sz="2400" dirty="0"/>
          </a:p>
          <a:p>
            <a:endParaRPr lang="en-GB" dirty="0"/>
          </a:p>
        </p:txBody>
      </p:sp>
      <p:pic>
        <p:nvPicPr>
          <p:cNvPr id="4" name="Picture 3">
            <a:extLst>
              <a:ext uri="{FF2B5EF4-FFF2-40B4-BE49-F238E27FC236}">
                <a16:creationId xmlns:a16="http://schemas.microsoft.com/office/drawing/2014/main" id="{8BE0D58B-C451-404F-B850-A1B9EE4B5836}"/>
              </a:ext>
            </a:extLst>
          </p:cNvPr>
          <p:cNvPicPr>
            <a:picLocks noChangeAspect="1"/>
          </p:cNvPicPr>
          <p:nvPr/>
        </p:nvPicPr>
        <p:blipFill>
          <a:blip r:embed="rId2"/>
          <a:stretch>
            <a:fillRect/>
          </a:stretch>
        </p:blipFill>
        <p:spPr>
          <a:xfrm>
            <a:off x="3040497" y="1043346"/>
            <a:ext cx="5560157" cy="2826881"/>
          </a:xfrm>
          <a:prstGeom prst="rect">
            <a:avLst/>
          </a:prstGeom>
        </p:spPr>
      </p:pic>
    </p:spTree>
    <p:extLst>
      <p:ext uri="{BB962C8B-B14F-4D97-AF65-F5344CB8AC3E}">
        <p14:creationId xmlns:p14="http://schemas.microsoft.com/office/powerpoint/2010/main" val="3272290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D4B3-4BEC-7D41-A88F-A44E744EDB9F}"/>
              </a:ext>
            </a:extLst>
          </p:cNvPr>
          <p:cNvSpPr>
            <a:spLocks noGrp="1"/>
          </p:cNvSpPr>
          <p:nvPr>
            <p:ph type="title"/>
          </p:nvPr>
        </p:nvSpPr>
        <p:spPr/>
        <p:txBody>
          <a:bodyPr/>
          <a:lstStyle/>
          <a:p>
            <a:pPr marL="1371600" indent="-1371600" algn="ctr">
              <a:buFont typeface="+mj-lt"/>
              <a:buAutoNum type="arabicPeriod" startAt="2"/>
            </a:pPr>
            <a:r>
              <a:rPr lang="en-GB" dirty="0"/>
              <a:t>IMPLEMENTING OBSERVABILITY</a:t>
            </a:r>
          </a:p>
        </p:txBody>
      </p:sp>
    </p:spTree>
    <p:extLst>
      <p:ext uri="{BB962C8B-B14F-4D97-AF65-F5344CB8AC3E}">
        <p14:creationId xmlns:p14="http://schemas.microsoft.com/office/powerpoint/2010/main" val="1952934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181897" y="1902542"/>
            <a:ext cx="11828206" cy="3805084"/>
          </a:xfrm>
          <a:solidFill>
            <a:schemeClr val="bg1"/>
          </a:solidFill>
        </p:spPr>
        <p:txBody>
          <a:bodyPr>
            <a:normAutofit/>
          </a:bodyPr>
          <a:lstStyle/>
          <a:p>
            <a:pPr lvl="1" algn="just">
              <a:buFont typeface="Wingdings" pitchFamily="2" charset="2"/>
              <a:buChar char="Ø"/>
            </a:pPr>
            <a:r>
              <a:rPr lang="en-ZA" sz="3600" dirty="0"/>
              <a:t>A plethora of open source tools are available to provide application traceability. </a:t>
            </a:r>
          </a:p>
          <a:p>
            <a:pPr lvl="1" algn="just">
              <a:buFont typeface="Wingdings" pitchFamily="2" charset="2"/>
              <a:buChar char="Ø"/>
            </a:pPr>
            <a:r>
              <a:rPr lang="en-ZA" sz="3600" dirty="0"/>
              <a:t>This section will review the open-source projects widely accepted in the industry, favouring those supported by the Cloud Native Computing Foundation (</a:t>
            </a:r>
            <a:r>
              <a:rPr lang="en-ZA" sz="3600" dirty="0">
                <a:hlinkClick r:id="rId2"/>
              </a:rPr>
              <a:t>CNF</a:t>
            </a:r>
            <a:r>
              <a:rPr lang="en-ZA" sz="3600" dirty="0"/>
              <a:t>)</a:t>
            </a:r>
          </a:p>
        </p:txBody>
      </p:sp>
    </p:spTree>
    <p:extLst>
      <p:ext uri="{BB962C8B-B14F-4D97-AF65-F5344CB8AC3E}">
        <p14:creationId xmlns:p14="http://schemas.microsoft.com/office/powerpoint/2010/main" val="28300982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383459" y="3097160"/>
            <a:ext cx="11636476" cy="3733701"/>
          </a:xfrm>
          <a:solidFill>
            <a:schemeClr val="bg1"/>
          </a:solidFill>
        </p:spPr>
        <p:txBody>
          <a:bodyPr>
            <a:normAutofit lnSpcReduction="10000"/>
          </a:bodyPr>
          <a:lstStyle/>
          <a:p>
            <a:pPr marL="514350" indent="-514350">
              <a:buFont typeface="+mj-lt"/>
              <a:buAutoNum type="arabicPeriod"/>
            </a:pPr>
            <a:r>
              <a:rPr lang="en-ZA" sz="3200" b="1" dirty="0"/>
              <a:t>Monitoring</a:t>
            </a:r>
            <a:endParaRPr lang="en-ZA" sz="2000" dirty="0"/>
          </a:p>
          <a:p>
            <a:pPr lvl="2" algn="just">
              <a:buFont typeface="Wingdings" pitchFamily="2" charset="2"/>
              <a:buChar char="Ø"/>
            </a:pPr>
            <a:r>
              <a:rPr lang="en-ZA" sz="2400" dirty="0"/>
              <a:t>The monitoring of a service must be able to access the service that needs to be monitored in the same way as would an end user, because the monitoring must be done through the eyes of the end user consuming the service.</a:t>
            </a:r>
          </a:p>
          <a:p>
            <a:pPr lvl="2" algn="just">
              <a:buFont typeface="Wingdings" pitchFamily="2" charset="2"/>
              <a:buChar char="Ø"/>
            </a:pPr>
            <a:r>
              <a:rPr lang="en-ZA" sz="2400" dirty="0"/>
              <a:t>For example, if the services are on the same network, it will not be able to observe a DNS service failure or a problem in the data centre’s external network connection. </a:t>
            </a:r>
          </a:p>
          <a:p>
            <a:pPr lvl="2" algn="just">
              <a:buFont typeface="Wingdings" pitchFamily="2" charset="2"/>
              <a:buChar char="Ø"/>
            </a:pPr>
            <a:r>
              <a:rPr lang="en-ZA" sz="2400" dirty="0"/>
              <a:t>Therefore, the ideal solution for this application is to install a monitoring application such as </a:t>
            </a:r>
            <a:r>
              <a:rPr lang="en-ZA" sz="2400" dirty="0">
                <a:hlinkClick r:id="rId2"/>
              </a:rPr>
              <a:t>Zabbix</a:t>
            </a:r>
            <a:r>
              <a:rPr lang="en-ZA" sz="2400" dirty="0"/>
              <a:t> () outside of the data centre or use one of the Monitoring as a Service (MaaS) applications such as </a:t>
            </a:r>
            <a:r>
              <a:rPr lang="en-ZA" sz="2400" dirty="0">
                <a:hlinkClick r:id="rId3"/>
              </a:rPr>
              <a:t>Uptime Robot</a:t>
            </a:r>
            <a:r>
              <a:rPr lang="en-ZA" sz="2400" dirty="0"/>
              <a:t> or </a:t>
            </a:r>
            <a:r>
              <a:rPr lang="en-ZA" sz="2400" dirty="0">
                <a:hlinkClick r:id="rId4"/>
              </a:rPr>
              <a:t>Pingdom</a:t>
            </a:r>
            <a:r>
              <a:rPr lang="en-ZA" sz="2400" dirty="0"/>
              <a:t> . </a:t>
            </a:r>
          </a:p>
          <a:p>
            <a:pPr lvl="2" algn="just">
              <a:buFont typeface="Wingdings" pitchFamily="2" charset="2"/>
              <a:buChar char="Ø"/>
            </a:pPr>
            <a:endParaRPr lang="en-ZA" sz="2000" dirty="0"/>
          </a:p>
          <a:p>
            <a:pPr>
              <a:buFont typeface="Wingdings" pitchFamily="2" charset="2"/>
              <a:buChar char="Ø"/>
            </a:pPr>
            <a:endParaRPr lang="en-ZA" sz="2400" dirty="0"/>
          </a:p>
          <a:p>
            <a:endParaRPr lang="en-GB" dirty="0"/>
          </a:p>
        </p:txBody>
      </p:sp>
      <p:pic>
        <p:nvPicPr>
          <p:cNvPr id="5" name="Picture 4">
            <a:extLst>
              <a:ext uri="{FF2B5EF4-FFF2-40B4-BE49-F238E27FC236}">
                <a16:creationId xmlns:a16="http://schemas.microsoft.com/office/drawing/2014/main" id="{F4C1B6DE-4A31-A04F-936C-8EE4DFD6AB59}"/>
              </a:ext>
            </a:extLst>
          </p:cNvPr>
          <p:cNvPicPr>
            <a:picLocks noChangeAspect="1"/>
          </p:cNvPicPr>
          <p:nvPr/>
        </p:nvPicPr>
        <p:blipFill>
          <a:blip r:embed="rId5"/>
          <a:stretch>
            <a:fillRect/>
          </a:stretch>
        </p:blipFill>
        <p:spPr>
          <a:xfrm>
            <a:off x="4114594" y="882650"/>
            <a:ext cx="3421831" cy="2562910"/>
          </a:xfrm>
          <a:prstGeom prst="rect">
            <a:avLst/>
          </a:prstGeom>
        </p:spPr>
      </p:pic>
    </p:spTree>
    <p:extLst>
      <p:ext uri="{BB962C8B-B14F-4D97-AF65-F5344CB8AC3E}">
        <p14:creationId xmlns:p14="http://schemas.microsoft.com/office/powerpoint/2010/main" val="8236361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728450"/>
            <a:ext cx="12192000" cy="4102411"/>
          </a:xfrm>
          <a:solidFill>
            <a:schemeClr val="bg1"/>
          </a:solidFill>
        </p:spPr>
        <p:txBody>
          <a:bodyPr>
            <a:normAutofit fontScale="92500" lnSpcReduction="20000"/>
          </a:bodyPr>
          <a:lstStyle/>
          <a:p>
            <a:pPr marL="514350" indent="-514350">
              <a:buFont typeface="+mj-lt"/>
              <a:buAutoNum type="arabicPeriod" startAt="2"/>
            </a:pPr>
            <a:r>
              <a:rPr lang="en-ZA" sz="3200" b="1" dirty="0"/>
              <a:t>Logging</a:t>
            </a:r>
            <a:endParaRPr lang="en-ZA" sz="2400" dirty="0"/>
          </a:p>
          <a:p>
            <a:pPr lvl="2" algn="just">
              <a:buFont typeface="Wingdings" pitchFamily="2" charset="2"/>
              <a:buChar char="Ø"/>
            </a:pPr>
            <a:r>
              <a:rPr lang="en-ZA" sz="2800" dirty="0"/>
              <a:t>Logging in distributed applications causes more than one problem, it cannot be solved with the classical approach. </a:t>
            </a:r>
          </a:p>
          <a:p>
            <a:pPr lvl="2" algn="just">
              <a:buFont typeface="Wingdings" pitchFamily="2" charset="2"/>
              <a:buChar char="Ø"/>
            </a:pPr>
            <a:r>
              <a:rPr lang="en-ZA" sz="2800" dirty="0"/>
              <a:t>Considering that distributed applications operate both horizontally and vertically split, all logs should be collected in a centralized system to examine both the logs produced by multiple copies of the same service and the successive logs of the vertically split services that interact with each other. </a:t>
            </a:r>
          </a:p>
          <a:p>
            <a:pPr lvl="2" algn="just">
              <a:buFont typeface="Wingdings" pitchFamily="2" charset="2"/>
              <a:buChar char="Ø"/>
            </a:pPr>
            <a:r>
              <a:rPr lang="en-ZA" sz="2800" dirty="0"/>
              <a:t>Instead of a directory where all the logs of this environment are written in plain text, a query-able database where the structural log data is stored is preferred. </a:t>
            </a:r>
          </a:p>
          <a:p>
            <a:pPr lvl="2" algn="just">
              <a:buFont typeface="Wingdings" pitchFamily="2" charset="2"/>
              <a:buChar char="Ø"/>
            </a:pPr>
            <a:r>
              <a:rPr lang="en-ZA" sz="2800" dirty="0"/>
              <a:t>The Elastic database is widely accepted in this regard, as it facilitates processing and searching textual data.</a:t>
            </a:r>
            <a:endParaRPr lang="en-ZA" sz="2000" dirty="0"/>
          </a:p>
          <a:p>
            <a:pPr>
              <a:buFont typeface="Wingdings" pitchFamily="2" charset="2"/>
              <a:buChar char="Ø"/>
            </a:pPr>
            <a:endParaRPr lang="en-ZA" sz="2400" dirty="0"/>
          </a:p>
          <a:p>
            <a:endParaRPr lang="en-GB" dirty="0"/>
          </a:p>
        </p:txBody>
      </p:sp>
      <p:pic>
        <p:nvPicPr>
          <p:cNvPr id="5" name="Picture 4">
            <a:extLst>
              <a:ext uri="{FF2B5EF4-FFF2-40B4-BE49-F238E27FC236}">
                <a16:creationId xmlns:a16="http://schemas.microsoft.com/office/drawing/2014/main" id="{7B0A9E11-A963-B349-AB2D-C5470D01D638}"/>
              </a:ext>
            </a:extLst>
          </p:cNvPr>
          <p:cNvPicPr>
            <a:picLocks noChangeAspect="1"/>
          </p:cNvPicPr>
          <p:nvPr/>
        </p:nvPicPr>
        <p:blipFill>
          <a:blip r:embed="rId2"/>
          <a:stretch>
            <a:fillRect/>
          </a:stretch>
        </p:blipFill>
        <p:spPr>
          <a:xfrm>
            <a:off x="4419016" y="900016"/>
            <a:ext cx="3571806" cy="2005416"/>
          </a:xfrm>
          <a:prstGeom prst="rect">
            <a:avLst/>
          </a:prstGeom>
        </p:spPr>
      </p:pic>
    </p:spTree>
    <p:extLst>
      <p:ext uri="{BB962C8B-B14F-4D97-AF65-F5344CB8AC3E}">
        <p14:creationId xmlns:p14="http://schemas.microsoft.com/office/powerpoint/2010/main" val="21561644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728452"/>
            <a:ext cx="12192000" cy="4102410"/>
          </a:xfrm>
          <a:solidFill>
            <a:schemeClr val="bg1"/>
          </a:solidFill>
        </p:spPr>
        <p:txBody>
          <a:bodyPr>
            <a:normAutofit fontScale="92500" lnSpcReduction="20000"/>
          </a:bodyPr>
          <a:lstStyle/>
          <a:p>
            <a:pPr marL="514350" indent="-514350">
              <a:buFont typeface="+mj-lt"/>
              <a:buAutoNum type="arabicPeriod" startAt="2"/>
            </a:pPr>
            <a:r>
              <a:rPr lang="en-ZA" sz="3200" b="1" dirty="0"/>
              <a:t>Logging</a:t>
            </a:r>
            <a:endParaRPr lang="en-ZA" sz="2400" dirty="0"/>
          </a:p>
          <a:p>
            <a:pPr lvl="2" algn="just">
              <a:buFont typeface="Wingdings" pitchFamily="2" charset="2"/>
              <a:buChar char="Ø"/>
            </a:pPr>
            <a:r>
              <a:rPr lang="en-ZA" sz="2800" dirty="0"/>
              <a:t>Elastic’s </a:t>
            </a:r>
            <a:r>
              <a:rPr lang="en-ZA" sz="2800" dirty="0">
                <a:hlinkClick r:id="rId2"/>
              </a:rPr>
              <a:t>ELK Stack</a:t>
            </a:r>
            <a:r>
              <a:rPr lang="en-ZA" sz="2800" dirty="0"/>
              <a:t>, which consists of products entirely of the Elastic company, is a centralized end-to-end logging solution with Logstash for transferring logs from the source to the Elastic database and Kibana that handles the visualization of the data. </a:t>
            </a:r>
          </a:p>
          <a:p>
            <a:pPr lvl="2" algn="just">
              <a:buFont typeface="Wingdings" pitchFamily="2" charset="2"/>
              <a:buChar char="Ø"/>
            </a:pPr>
            <a:r>
              <a:rPr lang="en-ZA" sz="2800" dirty="0">
                <a:hlinkClick r:id="rId3"/>
              </a:rPr>
              <a:t>Fluentd</a:t>
            </a:r>
            <a:r>
              <a:rPr lang="en-ZA" sz="2800" dirty="0"/>
              <a:t>, a CNCF graduate project for log migration, and </a:t>
            </a:r>
            <a:r>
              <a:rPr lang="en-ZA" sz="2800" dirty="0">
                <a:hlinkClick r:id="rId4"/>
              </a:rPr>
              <a:t>Grafana</a:t>
            </a:r>
            <a:r>
              <a:rPr lang="en-ZA" sz="2800" dirty="0"/>
              <a:t> for visualization are also widely used. </a:t>
            </a:r>
          </a:p>
          <a:p>
            <a:pPr lvl="2" algn="just">
              <a:buFont typeface="Wingdings" pitchFamily="2" charset="2"/>
              <a:buChar char="Ø"/>
            </a:pPr>
            <a:r>
              <a:rPr lang="en-ZA" sz="2800" dirty="0"/>
              <a:t>Regardless of whether or not the application is Cloud Native, the first rule to keep in mind when logging is that logging is done at different levels and those levels are generally accepted and agreed upon. </a:t>
            </a:r>
          </a:p>
          <a:p>
            <a:pPr lvl="2" algn="just">
              <a:buFont typeface="Wingdings" pitchFamily="2" charset="2"/>
              <a:buChar char="Ø"/>
            </a:pPr>
            <a:r>
              <a:rPr lang="en-ZA" sz="2800" dirty="0"/>
              <a:t>In other words: Given a classification such as TRACE, INFO, ERROR, FATAL, there must be agreement between the developers as to which levels are used in which case. </a:t>
            </a:r>
            <a:endParaRPr lang="en-ZA" sz="2000" dirty="0"/>
          </a:p>
        </p:txBody>
      </p:sp>
      <p:pic>
        <p:nvPicPr>
          <p:cNvPr id="5" name="Picture 4">
            <a:extLst>
              <a:ext uri="{FF2B5EF4-FFF2-40B4-BE49-F238E27FC236}">
                <a16:creationId xmlns:a16="http://schemas.microsoft.com/office/drawing/2014/main" id="{7B0A9E11-A963-B349-AB2D-C5470D01D638}"/>
              </a:ext>
            </a:extLst>
          </p:cNvPr>
          <p:cNvPicPr>
            <a:picLocks noChangeAspect="1"/>
          </p:cNvPicPr>
          <p:nvPr/>
        </p:nvPicPr>
        <p:blipFill>
          <a:blip r:embed="rId5"/>
          <a:stretch>
            <a:fillRect/>
          </a:stretch>
        </p:blipFill>
        <p:spPr>
          <a:xfrm>
            <a:off x="4097940" y="875224"/>
            <a:ext cx="3644964" cy="2109539"/>
          </a:xfrm>
          <a:prstGeom prst="rect">
            <a:avLst/>
          </a:prstGeom>
        </p:spPr>
      </p:pic>
    </p:spTree>
    <p:extLst>
      <p:ext uri="{BB962C8B-B14F-4D97-AF65-F5344CB8AC3E}">
        <p14:creationId xmlns:p14="http://schemas.microsoft.com/office/powerpoint/2010/main" val="10456835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845798"/>
            <a:ext cx="12192000" cy="4012202"/>
          </a:xfrm>
          <a:solidFill>
            <a:schemeClr val="bg1"/>
          </a:solidFill>
        </p:spPr>
        <p:txBody>
          <a:bodyPr>
            <a:normAutofit/>
          </a:bodyPr>
          <a:lstStyle/>
          <a:p>
            <a:pPr marL="514350" indent="-514350">
              <a:buFont typeface="+mj-lt"/>
              <a:buAutoNum type="arabicPeriod" startAt="2"/>
            </a:pPr>
            <a:r>
              <a:rPr lang="en-ZA" sz="3200" b="1" dirty="0"/>
              <a:t>Logging</a:t>
            </a:r>
            <a:endParaRPr lang="en-ZA" sz="2400" dirty="0"/>
          </a:p>
          <a:p>
            <a:pPr lvl="2" algn="just">
              <a:buFont typeface="Wingdings" pitchFamily="2" charset="2"/>
              <a:buChar char="Ø"/>
            </a:pPr>
            <a:r>
              <a:rPr lang="en-ZA" sz="2100" dirty="0"/>
              <a:t>Which of these levels are actually written to the logging system must be adjusted at runtime, because logging is the most costly of the observability methods, both in terms of network communication and storage space, since it generally requires more data to be written than other methods. </a:t>
            </a:r>
          </a:p>
          <a:p>
            <a:pPr lvl="2" algn="just">
              <a:buFont typeface="Wingdings" pitchFamily="2" charset="2"/>
              <a:buChar char="Ø"/>
            </a:pPr>
            <a:r>
              <a:rPr lang="en-ZA" sz="2100" dirty="0"/>
              <a:t>One logging practice that is good practice for monolithic applications, but has become essential for distributed applications, is to use a structured data model such as JSON from the very beginning. </a:t>
            </a:r>
          </a:p>
          <a:p>
            <a:pPr lvl="2" algn="just">
              <a:buFont typeface="Wingdings" pitchFamily="2" charset="2"/>
              <a:buChar char="Ø"/>
            </a:pPr>
            <a:r>
              <a:rPr lang="en-ZA" sz="2100" dirty="0"/>
              <a:t>Using a plain text format and trying to parse that format by regular expressions is a fragile process and must be avoided. </a:t>
            </a:r>
          </a:p>
          <a:p>
            <a:pPr lvl="2" algn="just">
              <a:buFont typeface="Wingdings" pitchFamily="2" charset="2"/>
              <a:buChar char="Ø"/>
            </a:pPr>
            <a:r>
              <a:rPr lang="en-ZA" sz="2100" dirty="0"/>
              <a:t>This data model must be accepted and standardized by all teams developing different services so that the log records written by different services can be examined together. </a:t>
            </a:r>
            <a:endParaRPr lang="en-ZA" sz="2400" dirty="0"/>
          </a:p>
        </p:txBody>
      </p:sp>
      <p:pic>
        <p:nvPicPr>
          <p:cNvPr id="5" name="Picture 4">
            <a:extLst>
              <a:ext uri="{FF2B5EF4-FFF2-40B4-BE49-F238E27FC236}">
                <a16:creationId xmlns:a16="http://schemas.microsoft.com/office/drawing/2014/main" id="{7B0A9E11-A963-B349-AB2D-C5470D01D638}"/>
              </a:ext>
            </a:extLst>
          </p:cNvPr>
          <p:cNvPicPr>
            <a:picLocks noChangeAspect="1"/>
          </p:cNvPicPr>
          <p:nvPr/>
        </p:nvPicPr>
        <p:blipFill>
          <a:blip r:embed="rId2"/>
          <a:stretch>
            <a:fillRect/>
          </a:stretch>
        </p:blipFill>
        <p:spPr>
          <a:xfrm>
            <a:off x="3978991" y="864832"/>
            <a:ext cx="3848283" cy="2227211"/>
          </a:xfrm>
          <a:prstGeom prst="rect">
            <a:avLst/>
          </a:prstGeom>
        </p:spPr>
      </p:pic>
    </p:spTree>
    <p:extLst>
      <p:ext uri="{BB962C8B-B14F-4D97-AF65-F5344CB8AC3E}">
        <p14:creationId xmlns:p14="http://schemas.microsoft.com/office/powerpoint/2010/main" val="36236044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845798"/>
            <a:ext cx="12192000" cy="4012202"/>
          </a:xfrm>
          <a:solidFill>
            <a:schemeClr val="bg1"/>
          </a:solidFill>
        </p:spPr>
        <p:txBody>
          <a:bodyPr>
            <a:normAutofit lnSpcReduction="10000"/>
          </a:bodyPr>
          <a:lstStyle/>
          <a:p>
            <a:pPr marL="514350" indent="-514350">
              <a:buFont typeface="+mj-lt"/>
              <a:buAutoNum type="arabicPeriod" startAt="3"/>
            </a:pPr>
            <a:r>
              <a:rPr lang="en-ZA" sz="3200" b="1" dirty="0"/>
              <a:t>Metrics Collection</a:t>
            </a:r>
            <a:endParaRPr lang="en-ZA" sz="2400" dirty="0"/>
          </a:p>
          <a:p>
            <a:pPr lvl="2" algn="just">
              <a:buFont typeface="Wingdings" pitchFamily="2" charset="2"/>
              <a:buChar char="Ø"/>
            </a:pPr>
            <a:r>
              <a:rPr lang="en-ZA" sz="2100" dirty="0"/>
              <a:t>It was mentioned that metrics are measurable numerical values and that they can indicate what the system looks like at that moment. </a:t>
            </a:r>
          </a:p>
          <a:p>
            <a:pPr lvl="2" algn="just">
              <a:buFont typeface="Wingdings" pitchFamily="2" charset="2"/>
              <a:buChar char="Ø"/>
            </a:pPr>
            <a:r>
              <a:rPr lang="en-ZA" sz="2100" dirty="0"/>
              <a:t>Also, if this data is kept in the form of a time series, it can give an idea of what the system will look like in the future.</a:t>
            </a:r>
          </a:p>
          <a:p>
            <a:pPr lvl="2" algn="just">
              <a:buFont typeface="Wingdings" pitchFamily="2" charset="2"/>
              <a:buChar char="Ø"/>
            </a:pPr>
            <a:r>
              <a:rPr lang="en-ZA" sz="2100" dirty="0">
                <a:hlinkClick r:id="rId2"/>
              </a:rPr>
              <a:t>Prometheus</a:t>
            </a:r>
            <a:r>
              <a:rPr lang="en-ZA" sz="2100" dirty="0"/>
              <a:t>, which is the second project to reach graduate status in the CNCF landscape has been widely accepted by industry in this regard. </a:t>
            </a:r>
          </a:p>
          <a:p>
            <a:pPr lvl="2" algn="just">
              <a:buFont typeface="Wingdings" pitchFamily="2" charset="2"/>
              <a:buChar char="Ø"/>
            </a:pPr>
            <a:r>
              <a:rPr lang="en-ZA" sz="2100" dirty="0"/>
              <a:t>Prometheus is a product that can be configured to consume a RESTful service that publishes metrics at specified intervals according to specified standards and can store these metrics as a time series. </a:t>
            </a:r>
          </a:p>
          <a:p>
            <a:pPr lvl="2" algn="just">
              <a:buFont typeface="Wingdings" pitchFamily="2" charset="2"/>
              <a:buChar char="Ø"/>
            </a:pPr>
            <a:r>
              <a:rPr lang="en-ZA" sz="2100" dirty="0"/>
              <a:t>The Prometheus project also includes pre-built metrics for many programming languages and libraries that provide the ability to open a RESTful service to publish metrics. </a:t>
            </a:r>
          </a:p>
          <a:p>
            <a:pPr lvl="2">
              <a:buFont typeface="Wingdings" pitchFamily="2" charset="2"/>
              <a:buChar char="Ø"/>
            </a:pPr>
            <a:endParaRPr lang="en-ZA" sz="2100" dirty="0"/>
          </a:p>
          <a:p>
            <a:pPr lvl="2" algn="just">
              <a:buFont typeface="Wingdings" pitchFamily="2" charset="2"/>
              <a:buChar char="Ø"/>
            </a:pPr>
            <a:endParaRPr lang="en-ZA" sz="2400" dirty="0"/>
          </a:p>
        </p:txBody>
      </p:sp>
      <p:pic>
        <p:nvPicPr>
          <p:cNvPr id="6" name="Picture 5">
            <a:extLst>
              <a:ext uri="{FF2B5EF4-FFF2-40B4-BE49-F238E27FC236}">
                <a16:creationId xmlns:a16="http://schemas.microsoft.com/office/drawing/2014/main" id="{7648AA56-7BAF-9C4F-82CA-D2716E806837}"/>
              </a:ext>
            </a:extLst>
          </p:cNvPr>
          <p:cNvPicPr>
            <a:picLocks noChangeAspect="1"/>
          </p:cNvPicPr>
          <p:nvPr/>
        </p:nvPicPr>
        <p:blipFill>
          <a:blip r:embed="rId3"/>
          <a:stretch>
            <a:fillRect/>
          </a:stretch>
        </p:blipFill>
        <p:spPr>
          <a:xfrm>
            <a:off x="4410383" y="877298"/>
            <a:ext cx="4610100" cy="1968500"/>
          </a:xfrm>
          <a:prstGeom prst="rect">
            <a:avLst/>
          </a:prstGeom>
        </p:spPr>
      </p:pic>
    </p:spTree>
    <p:extLst>
      <p:ext uri="{BB962C8B-B14F-4D97-AF65-F5344CB8AC3E}">
        <p14:creationId xmlns:p14="http://schemas.microsoft.com/office/powerpoint/2010/main" val="8520835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448232"/>
            <a:ext cx="12192000" cy="4409768"/>
          </a:xfrm>
          <a:solidFill>
            <a:schemeClr val="bg1"/>
          </a:solidFill>
        </p:spPr>
        <p:txBody>
          <a:bodyPr>
            <a:normAutofit lnSpcReduction="10000"/>
          </a:bodyPr>
          <a:lstStyle/>
          <a:p>
            <a:pPr marL="514350" indent="-514350">
              <a:buFont typeface="+mj-lt"/>
              <a:buAutoNum type="arabicPeriod" startAt="3"/>
            </a:pPr>
            <a:r>
              <a:rPr lang="en-ZA" sz="3200" b="1" dirty="0"/>
              <a:t>Metrics Collection</a:t>
            </a:r>
            <a:endParaRPr lang="en-ZA" sz="2400" dirty="0"/>
          </a:p>
          <a:p>
            <a:pPr lvl="2" algn="just">
              <a:buFont typeface="Wingdings" pitchFamily="2" charset="2"/>
              <a:buChar char="Ø"/>
            </a:pPr>
            <a:r>
              <a:rPr lang="en-ZA" sz="2100" dirty="0"/>
              <a:t>Work continues to establish </a:t>
            </a:r>
            <a:r>
              <a:rPr lang="en-ZA" sz="2100" dirty="0">
                <a:hlinkClick r:id="rId2"/>
              </a:rPr>
              <a:t>Prometheus’ metrics publishing format </a:t>
            </a:r>
            <a:r>
              <a:rPr lang="en-ZA" sz="2100" dirty="0"/>
              <a:t>as an industry standard under the </a:t>
            </a:r>
            <a:r>
              <a:rPr lang="en-ZA" sz="2100" dirty="0">
                <a:hlinkClick r:id="rId3"/>
              </a:rPr>
              <a:t>Open Metrics </a:t>
            </a:r>
            <a:r>
              <a:rPr lang="en-ZA" sz="2100" dirty="0"/>
              <a:t>project by the CNCF. </a:t>
            </a:r>
          </a:p>
          <a:p>
            <a:pPr lvl="2">
              <a:buFont typeface="Wingdings" pitchFamily="2" charset="2"/>
              <a:buChar char="Ø"/>
            </a:pPr>
            <a:r>
              <a:rPr lang="en-ZA" sz="2100" dirty="0"/>
              <a:t>Metrics data (even the integer values such as the number of visits) are always stored as floating-point decimal numbers and are basically divided into two categories—counter and gauge </a:t>
            </a:r>
          </a:p>
          <a:p>
            <a:pPr marL="1337310" lvl="3" indent="-514350">
              <a:buFont typeface="+mj-lt"/>
              <a:buAutoNum type="arabicPeriod"/>
            </a:pPr>
            <a:r>
              <a:rPr lang="en-ZA" sz="1900" b="1" dirty="0"/>
              <a:t>Counter </a:t>
            </a:r>
          </a:p>
          <a:p>
            <a:pPr marL="1611630" lvl="4" indent="-514350">
              <a:buFont typeface="+mj-lt"/>
              <a:buAutoNum type="alphaLcPeriod"/>
            </a:pPr>
            <a:r>
              <a:rPr lang="en-ZA" sz="1900" dirty="0"/>
              <a:t>The counter type stores data that is used to hold continuously increasing values. </a:t>
            </a:r>
          </a:p>
          <a:p>
            <a:pPr marL="1611630" lvl="4" indent="-514350">
              <a:buFont typeface="+mj-lt"/>
              <a:buAutoNum type="alphaLcPeriod"/>
            </a:pPr>
            <a:r>
              <a:rPr lang="en-ZA" sz="1900" dirty="0"/>
              <a:t>This data type can be compared to the odometer in cars. </a:t>
            </a:r>
          </a:p>
          <a:p>
            <a:pPr marL="1611630" lvl="4" indent="-514350">
              <a:buFont typeface="+mj-lt"/>
              <a:buAutoNum type="alphaLcPeriod"/>
            </a:pPr>
            <a:r>
              <a:rPr lang="en-ZA" sz="1900" dirty="0"/>
              <a:t>For example, storing constantly increasing values such as the number of requests to the service or the number of errors encountered in the application as counter type data. </a:t>
            </a:r>
          </a:p>
          <a:p>
            <a:pPr marL="1611630" lvl="4" indent="-514350">
              <a:buFont typeface="+mj-lt"/>
              <a:buAutoNum type="alphaLcPeriod"/>
            </a:pPr>
            <a:r>
              <a:rPr lang="en-ZA" sz="1900" dirty="0"/>
              <a:t>In addition, business-oriented metrics such as the number of viewers and the number of buyers of a product can also be stored in the counter type and used to support business decisions. </a:t>
            </a:r>
            <a:endParaRPr lang="en-ZA" sz="3500" dirty="0"/>
          </a:p>
        </p:txBody>
      </p:sp>
      <p:pic>
        <p:nvPicPr>
          <p:cNvPr id="6" name="Picture 5">
            <a:extLst>
              <a:ext uri="{FF2B5EF4-FFF2-40B4-BE49-F238E27FC236}">
                <a16:creationId xmlns:a16="http://schemas.microsoft.com/office/drawing/2014/main" id="{7648AA56-7BAF-9C4F-82CA-D2716E806837}"/>
              </a:ext>
            </a:extLst>
          </p:cNvPr>
          <p:cNvPicPr>
            <a:picLocks noChangeAspect="1"/>
          </p:cNvPicPr>
          <p:nvPr/>
        </p:nvPicPr>
        <p:blipFill>
          <a:blip r:embed="rId4"/>
          <a:stretch>
            <a:fillRect/>
          </a:stretch>
        </p:blipFill>
        <p:spPr>
          <a:xfrm>
            <a:off x="4410383" y="877298"/>
            <a:ext cx="4261669" cy="1819721"/>
          </a:xfrm>
          <a:prstGeom prst="rect">
            <a:avLst/>
          </a:prstGeom>
        </p:spPr>
      </p:pic>
    </p:spTree>
    <p:extLst>
      <p:ext uri="{BB962C8B-B14F-4D97-AF65-F5344CB8AC3E}">
        <p14:creationId xmlns:p14="http://schemas.microsoft.com/office/powerpoint/2010/main" val="38807588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168014"/>
            <a:ext cx="12192000" cy="4689986"/>
          </a:xfrm>
          <a:solidFill>
            <a:schemeClr val="bg1"/>
          </a:solidFill>
        </p:spPr>
        <p:txBody>
          <a:bodyPr>
            <a:normAutofit fontScale="92500" lnSpcReduction="10000"/>
          </a:bodyPr>
          <a:lstStyle/>
          <a:p>
            <a:pPr marL="514350" indent="-514350">
              <a:buFont typeface="+mj-lt"/>
              <a:buAutoNum type="arabicPeriod" startAt="3"/>
            </a:pPr>
            <a:r>
              <a:rPr lang="en-ZA" sz="3200" b="1" dirty="0"/>
              <a:t>Metrics Collection</a:t>
            </a:r>
            <a:endParaRPr lang="en-ZA" sz="2400" dirty="0"/>
          </a:p>
          <a:p>
            <a:pPr lvl="2">
              <a:buFont typeface="Wingdings" pitchFamily="2" charset="2"/>
              <a:buChar char="Ø"/>
            </a:pPr>
            <a:r>
              <a:rPr lang="en-ZA" sz="2200" dirty="0"/>
              <a:t>Metrics data (even the integer values such as the number of visits) are always stored as floating-point decimal numbers and are basically divided into two categories—counter and gauge </a:t>
            </a:r>
          </a:p>
          <a:p>
            <a:pPr marL="1337310" lvl="3" indent="-514350">
              <a:buFont typeface="+mj-lt"/>
              <a:buAutoNum type="arabicPeriod" startAt="2"/>
            </a:pPr>
            <a:r>
              <a:rPr lang="en-ZA" sz="2200" b="1" dirty="0"/>
              <a:t>Gauge </a:t>
            </a:r>
          </a:p>
          <a:p>
            <a:pPr marL="1611630" lvl="4" indent="-514350">
              <a:buFont typeface="+mj-lt"/>
              <a:buAutoNum type="alphaLcPeriod"/>
            </a:pPr>
            <a:r>
              <a:rPr lang="en-ZA" sz="2200" dirty="0"/>
              <a:t>The gauge type is used for values that can move back and forth within two specified reference ranges. </a:t>
            </a:r>
          </a:p>
          <a:p>
            <a:pPr marL="1611630" lvl="4" indent="-514350">
              <a:buFont typeface="+mj-lt"/>
              <a:buAutoNum type="alphaLcPeriod"/>
            </a:pPr>
            <a:r>
              <a:rPr lang="en-ZA" sz="2200" dirty="0"/>
              <a:t>This data type can be compared to the data of a speedometer in cars. </a:t>
            </a:r>
          </a:p>
          <a:p>
            <a:pPr marL="1611630" lvl="4" indent="-514350">
              <a:buFont typeface="+mj-lt"/>
              <a:buAutoNum type="alphaLcPeriod"/>
            </a:pPr>
            <a:r>
              <a:rPr lang="en-ZA" sz="2200" dirty="0"/>
              <a:t>You can store values such as instantaneous CPU and memory usage, error/request rate in the gauge type. </a:t>
            </a:r>
          </a:p>
          <a:p>
            <a:pPr marL="1611630" lvl="4" indent="-514350">
              <a:buFont typeface="+mj-lt"/>
              <a:buAutoNum type="alphaLcPeriod"/>
            </a:pPr>
            <a:r>
              <a:rPr lang="en-ZA" sz="2200" dirty="0"/>
              <a:t>Moreover, business-oriented metrics such as the purchase rate of goods added to a cart are often suitable for gauges. </a:t>
            </a:r>
          </a:p>
          <a:p>
            <a:pPr marL="1611630" lvl="4" indent="-514350">
              <a:buFont typeface="+mj-lt"/>
              <a:buAutoNum type="alphaLcPeriod"/>
            </a:pPr>
            <a:r>
              <a:rPr lang="en-ZA" sz="2200" dirty="0"/>
              <a:t>As with all monitoring methods, there are myriad options for metrics that can be pursued. </a:t>
            </a:r>
          </a:p>
          <a:p>
            <a:pPr marL="1611630" lvl="4" indent="-514350">
              <a:buFont typeface="+mj-lt"/>
              <a:buAutoNum type="alphaLcPeriod"/>
            </a:pPr>
            <a:r>
              <a:rPr lang="en-ZA" sz="2200" dirty="0"/>
              <a:t>Trying to keep track of all metrics may lead to overlooking the metrics that really matter. </a:t>
            </a:r>
          </a:p>
          <a:p>
            <a:pPr marL="1611630" lvl="4" indent="-514350">
              <a:buFont typeface="+mj-lt"/>
              <a:buAutoNum type="alphaLcPeriod"/>
            </a:pPr>
            <a:r>
              <a:rPr lang="en-ZA" sz="2200" dirty="0"/>
              <a:t>Therefore, it would be a better approach to start with a limited set and add metrics that will be useful over time. </a:t>
            </a:r>
          </a:p>
        </p:txBody>
      </p:sp>
      <p:pic>
        <p:nvPicPr>
          <p:cNvPr id="6" name="Picture 5">
            <a:extLst>
              <a:ext uri="{FF2B5EF4-FFF2-40B4-BE49-F238E27FC236}">
                <a16:creationId xmlns:a16="http://schemas.microsoft.com/office/drawing/2014/main" id="{7648AA56-7BAF-9C4F-82CA-D2716E806837}"/>
              </a:ext>
            </a:extLst>
          </p:cNvPr>
          <p:cNvPicPr>
            <a:picLocks noChangeAspect="1"/>
          </p:cNvPicPr>
          <p:nvPr/>
        </p:nvPicPr>
        <p:blipFill>
          <a:blip r:embed="rId2"/>
          <a:stretch>
            <a:fillRect/>
          </a:stretch>
        </p:blipFill>
        <p:spPr>
          <a:xfrm>
            <a:off x="4646357" y="906796"/>
            <a:ext cx="3804469" cy="1624498"/>
          </a:xfrm>
          <a:prstGeom prst="rect">
            <a:avLst/>
          </a:prstGeom>
        </p:spPr>
      </p:pic>
    </p:spTree>
    <p:extLst>
      <p:ext uri="{BB962C8B-B14F-4D97-AF65-F5344CB8AC3E}">
        <p14:creationId xmlns:p14="http://schemas.microsoft.com/office/powerpoint/2010/main" val="4935991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861187"/>
            <a:ext cx="12192000" cy="3996813"/>
          </a:xfrm>
          <a:solidFill>
            <a:schemeClr val="bg1"/>
          </a:solidFill>
        </p:spPr>
        <p:txBody>
          <a:bodyPr>
            <a:normAutofit fontScale="92500"/>
          </a:bodyPr>
          <a:lstStyle/>
          <a:p>
            <a:pPr marL="514350" indent="-514350">
              <a:buFont typeface="+mj-lt"/>
              <a:buAutoNum type="alphaLcPeriod"/>
            </a:pPr>
            <a:r>
              <a:rPr lang="en-ZA" sz="3200" b="1" dirty="0"/>
              <a:t>The Application Metrics</a:t>
            </a:r>
            <a:endParaRPr lang="en-ZA" sz="2400" dirty="0"/>
          </a:p>
          <a:p>
            <a:pPr lvl="2">
              <a:buFont typeface="Wingdings" pitchFamily="2" charset="2"/>
              <a:buChar char="Ø"/>
            </a:pPr>
            <a:r>
              <a:rPr lang="en-ZA" sz="2200" dirty="0"/>
              <a:t>The simplest to implement and easiest to understand approach for applications is the RED pattern proposed by Google. </a:t>
            </a:r>
          </a:p>
          <a:p>
            <a:pPr marL="1005840" lvl="2" indent="-457200">
              <a:buFont typeface="+mj-lt"/>
              <a:buAutoNum type="arabicPeriod"/>
            </a:pPr>
            <a:r>
              <a:rPr lang="en-ZA" sz="2200" b="1" dirty="0">
                <a:solidFill>
                  <a:srgbClr val="FF0000"/>
                </a:solidFill>
              </a:rPr>
              <a:t>RED Pattern </a:t>
            </a:r>
          </a:p>
          <a:p>
            <a:pPr lvl="3">
              <a:buFont typeface="Wingdings" pitchFamily="2" charset="2"/>
              <a:buChar char="Ø"/>
            </a:pPr>
            <a:r>
              <a:rPr lang="en-ZA" sz="2200" dirty="0"/>
              <a:t>This pattern, which is recommended for web-based services, is produced from the first letters of Request, Errors, and Duration. </a:t>
            </a:r>
          </a:p>
          <a:p>
            <a:pPr lvl="3">
              <a:buFont typeface="Wingdings" pitchFamily="2" charset="2"/>
              <a:buChar char="Ø"/>
            </a:pPr>
            <a:r>
              <a:rPr lang="en-ZA" sz="2200" dirty="0"/>
              <a:t>According to its creators, it suffices to track the number of requests for each service, the number of errors received among these requests and the time to respond to these requests. </a:t>
            </a:r>
          </a:p>
          <a:p>
            <a:pPr lvl="3">
              <a:buFont typeface="Wingdings" pitchFamily="2" charset="2"/>
              <a:buChar char="Ø"/>
            </a:pPr>
            <a:r>
              <a:rPr lang="en-ZA" sz="2200" dirty="0"/>
              <a:t>This approach was especially adopted by the </a:t>
            </a:r>
            <a:r>
              <a:rPr lang="en-ZA" sz="2200" dirty="0">
                <a:hlinkClick r:id="rId2"/>
              </a:rPr>
              <a:t>Google Site Reliability Engineering </a:t>
            </a:r>
            <a:r>
              <a:rPr lang="en-ZA" sz="2200" dirty="0"/>
              <a:t>(SRE) teams, and they defended the fact that all services are tracked with the same metrics, claiming that it makes the job much easier for the first responder teams that follow the services. </a:t>
            </a:r>
          </a:p>
          <a:p>
            <a:pPr lvl="3">
              <a:buFont typeface="Wingdings" pitchFamily="2" charset="2"/>
              <a:buChar char="Ø"/>
            </a:pPr>
            <a:r>
              <a:rPr lang="en-ZA" sz="2200" dirty="0"/>
              <a:t>Container Solutions’ </a:t>
            </a:r>
            <a:r>
              <a:rPr lang="en-ZA" sz="2200" dirty="0">
                <a:hlinkClick r:id="rId3"/>
              </a:rPr>
              <a:t>Cloud Native Operations </a:t>
            </a:r>
            <a:r>
              <a:rPr lang="en-ZA" sz="2200" dirty="0"/>
              <a:t>service is modelled after the same approach. </a:t>
            </a:r>
          </a:p>
        </p:txBody>
      </p:sp>
      <p:pic>
        <p:nvPicPr>
          <p:cNvPr id="4" name="Picture 3">
            <a:extLst>
              <a:ext uri="{FF2B5EF4-FFF2-40B4-BE49-F238E27FC236}">
                <a16:creationId xmlns:a16="http://schemas.microsoft.com/office/drawing/2014/main" id="{BE6BA0DD-D6F5-F545-B3BD-A0D1BB8FCDE0}"/>
              </a:ext>
            </a:extLst>
          </p:cNvPr>
          <p:cNvPicPr>
            <a:picLocks noChangeAspect="1"/>
          </p:cNvPicPr>
          <p:nvPr/>
        </p:nvPicPr>
        <p:blipFill>
          <a:blip r:embed="rId4"/>
          <a:stretch>
            <a:fillRect/>
          </a:stretch>
        </p:blipFill>
        <p:spPr>
          <a:xfrm>
            <a:off x="5313312" y="1015795"/>
            <a:ext cx="4210050" cy="2228850"/>
          </a:xfrm>
          <a:prstGeom prst="rect">
            <a:avLst/>
          </a:prstGeom>
        </p:spPr>
      </p:pic>
    </p:spTree>
    <p:extLst>
      <p:ext uri="{BB962C8B-B14F-4D97-AF65-F5344CB8AC3E}">
        <p14:creationId xmlns:p14="http://schemas.microsoft.com/office/powerpoint/2010/main" val="115797596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993923"/>
            <a:ext cx="12192000" cy="3864075"/>
          </a:xfrm>
          <a:solidFill>
            <a:schemeClr val="bg1"/>
          </a:solidFill>
        </p:spPr>
        <p:txBody>
          <a:bodyPr>
            <a:normAutofit/>
          </a:bodyPr>
          <a:lstStyle/>
          <a:p>
            <a:pPr marL="514350" indent="-514350">
              <a:buFont typeface="+mj-lt"/>
              <a:buAutoNum type="alphaLcPeriod" startAt="2"/>
            </a:pPr>
            <a:r>
              <a:rPr lang="en-ZA" sz="3200" b="1" dirty="0"/>
              <a:t>Business Metrics</a:t>
            </a:r>
            <a:endParaRPr lang="en-ZA" sz="2400" dirty="0"/>
          </a:p>
          <a:p>
            <a:pPr lvl="2">
              <a:buFont typeface="Wingdings" pitchFamily="2" charset="2"/>
              <a:buChar char="Ø"/>
            </a:pPr>
            <a:r>
              <a:rPr lang="en-ZA" sz="2800" dirty="0"/>
              <a:t>There are a great deal of metrics that businesses can follow to make business sense (such as the rate of conversion of home page visits to sales). </a:t>
            </a:r>
          </a:p>
          <a:p>
            <a:pPr lvl="2">
              <a:buFont typeface="Wingdings" pitchFamily="2" charset="2"/>
              <a:buChar char="Ø"/>
            </a:pPr>
            <a:r>
              <a:rPr lang="en-ZA" sz="2800" dirty="0"/>
              <a:t>Likewise, the number of views of the help pages, which may be meaningful for the team that develops and works for the health of the system, or increasing visits to your service status page (e.g. </a:t>
            </a:r>
            <a:r>
              <a:rPr lang="en-ZA" sz="2800" dirty="0">
                <a:hlinkClick r:id="rId2"/>
              </a:rPr>
              <a:t>https://status.azure.com/en-us/status</a:t>
            </a:r>
            <a:r>
              <a:rPr lang="en-ZA" sz="2800" dirty="0"/>
              <a:t>) may mean something is wrong with the system. </a:t>
            </a:r>
          </a:p>
          <a:p>
            <a:pPr lvl="2">
              <a:buFont typeface="Wingdings" pitchFamily="2" charset="2"/>
              <a:buChar char="Ø"/>
            </a:pPr>
            <a:endParaRPr lang="en-ZA" sz="2200" dirty="0"/>
          </a:p>
        </p:txBody>
      </p:sp>
      <p:pic>
        <p:nvPicPr>
          <p:cNvPr id="5" name="Picture 4">
            <a:extLst>
              <a:ext uri="{FF2B5EF4-FFF2-40B4-BE49-F238E27FC236}">
                <a16:creationId xmlns:a16="http://schemas.microsoft.com/office/drawing/2014/main" id="{E3A523B0-BF7D-7F4D-A2D5-3B2447EE4A1D}"/>
              </a:ext>
            </a:extLst>
          </p:cNvPr>
          <p:cNvPicPr>
            <a:picLocks noChangeAspect="1"/>
          </p:cNvPicPr>
          <p:nvPr/>
        </p:nvPicPr>
        <p:blipFill>
          <a:blip r:embed="rId3"/>
          <a:stretch>
            <a:fillRect/>
          </a:stretch>
        </p:blipFill>
        <p:spPr>
          <a:xfrm>
            <a:off x="4731364" y="845370"/>
            <a:ext cx="4852855" cy="2340282"/>
          </a:xfrm>
          <a:prstGeom prst="rect">
            <a:avLst/>
          </a:prstGeom>
        </p:spPr>
      </p:pic>
    </p:spTree>
    <p:extLst>
      <p:ext uri="{BB962C8B-B14F-4D97-AF65-F5344CB8AC3E}">
        <p14:creationId xmlns:p14="http://schemas.microsoft.com/office/powerpoint/2010/main" val="42310790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551471"/>
            <a:ext cx="12192000" cy="4306528"/>
          </a:xfrm>
          <a:solidFill>
            <a:schemeClr val="bg1"/>
          </a:solidFill>
        </p:spPr>
        <p:txBody>
          <a:bodyPr>
            <a:normAutofit fontScale="92500" lnSpcReduction="20000"/>
          </a:bodyPr>
          <a:lstStyle/>
          <a:p>
            <a:pPr marL="514350" indent="-514350">
              <a:buFont typeface="+mj-lt"/>
              <a:buAutoNum type="alphaLcPeriod" startAt="3"/>
            </a:pPr>
            <a:r>
              <a:rPr lang="en-ZA" sz="3200" b="1" dirty="0"/>
              <a:t>Kubernetes Metrics</a:t>
            </a:r>
          </a:p>
          <a:p>
            <a:pPr lvl="1">
              <a:buFont typeface="Wingdings" pitchFamily="2" charset="2"/>
              <a:buChar char="Ø"/>
            </a:pPr>
            <a:r>
              <a:rPr lang="en-ZA" sz="2400" dirty="0"/>
              <a:t>Kubernetes provides tools that allow for the collection of metrics about the platform. </a:t>
            </a:r>
          </a:p>
          <a:p>
            <a:pPr lvl="1">
              <a:buFont typeface="Wingdings" pitchFamily="2" charset="2"/>
              <a:buChar char="Ø"/>
            </a:pPr>
            <a:r>
              <a:rPr lang="en-ZA" sz="2400" dirty="0"/>
              <a:t>At the most basic level, </a:t>
            </a:r>
            <a:r>
              <a:rPr lang="en-ZA" sz="2400" dirty="0">
                <a:hlinkClick r:id="rId2"/>
              </a:rPr>
              <a:t>Container Advisor</a:t>
            </a:r>
            <a:r>
              <a:rPr lang="en-ZA" sz="2400" dirty="0"/>
              <a:t>, a tool developed by Google, collects resource utilization and performance metrics for containers. </a:t>
            </a:r>
          </a:p>
          <a:p>
            <a:pPr lvl="1">
              <a:buFont typeface="Wingdings" pitchFamily="2" charset="2"/>
              <a:buChar char="Ø"/>
            </a:pPr>
            <a:r>
              <a:rPr lang="en-ZA" sz="2400" dirty="0"/>
              <a:t>Based on the metrics generated by this tool, Kubernetes decides on which node to run a new pod on, or whether to expand horizontally. </a:t>
            </a:r>
            <a:endParaRPr lang="en-ZA" sz="3200" dirty="0"/>
          </a:p>
          <a:p>
            <a:pPr lvl="1">
              <a:buFont typeface="Wingdings" pitchFamily="2" charset="2"/>
              <a:buChar char="Ø"/>
            </a:pPr>
            <a:r>
              <a:rPr lang="en-ZA" sz="2400" dirty="0"/>
              <a:t>In addition </a:t>
            </a:r>
            <a:r>
              <a:rPr lang="en-ZA" sz="2400" dirty="0">
                <a:hlinkClick r:id="rId3"/>
              </a:rPr>
              <a:t>kube-state-metrics</a:t>
            </a:r>
            <a:r>
              <a:rPr lang="en-ZA" sz="2400" dirty="0"/>
              <a:t> can collect metrics on all Kubernetes objects (nodes, pods, deployments, etc.) created by the Kubernetes API and make them available in a format that can be consumed by Prometheus via the /metrics endpoint on port 8080. </a:t>
            </a:r>
          </a:p>
          <a:p>
            <a:pPr lvl="1">
              <a:buFont typeface="Wingdings" pitchFamily="2" charset="2"/>
              <a:buChar char="Ø"/>
            </a:pPr>
            <a:r>
              <a:rPr lang="en-ZA" sz="2400" dirty="0"/>
              <a:t>As you can imagine, hundreds of metrics are published through this interface, and the number of metrics is increasing daily as the project progresses. </a:t>
            </a:r>
          </a:p>
          <a:p>
            <a:pPr lvl="1">
              <a:buFont typeface="Wingdings" pitchFamily="2" charset="2"/>
              <a:buChar char="Ø"/>
            </a:pPr>
            <a:r>
              <a:rPr lang="en-ZA" sz="2400" dirty="0"/>
              <a:t>For up-to-date information on metrics, see the </a:t>
            </a:r>
            <a:r>
              <a:rPr lang="en-ZA" sz="2400" dirty="0">
                <a:hlinkClick r:id="rId4"/>
              </a:rPr>
              <a:t>project documentation </a:t>
            </a:r>
            <a:r>
              <a:rPr lang="en-ZA" sz="2400" dirty="0"/>
              <a:t>. </a:t>
            </a:r>
          </a:p>
          <a:p>
            <a:pPr lvl="1">
              <a:buFont typeface="Wingdings" pitchFamily="2" charset="2"/>
              <a:buChar char="Ø"/>
            </a:pPr>
            <a:r>
              <a:rPr lang="en-ZA" sz="2400" dirty="0"/>
              <a:t>Again, it would make sense to start with a set that can provide the most benefit in the short term, and expand the scope of tracking over time. Below </a:t>
            </a:r>
            <a:r>
              <a:rPr lang="en-ZA" sz="2400" dirty="0" err="1"/>
              <a:t>isa</a:t>
            </a:r>
            <a:r>
              <a:rPr lang="en-ZA" sz="2400" dirty="0"/>
              <a:t> good starting set of metrics on different aspects of Kubernetes. </a:t>
            </a:r>
          </a:p>
          <a:p>
            <a:pPr lvl="1">
              <a:buFont typeface="Wingdings" pitchFamily="2" charset="2"/>
              <a:buChar char="Ø"/>
            </a:pPr>
            <a:endParaRPr lang="en-ZA" sz="2200" dirty="0"/>
          </a:p>
        </p:txBody>
      </p:sp>
      <p:pic>
        <p:nvPicPr>
          <p:cNvPr id="4" name="Picture 3">
            <a:extLst>
              <a:ext uri="{FF2B5EF4-FFF2-40B4-BE49-F238E27FC236}">
                <a16:creationId xmlns:a16="http://schemas.microsoft.com/office/drawing/2014/main" id="{704B832B-263B-C949-B148-79A88E9405C0}"/>
              </a:ext>
            </a:extLst>
          </p:cNvPr>
          <p:cNvPicPr>
            <a:picLocks noChangeAspect="1"/>
          </p:cNvPicPr>
          <p:nvPr/>
        </p:nvPicPr>
        <p:blipFill>
          <a:blip r:embed="rId5"/>
          <a:stretch>
            <a:fillRect/>
          </a:stretch>
        </p:blipFill>
        <p:spPr>
          <a:xfrm>
            <a:off x="5049429" y="889410"/>
            <a:ext cx="3106430" cy="1778091"/>
          </a:xfrm>
          <a:prstGeom prst="rect">
            <a:avLst/>
          </a:prstGeom>
        </p:spPr>
      </p:pic>
    </p:spTree>
    <p:extLst>
      <p:ext uri="{BB962C8B-B14F-4D97-AF65-F5344CB8AC3E}">
        <p14:creationId xmlns:p14="http://schemas.microsoft.com/office/powerpoint/2010/main" val="36719071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964426"/>
            <a:ext cx="12192000" cy="3893573"/>
          </a:xfrm>
          <a:solidFill>
            <a:schemeClr val="bg1"/>
          </a:solidFill>
        </p:spPr>
        <p:txBody>
          <a:bodyPr>
            <a:normAutofit/>
          </a:bodyPr>
          <a:lstStyle/>
          <a:p>
            <a:pPr marL="514350" indent="-514350">
              <a:buFont typeface="+mj-lt"/>
              <a:buAutoNum type="alphaLcPeriod" startAt="3"/>
            </a:pPr>
            <a:r>
              <a:rPr lang="en-ZA" sz="3200" b="1" dirty="0"/>
              <a:t>Kubernetes Metrics</a:t>
            </a:r>
            <a:endParaRPr lang="en-ZA" sz="2400" dirty="0"/>
          </a:p>
          <a:p>
            <a:pPr marL="1005840" lvl="2" indent="-457200">
              <a:buFont typeface="+mj-lt"/>
              <a:buAutoNum type="alphaLcParenR"/>
            </a:pPr>
            <a:r>
              <a:rPr lang="en-ZA" sz="2800" b="1" dirty="0"/>
              <a:t>Cluster Health Metrics </a:t>
            </a:r>
          </a:p>
          <a:p>
            <a:pPr lvl="3">
              <a:buFont typeface="Wingdings" pitchFamily="2" charset="2"/>
              <a:buChar char="Ø"/>
            </a:pPr>
            <a:r>
              <a:rPr lang="en-ZA" sz="2800" dirty="0"/>
              <a:t>To monitor the health of the Kubernetes instances, the following set of metrics is recommend : </a:t>
            </a:r>
          </a:p>
          <a:p>
            <a:pPr marL="1554480" lvl="4" indent="-457200">
              <a:buFont typeface="+mj-lt"/>
              <a:buAutoNum type="alphaLcPeriod"/>
            </a:pPr>
            <a:r>
              <a:rPr lang="en-ZA" sz="2800" dirty="0"/>
              <a:t>Node count and health </a:t>
            </a:r>
          </a:p>
          <a:p>
            <a:pPr marL="1554480" lvl="4" indent="-457200">
              <a:buFont typeface="+mj-lt"/>
              <a:buAutoNum type="alphaLcPeriod"/>
            </a:pPr>
            <a:r>
              <a:rPr lang="en-ZA" sz="2800" dirty="0"/>
              <a:t>Per node and total resource amount and usage </a:t>
            </a:r>
            <a:endParaRPr lang="en-ZA" sz="1800" dirty="0">
              <a:effectLst/>
            </a:endParaRPr>
          </a:p>
        </p:txBody>
      </p:sp>
      <p:pic>
        <p:nvPicPr>
          <p:cNvPr id="4" name="Picture 3">
            <a:extLst>
              <a:ext uri="{FF2B5EF4-FFF2-40B4-BE49-F238E27FC236}">
                <a16:creationId xmlns:a16="http://schemas.microsoft.com/office/drawing/2014/main" id="{704B832B-263B-C949-B148-79A88E9405C0}"/>
              </a:ext>
            </a:extLst>
          </p:cNvPr>
          <p:cNvPicPr>
            <a:picLocks noChangeAspect="1"/>
          </p:cNvPicPr>
          <p:nvPr/>
        </p:nvPicPr>
        <p:blipFill>
          <a:blip r:embed="rId2"/>
          <a:stretch>
            <a:fillRect/>
          </a:stretch>
        </p:blipFill>
        <p:spPr>
          <a:xfrm>
            <a:off x="4857699" y="904159"/>
            <a:ext cx="3779772" cy="2163506"/>
          </a:xfrm>
          <a:prstGeom prst="rect">
            <a:avLst/>
          </a:prstGeom>
        </p:spPr>
      </p:pic>
    </p:spTree>
    <p:extLst>
      <p:ext uri="{BB962C8B-B14F-4D97-AF65-F5344CB8AC3E}">
        <p14:creationId xmlns:p14="http://schemas.microsoft.com/office/powerpoint/2010/main" val="15816066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507226"/>
            <a:ext cx="12192000" cy="4350773"/>
          </a:xfrm>
          <a:solidFill>
            <a:schemeClr val="bg1"/>
          </a:solidFill>
        </p:spPr>
        <p:txBody>
          <a:bodyPr>
            <a:normAutofit/>
          </a:bodyPr>
          <a:lstStyle/>
          <a:p>
            <a:pPr marL="514350" indent="-514350">
              <a:buFont typeface="+mj-lt"/>
              <a:buAutoNum type="alphaLcPeriod" startAt="3"/>
            </a:pPr>
            <a:r>
              <a:rPr lang="en-ZA" sz="3200" b="1" dirty="0"/>
              <a:t>Kubernetes Metrics</a:t>
            </a:r>
            <a:endParaRPr lang="en-ZA" sz="2400" dirty="0"/>
          </a:p>
          <a:p>
            <a:pPr marL="1062990" lvl="2" indent="-514350">
              <a:buFont typeface="+mj-lt"/>
              <a:buAutoNum type="alphaLcParenR" startAt="2"/>
            </a:pPr>
            <a:r>
              <a:rPr lang="en-ZA" sz="2800" b="1" dirty="0"/>
              <a:t>Pod/Container Metrics </a:t>
            </a:r>
          </a:p>
          <a:p>
            <a:pPr lvl="3">
              <a:buFont typeface="Wingdings" pitchFamily="2" charset="2"/>
              <a:buChar char="Ø"/>
            </a:pPr>
            <a:r>
              <a:rPr lang="en-ZA" sz="2400" dirty="0"/>
              <a:t>Tracking the following metrics for the pods and containers running on Kubernetes: </a:t>
            </a:r>
          </a:p>
          <a:p>
            <a:pPr marL="1554480" lvl="4" indent="-457200">
              <a:buFont typeface="+mj-lt"/>
              <a:buAutoNum type="arabicPeriod"/>
            </a:pPr>
            <a:r>
              <a:rPr lang="en-ZA" sz="2400" dirty="0"/>
              <a:t>Number of pods per node and total </a:t>
            </a:r>
          </a:p>
          <a:p>
            <a:pPr marL="1554480" lvl="4" indent="-457200">
              <a:buFont typeface="+mj-lt"/>
              <a:buAutoNum type="arabicPeriod"/>
            </a:pPr>
            <a:r>
              <a:rPr lang="en-ZA" sz="2400" dirty="0"/>
              <a:t>Resource usage for each container and its request and limit information</a:t>
            </a:r>
          </a:p>
          <a:p>
            <a:pPr marL="1554480" lvl="4" indent="-457200">
              <a:buFont typeface="+mj-lt"/>
              <a:buAutoNum type="arabicPeriod"/>
            </a:pPr>
            <a:r>
              <a:rPr lang="en-ZA" sz="2400" dirty="0"/>
              <a:t>Liveness/Readiness states for each pod</a:t>
            </a:r>
          </a:p>
          <a:p>
            <a:pPr marL="1554480" lvl="4" indent="-457200">
              <a:buFont typeface="+mj-lt"/>
              <a:buAutoNum type="arabicPeriod"/>
            </a:pPr>
            <a:r>
              <a:rPr lang="en-ZA" sz="2400" dirty="0"/>
              <a:t>Container/Pod restart counts </a:t>
            </a:r>
          </a:p>
          <a:p>
            <a:pPr marL="1554480" lvl="4" indent="-457200">
              <a:buFont typeface="+mj-lt"/>
              <a:buAutoNum type="arabicPeriod"/>
            </a:pPr>
            <a:r>
              <a:rPr lang="en-ZA" sz="2400" dirty="0"/>
              <a:t>Input/output network traffic for each container </a:t>
            </a:r>
            <a:endParaRPr lang="en-ZA" dirty="0">
              <a:effectLst/>
            </a:endParaRPr>
          </a:p>
        </p:txBody>
      </p:sp>
      <p:pic>
        <p:nvPicPr>
          <p:cNvPr id="4" name="Picture 3">
            <a:extLst>
              <a:ext uri="{FF2B5EF4-FFF2-40B4-BE49-F238E27FC236}">
                <a16:creationId xmlns:a16="http://schemas.microsoft.com/office/drawing/2014/main" id="{3A494D53-CD7A-F643-9E48-5A5785F4EBC2}"/>
              </a:ext>
            </a:extLst>
          </p:cNvPr>
          <p:cNvPicPr>
            <a:picLocks noChangeAspect="1"/>
          </p:cNvPicPr>
          <p:nvPr/>
        </p:nvPicPr>
        <p:blipFill>
          <a:blip r:embed="rId2"/>
          <a:stretch>
            <a:fillRect/>
          </a:stretch>
        </p:blipFill>
        <p:spPr>
          <a:xfrm>
            <a:off x="4606977" y="889410"/>
            <a:ext cx="3315979" cy="1898035"/>
          </a:xfrm>
          <a:prstGeom prst="rect">
            <a:avLst/>
          </a:prstGeom>
        </p:spPr>
      </p:pic>
    </p:spTree>
    <p:extLst>
      <p:ext uri="{BB962C8B-B14F-4D97-AF65-F5344CB8AC3E}">
        <p14:creationId xmlns:p14="http://schemas.microsoft.com/office/powerpoint/2010/main" val="39674509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200400"/>
            <a:ext cx="12192000" cy="3657599"/>
          </a:xfrm>
          <a:solidFill>
            <a:schemeClr val="bg1"/>
          </a:solidFill>
        </p:spPr>
        <p:txBody>
          <a:bodyPr>
            <a:normAutofit/>
          </a:bodyPr>
          <a:lstStyle/>
          <a:p>
            <a:pPr marL="514350" indent="-514350">
              <a:buFont typeface="+mj-lt"/>
              <a:buAutoNum type="alphaLcPeriod" startAt="3"/>
            </a:pPr>
            <a:r>
              <a:rPr lang="en-ZA" sz="3200" b="1" dirty="0"/>
              <a:t>Kubernetes Metrics</a:t>
            </a:r>
            <a:endParaRPr lang="en-ZA" sz="2400" dirty="0"/>
          </a:p>
          <a:p>
            <a:pPr marL="1062990" lvl="2" indent="-514350">
              <a:buFont typeface="+mj-lt"/>
              <a:buAutoNum type="alphaLcParenR" startAt="3"/>
            </a:pPr>
            <a:r>
              <a:rPr lang="en-ZA" sz="2800" b="1" dirty="0"/>
              <a:t>Deployment Metrics </a:t>
            </a:r>
          </a:p>
          <a:p>
            <a:pPr lvl="3">
              <a:buFont typeface="Wingdings" pitchFamily="2" charset="2"/>
              <a:buChar char="Ø"/>
            </a:pPr>
            <a:r>
              <a:rPr lang="en-ZA" sz="2400" dirty="0"/>
              <a:t>Examining the following metrics for all deployment definitions helps quickly identify the issues and predict the problems that might occur: </a:t>
            </a:r>
          </a:p>
          <a:p>
            <a:pPr lvl="4">
              <a:buFont typeface="Wingdings" pitchFamily="2" charset="2"/>
              <a:buChar char="ü"/>
            </a:pPr>
            <a:r>
              <a:rPr lang="en-ZA" sz="2400" dirty="0"/>
              <a:t>Number of deployments </a:t>
            </a:r>
          </a:p>
          <a:p>
            <a:pPr lvl="4">
              <a:buFont typeface="Wingdings" pitchFamily="2" charset="2"/>
              <a:buChar char="ü"/>
            </a:pPr>
            <a:r>
              <a:rPr lang="en-ZA" sz="2400" dirty="0"/>
              <a:t>Number of replicas defined for each deployment </a:t>
            </a:r>
          </a:p>
          <a:p>
            <a:pPr lvl="4">
              <a:buFont typeface="Wingdings" pitchFamily="2" charset="2"/>
              <a:buChar char="ü"/>
            </a:pPr>
            <a:r>
              <a:rPr lang="en-ZA" sz="2400" dirty="0"/>
              <a:t>Number of replicas that aren’t available for each deployment </a:t>
            </a:r>
            <a:endParaRPr lang="en-ZA" sz="2400" dirty="0">
              <a:effectLst/>
            </a:endParaRPr>
          </a:p>
        </p:txBody>
      </p:sp>
      <p:pic>
        <p:nvPicPr>
          <p:cNvPr id="4" name="Picture 3">
            <a:extLst>
              <a:ext uri="{FF2B5EF4-FFF2-40B4-BE49-F238E27FC236}">
                <a16:creationId xmlns:a16="http://schemas.microsoft.com/office/drawing/2014/main" id="{5175E29D-71D1-F94D-B128-4557EACD38F8}"/>
              </a:ext>
            </a:extLst>
          </p:cNvPr>
          <p:cNvPicPr>
            <a:picLocks noChangeAspect="1"/>
          </p:cNvPicPr>
          <p:nvPr/>
        </p:nvPicPr>
        <p:blipFill>
          <a:blip r:embed="rId2"/>
          <a:stretch>
            <a:fillRect/>
          </a:stretch>
        </p:blipFill>
        <p:spPr>
          <a:xfrm>
            <a:off x="4299788" y="879782"/>
            <a:ext cx="4054255" cy="2320617"/>
          </a:xfrm>
          <a:prstGeom prst="rect">
            <a:avLst/>
          </a:prstGeom>
        </p:spPr>
      </p:pic>
    </p:spTree>
    <p:extLst>
      <p:ext uri="{BB962C8B-B14F-4D97-AF65-F5344CB8AC3E}">
        <p14:creationId xmlns:p14="http://schemas.microsoft.com/office/powerpoint/2010/main" val="12965617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300748"/>
            <a:ext cx="12192000" cy="4557251"/>
          </a:xfrm>
          <a:solidFill>
            <a:schemeClr val="bg1"/>
          </a:solidFill>
        </p:spPr>
        <p:txBody>
          <a:bodyPr>
            <a:normAutofit/>
          </a:bodyPr>
          <a:lstStyle/>
          <a:p>
            <a:pPr marL="514350" indent="-514350">
              <a:buFont typeface="+mj-lt"/>
              <a:buAutoNum type="alphaLcPeriod" startAt="4"/>
            </a:pPr>
            <a:r>
              <a:rPr lang="en-ZA" sz="3200" b="1" dirty="0"/>
              <a:t>Runtime Metrics</a:t>
            </a:r>
            <a:endParaRPr lang="en-ZA" sz="2400" dirty="0"/>
          </a:p>
          <a:p>
            <a:pPr lvl="1">
              <a:buFont typeface="Wingdings" pitchFamily="2" charset="2"/>
              <a:buChar char="Ø"/>
            </a:pPr>
            <a:r>
              <a:rPr lang="en-ZA" sz="2600" dirty="0"/>
              <a:t>Ready-made metrics libraries for programming languages can also publish many metrics about the runtimes of these languages. </a:t>
            </a:r>
          </a:p>
          <a:p>
            <a:pPr lvl="1">
              <a:buFont typeface="Wingdings" pitchFamily="2" charset="2"/>
              <a:buChar char="Ø"/>
            </a:pPr>
            <a:r>
              <a:rPr lang="en-ZA" sz="2600" dirty="0"/>
              <a:t>Observing these metrics in accordance with the language used is also critical for monitoring the health of the application: </a:t>
            </a:r>
          </a:p>
          <a:p>
            <a:pPr lvl="2">
              <a:buFont typeface="Wingdings" pitchFamily="2" charset="2"/>
              <a:buChar char="ü"/>
            </a:pPr>
            <a:r>
              <a:rPr lang="en-ZA" sz="2200" dirty="0"/>
              <a:t>Number of active processes/threads/virtual threads </a:t>
            </a:r>
          </a:p>
          <a:p>
            <a:pPr lvl="2">
              <a:buFont typeface="Wingdings" pitchFamily="2" charset="2"/>
              <a:buChar char="ü"/>
            </a:pPr>
            <a:r>
              <a:rPr lang="en-ZA" sz="2200" dirty="0"/>
              <a:t>Heap and stack usage </a:t>
            </a:r>
          </a:p>
          <a:p>
            <a:pPr lvl="2">
              <a:buFont typeface="Wingdings" pitchFamily="2" charset="2"/>
              <a:buChar char="ü"/>
            </a:pPr>
            <a:r>
              <a:rPr lang="en-ZA" sz="2200" dirty="0"/>
              <a:t>Non-heap memory usage (if supported by the language used) </a:t>
            </a:r>
          </a:p>
          <a:p>
            <a:pPr lvl="2">
              <a:buFont typeface="Wingdings" pitchFamily="2" charset="2"/>
              <a:buChar char="ü"/>
            </a:pPr>
            <a:r>
              <a:rPr lang="en-ZA" sz="2200" dirty="0"/>
              <a:t>Garbage collector run and pause times (if supported by the language used) </a:t>
            </a:r>
          </a:p>
          <a:p>
            <a:pPr lvl="2">
              <a:buFont typeface="Wingdings" pitchFamily="2" charset="2"/>
              <a:buChar char="ü"/>
            </a:pPr>
            <a:r>
              <a:rPr lang="en-ZA" sz="2200" dirty="0"/>
              <a:t>Number of files kept open </a:t>
            </a:r>
          </a:p>
          <a:p>
            <a:pPr lvl="2">
              <a:buFont typeface="Wingdings" pitchFamily="2" charset="2"/>
              <a:buChar char="ü"/>
            </a:pPr>
            <a:r>
              <a:rPr lang="en-ZA" sz="2200" dirty="0"/>
              <a:t>Number of network ports kept open</a:t>
            </a:r>
            <a:r>
              <a:rPr lang="en-ZA" sz="2600" dirty="0"/>
              <a:t>. </a:t>
            </a:r>
            <a:endParaRPr lang="en-ZA" sz="2000" dirty="0"/>
          </a:p>
        </p:txBody>
      </p:sp>
      <p:pic>
        <p:nvPicPr>
          <p:cNvPr id="4" name="Picture 3">
            <a:extLst>
              <a:ext uri="{FF2B5EF4-FFF2-40B4-BE49-F238E27FC236}">
                <a16:creationId xmlns:a16="http://schemas.microsoft.com/office/drawing/2014/main" id="{7A55049E-936D-8D49-8D1A-9F6AE5463F6E}"/>
              </a:ext>
            </a:extLst>
          </p:cNvPr>
          <p:cNvPicPr>
            <a:picLocks noChangeAspect="1"/>
          </p:cNvPicPr>
          <p:nvPr/>
        </p:nvPicPr>
        <p:blipFill>
          <a:blip r:embed="rId2"/>
          <a:stretch>
            <a:fillRect/>
          </a:stretch>
        </p:blipFill>
        <p:spPr>
          <a:xfrm>
            <a:off x="4341761" y="864214"/>
            <a:ext cx="3828845" cy="1925955"/>
          </a:xfrm>
          <a:prstGeom prst="rect">
            <a:avLst/>
          </a:prstGeom>
        </p:spPr>
      </p:pic>
    </p:spTree>
    <p:extLst>
      <p:ext uri="{BB962C8B-B14F-4D97-AF65-F5344CB8AC3E}">
        <p14:creationId xmlns:p14="http://schemas.microsoft.com/office/powerpoint/2010/main" val="30162911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168014"/>
            <a:ext cx="4864103" cy="4689986"/>
          </a:xfrm>
          <a:solidFill>
            <a:schemeClr val="bg1"/>
          </a:solidFill>
        </p:spPr>
        <p:txBody>
          <a:bodyPr>
            <a:normAutofit/>
          </a:bodyPr>
          <a:lstStyle/>
          <a:p>
            <a:pPr marL="514350" indent="-514350" algn="just">
              <a:buFont typeface="+mj-lt"/>
              <a:buAutoNum type="arabicPeriod" startAt="4"/>
            </a:pPr>
            <a:r>
              <a:rPr lang="en-ZA" sz="3200" b="1" dirty="0"/>
              <a:t>Analysis of Metrics</a:t>
            </a:r>
            <a:endParaRPr lang="en-ZA" sz="2400" dirty="0"/>
          </a:p>
          <a:p>
            <a:pPr lvl="2" algn="just">
              <a:buFont typeface="Wingdings" pitchFamily="2" charset="2"/>
              <a:buChar char="Ø"/>
            </a:pPr>
            <a:r>
              <a:rPr lang="en-ZA" sz="2400" dirty="0"/>
              <a:t>A variety of metrics we can be collected across the applications, services and platforms, but collecting metrics alone is not meaningful. </a:t>
            </a:r>
          </a:p>
          <a:p>
            <a:pPr lvl="2" algn="just">
              <a:buFont typeface="Wingdings" pitchFamily="2" charset="2"/>
              <a:buChar char="Ø"/>
            </a:pPr>
            <a:r>
              <a:rPr lang="en-ZA" sz="2400" dirty="0"/>
              <a:t>These metrics need to be properly processed and turned into actions. </a:t>
            </a:r>
            <a:endParaRPr lang="en-ZA" sz="2400" dirty="0">
              <a:effectLst/>
            </a:endParaRPr>
          </a:p>
        </p:txBody>
      </p:sp>
      <p:pic>
        <p:nvPicPr>
          <p:cNvPr id="4" name="Picture 3">
            <a:extLst>
              <a:ext uri="{FF2B5EF4-FFF2-40B4-BE49-F238E27FC236}">
                <a16:creationId xmlns:a16="http://schemas.microsoft.com/office/drawing/2014/main" id="{71D21D77-ADFB-0442-9DDC-63C4CD79166F}"/>
              </a:ext>
            </a:extLst>
          </p:cNvPr>
          <p:cNvPicPr>
            <a:picLocks noChangeAspect="1"/>
          </p:cNvPicPr>
          <p:nvPr/>
        </p:nvPicPr>
        <p:blipFill>
          <a:blip r:embed="rId2"/>
          <a:stretch>
            <a:fillRect/>
          </a:stretch>
        </p:blipFill>
        <p:spPr>
          <a:xfrm>
            <a:off x="4954308" y="1027256"/>
            <a:ext cx="3159020" cy="2028020"/>
          </a:xfrm>
          <a:prstGeom prst="rect">
            <a:avLst/>
          </a:prstGeom>
        </p:spPr>
      </p:pic>
      <p:pic>
        <p:nvPicPr>
          <p:cNvPr id="5" name="Picture 4">
            <a:extLst>
              <a:ext uri="{FF2B5EF4-FFF2-40B4-BE49-F238E27FC236}">
                <a16:creationId xmlns:a16="http://schemas.microsoft.com/office/drawing/2014/main" id="{013FC149-7DA9-5B40-8CFE-BF5678918FA9}"/>
              </a:ext>
            </a:extLst>
          </p:cNvPr>
          <p:cNvPicPr>
            <a:picLocks noChangeAspect="1"/>
          </p:cNvPicPr>
          <p:nvPr/>
        </p:nvPicPr>
        <p:blipFill>
          <a:blip r:embed="rId3"/>
          <a:stretch>
            <a:fillRect/>
          </a:stretch>
        </p:blipFill>
        <p:spPr>
          <a:xfrm>
            <a:off x="7237693" y="3055276"/>
            <a:ext cx="4954307" cy="3775587"/>
          </a:xfrm>
          <a:prstGeom prst="rect">
            <a:avLst/>
          </a:prstGeom>
        </p:spPr>
      </p:pic>
    </p:spTree>
    <p:extLst>
      <p:ext uri="{BB962C8B-B14F-4D97-AF65-F5344CB8AC3E}">
        <p14:creationId xmlns:p14="http://schemas.microsoft.com/office/powerpoint/2010/main" val="382294212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168014"/>
            <a:ext cx="12192000" cy="4689986"/>
          </a:xfrm>
          <a:solidFill>
            <a:schemeClr val="bg1"/>
          </a:solidFill>
        </p:spPr>
        <p:txBody>
          <a:bodyPr>
            <a:normAutofit fontScale="92500" lnSpcReduction="10000"/>
          </a:bodyPr>
          <a:lstStyle/>
          <a:p>
            <a:pPr marL="514350" indent="-514350" algn="just">
              <a:buFont typeface="+mj-lt"/>
              <a:buAutoNum type="arabicPeriod" startAt="4"/>
            </a:pPr>
            <a:r>
              <a:rPr lang="en-ZA" sz="3200" b="1" dirty="0"/>
              <a:t>Analysis of Metrics</a:t>
            </a:r>
            <a:endParaRPr lang="en-ZA" sz="2400" dirty="0"/>
          </a:p>
          <a:p>
            <a:pPr marL="1062990" lvl="2" indent="-514350" algn="just">
              <a:buFont typeface="+mj-lt"/>
              <a:buAutoNum type="alphaLcPeriod"/>
            </a:pPr>
            <a:r>
              <a:rPr lang="en-ZA" sz="2800" b="1" dirty="0"/>
              <a:t>Mean, Median, Percentile </a:t>
            </a:r>
            <a:endParaRPr lang="en-ZA" sz="4000" b="1" dirty="0"/>
          </a:p>
          <a:p>
            <a:pPr lvl="3" algn="just">
              <a:buFont typeface="Wingdings" pitchFamily="2" charset="2"/>
              <a:buChar char="Ø"/>
            </a:pPr>
            <a:r>
              <a:rPr lang="en-ZA" sz="2400" dirty="0"/>
              <a:t>To process data collected in the form of time series, the first thing that comes to mind is the average of the values. </a:t>
            </a:r>
          </a:p>
          <a:p>
            <a:pPr lvl="3" algn="just">
              <a:buFont typeface="Wingdings" pitchFamily="2" charset="2"/>
              <a:buChar char="Ø"/>
            </a:pPr>
            <a:r>
              <a:rPr lang="en-ZA" sz="2400" dirty="0"/>
              <a:t>The </a:t>
            </a:r>
            <a:r>
              <a:rPr lang="en-ZA" sz="2400" b="1" dirty="0">
                <a:solidFill>
                  <a:srgbClr val="FF0000"/>
                </a:solidFill>
              </a:rPr>
              <a:t>mean</a:t>
            </a:r>
            <a:r>
              <a:rPr lang="en-ZA" sz="2400" dirty="0"/>
              <a:t> is determined by adding all the values and dividing by the number of samples. The mean increases due to an outlier sample and 90% of the population appear to be below average in size. </a:t>
            </a:r>
          </a:p>
          <a:p>
            <a:pPr lvl="3" algn="just">
              <a:buFont typeface="Wingdings" pitchFamily="2" charset="2"/>
              <a:buChar char="Ø"/>
            </a:pPr>
            <a:r>
              <a:rPr lang="en-ZA" sz="2400" dirty="0"/>
              <a:t>Although the </a:t>
            </a:r>
            <a:r>
              <a:rPr lang="en-ZA" sz="2400" b="1" dirty="0">
                <a:solidFill>
                  <a:srgbClr val="FF0000"/>
                </a:solidFill>
              </a:rPr>
              <a:t>median</a:t>
            </a:r>
            <a:r>
              <a:rPr lang="en-ZA" sz="2400" dirty="0"/>
              <a:t>, defined as the middle value after sorting a sample set, is more successful than the mean in terms of outliers, it still only gives good results in cases where the distribution is better, just like the mean. </a:t>
            </a:r>
          </a:p>
          <a:p>
            <a:pPr lvl="3" algn="just">
              <a:buFont typeface="Wingdings" pitchFamily="2" charset="2"/>
              <a:buChar char="Ø"/>
            </a:pPr>
            <a:r>
              <a:rPr lang="en-ZA" sz="2400" dirty="0"/>
              <a:t>The calculation of the </a:t>
            </a:r>
            <a:r>
              <a:rPr lang="en-ZA" sz="2400" b="1" dirty="0">
                <a:solidFill>
                  <a:srgbClr val="FF0000"/>
                </a:solidFill>
              </a:rPr>
              <a:t>percentile</a:t>
            </a:r>
            <a:r>
              <a:rPr lang="en-ZA" sz="2400" dirty="0"/>
              <a:t> is based on grouping all samples into percentile intervals. </a:t>
            </a:r>
          </a:p>
          <a:p>
            <a:pPr lvl="3" algn="just">
              <a:buFont typeface="Wingdings" pitchFamily="2" charset="2"/>
              <a:buChar char="Ø"/>
            </a:pPr>
            <a:r>
              <a:rPr lang="en-ZA" sz="2400" dirty="0"/>
              <a:t>In this way, you can obtain more sensitively grouped data and prevent outliers from skewing the data.</a:t>
            </a:r>
          </a:p>
          <a:p>
            <a:pPr lvl="3" algn="just">
              <a:buFont typeface="Wingdings" pitchFamily="2" charset="2"/>
              <a:buChar char="Ø"/>
            </a:pPr>
            <a:endParaRPr lang="en-ZA" sz="2400" dirty="0"/>
          </a:p>
          <a:p>
            <a:pPr lvl="3" algn="just">
              <a:buFont typeface="Wingdings" pitchFamily="2" charset="2"/>
              <a:buChar char="Ø"/>
            </a:pPr>
            <a:endParaRPr lang="en-ZA" sz="2400" dirty="0"/>
          </a:p>
        </p:txBody>
      </p:sp>
      <p:pic>
        <p:nvPicPr>
          <p:cNvPr id="4" name="Picture 3">
            <a:extLst>
              <a:ext uri="{FF2B5EF4-FFF2-40B4-BE49-F238E27FC236}">
                <a16:creationId xmlns:a16="http://schemas.microsoft.com/office/drawing/2014/main" id="{71D21D77-ADFB-0442-9DDC-63C4CD79166F}"/>
              </a:ext>
            </a:extLst>
          </p:cNvPr>
          <p:cNvPicPr>
            <a:picLocks noChangeAspect="1"/>
          </p:cNvPicPr>
          <p:nvPr/>
        </p:nvPicPr>
        <p:blipFill>
          <a:blip r:embed="rId2"/>
          <a:stretch>
            <a:fillRect/>
          </a:stretch>
        </p:blipFill>
        <p:spPr>
          <a:xfrm>
            <a:off x="5558991" y="966826"/>
            <a:ext cx="2257653" cy="1449362"/>
          </a:xfrm>
          <a:prstGeom prst="rect">
            <a:avLst/>
          </a:prstGeom>
        </p:spPr>
      </p:pic>
    </p:spTree>
    <p:extLst>
      <p:ext uri="{BB962C8B-B14F-4D97-AF65-F5344CB8AC3E}">
        <p14:creationId xmlns:p14="http://schemas.microsoft.com/office/powerpoint/2010/main" val="36056932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168014"/>
            <a:ext cx="12192000" cy="4689986"/>
          </a:xfrm>
          <a:solidFill>
            <a:schemeClr val="bg1"/>
          </a:solidFill>
        </p:spPr>
        <p:txBody>
          <a:bodyPr>
            <a:normAutofit/>
          </a:bodyPr>
          <a:lstStyle/>
          <a:p>
            <a:pPr marL="514350" indent="-514350">
              <a:buFont typeface="+mj-lt"/>
              <a:buAutoNum type="arabicPeriod" startAt="5"/>
            </a:pPr>
            <a:r>
              <a:rPr lang="en-ZA" sz="3200" b="1" dirty="0"/>
              <a:t>Tracing</a:t>
            </a:r>
            <a:endParaRPr lang="en-ZA" sz="2400" dirty="0"/>
          </a:p>
          <a:p>
            <a:pPr lvl="1">
              <a:buFont typeface="Wingdings" pitchFamily="2" charset="2"/>
              <a:buChar char="Ø"/>
            </a:pPr>
            <a:r>
              <a:rPr lang="en-ZA" sz="2400" b="1" dirty="0">
                <a:hlinkClick r:id="rId2"/>
              </a:rPr>
              <a:t>Jaeger</a:t>
            </a:r>
            <a:r>
              <a:rPr lang="en-ZA" sz="2400" b="1" dirty="0"/>
              <a:t>, </a:t>
            </a:r>
            <a:r>
              <a:rPr lang="en-ZA" sz="2400" dirty="0"/>
              <a:t>a</a:t>
            </a:r>
            <a:r>
              <a:rPr lang="en-ZA" sz="2400" b="1" dirty="0"/>
              <a:t> </a:t>
            </a:r>
            <a:r>
              <a:rPr lang="en-ZA" sz="2400" dirty="0"/>
              <a:t>CNCF graduate project for tracing, is the most commonly used application for distributed tracing. </a:t>
            </a:r>
          </a:p>
          <a:p>
            <a:pPr lvl="1">
              <a:buFont typeface="Wingdings" pitchFamily="2" charset="2"/>
              <a:buChar char="Ø"/>
            </a:pPr>
            <a:r>
              <a:rPr lang="en-ZA" sz="2400" dirty="0"/>
              <a:t>Formed through the merger of OpenTracing and OpenCencus, the CNCF’s </a:t>
            </a:r>
            <a:r>
              <a:rPr lang="en-ZA" sz="2400" dirty="0">
                <a:hlinkClick r:id="rId3"/>
              </a:rPr>
              <a:t>OpenTelemetry</a:t>
            </a:r>
            <a:r>
              <a:rPr lang="en-ZA" sz="2400" dirty="0"/>
              <a:t> project provides a standardised format for telemetry data - both traces and metrics. </a:t>
            </a:r>
          </a:p>
          <a:p>
            <a:pPr lvl="1">
              <a:buFont typeface="Wingdings" pitchFamily="2" charset="2"/>
              <a:buChar char="Ø"/>
            </a:pPr>
            <a:r>
              <a:rPr lang="en-ZA" sz="2400" dirty="0"/>
              <a:t>It already enjoys wide vendor support including from Amazon (AWS X-Ray), Dynatrace, Google Cloud Monitoring + Trace, Honeycomb, Lightstep, Microsoft (Azure Monitor), New Relic and Splunk, as well as support for open source tools such as Prometheus and Jaeger. </a:t>
            </a:r>
          </a:p>
          <a:p>
            <a:pPr lvl="1">
              <a:buFont typeface="Wingdings" pitchFamily="2" charset="2"/>
              <a:buChar char="Ø"/>
            </a:pPr>
            <a:r>
              <a:rPr lang="en-ZA" sz="2400" dirty="0"/>
              <a:t>Supported languages include Go, JavaScript, Java, Python, Ruby, PHP, Objective-C, C++ and C#. </a:t>
            </a:r>
          </a:p>
          <a:p>
            <a:pPr lvl="1">
              <a:buFont typeface="Wingdings" pitchFamily="2" charset="2"/>
              <a:buChar char="Ø"/>
            </a:pPr>
            <a:endParaRPr lang="en-ZA" sz="2400" b="1" dirty="0"/>
          </a:p>
        </p:txBody>
      </p:sp>
      <p:pic>
        <p:nvPicPr>
          <p:cNvPr id="4" name="Picture 3">
            <a:extLst>
              <a:ext uri="{FF2B5EF4-FFF2-40B4-BE49-F238E27FC236}">
                <a16:creationId xmlns:a16="http://schemas.microsoft.com/office/drawing/2014/main" id="{AEFD1553-212A-9E4F-B8C3-353511EF88FB}"/>
              </a:ext>
            </a:extLst>
          </p:cNvPr>
          <p:cNvPicPr>
            <a:picLocks noChangeAspect="1"/>
          </p:cNvPicPr>
          <p:nvPr/>
        </p:nvPicPr>
        <p:blipFill>
          <a:blip r:embed="rId4"/>
          <a:stretch>
            <a:fillRect/>
          </a:stretch>
        </p:blipFill>
        <p:spPr>
          <a:xfrm>
            <a:off x="3444569" y="889411"/>
            <a:ext cx="3177458" cy="1688024"/>
          </a:xfrm>
          <a:prstGeom prst="rect">
            <a:avLst/>
          </a:prstGeom>
        </p:spPr>
      </p:pic>
    </p:spTree>
    <p:extLst>
      <p:ext uri="{BB962C8B-B14F-4D97-AF65-F5344CB8AC3E}">
        <p14:creationId xmlns:p14="http://schemas.microsoft.com/office/powerpoint/2010/main" val="39467156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925794"/>
            <a:ext cx="4649382" cy="5932205"/>
          </a:xfrm>
          <a:solidFill>
            <a:schemeClr val="bg1"/>
          </a:solidFill>
        </p:spPr>
        <p:txBody>
          <a:bodyPr>
            <a:normAutofit fontScale="92500"/>
          </a:bodyPr>
          <a:lstStyle/>
          <a:p>
            <a:pPr marL="514350" indent="-514350">
              <a:buFont typeface="+mj-lt"/>
              <a:buAutoNum type="arabicPeriod" startAt="5"/>
            </a:pPr>
            <a:r>
              <a:rPr lang="en-ZA" sz="3200" b="1" dirty="0"/>
              <a:t>Tracing</a:t>
            </a:r>
            <a:endParaRPr lang="en-ZA" sz="2400" dirty="0"/>
          </a:p>
          <a:p>
            <a:pPr lvl="1">
              <a:buFont typeface="Wingdings" pitchFamily="2" charset="2"/>
              <a:buChar char="Ø"/>
            </a:pPr>
            <a:r>
              <a:rPr lang="en-ZA" sz="2400" dirty="0"/>
              <a:t>OpenTelemetry traces a record of activity for a request through a distributed system. </a:t>
            </a:r>
          </a:p>
          <a:p>
            <a:pPr lvl="1">
              <a:buFont typeface="Wingdings" pitchFamily="2" charset="2"/>
              <a:buChar char="Ø"/>
            </a:pPr>
            <a:r>
              <a:rPr lang="en-ZA" sz="2400" dirty="0"/>
              <a:t>A trace is a Directed Acyclic Graph of spans. </a:t>
            </a:r>
          </a:p>
          <a:p>
            <a:pPr lvl="1">
              <a:buFont typeface="Wingdings" pitchFamily="2" charset="2"/>
              <a:buChar char="Ø"/>
            </a:pPr>
            <a:r>
              <a:rPr lang="en-ZA" sz="2400" dirty="0"/>
              <a:t>Spans are named, timed operations representing a single operation within a trace. </a:t>
            </a:r>
          </a:p>
          <a:p>
            <a:pPr lvl="1">
              <a:buFont typeface="Wingdings" pitchFamily="2" charset="2"/>
              <a:buChar char="Ø"/>
            </a:pPr>
            <a:r>
              <a:rPr lang="en-ZA" sz="2400" dirty="0"/>
              <a:t>Spans can be nested to form a trace tree. </a:t>
            </a:r>
          </a:p>
          <a:p>
            <a:pPr lvl="1">
              <a:buFont typeface="Wingdings" pitchFamily="2" charset="2"/>
              <a:buChar char="Ø"/>
            </a:pPr>
            <a:r>
              <a:rPr lang="en-ZA" sz="2400" dirty="0"/>
              <a:t>Each trace contains a root span, which typically describes the end-to-end latency and (optionally) one or more sub-spans for its sub-operations. </a:t>
            </a:r>
          </a:p>
          <a:p>
            <a:pPr lvl="1">
              <a:buFont typeface="Wingdings" pitchFamily="2" charset="2"/>
              <a:buChar char="Ø"/>
            </a:pPr>
            <a:endParaRPr lang="en-ZA" sz="2400" b="1" dirty="0"/>
          </a:p>
        </p:txBody>
      </p:sp>
      <p:pic>
        <p:nvPicPr>
          <p:cNvPr id="5" name="Picture 4">
            <a:extLst>
              <a:ext uri="{FF2B5EF4-FFF2-40B4-BE49-F238E27FC236}">
                <a16:creationId xmlns:a16="http://schemas.microsoft.com/office/drawing/2014/main" id="{64C67834-8AC9-C846-893A-BC8278571B32}"/>
              </a:ext>
            </a:extLst>
          </p:cNvPr>
          <p:cNvPicPr>
            <a:picLocks noChangeAspect="1"/>
          </p:cNvPicPr>
          <p:nvPr/>
        </p:nvPicPr>
        <p:blipFill>
          <a:blip r:embed="rId2"/>
          <a:stretch>
            <a:fillRect/>
          </a:stretch>
        </p:blipFill>
        <p:spPr>
          <a:xfrm>
            <a:off x="4649382" y="2320115"/>
            <a:ext cx="7542618" cy="4378013"/>
          </a:xfrm>
          <a:prstGeom prst="rect">
            <a:avLst/>
          </a:prstGeom>
        </p:spPr>
      </p:pic>
    </p:spTree>
    <p:extLst>
      <p:ext uri="{BB962C8B-B14F-4D97-AF65-F5344CB8AC3E}">
        <p14:creationId xmlns:p14="http://schemas.microsoft.com/office/powerpoint/2010/main" val="37353410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1" y="2019535"/>
            <a:ext cx="12078929" cy="4838464"/>
          </a:xfrm>
          <a:solidFill>
            <a:schemeClr val="bg1"/>
          </a:solidFill>
        </p:spPr>
        <p:txBody>
          <a:bodyPr>
            <a:normAutofit/>
          </a:bodyPr>
          <a:lstStyle/>
          <a:p>
            <a:pPr marL="514350" indent="-514350">
              <a:buFont typeface="+mj-lt"/>
              <a:buAutoNum type="arabicPeriod" startAt="5"/>
            </a:pPr>
            <a:r>
              <a:rPr lang="en-ZA" sz="3200" b="1" dirty="0"/>
              <a:t>Tracing</a:t>
            </a:r>
            <a:endParaRPr lang="en-ZA" sz="2400" dirty="0"/>
          </a:p>
          <a:p>
            <a:pPr marL="731520" lvl="1" indent="-457200">
              <a:buFont typeface="+mj-lt"/>
              <a:buAutoNum type="alphaLcParenR"/>
            </a:pPr>
            <a:r>
              <a:rPr lang="en-ZA" sz="2800" b="1" dirty="0"/>
              <a:t>Service Mesh </a:t>
            </a:r>
          </a:p>
          <a:p>
            <a:pPr lvl="2">
              <a:buFont typeface="Wingdings" pitchFamily="2" charset="2"/>
              <a:buChar char="Ø"/>
            </a:pPr>
            <a:r>
              <a:rPr lang="en-ZA" sz="2200" dirty="0"/>
              <a:t>Although this is not the only task it performs, it is worth mentioning Service Mesh tools in this context. </a:t>
            </a:r>
          </a:p>
          <a:p>
            <a:pPr lvl="2">
              <a:buFont typeface="Wingdings" pitchFamily="2" charset="2"/>
              <a:buChar char="Ø"/>
            </a:pPr>
            <a:r>
              <a:rPr lang="en-ZA" sz="2200" dirty="0"/>
              <a:t>The best known Service Meshes are </a:t>
            </a:r>
            <a:r>
              <a:rPr lang="en-ZA" sz="2200" dirty="0">
                <a:hlinkClick r:id="rId2"/>
              </a:rPr>
              <a:t>Linkerd</a:t>
            </a:r>
            <a:r>
              <a:rPr lang="en-ZA" sz="2200" dirty="0"/>
              <a:t> (pronounced Linker-DEE), a CNCF project originally created by Buoyant, , and </a:t>
            </a:r>
            <a:r>
              <a:rPr lang="en-ZA" sz="2200" dirty="0">
                <a:hlinkClick r:id="rId3"/>
              </a:rPr>
              <a:t>Istio</a:t>
            </a:r>
            <a:r>
              <a:rPr lang="en-ZA" sz="2200" dirty="0"/>
              <a:t>, developed by Google and IBM in partnership with the Envoy team from Lyft. </a:t>
            </a:r>
          </a:p>
          <a:p>
            <a:pPr lvl="2">
              <a:buFont typeface="Wingdings" pitchFamily="2" charset="2"/>
              <a:buChar char="Ø"/>
            </a:pPr>
            <a:r>
              <a:rPr lang="en-ZA" sz="2200" dirty="0"/>
              <a:t>Service Mesh applications take the sidecar approach by leveraging Kubernetes’ ability to run multiple containers within a pod. </a:t>
            </a:r>
          </a:p>
          <a:p>
            <a:pPr lvl="2">
              <a:buFont typeface="Wingdings" pitchFamily="2" charset="2"/>
              <a:buChar char="Ø"/>
            </a:pPr>
            <a:r>
              <a:rPr lang="en-ZA" sz="2200" dirty="0"/>
              <a:t>These sidecar proxy applications which are injected into each pod, monitor traffic by routing it through itself, and both products write this data to the Prometheus database. (Linkerd uses a proxy developed under its own project, Istio uses </a:t>
            </a:r>
            <a:r>
              <a:rPr lang="en-ZA" sz="2200" dirty="0">
                <a:hlinkClick r:id="rId4"/>
              </a:rPr>
              <a:t>Envoy Proxy</a:t>
            </a:r>
            <a:r>
              <a:rPr lang="en-ZA" sz="2200" dirty="0"/>
              <a:t>, another CNCF project). </a:t>
            </a:r>
          </a:p>
          <a:p>
            <a:pPr lvl="1">
              <a:buFont typeface="Wingdings" pitchFamily="2" charset="2"/>
              <a:buChar char="Ø"/>
            </a:pPr>
            <a:endParaRPr lang="en-ZA" sz="2400" b="1" dirty="0"/>
          </a:p>
        </p:txBody>
      </p:sp>
      <p:pic>
        <p:nvPicPr>
          <p:cNvPr id="6" name="Picture 5">
            <a:extLst>
              <a:ext uri="{FF2B5EF4-FFF2-40B4-BE49-F238E27FC236}">
                <a16:creationId xmlns:a16="http://schemas.microsoft.com/office/drawing/2014/main" id="{5B14CE04-6021-B44C-AA9D-E9FB1AD8F90E}"/>
              </a:ext>
            </a:extLst>
          </p:cNvPr>
          <p:cNvPicPr>
            <a:picLocks noChangeAspect="1"/>
          </p:cNvPicPr>
          <p:nvPr/>
        </p:nvPicPr>
        <p:blipFill>
          <a:blip r:embed="rId5"/>
          <a:stretch>
            <a:fillRect/>
          </a:stretch>
        </p:blipFill>
        <p:spPr>
          <a:xfrm>
            <a:off x="4181987" y="907486"/>
            <a:ext cx="3399939" cy="1806217"/>
          </a:xfrm>
          <a:prstGeom prst="rect">
            <a:avLst/>
          </a:prstGeom>
        </p:spPr>
      </p:pic>
    </p:spTree>
    <p:extLst>
      <p:ext uri="{BB962C8B-B14F-4D97-AF65-F5344CB8AC3E}">
        <p14:creationId xmlns:p14="http://schemas.microsoft.com/office/powerpoint/2010/main" val="32314098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402003"/>
            <a:ext cx="7477432" cy="4455996"/>
          </a:xfrm>
          <a:solidFill>
            <a:schemeClr val="bg1"/>
          </a:solidFill>
        </p:spPr>
        <p:txBody>
          <a:bodyPr>
            <a:normAutofit/>
          </a:bodyPr>
          <a:lstStyle/>
          <a:p>
            <a:pPr marL="514350" indent="-514350">
              <a:buFont typeface="+mj-lt"/>
              <a:buAutoNum type="arabicPeriod" startAt="5"/>
            </a:pPr>
            <a:r>
              <a:rPr lang="en-ZA" sz="3200" b="1" dirty="0"/>
              <a:t>Tracing</a:t>
            </a:r>
            <a:endParaRPr lang="en-ZA" sz="2400" dirty="0"/>
          </a:p>
          <a:p>
            <a:pPr marL="731520" lvl="1" indent="-457200">
              <a:buFont typeface="+mj-lt"/>
              <a:buAutoNum type="alphaLcParenR"/>
            </a:pPr>
            <a:r>
              <a:rPr lang="en-ZA" sz="2800" b="1" dirty="0"/>
              <a:t>Service Mesh </a:t>
            </a:r>
          </a:p>
          <a:p>
            <a:pPr lvl="2">
              <a:buFont typeface="Wingdings" pitchFamily="2" charset="2"/>
              <a:buChar char="Ø"/>
            </a:pPr>
            <a:r>
              <a:rPr lang="en-ZA" sz="2200" dirty="0"/>
              <a:t>In addition to telemetry data, this traffic data can also be used for visualization on the topology map with products developed specifically for this task. </a:t>
            </a:r>
          </a:p>
          <a:p>
            <a:pPr lvl="2">
              <a:buFont typeface="Wingdings" pitchFamily="2" charset="2"/>
              <a:buChar char="Ø"/>
            </a:pPr>
            <a:r>
              <a:rPr lang="en-ZA" sz="2200" dirty="0">
                <a:hlinkClick r:id="rId2"/>
              </a:rPr>
              <a:t>Kiali</a:t>
            </a:r>
            <a:r>
              <a:rPr lang="en-ZA" sz="2200" dirty="0"/>
              <a:t>, developed by Red Hat, can display the topology of services, including the data such as communications between the services, the health of services, and the load distribution between versions of services. </a:t>
            </a:r>
          </a:p>
        </p:txBody>
      </p:sp>
      <p:pic>
        <p:nvPicPr>
          <p:cNvPr id="6" name="Picture 5">
            <a:extLst>
              <a:ext uri="{FF2B5EF4-FFF2-40B4-BE49-F238E27FC236}">
                <a16:creationId xmlns:a16="http://schemas.microsoft.com/office/drawing/2014/main" id="{5B14CE04-6021-B44C-AA9D-E9FB1AD8F90E}"/>
              </a:ext>
            </a:extLst>
          </p:cNvPr>
          <p:cNvPicPr>
            <a:picLocks noChangeAspect="1"/>
          </p:cNvPicPr>
          <p:nvPr/>
        </p:nvPicPr>
        <p:blipFill>
          <a:blip r:embed="rId3"/>
          <a:stretch>
            <a:fillRect/>
          </a:stretch>
        </p:blipFill>
        <p:spPr>
          <a:xfrm>
            <a:off x="3126658" y="871141"/>
            <a:ext cx="3425363" cy="1819723"/>
          </a:xfrm>
          <a:prstGeom prst="rect">
            <a:avLst/>
          </a:prstGeom>
        </p:spPr>
      </p:pic>
      <p:pic>
        <p:nvPicPr>
          <p:cNvPr id="4" name="Picture 3">
            <a:extLst>
              <a:ext uri="{FF2B5EF4-FFF2-40B4-BE49-F238E27FC236}">
                <a16:creationId xmlns:a16="http://schemas.microsoft.com/office/drawing/2014/main" id="{0FAFBFE2-DDCD-9942-B51D-3CB929F5EEE7}"/>
              </a:ext>
            </a:extLst>
          </p:cNvPr>
          <p:cNvPicPr>
            <a:picLocks noChangeAspect="1"/>
          </p:cNvPicPr>
          <p:nvPr/>
        </p:nvPicPr>
        <p:blipFill>
          <a:blip r:embed="rId4"/>
          <a:stretch>
            <a:fillRect/>
          </a:stretch>
        </p:blipFill>
        <p:spPr>
          <a:xfrm>
            <a:off x="7638652" y="4376281"/>
            <a:ext cx="4328229" cy="2454582"/>
          </a:xfrm>
          <a:prstGeom prst="rect">
            <a:avLst/>
          </a:prstGeom>
        </p:spPr>
      </p:pic>
      <p:pic>
        <p:nvPicPr>
          <p:cNvPr id="5" name="Picture 4">
            <a:extLst>
              <a:ext uri="{FF2B5EF4-FFF2-40B4-BE49-F238E27FC236}">
                <a16:creationId xmlns:a16="http://schemas.microsoft.com/office/drawing/2014/main" id="{24D40F00-B662-884A-A0F7-02005CB71EDF}"/>
              </a:ext>
            </a:extLst>
          </p:cNvPr>
          <p:cNvPicPr>
            <a:picLocks noChangeAspect="1"/>
          </p:cNvPicPr>
          <p:nvPr/>
        </p:nvPicPr>
        <p:blipFill>
          <a:blip r:embed="rId5"/>
          <a:stretch>
            <a:fillRect/>
          </a:stretch>
        </p:blipFill>
        <p:spPr>
          <a:xfrm>
            <a:off x="7632443" y="1003878"/>
            <a:ext cx="4559557" cy="2578983"/>
          </a:xfrm>
          <a:prstGeom prst="rect">
            <a:avLst/>
          </a:prstGeom>
        </p:spPr>
      </p:pic>
    </p:spTree>
    <p:extLst>
      <p:ext uri="{BB962C8B-B14F-4D97-AF65-F5344CB8AC3E}">
        <p14:creationId xmlns:p14="http://schemas.microsoft.com/office/powerpoint/2010/main" val="68010360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168014"/>
            <a:ext cx="12192000" cy="4689986"/>
          </a:xfrm>
          <a:solidFill>
            <a:schemeClr val="bg1"/>
          </a:solidFill>
        </p:spPr>
        <p:txBody>
          <a:bodyPr>
            <a:normAutofit fontScale="92500" lnSpcReduction="10000"/>
          </a:bodyPr>
          <a:lstStyle/>
          <a:p>
            <a:pPr marL="514350" indent="-514350">
              <a:buFont typeface="+mj-lt"/>
              <a:buAutoNum type="arabicPeriod" startAt="6"/>
            </a:pPr>
            <a:r>
              <a:rPr lang="en-ZA" sz="3200" b="1" dirty="0"/>
              <a:t>Data Visualisation</a:t>
            </a:r>
            <a:endParaRPr lang="en-ZA" sz="2400" dirty="0"/>
          </a:p>
          <a:p>
            <a:pPr lvl="2">
              <a:buFont typeface="Wingdings" pitchFamily="2" charset="2"/>
              <a:buChar char="Ø"/>
            </a:pPr>
            <a:r>
              <a:rPr lang="en-ZA" sz="2200" dirty="0"/>
              <a:t>Although collecting the data is important, it is equally important that the data </a:t>
            </a:r>
            <a:r>
              <a:rPr lang="en-ZA" sz="2200" dirty="0" err="1"/>
              <a:t>colleced</a:t>
            </a:r>
            <a:r>
              <a:rPr lang="en-ZA" sz="2200" dirty="0"/>
              <a:t> under the title of observability is easily understood, that changes in the data are easily noticed, and that the actions to be taken are easily determined. </a:t>
            </a:r>
          </a:p>
          <a:p>
            <a:pPr lvl="2">
              <a:buFont typeface="Wingdings" pitchFamily="2" charset="2"/>
              <a:buChar char="Ø"/>
            </a:pPr>
            <a:r>
              <a:rPr lang="en-ZA" sz="2200" dirty="0"/>
              <a:t>There is no point in collecting data not act upon. </a:t>
            </a:r>
          </a:p>
          <a:p>
            <a:pPr lvl="2">
              <a:buFont typeface="Wingdings" pitchFamily="2" charset="2"/>
              <a:buChar char="Ø"/>
            </a:pPr>
            <a:r>
              <a:rPr lang="en-ZA" sz="2200" dirty="0"/>
              <a:t>Raw digital data needs to be converted into visual data. </a:t>
            </a:r>
          </a:p>
          <a:p>
            <a:pPr lvl="2">
              <a:buFont typeface="Wingdings" pitchFamily="2" charset="2"/>
              <a:buChar char="Ø"/>
            </a:pPr>
            <a:r>
              <a:rPr lang="en-ZA" sz="2200" dirty="0">
                <a:hlinkClick r:id="rId2"/>
              </a:rPr>
              <a:t>Grafana</a:t>
            </a:r>
            <a:r>
              <a:rPr lang="en-ZA" sz="2200" dirty="0"/>
              <a:t> is perhaps the most widely used product for this because of the variety of data sources it can directly connect to and its rich visualization capabilities. </a:t>
            </a:r>
          </a:p>
          <a:p>
            <a:pPr lvl="2">
              <a:buFont typeface="Wingdings" pitchFamily="2" charset="2"/>
              <a:buChar char="Ø"/>
            </a:pPr>
            <a:r>
              <a:rPr lang="en-ZA" sz="2200" dirty="0"/>
              <a:t>Grafana can be used for far more extensive visualization work. </a:t>
            </a:r>
          </a:p>
          <a:p>
            <a:pPr lvl="2">
              <a:buFont typeface="Wingdings" pitchFamily="2" charset="2"/>
              <a:buChar char="Ø"/>
            </a:pPr>
            <a:r>
              <a:rPr lang="en-ZA" sz="2200" dirty="0"/>
              <a:t>Tom Wilkie of </a:t>
            </a:r>
            <a:r>
              <a:rPr lang="en-ZA" sz="2200" dirty="0">
                <a:hlinkClick r:id="rId3"/>
              </a:rPr>
              <a:t>Weave Works </a:t>
            </a:r>
            <a:r>
              <a:rPr lang="en-ZA" sz="2200" dirty="0"/>
              <a:t> </a:t>
            </a:r>
            <a:r>
              <a:rPr lang="en-ZA" sz="2200" dirty="0">
                <a:hlinkClick r:id="rId4"/>
              </a:rPr>
              <a:t>recommends</a:t>
            </a:r>
            <a:r>
              <a:rPr lang="en-ZA" sz="2200" dirty="0"/>
              <a:t> combining the visualization of RED metrics for all services in a single dashboard. </a:t>
            </a:r>
          </a:p>
          <a:p>
            <a:pPr lvl="2">
              <a:buFont typeface="Wingdings" pitchFamily="2" charset="2"/>
              <a:buChar char="Ø"/>
            </a:pPr>
            <a:r>
              <a:rPr lang="en-ZA" sz="2200" dirty="0"/>
              <a:t>It is claimed that viewing all services from the same point of view on a single screen in this way is much easier for people following the metrics to perceive. </a:t>
            </a:r>
          </a:p>
          <a:p>
            <a:pPr lvl="2">
              <a:buFont typeface="Wingdings" pitchFamily="2" charset="2"/>
              <a:buChar char="Ø"/>
            </a:pPr>
            <a:r>
              <a:rPr lang="en-ZA" sz="2200" dirty="0"/>
              <a:t>In the example below, Rate and Error data is visualized in the left graph and Duration data is visualized in the right graph for each service. </a:t>
            </a:r>
          </a:p>
          <a:p>
            <a:pPr lvl="2">
              <a:buFont typeface="Wingdings" pitchFamily="2" charset="2"/>
              <a:buChar char="Ø"/>
            </a:pPr>
            <a:endParaRPr lang="en-ZA" sz="2200" dirty="0"/>
          </a:p>
          <a:p>
            <a:pPr lvl="2">
              <a:buFont typeface="Wingdings" pitchFamily="2" charset="2"/>
              <a:buChar char="Ø"/>
            </a:pPr>
            <a:endParaRPr lang="en-ZA" sz="2200" dirty="0"/>
          </a:p>
          <a:p>
            <a:pPr lvl="2">
              <a:buFont typeface="Wingdings" pitchFamily="2" charset="2"/>
              <a:buChar char="Ø"/>
            </a:pPr>
            <a:endParaRPr lang="en-ZA" sz="2200" dirty="0"/>
          </a:p>
        </p:txBody>
      </p:sp>
      <p:pic>
        <p:nvPicPr>
          <p:cNvPr id="4" name="Picture 3">
            <a:extLst>
              <a:ext uri="{FF2B5EF4-FFF2-40B4-BE49-F238E27FC236}">
                <a16:creationId xmlns:a16="http://schemas.microsoft.com/office/drawing/2014/main" id="{5C0203FE-2E06-E048-B2B7-0B009CC2F08F}"/>
              </a:ext>
            </a:extLst>
          </p:cNvPr>
          <p:cNvPicPr>
            <a:picLocks noChangeAspect="1"/>
          </p:cNvPicPr>
          <p:nvPr/>
        </p:nvPicPr>
        <p:blipFill>
          <a:blip r:embed="rId5"/>
          <a:stretch>
            <a:fillRect/>
          </a:stretch>
        </p:blipFill>
        <p:spPr>
          <a:xfrm>
            <a:off x="4793226" y="854008"/>
            <a:ext cx="2605548" cy="1610373"/>
          </a:xfrm>
          <a:prstGeom prst="rect">
            <a:avLst/>
          </a:prstGeom>
        </p:spPr>
      </p:pic>
    </p:spTree>
    <p:extLst>
      <p:ext uri="{BB962C8B-B14F-4D97-AF65-F5344CB8AC3E}">
        <p14:creationId xmlns:p14="http://schemas.microsoft.com/office/powerpoint/2010/main" val="3263402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914402"/>
            <a:ext cx="12192000" cy="575186"/>
          </a:xfrm>
          <a:solidFill>
            <a:schemeClr val="bg1"/>
          </a:solidFill>
        </p:spPr>
        <p:txBody>
          <a:bodyPr>
            <a:normAutofit/>
          </a:bodyPr>
          <a:lstStyle/>
          <a:p>
            <a:pPr marL="514350" indent="-514350">
              <a:buFont typeface="+mj-lt"/>
              <a:buAutoNum type="arabicPeriod" startAt="6"/>
            </a:pPr>
            <a:r>
              <a:rPr lang="en-ZA" sz="3200" b="1" dirty="0"/>
              <a:t>Data Visualisation (Example)</a:t>
            </a:r>
            <a:endParaRPr lang="en-ZA" sz="2400" dirty="0"/>
          </a:p>
          <a:p>
            <a:pPr lvl="2">
              <a:buFont typeface="Wingdings" pitchFamily="2" charset="2"/>
              <a:buChar char="Ø"/>
            </a:pPr>
            <a:endParaRPr lang="en-ZA" sz="2200" dirty="0"/>
          </a:p>
          <a:p>
            <a:pPr lvl="2">
              <a:buFont typeface="Wingdings" pitchFamily="2" charset="2"/>
              <a:buChar char="Ø"/>
            </a:pPr>
            <a:endParaRPr lang="en-ZA" sz="2200" dirty="0"/>
          </a:p>
          <a:p>
            <a:pPr lvl="2">
              <a:buFont typeface="Wingdings" pitchFamily="2" charset="2"/>
              <a:buChar char="Ø"/>
            </a:pPr>
            <a:endParaRPr lang="en-ZA" sz="2200" dirty="0"/>
          </a:p>
        </p:txBody>
      </p:sp>
      <p:pic>
        <p:nvPicPr>
          <p:cNvPr id="5" name="Picture 4">
            <a:extLst>
              <a:ext uri="{FF2B5EF4-FFF2-40B4-BE49-F238E27FC236}">
                <a16:creationId xmlns:a16="http://schemas.microsoft.com/office/drawing/2014/main" id="{C192EE56-A729-A941-B237-F8C26425A7E8}"/>
              </a:ext>
            </a:extLst>
          </p:cNvPr>
          <p:cNvPicPr>
            <a:picLocks noChangeAspect="1"/>
          </p:cNvPicPr>
          <p:nvPr/>
        </p:nvPicPr>
        <p:blipFill>
          <a:blip r:embed="rId2"/>
          <a:stretch>
            <a:fillRect/>
          </a:stretch>
        </p:blipFill>
        <p:spPr>
          <a:xfrm>
            <a:off x="2157873" y="1489588"/>
            <a:ext cx="7876253" cy="5320713"/>
          </a:xfrm>
          <a:prstGeom prst="rect">
            <a:avLst/>
          </a:prstGeom>
        </p:spPr>
      </p:pic>
    </p:spTree>
    <p:extLst>
      <p:ext uri="{BB962C8B-B14F-4D97-AF65-F5344CB8AC3E}">
        <p14:creationId xmlns:p14="http://schemas.microsoft.com/office/powerpoint/2010/main" val="29150790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914401"/>
            <a:ext cx="12192000" cy="1681315"/>
          </a:xfrm>
          <a:solidFill>
            <a:schemeClr val="bg1"/>
          </a:solidFill>
        </p:spPr>
        <p:txBody>
          <a:bodyPr>
            <a:normAutofit/>
          </a:bodyPr>
          <a:lstStyle/>
          <a:p>
            <a:pPr marL="514350" indent="-514350">
              <a:buFont typeface="+mj-lt"/>
              <a:buAutoNum type="arabicPeriod" startAt="6"/>
            </a:pPr>
            <a:r>
              <a:rPr lang="en-ZA" sz="3200" b="1" dirty="0"/>
              <a:t>Data Visualisation</a:t>
            </a:r>
            <a:endParaRPr lang="en-ZA" sz="2400" dirty="0"/>
          </a:p>
          <a:p>
            <a:pPr marL="731520" lvl="1" indent="-457200">
              <a:buFont typeface="+mj-lt"/>
              <a:buAutoNum type="alphaLcParenR"/>
            </a:pPr>
            <a:r>
              <a:rPr lang="en-ZA" sz="2400" b="1" dirty="0"/>
              <a:t>Graph</a:t>
            </a:r>
            <a:endParaRPr lang="en-ZA" sz="2200" dirty="0"/>
          </a:p>
          <a:p>
            <a:pPr lvl="3">
              <a:buFont typeface="Wingdings" pitchFamily="2" charset="2"/>
              <a:buChar char="Ø"/>
            </a:pPr>
            <a:r>
              <a:rPr lang="en-ZA" sz="2200" dirty="0"/>
              <a:t>It can be used as Line, Bar and Histogram. It is used to show the change in data as a function of other data or time. </a:t>
            </a:r>
          </a:p>
          <a:p>
            <a:pPr lvl="3">
              <a:buFont typeface="Wingdings" pitchFamily="2" charset="2"/>
              <a:buChar char="Ø"/>
            </a:pPr>
            <a:endParaRPr lang="en-ZA" sz="2200" dirty="0"/>
          </a:p>
        </p:txBody>
      </p:sp>
      <p:pic>
        <p:nvPicPr>
          <p:cNvPr id="5" name="Picture 4">
            <a:extLst>
              <a:ext uri="{FF2B5EF4-FFF2-40B4-BE49-F238E27FC236}">
                <a16:creationId xmlns:a16="http://schemas.microsoft.com/office/drawing/2014/main" id="{C3D82D3C-4CFB-A348-8B45-EC72185467C8}"/>
              </a:ext>
            </a:extLst>
          </p:cNvPr>
          <p:cNvPicPr>
            <a:picLocks noChangeAspect="1"/>
          </p:cNvPicPr>
          <p:nvPr/>
        </p:nvPicPr>
        <p:blipFill>
          <a:blip r:embed="rId2"/>
          <a:stretch>
            <a:fillRect/>
          </a:stretch>
        </p:blipFill>
        <p:spPr>
          <a:xfrm>
            <a:off x="231634" y="2916085"/>
            <a:ext cx="5308600" cy="2692400"/>
          </a:xfrm>
          <a:prstGeom prst="rect">
            <a:avLst/>
          </a:prstGeom>
        </p:spPr>
      </p:pic>
      <p:pic>
        <p:nvPicPr>
          <p:cNvPr id="6" name="Picture 5">
            <a:extLst>
              <a:ext uri="{FF2B5EF4-FFF2-40B4-BE49-F238E27FC236}">
                <a16:creationId xmlns:a16="http://schemas.microsoft.com/office/drawing/2014/main" id="{65ACF7D6-EBD1-7840-900C-5E541733815D}"/>
              </a:ext>
            </a:extLst>
          </p:cNvPr>
          <p:cNvPicPr>
            <a:picLocks noChangeAspect="1"/>
          </p:cNvPicPr>
          <p:nvPr/>
        </p:nvPicPr>
        <p:blipFill>
          <a:blip r:embed="rId3"/>
          <a:stretch>
            <a:fillRect/>
          </a:stretch>
        </p:blipFill>
        <p:spPr>
          <a:xfrm>
            <a:off x="5894556" y="2487228"/>
            <a:ext cx="6065810" cy="4099302"/>
          </a:xfrm>
          <a:prstGeom prst="rect">
            <a:avLst/>
          </a:prstGeom>
        </p:spPr>
      </p:pic>
    </p:spTree>
    <p:extLst>
      <p:ext uri="{BB962C8B-B14F-4D97-AF65-F5344CB8AC3E}">
        <p14:creationId xmlns:p14="http://schemas.microsoft.com/office/powerpoint/2010/main" val="9165128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958647"/>
            <a:ext cx="12192000" cy="1696064"/>
          </a:xfrm>
          <a:solidFill>
            <a:schemeClr val="bg1"/>
          </a:solidFill>
        </p:spPr>
        <p:txBody>
          <a:bodyPr>
            <a:normAutofit/>
          </a:bodyPr>
          <a:lstStyle/>
          <a:p>
            <a:pPr marL="514350" indent="-514350">
              <a:buFont typeface="+mj-lt"/>
              <a:buAutoNum type="arabicPeriod" startAt="6"/>
            </a:pPr>
            <a:r>
              <a:rPr lang="en-ZA" sz="3200" b="1" dirty="0"/>
              <a:t>Data Visualisation</a:t>
            </a:r>
            <a:endParaRPr lang="en-ZA" sz="2400" dirty="0"/>
          </a:p>
          <a:p>
            <a:pPr marL="731520" lvl="1" indent="-457200">
              <a:buFont typeface="+mj-lt"/>
              <a:buAutoNum type="alphaLcParenR" startAt="2"/>
            </a:pPr>
            <a:r>
              <a:rPr lang="en-ZA" sz="2400" b="1" dirty="0"/>
              <a:t>Stat</a:t>
            </a:r>
          </a:p>
          <a:p>
            <a:pPr lvl="3">
              <a:buFont typeface="Wingdings" pitchFamily="2" charset="2"/>
              <a:buChar char="Ø"/>
            </a:pPr>
            <a:r>
              <a:rPr lang="en-ZA" sz="2200" dirty="0"/>
              <a:t>It is often used to indicate one or more values that should be seen at a glance. It is particularly well suited for summary information. </a:t>
            </a:r>
          </a:p>
          <a:p>
            <a:pPr lvl="3">
              <a:buFont typeface="Wingdings" pitchFamily="2" charset="2"/>
              <a:buChar char="Ø"/>
            </a:pPr>
            <a:endParaRPr lang="en-ZA" sz="2200" dirty="0"/>
          </a:p>
        </p:txBody>
      </p:sp>
      <p:pic>
        <p:nvPicPr>
          <p:cNvPr id="5" name="Picture 4">
            <a:extLst>
              <a:ext uri="{FF2B5EF4-FFF2-40B4-BE49-F238E27FC236}">
                <a16:creationId xmlns:a16="http://schemas.microsoft.com/office/drawing/2014/main" id="{B319ACE5-38F4-E64D-B176-008795EC8E60}"/>
              </a:ext>
            </a:extLst>
          </p:cNvPr>
          <p:cNvPicPr>
            <a:picLocks noChangeAspect="1"/>
          </p:cNvPicPr>
          <p:nvPr/>
        </p:nvPicPr>
        <p:blipFill>
          <a:blip r:embed="rId2"/>
          <a:stretch>
            <a:fillRect/>
          </a:stretch>
        </p:blipFill>
        <p:spPr>
          <a:xfrm>
            <a:off x="0" y="2855306"/>
            <a:ext cx="12192000" cy="4039953"/>
          </a:xfrm>
          <a:prstGeom prst="rect">
            <a:avLst/>
          </a:prstGeom>
        </p:spPr>
      </p:pic>
    </p:spTree>
    <p:extLst>
      <p:ext uri="{BB962C8B-B14F-4D97-AF65-F5344CB8AC3E}">
        <p14:creationId xmlns:p14="http://schemas.microsoft.com/office/powerpoint/2010/main" val="190813542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825912"/>
            <a:ext cx="12192000" cy="1710812"/>
          </a:xfrm>
          <a:solidFill>
            <a:schemeClr val="bg1"/>
          </a:solidFill>
        </p:spPr>
        <p:txBody>
          <a:bodyPr>
            <a:normAutofit/>
          </a:bodyPr>
          <a:lstStyle/>
          <a:p>
            <a:pPr marL="514350" indent="-514350">
              <a:buFont typeface="+mj-lt"/>
              <a:buAutoNum type="arabicPeriod" startAt="6"/>
            </a:pPr>
            <a:r>
              <a:rPr lang="en-ZA" sz="3200" b="1" dirty="0"/>
              <a:t>Data Visualisation</a:t>
            </a:r>
            <a:endParaRPr lang="en-ZA" sz="2400" dirty="0"/>
          </a:p>
          <a:p>
            <a:pPr marL="731520" lvl="1" indent="-457200">
              <a:buFont typeface="+mj-lt"/>
              <a:buAutoNum type="alphaLcParenR" startAt="3"/>
            </a:pPr>
            <a:r>
              <a:rPr lang="en-ZA" sz="2400" b="1" dirty="0"/>
              <a:t>Gauge</a:t>
            </a:r>
          </a:p>
          <a:p>
            <a:pPr lvl="3">
              <a:buFont typeface="Wingdings" pitchFamily="2" charset="2"/>
              <a:buChar char="Ø"/>
            </a:pPr>
            <a:r>
              <a:rPr lang="en-ZA" sz="2200" dirty="0"/>
              <a:t>Ideal for visualizing data types with an upper limit. It can be used in standard or bar mode. </a:t>
            </a:r>
          </a:p>
          <a:p>
            <a:pPr lvl="3">
              <a:buFont typeface="Wingdings" pitchFamily="2" charset="2"/>
              <a:buChar char="Ø"/>
            </a:pPr>
            <a:endParaRPr lang="en-ZA" sz="2200" dirty="0"/>
          </a:p>
        </p:txBody>
      </p:sp>
      <p:pic>
        <p:nvPicPr>
          <p:cNvPr id="5" name="Picture 4">
            <a:extLst>
              <a:ext uri="{FF2B5EF4-FFF2-40B4-BE49-F238E27FC236}">
                <a16:creationId xmlns:a16="http://schemas.microsoft.com/office/drawing/2014/main" id="{4BEAC9CB-E378-854F-A220-EF5B97F9BF3C}"/>
              </a:ext>
            </a:extLst>
          </p:cNvPr>
          <p:cNvPicPr>
            <a:picLocks noChangeAspect="1"/>
          </p:cNvPicPr>
          <p:nvPr/>
        </p:nvPicPr>
        <p:blipFill>
          <a:blip r:embed="rId2"/>
          <a:stretch>
            <a:fillRect/>
          </a:stretch>
        </p:blipFill>
        <p:spPr>
          <a:xfrm>
            <a:off x="1" y="2458914"/>
            <a:ext cx="12192000" cy="4399086"/>
          </a:xfrm>
          <a:prstGeom prst="rect">
            <a:avLst/>
          </a:prstGeom>
        </p:spPr>
      </p:pic>
    </p:spTree>
    <p:extLst>
      <p:ext uri="{BB962C8B-B14F-4D97-AF65-F5344CB8AC3E}">
        <p14:creationId xmlns:p14="http://schemas.microsoft.com/office/powerpoint/2010/main" val="146347139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914401"/>
            <a:ext cx="12192000" cy="1710812"/>
          </a:xfrm>
          <a:solidFill>
            <a:schemeClr val="bg1"/>
          </a:solidFill>
        </p:spPr>
        <p:txBody>
          <a:bodyPr>
            <a:normAutofit/>
          </a:bodyPr>
          <a:lstStyle/>
          <a:p>
            <a:pPr marL="514350" indent="-514350">
              <a:buFont typeface="+mj-lt"/>
              <a:buAutoNum type="arabicPeriod" startAt="6"/>
            </a:pPr>
            <a:r>
              <a:rPr lang="en-ZA" sz="3200" b="1" dirty="0"/>
              <a:t>Data Visualisation</a:t>
            </a:r>
            <a:endParaRPr lang="en-ZA" sz="2400" dirty="0"/>
          </a:p>
          <a:p>
            <a:pPr marL="731520" lvl="1" indent="-457200">
              <a:buFont typeface="+mj-lt"/>
              <a:buAutoNum type="alphaLcParenR" startAt="4"/>
            </a:pPr>
            <a:r>
              <a:rPr lang="en-ZA" sz="2400" b="1" dirty="0"/>
              <a:t>Heatmap</a:t>
            </a:r>
            <a:endParaRPr lang="en-ZA" sz="2200" dirty="0"/>
          </a:p>
          <a:p>
            <a:pPr lvl="3">
              <a:buFont typeface="Wingdings" pitchFamily="2" charset="2"/>
              <a:buChar char="Ø"/>
            </a:pPr>
            <a:r>
              <a:rPr lang="en-ZA" sz="2200" dirty="0"/>
              <a:t>It is particularly used for the time-dependent display of histogram data. It is ideal for seeing in which groups data grouped as histograms concentrate over time. </a:t>
            </a:r>
          </a:p>
          <a:p>
            <a:pPr lvl="3">
              <a:buFont typeface="Wingdings" pitchFamily="2" charset="2"/>
              <a:buChar char="Ø"/>
            </a:pPr>
            <a:endParaRPr lang="en-ZA" sz="2200" dirty="0"/>
          </a:p>
        </p:txBody>
      </p:sp>
      <p:pic>
        <p:nvPicPr>
          <p:cNvPr id="5" name="Picture 4">
            <a:extLst>
              <a:ext uri="{FF2B5EF4-FFF2-40B4-BE49-F238E27FC236}">
                <a16:creationId xmlns:a16="http://schemas.microsoft.com/office/drawing/2014/main" id="{772C92DB-D46C-AF4A-955C-971F8AE45FE2}"/>
              </a:ext>
            </a:extLst>
          </p:cNvPr>
          <p:cNvPicPr>
            <a:picLocks noChangeAspect="1"/>
          </p:cNvPicPr>
          <p:nvPr/>
        </p:nvPicPr>
        <p:blipFill>
          <a:blip r:embed="rId2"/>
          <a:stretch>
            <a:fillRect/>
          </a:stretch>
        </p:blipFill>
        <p:spPr>
          <a:xfrm>
            <a:off x="0" y="2689514"/>
            <a:ext cx="12191999" cy="4168485"/>
          </a:xfrm>
          <a:prstGeom prst="rect">
            <a:avLst/>
          </a:prstGeom>
        </p:spPr>
      </p:pic>
    </p:spTree>
    <p:extLst>
      <p:ext uri="{BB962C8B-B14F-4D97-AF65-F5344CB8AC3E}">
        <p14:creationId xmlns:p14="http://schemas.microsoft.com/office/powerpoint/2010/main" val="33787491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831690"/>
            <a:ext cx="12192000" cy="4026309"/>
          </a:xfrm>
          <a:solidFill>
            <a:schemeClr val="bg1"/>
          </a:solidFill>
        </p:spPr>
        <p:txBody>
          <a:bodyPr>
            <a:normAutofit/>
          </a:bodyPr>
          <a:lstStyle/>
          <a:p>
            <a:pPr marL="514350" indent="-514350">
              <a:buFont typeface="+mj-lt"/>
              <a:buAutoNum type="arabicPeriod" startAt="7"/>
            </a:pPr>
            <a:r>
              <a:rPr lang="en-ZA" sz="3200" b="1" dirty="0"/>
              <a:t>Alerting</a:t>
            </a:r>
            <a:endParaRPr lang="en-ZA" sz="2400" dirty="0"/>
          </a:p>
          <a:p>
            <a:pPr lvl="2">
              <a:buFont typeface="Wingdings" pitchFamily="2" charset="2"/>
              <a:buChar char="Ø"/>
            </a:pPr>
            <a:r>
              <a:rPr lang="en-ZA" sz="2200" dirty="0"/>
              <a:t>Tools that collect metrics data, such as Prometheus, also allow the creation of rule-based alerts on those metrics. </a:t>
            </a:r>
          </a:p>
          <a:p>
            <a:pPr lvl="2">
              <a:buFont typeface="Wingdings" pitchFamily="2" charset="2"/>
              <a:buChar char="Ø"/>
            </a:pPr>
            <a:r>
              <a:rPr lang="en-ZA" sz="2200" dirty="0"/>
              <a:t>However, a single problem in the system may generate data that triggers alerts on several different metrics, or it may repeatedly generate the same alert at certain intervals if a metric remains above/below the warning threshold for a certain period. </a:t>
            </a:r>
          </a:p>
          <a:p>
            <a:pPr lvl="2">
              <a:buFont typeface="Wingdings" pitchFamily="2" charset="2"/>
              <a:buChar char="Ø"/>
            </a:pPr>
            <a:r>
              <a:rPr lang="en-ZA" sz="2200" dirty="0"/>
              <a:t>In addition, these systems have no information about who and how the warning is transmitted. </a:t>
            </a:r>
          </a:p>
          <a:p>
            <a:pPr lvl="2">
              <a:buFont typeface="Wingdings" pitchFamily="2" charset="2"/>
              <a:buChar char="Ø"/>
            </a:pPr>
            <a:r>
              <a:rPr lang="en-ZA" sz="2200" dirty="0"/>
              <a:t>Therefore, an application is needed to manage alerts. These applications should have the following functions: </a:t>
            </a:r>
          </a:p>
          <a:p>
            <a:pPr lvl="2">
              <a:buFont typeface="Wingdings" pitchFamily="2" charset="2"/>
              <a:buChar char="Ø"/>
            </a:pPr>
            <a:endParaRPr lang="en-ZA" sz="2200" dirty="0"/>
          </a:p>
        </p:txBody>
      </p:sp>
      <p:pic>
        <p:nvPicPr>
          <p:cNvPr id="4" name="Picture 3">
            <a:extLst>
              <a:ext uri="{FF2B5EF4-FFF2-40B4-BE49-F238E27FC236}">
                <a16:creationId xmlns:a16="http://schemas.microsoft.com/office/drawing/2014/main" id="{11366CFC-80D5-CA40-AEAA-65864DF80224}"/>
              </a:ext>
            </a:extLst>
          </p:cNvPr>
          <p:cNvPicPr>
            <a:picLocks noChangeAspect="1"/>
          </p:cNvPicPr>
          <p:nvPr/>
        </p:nvPicPr>
        <p:blipFill>
          <a:blip r:embed="rId2"/>
          <a:stretch>
            <a:fillRect/>
          </a:stretch>
        </p:blipFill>
        <p:spPr>
          <a:xfrm>
            <a:off x="3514622" y="941029"/>
            <a:ext cx="5935536" cy="2126636"/>
          </a:xfrm>
          <a:prstGeom prst="rect">
            <a:avLst/>
          </a:prstGeom>
        </p:spPr>
      </p:pic>
    </p:spTree>
    <p:extLst>
      <p:ext uri="{BB962C8B-B14F-4D97-AF65-F5344CB8AC3E}">
        <p14:creationId xmlns:p14="http://schemas.microsoft.com/office/powerpoint/2010/main" val="52996009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141406"/>
            <a:ext cx="12192000" cy="3716593"/>
          </a:xfrm>
          <a:solidFill>
            <a:schemeClr val="bg1"/>
          </a:solidFill>
        </p:spPr>
        <p:txBody>
          <a:bodyPr>
            <a:normAutofit/>
          </a:bodyPr>
          <a:lstStyle/>
          <a:p>
            <a:pPr marL="514350" indent="-514350">
              <a:buFont typeface="+mj-lt"/>
              <a:buAutoNum type="arabicPeriod" startAt="7"/>
            </a:pPr>
            <a:r>
              <a:rPr lang="en-ZA" sz="3200" b="1" dirty="0"/>
              <a:t>Alerting</a:t>
            </a:r>
            <a:endParaRPr lang="en-ZA" sz="2400" dirty="0"/>
          </a:p>
          <a:p>
            <a:pPr lvl="2">
              <a:buFont typeface="Wingdings" pitchFamily="2" charset="2"/>
              <a:buChar char="Ø"/>
            </a:pPr>
            <a:r>
              <a:rPr lang="en-ZA" sz="2200" dirty="0"/>
              <a:t>Therefore, an application is needed to manage alerts. These applications should have the following functions: </a:t>
            </a:r>
          </a:p>
          <a:p>
            <a:pPr marL="1280160" lvl="3" indent="-457200">
              <a:buFont typeface="+mj-lt"/>
              <a:buAutoNum type="arabicParenR"/>
            </a:pPr>
            <a:r>
              <a:rPr lang="en-ZA" sz="2200" b="1" dirty="0">
                <a:solidFill>
                  <a:srgbClr val="FF0000"/>
                </a:solidFill>
              </a:rPr>
              <a:t>Grouping</a:t>
            </a:r>
            <a:r>
              <a:rPr lang="en-ZA" sz="2200" dirty="0"/>
              <a:t>: The alert system should be able to group alerts that are known to be related and send them to recipients as a single notification. </a:t>
            </a:r>
          </a:p>
          <a:p>
            <a:pPr marL="1554480" lvl="4" indent="-457200">
              <a:buFont typeface="+mj-lt"/>
              <a:buAutoNum type="alphaLcParenR"/>
            </a:pPr>
            <a:r>
              <a:rPr lang="en-ZA" sz="2200" dirty="0"/>
              <a:t>For example, alerts from multiple services that have a connection problem to a common database should be able to be converted into a single notification containing the relevant database information and a list of services that could not be reached. </a:t>
            </a:r>
          </a:p>
          <a:p>
            <a:pPr lvl="2">
              <a:buFont typeface="Wingdings" pitchFamily="2" charset="2"/>
              <a:buChar char="Ø"/>
            </a:pPr>
            <a:endParaRPr lang="en-ZA" sz="2200" dirty="0"/>
          </a:p>
          <a:p>
            <a:pPr lvl="2">
              <a:buFont typeface="Wingdings" pitchFamily="2" charset="2"/>
              <a:buChar char="Ø"/>
            </a:pPr>
            <a:endParaRPr lang="en-ZA" sz="2200" dirty="0"/>
          </a:p>
        </p:txBody>
      </p:sp>
      <p:pic>
        <p:nvPicPr>
          <p:cNvPr id="4" name="Picture 3">
            <a:extLst>
              <a:ext uri="{FF2B5EF4-FFF2-40B4-BE49-F238E27FC236}">
                <a16:creationId xmlns:a16="http://schemas.microsoft.com/office/drawing/2014/main" id="{11366CFC-80D5-CA40-AEAA-65864DF80224}"/>
              </a:ext>
            </a:extLst>
          </p:cNvPr>
          <p:cNvPicPr>
            <a:picLocks noChangeAspect="1"/>
          </p:cNvPicPr>
          <p:nvPr/>
        </p:nvPicPr>
        <p:blipFill>
          <a:blip r:embed="rId2"/>
          <a:stretch>
            <a:fillRect/>
          </a:stretch>
        </p:blipFill>
        <p:spPr>
          <a:xfrm>
            <a:off x="3204905" y="964076"/>
            <a:ext cx="6141351" cy="2200377"/>
          </a:xfrm>
          <a:prstGeom prst="rect">
            <a:avLst/>
          </a:prstGeom>
        </p:spPr>
      </p:pic>
    </p:spTree>
    <p:extLst>
      <p:ext uri="{BB962C8B-B14F-4D97-AF65-F5344CB8AC3E}">
        <p14:creationId xmlns:p14="http://schemas.microsoft.com/office/powerpoint/2010/main" val="31210344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141406"/>
            <a:ext cx="12192000" cy="3716593"/>
          </a:xfrm>
          <a:solidFill>
            <a:schemeClr val="bg1"/>
          </a:solidFill>
        </p:spPr>
        <p:txBody>
          <a:bodyPr>
            <a:normAutofit/>
          </a:bodyPr>
          <a:lstStyle/>
          <a:p>
            <a:pPr marL="514350" indent="-514350">
              <a:buFont typeface="+mj-lt"/>
              <a:buAutoNum type="arabicPeriod" startAt="7"/>
            </a:pPr>
            <a:r>
              <a:rPr lang="en-ZA" sz="3200" b="1" dirty="0"/>
              <a:t>Alerting</a:t>
            </a:r>
            <a:endParaRPr lang="en-ZA" sz="2400" dirty="0"/>
          </a:p>
          <a:p>
            <a:pPr lvl="2">
              <a:buFont typeface="Wingdings" pitchFamily="2" charset="2"/>
              <a:buChar char="Ø"/>
            </a:pPr>
            <a:r>
              <a:rPr lang="en-ZA" sz="2200" dirty="0"/>
              <a:t>Therefore, an application is needed to manage alerts. These applications should have the following functions: </a:t>
            </a:r>
          </a:p>
          <a:p>
            <a:pPr marL="1280160" lvl="3" indent="-457200">
              <a:buFont typeface="+mj-lt"/>
              <a:buAutoNum type="arabicParenR" startAt="2"/>
            </a:pPr>
            <a:r>
              <a:rPr lang="en-ZA" sz="2200" b="1" dirty="0">
                <a:solidFill>
                  <a:srgbClr val="FF0000"/>
                </a:solidFill>
              </a:rPr>
              <a:t>Blocking:  </a:t>
            </a:r>
            <a:r>
              <a:rPr lang="en-ZA" sz="2200" dirty="0"/>
              <a:t>The alert system should not notify on other alerts that it knows are related to an alert that has already been notified. </a:t>
            </a:r>
          </a:p>
          <a:p>
            <a:pPr marL="1554480" lvl="4" indent="-457200">
              <a:buFont typeface="+mj-lt"/>
              <a:buAutoNum type="alphaLcParenR"/>
            </a:pPr>
            <a:r>
              <a:rPr lang="en-ZA" sz="2200" dirty="0"/>
              <a:t>For example, if a notification has been made about a malfunctioning cluster, alerts from services running on that cluster should be prevented until the alert about the cluster is resolved. </a:t>
            </a:r>
          </a:p>
          <a:p>
            <a:pPr marL="1554480" lvl="4" indent="-457200">
              <a:buFont typeface="+mj-lt"/>
              <a:buAutoNum type="alphaLcParenR"/>
            </a:pPr>
            <a:endParaRPr lang="en-ZA" sz="2200" dirty="0"/>
          </a:p>
          <a:p>
            <a:pPr lvl="2">
              <a:buFont typeface="Wingdings" pitchFamily="2" charset="2"/>
              <a:buChar char="Ø"/>
            </a:pPr>
            <a:endParaRPr lang="en-ZA" sz="2200" dirty="0"/>
          </a:p>
          <a:p>
            <a:pPr lvl="2">
              <a:buFont typeface="Wingdings" pitchFamily="2" charset="2"/>
              <a:buChar char="Ø"/>
            </a:pPr>
            <a:endParaRPr lang="en-ZA" sz="2200" dirty="0"/>
          </a:p>
        </p:txBody>
      </p:sp>
      <p:pic>
        <p:nvPicPr>
          <p:cNvPr id="4" name="Picture 3">
            <a:extLst>
              <a:ext uri="{FF2B5EF4-FFF2-40B4-BE49-F238E27FC236}">
                <a16:creationId xmlns:a16="http://schemas.microsoft.com/office/drawing/2014/main" id="{11366CFC-80D5-CA40-AEAA-65864DF80224}"/>
              </a:ext>
            </a:extLst>
          </p:cNvPr>
          <p:cNvPicPr>
            <a:picLocks noChangeAspect="1"/>
          </p:cNvPicPr>
          <p:nvPr/>
        </p:nvPicPr>
        <p:blipFill>
          <a:blip r:embed="rId2"/>
          <a:stretch>
            <a:fillRect/>
          </a:stretch>
        </p:blipFill>
        <p:spPr>
          <a:xfrm>
            <a:off x="3204905" y="964076"/>
            <a:ext cx="6141351" cy="2200377"/>
          </a:xfrm>
          <a:prstGeom prst="rect">
            <a:avLst/>
          </a:prstGeom>
        </p:spPr>
      </p:pic>
    </p:spTree>
    <p:extLst>
      <p:ext uri="{BB962C8B-B14F-4D97-AF65-F5344CB8AC3E}">
        <p14:creationId xmlns:p14="http://schemas.microsoft.com/office/powerpoint/2010/main" val="168363116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3141406"/>
            <a:ext cx="12192000" cy="3716593"/>
          </a:xfrm>
          <a:solidFill>
            <a:schemeClr val="bg1"/>
          </a:solidFill>
        </p:spPr>
        <p:txBody>
          <a:bodyPr>
            <a:normAutofit/>
          </a:bodyPr>
          <a:lstStyle/>
          <a:p>
            <a:pPr marL="514350" indent="-514350">
              <a:buFont typeface="+mj-lt"/>
              <a:buAutoNum type="arabicPeriod" startAt="7"/>
            </a:pPr>
            <a:r>
              <a:rPr lang="en-ZA" sz="3600" b="1" dirty="0"/>
              <a:t>Alerting</a:t>
            </a:r>
            <a:endParaRPr lang="en-ZA" sz="2800" dirty="0"/>
          </a:p>
          <a:p>
            <a:pPr lvl="2">
              <a:buFont typeface="Wingdings" pitchFamily="2" charset="2"/>
              <a:buChar char="Ø"/>
            </a:pPr>
            <a:r>
              <a:rPr lang="en-ZA" sz="2400" dirty="0"/>
              <a:t>Therefore, an application is needed to manage alerts. These applications should have the following functions: </a:t>
            </a:r>
          </a:p>
          <a:p>
            <a:pPr marL="1280160" lvl="3" indent="-457200">
              <a:buFont typeface="+mj-lt"/>
              <a:buAutoNum type="arabicParenR" startAt="2"/>
            </a:pPr>
            <a:r>
              <a:rPr lang="en-ZA" sz="2400" b="1" dirty="0">
                <a:solidFill>
                  <a:srgbClr val="FF0000"/>
                </a:solidFill>
              </a:rPr>
              <a:t>Silencing: </a:t>
            </a:r>
            <a:r>
              <a:rPr lang="en-ZA" sz="2400" dirty="0"/>
              <a:t>For any warning, it should be possible to silence it for a certain time after the warning is received. </a:t>
            </a:r>
          </a:p>
          <a:p>
            <a:pPr marL="1554480" lvl="4" indent="-457200">
              <a:buFont typeface="+mj-lt"/>
              <a:buAutoNum type="alphaLcParenR"/>
            </a:pPr>
            <a:r>
              <a:rPr lang="en-ZA" sz="2400" dirty="0"/>
              <a:t>For example, if it takes half an hour to reboot a system and this is a known and accepted situation, warnings that come in up to half an hour after the first warning should be ignored. </a:t>
            </a:r>
          </a:p>
          <a:p>
            <a:pPr marL="1554480" lvl="4" indent="-457200">
              <a:buFont typeface="+mj-lt"/>
              <a:buAutoNum type="alphaLcParenR"/>
            </a:pPr>
            <a:endParaRPr lang="en-ZA" sz="2400" dirty="0"/>
          </a:p>
          <a:p>
            <a:pPr marL="1554480" lvl="4" indent="-457200">
              <a:buFont typeface="+mj-lt"/>
              <a:buAutoNum type="alphaLcParenR"/>
            </a:pPr>
            <a:endParaRPr lang="en-ZA" sz="2400" dirty="0"/>
          </a:p>
          <a:p>
            <a:pPr lvl="2">
              <a:buFont typeface="Wingdings" pitchFamily="2" charset="2"/>
              <a:buChar char="Ø"/>
            </a:pPr>
            <a:endParaRPr lang="en-ZA" sz="2400" dirty="0"/>
          </a:p>
          <a:p>
            <a:pPr lvl="2">
              <a:buFont typeface="Wingdings" pitchFamily="2" charset="2"/>
              <a:buChar char="Ø"/>
            </a:pPr>
            <a:endParaRPr lang="en-ZA" sz="2400" dirty="0"/>
          </a:p>
        </p:txBody>
      </p:sp>
      <p:pic>
        <p:nvPicPr>
          <p:cNvPr id="4" name="Picture 3">
            <a:extLst>
              <a:ext uri="{FF2B5EF4-FFF2-40B4-BE49-F238E27FC236}">
                <a16:creationId xmlns:a16="http://schemas.microsoft.com/office/drawing/2014/main" id="{11366CFC-80D5-CA40-AEAA-65864DF80224}"/>
              </a:ext>
            </a:extLst>
          </p:cNvPr>
          <p:cNvPicPr>
            <a:picLocks noChangeAspect="1"/>
          </p:cNvPicPr>
          <p:nvPr/>
        </p:nvPicPr>
        <p:blipFill>
          <a:blip r:embed="rId2"/>
          <a:stretch>
            <a:fillRect/>
          </a:stretch>
        </p:blipFill>
        <p:spPr>
          <a:xfrm>
            <a:off x="3204905" y="964076"/>
            <a:ext cx="6141351" cy="2200377"/>
          </a:xfrm>
          <a:prstGeom prst="rect">
            <a:avLst/>
          </a:prstGeom>
        </p:spPr>
      </p:pic>
    </p:spTree>
    <p:extLst>
      <p:ext uri="{BB962C8B-B14F-4D97-AF65-F5344CB8AC3E}">
        <p14:creationId xmlns:p14="http://schemas.microsoft.com/office/powerpoint/2010/main" val="7353454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7FA0-123A-3448-8E45-48CC09F19054}"/>
              </a:ext>
            </a:extLst>
          </p:cNvPr>
          <p:cNvSpPr>
            <a:spLocks noGrp="1"/>
          </p:cNvSpPr>
          <p:nvPr>
            <p:ph type="title"/>
          </p:nvPr>
        </p:nvSpPr>
        <p:spPr>
          <a:xfrm>
            <a:off x="0" y="27137"/>
            <a:ext cx="12192000" cy="1123237"/>
          </a:xfrm>
        </p:spPr>
        <p:txBody>
          <a:bodyPr/>
          <a:lstStyle/>
          <a:p>
            <a:pPr marL="914400" indent="-914400" algn="ctr">
              <a:buFont typeface="+mj-lt"/>
              <a:buAutoNum type="arabicPeriod" startAt="2"/>
            </a:pPr>
            <a:r>
              <a:rPr lang="en-GB" dirty="0"/>
              <a:t>IMPLEMENTING OBSERVABILITY</a:t>
            </a:r>
          </a:p>
        </p:txBody>
      </p:sp>
      <p:sp>
        <p:nvSpPr>
          <p:cNvPr id="3" name="Content Placeholder 2">
            <a:extLst>
              <a:ext uri="{FF2B5EF4-FFF2-40B4-BE49-F238E27FC236}">
                <a16:creationId xmlns:a16="http://schemas.microsoft.com/office/drawing/2014/main" id="{3E208CF2-9E28-B846-9A38-397016324E9A}"/>
              </a:ext>
            </a:extLst>
          </p:cNvPr>
          <p:cNvSpPr>
            <a:spLocks noGrp="1"/>
          </p:cNvSpPr>
          <p:nvPr>
            <p:ph idx="1"/>
          </p:nvPr>
        </p:nvSpPr>
        <p:spPr>
          <a:xfrm>
            <a:off x="0" y="2536724"/>
            <a:ext cx="12192000" cy="4321276"/>
          </a:xfrm>
          <a:solidFill>
            <a:schemeClr val="bg1"/>
          </a:solidFill>
        </p:spPr>
        <p:txBody>
          <a:bodyPr>
            <a:normAutofit fontScale="92500" lnSpcReduction="10000"/>
          </a:bodyPr>
          <a:lstStyle/>
          <a:p>
            <a:pPr marL="514350" indent="-514350">
              <a:buFont typeface="+mj-lt"/>
              <a:buAutoNum type="arabicPeriod" startAt="7"/>
            </a:pPr>
            <a:r>
              <a:rPr lang="en-ZA" sz="3600" b="1" dirty="0"/>
              <a:t>Alerting</a:t>
            </a:r>
            <a:endParaRPr lang="en-ZA" sz="2800" dirty="0"/>
          </a:p>
          <a:p>
            <a:pPr lvl="2">
              <a:buFont typeface="Wingdings" pitchFamily="2" charset="2"/>
              <a:buChar char="Ø"/>
            </a:pPr>
            <a:r>
              <a:rPr lang="en-ZA" sz="2400" dirty="0"/>
              <a:t>Since the products/companies (Microsoft, VMware, etc.) that typically provide infrastructure systems supply alerting systems internally, and these products can also relay the alerts they receive from third party systems, companies tend to integrate them with the existing alerting systems. </a:t>
            </a:r>
          </a:p>
          <a:p>
            <a:pPr lvl="2">
              <a:buFont typeface="Wingdings" pitchFamily="2" charset="2"/>
              <a:buChar char="Ø"/>
            </a:pPr>
            <a:r>
              <a:rPr lang="en-ZA" sz="2400" dirty="0"/>
              <a:t>However, if you don’t have such a product, </a:t>
            </a:r>
            <a:r>
              <a:rPr lang="en-ZA" sz="2400" dirty="0">
                <a:hlinkClick r:id="rId2"/>
              </a:rPr>
              <a:t>Prometheus Alertmanager </a:t>
            </a:r>
            <a:r>
              <a:rPr lang="en-ZA" sz="2400" dirty="0"/>
              <a:t>can be used as a </a:t>
            </a:r>
          </a:p>
          <a:p>
            <a:pPr lvl="2">
              <a:buFont typeface="Wingdings" pitchFamily="2" charset="2"/>
              <a:buChar char="Ø"/>
            </a:pPr>
            <a:r>
              <a:rPr lang="en-ZA" sz="2400" dirty="0"/>
              <a:t>component within Prometheus that provides the above features (or even more). </a:t>
            </a:r>
          </a:p>
          <a:p>
            <a:pPr lvl="2">
              <a:buFont typeface="Wingdings" pitchFamily="2" charset="2"/>
              <a:buChar char="Ø"/>
            </a:pPr>
            <a:r>
              <a:rPr lang="en-ZA" sz="2400" dirty="0"/>
              <a:t>The goal with alert systems is to send as few notifications as possible. </a:t>
            </a:r>
          </a:p>
          <a:p>
            <a:pPr lvl="2">
              <a:buFont typeface="Wingdings" pitchFamily="2" charset="2"/>
              <a:buChar char="Ø"/>
            </a:pPr>
            <a:r>
              <a:rPr lang="en-ZA" sz="2400" dirty="0"/>
              <a:t>Otherwise, the alert system could become a “liar shepherd” and cause the really important alerts to be overlooked. </a:t>
            </a:r>
          </a:p>
          <a:p>
            <a:pPr lvl="2">
              <a:buFont typeface="Wingdings" pitchFamily="2" charset="2"/>
              <a:buChar char="Ø"/>
            </a:pPr>
            <a:r>
              <a:rPr lang="en-ZA" sz="2400" dirty="0"/>
              <a:t>This is where you can impose a rule to not miss alerts that should be sent.</a:t>
            </a:r>
          </a:p>
          <a:p>
            <a:pPr lvl="2">
              <a:buFont typeface="Wingdings" pitchFamily="2" charset="2"/>
              <a:buChar char="Ø"/>
            </a:pPr>
            <a:r>
              <a:rPr lang="en-ZA" sz="2400" dirty="0"/>
              <a:t>Another point that should never be overlooked in a warning system is that it must be redundant and fully observable. </a:t>
            </a:r>
          </a:p>
          <a:p>
            <a:pPr lvl="2">
              <a:buFont typeface="Wingdings" pitchFamily="2" charset="2"/>
              <a:buChar char="Ø"/>
            </a:pPr>
            <a:endParaRPr lang="en-ZA" sz="2400" dirty="0"/>
          </a:p>
          <a:p>
            <a:pPr lvl="2">
              <a:buFont typeface="Wingdings" pitchFamily="2" charset="2"/>
              <a:buChar char="Ø"/>
            </a:pPr>
            <a:endParaRPr lang="en-ZA" sz="2400" dirty="0"/>
          </a:p>
          <a:p>
            <a:pPr marL="1554480" lvl="4" indent="-457200">
              <a:buFont typeface="+mj-lt"/>
              <a:buAutoNum type="alphaLcParenR"/>
            </a:pPr>
            <a:endParaRPr lang="en-ZA" sz="2400" dirty="0"/>
          </a:p>
          <a:p>
            <a:pPr lvl="2">
              <a:buFont typeface="Wingdings" pitchFamily="2" charset="2"/>
              <a:buChar char="Ø"/>
            </a:pPr>
            <a:endParaRPr lang="en-ZA" sz="2400" dirty="0"/>
          </a:p>
          <a:p>
            <a:pPr lvl="2">
              <a:buFont typeface="Wingdings" pitchFamily="2" charset="2"/>
              <a:buChar char="Ø"/>
            </a:pPr>
            <a:endParaRPr lang="en-ZA" sz="2400" dirty="0"/>
          </a:p>
        </p:txBody>
      </p:sp>
      <p:pic>
        <p:nvPicPr>
          <p:cNvPr id="4" name="Picture 3">
            <a:extLst>
              <a:ext uri="{FF2B5EF4-FFF2-40B4-BE49-F238E27FC236}">
                <a16:creationId xmlns:a16="http://schemas.microsoft.com/office/drawing/2014/main" id="{11366CFC-80D5-CA40-AEAA-65864DF80224}"/>
              </a:ext>
            </a:extLst>
          </p:cNvPr>
          <p:cNvPicPr>
            <a:picLocks noChangeAspect="1"/>
          </p:cNvPicPr>
          <p:nvPr/>
        </p:nvPicPr>
        <p:blipFill>
          <a:blip r:embed="rId3"/>
          <a:stretch>
            <a:fillRect/>
          </a:stretch>
        </p:blipFill>
        <p:spPr>
          <a:xfrm>
            <a:off x="3908323" y="964077"/>
            <a:ext cx="5437933" cy="1948350"/>
          </a:xfrm>
          <a:prstGeom prst="rect">
            <a:avLst/>
          </a:prstGeom>
        </p:spPr>
      </p:pic>
    </p:spTree>
    <p:extLst>
      <p:ext uri="{BB962C8B-B14F-4D97-AF65-F5344CB8AC3E}">
        <p14:creationId xmlns:p14="http://schemas.microsoft.com/office/powerpoint/2010/main" val="31551401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2D4B3-4BEC-7D41-A88F-A44E744EDB9F}"/>
              </a:ext>
            </a:extLst>
          </p:cNvPr>
          <p:cNvSpPr>
            <a:spLocks noGrp="1"/>
          </p:cNvSpPr>
          <p:nvPr>
            <p:ph type="title"/>
          </p:nvPr>
        </p:nvSpPr>
        <p:spPr/>
        <p:txBody>
          <a:bodyPr/>
          <a:lstStyle/>
          <a:p>
            <a:pPr marL="1371600" indent="-1371600" algn="ctr">
              <a:buFont typeface="+mj-lt"/>
              <a:buAutoNum type="arabicPeriod" startAt="3"/>
            </a:pPr>
            <a:r>
              <a:rPr lang="en-GB" dirty="0"/>
              <a:t>CONCLUSION</a:t>
            </a:r>
          </a:p>
        </p:txBody>
      </p:sp>
    </p:spTree>
    <p:extLst>
      <p:ext uri="{BB962C8B-B14F-4D97-AF65-F5344CB8AC3E}">
        <p14:creationId xmlns:p14="http://schemas.microsoft.com/office/powerpoint/2010/main" val="256863231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A6FAF4-D6A6-A042-82E0-4D4F0BF8B570}"/>
              </a:ext>
            </a:extLst>
          </p:cNvPr>
          <p:cNvSpPr>
            <a:spLocks noGrp="1"/>
          </p:cNvSpPr>
          <p:nvPr>
            <p:ph type="title"/>
          </p:nvPr>
        </p:nvSpPr>
        <p:spPr>
          <a:xfrm>
            <a:off x="0" y="0"/>
            <a:ext cx="12192000" cy="1135626"/>
          </a:xfrm>
        </p:spPr>
        <p:txBody>
          <a:bodyPr/>
          <a:lstStyle/>
          <a:p>
            <a:pPr marL="914400" indent="-914400" algn="ctr">
              <a:buFont typeface="+mj-lt"/>
              <a:buAutoNum type="arabicPeriod" startAt="3"/>
            </a:pPr>
            <a:r>
              <a:rPr lang="en-GB" dirty="0"/>
              <a:t>CONCLUSION</a:t>
            </a:r>
          </a:p>
        </p:txBody>
      </p:sp>
      <p:sp>
        <p:nvSpPr>
          <p:cNvPr id="3" name="Content Placeholder 2">
            <a:extLst>
              <a:ext uri="{FF2B5EF4-FFF2-40B4-BE49-F238E27FC236}">
                <a16:creationId xmlns:a16="http://schemas.microsoft.com/office/drawing/2014/main" id="{38E60D2C-A76B-D944-95D3-22F65CF5D79C}"/>
              </a:ext>
            </a:extLst>
          </p:cNvPr>
          <p:cNvSpPr>
            <a:spLocks noGrp="1"/>
          </p:cNvSpPr>
          <p:nvPr>
            <p:ph idx="1"/>
          </p:nvPr>
        </p:nvSpPr>
        <p:spPr>
          <a:xfrm>
            <a:off x="0" y="988142"/>
            <a:ext cx="12192000" cy="5869858"/>
          </a:xfrm>
          <a:solidFill>
            <a:schemeClr val="bg1"/>
          </a:solidFill>
        </p:spPr>
        <p:txBody>
          <a:bodyPr>
            <a:normAutofit fontScale="92500"/>
          </a:bodyPr>
          <a:lstStyle/>
          <a:p>
            <a:pPr>
              <a:buFont typeface="Wingdings" pitchFamily="2" charset="2"/>
              <a:buChar char="Ø"/>
            </a:pPr>
            <a:r>
              <a:rPr lang="en-ZA" sz="2400" dirty="0"/>
              <a:t>There are several valid reasons for migrating applications to a distributed architecture. </a:t>
            </a:r>
          </a:p>
          <a:p>
            <a:pPr>
              <a:buFont typeface="Wingdings" pitchFamily="2" charset="2"/>
              <a:buChar char="Ø"/>
            </a:pPr>
            <a:r>
              <a:rPr lang="en-ZA" sz="2400" dirty="0"/>
              <a:t>Horizontal extensibility, efficient use of resources, zero downtime deployments, ability to perform A/B testing are some of them. </a:t>
            </a:r>
          </a:p>
          <a:p>
            <a:pPr>
              <a:buFont typeface="Wingdings" pitchFamily="2" charset="2"/>
              <a:buChar char="Ø"/>
            </a:pPr>
            <a:r>
              <a:rPr lang="en-ZA" sz="2400" dirty="0"/>
              <a:t>However the more distributed the applications become, the more complex they become and the more difficulties arise with monolithic applications. </a:t>
            </a:r>
          </a:p>
          <a:p>
            <a:pPr>
              <a:buFont typeface="Wingdings" pitchFamily="2" charset="2"/>
              <a:buChar char="Ø"/>
            </a:pPr>
            <a:r>
              <a:rPr lang="en-ZA" sz="2400" dirty="0"/>
              <a:t>For example, to merge the log records that are already together in the monolithic application regardless of the method, or to implement techniques like tracing that is not needed in monolithic applications. </a:t>
            </a:r>
          </a:p>
          <a:p>
            <a:pPr>
              <a:buFont typeface="Wingdings" pitchFamily="2" charset="2"/>
              <a:buChar char="Ø"/>
            </a:pPr>
            <a:r>
              <a:rPr lang="en-ZA" sz="2400" dirty="0"/>
              <a:t>True “observability” is no longer a goal that can be achieved with a single tool and the push of a few buttons. </a:t>
            </a:r>
          </a:p>
          <a:p>
            <a:pPr>
              <a:buFont typeface="Wingdings" pitchFamily="2" charset="2"/>
              <a:buChar char="Ø"/>
            </a:pPr>
            <a:r>
              <a:rPr lang="en-ZA" sz="2400" dirty="0"/>
              <a:t>However, thanks to organizations like CNCF and the companies that support these organizations, it is not an unattainable goal. </a:t>
            </a:r>
          </a:p>
          <a:p>
            <a:pPr>
              <a:buFont typeface="Wingdings" pitchFamily="2" charset="2"/>
              <a:buChar char="Ø"/>
            </a:pPr>
            <a:r>
              <a:rPr lang="en-ZA" sz="2400" dirty="0"/>
              <a:t>Many open-source tools have been developed for this purpose, and the support of the open-source communities that develop and use these tools, it is possible to make the applications observable with the right tools and the right tactics, taking the users’ satisfaction to a higher level. </a:t>
            </a:r>
          </a:p>
        </p:txBody>
      </p:sp>
    </p:spTree>
    <p:extLst>
      <p:ext uri="{BB962C8B-B14F-4D97-AF65-F5344CB8AC3E}">
        <p14:creationId xmlns:p14="http://schemas.microsoft.com/office/powerpoint/2010/main" val="9155227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1B100B-6F82-B340-8774-44709B7CD596}"/>
              </a:ext>
            </a:extLst>
          </p:cNvPr>
          <p:cNvSpPr>
            <a:spLocks noGrp="1"/>
          </p:cNvSpPr>
          <p:nvPr>
            <p:ph type="ctrTitle"/>
          </p:nvPr>
        </p:nvSpPr>
        <p:spPr>
          <a:xfrm>
            <a:off x="1524000" y="1122362"/>
            <a:ext cx="9144000" cy="2840037"/>
          </a:xfrm>
        </p:spPr>
        <p:txBody>
          <a:bodyPr>
            <a:normAutofit/>
          </a:bodyPr>
          <a:lstStyle/>
          <a:p>
            <a:r>
              <a:rPr lang="en-US" sz="5800"/>
              <a:t>Distributed tracing in practice</a:t>
            </a:r>
          </a:p>
        </p:txBody>
      </p:sp>
      <p:sp>
        <p:nvSpPr>
          <p:cNvPr id="3" name="Subtitle 2">
            <a:extLst>
              <a:ext uri="{FF2B5EF4-FFF2-40B4-BE49-F238E27FC236}">
                <a16:creationId xmlns:a16="http://schemas.microsoft.com/office/drawing/2014/main" id="{720079B2-01AE-224E-86AF-2E49FB70803E}"/>
              </a:ext>
            </a:extLst>
          </p:cNvPr>
          <p:cNvSpPr>
            <a:spLocks noGrp="1"/>
          </p:cNvSpPr>
          <p:nvPr>
            <p:ph type="subTitle" idx="1"/>
          </p:nvPr>
        </p:nvSpPr>
        <p:spPr>
          <a:xfrm>
            <a:off x="1524000" y="4256436"/>
            <a:ext cx="9144000" cy="1600818"/>
          </a:xfrm>
        </p:spPr>
        <p:txBody>
          <a:bodyPr>
            <a:normAutofit/>
          </a:bodyPr>
          <a:lstStyle/>
          <a:p>
            <a:r>
              <a:rPr lang="en-US" dirty="0">
                <a:solidFill>
                  <a:schemeClr val="accent1"/>
                </a:solidFill>
              </a:rPr>
              <a:t>Ivo Mägi, CEO &amp; product manager @ </a:t>
            </a:r>
            <a:r>
              <a:rPr lang="en-US" dirty="0" err="1">
                <a:solidFill>
                  <a:schemeClr val="accent1"/>
                </a:solidFill>
              </a:rPr>
              <a:t>Plumbr</a:t>
            </a:r>
            <a:endParaRPr lang="en-US" dirty="0">
              <a:solidFill>
                <a:schemeClr val="accent1"/>
              </a:solidFill>
            </a:endParaRPr>
          </a:p>
          <a:p>
            <a:r>
              <a:rPr lang="en-US" dirty="0">
                <a:solidFill>
                  <a:schemeClr val="accent1"/>
                </a:solidFill>
              </a:rPr>
              <a:t>September 2019</a:t>
            </a:r>
          </a:p>
        </p:txBody>
      </p:sp>
    </p:spTree>
    <p:extLst>
      <p:ext uri="{BB962C8B-B14F-4D97-AF65-F5344CB8AC3E}">
        <p14:creationId xmlns:p14="http://schemas.microsoft.com/office/powerpoint/2010/main" val="184040923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gerth\Dropbox\_plumbr\_AI\survey2019\goto presentation\distributed-tracing01.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000" y="-73257"/>
            <a:ext cx="11684000" cy="7004514"/>
          </a:xfrm>
          <a:prstGeom prst="rect">
            <a:avLst/>
          </a:prstGeom>
          <a:noFill/>
          <a:extLst>
            <a:ext uri="{909E8E84-426E-40DD-AFC4-6F175D3DCCD1}">
              <a14:hiddenFill xmlns:a14="http://schemas.microsoft.com/office/drawing/2010/main">
                <a:solidFill>
                  <a:srgbClr val="FFFFFF"/>
                </a:solidFill>
              </a14:hiddenFill>
            </a:ext>
          </a:extLst>
        </p:spPr>
      </p:pic>
      <p:sp>
        <p:nvSpPr>
          <p:cNvPr id="4" name="Footer Placeholder 3">
            <a:extLst>
              <a:ext uri="{FF2B5EF4-FFF2-40B4-BE49-F238E27FC236}">
                <a16:creationId xmlns:a16="http://schemas.microsoft.com/office/drawing/2014/main" id="{791E3B85-3A75-0846-93A9-002911C18A4D}"/>
              </a:ext>
            </a:extLst>
          </p:cNvPr>
          <p:cNvSpPr>
            <a:spLocks noGrp="1"/>
          </p:cNvSpPr>
          <p:nvPr>
            <p:ph type="ftr" sz="quarter" idx="11"/>
          </p:nvPr>
        </p:nvSpPr>
        <p:spPr/>
        <p:txBody>
          <a:bodyPr/>
          <a:lstStyle/>
          <a:p>
            <a:r>
              <a:rPr lang="en-US"/>
              <a:t>Plumbr - sign up for your free trial a https://www.plumbr.io</a:t>
            </a:r>
          </a:p>
        </p:txBody>
      </p:sp>
      <p:sp>
        <p:nvSpPr>
          <p:cNvPr id="5" name="Slide Number Placeholder 4">
            <a:extLst>
              <a:ext uri="{FF2B5EF4-FFF2-40B4-BE49-F238E27FC236}">
                <a16:creationId xmlns:a16="http://schemas.microsoft.com/office/drawing/2014/main" id="{76B1DF58-0824-3C40-BF15-9B54EBCF660C}"/>
              </a:ext>
            </a:extLst>
          </p:cNvPr>
          <p:cNvSpPr>
            <a:spLocks noGrp="1"/>
          </p:cNvSpPr>
          <p:nvPr>
            <p:ph type="sldNum" sz="quarter" idx="12"/>
          </p:nvPr>
        </p:nvSpPr>
        <p:spPr/>
        <p:txBody>
          <a:bodyPr/>
          <a:lstStyle/>
          <a:p>
            <a:fld id="{B89D2E03-A51F-7845-9ABE-3D2C5E87AE2F}" type="slidenum">
              <a:rPr lang="en-US" smtClean="0"/>
              <a:t>48</a:t>
            </a:fld>
            <a:endParaRPr lang="en-US"/>
          </a:p>
        </p:txBody>
      </p:sp>
    </p:spTree>
    <p:extLst>
      <p:ext uri="{BB962C8B-B14F-4D97-AF65-F5344CB8AC3E}">
        <p14:creationId xmlns:p14="http://schemas.microsoft.com/office/powerpoint/2010/main" val="123294153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descr="C:\Users\gerth\Dropbox\_plumbr\_AI\survey2019\goto presentation\distributed-tracing0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0AD2E8BC-454D-004B-A5FA-292863C6031A}"/>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61B36A3B-5DEB-A142-9072-F0447499485C}"/>
              </a:ext>
            </a:extLst>
          </p:cNvPr>
          <p:cNvSpPr>
            <a:spLocks noGrp="1"/>
          </p:cNvSpPr>
          <p:nvPr>
            <p:ph type="sldNum" sz="quarter" idx="12"/>
          </p:nvPr>
        </p:nvSpPr>
        <p:spPr/>
        <p:txBody>
          <a:bodyPr/>
          <a:lstStyle/>
          <a:p>
            <a:fld id="{B89D2E03-A51F-7845-9ABE-3D2C5E87AE2F}" type="slidenum">
              <a:rPr lang="en-US" smtClean="0"/>
              <a:t>49</a:t>
            </a:fld>
            <a:endParaRPr lang="en-US"/>
          </a:p>
        </p:txBody>
      </p:sp>
    </p:spTree>
    <p:extLst>
      <p:ext uri="{BB962C8B-B14F-4D97-AF65-F5344CB8AC3E}">
        <p14:creationId xmlns:p14="http://schemas.microsoft.com/office/powerpoint/2010/main" val="5113055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C:\Users\gerth\Dropbox\_plumbr\_AI\survey2019\goto presentation\distributed-tracing03.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22792DA7-1D41-A942-AF01-17F24A7EA1AE}"/>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51C1DCCE-7CD2-D140-A0B4-E10B8E3C6B30}"/>
              </a:ext>
            </a:extLst>
          </p:cNvPr>
          <p:cNvSpPr>
            <a:spLocks noGrp="1"/>
          </p:cNvSpPr>
          <p:nvPr>
            <p:ph type="sldNum" sz="quarter" idx="12"/>
          </p:nvPr>
        </p:nvSpPr>
        <p:spPr/>
        <p:txBody>
          <a:bodyPr/>
          <a:lstStyle/>
          <a:p>
            <a:fld id="{B89D2E03-A51F-7845-9ABE-3D2C5E87AE2F}" type="slidenum">
              <a:rPr lang="en-US" smtClean="0"/>
              <a:t>50</a:t>
            </a:fld>
            <a:endParaRPr lang="en-US"/>
          </a:p>
        </p:txBody>
      </p:sp>
    </p:spTree>
    <p:extLst>
      <p:ext uri="{BB962C8B-B14F-4D97-AF65-F5344CB8AC3E}">
        <p14:creationId xmlns:p14="http://schemas.microsoft.com/office/powerpoint/2010/main" val="4392225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B74F2-C3BF-244C-AC29-64CA2C82BF78}"/>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Passing the UUID: HTTP-headers</a:t>
            </a:r>
          </a:p>
        </p:txBody>
      </p:sp>
      <p:pic>
        <p:nvPicPr>
          <p:cNvPr id="5" name="Content Placeholder 4" descr="A screenshot of a cell phone&#10;&#10;Description automatically generated">
            <a:extLst>
              <a:ext uri="{FF2B5EF4-FFF2-40B4-BE49-F238E27FC236}">
                <a16:creationId xmlns:a16="http://schemas.microsoft.com/office/drawing/2014/main" id="{EF452B41-B4F9-2E45-AD53-D82A3C186B23}"/>
              </a:ext>
            </a:extLst>
          </p:cNvPr>
          <p:cNvPicPr>
            <a:picLocks noGrp="1" noChangeAspect="1"/>
          </p:cNvPicPr>
          <p:nvPr>
            <p:ph idx="1"/>
          </p:nvPr>
        </p:nvPicPr>
        <p:blipFill>
          <a:blip r:embed="rId2"/>
          <a:stretch>
            <a:fillRect/>
          </a:stretch>
        </p:blipFill>
        <p:spPr>
          <a:xfrm>
            <a:off x="320040" y="3603354"/>
            <a:ext cx="11496821" cy="1810750"/>
          </a:xfrm>
          <a:prstGeom prst="rect">
            <a:avLst/>
          </a:prstGeom>
        </p:spPr>
      </p:pic>
      <p:sp>
        <p:nvSpPr>
          <p:cNvPr id="4" name="Slide Number Placeholder 3">
            <a:extLst>
              <a:ext uri="{FF2B5EF4-FFF2-40B4-BE49-F238E27FC236}">
                <a16:creationId xmlns:a16="http://schemas.microsoft.com/office/drawing/2014/main" id="{C9B437DA-4351-3C42-8F17-8257F601E1A8}"/>
              </a:ext>
            </a:extLst>
          </p:cNvPr>
          <p:cNvSpPr>
            <a:spLocks noGrp="1"/>
          </p:cNvSpPr>
          <p:nvPr>
            <p:ph type="sldNum" sz="quarter" idx="12"/>
          </p:nvPr>
        </p:nvSpPr>
        <p:spPr>
          <a:xfrm>
            <a:off x="8610600" y="6522430"/>
            <a:ext cx="2743200" cy="347472"/>
          </a:xfrm>
        </p:spPr>
        <p:txBody>
          <a:bodyPr vert="horz" lIns="91440" tIns="45720" rIns="91440" bIns="45720" rtlCol="0" anchor="ctr">
            <a:normAutofit/>
          </a:bodyPr>
          <a:lstStyle/>
          <a:p>
            <a:pPr>
              <a:spcAft>
                <a:spcPts val="600"/>
              </a:spcAft>
            </a:pPr>
            <a:fld id="{B89D2E03-A51F-7845-9ABE-3D2C5E87AE2F}" type="slidenum">
              <a:rPr lang="en-US">
                <a:solidFill>
                  <a:srgbClr val="898989"/>
                </a:solidFill>
              </a:rPr>
              <a:pPr>
                <a:spcAft>
                  <a:spcPts val="600"/>
                </a:spcAft>
              </a:pPr>
              <a:t>51</a:t>
            </a:fld>
            <a:endParaRPr lang="en-US">
              <a:solidFill>
                <a:srgbClr val="898989"/>
              </a:solidFill>
            </a:endParaRPr>
          </a:p>
        </p:txBody>
      </p:sp>
      <p:sp>
        <p:nvSpPr>
          <p:cNvPr id="6" name="Footer Placeholder 5">
            <a:extLst>
              <a:ext uri="{FF2B5EF4-FFF2-40B4-BE49-F238E27FC236}">
                <a16:creationId xmlns:a16="http://schemas.microsoft.com/office/drawing/2014/main" id="{EF02C6EE-0865-974F-AF76-D1FA1BD974B4}"/>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81381077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gerth\Dropbox\_plumbr\_AI\DevOps and GoTO\goto presentation\distributed-tracing04.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7E6C3216-3B73-AC49-A23C-FA76BE9AE9AD}"/>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6F917A7C-3431-2744-B3AE-721DD54224A3}"/>
              </a:ext>
            </a:extLst>
          </p:cNvPr>
          <p:cNvSpPr>
            <a:spLocks noGrp="1"/>
          </p:cNvSpPr>
          <p:nvPr>
            <p:ph type="sldNum" sz="quarter" idx="12"/>
          </p:nvPr>
        </p:nvSpPr>
        <p:spPr/>
        <p:txBody>
          <a:bodyPr/>
          <a:lstStyle/>
          <a:p>
            <a:fld id="{B89D2E03-A51F-7845-9ABE-3D2C5E87AE2F}" type="slidenum">
              <a:rPr lang="en-US" smtClean="0"/>
              <a:t>52</a:t>
            </a:fld>
            <a:endParaRPr lang="en-US"/>
          </a:p>
        </p:txBody>
      </p:sp>
    </p:spTree>
    <p:extLst>
      <p:ext uri="{BB962C8B-B14F-4D97-AF65-F5344CB8AC3E}">
        <p14:creationId xmlns:p14="http://schemas.microsoft.com/office/powerpoint/2010/main" val="21222491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gerth\Dropbox\_plumbr\_AI\DevOps and GoTO\goto presentation\distributed-tracing05.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D93A48E4-FFD7-FF48-A439-C0697AB5579A}"/>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0934CBE6-BD45-174F-A2C6-E34A3F9AC458}"/>
              </a:ext>
            </a:extLst>
          </p:cNvPr>
          <p:cNvSpPr>
            <a:spLocks noGrp="1"/>
          </p:cNvSpPr>
          <p:nvPr>
            <p:ph type="sldNum" sz="quarter" idx="12"/>
          </p:nvPr>
        </p:nvSpPr>
        <p:spPr/>
        <p:txBody>
          <a:bodyPr/>
          <a:lstStyle/>
          <a:p>
            <a:fld id="{B89D2E03-A51F-7845-9ABE-3D2C5E87AE2F}" type="slidenum">
              <a:rPr lang="en-US" smtClean="0"/>
              <a:t>53</a:t>
            </a:fld>
            <a:endParaRPr lang="en-US"/>
          </a:p>
        </p:txBody>
      </p:sp>
    </p:spTree>
    <p:extLst>
      <p:ext uri="{BB962C8B-B14F-4D97-AF65-F5344CB8AC3E}">
        <p14:creationId xmlns:p14="http://schemas.microsoft.com/office/powerpoint/2010/main" val="37414771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C:\Users\gerth\Dropbox\_plumbr\_AI\DevOps and GoTO\goto presentation\distributed-tracing06.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9B430F31-EF70-3F4F-981E-5814422647ED}"/>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D126668E-07DA-6E4F-8667-0444B18AFB78}"/>
              </a:ext>
            </a:extLst>
          </p:cNvPr>
          <p:cNvSpPr>
            <a:spLocks noGrp="1"/>
          </p:cNvSpPr>
          <p:nvPr>
            <p:ph type="sldNum" sz="quarter" idx="12"/>
          </p:nvPr>
        </p:nvSpPr>
        <p:spPr/>
        <p:txBody>
          <a:bodyPr/>
          <a:lstStyle/>
          <a:p>
            <a:fld id="{B89D2E03-A51F-7845-9ABE-3D2C5E87AE2F}" type="slidenum">
              <a:rPr lang="en-US" smtClean="0"/>
              <a:t>54</a:t>
            </a:fld>
            <a:endParaRPr lang="en-US"/>
          </a:p>
        </p:txBody>
      </p:sp>
    </p:spTree>
    <p:extLst>
      <p:ext uri="{BB962C8B-B14F-4D97-AF65-F5344CB8AC3E}">
        <p14:creationId xmlns:p14="http://schemas.microsoft.com/office/powerpoint/2010/main" val="387441645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C:\Users\gerth\Dropbox\_plumbr\_AI\DevOps and GoTO\goto presentation\distributed-tracing07.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B199BDFC-5C9A-F94B-9FD9-83CE11B67C44}"/>
              </a:ext>
            </a:extLst>
          </p:cNvPr>
          <p:cNvSpPr>
            <a:spLocks noGrp="1"/>
          </p:cNvSpPr>
          <p:nvPr>
            <p:ph type="ftr" sz="quarter" idx="11"/>
          </p:nvPr>
        </p:nvSpPr>
        <p:spPr/>
        <p:txBody>
          <a:bodyPr/>
          <a:lstStyle/>
          <a:p>
            <a:r>
              <a:rPr lang="en-US"/>
              <a:t>Plumbr - sign up for your free trial a https://www.plumbr.io</a:t>
            </a:r>
          </a:p>
        </p:txBody>
      </p:sp>
      <p:sp>
        <p:nvSpPr>
          <p:cNvPr id="3" name="Slide Number Placeholder 2">
            <a:extLst>
              <a:ext uri="{FF2B5EF4-FFF2-40B4-BE49-F238E27FC236}">
                <a16:creationId xmlns:a16="http://schemas.microsoft.com/office/drawing/2014/main" id="{35663A9E-DA7E-3644-BFCB-691D47D825AF}"/>
              </a:ext>
            </a:extLst>
          </p:cNvPr>
          <p:cNvSpPr>
            <a:spLocks noGrp="1"/>
          </p:cNvSpPr>
          <p:nvPr>
            <p:ph type="sldNum" sz="quarter" idx="12"/>
          </p:nvPr>
        </p:nvSpPr>
        <p:spPr/>
        <p:txBody>
          <a:bodyPr/>
          <a:lstStyle/>
          <a:p>
            <a:fld id="{B89D2E03-A51F-7845-9ABE-3D2C5E87AE2F}" type="slidenum">
              <a:rPr lang="en-US" smtClean="0"/>
              <a:t>55</a:t>
            </a:fld>
            <a:endParaRPr lang="en-US"/>
          </a:p>
        </p:txBody>
      </p:sp>
    </p:spTree>
    <p:extLst>
      <p:ext uri="{BB962C8B-B14F-4D97-AF65-F5344CB8AC3E}">
        <p14:creationId xmlns:p14="http://schemas.microsoft.com/office/powerpoint/2010/main" val="256757418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C:\Users\gerth\Dropbox\_plumbr\_AI\DevOps and GoTO\goto presentation\distributed-tracing08.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4175" y="-73152"/>
            <a:ext cx="11683650" cy="7004304"/>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D63C736F-2D2C-2A46-8EE3-B9937F4A6AB5}"/>
              </a:ext>
            </a:extLst>
          </p:cNvPr>
          <p:cNvPicPr>
            <a:picLocks noChangeAspect="1"/>
          </p:cNvPicPr>
          <p:nvPr/>
        </p:nvPicPr>
        <p:blipFill>
          <a:blip r:embed="rId4"/>
          <a:stretch>
            <a:fillRect/>
          </a:stretch>
        </p:blipFill>
        <p:spPr>
          <a:xfrm>
            <a:off x="6527800" y="1041400"/>
            <a:ext cx="889000" cy="889000"/>
          </a:xfrm>
          <a:prstGeom prst="rect">
            <a:avLst/>
          </a:prstGeom>
        </p:spPr>
      </p:pic>
      <p:pic>
        <p:nvPicPr>
          <p:cNvPr id="9" name="Picture 8">
            <a:extLst>
              <a:ext uri="{FF2B5EF4-FFF2-40B4-BE49-F238E27FC236}">
                <a16:creationId xmlns:a16="http://schemas.microsoft.com/office/drawing/2014/main" id="{F1F24776-2635-0A49-8B49-0BD1DD5D3F33}"/>
              </a:ext>
            </a:extLst>
          </p:cNvPr>
          <p:cNvPicPr>
            <a:picLocks noChangeAspect="1"/>
          </p:cNvPicPr>
          <p:nvPr/>
        </p:nvPicPr>
        <p:blipFill>
          <a:blip r:embed="rId4"/>
          <a:stretch>
            <a:fillRect/>
          </a:stretch>
        </p:blipFill>
        <p:spPr>
          <a:xfrm>
            <a:off x="8204200" y="2540000"/>
            <a:ext cx="889000" cy="889000"/>
          </a:xfrm>
          <a:prstGeom prst="rect">
            <a:avLst/>
          </a:prstGeom>
        </p:spPr>
      </p:pic>
      <p:pic>
        <p:nvPicPr>
          <p:cNvPr id="10" name="Picture 9">
            <a:extLst>
              <a:ext uri="{FF2B5EF4-FFF2-40B4-BE49-F238E27FC236}">
                <a16:creationId xmlns:a16="http://schemas.microsoft.com/office/drawing/2014/main" id="{454C16C2-ABD9-1B4A-BBFB-12143BFEFE74}"/>
              </a:ext>
            </a:extLst>
          </p:cNvPr>
          <p:cNvPicPr>
            <a:picLocks noChangeAspect="1"/>
          </p:cNvPicPr>
          <p:nvPr/>
        </p:nvPicPr>
        <p:blipFill>
          <a:blip r:embed="rId4"/>
          <a:stretch>
            <a:fillRect/>
          </a:stretch>
        </p:blipFill>
        <p:spPr>
          <a:xfrm>
            <a:off x="2921000" y="4908550"/>
            <a:ext cx="889000" cy="889000"/>
          </a:xfrm>
          <a:prstGeom prst="rect">
            <a:avLst/>
          </a:prstGeom>
        </p:spPr>
      </p:pic>
      <p:sp>
        <p:nvSpPr>
          <p:cNvPr id="8" name="Footer Placeholder 7">
            <a:extLst>
              <a:ext uri="{FF2B5EF4-FFF2-40B4-BE49-F238E27FC236}">
                <a16:creationId xmlns:a16="http://schemas.microsoft.com/office/drawing/2014/main" id="{19CF6FFA-6304-3D4F-A8C6-9E18D53C975C}"/>
              </a:ext>
            </a:extLst>
          </p:cNvPr>
          <p:cNvSpPr>
            <a:spLocks noGrp="1"/>
          </p:cNvSpPr>
          <p:nvPr>
            <p:ph type="ftr" sz="quarter" idx="11"/>
          </p:nvPr>
        </p:nvSpPr>
        <p:spPr/>
        <p:txBody>
          <a:bodyPr/>
          <a:lstStyle/>
          <a:p>
            <a:r>
              <a:rPr lang="en-US"/>
              <a:t>Plumbr - sign up for your free trial a https://www.plumbr.io</a:t>
            </a:r>
          </a:p>
        </p:txBody>
      </p:sp>
      <p:sp>
        <p:nvSpPr>
          <p:cNvPr id="12" name="Slide Number Placeholder 11">
            <a:extLst>
              <a:ext uri="{FF2B5EF4-FFF2-40B4-BE49-F238E27FC236}">
                <a16:creationId xmlns:a16="http://schemas.microsoft.com/office/drawing/2014/main" id="{4956EE6A-5356-EF43-9947-6F5005EC5708}"/>
              </a:ext>
            </a:extLst>
          </p:cNvPr>
          <p:cNvSpPr>
            <a:spLocks noGrp="1"/>
          </p:cNvSpPr>
          <p:nvPr>
            <p:ph type="sldNum" sz="quarter" idx="12"/>
          </p:nvPr>
        </p:nvSpPr>
        <p:spPr/>
        <p:txBody>
          <a:bodyPr/>
          <a:lstStyle/>
          <a:p>
            <a:fld id="{B89D2E03-A51F-7845-9ABE-3D2C5E87AE2F}" type="slidenum">
              <a:rPr lang="en-US" smtClean="0"/>
              <a:t>56</a:t>
            </a:fld>
            <a:endParaRPr lang="en-US"/>
          </a:p>
        </p:txBody>
      </p:sp>
    </p:spTree>
    <p:extLst>
      <p:ext uri="{BB962C8B-B14F-4D97-AF65-F5344CB8AC3E}">
        <p14:creationId xmlns:p14="http://schemas.microsoft.com/office/powerpoint/2010/main" val="33110376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9BFEE5-7C2C-FF4C-BEE2-F302DC88B675}"/>
              </a:ext>
            </a:extLst>
          </p:cNvPr>
          <p:cNvSpPr>
            <a:spLocks noGrp="1"/>
          </p:cNvSpPr>
          <p:nvPr>
            <p:ph type="title"/>
          </p:nvPr>
        </p:nvSpPr>
        <p:spPr>
          <a:xfrm>
            <a:off x="1159933" y="995318"/>
            <a:ext cx="9872134" cy="1193968"/>
          </a:xfrm>
          <a:solidFill>
            <a:srgbClr val="FFFFFF"/>
          </a:solidFill>
          <a:ln w="38100">
            <a:solidFill>
              <a:srgbClr val="7F7F7F"/>
            </a:solidFill>
            <a:miter lim="800000"/>
          </a:ln>
        </p:spPr>
        <p:txBody>
          <a:bodyPr>
            <a:normAutofit/>
          </a:bodyPr>
          <a:lstStyle/>
          <a:p>
            <a:pPr algn="ctr"/>
            <a:r>
              <a:rPr lang="en-US" sz="3600" dirty="0">
                <a:solidFill>
                  <a:srgbClr val="3F3F3F"/>
                </a:solidFill>
              </a:rPr>
              <a:t>Outcome: distributed trace</a:t>
            </a:r>
          </a:p>
        </p:txBody>
      </p:sp>
      <p:sp>
        <p:nvSpPr>
          <p:cNvPr id="6" name="Content Placeholder 5">
            <a:extLst>
              <a:ext uri="{FF2B5EF4-FFF2-40B4-BE49-F238E27FC236}">
                <a16:creationId xmlns:a16="http://schemas.microsoft.com/office/drawing/2014/main" id="{06FAF98C-046D-1F43-970C-87B69D48A190}"/>
              </a:ext>
            </a:extLst>
          </p:cNvPr>
          <p:cNvSpPr>
            <a:spLocks noGrp="1"/>
          </p:cNvSpPr>
          <p:nvPr>
            <p:ph sz="half" idx="1"/>
          </p:nvPr>
        </p:nvSpPr>
        <p:spPr>
          <a:xfrm>
            <a:off x="1476915" y="2888250"/>
            <a:ext cx="4297351" cy="2959777"/>
          </a:xfrm>
        </p:spPr>
        <p:txBody>
          <a:bodyPr anchor="t">
            <a:normAutofit/>
          </a:bodyPr>
          <a:lstStyle/>
          <a:p>
            <a:r>
              <a:rPr lang="en-US" sz="2000" dirty="0"/>
              <a:t>Consisting of spans</a:t>
            </a:r>
          </a:p>
          <a:p>
            <a:r>
              <a:rPr lang="en-US" sz="2000" dirty="0"/>
              <a:t>Registering the duration and outcome of the trace</a:t>
            </a:r>
          </a:p>
          <a:p>
            <a:r>
              <a:rPr lang="en-US" sz="2000" dirty="0"/>
              <a:t>Enriched with additional metadata at span/trace level:</a:t>
            </a:r>
          </a:p>
          <a:p>
            <a:pPr lvl="1"/>
            <a:r>
              <a:rPr lang="en-US" sz="1600" dirty="0"/>
              <a:t>User ID</a:t>
            </a:r>
          </a:p>
          <a:p>
            <a:pPr lvl="1"/>
            <a:r>
              <a:rPr lang="en-US" sz="1600" dirty="0"/>
              <a:t>Cluster the span belongs to</a:t>
            </a:r>
          </a:p>
          <a:p>
            <a:pPr lvl="1"/>
            <a:r>
              <a:rPr lang="en-US" sz="1600" dirty="0"/>
              <a:t>Node ID of the span</a:t>
            </a:r>
          </a:p>
          <a:p>
            <a:pPr lvl="1"/>
            <a:r>
              <a:rPr lang="en-US" sz="1600" dirty="0"/>
              <a:t>…</a:t>
            </a:r>
          </a:p>
        </p:txBody>
      </p:sp>
      <p:sp>
        <p:nvSpPr>
          <p:cNvPr id="4" name="Slide Number Placeholder 3">
            <a:extLst>
              <a:ext uri="{FF2B5EF4-FFF2-40B4-BE49-F238E27FC236}">
                <a16:creationId xmlns:a16="http://schemas.microsoft.com/office/drawing/2014/main" id="{7F5F8A2F-1AB0-E146-8EE8-B4E078C226C2}"/>
              </a:ext>
            </a:extLst>
          </p:cNvPr>
          <p:cNvSpPr>
            <a:spLocks noGrp="1"/>
          </p:cNvSpPr>
          <p:nvPr>
            <p:ph type="sldNum" sz="quarter" idx="12"/>
          </p:nvPr>
        </p:nvSpPr>
        <p:spPr>
          <a:xfrm>
            <a:off x="8610600" y="6356350"/>
            <a:ext cx="2743200" cy="365125"/>
          </a:xfrm>
        </p:spPr>
        <p:txBody>
          <a:bodyPr>
            <a:normAutofit/>
          </a:bodyPr>
          <a:lstStyle/>
          <a:p>
            <a:pPr>
              <a:spcAft>
                <a:spcPts val="600"/>
              </a:spcAft>
            </a:pPr>
            <a:fld id="{B89D2E03-A51F-7845-9ABE-3D2C5E87AE2F}" type="slidenum">
              <a:rPr lang="en-US">
                <a:solidFill>
                  <a:prstClr val="black">
                    <a:tint val="75000"/>
                  </a:prstClr>
                </a:solidFill>
              </a:rPr>
              <a:pPr>
                <a:spcAft>
                  <a:spcPts val="600"/>
                </a:spcAft>
              </a:pPr>
              <a:t>57</a:t>
            </a:fld>
            <a:endParaRPr lang="en-US">
              <a:solidFill>
                <a:prstClr val="black">
                  <a:tint val="75000"/>
                </a:prstClr>
              </a:solidFill>
            </a:endParaRPr>
          </a:p>
        </p:txBody>
      </p:sp>
      <p:pic>
        <p:nvPicPr>
          <p:cNvPr id="10" name="Picture 2" descr="C:\Users\gerth\Dropbox\_plumbr\_AI\DevOps and GoTO\goto presentation\tree01.jpg">
            <a:extLst>
              <a:ext uri="{FF2B5EF4-FFF2-40B4-BE49-F238E27FC236}">
                <a16:creationId xmlns:a16="http://schemas.microsoft.com/office/drawing/2014/main" id="{85164590-76C6-6A43-9EC7-26970D60392F}"/>
              </a:ext>
            </a:extLst>
          </p:cNvPr>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bwMode="auto">
          <a:xfrm>
            <a:off x="6418263" y="3080226"/>
            <a:ext cx="4292600" cy="2575560"/>
          </a:xfrm>
          <a:prstGeom prst="rect">
            <a:avLst/>
          </a:prstGeom>
          <a:noFill/>
          <a:extLst>
            <a:ext uri="{909E8E84-426E-40DD-AFC4-6F175D3DCCD1}">
              <a14:hiddenFill xmlns:a14="http://schemas.microsoft.com/office/drawing/2010/main">
                <a:solidFill>
                  <a:srgbClr val="FFFFFF"/>
                </a:solidFill>
              </a14:hiddenFill>
            </a:ext>
          </a:extLst>
        </p:spPr>
      </p:pic>
      <p:sp>
        <p:nvSpPr>
          <p:cNvPr id="8" name="Footer Placeholder 7">
            <a:extLst>
              <a:ext uri="{FF2B5EF4-FFF2-40B4-BE49-F238E27FC236}">
                <a16:creationId xmlns:a16="http://schemas.microsoft.com/office/drawing/2014/main" id="{A3AE7E26-0377-8840-AFCF-B267B4243F15}"/>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1886843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F6E409-55A8-E742-8E37-E29F7D0E7512}"/>
              </a:ext>
            </a:extLst>
          </p:cNvPr>
          <p:cNvSpPr>
            <a:spLocks noGrp="1"/>
          </p:cNvSpPr>
          <p:nvPr>
            <p:ph type="title"/>
          </p:nvPr>
        </p:nvSpPr>
        <p:spPr>
          <a:xfrm>
            <a:off x="526073" y="621457"/>
            <a:ext cx="11139854" cy="930447"/>
          </a:xfrm>
        </p:spPr>
        <p:txBody>
          <a:bodyPr vert="horz" lIns="91440" tIns="45720" rIns="91440" bIns="45720" rtlCol="0" anchor="b">
            <a:normAutofit/>
          </a:bodyPr>
          <a:lstStyle/>
          <a:p>
            <a:pPr algn="ctr"/>
            <a:r>
              <a:rPr lang="en-US" sz="3800" kern="1200">
                <a:solidFill>
                  <a:srgbClr val="FFFFFF"/>
                </a:solidFill>
                <a:latin typeface="+mj-lt"/>
                <a:ea typeface="+mj-ea"/>
                <a:cs typeface="+mj-cs"/>
              </a:rPr>
              <a:t>Summary: three building blocks for distributed tracing </a:t>
            </a:r>
          </a:p>
        </p:txBody>
      </p:sp>
      <p:pic>
        <p:nvPicPr>
          <p:cNvPr id="12" name="Content Placeholder 11" descr="A close up of a map&#10;&#10;Description automatically generated">
            <a:extLst>
              <a:ext uri="{FF2B5EF4-FFF2-40B4-BE49-F238E27FC236}">
                <a16:creationId xmlns:a16="http://schemas.microsoft.com/office/drawing/2014/main" id="{308C5E41-6767-EB46-A515-79C640E06C11}"/>
              </a:ext>
            </a:extLst>
          </p:cNvPr>
          <p:cNvPicPr>
            <a:picLocks noGrp="1" noChangeAspect="1"/>
          </p:cNvPicPr>
          <p:nvPr>
            <p:ph idx="1"/>
          </p:nvPr>
        </p:nvPicPr>
        <p:blipFill>
          <a:blip r:embed="rId3"/>
          <a:stretch>
            <a:fillRect/>
          </a:stretch>
        </p:blipFill>
        <p:spPr>
          <a:xfrm>
            <a:off x="2354765" y="2904439"/>
            <a:ext cx="7482470" cy="2899458"/>
          </a:xfrm>
          <a:prstGeom prst="rect">
            <a:avLst/>
          </a:prstGeom>
        </p:spPr>
      </p:pic>
      <p:sp>
        <p:nvSpPr>
          <p:cNvPr id="13" name="Slide Number Placeholder 12">
            <a:extLst>
              <a:ext uri="{FF2B5EF4-FFF2-40B4-BE49-F238E27FC236}">
                <a16:creationId xmlns:a16="http://schemas.microsoft.com/office/drawing/2014/main" id="{81E7CAF3-4072-CA40-98B3-09A06924E6A9}"/>
              </a:ext>
            </a:extLst>
          </p:cNvPr>
          <p:cNvSpPr>
            <a:spLocks noGrp="1"/>
          </p:cNvSpPr>
          <p:nvPr>
            <p:ph type="sldNum" sz="quarter" idx="12"/>
          </p:nvPr>
        </p:nvSpPr>
        <p:spPr/>
        <p:txBody>
          <a:bodyPr/>
          <a:lstStyle/>
          <a:p>
            <a:fld id="{B89D2E03-A51F-7845-9ABE-3D2C5E87AE2F}" type="slidenum">
              <a:rPr lang="en-US" smtClean="0"/>
              <a:t>58</a:t>
            </a:fld>
            <a:endParaRPr lang="en-US"/>
          </a:p>
        </p:txBody>
      </p:sp>
      <p:sp>
        <p:nvSpPr>
          <p:cNvPr id="3" name="Footer Placeholder 2">
            <a:extLst>
              <a:ext uri="{FF2B5EF4-FFF2-40B4-BE49-F238E27FC236}">
                <a16:creationId xmlns:a16="http://schemas.microsoft.com/office/drawing/2014/main" id="{9D4E3BB7-E140-4C41-A690-3F14DCB3ED80}"/>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8995532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C61F-4996-E146-98DF-E936F5FCBC04}"/>
              </a:ext>
            </a:extLst>
          </p:cNvPr>
          <p:cNvSpPr>
            <a:spLocks noGrp="1"/>
          </p:cNvSpPr>
          <p:nvPr>
            <p:ph type="title"/>
          </p:nvPr>
        </p:nvSpPr>
        <p:spPr>
          <a:xfrm>
            <a:off x="863029" y="1012004"/>
            <a:ext cx="3416158" cy="4795408"/>
          </a:xfrm>
        </p:spPr>
        <p:txBody>
          <a:bodyPr>
            <a:normAutofit/>
          </a:bodyPr>
          <a:lstStyle/>
          <a:p>
            <a:r>
              <a:rPr lang="en-US">
                <a:solidFill>
                  <a:srgbClr val="FFFFFF"/>
                </a:solidFill>
              </a:rPr>
              <a:t>Put the distributed traces into good use</a:t>
            </a:r>
          </a:p>
        </p:txBody>
      </p:sp>
      <p:graphicFrame>
        <p:nvGraphicFramePr>
          <p:cNvPr id="5" name="Content Placeholder 2">
            <a:extLst>
              <a:ext uri="{FF2B5EF4-FFF2-40B4-BE49-F238E27FC236}">
                <a16:creationId xmlns:a16="http://schemas.microsoft.com/office/drawing/2014/main" id="{8384AE28-8A01-487F-B48E-4C2786A98E8D}"/>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FED6D516-AF55-C24D-934C-F07D09CE5AE7}"/>
              </a:ext>
            </a:extLst>
          </p:cNvPr>
          <p:cNvSpPr>
            <a:spLocks noGrp="1"/>
          </p:cNvSpPr>
          <p:nvPr>
            <p:ph type="sldNum" sz="quarter" idx="12"/>
          </p:nvPr>
        </p:nvSpPr>
        <p:spPr/>
        <p:txBody>
          <a:bodyPr/>
          <a:lstStyle/>
          <a:p>
            <a:fld id="{B89D2E03-A51F-7845-9ABE-3D2C5E87AE2F}" type="slidenum">
              <a:rPr lang="en-US" smtClean="0"/>
              <a:t>59</a:t>
            </a:fld>
            <a:endParaRPr lang="en-US"/>
          </a:p>
        </p:txBody>
      </p:sp>
      <p:sp>
        <p:nvSpPr>
          <p:cNvPr id="3" name="Footer Placeholder 2">
            <a:extLst>
              <a:ext uri="{FF2B5EF4-FFF2-40B4-BE49-F238E27FC236}">
                <a16:creationId xmlns:a16="http://schemas.microsoft.com/office/drawing/2014/main" id="{2D793153-C663-A14F-93C0-001995F32718}"/>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8199695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5104-8C54-4B4D-9C55-FCF0B2682E5A}"/>
              </a:ext>
            </a:extLst>
          </p:cNvPr>
          <p:cNvSpPr>
            <a:spLocks noGrp="1"/>
          </p:cNvSpPr>
          <p:nvPr>
            <p:ph type="title"/>
          </p:nvPr>
        </p:nvSpPr>
        <p:spPr>
          <a:xfrm>
            <a:off x="838200" y="963877"/>
            <a:ext cx="3494362" cy="4930246"/>
          </a:xfrm>
        </p:spPr>
        <p:txBody>
          <a:bodyPr>
            <a:normAutofit/>
          </a:bodyPr>
          <a:lstStyle/>
          <a:p>
            <a:pPr algn="r"/>
            <a:r>
              <a:rPr lang="en-US" dirty="0">
                <a:solidFill>
                  <a:schemeClr val="accent1"/>
                </a:solidFill>
              </a:rPr>
              <a:t>Hypothetical support case landing on your desk</a:t>
            </a:r>
          </a:p>
        </p:txBody>
      </p:sp>
      <p:sp>
        <p:nvSpPr>
          <p:cNvPr id="3" name="Content Placeholder 2">
            <a:extLst>
              <a:ext uri="{FF2B5EF4-FFF2-40B4-BE49-F238E27FC236}">
                <a16:creationId xmlns:a16="http://schemas.microsoft.com/office/drawing/2014/main" id="{A4E6B2DA-A6F3-5144-A76F-532AF97A1EB0}"/>
              </a:ext>
            </a:extLst>
          </p:cNvPr>
          <p:cNvSpPr>
            <a:spLocks noGrp="1"/>
          </p:cNvSpPr>
          <p:nvPr>
            <p:ph idx="1"/>
          </p:nvPr>
        </p:nvSpPr>
        <p:spPr>
          <a:xfrm>
            <a:off x="4976031" y="963877"/>
            <a:ext cx="6377769" cy="4930246"/>
          </a:xfrm>
        </p:spPr>
        <p:txBody>
          <a:bodyPr anchor="ctr">
            <a:normAutofit/>
          </a:bodyPr>
          <a:lstStyle/>
          <a:p>
            <a:pPr marL="0" indent="0">
              <a:buNone/>
            </a:pPr>
            <a:r>
              <a:rPr lang="en-US" sz="2400" dirty="0">
                <a:latin typeface="Consolas" panose="020B0609020204030204" pitchFamily="49" charset="0"/>
                <a:cs typeface="Consolas" panose="020B0609020204030204" pitchFamily="49" charset="0"/>
              </a:rPr>
              <a:t>From: John</a:t>
            </a:r>
            <a:endParaRPr lang="en-US" sz="2400" b="0" dirty="0">
              <a:effectLst/>
              <a:latin typeface="Consolas" panose="020B0609020204030204" pitchFamily="49" charset="0"/>
              <a:cs typeface="Consolas" panose="020B0609020204030204" pitchFamily="49" charset="0"/>
            </a:endParaRPr>
          </a:p>
          <a:p>
            <a:pPr marL="0" indent="0">
              <a:buNone/>
            </a:pPr>
            <a:r>
              <a:rPr lang="en-US" sz="2400" dirty="0">
                <a:latin typeface="Consolas" panose="020B0609020204030204" pitchFamily="49" charset="0"/>
                <a:cs typeface="Consolas" panose="020B0609020204030204" pitchFamily="49" charset="0"/>
              </a:rPr>
              <a:t>To: </a:t>
            </a:r>
            <a:r>
              <a:rPr lang="en-US" sz="2400" dirty="0" err="1">
                <a:latin typeface="Consolas" panose="020B0609020204030204" pitchFamily="49" charset="0"/>
                <a:cs typeface="Consolas" panose="020B0609020204030204" pitchFamily="49" charset="0"/>
              </a:rPr>
              <a:t>support@example.com</a:t>
            </a:r>
            <a:endParaRPr lang="en-US" sz="2400" b="0" dirty="0">
              <a:effectLst/>
              <a:latin typeface="Consolas" panose="020B0609020204030204" pitchFamily="49" charset="0"/>
              <a:cs typeface="Consolas" panose="020B0609020204030204" pitchFamily="49" charset="0"/>
            </a:endParaRPr>
          </a:p>
          <a:p>
            <a:pPr marL="0" indent="0">
              <a:buNone/>
            </a:pPr>
            <a:r>
              <a:rPr lang="en-US" sz="2400" dirty="0">
                <a:latin typeface="Consolas" panose="020B0609020204030204" pitchFamily="49" charset="0"/>
                <a:cs typeface="Consolas" panose="020B0609020204030204" pitchFamily="49" charset="0"/>
              </a:rPr>
              <a:t>Subject: Cannot complete checkout</a:t>
            </a:r>
            <a:endParaRPr lang="en-US" sz="2400" b="0" dirty="0">
              <a:effectLst/>
              <a:latin typeface="Consolas" panose="020B0609020204030204" pitchFamily="49" charset="0"/>
              <a:cs typeface="Consolas" panose="020B0609020204030204" pitchFamily="49" charset="0"/>
            </a:endParaRPr>
          </a:p>
          <a:p>
            <a:pPr marL="0" indent="0">
              <a:buNone/>
            </a:pPr>
            <a:br>
              <a:rPr lang="en-US" sz="2400" b="0" dirty="0">
                <a:effectLst/>
                <a:latin typeface="Consolas" panose="020B0609020204030204" pitchFamily="49" charset="0"/>
                <a:cs typeface="Consolas" panose="020B0609020204030204" pitchFamily="49" charset="0"/>
              </a:rPr>
            </a:br>
            <a:r>
              <a:rPr lang="en-US" sz="2400" dirty="0">
                <a:latin typeface="Consolas" panose="020B0609020204030204" pitchFamily="49" charset="0"/>
                <a:cs typeface="Consolas" panose="020B0609020204030204" pitchFamily="49" charset="0"/>
              </a:rPr>
              <a:t>I just tried to complete the order #32828, but was unable to finish the checkout. Your app stalled for 20 seconds and then gave me an error.</a:t>
            </a:r>
            <a:endParaRPr lang="en-US" sz="2400" b="0" dirty="0">
              <a:effectLst/>
              <a:latin typeface="Consolas" panose="020B0609020204030204" pitchFamily="49" charset="0"/>
              <a:cs typeface="Consolas" panose="020B0609020204030204" pitchFamily="49"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B8C3965C-3ED4-A14D-96C4-0F9976CB7C60}"/>
              </a:ext>
            </a:extLst>
          </p:cNvPr>
          <p:cNvSpPr>
            <a:spLocks noGrp="1"/>
          </p:cNvSpPr>
          <p:nvPr>
            <p:ph type="sldNum" sz="quarter" idx="12"/>
          </p:nvPr>
        </p:nvSpPr>
        <p:spPr/>
        <p:txBody>
          <a:bodyPr/>
          <a:lstStyle/>
          <a:p>
            <a:fld id="{B89D2E03-A51F-7845-9ABE-3D2C5E87AE2F}" type="slidenum">
              <a:rPr lang="en-US" smtClean="0"/>
              <a:t>60</a:t>
            </a:fld>
            <a:endParaRPr lang="en-US"/>
          </a:p>
        </p:txBody>
      </p:sp>
      <p:sp>
        <p:nvSpPr>
          <p:cNvPr id="5" name="Footer Placeholder 4">
            <a:extLst>
              <a:ext uri="{FF2B5EF4-FFF2-40B4-BE49-F238E27FC236}">
                <a16:creationId xmlns:a16="http://schemas.microsoft.com/office/drawing/2014/main" id="{942516C3-6A08-F445-9363-0CF31932C2A7}"/>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46385252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E5104-8C54-4B4D-9C55-FCF0B2682E5A}"/>
              </a:ext>
            </a:extLst>
          </p:cNvPr>
          <p:cNvSpPr>
            <a:spLocks noGrp="1"/>
          </p:cNvSpPr>
          <p:nvPr>
            <p:ph type="title"/>
          </p:nvPr>
        </p:nvSpPr>
        <p:spPr>
          <a:xfrm>
            <a:off x="838200" y="963877"/>
            <a:ext cx="3494362" cy="4930246"/>
          </a:xfrm>
        </p:spPr>
        <p:txBody>
          <a:bodyPr>
            <a:normAutofit/>
          </a:bodyPr>
          <a:lstStyle/>
          <a:p>
            <a:pPr algn="r"/>
            <a:r>
              <a:rPr lang="en-US" dirty="0">
                <a:solidFill>
                  <a:schemeClr val="accent1"/>
                </a:solidFill>
              </a:rPr>
              <a:t>…. two weeks later</a:t>
            </a:r>
          </a:p>
        </p:txBody>
      </p:sp>
      <p:sp>
        <p:nvSpPr>
          <p:cNvPr id="3" name="Content Placeholder 2">
            <a:extLst>
              <a:ext uri="{FF2B5EF4-FFF2-40B4-BE49-F238E27FC236}">
                <a16:creationId xmlns:a16="http://schemas.microsoft.com/office/drawing/2014/main" id="{A4E6B2DA-A6F3-5144-A76F-532AF97A1EB0}"/>
              </a:ext>
            </a:extLst>
          </p:cNvPr>
          <p:cNvSpPr>
            <a:spLocks noGrp="1"/>
          </p:cNvSpPr>
          <p:nvPr>
            <p:ph idx="1"/>
          </p:nvPr>
        </p:nvSpPr>
        <p:spPr>
          <a:xfrm>
            <a:off x="4976031" y="963877"/>
            <a:ext cx="6377769" cy="4930246"/>
          </a:xfrm>
        </p:spPr>
        <p:txBody>
          <a:bodyPr anchor="ctr">
            <a:normAutofit/>
          </a:bodyPr>
          <a:lstStyle/>
          <a:p>
            <a:pPr marL="0" indent="0">
              <a:buNone/>
            </a:pPr>
            <a:r>
              <a:rPr lang="en-US" sz="2400" dirty="0">
                <a:latin typeface="Consolas" panose="020B0609020204030204" pitchFamily="49" charset="0"/>
                <a:cs typeface="Consolas" panose="020B0609020204030204" pitchFamily="49" charset="0"/>
              </a:rPr>
              <a:t>From: John</a:t>
            </a:r>
            <a:endParaRPr lang="en-US" sz="2400" b="0" dirty="0">
              <a:effectLst/>
              <a:latin typeface="Consolas" panose="020B0609020204030204" pitchFamily="49" charset="0"/>
              <a:cs typeface="Consolas" panose="020B0609020204030204" pitchFamily="49" charset="0"/>
            </a:endParaRPr>
          </a:p>
          <a:p>
            <a:pPr marL="0" indent="0">
              <a:buNone/>
            </a:pPr>
            <a:r>
              <a:rPr lang="en-US" sz="2400" dirty="0">
                <a:latin typeface="Consolas" panose="020B0609020204030204" pitchFamily="49" charset="0"/>
                <a:cs typeface="Consolas" panose="020B0609020204030204" pitchFamily="49" charset="0"/>
              </a:rPr>
              <a:t>To: </a:t>
            </a:r>
            <a:r>
              <a:rPr lang="en-US" sz="2400" dirty="0" err="1">
                <a:latin typeface="Consolas" panose="020B0609020204030204" pitchFamily="49" charset="0"/>
                <a:cs typeface="Consolas" panose="020B0609020204030204" pitchFamily="49" charset="0"/>
              </a:rPr>
              <a:t>support@example.com</a:t>
            </a:r>
            <a:endParaRPr lang="en-US" sz="2400" b="0" dirty="0">
              <a:effectLst/>
              <a:latin typeface="Consolas" panose="020B0609020204030204" pitchFamily="49" charset="0"/>
              <a:cs typeface="Consolas" panose="020B0609020204030204" pitchFamily="49" charset="0"/>
            </a:endParaRPr>
          </a:p>
          <a:p>
            <a:pPr marL="0" indent="0">
              <a:buNone/>
            </a:pPr>
            <a:r>
              <a:rPr lang="en-US" sz="2400" dirty="0">
                <a:latin typeface="Consolas" panose="020B0609020204030204" pitchFamily="49" charset="0"/>
                <a:cs typeface="Consolas" panose="020B0609020204030204" pitchFamily="49" charset="0"/>
              </a:rPr>
              <a:t>Subject: </a:t>
            </a:r>
            <a:r>
              <a:rPr lang="en-US" sz="2400" dirty="0" err="1">
                <a:latin typeface="Consolas" panose="020B0609020204030204" pitchFamily="49" charset="0"/>
                <a:cs typeface="Consolas" panose="020B0609020204030204" pitchFamily="49" charset="0"/>
              </a:rPr>
              <a:t>Re:Re:Re:Re:Re:Cannot</a:t>
            </a:r>
            <a:r>
              <a:rPr lang="en-US" sz="2400" dirty="0">
                <a:latin typeface="Consolas" panose="020B0609020204030204" pitchFamily="49" charset="0"/>
                <a:cs typeface="Consolas" panose="020B0609020204030204" pitchFamily="49" charset="0"/>
              </a:rPr>
              <a:t> complete the checkout</a:t>
            </a:r>
            <a:endParaRPr lang="en-US" sz="2400" b="0" dirty="0">
              <a:effectLst/>
              <a:latin typeface="Consolas" panose="020B0609020204030204" pitchFamily="49" charset="0"/>
              <a:cs typeface="Consolas" panose="020B0609020204030204" pitchFamily="49" charset="0"/>
            </a:endParaRPr>
          </a:p>
          <a:p>
            <a:pPr marL="0" indent="0">
              <a:buNone/>
            </a:pPr>
            <a:br>
              <a:rPr lang="en-US" sz="2400" b="0" dirty="0">
                <a:effectLst/>
                <a:latin typeface="Consolas" panose="020B0609020204030204" pitchFamily="49" charset="0"/>
                <a:cs typeface="Consolas" panose="020B0609020204030204" pitchFamily="49" charset="0"/>
              </a:rPr>
            </a:br>
            <a:r>
              <a:rPr lang="en-US" sz="2400" dirty="0">
                <a:latin typeface="Consolas" panose="020B0609020204030204" pitchFamily="49" charset="0"/>
                <a:cs typeface="Consolas" panose="020B0609020204030204" pitchFamily="49" charset="0"/>
              </a:rPr>
              <a:t>Managed finally capture the HAR file from my browser using the instructions you altered. However it is too big to be sent as email attachment. Please advise</a:t>
            </a:r>
            <a:endParaRPr lang="en-US" sz="2400" b="0" dirty="0">
              <a:effectLst/>
              <a:latin typeface="Consolas" panose="020B0609020204030204" pitchFamily="49" charset="0"/>
              <a:cs typeface="Consolas" panose="020B0609020204030204" pitchFamily="49" charset="0"/>
            </a:endParaRPr>
          </a:p>
          <a:p>
            <a:pPr marL="0" indent="0">
              <a:buNone/>
            </a:pPr>
            <a:endParaRPr lang="en-US" sz="2400" dirty="0"/>
          </a:p>
        </p:txBody>
      </p:sp>
      <p:sp>
        <p:nvSpPr>
          <p:cNvPr id="4" name="Slide Number Placeholder 3">
            <a:extLst>
              <a:ext uri="{FF2B5EF4-FFF2-40B4-BE49-F238E27FC236}">
                <a16:creationId xmlns:a16="http://schemas.microsoft.com/office/drawing/2014/main" id="{226AE56B-877C-A040-B900-E55A9CC89AF0}"/>
              </a:ext>
            </a:extLst>
          </p:cNvPr>
          <p:cNvSpPr>
            <a:spLocks noGrp="1"/>
          </p:cNvSpPr>
          <p:nvPr>
            <p:ph type="sldNum" sz="quarter" idx="12"/>
          </p:nvPr>
        </p:nvSpPr>
        <p:spPr/>
        <p:txBody>
          <a:bodyPr/>
          <a:lstStyle/>
          <a:p>
            <a:fld id="{B89D2E03-A51F-7845-9ABE-3D2C5E87AE2F}" type="slidenum">
              <a:rPr lang="en-US" smtClean="0"/>
              <a:t>61</a:t>
            </a:fld>
            <a:endParaRPr lang="en-US"/>
          </a:p>
        </p:txBody>
      </p:sp>
      <p:sp>
        <p:nvSpPr>
          <p:cNvPr id="5" name="Footer Placeholder 4">
            <a:extLst>
              <a:ext uri="{FF2B5EF4-FFF2-40B4-BE49-F238E27FC236}">
                <a16:creationId xmlns:a16="http://schemas.microsoft.com/office/drawing/2014/main" id="{A1F8EFFD-DB14-8347-8F42-4EA7D5562E70}"/>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59964461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B42B-E795-CE47-A84C-385076B3FBD5}"/>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What happened during the two weeks?</a:t>
            </a:r>
          </a:p>
        </p:txBody>
      </p:sp>
      <p:pic>
        <p:nvPicPr>
          <p:cNvPr id="5" name="Content Placeholder 4" descr="A screenshot of a cell phone&#10;&#10;Description automatically generated">
            <a:extLst>
              <a:ext uri="{FF2B5EF4-FFF2-40B4-BE49-F238E27FC236}">
                <a16:creationId xmlns:a16="http://schemas.microsoft.com/office/drawing/2014/main" id="{C130791F-4663-9A47-A01B-81081E2A3EC1}"/>
              </a:ext>
            </a:extLst>
          </p:cNvPr>
          <p:cNvPicPr>
            <a:picLocks noGrp="1" noChangeAspect="1"/>
          </p:cNvPicPr>
          <p:nvPr>
            <p:ph idx="1"/>
          </p:nvPr>
        </p:nvPicPr>
        <p:blipFill>
          <a:blip r:embed="rId2"/>
          <a:stretch>
            <a:fillRect/>
          </a:stretch>
        </p:blipFill>
        <p:spPr>
          <a:xfrm>
            <a:off x="2129890" y="2509911"/>
            <a:ext cx="7877120" cy="3997637"/>
          </a:xfrm>
          <a:prstGeom prst="rect">
            <a:avLst/>
          </a:prstGeom>
        </p:spPr>
      </p:pic>
      <p:sp>
        <p:nvSpPr>
          <p:cNvPr id="6" name="Slide Number Placeholder 5">
            <a:extLst>
              <a:ext uri="{FF2B5EF4-FFF2-40B4-BE49-F238E27FC236}">
                <a16:creationId xmlns:a16="http://schemas.microsoft.com/office/drawing/2014/main" id="{399B651A-C934-F24E-8357-837991CB6633}"/>
              </a:ext>
            </a:extLst>
          </p:cNvPr>
          <p:cNvSpPr>
            <a:spLocks noGrp="1"/>
          </p:cNvSpPr>
          <p:nvPr>
            <p:ph type="sldNum" sz="quarter" idx="12"/>
          </p:nvPr>
        </p:nvSpPr>
        <p:spPr/>
        <p:txBody>
          <a:bodyPr/>
          <a:lstStyle/>
          <a:p>
            <a:fld id="{B89D2E03-A51F-7845-9ABE-3D2C5E87AE2F}" type="slidenum">
              <a:rPr lang="en-US" smtClean="0"/>
              <a:t>62</a:t>
            </a:fld>
            <a:endParaRPr lang="en-US"/>
          </a:p>
        </p:txBody>
      </p:sp>
      <p:sp>
        <p:nvSpPr>
          <p:cNvPr id="3" name="Footer Placeholder 2">
            <a:extLst>
              <a:ext uri="{FF2B5EF4-FFF2-40B4-BE49-F238E27FC236}">
                <a16:creationId xmlns:a16="http://schemas.microsoft.com/office/drawing/2014/main" id="{93FD78A9-F9F5-1546-89C6-3F7B4B8DC788}"/>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880711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3C3BA-143B-CF41-B753-D2489D3391A9}"/>
              </a:ext>
            </a:extLst>
          </p:cNvPr>
          <p:cNvSpPr>
            <a:spLocks noGrp="1"/>
          </p:cNvSpPr>
          <p:nvPr>
            <p:ph type="title"/>
          </p:nvPr>
        </p:nvSpPr>
        <p:spPr>
          <a:xfrm>
            <a:off x="829781" y="2745736"/>
            <a:ext cx="3698803" cy="1366528"/>
          </a:xfrm>
          <a:solidFill>
            <a:srgbClr val="FFFFFF"/>
          </a:solidFill>
          <a:ln w="25400" cap="sq">
            <a:solidFill>
              <a:srgbClr val="404040"/>
            </a:solidFill>
            <a:miter lim="800000"/>
          </a:ln>
        </p:spPr>
        <p:txBody>
          <a:bodyPr>
            <a:normAutofit/>
          </a:bodyPr>
          <a:lstStyle/>
          <a:p>
            <a:pPr algn="ctr"/>
            <a:r>
              <a:rPr lang="en-US" sz="4000" dirty="0">
                <a:solidFill>
                  <a:srgbClr val="262626"/>
                </a:solidFill>
              </a:rPr>
              <a:t>Could it have been different?</a:t>
            </a:r>
          </a:p>
        </p:txBody>
      </p:sp>
      <p:sp>
        <p:nvSpPr>
          <p:cNvPr id="3" name="Content Placeholder 2">
            <a:extLst>
              <a:ext uri="{FF2B5EF4-FFF2-40B4-BE49-F238E27FC236}">
                <a16:creationId xmlns:a16="http://schemas.microsoft.com/office/drawing/2014/main" id="{60154049-0F15-0D41-90CB-BD0508C53AE7}"/>
              </a:ext>
            </a:extLst>
          </p:cNvPr>
          <p:cNvSpPr>
            <a:spLocks noGrp="1"/>
          </p:cNvSpPr>
          <p:nvPr>
            <p:ph idx="1"/>
          </p:nvPr>
        </p:nvSpPr>
        <p:spPr>
          <a:xfrm>
            <a:off x="6049182" y="802638"/>
            <a:ext cx="5408696" cy="5252722"/>
          </a:xfrm>
        </p:spPr>
        <p:txBody>
          <a:bodyPr anchor="ctr">
            <a:normAutofit/>
          </a:bodyPr>
          <a:lstStyle/>
          <a:p>
            <a:pPr marL="0" indent="0">
              <a:buNone/>
            </a:pPr>
            <a:r>
              <a:rPr lang="en-US" dirty="0"/>
              <a:t>Yes. Lets walk through examples understanding how distributed tracing helps you by:</a:t>
            </a:r>
          </a:p>
          <a:p>
            <a:r>
              <a:rPr lang="en-US" dirty="0"/>
              <a:t>Verifying the claim</a:t>
            </a:r>
          </a:p>
          <a:p>
            <a:r>
              <a:rPr lang="en-US" dirty="0"/>
              <a:t>Prioritizing the response</a:t>
            </a:r>
          </a:p>
          <a:p>
            <a:r>
              <a:rPr lang="en-US" dirty="0"/>
              <a:t>Understanding the true impact</a:t>
            </a:r>
          </a:p>
          <a:p>
            <a:r>
              <a:rPr lang="en-US" dirty="0"/>
              <a:t>Proactively handling such problems</a:t>
            </a:r>
          </a:p>
          <a:p>
            <a:endParaRPr lang="en-US" sz="2400" dirty="0"/>
          </a:p>
        </p:txBody>
      </p:sp>
      <p:sp>
        <p:nvSpPr>
          <p:cNvPr id="4" name="Slide Number Placeholder 3">
            <a:extLst>
              <a:ext uri="{FF2B5EF4-FFF2-40B4-BE49-F238E27FC236}">
                <a16:creationId xmlns:a16="http://schemas.microsoft.com/office/drawing/2014/main" id="{7618F9EC-570D-8749-BEBE-600BB395585A}"/>
              </a:ext>
            </a:extLst>
          </p:cNvPr>
          <p:cNvSpPr>
            <a:spLocks noGrp="1"/>
          </p:cNvSpPr>
          <p:nvPr>
            <p:ph type="sldNum" sz="quarter" idx="12"/>
          </p:nvPr>
        </p:nvSpPr>
        <p:spPr/>
        <p:txBody>
          <a:bodyPr/>
          <a:lstStyle/>
          <a:p>
            <a:fld id="{B89D2E03-A51F-7845-9ABE-3D2C5E87AE2F}" type="slidenum">
              <a:rPr lang="en-US" smtClean="0"/>
              <a:t>63</a:t>
            </a:fld>
            <a:endParaRPr lang="en-US"/>
          </a:p>
        </p:txBody>
      </p:sp>
      <p:sp>
        <p:nvSpPr>
          <p:cNvPr id="5" name="Footer Placeholder 4">
            <a:extLst>
              <a:ext uri="{FF2B5EF4-FFF2-40B4-BE49-F238E27FC236}">
                <a16:creationId xmlns:a16="http://schemas.microsoft.com/office/drawing/2014/main" id="{1ECD52A7-8B78-C74C-838E-A40BEA2675D8}"/>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27172846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F4C3F-0824-2340-B4EA-67C0CDDA933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Example #1: verifying the complaint</a:t>
            </a:r>
          </a:p>
        </p:txBody>
      </p:sp>
      <p:pic>
        <p:nvPicPr>
          <p:cNvPr id="7" name="Content Placeholder 6" descr="A screenshot of a cell phone&#10;&#10;Description automatically generated">
            <a:extLst>
              <a:ext uri="{FF2B5EF4-FFF2-40B4-BE49-F238E27FC236}">
                <a16:creationId xmlns:a16="http://schemas.microsoft.com/office/drawing/2014/main" id="{3A1441CC-2545-9148-92BD-0698480CAE87}"/>
              </a:ext>
            </a:extLst>
          </p:cNvPr>
          <p:cNvPicPr>
            <a:picLocks noGrp="1" noChangeAspect="1"/>
          </p:cNvPicPr>
          <p:nvPr>
            <p:ph idx="1"/>
          </p:nvPr>
        </p:nvPicPr>
        <p:blipFill>
          <a:blip r:embed="rId2"/>
          <a:stretch>
            <a:fillRect/>
          </a:stretch>
        </p:blipFill>
        <p:spPr>
          <a:xfrm>
            <a:off x="320040" y="2539899"/>
            <a:ext cx="11496821" cy="3937661"/>
          </a:xfrm>
          <a:prstGeom prst="rect">
            <a:avLst/>
          </a:prstGeom>
        </p:spPr>
      </p:pic>
      <p:sp>
        <p:nvSpPr>
          <p:cNvPr id="9" name="Slide Number Placeholder 8">
            <a:extLst>
              <a:ext uri="{FF2B5EF4-FFF2-40B4-BE49-F238E27FC236}">
                <a16:creationId xmlns:a16="http://schemas.microsoft.com/office/drawing/2014/main" id="{04ED0CB7-07F0-6041-83B3-95BEAA5D0D22}"/>
              </a:ext>
            </a:extLst>
          </p:cNvPr>
          <p:cNvSpPr>
            <a:spLocks noGrp="1"/>
          </p:cNvSpPr>
          <p:nvPr>
            <p:ph type="sldNum" sz="quarter" idx="12"/>
          </p:nvPr>
        </p:nvSpPr>
        <p:spPr/>
        <p:txBody>
          <a:bodyPr/>
          <a:lstStyle/>
          <a:p>
            <a:fld id="{B89D2E03-A51F-7845-9ABE-3D2C5E87AE2F}" type="slidenum">
              <a:rPr lang="en-US" smtClean="0"/>
              <a:t>64</a:t>
            </a:fld>
            <a:endParaRPr lang="en-US"/>
          </a:p>
        </p:txBody>
      </p:sp>
      <p:sp>
        <p:nvSpPr>
          <p:cNvPr id="3" name="Footer Placeholder 2">
            <a:extLst>
              <a:ext uri="{FF2B5EF4-FFF2-40B4-BE49-F238E27FC236}">
                <a16:creationId xmlns:a16="http://schemas.microsoft.com/office/drawing/2014/main" id="{7F17FA8E-C2DF-2441-BE65-8DD42552DD2A}"/>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42890539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C78E7B-B97B-C54E-B766-C31DC60643E3}"/>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Example #1: verifying the complaint</a:t>
            </a:r>
          </a:p>
        </p:txBody>
      </p:sp>
      <p:pic>
        <p:nvPicPr>
          <p:cNvPr id="4" name="Picture 2" descr="C:\Users\gerth\Dropbox\_plumbr\_AI\DevOps and GoTO\goto presentation\tree01.jpg">
            <a:extLst>
              <a:ext uri="{FF2B5EF4-FFF2-40B4-BE49-F238E27FC236}">
                <a16:creationId xmlns:a16="http://schemas.microsoft.com/office/drawing/2014/main" id="{DD1A6AE9-0F7E-764E-AB13-6F20B3702B6F}"/>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A59359CD-75B5-FC42-9894-5DA2A61651B1}"/>
              </a:ext>
            </a:extLst>
          </p:cNvPr>
          <p:cNvSpPr>
            <a:spLocks noGrp="1"/>
          </p:cNvSpPr>
          <p:nvPr>
            <p:ph type="sldNum" sz="quarter" idx="12"/>
          </p:nvPr>
        </p:nvSpPr>
        <p:spPr/>
        <p:txBody>
          <a:bodyPr/>
          <a:lstStyle/>
          <a:p>
            <a:fld id="{B89D2E03-A51F-7845-9ABE-3D2C5E87AE2F}" type="slidenum">
              <a:rPr lang="en-US" smtClean="0"/>
              <a:t>65</a:t>
            </a:fld>
            <a:endParaRPr lang="en-US"/>
          </a:p>
        </p:txBody>
      </p:sp>
      <p:sp>
        <p:nvSpPr>
          <p:cNvPr id="3" name="Footer Placeholder 2">
            <a:extLst>
              <a:ext uri="{FF2B5EF4-FFF2-40B4-BE49-F238E27FC236}">
                <a16:creationId xmlns:a16="http://schemas.microsoft.com/office/drawing/2014/main" id="{5C7C5F56-4F2D-694F-8F25-0EA7FBD8DC61}"/>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294663500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606B0-267B-0342-95CE-C04FF13D8119}"/>
              </a:ext>
            </a:extLst>
          </p:cNvPr>
          <p:cNvSpPr>
            <a:spLocks noGrp="1"/>
          </p:cNvSpPr>
          <p:nvPr>
            <p:ph type="title"/>
          </p:nvPr>
        </p:nvSpPr>
        <p:spPr>
          <a:xfrm>
            <a:off x="863029" y="1012004"/>
            <a:ext cx="3416158" cy="4795408"/>
          </a:xfrm>
        </p:spPr>
        <p:txBody>
          <a:bodyPr>
            <a:normAutofit/>
          </a:bodyPr>
          <a:lstStyle/>
          <a:p>
            <a:r>
              <a:rPr lang="en-US">
                <a:solidFill>
                  <a:srgbClr val="FFFFFF"/>
                </a:solidFill>
              </a:rPr>
              <a:t>Example #1: complaint verified</a:t>
            </a:r>
          </a:p>
        </p:txBody>
      </p:sp>
      <p:graphicFrame>
        <p:nvGraphicFramePr>
          <p:cNvPr id="7" name="Content Placeholder 2">
            <a:extLst>
              <a:ext uri="{FF2B5EF4-FFF2-40B4-BE49-F238E27FC236}">
                <a16:creationId xmlns:a16="http://schemas.microsoft.com/office/drawing/2014/main" id="{EA00E763-A6B8-4083-9E8C-AFB43C9A2419}"/>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Slide Number Placeholder 3">
            <a:extLst>
              <a:ext uri="{FF2B5EF4-FFF2-40B4-BE49-F238E27FC236}">
                <a16:creationId xmlns:a16="http://schemas.microsoft.com/office/drawing/2014/main" id="{96C06640-ABF9-0045-80F5-CD064BAB1E02}"/>
              </a:ext>
            </a:extLst>
          </p:cNvPr>
          <p:cNvSpPr>
            <a:spLocks noGrp="1"/>
          </p:cNvSpPr>
          <p:nvPr>
            <p:ph type="sldNum" sz="quarter" idx="12"/>
          </p:nvPr>
        </p:nvSpPr>
        <p:spPr/>
        <p:txBody>
          <a:bodyPr/>
          <a:lstStyle/>
          <a:p>
            <a:fld id="{B89D2E03-A51F-7845-9ABE-3D2C5E87AE2F}" type="slidenum">
              <a:rPr lang="en-US" smtClean="0"/>
              <a:t>66</a:t>
            </a:fld>
            <a:endParaRPr lang="en-US"/>
          </a:p>
        </p:txBody>
      </p:sp>
      <p:sp>
        <p:nvSpPr>
          <p:cNvPr id="3" name="Footer Placeholder 2">
            <a:extLst>
              <a:ext uri="{FF2B5EF4-FFF2-40B4-BE49-F238E27FC236}">
                <a16:creationId xmlns:a16="http://schemas.microsoft.com/office/drawing/2014/main" id="{AA68CBD7-0826-4741-814D-AA73B9EE59FA}"/>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72045238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EB35-906F-674B-8A69-D0C9087EF61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Example #2: prioritizing the response</a:t>
            </a:r>
          </a:p>
        </p:txBody>
      </p:sp>
      <p:pic>
        <p:nvPicPr>
          <p:cNvPr id="4" name="Picture 2" descr="C:\Users\gerth\Dropbox\_plumbr\_AI\DevOps and GoTO\goto presentation\tree01.jpg">
            <a:extLst>
              <a:ext uri="{FF2B5EF4-FFF2-40B4-BE49-F238E27FC236}">
                <a16:creationId xmlns:a16="http://schemas.microsoft.com/office/drawing/2014/main" id="{3BB01307-414D-F840-99BC-97E1AEB49EBA}"/>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8C59187D-21EF-8A4D-BA81-A70EB9EB2FC0}"/>
              </a:ext>
            </a:extLst>
          </p:cNvPr>
          <p:cNvSpPr>
            <a:spLocks noGrp="1"/>
          </p:cNvSpPr>
          <p:nvPr>
            <p:ph type="sldNum" sz="quarter" idx="12"/>
          </p:nvPr>
        </p:nvSpPr>
        <p:spPr/>
        <p:txBody>
          <a:bodyPr/>
          <a:lstStyle/>
          <a:p>
            <a:fld id="{B89D2E03-A51F-7845-9ABE-3D2C5E87AE2F}" type="slidenum">
              <a:rPr lang="en-US" smtClean="0"/>
              <a:t>67</a:t>
            </a:fld>
            <a:endParaRPr lang="en-US"/>
          </a:p>
        </p:txBody>
      </p:sp>
      <p:sp>
        <p:nvSpPr>
          <p:cNvPr id="3" name="Footer Placeholder 2">
            <a:extLst>
              <a:ext uri="{FF2B5EF4-FFF2-40B4-BE49-F238E27FC236}">
                <a16:creationId xmlns:a16="http://schemas.microsoft.com/office/drawing/2014/main" id="{1420FDBE-2026-1345-8A75-9CC949DB8947}"/>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218249867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EB35-906F-674B-8A69-D0C9087EF61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dirty="0">
                <a:solidFill>
                  <a:srgbClr val="FFFFFF"/>
                </a:solidFill>
                <a:latin typeface="+mj-lt"/>
                <a:ea typeface="+mj-ea"/>
                <a:cs typeface="+mj-cs"/>
              </a:rPr>
              <a:t>Example #2: prioritizing the response</a:t>
            </a:r>
          </a:p>
        </p:txBody>
      </p:sp>
      <p:pic>
        <p:nvPicPr>
          <p:cNvPr id="5" name="Picture 2" descr="C:\Users\gerth\Dropbox\_plumbr\_AI\DevOps and GoTO\goto presentation\tree02.jpg">
            <a:extLst>
              <a:ext uri="{FF2B5EF4-FFF2-40B4-BE49-F238E27FC236}">
                <a16:creationId xmlns:a16="http://schemas.microsoft.com/office/drawing/2014/main" id="{568CFABA-23C1-9446-A9BF-8F0B8BCC13E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16E3F8CD-3806-C649-BEFB-9B75716BBD8E}"/>
              </a:ext>
            </a:extLst>
          </p:cNvPr>
          <p:cNvSpPr>
            <a:spLocks noGrp="1"/>
          </p:cNvSpPr>
          <p:nvPr>
            <p:ph type="sldNum" sz="quarter" idx="12"/>
          </p:nvPr>
        </p:nvSpPr>
        <p:spPr/>
        <p:txBody>
          <a:bodyPr/>
          <a:lstStyle/>
          <a:p>
            <a:fld id="{B89D2E03-A51F-7845-9ABE-3D2C5E87AE2F}" type="slidenum">
              <a:rPr lang="en-US" smtClean="0"/>
              <a:t>68</a:t>
            </a:fld>
            <a:endParaRPr lang="en-US"/>
          </a:p>
        </p:txBody>
      </p:sp>
      <p:sp>
        <p:nvSpPr>
          <p:cNvPr id="3" name="Footer Placeholder 2">
            <a:extLst>
              <a:ext uri="{FF2B5EF4-FFF2-40B4-BE49-F238E27FC236}">
                <a16:creationId xmlns:a16="http://schemas.microsoft.com/office/drawing/2014/main" id="{360A319B-5A6F-304E-AEC9-C130ABA9D43B}"/>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7910062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ECEB35-906F-674B-8A69-D0C9087EF619}"/>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Example #2: prioritizing the response</a:t>
            </a:r>
          </a:p>
        </p:txBody>
      </p:sp>
      <p:pic>
        <p:nvPicPr>
          <p:cNvPr id="5" name="Picture 2" descr="C:\Users\gerth\Dropbox\_plumbr\_AI\DevOps and GoTO\goto presentation\tree03.jpg">
            <a:extLst>
              <a:ext uri="{FF2B5EF4-FFF2-40B4-BE49-F238E27FC236}">
                <a16:creationId xmlns:a16="http://schemas.microsoft.com/office/drawing/2014/main" id="{AD6F8B14-0873-3142-8866-51B1F5A356F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E898DD55-C0D1-A343-9F2A-C8870FF0C20D}"/>
              </a:ext>
            </a:extLst>
          </p:cNvPr>
          <p:cNvSpPr>
            <a:spLocks noGrp="1"/>
          </p:cNvSpPr>
          <p:nvPr>
            <p:ph type="sldNum" sz="quarter" idx="12"/>
          </p:nvPr>
        </p:nvSpPr>
        <p:spPr/>
        <p:txBody>
          <a:bodyPr/>
          <a:lstStyle/>
          <a:p>
            <a:fld id="{B89D2E03-A51F-7845-9ABE-3D2C5E87AE2F}" type="slidenum">
              <a:rPr lang="en-US" smtClean="0"/>
              <a:t>69</a:t>
            </a:fld>
            <a:endParaRPr lang="en-US"/>
          </a:p>
        </p:txBody>
      </p:sp>
      <p:sp>
        <p:nvSpPr>
          <p:cNvPr id="3" name="Footer Placeholder 2">
            <a:extLst>
              <a:ext uri="{FF2B5EF4-FFF2-40B4-BE49-F238E27FC236}">
                <a16:creationId xmlns:a16="http://schemas.microsoft.com/office/drawing/2014/main" id="{1B02DF80-4750-BF4A-9A25-73472657F5AE}"/>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4444417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28863E-ED05-754A-BCA5-1C88C0DBAC8E}"/>
              </a:ext>
            </a:extLst>
          </p:cNvPr>
          <p:cNvSpPr>
            <a:spLocks noGrp="1"/>
          </p:cNvSpPr>
          <p:nvPr>
            <p:ph type="title"/>
          </p:nvPr>
        </p:nvSpPr>
        <p:spPr>
          <a:xfrm>
            <a:off x="863029" y="1012004"/>
            <a:ext cx="3416158" cy="4795408"/>
          </a:xfrm>
        </p:spPr>
        <p:txBody>
          <a:bodyPr>
            <a:normAutofit/>
          </a:bodyPr>
          <a:lstStyle/>
          <a:p>
            <a:r>
              <a:rPr lang="en-US">
                <a:solidFill>
                  <a:srgbClr val="FFFFFF"/>
                </a:solidFill>
              </a:rPr>
              <a:t>Example #2: priorities assigned based on the impact</a:t>
            </a:r>
          </a:p>
        </p:txBody>
      </p:sp>
      <p:graphicFrame>
        <p:nvGraphicFramePr>
          <p:cNvPr id="5" name="Content Placeholder 2">
            <a:extLst>
              <a:ext uri="{FF2B5EF4-FFF2-40B4-BE49-F238E27FC236}">
                <a16:creationId xmlns:a16="http://schemas.microsoft.com/office/drawing/2014/main" id="{C1559F6A-5D2A-44AB-90BF-9DBCDDB63E9F}"/>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47835FF2-A78F-8146-BF10-6E540C26F6FE}"/>
              </a:ext>
            </a:extLst>
          </p:cNvPr>
          <p:cNvSpPr>
            <a:spLocks noGrp="1"/>
          </p:cNvSpPr>
          <p:nvPr>
            <p:ph type="sldNum" sz="quarter" idx="12"/>
          </p:nvPr>
        </p:nvSpPr>
        <p:spPr/>
        <p:txBody>
          <a:bodyPr/>
          <a:lstStyle/>
          <a:p>
            <a:fld id="{B89D2E03-A51F-7845-9ABE-3D2C5E87AE2F}" type="slidenum">
              <a:rPr lang="en-US" smtClean="0"/>
              <a:t>70</a:t>
            </a:fld>
            <a:endParaRPr lang="en-US"/>
          </a:p>
        </p:txBody>
      </p:sp>
      <p:sp>
        <p:nvSpPr>
          <p:cNvPr id="3" name="Footer Placeholder 2">
            <a:extLst>
              <a:ext uri="{FF2B5EF4-FFF2-40B4-BE49-F238E27FC236}">
                <a16:creationId xmlns:a16="http://schemas.microsoft.com/office/drawing/2014/main" id="{371B99ED-CDB8-1B45-A1BD-59CBC3EADF57}"/>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42235844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BEEEDA-49EF-7640-9463-6193EB782F30}"/>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3400" kern="1200" dirty="0">
                <a:solidFill>
                  <a:srgbClr val="FFFFFF"/>
                </a:solidFill>
                <a:latin typeface="+mj-lt"/>
                <a:ea typeface="+mj-ea"/>
                <a:cs typeface="+mj-cs"/>
              </a:rPr>
              <a:t>Example #3: zooming out to see what real users experience</a:t>
            </a:r>
          </a:p>
        </p:txBody>
      </p:sp>
      <p:pic>
        <p:nvPicPr>
          <p:cNvPr id="4" name="Picture 2" descr="C:\Users\gerth\Dropbox\_plumbr\_AI\DevOps and GoTO\goto presentation\tree05.jpg">
            <a:extLst>
              <a:ext uri="{FF2B5EF4-FFF2-40B4-BE49-F238E27FC236}">
                <a16:creationId xmlns:a16="http://schemas.microsoft.com/office/drawing/2014/main" id="{62358252-9373-A849-9884-8E0DB2084C35}"/>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noFill/>
          <a:extLst>
            <a:ext uri="{909E8E84-426E-40DD-AFC4-6F175D3DCCD1}">
              <a14:hiddenFill xmlns:a14="http://schemas.microsoft.com/office/drawing/2010/main">
                <a:solidFill>
                  <a:srgbClr val="FFFFFF"/>
                </a:solidFill>
              </a14:hiddenFill>
            </a:ext>
          </a:extLst>
        </p:spPr>
      </p:pic>
      <p:sp>
        <p:nvSpPr>
          <p:cNvPr id="5" name="Slide Number Placeholder 4">
            <a:extLst>
              <a:ext uri="{FF2B5EF4-FFF2-40B4-BE49-F238E27FC236}">
                <a16:creationId xmlns:a16="http://schemas.microsoft.com/office/drawing/2014/main" id="{CAFA9927-2DAC-134A-B0E3-33E5F6A2DAF9}"/>
              </a:ext>
            </a:extLst>
          </p:cNvPr>
          <p:cNvSpPr>
            <a:spLocks noGrp="1"/>
          </p:cNvSpPr>
          <p:nvPr>
            <p:ph type="sldNum" sz="quarter" idx="12"/>
          </p:nvPr>
        </p:nvSpPr>
        <p:spPr/>
        <p:txBody>
          <a:bodyPr/>
          <a:lstStyle/>
          <a:p>
            <a:fld id="{B89D2E03-A51F-7845-9ABE-3D2C5E87AE2F}" type="slidenum">
              <a:rPr lang="en-US" smtClean="0"/>
              <a:t>71</a:t>
            </a:fld>
            <a:endParaRPr lang="en-US"/>
          </a:p>
        </p:txBody>
      </p:sp>
      <p:sp>
        <p:nvSpPr>
          <p:cNvPr id="3" name="Footer Placeholder 2">
            <a:extLst>
              <a:ext uri="{FF2B5EF4-FFF2-40B4-BE49-F238E27FC236}">
                <a16:creationId xmlns:a16="http://schemas.microsoft.com/office/drawing/2014/main" id="{2B75951D-A441-5D41-8840-7F6AF415AA0F}"/>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32841546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34B4BF-F96E-8F4A-8F68-5C659F48BCC2}"/>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3800" kern="1200">
                <a:solidFill>
                  <a:srgbClr val="FFFFFF"/>
                </a:solidFill>
                <a:latin typeface="+mj-lt"/>
                <a:ea typeface="+mj-ea"/>
                <a:cs typeface="+mj-cs"/>
              </a:rPr>
              <a:t>Example #3: zooming out to what real users experience</a:t>
            </a:r>
          </a:p>
        </p:txBody>
      </p:sp>
      <p:pic>
        <p:nvPicPr>
          <p:cNvPr id="6" name="Picture 2" descr="C:\Users\gerth\Dropbox\_plumbr\_AI\DevOps and GoTO\goto presentation\tree04.jpg">
            <a:extLst>
              <a:ext uri="{FF2B5EF4-FFF2-40B4-BE49-F238E27FC236}">
                <a16:creationId xmlns:a16="http://schemas.microsoft.com/office/drawing/2014/main" id="{EEE9DC20-F056-9F41-9301-E847945D4D6A}"/>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bwMode="auto">
          <a:xfrm>
            <a:off x="2737086" y="2509911"/>
            <a:ext cx="6662728" cy="3997637"/>
          </a:xfrm>
          <a:prstGeom prst="rect">
            <a:avLst/>
          </a:prstGeom>
          <a:noFill/>
          <a:extLst>
            <a:ext uri="{909E8E84-426E-40DD-AFC4-6F175D3DCCD1}">
              <a14:hiddenFill xmlns:a14="http://schemas.microsoft.com/office/drawing/2010/main">
                <a:solidFill>
                  <a:srgbClr val="FFFFFF"/>
                </a:solidFill>
              </a14:hiddenFill>
            </a:ext>
          </a:extLst>
        </p:spPr>
      </p:pic>
      <p:sp>
        <p:nvSpPr>
          <p:cNvPr id="7" name="Slide Number Placeholder 6">
            <a:extLst>
              <a:ext uri="{FF2B5EF4-FFF2-40B4-BE49-F238E27FC236}">
                <a16:creationId xmlns:a16="http://schemas.microsoft.com/office/drawing/2014/main" id="{A889A0A3-0EBE-E546-BB45-4A28E18030E8}"/>
              </a:ext>
            </a:extLst>
          </p:cNvPr>
          <p:cNvSpPr>
            <a:spLocks noGrp="1"/>
          </p:cNvSpPr>
          <p:nvPr>
            <p:ph type="sldNum" sz="quarter" idx="12"/>
          </p:nvPr>
        </p:nvSpPr>
        <p:spPr/>
        <p:txBody>
          <a:bodyPr/>
          <a:lstStyle/>
          <a:p>
            <a:fld id="{B89D2E03-A51F-7845-9ABE-3D2C5E87AE2F}" type="slidenum">
              <a:rPr lang="en-US" smtClean="0"/>
              <a:t>72</a:t>
            </a:fld>
            <a:endParaRPr lang="en-US"/>
          </a:p>
        </p:txBody>
      </p:sp>
      <p:sp>
        <p:nvSpPr>
          <p:cNvPr id="3" name="Footer Placeholder 2">
            <a:extLst>
              <a:ext uri="{FF2B5EF4-FFF2-40B4-BE49-F238E27FC236}">
                <a16:creationId xmlns:a16="http://schemas.microsoft.com/office/drawing/2014/main" id="{C793C9BE-CF69-D845-A2DD-2A174A535FFF}"/>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37189109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5457-5E42-354C-9234-A1EF6DA5CED5}"/>
              </a:ext>
            </a:extLst>
          </p:cNvPr>
          <p:cNvSpPr>
            <a:spLocks noGrp="1"/>
          </p:cNvSpPr>
          <p:nvPr>
            <p:ph type="title"/>
          </p:nvPr>
        </p:nvSpPr>
        <p:spPr>
          <a:xfrm>
            <a:off x="863029" y="1012004"/>
            <a:ext cx="3416158" cy="4795408"/>
          </a:xfrm>
        </p:spPr>
        <p:txBody>
          <a:bodyPr>
            <a:normAutofit fontScale="90000"/>
          </a:bodyPr>
          <a:lstStyle/>
          <a:p>
            <a:r>
              <a:rPr lang="en-US">
                <a:solidFill>
                  <a:srgbClr val="FFFFFF"/>
                </a:solidFill>
              </a:rPr>
              <a:t>Example #3: true impact only reveals itself if traces go all the way to real user</a:t>
            </a:r>
          </a:p>
        </p:txBody>
      </p:sp>
      <p:graphicFrame>
        <p:nvGraphicFramePr>
          <p:cNvPr id="5" name="Content Placeholder 2">
            <a:extLst>
              <a:ext uri="{FF2B5EF4-FFF2-40B4-BE49-F238E27FC236}">
                <a16:creationId xmlns:a16="http://schemas.microsoft.com/office/drawing/2014/main" id="{4F0FDF1E-59D9-49B3-94F5-E0BB8115D5FF}"/>
              </a:ext>
            </a:extLst>
          </p:cNvPr>
          <p:cNvGraphicFramePr>
            <a:graphicFrameLocks noGrp="1"/>
          </p:cNvGraphicFramePr>
          <p:nvPr>
            <p:ph idx="1"/>
          </p:nvPr>
        </p:nvGraphicFramePr>
        <p:xfrm>
          <a:off x="5194300" y="470924"/>
          <a:ext cx="6513604" cy="588542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Slide Number Placeholder 3">
            <a:extLst>
              <a:ext uri="{FF2B5EF4-FFF2-40B4-BE49-F238E27FC236}">
                <a16:creationId xmlns:a16="http://schemas.microsoft.com/office/drawing/2014/main" id="{21DCB10F-F03A-9B43-AC59-3BAADF6E9BCA}"/>
              </a:ext>
            </a:extLst>
          </p:cNvPr>
          <p:cNvSpPr>
            <a:spLocks noGrp="1"/>
          </p:cNvSpPr>
          <p:nvPr>
            <p:ph type="sldNum" sz="quarter" idx="12"/>
          </p:nvPr>
        </p:nvSpPr>
        <p:spPr/>
        <p:txBody>
          <a:bodyPr/>
          <a:lstStyle/>
          <a:p>
            <a:fld id="{B89D2E03-A51F-7845-9ABE-3D2C5E87AE2F}" type="slidenum">
              <a:rPr lang="en-US" smtClean="0"/>
              <a:t>73</a:t>
            </a:fld>
            <a:endParaRPr lang="en-US"/>
          </a:p>
        </p:txBody>
      </p:sp>
      <p:sp>
        <p:nvSpPr>
          <p:cNvPr id="3" name="Footer Placeholder 2">
            <a:extLst>
              <a:ext uri="{FF2B5EF4-FFF2-40B4-BE49-F238E27FC236}">
                <a16:creationId xmlns:a16="http://schemas.microsoft.com/office/drawing/2014/main" id="{740B105D-4DD0-594A-82CD-3610F6741A30}"/>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94656209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3E83-0611-D941-B01B-3C62CBEB9883}"/>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Example #4: becoming proactive</a:t>
            </a:r>
          </a:p>
        </p:txBody>
      </p:sp>
      <p:sp>
        <p:nvSpPr>
          <p:cNvPr id="17" name="Content Placeholder 16">
            <a:extLst>
              <a:ext uri="{FF2B5EF4-FFF2-40B4-BE49-F238E27FC236}">
                <a16:creationId xmlns:a16="http://schemas.microsoft.com/office/drawing/2014/main" id="{C8166047-5237-2242-93DF-766A52D7CF7C}"/>
              </a:ext>
            </a:extLst>
          </p:cNvPr>
          <p:cNvSpPr>
            <a:spLocks noGrp="1"/>
          </p:cNvSpPr>
          <p:nvPr>
            <p:ph idx="1"/>
          </p:nvPr>
        </p:nvSpPr>
        <p:spPr/>
        <p:txBody>
          <a:bodyPr/>
          <a:lstStyle/>
          <a:p>
            <a:endParaRPr lang="en-US"/>
          </a:p>
        </p:txBody>
      </p:sp>
      <p:pic>
        <p:nvPicPr>
          <p:cNvPr id="20" name="Content Placeholder 6" descr="A screenshot of a social media post&#10;&#10;Description automatically generated">
            <a:extLst>
              <a:ext uri="{FF2B5EF4-FFF2-40B4-BE49-F238E27FC236}">
                <a16:creationId xmlns:a16="http://schemas.microsoft.com/office/drawing/2014/main" id="{5CA7F19B-40B1-0B47-AB5B-9D71613291BA}"/>
              </a:ext>
            </a:extLst>
          </p:cNvPr>
          <p:cNvPicPr>
            <a:picLocks noChangeAspect="1"/>
          </p:cNvPicPr>
          <p:nvPr/>
        </p:nvPicPr>
        <p:blipFill>
          <a:blip r:embed="rId2"/>
          <a:stretch>
            <a:fillRect/>
          </a:stretch>
        </p:blipFill>
        <p:spPr>
          <a:xfrm>
            <a:off x="2987687" y="2263942"/>
            <a:ext cx="6216625" cy="2057436"/>
          </a:xfrm>
          <a:prstGeom prst="rect">
            <a:avLst/>
          </a:prstGeom>
        </p:spPr>
      </p:pic>
      <p:pic>
        <p:nvPicPr>
          <p:cNvPr id="22" name="Content Placeholder 11" descr="A screenshot of a cell phone&#10;&#10;Description automatically generated">
            <a:extLst>
              <a:ext uri="{FF2B5EF4-FFF2-40B4-BE49-F238E27FC236}">
                <a16:creationId xmlns:a16="http://schemas.microsoft.com/office/drawing/2014/main" id="{BE3A1CA4-56A9-434B-B622-A8913037C868}"/>
              </a:ext>
            </a:extLst>
          </p:cNvPr>
          <p:cNvPicPr>
            <a:picLocks noChangeAspect="1"/>
          </p:cNvPicPr>
          <p:nvPr/>
        </p:nvPicPr>
        <p:blipFill>
          <a:blip r:embed="rId3"/>
          <a:stretch>
            <a:fillRect/>
          </a:stretch>
        </p:blipFill>
        <p:spPr>
          <a:xfrm>
            <a:off x="2987687" y="4706500"/>
            <a:ext cx="6216625" cy="1840331"/>
          </a:xfrm>
          <a:prstGeom prst="rect">
            <a:avLst/>
          </a:prstGeom>
        </p:spPr>
      </p:pic>
      <p:sp>
        <p:nvSpPr>
          <p:cNvPr id="24" name="TextBox 23">
            <a:extLst>
              <a:ext uri="{FF2B5EF4-FFF2-40B4-BE49-F238E27FC236}">
                <a16:creationId xmlns:a16="http://schemas.microsoft.com/office/drawing/2014/main" id="{DAA03D63-C076-274C-BDB8-3B3FDE95A14C}"/>
              </a:ext>
            </a:extLst>
          </p:cNvPr>
          <p:cNvSpPr txBox="1"/>
          <p:nvPr/>
        </p:nvSpPr>
        <p:spPr>
          <a:xfrm>
            <a:off x="5776698" y="4240559"/>
            <a:ext cx="638602" cy="553998"/>
          </a:xfrm>
          <a:prstGeom prst="rect">
            <a:avLst/>
          </a:prstGeom>
          <a:noFill/>
        </p:spPr>
        <p:txBody>
          <a:bodyPr wrap="square" rtlCol="0">
            <a:spAutoFit/>
          </a:bodyPr>
          <a:lstStyle/>
          <a:p>
            <a:r>
              <a:rPr lang="en-US" sz="3000" b="1" dirty="0"/>
              <a:t>+</a:t>
            </a:r>
          </a:p>
        </p:txBody>
      </p:sp>
      <p:sp>
        <p:nvSpPr>
          <p:cNvPr id="18" name="Slide Number Placeholder 17">
            <a:extLst>
              <a:ext uri="{FF2B5EF4-FFF2-40B4-BE49-F238E27FC236}">
                <a16:creationId xmlns:a16="http://schemas.microsoft.com/office/drawing/2014/main" id="{AEF867DA-278C-C24A-8E4C-9A801569F5DC}"/>
              </a:ext>
            </a:extLst>
          </p:cNvPr>
          <p:cNvSpPr>
            <a:spLocks noGrp="1"/>
          </p:cNvSpPr>
          <p:nvPr>
            <p:ph type="sldNum" sz="quarter" idx="12"/>
          </p:nvPr>
        </p:nvSpPr>
        <p:spPr/>
        <p:txBody>
          <a:bodyPr/>
          <a:lstStyle/>
          <a:p>
            <a:fld id="{B89D2E03-A51F-7845-9ABE-3D2C5E87AE2F}" type="slidenum">
              <a:rPr lang="en-US" smtClean="0"/>
              <a:t>74</a:t>
            </a:fld>
            <a:endParaRPr lang="en-US"/>
          </a:p>
        </p:txBody>
      </p:sp>
      <p:sp>
        <p:nvSpPr>
          <p:cNvPr id="3" name="Footer Placeholder 2">
            <a:extLst>
              <a:ext uri="{FF2B5EF4-FFF2-40B4-BE49-F238E27FC236}">
                <a16:creationId xmlns:a16="http://schemas.microsoft.com/office/drawing/2014/main" id="{CECDDEF6-EC1A-784C-9744-D03E27517710}"/>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44726241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5D081-2E79-B44E-94B3-2F82F326B8D1}"/>
              </a:ext>
            </a:extLst>
          </p:cNvPr>
          <p:cNvSpPr>
            <a:spLocks noGrp="1"/>
          </p:cNvSpPr>
          <p:nvPr>
            <p:ph type="title"/>
          </p:nvPr>
        </p:nvSpPr>
        <p:spPr>
          <a:xfrm>
            <a:off x="526073" y="466578"/>
            <a:ext cx="11139854" cy="930447"/>
          </a:xfrm>
        </p:spPr>
        <p:txBody>
          <a:bodyPr vert="horz" lIns="91440" tIns="45720" rIns="91440" bIns="45720" rtlCol="0" anchor="b">
            <a:normAutofit/>
          </a:bodyPr>
          <a:lstStyle/>
          <a:p>
            <a:pPr algn="ctr"/>
            <a:r>
              <a:rPr lang="en-US" sz="5400" kern="1200">
                <a:solidFill>
                  <a:srgbClr val="FFFFFF"/>
                </a:solidFill>
                <a:latin typeface="+mj-lt"/>
                <a:ea typeface="+mj-ea"/>
                <a:cs typeface="+mj-cs"/>
              </a:rPr>
              <a:t>Example #4: becoming proactive</a:t>
            </a:r>
          </a:p>
        </p:txBody>
      </p:sp>
      <p:sp>
        <p:nvSpPr>
          <p:cNvPr id="5" name="Content Placeholder 4">
            <a:extLst>
              <a:ext uri="{FF2B5EF4-FFF2-40B4-BE49-F238E27FC236}">
                <a16:creationId xmlns:a16="http://schemas.microsoft.com/office/drawing/2014/main" id="{B633B247-EF9B-0F4C-B649-03DC5E469C3E}"/>
              </a:ext>
            </a:extLst>
          </p:cNvPr>
          <p:cNvSpPr>
            <a:spLocks noGrp="1"/>
          </p:cNvSpPr>
          <p:nvPr>
            <p:ph idx="1"/>
          </p:nvPr>
        </p:nvSpPr>
        <p:spPr/>
        <p:txBody>
          <a:bodyPr/>
          <a:lstStyle/>
          <a:p>
            <a:endParaRPr lang="en-US" dirty="0"/>
          </a:p>
        </p:txBody>
      </p:sp>
      <p:pic>
        <p:nvPicPr>
          <p:cNvPr id="8" name="Content Placeholder 12" descr="A screenshot of a cell phone&#10;&#10;Description automatically generated">
            <a:extLst>
              <a:ext uri="{FF2B5EF4-FFF2-40B4-BE49-F238E27FC236}">
                <a16:creationId xmlns:a16="http://schemas.microsoft.com/office/drawing/2014/main" id="{92323DA0-986A-7C43-9724-0B9A7AE79CD6}"/>
              </a:ext>
            </a:extLst>
          </p:cNvPr>
          <p:cNvPicPr>
            <a:picLocks noChangeAspect="1"/>
          </p:cNvPicPr>
          <p:nvPr/>
        </p:nvPicPr>
        <p:blipFill rotWithShape="1">
          <a:blip r:embed="rId2"/>
          <a:srcRect b="20382"/>
          <a:stretch/>
        </p:blipFill>
        <p:spPr>
          <a:xfrm>
            <a:off x="7674864" y="5013293"/>
            <a:ext cx="2960863" cy="1361381"/>
          </a:xfrm>
          <a:prstGeom prst="rect">
            <a:avLst/>
          </a:prstGeom>
        </p:spPr>
      </p:pic>
      <p:pic>
        <p:nvPicPr>
          <p:cNvPr id="10" name="Picture 2" descr="C:\Users\gerth\Dropbox\_plumbr\_AI\_library\27b.jpg">
            <a:extLst>
              <a:ext uri="{FF2B5EF4-FFF2-40B4-BE49-F238E27FC236}">
                <a16:creationId xmlns:a16="http://schemas.microsoft.com/office/drawing/2014/main" id="{63DE6625-F9DB-3E49-8B39-CBA35BB90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0149" y="3505148"/>
            <a:ext cx="4049605" cy="1688233"/>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3">
            <a:extLst>
              <a:ext uri="{FF2B5EF4-FFF2-40B4-BE49-F238E27FC236}">
                <a16:creationId xmlns:a16="http://schemas.microsoft.com/office/drawing/2014/main" id="{DB37AAB9-FA44-9841-A70A-738F47A2BBF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70801" y="2564734"/>
            <a:ext cx="2963525" cy="17112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3" name="Straight Arrow Connector 12">
            <a:extLst>
              <a:ext uri="{FF2B5EF4-FFF2-40B4-BE49-F238E27FC236}">
                <a16:creationId xmlns:a16="http://schemas.microsoft.com/office/drawing/2014/main" id="{8D072926-0993-8D4F-AE6F-6A8D82C39787}"/>
              </a:ext>
            </a:extLst>
          </p:cNvPr>
          <p:cNvCxnSpPr/>
          <p:nvPr/>
        </p:nvCxnSpPr>
        <p:spPr>
          <a:xfrm flipV="1">
            <a:off x="5308600" y="4076700"/>
            <a:ext cx="2197100" cy="406400"/>
          </a:xfrm>
          <a:prstGeom prst="straightConnector1">
            <a:avLst/>
          </a:prstGeom>
          <a:ln w="57150" cap="flat">
            <a:solidFill>
              <a:srgbClr val="CC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2141DF10-2088-2E43-846F-91C9FBE9AC62}"/>
              </a:ext>
            </a:extLst>
          </p:cNvPr>
          <p:cNvCxnSpPr/>
          <p:nvPr/>
        </p:nvCxnSpPr>
        <p:spPr>
          <a:xfrm>
            <a:off x="5308600" y="4483100"/>
            <a:ext cx="2273300" cy="834859"/>
          </a:xfrm>
          <a:prstGeom prst="straightConnector1">
            <a:avLst/>
          </a:prstGeom>
          <a:ln w="57150" cap="flat">
            <a:solidFill>
              <a:srgbClr val="FF9900"/>
            </a:solidFill>
            <a:tailEnd type="triangle" w="lg" len="lg"/>
          </a:ln>
        </p:spPr>
        <p:style>
          <a:lnRef idx="1">
            <a:schemeClr val="accent1"/>
          </a:lnRef>
          <a:fillRef idx="0">
            <a:schemeClr val="accent1"/>
          </a:fillRef>
          <a:effectRef idx="0">
            <a:schemeClr val="accent1"/>
          </a:effectRef>
          <a:fontRef idx="minor">
            <a:schemeClr val="tx1"/>
          </a:fontRef>
        </p:style>
      </p:cxnSp>
      <p:sp>
        <p:nvSpPr>
          <p:cNvPr id="19" name="Slide Number Placeholder 18">
            <a:extLst>
              <a:ext uri="{FF2B5EF4-FFF2-40B4-BE49-F238E27FC236}">
                <a16:creationId xmlns:a16="http://schemas.microsoft.com/office/drawing/2014/main" id="{D8C19572-0EB4-B049-ABBB-2EFC5532745B}"/>
              </a:ext>
            </a:extLst>
          </p:cNvPr>
          <p:cNvSpPr>
            <a:spLocks noGrp="1"/>
          </p:cNvSpPr>
          <p:nvPr>
            <p:ph type="sldNum" sz="quarter" idx="12"/>
          </p:nvPr>
        </p:nvSpPr>
        <p:spPr/>
        <p:txBody>
          <a:bodyPr/>
          <a:lstStyle/>
          <a:p>
            <a:fld id="{B89D2E03-A51F-7845-9ABE-3D2C5E87AE2F}" type="slidenum">
              <a:rPr lang="en-US" smtClean="0"/>
              <a:t>75</a:t>
            </a:fld>
            <a:endParaRPr lang="en-US"/>
          </a:p>
        </p:txBody>
      </p:sp>
      <p:sp>
        <p:nvSpPr>
          <p:cNvPr id="3" name="Footer Placeholder 2">
            <a:extLst>
              <a:ext uri="{FF2B5EF4-FFF2-40B4-BE49-F238E27FC236}">
                <a16:creationId xmlns:a16="http://schemas.microsoft.com/office/drawing/2014/main" id="{8B9D6E42-32BD-614E-BC24-9877B69E3F3D}"/>
              </a:ext>
            </a:extLst>
          </p:cNvPr>
          <p:cNvSpPr>
            <a:spLocks noGrp="1"/>
          </p:cNvSpPr>
          <p:nvPr>
            <p:ph type="ftr" sz="quarter" idx="11"/>
          </p:nvPr>
        </p:nvSpPr>
        <p:spPr/>
        <p:txBody>
          <a:bodyPr/>
          <a:lstStyle/>
          <a:p>
            <a:r>
              <a:rPr lang="en-US"/>
              <a:t>Plumbr - sign up for your free trial a https://www.plumbr.io</a:t>
            </a:r>
          </a:p>
        </p:txBody>
      </p:sp>
    </p:spTree>
    <p:extLst>
      <p:ext uri="{BB962C8B-B14F-4D97-AF65-F5344CB8AC3E}">
        <p14:creationId xmlns:p14="http://schemas.microsoft.com/office/powerpoint/2010/main" val="134136560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C2D2E-8BF4-D540-A006-09B941AF9E9D}"/>
              </a:ext>
            </a:extLst>
          </p:cNvPr>
          <p:cNvSpPr>
            <a:spLocks noGrp="1"/>
          </p:cNvSpPr>
          <p:nvPr>
            <p:ph type="ctrTitle"/>
          </p:nvPr>
        </p:nvSpPr>
        <p:spPr/>
        <p:txBody>
          <a:bodyPr/>
          <a:lstStyle/>
          <a:p>
            <a:pPr algn="ctr"/>
            <a:r>
              <a:rPr lang="en-GB" dirty="0">
                <a:solidFill>
                  <a:srgbClr val="FF0000"/>
                </a:solidFill>
              </a:rPr>
              <a:t>THANK-YOU</a:t>
            </a:r>
          </a:p>
        </p:txBody>
      </p:sp>
      <p:pic>
        <p:nvPicPr>
          <p:cNvPr id="4" name="Graphic 3" descr="Open hand with plant with solid fill">
            <a:extLst>
              <a:ext uri="{FF2B5EF4-FFF2-40B4-BE49-F238E27FC236}">
                <a16:creationId xmlns:a16="http://schemas.microsoft.com/office/drawing/2014/main" id="{B7787591-B24D-9045-87B9-F7823DC9F75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415580" y="1558871"/>
            <a:ext cx="2602940" cy="2602940"/>
          </a:xfrm>
          <a:prstGeom prst="rect">
            <a:avLst/>
          </a:prstGeom>
        </p:spPr>
      </p:pic>
    </p:spTree>
    <p:extLst>
      <p:ext uri="{BB962C8B-B14F-4D97-AF65-F5344CB8AC3E}">
        <p14:creationId xmlns:p14="http://schemas.microsoft.com/office/powerpoint/2010/main" val="33567236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Wood Type">
  <a:themeElements>
    <a:clrScheme name="Wood Type">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Wood Type">
      <a:majorFont>
        <a:latin typeface="Rockwell Condensed" panose="02060603050405020104"/>
        <a:ea typeface=""/>
        <a:cs typeface=""/>
        <a:font script="Grek" typeface="Cambria"/>
        <a:font script="Cyrl" typeface="Cambria"/>
        <a:font script="Jpan" typeface="HG明朝B"/>
        <a:font script="Hang" typeface="바탕"/>
        <a:font script="Hans" typeface="方正姚体"/>
        <a:font script="Hant" typeface="微軟正黑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Rockwell" panose="02060603020205020403"/>
        <a:ea typeface=""/>
        <a:cs typeface=""/>
        <a:font script="Grek" typeface="Cambria"/>
        <a:font script="Cyrl" typeface="Cambria"/>
        <a:font script="Jpan" typeface="HG明朝B"/>
        <a:font script="Hang" typeface="바탕"/>
        <a:font script="Hans" typeface="方正姚体"/>
        <a:font script="Hant" typeface="標楷體"/>
        <a:font script="Arab" typeface="Times New Roman"/>
        <a:font script="Hebr" typeface="David"/>
        <a:font script="Thai" typeface="Jasmine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Wood Type">
      <a:fillStyleLst>
        <a:solidFill>
          <a:schemeClr val="phClr"/>
        </a:solidFill>
        <a:blipFill rotWithShape="1">
          <a:blip xmlns:r="http://schemas.openxmlformats.org/officeDocument/2006/relationships" r:embed="rId1">
            <a:duotone>
              <a:schemeClr val="phClr">
                <a:tint val="70000"/>
                <a:shade val="63000"/>
              </a:schemeClr>
              <a:schemeClr val="phClr">
                <a:tint val="10000"/>
                <a:satMod val="150000"/>
              </a:schemeClr>
            </a:duotone>
          </a:blip>
          <a:tile tx="0" ty="0" sx="60000" sy="59000" flip="none" algn="tl"/>
        </a:blipFill>
        <a:blipFill rotWithShape="1">
          <a:blip xmlns:r="http://schemas.openxmlformats.org/officeDocument/2006/relationships" r:embed="rId1">
            <a:duotone>
              <a:schemeClr val="phClr">
                <a:shade val="36000"/>
                <a:satMod val="120000"/>
              </a:schemeClr>
              <a:schemeClr val="phClr">
                <a:tint val="40000"/>
              </a:schemeClr>
            </a:duotone>
          </a:blip>
          <a:tile tx="0" ty="0" sx="60000" sy="59000" flip="none" algn="tl"/>
        </a:blip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softEdge rad="12700"/>
          </a:effectLst>
        </a:effectStyle>
        <a:effectStyle>
          <a:effectLst>
            <a:outerShdw blurRad="50800" dist="19050" dir="5400000" algn="tl" rotWithShape="0">
              <a:srgbClr val="000000">
                <a:alpha val="60000"/>
              </a:srgbClr>
            </a:outerShdw>
            <a:softEdge rad="12700"/>
          </a:effectLst>
        </a:effectStyle>
      </a:effectStyleLst>
      <a:bgFillStyleLst>
        <a:solidFill>
          <a:schemeClr val="phClr"/>
        </a:solidFill>
        <a:solidFill>
          <a:schemeClr val="phClr">
            <a:shade val="97000"/>
            <a:satMod val="150000"/>
          </a:schemeClr>
        </a:solidFill>
        <a:blipFill rotWithShape="1">
          <a:blip xmlns:r="http://schemas.openxmlformats.org/officeDocument/2006/relationships" r:embed="rId1">
            <a:duotone>
              <a:schemeClr val="phClr">
                <a:tint val="75000"/>
                <a:shade val="58000"/>
                <a:satMod val="120000"/>
              </a:schemeClr>
              <a:schemeClr val="phClr">
                <a:tint val="50000"/>
                <a:shade val="96000"/>
              </a:schemeClr>
            </a:duotone>
          </a:blip>
          <a:tile tx="0" ty="0" sx="100000" sy="100000" flip="none" algn="tl"/>
        </a:blipFill>
      </a:bgFillStyleLst>
    </a:fmtScheme>
  </a:themeElements>
  <a:objectDefaults/>
  <a:extraClrSchemeLst/>
  <a:extLst>
    <a:ext uri="{05A4C25C-085E-4340-85A3-A5531E510DB2}">
      <thm15:themeFamily xmlns:thm15="http://schemas.microsoft.com/office/thememl/2012/main" name="Wood Type" id="{7ACABC62-BF99-48CF-A9DC-4DB89C7B13DC}" vid="{142A1326-48AB-42A9-8428-CB14AA3017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{B8AF4563-D5F0-EC46-9760-C567925205C0}tf10001070</Template>
  <TotalTime>2448</TotalTime>
  <Words>5836</Words>
  <Application>Microsoft Macintosh PowerPoint</Application>
  <PresentationFormat>Widescreen</PresentationFormat>
  <Paragraphs>420</Paragraphs>
  <Slides>76</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76</vt:i4>
      </vt:variant>
    </vt:vector>
  </HeadingPairs>
  <TitlesOfParts>
    <vt:vector size="85" baseType="lpstr">
      <vt:lpstr>Aptos</vt:lpstr>
      <vt:lpstr>Arial Hebrew</vt:lpstr>
      <vt:lpstr>Calibri</vt:lpstr>
      <vt:lpstr>Consolas</vt:lpstr>
      <vt:lpstr>Rockwell</vt:lpstr>
      <vt:lpstr>Rockwell Condensed</vt:lpstr>
      <vt:lpstr>Rockwell Extra Bold</vt:lpstr>
      <vt:lpstr>Wingdings</vt:lpstr>
      <vt:lpstr>Wood Type</vt:lpstr>
      <vt:lpstr>OBSERVABILITY</vt:lpstr>
      <vt:lpstr>CONTENT</vt:lpstr>
      <vt:lpstr>WHAT IS OBSERVABILITY?</vt:lpstr>
      <vt:lpstr>WHAT IS OBSERVABILITY?</vt:lpstr>
      <vt:lpstr>1. WHAT IS OBSERVABILITY?</vt:lpstr>
      <vt:lpstr>WHAT IS OBSERVABILITY?</vt:lpstr>
      <vt:lpstr>WHAT IS OBSERVABILITY?</vt:lpstr>
      <vt:lpstr>WHAT IS OBSERVABILITY?</vt:lpstr>
      <vt:lpstr>WHAT IS OBSERVABILITY?</vt:lpstr>
      <vt:lpstr>WHAT IS OBSERVABILITY?</vt:lpstr>
      <vt:lpstr>WHAT IS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IMPLEMENTING OBSERVABILITY</vt:lpstr>
      <vt:lpstr>CONCLUSION</vt:lpstr>
      <vt:lpstr>CONCLUSION</vt:lpstr>
      <vt:lpstr>Distributed tracing in practice</vt:lpstr>
      <vt:lpstr>PowerPoint Presentation</vt:lpstr>
      <vt:lpstr>PowerPoint Presentation</vt:lpstr>
      <vt:lpstr>PowerPoint Presentation</vt:lpstr>
      <vt:lpstr>Passing the UUID: HTTP-headers</vt:lpstr>
      <vt:lpstr>PowerPoint Presentation</vt:lpstr>
      <vt:lpstr>PowerPoint Presentation</vt:lpstr>
      <vt:lpstr>PowerPoint Presentation</vt:lpstr>
      <vt:lpstr>PowerPoint Presentation</vt:lpstr>
      <vt:lpstr>PowerPoint Presentation</vt:lpstr>
      <vt:lpstr>Outcome: distributed trace</vt:lpstr>
      <vt:lpstr>Summary: three building blocks for distributed tracing </vt:lpstr>
      <vt:lpstr>Put the distributed traces into good use</vt:lpstr>
      <vt:lpstr>Hypothetical support case landing on your desk</vt:lpstr>
      <vt:lpstr>…. two weeks later</vt:lpstr>
      <vt:lpstr>What happened during the two weeks?</vt:lpstr>
      <vt:lpstr>Could it have been different?</vt:lpstr>
      <vt:lpstr>Example #1: verifying the complaint</vt:lpstr>
      <vt:lpstr>Example #1: verifying the complaint</vt:lpstr>
      <vt:lpstr>Example #1: complaint verified</vt:lpstr>
      <vt:lpstr>Example #2: prioritizing the response</vt:lpstr>
      <vt:lpstr>Example #2: prioritizing the response</vt:lpstr>
      <vt:lpstr>Example #2: prioritizing the response</vt:lpstr>
      <vt:lpstr>Example #2: priorities assigned based on the impact</vt:lpstr>
      <vt:lpstr>Example #3: zooming out to see what real users experience</vt:lpstr>
      <vt:lpstr>Example #3: zooming out to what real users experience</vt:lpstr>
      <vt:lpstr>Example #3: true impact only reveals itself if traces go all the way to real user</vt:lpstr>
      <vt:lpstr>Example #4: becoming proactive</vt:lpstr>
      <vt:lpstr>Example #4: becoming proactive</vt:lpstr>
      <vt:lpstr>THANK-YOU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OBSERVABILITY</dc:title>
  <dc:creator>Maganathin Veeraragaloo</dc:creator>
  <cp:lastModifiedBy>Thanh Le</cp:lastModifiedBy>
  <cp:revision>39</cp:revision>
  <dcterms:created xsi:type="dcterms:W3CDTF">2021-12-25T07:54:47Z</dcterms:created>
  <dcterms:modified xsi:type="dcterms:W3CDTF">2026-06-03T03:27:03Z</dcterms:modified>
</cp:coreProperties>
</file>