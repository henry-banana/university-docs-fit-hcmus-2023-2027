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y="5143500" cx="9144000"/>
  <p:notesSz cx="6858000" cy="9144000"/>
  <p:embeddedFontLst>
    <p:embeddedFont>
      <p:font typeface="Roboto"/>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2" roundtripDataSignature="AMtx7mj3ICKwWSOR17Lf8klRuAycKsno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regular.fntdata"/><Relationship Id="rId47" Type="http://schemas.openxmlformats.org/officeDocument/2006/relationships/slide" Target="slides/slide42.xml"/><Relationship Id="rId49"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boldItalic.fntdata"/><Relationship Id="rId50" Type="http://schemas.openxmlformats.org/officeDocument/2006/relationships/font" Target="fonts/Roboto-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400551"/>
            <a:ext cx="5486400" cy="3600449"/>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 name="Google Shape;59;p1:notes"/>
          <p:cNvSpPr/>
          <p:nvPr>
            <p:ph idx="2" type="sldImg"/>
          </p:nvPr>
        </p:nvSpPr>
        <p:spPr>
          <a:xfrm>
            <a:off x="1885950" y="1143000"/>
            <a:ext cx="30861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2a7af1bbfe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2a7af1bbfe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964f5a7b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2964f5a7bf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a7af1bbfe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a7af1bbfe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a7af1bbfe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a7af1bbfe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void Build() =&gt; Content =</a:t>
            </a:r>
            <a:endParaRPr/>
          </a:p>
          <a:p>
            <a:pPr indent="0" lvl="0" marL="0" rtl="0" algn="l">
              <a:spcBef>
                <a:spcPts val="0"/>
              </a:spcBef>
              <a:spcAft>
                <a:spcPts val="0"/>
              </a:spcAft>
              <a:buClr>
                <a:schemeClr val="dk1"/>
              </a:buClr>
              <a:buSzPts val="1100"/>
              <a:buFont typeface="Arial"/>
              <a:buNone/>
            </a:pPr>
            <a:r>
              <a:rPr lang="en"/>
              <a:t>    new Button()</a:t>
            </a:r>
            <a:endParaRPr/>
          </a:p>
          <a:p>
            <a:pPr indent="0" lvl="0" marL="0" rtl="0" algn="l">
              <a:spcBef>
                <a:spcPts val="0"/>
              </a:spcBef>
              <a:spcAft>
                <a:spcPts val="0"/>
              </a:spcAft>
              <a:buClr>
                <a:schemeClr val="dk1"/>
              </a:buClr>
              <a:buSzPts val="1100"/>
              <a:buFont typeface="Arial"/>
              <a:buNone/>
            </a:pPr>
            <a:r>
              <a:rPr lang="en"/>
              <a:t>        .Text("Hello")</a:t>
            </a:r>
            <a:endParaRPr/>
          </a:p>
          <a:p>
            <a:pPr indent="0" lvl="0" marL="0" rtl="0" algn="l">
              <a:spcBef>
                <a:spcPts val="0"/>
              </a:spcBef>
              <a:spcAft>
                <a:spcPts val="0"/>
              </a:spcAft>
              <a:buClr>
                <a:schemeClr val="dk1"/>
              </a:buClr>
              <a:buSzPts val="1100"/>
              <a:buFont typeface="Arial"/>
              <a:buNone/>
            </a:pPr>
            <a:r>
              <a:rPr lang="en"/>
              <a:t>        .Width(80).Height(35)</a:t>
            </a:r>
            <a:endParaRPr/>
          </a:p>
          <a:p>
            <a:pPr indent="0" lvl="0" marL="0" rtl="0" algn="l">
              <a:spcBef>
                <a:spcPts val="0"/>
              </a:spcBef>
              <a:spcAft>
                <a:spcPts val="0"/>
              </a:spcAft>
              <a:buClr>
                <a:schemeClr val="dk1"/>
              </a:buClr>
              <a:buSzPts val="1100"/>
              <a:buFont typeface="Arial"/>
              <a:buNone/>
            </a:pPr>
            <a:r>
              <a:rPr lang="en"/>
              <a:t>        .Invoke(sender =&gt; sender.Clicked += helloButton_Clicked);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private async void helloButton_Clicked(object? sender, EventArgs e)</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    bool answer = await DisplayAlert("Question?", </a:t>
            </a:r>
            <a:endParaRPr/>
          </a:p>
          <a:p>
            <a:pPr indent="0" lvl="0" marL="0" rtl="0" algn="l">
              <a:spcBef>
                <a:spcPts val="0"/>
              </a:spcBef>
              <a:spcAft>
                <a:spcPts val="0"/>
              </a:spcAft>
              <a:buClr>
                <a:schemeClr val="dk1"/>
              </a:buClr>
              <a:buSzPts val="1100"/>
              <a:buFont typeface="Arial"/>
              <a:buNone/>
            </a:pPr>
            <a:r>
              <a:rPr lang="en"/>
              <a:t>        "Would you like to play a game", </a:t>
            </a:r>
            <a:endParaRPr/>
          </a:p>
          <a:p>
            <a:pPr indent="0" lvl="0" marL="0" rtl="0" algn="l">
              <a:spcBef>
                <a:spcPts val="0"/>
              </a:spcBef>
              <a:spcAft>
                <a:spcPts val="0"/>
              </a:spcAft>
              <a:buClr>
                <a:schemeClr val="dk1"/>
              </a:buClr>
              <a:buSzPts val="1100"/>
              <a:buFont typeface="Arial"/>
              <a:buNone/>
            </a:pPr>
            <a:r>
              <a:rPr lang="en"/>
              <a:t>        "Yes", "No");</a:t>
            </a:r>
            <a:endParaRPr/>
          </a:p>
          <a:p>
            <a:pPr indent="0" lvl="0" marL="0" rtl="0" algn="l">
              <a:spcBef>
                <a:spcPts val="0"/>
              </a:spcBef>
              <a:spcAft>
                <a:spcPts val="0"/>
              </a:spcAft>
              <a:buClr>
                <a:schemeClr val="dk1"/>
              </a:buClr>
              <a:buSzPts val="1100"/>
              <a:buFont typeface="Arial"/>
              <a:buNone/>
            </a:pPr>
            <a:r>
              <a:rPr lang="en"/>
              <a:t>    Debug.WriteLine("Answer: " + answer);</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a7af1bbfe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a7af1bbfe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void Build() =&gt; Content =</a:t>
            </a:r>
            <a:endParaRPr/>
          </a:p>
          <a:p>
            <a:pPr indent="0" lvl="0" marL="0" rtl="0" algn="l">
              <a:spcBef>
                <a:spcPts val="0"/>
              </a:spcBef>
              <a:spcAft>
                <a:spcPts val="0"/>
              </a:spcAft>
              <a:buClr>
                <a:schemeClr val="dk1"/>
              </a:buClr>
              <a:buSzPts val="1100"/>
              <a:buFont typeface="Arial"/>
              <a:buNone/>
            </a:pPr>
            <a:r>
              <a:rPr lang="en"/>
              <a:t>    new Entry() { Placeholder = "Enter your name" }</a:t>
            </a:r>
            <a:endParaRPr/>
          </a:p>
          <a:p>
            <a:pPr indent="0" lvl="0" marL="0" rtl="0" algn="l">
              <a:spcBef>
                <a:spcPts val="0"/>
              </a:spcBef>
              <a:spcAft>
                <a:spcPts val="0"/>
              </a:spcAft>
              <a:buClr>
                <a:schemeClr val="dk1"/>
              </a:buClr>
              <a:buSzPts val="1100"/>
              <a:buFont typeface="Arial"/>
              <a:buNone/>
            </a:pPr>
            <a:r>
              <a:rPr lang="en"/>
              <a:t>        .Width(150).Height(35)</a:t>
            </a:r>
            <a:endParaRPr/>
          </a:p>
          <a:p>
            <a:pPr indent="0" lvl="0" marL="0" rtl="0" algn="l">
              <a:spcBef>
                <a:spcPts val="0"/>
              </a:spcBef>
              <a:spcAft>
                <a:spcPts val="0"/>
              </a:spcAft>
              <a:buClr>
                <a:schemeClr val="dk1"/>
              </a:buClr>
              <a:buSzPts val="1100"/>
              <a:buFont typeface="Arial"/>
              <a:buNone/>
            </a:pPr>
            <a:r>
              <a:rPr lang="en"/>
              <a:t>        .Invoke(sender =&gt; sender.TextChanged += nameTextBox_TextChanged);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private void nameTextBox_TextChanged(object? sender, TextChangedEventArgs e)</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    var entry = (Entry) sender! ;</a:t>
            </a:r>
            <a:endParaRPr/>
          </a:p>
          <a:p>
            <a:pPr indent="0" lvl="0" marL="0" rtl="0" algn="l">
              <a:spcBef>
                <a:spcPts val="0"/>
              </a:spcBef>
              <a:spcAft>
                <a:spcPts val="0"/>
              </a:spcAft>
              <a:buClr>
                <a:schemeClr val="dk1"/>
              </a:buClr>
              <a:buSzPts val="1100"/>
              <a:buFont typeface="Arial"/>
              <a:buNone/>
            </a:pPr>
            <a:r>
              <a:rPr lang="en"/>
              <a:t>    this.Title = entry.Text;</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a7af1bbfe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a7af1bbfe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a84c1406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a84c1406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a84c1406f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a84c1406f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64618e237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64618e237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a84c1406f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a84c1406f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64618e237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64618e237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4618e237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4618e23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64618e237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64618e237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64618e237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64618e237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64618e237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64618e237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4618e237c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4618e237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Content = new VerticalStackLayout()</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    Margin = 20,</a:t>
            </a:r>
            <a:endParaRPr/>
          </a:p>
          <a:p>
            <a:pPr indent="0" lvl="0" marL="0" rtl="0" algn="l">
              <a:spcBef>
                <a:spcPts val="0"/>
              </a:spcBef>
              <a:spcAft>
                <a:spcPts val="0"/>
              </a:spcAft>
              <a:buClr>
                <a:schemeClr val="dk1"/>
              </a:buClr>
              <a:buSzPts val="1100"/>
              <a:buFont typeface="Arial"/>
              <a:buNone/>
            </a:pPr>
            <a:r>
              <a:rPr lang="en"/>
              <a:t>    Spacing = 10,</a:t>
            </a:r>
            <a:endParaRPr/>
          </a:p>
          <a:p>
            <a:pPr indent="0" lvl="0" marL="0" rtl="0" algn="l">
              <a:spcBef>
                <a:spcPts val="0"/>
              </a:spcBef>
              <a:spcAft>
                <a:spcPts val="0"/>
              </a:spcAft>
              <a:buClr>
                <a:schemeClr val="dk1"/>
              </a:buClr>
              <a:buSzPts val="1100"/>
              <a:buFont typeface="Arial"/>
              <a:buNone/>
            </a:pPr>
            <a:r>
              <a:rPr lang="en"/>
              <a:t>    Children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Frame()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Margin = new Thickness(0, 0, 50, 0),</a:t>
            </a:r>
            <a:endParaRPr/>
          </a:p>
          <a:p>
            <a:pPr indent="0" lvl="0" marL="0" rtl="0" algn="l">
              <a:spcBef>
                <a:spcPts val="0"/>
              </a:spcBef>
              <a:spcAft>
                <a:spcPts val="0"/>
              </a:spcAft>
              <a:buClr>
                <a:schemeClr val="dk1"/>
              </a:buClr>
              <a:buSzPts val="1100"/>
              <a:buFont typeface="Arial"/>
              <a:buNone/>
            </a:pPr>
            <a:r>
              <a:rPr lang="en"/>
              <a:t>            BorderColor = Colors.Black,</a:t>
            </a:r>
            <a:endParaRPr/>
          </a:p>
          <a:p>
            <a:pPr indent="0" lvl="0" marL="0" rtl="0" algn="l">
              <a:spcBef>
                <a:spcPts val="0"/>
              </a:spcBef>
              <a:spcAft>
                <a:spcPts val="0"/>
              </a:spcAft>
              <a:buClr>
                <a:schemeClr val="dk1"/>
              </a:buClr>
              <a:buSzPts val="1100"/>
              <a:buFont typeface="Arial"/>
              <a:buNone/>
            </a:pPr>
            <a:r>
              <a:rPr lang="en"/>
              <a:t>            Content = new HorizontalStackLayout()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Rectangle().Width(16).Height(16)</a:t>
            </a:r>
            <a:endParaRPr/>
          </a:p>
          <a:p>
            <a:pPr indent="0" lvl="0" marL="0" rtl="0" algn="l">
              <a:spcBef>
                <a:spcPts val="0"/>
              </a:spcBef>
              <a:spcAft>
                <a:spcPts val="0"/>
              </a:spcAft>
              <a:buClr>
                <a:schemeClr val="dk1"/>
              </a:buClr>
              <a:buSzPts val="1100"/>
              <a:buFont typeface="Arial"/>
              <a:buNone/>
            </a:pPr>
            <a:r>
              <a:rPr lang="en"/>
              <a:t>                    .Background(Colors.Red),</a:t>
            </a:r>
            <a:endParaRPr/>
          </a:p>
          <a:p>
            <a:pPr indent="0" lvl="0" marL="0" rtl="0" algn="l">
              <a:spcBef>
                <a:spcPts val="0"/>
              </a:spcBef>
              <a:spcAft>
                <a:spcPts val="0"/>
              </a:spcAft>
              <a:buClr>
                <a:schemeClr val="dk1"/>
              </a:buClr>
              <a:buSzPts val="1100"/>
              <a:buFont typeface="Arial"/>
              <a:buNone/>
            </a:pPr>
            <a:r>
              <a:rPr lang="en"/>
              <a:t>                new Label().Text("The early bird catches the worm")</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Frame()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BorderColor = Colors.Red,</a:t>
            </a:r>
            <a:endParaRPr/>
          </a:p>
          <a:p>
            <a:pPr indent="0" lvl="0" marL="0" rtl="0" algn="l">
              <a:spcBef>
                <a:spcPts val="0"/>
              </a:spcBef>
              <a:spcAft>
                <a:spcPts val="0"/>
              </a:spcAft>
              <a:buClr>
                <a:schemeClr val="dk1"/>
              </a:buClr>
              <a:buSzPts val="1100"/>
              <a:buFont typeface="Arial"/>
              <a:buNone/>
            </a:pPr>
            <a:r>
              <a:rPr lang="en"/>
              <a:t>            CornerRadius = 0,</a:t>
            </a:r>
            <a:endParaRPr/>
          </a:p>
          <a:p>
            <a:pPr indent="0" lvl="0" marL="0" rtl="0" algn="l">
              <a:spcBef>
                <a:spcPts val="0"/>
              </a:spcBef>
              <a:spcAft>
                <a:spcPts val="0"/>
              </a:spcAft>
              <a:buClr>
                <a:schemeClr val="dk1"/>
              </a:buClr>
              <a:buSzPts val="1100"/>
              <a:buFont typeface="Arial"/>
              <a:buNone/>
            </a:pPr>
            <a:r>
              <a:rPr lang="en"/>
              <a:t>            Content = new HorizontalStackLayout()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Rectangle().Width(16).Height(16)</a:t>
            </a:r>
            <a:endParaRPr/>
          </a:p>
          <a:p>
            <a:pPr indent="0" lvl="0" marL="0" rtl="0" algn="l">
              <a:spcBef>
                <a:spcPts val="0"/>
              </a:spcBef>
              <a:spcAft>
                <a:spcPts val="0"/>
              </a:spcAft>
              <a:buClr>
                <a:schemeClr val="dk1"/>
              </a:buClr>
              <a:buSzPts val="1100"/>
              <a:buFont typeface="Arial"/>
              <a:buNone/>
            </a:pPr>
            <a:r>
              <a:rPr lang="en"/>
              <a:t>                    .Background(Colors.Green),</a:t>
            </a:r>
            <a:endParaRPr/>
          </a:p>
          <a:p>
            <a:pPr indent="0" lvl="0" marL="0" rtl="0" algn="l">
              <a:spcBef>
                <a:spcPts val="0"/>
              </a:spcBef>
              <a:spcAft>
                <a:spcPts val="0"/>
              </a:spcAft>
              <a:buClr>
                <a:schemeClr val="dk1"/>
              </a:buClr>
              <a:buSzPts val="1100"/>
              <a:buFont typeface="Arial"/>
              <a:buNone/>
            </a:pPr>
            <a:r>
              <a:rPr lang="en"/>
              <a:t>                new Label().Text("The second mouse get the cheese")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HorizontalStackLayout()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Rectangle().Width(16).Height(16)</a:t>
            </a:r>
            <a:endParaRPr/>
          </a:p>
          <a:p>
            <a:pPr indent="0" lvl="0" marL="0" rtl="0" algn="l">
              <a:spcBef>
                <a:spcPts val="0"/>
              </a:spcBef>
              <a:spcAft>
                <a:spcPts val="0"/>
              </a:spcAft>
              <a:buClr>
                <a:schemeClr val="dk1"/>
              </a:buClr>
              <a:buSzPts val="1100"/>
              <a:buFont typeface="Arial"/>
              <a:buNone/>
            </a:pPr>
            <a:r>
              <a:rPr lang="en"/>
              <a:t>                .Background(Colors.Blue),</a:t>
            </a:r>
            <a:endParaRPr/>
          </a:p>
          <a:p>
            <a:pPr indent="0" lvl="0" marL="0" rtl="0" algn="l">
              <a:spcBef>
                <a:spcPts val="0"/>
              </a:spcBef>
              <a:spcAft>
                <a:spcPts val="0"/>
              </a:spcAft>
              <a:buClr>
                <a:schemeClr val="dk1"/>
              </a:buClr>
              <a:buSzPts val="1100"/>
              <a:buFont typeface="Arial"/>
              <a:buNone/>
            </a:pPr>
            <a:r>
              <a:rPr lang="en"/>
              <a:t>            new Label().Text("He who laughes last, laughes best")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64618e237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64618e237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64618e237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64618e237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Content = new AbsoluteLayout()</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rPr lang="en"/>
              <a:t>    Children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new Frame()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BorderColor = Colors.Black,</a:t>
            </a:r>
            <a:endParaRPr/>
          </a:p>
          <a:p>
            <a:pPr indent="0" lvl="0" marL="0" rtl="0" algn="l">
              <a:spcBef>
                <a:spcPts val="0"/>
              </a:spcBef>
              <a:spcAft>
                <a:spcPts val="0"/>
              </a:spcAft>
              <a:buClr>
                <a:schemeClr val="dk1"/>
              </a:buClr>
              <a:buSzPts val="1100"/>
              <a:buFont typeface="Arial"/>
              <a:buNone/>
            </a:pPr>
            <a:r>
              <a:rPr lang="en"/>
              <a:t>            Content = new Label().Text("A new day")</a:t>
            </a:r>
            <a:endParaRPr/>
          </a:p>
          <a:p>
            <a:pPr indent="0" lvl="0" marL="0" rtl="0" algn="l">
              <a:spcBef>
                <a:spcPts val="0"/>
              </a:spcBef>
              <a:spcAft>
                <a:spcPts val="0"/>
              </a:spcAft>
              <a:buClr>
                <a:schemeClr val="dk1"/>
              </a:buClr>
              <a:buSzPts val="1100"/>
              <a:buFont typeface="Arial"/>
              <a:buNone/>
            </a:pPr>
            <a:r>
              <a:rPr lang="en"/>
              <a:t>                .Background(Colors.Red)</a:t>
            </a:r>
            <a:endParaRPr/>
          </a:p>
          <a:p>
            <a:pPr indent="0" lvl="0" marL="0" rtl="0" algn="l">
              <a:spcBef>
                <a:spcPts val="0"/>
              </a:spcBef>
              <a:spcAft>
                <a:spcPts val="0"/>
              </a:spcAft>
              <a:buClr>
                <a:schemeClr val="dk1"/>
              </a:buClr>
              <a:buSzPts val="1100"/>
              <a:buFont typeface="Arial"/>
              <a:buNone/>
            </a:pPr>
            <a:r>
              <a:rPr lang="en"/>
              <a:t>        }.LayoutBounds(30, 30),</a:t>
            </a:r>
            <a:endParaRPr/>
          </a:p>
          <a:p>
            <a:pPr indent="0" lvl="0" marL="0" rtl="0" algn="l">
              <a:spcBef>
                <a:spcPts val="0"/>
              </a:spcBef>
              <a:spcAft>
                <a:spcPts val="0"/>
              </a:spcAft>
              <a:buClr>
                <a:schemeClr val="dk1"/>
              </a:buClr>
              <a:buSzPts val="1100"/>
              <a:buFont typeface="Arial"/>
              <a:buNone/>
            </a:pPr>
            <a:r>
              <a:rPr lang="en"/>
              <a:t>        new Frame()</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BorderColor = Colors.Red,</a:t>
            </a:r>
            <a:endParaRPr/>
          </a:p>
          <a:p>
            <a:pPr indent="0" lvl="0" marL="0" rtl="0" algn="l">
              <a:spcBef>
                <a:spcPts val="0"/>
              </a:spcBef>
              <a:spcAft>
                <a:spcPts val="0"/>
              </a:spcAft>
              <a:buClr>
                <a:schemeClr val="dk1"/>
              </a:buClr>
              <a:buSzPts val="1100"/>
              <a:buFont typeface="Arial"/>
              <a:buNone/>
            </a:pPr>
            <a:r>
              <a:rPr lang="en"/>
              <a:t>            Content = new Label()</a:t>
            </a:r>
            <a:endParaRPr/>
          </a:p>
          <a:p>
            <a:pPr indent="0" lvl="0" marL="0" rtl="0" algn="l">
              <a:spcBef>
                <a:spcPts val="0"/>
              </a:spcBef>
              <a:spcAft>
                <a:spcPts val="0"/>
              </a:spcAft>
              <a:buClr>
                <a:schemeClr val="dk1"/>
              </a:buClr>
              <a:buSzPts val="1100"/>
              <a:buFont typeface="Arial"/>
              <a:buNone/>
            </a:pPr>
            <a:r>
              <a:rPr lang="en"/>
              <a:t>                .Text("Another day")</a:t>
            </a:r>
            <a:endParaRPr/>
          </a:p>
          <a:p>
            <a:pPr indent="0" lvl="0" marL="0" rtl="0" algn="l">
              <a:spcBef>
                <a:spcPts val="0"/>
              </a:spcBef>
              <a:spcAft>
                <a:spcPts val="0"/>
              </a:spcAft>
              <a:buClr>
                <a:schemeClr val="dk1"/>
              </a:buClr>
              <a:buSzPts val="1100"/>
              <a:buFont typeface="Arial"/>
              <a:buNone/>
            </a:pPr>
            <a:r>
              <a:rPr lang="en"/>
              <a:t>                .TextColor (Colors.Green)                            </a:t>
            </a:r>
            <a:endParaRPr/>
          </a:p>
          <a:p>
            <a:pPr indent="0" lvl="0" marL="0" rtl="0" algn="l">
              <a:spcBef>
                <a:spcPts val="0"/>
              </a:spcBef>
              <a:spcAft>
                <a:spcPts val="0"/>
              </a:spcAft>
              <a:buClr>
                <a:schemeClr val="dk1"/>
              </a:buClr>
              <a:buSzPts val="1100"/>
              <a:buFont typeface="Arial"/>
              <a:buNone/>
            </a:pPr>
            <a:r>
              <a:rPr lang="en"/>
              <a:t>        }.LayoutBounds(30, 100, 200, 100),</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64618e237c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64618e237c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a9473fcf9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a9473fcf9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64618e237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64618e237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64618e237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64618e237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4618e237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64618e237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4618e237c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4618e237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64618e237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264618e237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a9473fcf9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a9473fcf9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64618e237c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64618e237c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64618e237c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64618e237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a9473fcf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a9473fcf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a9473fcf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a9473fcf9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0675" lvl="0" marL="457200" rtl="0" algn="l">
              <a:lnSpc>
                <a:spcPct val="160000"/>
              </a:lnSpc>
              <a:spcBef>
                <a:spcPts val="0"/>
              </a:spcBef>
              <a:spcAft>
                <a:spcPts val="0"/>
              </a:spcAft>
              <a:buClr>
                <a:schemeClr val="dk1"/>
              </a:buClr>
              <a:buSzPts val="1450"/>
              <a:buFont typeface="Roboto"/>
              <a:buChar char="●"/>
            </a:pPr>
            <a:r>
              <a:rPr lang="en" sz="1250">
                <a:solidFill>
                  <a:srgbClr val="188038"/>
                </a:solidFill>
                <a:highlight>
                  <a:srgbClr val="FFFFFF"/>
                </a:highlight>
                <a:latin typeface="Courier New"/>
                <a:ea typeface="Courier New"/>
                <a:cs typeface="Courier New"/>
                <a:sym typeface="Courier New"/>
              </a:rPr>
              <a:t>space-around</a:t>
            </a:r>
            <a:r>
              <a:rPr lang="en" sz="1450">
                <a:solidFill>
                  <a:schemeClr val="dk1"/>
                </a:solidFill>
                <a:highlight>
                  <a:srgbClr val="FFFFFF"/>
                </a:highlight>
                <a:latin typeface="Roboto"/>
                <a:ea typeface="Roboto"/>
                <a:cs typeface="Roboto"/>
                <a:sym typeface="Roboto"/>
              </a:rPr>
              <a:t>: items are evenly distributed in the line with equal space around them. Note that visually the spaces aren’t equal, since all the items have equal space on both sides. The first item will have one unit of space against the container edge, but two units of space between the next item because that next item has its own spacing that applies.</a:t>
            </a:r>
            <a:endParaRPr sz="1450">
              <a:solidFill>
                <a:schemeClr val="dk1"/>
              </a:solidFill>
              <a:highlight>
                <a:srgbClr val="FFFFFF"/>
              </a:highlight>
              <a:latin typeface="Roboto"/>
              <a:ea typeface="Roboto"/>
              <a:cs typeface="Roboto"/>
              <a:sym typeface="Roboto"/>
            </a:endParaRPr>
          </a:p>
          <a:p>
            <a:pPr indent="-320675" lvl="0" marL="457200" rtl="0" algn="l">
              <a:lnSpc>
                <a:spcPct val="160000"/>
              </a:lnSpc>
              <a:spcBef>
                <a:spcPts val="0"/>
              </a:spcBef>
              <a:spcAft>
                <a:spcPts val="0"/>
              </a:spcAft>
              <a:buClr>
                <a:schemeClr val="dk1"/>
              </a:buClr>
              <a:buSzPts val="1450"/>
              <a:buFont typeface="Roboto"/>
              <a:buChar char="●"/>
            </a:pPr>
            <a:r>
              <a:rPr lang="en" sz="1250">
                <a:solidFill>
                  <a:srgbClr val="188038"/>
                </a:solidFill>
                <a:highlight>
                  <a:srgbClr val="FFFFFF"/>
                </a:highlight>
                <a:latin typeface="Courier New"/>
                <a:ea typeface="Courier New"/>
                <a:cs typeface="Courier New"/>
                <a:sym typeface="Courier New"/>
              </a:rPr>
              <a:t>space-evenly</a:t>
            </a:r>
            <a:r>
              <a:rPr lang="en" sz="1450">
                <a:solidFill>
                  <a:schemeClr val="dk1"/>
                </a:solidFill>
                <a:highlight>
                  <a:srgbClr val="FFFFFF"/>
                </a:highlight>
                <a:latin typeface="Roboto"/>
                <a:ea typeface="Roboto"/>
                <a:cs typeface="Roboto"/>
                <a:sym typeface="Roboto"/>
              </a:rPr>
              <a:t>: items are distributed so that the spacing between any two items (and the space to the edges) is equal.</a:t>
            </a:r>
            <a:endParaRPr sz="1450">
              <a:solidFill>
                <a:schemeClr val="dk1"/>
              </a:solidFill>
              <a:highlight>
                <a:srgbClr val="FFFFFF"/>
              </a:highlight>
              <a:latin typeface="Roboto"/>
              <a:ea typeface="Roboto"/>
              <a:cs typeface="Roboto"/>
              <a:sym typeface="Roboto"/>
            </a:endParaRPr>
          </a:p>
          <a:p>
            <a:pPr indent="0" lvl="0" marL="0" rtl="0" algn="l">
              <a:spcBef>
                <a:spcPts val="220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a9473fcf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a9473fcf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a9473fcf9c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2a9473fcf9c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64618e237c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264618e237c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64618e237c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64618e237c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a9473fcf9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a9473fcf9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a9473fcf9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a9473fcf9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64618e237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64618e237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64618e237c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64618e237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64618e237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64618e237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165ba077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165ba077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165ba077e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3165ba077e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me2019" type="title">
  <p:cSld name="TITLE">
    <p:spTree>
      <p:nvGrpSpPr>
        <p:cNvPr id="9" name="Shape 9"/>
        <p:cNvGrpSpPr/>
        <p:nvPr/>
      </p:nvGrpSpPr>
      <p:grpSpPr>
        <a:xfrm>
          <a:off x="0" y="0"/>
          <a:ext cx="0" cy="0"/>
          <a:chOff x="0" y="0"/>
          <a:chExt cx="0" cy="0"/>
        </a:xfrm>
      </p:grpSpPr>
      <p:sp>
        <p:nvSpPr>
          <p:cNvPr id="10" name="Google Shape;10;p62"/>
          <p:cNvSpPr/>
          <p:nvPr/>
        </p:nvSpPr>
        <p:spPr>
          <a:xfrm>
            <a:off x="0" y="1907425"/>
            <a:ext cx="9144000" cy="1392900"/>
          </a:xfrm>
          <a:prstGeom prst="rect">
            <a:avLst/>
          </a:prstGeom>
          <a:solidFill>
            <a:srgbClr val="171E27">
              <a:alpha val="2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62"/>
          <p:cNvSpPr txBox="1"/>
          <p:nvPr>
            <p:ph type="ctrTitle"/>
          </p:nvPr>
        </p:nvSpPr>
        <p:spPr>
          <a:xfrm>
            <a:off x="0" y="1907525"/>
            <a:ext cx="9144000" cy="1392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FFFFFF"/>
              </a:buClr>
              <a:buSzPts val="5200"/>
              <a:buNone/>
              <a:defRPr sz="5200">
                <a:solidFill>
                  <a:srgbClr val="FFFFFF"/>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2"/>
          <p:cNvSpPr txBox="1"/>
          <p:nvPr>
            <p:ph idx="1" type="subTitle"/>
          </p:nvPr>
        </p:nvSpPr>
        <p:spPr>
          <a:xfrm>
            <a:off x="311700" y="3764663"/>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2800"/>
              <a:buNone/>
              <a:defRPr sz="28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14" name="Shape 14"/>
        <p:cNvGrpSpPr/>
        <p:nvPr/>
      </p:nvGrpSpPr>
      <p:grpSpPr>
        <a:xfrm>
          <a:off x="0" y="0"/>
          <a:ext cx="0" cy="0"/>
          <a:chOff x="0" y="0"/>
          <a:chExt cx="0" cy="0"/>
        </a:xfrm>
      </p:grpSpPr>
      <p:sp>
        <p:nvSpPr>
          <p:cNvPr id="15" name="Google Shape;15;p64"/>
          <p:cNvSpPr/>
          <p:nvPr/>
        </p:nvSpPr>
        <p:spPr>
          <a:xfrm>
            <a:off x="-20250" y="0"/>
            <a:ext cx="9184500" cy="785700"/>
          </a:xfrm>
          <a:prstGeom prst="rect">
            <a:avLst/>
          </a:prstGeom>
          <a:solidFill>
            <a:srgbClr val="2196F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64"/>
          <p:cNvSpPr txBox="1"/>
          <p:nvPr>
            <p:ph type="title"/>
          </p:nvPr>
        </p:nvSpPr>
        <p:spPr>
          <a:xfrm>
            <a:off x="141300" y="0"/>
            <a:ext cx="9012000" cy="742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64"/>
          <p:cNvSpPr txBox="1"/>
          <p:nvPr>
            <p:ph idx="1" type="body"/>
          </p:nvPr>
        </p:nvSpPr>
        <p:spPr>
          <a:xfrm>
            <a:off x="141300" y="914000"/>
            <a:ext cx="8932200" cy="4229400"/>
          </a:xfrm>
          <a:prstGeom prst="rect">
            <a:avLst/>
          </a:prstGeom>
          <a:noFill/>
          <a:ln>
            <a:noFill/>
          </a:ln>
        </p:spPr>
        <p:txBody>
          <a:bodyPr anchorCtr="0" anchor="t" bIns="91425" lIns="91425" spcFirstLastPara="1" rIns="91425" wrap="square" tIns="91425">
            <a:noAutofit/>
          </a:bodyPr>
          <a:lstStyle>
            <a:lvl1pPr indent="-393700" lvl="0" marL="457200" algn="l">
              <a:lnSpc>
                <a:spcPct val="115000"/>
              </a:lnSpc>
              <a:spcBef>
                <a:spcPts val="0"/>
              </a:spcBef>
              <a:spcAft>
                <a:spcPts val="0"/>
              </a:spcAft>
              <a:buClr>
                <a:srgbClr val="000000"/>
              </a:buClr>
              <a:buSzPts val="2600"/>
              <a:buChar char="❏"/>
              <a:defRPr sz="2600">
                <a:solidFill>
                  <a:srgbClr val="000000"/>
                </a:solidFill>
              </a:defRPr>
            </a:lvl1pPr>
            <a:lvl2pPr indent="-355600" lvl="1" marL="914400" algn="l">
              <a:lnSpc>
                <a:spcPct val="115000"/>
              </a:lnSpc>
              <a:spcBef>
                <a:spcPts val="1600"/>
              </a:spcBef>
              <a:spcAft>
                <a:spcPts val="0"/>
              </a:spcAft>
              <a:buClr>
                <a:srgbClr val="000000"/>
              </a:buClr>
              <a:buSzPts val="2000"/>
              <a:buChar char="❏"/>
              <a:defRPr sz="2000">
                <a:solidFill>
                  <a:srgbClr val="000000"/>
                </a:solidFill>
              </a:defRPr>
            </a:lvl2pPr>
            <a:lvl3pPr indent="-342900" lvl="2" marL="1371600" algn="l">
              <a:lnSpc>
                <a:spcPct val="115000"/>
              </a:lnSpc>
              <a:spcBef>
                <a:spcPts val="1600"/>
              </a:spcBef>
              <a:spcAft>
                <a:spcPts val="0"/>
              </a:spcAft>
              <a:buClr>
                <a:srgbClr val="000000"/>
              </a:buClr>
              <a:buSzPts val="1800"/>
              <a:buChar char="❏"/>
              <a:defRPr sz="1800">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
        <p:nvSpPr>
          <p:cNvPr id="18" name="Google Shape;18;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6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65"/>
          <p:cNvSpPr/>
          <p:nvPr/>
        </p:nvSpPr>
        <p:spPr>
          <a:xfrm flipH="1" rot="10800000">
            <a:off x="615650" y="2959437"/>
            <a:ext cx="7856700" cy="15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23" name="Shape 23"/>
        <p:cNvGrpSpPr/>
        <p:nvPr/>
      </p:nvGrpSpPr>
      <p:grpSpPr>
        <a:xfrm>
          <a:off x="0" y="0"/>
          <a:ext cx="0" cy="0"/>
          <a:chOff x="0" y="0"/>
          <a:chExt cx="0" cy="0"/>
        </a:xfrm>
      </p:grpSpPr>
      <p:sp>
        <p:nvSpPr>
          <p:cNvPr id="24" name="Google Shape;24;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63"/>
          <p:cNvSpPr/>
          <p:nvPr/>
        </p:nvSpPr>
        <p:spPr>
          <a:xfrm>
            <a:off x="540000" y="1281775"/>
            <a:ext cx="8064000" cy="2240700"/>
          </a:xfrm>
          <a:prstGeom prst="rect">
            <a:avLst/>
          </a:prstGeom>
          <a:solidFill>
            <a:srgbClr val="2196F3"/>
          </a:solidFill>
          <a:ln>
            <a:noFill/>
          </a:ln>
          <a:effectLst>
            <a:outerShdw blurRad="757238" rotWithShape="0" algn="bl" dir="12000000" dist="9525">
              <a:srgbClr val="000000">
                <a:alpha val="5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63"/>
          <p:cNvSpPr txBox="1"/>
          <p:nvPr>
            <p:ph type="title"/>
          </p:nvPr>
        </p:nvSpPr>
        <p:spPr>
          <a:xfrm>
            <a:off x="540000" y="1281775"/>
            <a:ext cx="8064000" cy="2240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48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bg>
      <p:bgPr>
        <a:solidFill>
          <a:srgbClr val="FFFFFF"/>
        </a:solidFill>
      </p:bgPr>
    </p:bg>
    <p:spTree>
      <p:nvGrpSpPr>
        <p:cNvPr id="27" name="Shape 27"/>
        <p:cNvGrpSpPr/>
        <p:nvPr/>
      </p:nvGrpSpPr>
      <p:grpSpPr>
        <a:xfrm>
          <a:off x="0" y="0"/>
          <a:ext cx="0" cy="0"/>
          <a:chOff x="0" y="0"/>
          <a:chExt cx="0" cy="0"/>
        </a:xfrm>
      </p:grpSpPr>
      <p:sp>
        <p:nvSpPr>
          <p:cNvPr id="28" name="Google Shape;28;g25e795b85a1_0_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66"/>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6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2" name="Google Shape;32;p6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7"/>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6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9" name="Google Shape;39;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0" name="Shape 40"/>
        <p:cNvGrpSpPr/>
        <p:nvPr/>
      </p:nvGrpSpPr>
      <p:grpSpPr>
        <a:xfrm>
          <a:off x="0" y="0"/>
          <a:ext cx="0" cy="0"/>
          <a:chOff x="0" y="0"/>
          <a:chExt cx="0" cy="0"/>
        </a:xfrm>
      </p:grpSpPr>
      <p:sp>
        <p:nvSpPr>
          <p:cNvPr id="41" name="Google Shape;41;p7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pic>
        <p:nvPicPr>
          <p:cNvPr id="42" name="Google Shape;42;p70"/>
          <p:cNvPicPr preferRelativeResize="0"/>
          <p:nvPr/>
        </p:nvPicPr>
        <p:blipFill rotWithShape="1">
          <a:blip r:embed="rId2">
            <a:alphaModFix/>
          </a:blip>
          <a:srcRect b="0" l="0" r="0" t="0"/>
          <a:stretch/>
        </p:blipFill>
        <p:spPr>
          <a:xfrm>
            <a:off x="6043950" y="2559800"/>
            <a:ext cx="1981149" cy="1981149"/>
          </a:xfrm>
          <a:prstGeom prst="rect">
            <a:avLst/>
          </a:prstGeom>
          <a:noFill/>
          <a:ln>
            <a:noFill/>
          </a:ln>
        </p:spPr>
      </p:pic>
      <p:sp>
        <p:nvSpPr>
          <p:cNvPr id="43" name="Google Shape;43;p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1">
  <p:cSld name="MAIN_POINT_1_1">
    <p:spTree>
      <p:nvGrpSpPr>
        <p:cNvPr id="44" name="Shape 44"/>
        <p:cNvGrpSpPr/>
        <p:nvPr/>
      </p:nvGrpSpPr>
      <p:grpSpPr>
        <a:xfrm>
          <a:off x="0" y="0"/>
          <a:ext cx="0" cy="0"/>
          <a:chOff x="0" y="0"/>
          <a:chExt cx="0" cy="0"/>
        </a:xfrm>
      </p:grpSpPr>
      <p:sp>
        <p:nvSpPr>
          <p:cNvPr id="45" name="Google Shape;45;p7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pic>
        <p:nvPicPr>
          <p:cNvPr id="46" name="Google Shape;46;p71"/>
          <p:cNvPicPr preferRelativeResize="0"/>
          <p:nvPr/>
        </p:nvPicPr>
        <p:blipFill rotWithShape="1">
          <a:blip r:embed="rId2">
            <a:alphaModFix/>
          </a:blip>
          <a:srcRect b="0" l="0" r="0" t="0"/>
          <a:stretch/>
        </p:blipFill>
        <p:spPr>
          <a:xfrm>
            <a:off x="6654225" y="2887900"/>
            <a:ext cx="1683875" cy="1683875"/>
          </a:xfrm>
          <a:prstGeom prst="rect">
            <a:avLst/>
          </a:prstGeom>
          <a:noFill/>
          <a:ln>
            <a:noFill/>
          </a:ln>
        </p:spPr>
      </p:pic>
      <p:sp>
        <p:nvSpPr>
          <p:cNvPr id="47" name="Google Shape;47;p7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300" u="none" cap="none" strike="noStrike">
                <a:solidFill>
                  <a:srgbClr val="FFFFF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72"/>
          <p:cNvSpPr/>
          <p:nvPr/>
        </p:nvSpPr>
        <p:spPr>
          <a:xfrm>
            <a:off x="4572000" y="-12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7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1" name="Google Shape;51;p7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72"/>
          <p:cNvSpPr txBox="1"/>
          <p:nvPr>
            <p:ph idx="2" type="body"/>
          </p:nvPr>
        </p:nvSpPr>
        <p:spPr>
          <a:xfrm>
            <a:off x="4834400" y="403700"/>
            <a:ext cx="4107600" cy="43599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rgbClr val="000000"/>
              </a:buClr>
              <a:buSzPts val="1800"/>
              <a:buChar char="●"/>
              <a:defRPr>
                <a:solidFill>
                  <a:srgbClr val="000000"/>
                </a:solidFill>
              </a:defRPr>
            </a:lvl1pPr>
            <a:lvl2pPr indent="-317500" lvl="1" marL="914400" algn="l">
              <a:lnSpc>
                <a:spcPct val="115000"/>
              </a:lnSpc>
              <a:spcBef>
                <a:spcPts val="1600"/>
              </a:spcBef>
              <a:spcAft>
                <a:spcPts val="0"/>
              </a:spcAft>
              <a:buClr>
                <a:srgbClr val="000000"/>
              </a:buClr>
              <a:buSzPts val="1400"/>
              <a:buChar char="○"/>
              <a:defRPr>
                <a:solidFill>
                  <a:srgbClr val="000000"/>
                </a:solidFill>
              </a:defRPr>
            </a:lvl2pPr>
            <a:lvl3pPr indent="-317500" lvl="2" marL="1371600" algn="l">
              <a:lnSpc>
                <a:spcPct val="115000"/>
              </a:lnSpc>
              <a:spcBef>
                <a:spcPts val="1600"/>
              </a:spcBef>
              <a:spcAft>
                <a:spcPts val="0"/>
              </a:spcAft>
              <a:buClr>
                <a:srgbClr val="000000"/>
              </a:buClr>
              <a:buSzPts val="1400"/>
              <a:buChar char="■"/>
              <a:defRPr>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
        <p:nvSpPr>
          <p:cNvPr id="53" name="Google Shape;53;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7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56" name="Google Shape;56;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96F3"/>
        </a:solid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200700" y="1624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FFFFFF"/>
              </a:buClr>
              <a:buSzPts val="2800"/>
              <a:buFont typeface="Roboto"/>
              <a:buNone/>
              <a:defRPr b="0" i="0" sz="2800" u="none" cap="none" strike="noStrike">
                <a:solidFill>
                  <a:srgbClr val="FFFFFF"/>
                </a:solidFill>
                <a:latin typeface="Roboto"/>
                <a:ea typeface="Roboto"/>
                <a:cs typeface="Roboto"/>
                <a:sym typeface="Robot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1"/>
          <p:cNvSpPr txBox="1"/>
          <p:nvPr>
            <p:ph idx="1" type="body"/>
          </p:nvPr>
        </p:nvSpPr>
        <p:spPr>
          <a:xfrm>
            <a:off x="90825" y="863550"/>
            <a:ext cx="9053100" cy="4279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FFFFF"/>
              </a:buClr>
              <a:buSzPts val="1800"/>
              <a:buFont typeface="Roboto"/>
              <a:buChar char="●"/>
              <a:defRPr b="0" i="0" sz="1800" u="none" cap="none" strike="noStrike">
                <a:solidFill>
                  <a:srgbClr val="FFFFFF"/>
                </a:solidFill>
                <a:latin typeface="Roboto"/>
                <a:ea typeface="Roboto"/>
                <a:cs typeface="Roboto"/>
                <a:sym typeface="Roboto"/>
              </a:defRPr>
            </a:lvl1pPr>
            <a:lvl2pPr indent="-317500" lvl="1" marL="914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2pPr>
            <a:lvl3pPr indent="-317500" lvl="2" marL="1371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3pPr>
            <a:lvl4pPr indent="-317500" lvl="3" marL="18288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4pPr>
            <a:lvl5pPr indent="-317500" lvl="4" marL="22860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5pPr>
            <a:lvl6pPr indent="-317500" lvl="5" marL="27432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6pPr>
            <a:lvl7pPr indent="-317500" lvl="6" marL="3200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7pPr>
            <a:lvl8pPr indent="-317500" lvl="7" marL="3657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FFFFFF"/>
              </a:buClr>
              <a:buSzPts val="1400"/>
              <a:buFont typeface="Roboto"/>
              <a:buChar char="■"/>
              <a:defRPr b="0" i="0" sz="1400" u="none" cap="none" strike="noStrike">
                <a:solidFill>
                  <a:srgbClr val="FFFFFF"/>
                </a:solidFill>
                <a:latin typeface="Roboto"/>
                <a:ea typeface="Roboto"/>
                <a:cs typeface="Roboto"/>
                <a:sym typeface="Roboto"/>
              </a:defRPr>
            </a:lvl9pPr>
          </a:lstStyle>
          <a:p/>
        </p:txBody>
      </p:sp>
      <p:sp>
        <p:nvSpPr>
          <p:cNvPr id="8" name="Google Shape;8;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syncfusion.com/succinctly-free-ebooks/xamarin-community-toolkit-succinctly/creating-the-user-interface-with-c-marku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hyperlink" Target="https://learn.microsoft.com/en-us/dotnet/maui/user-interface/pop-ups?view=net-maui-8.0" TargetMode="External"/><Relationship Id="rId5" Type="http://schemas.openxmlformats.org/officeDocument/2006/relationships/image" Target="../media/image3.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24.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hyperlink" Target="https://learn.microsoft.com/en-us/dotnet/maui/user-interface/layouts/?view=net-maui-8.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hyperlink" Target="https://learn.microsoft.com/en-us/dotnet/maui/user-interface/layouts/stacklayout?view=net-maui-8.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image" Target="../media/image20.png"/><Relationship Id="rId6" Type="http://schemas.openxmlformats.org/officeDocument/2006/relationships/hyperlink" Target="https://learn.microsoft.com/en-us/dotnet/maui/user-interface/layouts/verticalstacklayout?view=net-maui-8.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hyperlink" Target="https://learn.microsoft.com/en-us/dotnet/maui/user-interface/layouts/absolutelayout?view=net-maui-8.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8.png"/><Relationship Id="rId4" Type="http://schemas.openxmlformats.org/officeDocument/2006/relationships/hyperlink" Target="https://learn.microsoft.com/en-us/dotnet/maui/user-interface/layouts/grid?view=net-maui-8.0"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9.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1.png"/><Relationship Id="rId4" Type="http://schemas.openxmlformats.org/officeDocument/2006/relationships/hyperlink" Target="https://learn.microsoft.com/en-us/dotnet/maui/user-interface/layouts/flexlayout?view=net-maui-8.0"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css-tricks.com/snippets/css/a-guide-to-flexbox/" TargetMode="External"/><Relationship Id="rId4" Type="http://schemas.openxmlformats.org/officeDocument/2006/relationships/image" Target="../media/image3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40.png"/><Relationship Id="rId5"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7.png"/><Relationship Id="rId4" Type="http://schemas.openxmlformats.org/officeDocument/2006/relationships/image" Target="../media/image5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flexboxfroggy.com" TargetMode="Externa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0.png"/><Relationship Id="rId4" Type="http://schemas.openxmlformats.org/officeDocument/2006/relationships/image" Target="../media/image55.png"/><Relationship Id="rId5" Type="http://schemas.openxmlformats.org/officeDocument/2006/relationships/image" Target="../media/image5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2.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9.png"/><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1.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ph type="ctrTitle"/>
          </p:nvPr>
        </p:nvSpPr>
        <p:spPr>
          <a:xfrm>
            <a:off x="0" y="1907525"/>
            <a:ext cx="9144000" cy="13929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6600"/>
              <a:buFont typeface="Quattrocento Sans"/>
              <a:buNone/>
            </a:pPr>
            <a:r>
              <a:rPr lang="en" sz="6800"/>
              <a:t>Basic UI One screen</a:t>
            </a:r>
            <a:endParaRPr sz="6800"/>
          </a:p>
        </p:txBody>
      </p:sp>
      <p:sp>
        <p:nvSpPr>
          <p:cNvPr id="62" name="Google Shape;62;p1"/>
          <p:cNvSpPr txBox="1"/>
          <p:nvPr>
            <p:ph idx="1" type="subTitle"/>
          </p:nvPr>
        </p:nvSpPr>
        <p:spPr>
          <a:xfrm>
            <a:off x="311700" y="4215118"/>
            <a:ext cx="8520600" cy="342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1100" u="sng">
                <a:solidFill>
                  <a:schemeClr val="lt1"/>
                </a:solidFill>
                <a:hlinkClick r:id="rId3">
                  <a:extLst>
                    <a:ext uri="{A12FA001-AC4F-418D-AE19-62706E023703}">
                      <ahyp:hlinkClr val="tx"/>
                    </a:ext>
                  </a:extLst>
                </a:hlinkClick>
              </a:rPr>
              <a:t>https://www.syncfusion.com/succinctly-free-ebooks/xamarin-community-toolkit-succinctly/creating-the-user-interface-with-c-markup</a:t>
            </a:r>
            <a:r>
              <a:rPr lang="en" sz="1100">
                <a:solidFill>
                  <a:schemeClr val="lt1"/>
                </a:solidFill>
              </a:rPr>
              <a:t> </a:t>
            </a:r>
            <a:endParaRPr sz="11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2a7af1bbfe2_0_2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Let’s start inside a Page: </a:t>
            </a:r>
            <a:r>
              <a:rPr b="1" lang="en"/>
              <a:t>MainPage</a:t>
            </a:r>
            <a:r>
              <a:rPr lang="en"/>
              <a:t>.xaml.cs</a:t>
            </a:r>
            <a:endParaRPr/>
          </a:p>
        </p:txBody>
      </p:sp>
      <p:sp>
        <p:nvSpPr>
          <p:cNvPr id="68" name="Google Shape;68;g2a7af1bbfe2_0_2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Remember to add</a:t>
            </a:r>
            <a:endParaRPr/>
          </a:p>
          <a:p>
            <a:pPr indent="0" lvl="0" marL="457200" rtl="0" algn="l">
              <a:spcBef>
                <a:spcPts val="0"/>
              </a:spcBef>
              <a:spcAft>
                <a:spcPts val="0"/>
              </a:spcAft>
              <a:buNone/>
            </a:pPr>
            <a:r>
              <a:rPr lang="en"/>
              <a:t>C# Markup (</a:t>
            </a:r>
            <a:r>
              <a:rPr b="1" lang="en">
                <a:solidFill>
                  <a:schemeClr val="dk1"/>
                </a:solidFill>
              </a:rPr>
              <a:t>CommunityToolkit.Maui.Markup</a:t>
            </a:r>
            <a:r>
              <a:rPr lang="en">
                <a:solidFill>
                  <a:schemeClr val="dk1"/>
                </a:solidFill>
              </a:rPr>
              <a:t>)</a:t>
            </a:r>
            <a:endParaRPr/>
          </a:p>
          <a:p>
            <a:pPr indent="0" lvl="0" marL="457200" rtl="0" algn="l">
              <a:spcBef>
                <a:spcPts val="0"/>
              </a:spcBef>
              <a:spcAft>
                <a:spcPts val="0"/>
              </a:spcAft>
              <a:buNone/>
            </a:pPr>
            <a:r>
              <a:t/>
            </a:r>
            <a:endParaRPr/>
          </a:p>
        </p:txBody>
      </p:sp>
      <p:sp>
        <p:nvSpPr>
          <p:cNvPr id="69" name="Google Shape;69;g2a7af1bbfe2_0_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2964f5a7bf4_0_0"/>
          <p:cNvSpPr txBox="1"/>
          <p:nvPr>
            <p:ph type="title"/>
          </p:nvPr>
        </p:nvSpPr>
        <p:spPr>
          <a:xfrm>
            <a:off x="141300" y="0"/>
            <a:ext cx="9012000" cy="7425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
              <a:t>Top common UI from the start</a:t>
            </a:r>
            <a:endParaRPr/>
          </a:p>
        </p:txBody>
      </p:sp>
      <p:sp>
        <p:nvSpPr>
          <p:cNvPr id="75" name="Google Shape;75;g2964f5a7bf4_0_0"/>
          <p:cNvSpPr txBox="1"/>
          <p:nvPr>
            <p:ph idx="1" type="body"/>
          </p:nvPr>
        </p:nvSpPr>
        <p:spPr>
          <a:xfrm>
            <a:off x="141300" y="914000"/>
            <a:ext cx="8932200" cy="42294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SzPts val="2600"/>
              <a:buAutoNum type="arabicPeriod"/>
            </a:pPr>
            <a:r>
              <a:rPr lang="en"/>
              <a:t>Label / </a:t>
            </a:r>
            <a:r>
              <a:rPr b="1" lang="en">
                <a:solidFill>
                  <a:srgbClr val="0000FF"/>
                </a:solidFill>
              </a:rPr>
              <a:t>Text</a:t>
            </a:r>
            <a:endParaRPr b="1">
              <a:solidFill>
                <a:srgbClr val="0000FF"/>
              </a:solidFill>
            </a:endParaRPr>
          </a:p>
          <a:p>
            <a:pPr indent="-393700" lvl="0" marL="457200" rtl="0" algn="l">
              <a:lnSpc>
                <a:spcPct val="115000"/>
              </a:lnSpc>
              <a:spcBef>
                <a:spcPts val="0"/>
              </a:spcBef>
              <a:spcAft>
                <a:spcPts val="0"/>
              </a:spcAft>
              <a:buClr>
                <a:srgbClr val="0000FF"/>
              </a:buClr>
              <a:buSzPts val="2600"/>
              <a:buAutoNum type="arabicPeriod"/>
            </a:pPr>
            <a:r>
              <a:rPr b="1" lang="en">
                <a:solidFill>
                  <a:srgbClr val="0000FF"/>
                </a:solidFill>
              </a:rPr>
              <a:t>Button / ImageButton</a:t>
            </a:r>
            <a:endParaRPr b="1">
              <a:solidFill>
                <a:srgbClr val="0000FF"/>
              </a:solidFill>
            </a:endParaRPr>
          </a:p>
          <a:p>
            <a:pPr indent="-393700" lvl="0" marL="457200" rtl="0" algn="l">
              <a:lnSpc>
                <a:spcPct val="115000"/>
              </a:lnSpc>
              <a:spcBef>
                <a:spcPts val="0"/>
              </a:spcBef>
              <a:spcAft>
                <a:spcPts val="0"/>
              </a:spcAft>
              <a:buSzPts val="2600"/>
              <a:buAutoNum type="arabicPeriod"/>
            </a:pPr>
            <a:r>
              <a:rPr lang="en"/>
              <a:t>TextBox / </a:t>
            </a:r>
            <a:r>
              <a:rPr b="1" lang="en">
                <a:solidFill>
                  <a:srgbClr val="0000FF"/>
                </a:solidFill>
              </a:rPr>
              <a:t>Entry </a:t>
            </a:r>
            <a:r>
              <a:rPr lang="en"/>
              <a:t>/ Input</a:t>
            </a:r>
            <a:endParaRPr/>
          </a:p>
          <a:p>
            <a:pPr indent="-393700" lvl="0" marL="457200" rtl="0" algn="l">
              <a:lnSpc>
                <a:spcPct val="115000"/>
              </a:lnSpc>
              <a:spcBef>
                <a:spcPts val="0"/>
              </a:spcBef>
              <a:spcAft>
                <a:spcPts val="0"/>
              </a:spcAft>
              <a:buClr>
                <a:srgbClr val="0000FF"/>
              </a:buClr>
              <a:buSzPts val="2600"/>
              <a:buAutoNum type="arabicPeriod"/>
            </a:pPr>
            <a:r>
              <a:rPr b="1" lang="en">
                <a:solidFill>
                  <a:srgbClr val="0000FF"/>
                </a:solidFill>
              </a:rPr>
              <a:t>Image / FontIcon</a:t>
            </a:r>
            <a:endParaRPr b="1">
              <a:solidFill>
                <a:srgbClr val="0000FF"/>
              </a:solidFill>
            </a:endParaRPr>
          </a:p>
          <a:p>
            <a:pPr indent="-393700" lvl="0" marL="457200" rtl="0" algn="l">
              <a:lnSpc>
                <a:spcPct val="115000"/>
              </a:lnSpc>
              <a:spcBef>
                <a:spcPts val="0"/>
              </a:spcBef>
              <a:spcAft>
                <a:spcPts val="0"/>
              </a:spcAft>
              <a:buSzPts val="2600"/>
              <a:buAutoNum type="arabicPeriod"/>
            </a:pPr>
            <a:r>
              <a:rPr lang="en"/>
              <a:t>MessageBox / </a:t>
            </a:r>
            <a:r>
              <a:rPr b="1" lang="en">
                <a:solidFill>
                  <a:srgbClr val="0000FF"/>
                </a:solidFill>
              </a:rPr>
              <a:t>Alert / ActionSheet</a:t>
            </a:r>
            <a:endParaRPr b="1">
              <a:solidFill>
                <a:srgbClr val="0000FF"/>
              </a:solidFill>
            </a:endParaRPr>
          </a:p>
        </p:txBody>
      </p:sp>
      <p:sp>
        <p:nvSpPr>
          <p:cNvPr id="76" name="Google Shape;76;g2964f5a7bf4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2a7af1bbfe2_0_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419100" lvl="0" marL="457200" rtl="0" algn="l">
              <a:spcBef>
                <a:spcPts val="0"/>
              </a:spcBef>
              <a:spcAft>
                <a:spcPts val="0"/>
              </a:spcAft>
              <a:buSzPts val="3000"/>
              <a:buAutoNum type="arabicPeriod"/>
            </a:pPr>
            <a:r>
              <a:rPr lang="en"/>
              <a:t>Text</a:t>
            </a:r>
            <a:endParaRPr/>
          </a:p>
        </p:txBody>
      </p:sp>
      <p:sp>
        <p:nvSpPr>
          <p:cNvPr id="82" name="Google Shape;82;g2a7af1bbfe2_0_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83" name="Google Shape;83;g2a7af1bbfe2_0_0"/>
          <p:cNvPicPr preferRelativeResize="0"/>
          <p:nvPr/>
        </p:nvPicPr>
        <p:blipFill>
          <a:blip r:embed="rId3">
            <a:alphaModFix/>
          </a:blip>
          <a:stretch>
            <a:fillRect/>
          </a:stretch>
        </p:blipFill>
        <p:spPr>
          <a:xfrm>
            <a:off x="1868913" y="1438013"/>
            <a:ext cx="4467225" cy="10572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2a7af1bbfe2_0_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 Button</a:t>
            </a:r>
            <a:endParaRPr/>
          </a:p>
        </p:txBody>
      </p:sp>
      <p:sp>
        <p:nvSpPr>
          <p:cNvPr id="89" name="Google Shape;89;g2a7af1bbfe2_0_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90" name="Google Shape;90;g2a7af1bbfe2_0_7"/>
          <p:cNvPicPr preferRelativeResize="0"/>
          <p:nvPr/>
        </p:nvPicPr>
        <p:blipFill>
          <a:blip r:embed="rId3">
            <a:alphaModFix/>
          </a:blip>
          <a:stretch>
            <a:fillRect/>
          </a:stretch>
        </p:blipFill>
        <p:spPr>
          <a:xfrm>
            <a:off x="5953500" y="957500"/>
            <a:ext cx="1485900" cy="876300"/>
          </a:xfrm>
          <a:prstGeom prst="rect">
            <a:avLst/>
          </a:prstGeom>
          <a:noFill/>
          <a:ln cap="flat" cmpd="sng" w="9525">
            <a:solidFill>
              <a:schemeClr val="dk2"/>
            </a:solidFill>
            <a:prstDash val="solid"/>
            <a:round/>
            <a:headEnd len="sm" w="sm" type="none"/>
            <a:tailEnd len="sm" w="sm" type="none"/>
          </a:ln>
        </p:spPr>
      </p:pic>
      <p:sp>
        <p:nvSpPr>
          <p:cNvPr id="91" name="Google Shape;91;g2a7af1bbfe2_0_7"/>
          <p:cNvSpPr txBox="1"/>
          <p:nvPr/>
        </p:nvSpPr>
        <p:spPr>
          <a:xfrm>
            <a:off x="365150" y="4509175"/>
            <a:ext cx="83151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u="sng">
                <a:solidFill>
                  <a:schemeClr val="hlink"/>
                </a:solidFill>
                <a:latin typeface="Roboto"/>
                <a:ea typeface="Roboto"/>
                <a:cs typeface="Roboto"/>
                <a:sym typeface="Roboto"/>
                <a:hlinkClick r:id="rId4"/>
              </a:rPr>
              <a:t>https://learn.microsoft.com/en-us/dotnet/maui/user-interface/pop-ups?view=net-maui-8.0</a:t>
            </a:r>
            <a:r>
              <a:rPr lang="en" sz="1500">
                <a:solidFill>
                  <a:schemeClr val="dk1"/>
                </a:solidFill>
                <a:latin typeface="Roboto"/>
                <a:ea typeface="Roboto"/>
                <a:cs typeface="Roboto"/>
                <a:sym typeface="Roboto"/>
              </a:rPr>
              <a:t> </a:t>
            </a:r>
            <a:endParaRPr sz="1500">
              <a:solidFill>
                <a:schemeClr val="dk1"/>
              </a:solidFill>
              <a:latin typeface="Roboto"/>
              <a:ea typeface="Roboto"/>
              <a:cs typeface="Roboto"/>
              <a:sym typeface="Roboto"/>
            </a:endParaRPr>
          </a:p>
        </p:txBody>
      </p:sp>
      <p:pic>
        <p:nvPicPr>
          <p:cNvPr id="92" name="Google Shape;92;g2a7af1bbfe2_0_7"/>
          <p:cNvPicPr preferRelativeResize="0"/>
          <p:nvPr/>
        </p:nvPicPr>
        <p:blipFill>
          <a:blip r:embed="rId5">
            <a:alphaModFix/>
          </a:blip>
          <a:stretch>
            <a:fillRect/>
          </a:stretch>
        </p:blipFill>
        <p:spPr>
          <a:xfrm>
            <a:off x="152400" y="894900"/>
            <a:ext cx="5648698" cy="2555364"/>
          </a:xfrm>
          <a:prstGeom prst="rect">
            <a:avLst/>
          </a:prstGeom>
          <a:noFill/>
          <a:ln cap="flat" cmpd="sng" w="9525">
            <a:solidFill>
              <a:schemeClr val="dk2"/>
            </a:solidFill>
            <a:prstDash val="solid"/>
            <a:round/>
            <a:headEnd len="sm" w="sm" type="none"/>
            <a:tailEnd len="sm" w="sm" type="none"/>
          </a:ln>
        </p:spPr>
      </p:pic>
      <p:pic>
        <p:nvPicPr>
          <p:cNvPr id="93" name="Google Shape;93;g2a7af1bbfe2_0_7"/>
          <p:cNvPicPr preferRelativeResize="0"/>
          <p:nvPr/>
        </p:nvPicPr>
        <p:blipFill>
          <a:blip r:embed="rId6">
            <a:alphaModFix/>
          </a:blip>
          <a:stretch>
            <a:fillRect/>
          </a:stretch>
        </p:blipFill>
        <p:spPr>
          <a:xfrm>
            <a:off x="5953498" y="1986200"/>
            <a:ext cx="3038101" cy="183613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a7af1bbfe2_0_2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 Entry</a:t>
            </a:r>
            <a:endParaRPr/>
          </a:p>
        </p:txBody>
      </p:sp>
      <p:sp>
        <p:nvSpPr>
          <p:cNvPr id="99" name="Google Shape;99;g2a7af1bbfe2_0_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00" name="Google Shape;100;g2a7af1bbfe2_0_29"/>
          <p:cNvPicPr preferRelativeResize="0"/>
          <p:nvPr/>
        </p:nvPicPr>
        <p:blipFill>
          <a:blip r:embed="rId3">
            <a:alphaModFix/>
          </a:blip>
          <a:stretch>
            <a:fillRect/>
          </a:stretch>
        </p:blipFill>
        <p:spPr>
          <a:xfrm>
            <a:off x="6057501" y="2699300"/>
            <a:ext cx="2754375" cy="1524628"/>
          </a:xfrm>
          <a:prstGeom prst="rect">
            <a:avLst/>
          </a:prstGeom>
          <a:noFill/>
          <a:ln cap="flat" cmpd="sng" w="9525">
            <a:solidFill>
              <a:schemeClr val="dk2"/>
            </a:solidFill>
            <a:prstDash val="solid"/>
            <a:round/>
            <a:headEnd len="sm" w="sm" type="none"/>
            <a:tailEnd len="sm" w="sm" type="none"/>
          </a:ln>
        </p:spPr>
      </p:pic>
      <p:pic>
        <p:nvPicPr>
          <p:cNvPr id="101" name="Google Shape;101;g2a7af1bbfe2_0_29"/>
          <p:cNvPicPr preferRelativeResize="0"/>
          <p:nvPr/>
        </p:nvPicPr>
        <p:blipFill>
          <a:blip r:embed="rId4">
            <a:alphaModFix/>
          </a:blip>
          <a:stretch>
            <a:fillRect/>
          </a:stretch>
        </p:blipFill>
        <p:spPr>
          <a:xfrm>
            <a:off x="141300" y="1020425"/>
            <a:ext cx="5685224" cy="1767300"/>
          </a:xfrm>
          <a:prstGeom prst="rect">
            <a:avLst/>
          </a:prstGeom>
          <a:noFill/>
          <a:ln cap="flat" cmpd="sng" w="9525">
            <a:solidFill>
              <a:schemeClr val="dk2"/>
            </a:solidFill>
            <a:prstDash val="solid"/>
            <a:round/>
            <a:headEnd len="sm" w="sm" type="none"/>
            <a:tailEnd len="sm" w="sm" type="none"/>
          </a:ln>
        </p:spPr>
      </p:pic>
      <p:pic>
        <p:nvPicPr>
          <p:cNvPr id="102" name="Google Shape;102;g2a7af1bbfe2_0_29"/>
          <p:cNvPicPr preferRelativeResize="0"/>
          <p:nvPr/>
        </p:nvPicPr>
        <p:blipFill>
          <a:blip r:embed="rId5">
            <a:alphaModFix/>
          </a:blip>
          <a:stretch>
            <a:fillRect/>
          </a:stretch>
        </p:blipFill>
        <p:spPr>
          <a:xfrm>
            <a:off x="6057500" y="1020425"/>
            <a:ext cx="2754373" cy="14667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a7af1bbfe2_0_3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Image</a:t>
            </a:r>
            <a:endParaRPr/>
          </a:p>
        </p:txBody>
      </p:sp>
      <p:sp>
        <p:nvSpPr>
          <p:cNvPr id="108" name="Google Shape;108;g2a7af1bbfe2_0_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09" name="Google Shape;109;g2a7af1bbfe2_0_39"/>
          <p:cNvPicPr preferRelativeResize="0"/>
          <p:nvPr/>
        </p:nvPicPr>
        <p:blipFill>
          <a:blip r:embed="rId3">
            <a:alphaModFix/>
          </a:blip>
          <a:stretch>
            <a:fillRect/>
          </a:stretch>
        </p:blipFill>
        <p:spPr>
          <a:xfrm>
            <a:off x="3846600" y="2571738"/>
            <a:ext cx="2647950" cy="2314575"/>
          </a:xfrm>
          <a:prstGeom prst="rect">
            <a:avLst/>
          </a:prstGeom>
          <a:noFill/>
          <a:ln cap="flat" cmpd="sng" w="9525">
            <a:solidFill>
              <a:schemeClr val="dk2"/>
            </a:solidFill>
            <a:prstDash val="solid"/>
            <a:round/>
            <a:headEnd len="sm" w="sm" type="none"/>
            <a:tailEnd len="sm" w="sm" type="none"/>
          </a:ln>
        </p:spPr>
      </p:pic>
      <p:pic>
        <p:nvPicPr>
          <p:cNvPr id="110" name="Google Shape;110;g2a7af1bbfe2_0_39"/>
          <p:cNvPicPr preferRelativeResize="0"/>
          <p:nvPr/>
        </p:nvPicPr>
        <p:blipFill>
          <a:blip r:embed="rId4">
            <a:alphaModFix/>
          </a:blip>
          <a:stretch>
            <a:fillRect/>
          </a:stretch>
        </p:blipFill>
        <p:spPr>
          <a:xfrm>
            <a:off x="152388" y="2613600"/>
            <a:ext cx="3571875" cy="933450"/>
          </a:xfrm>
          <a:prstGeom prst="rect">
            <a:avLst/>
          </a:prstGeom>
          <a:noFill/>
          <a:ln cap="flat" cmpd="sng" w="9525">
            <a:solidFill>
              <a:schemeClr val="dk2"/>
            </a:solidFill>
            <a:prstDash val="solid"/>
            <a:round/>
            <a:headEnd len="sm" w="sm" type="none"/>
            <a:tailEnd len="sm" w="sm" type="none"/>
          </a:ln>
        </p:spPr>
      </p:pic>
      <p:pic>
        <p:nvPicPr>
          <p:cNvPr id="111" name="Google Shape;111;g2a7af1bbfe2_0_39"/>
          <p:cNvPicPr preferRelativeResize="0"/>
          <p:nvPr/>
        </p:nvPicPr>
        <p:blipFill>
          <a:blip r:embed="rId5">
            <a:alphaModFix/>
          </a:blip>
          <a:stretch>
            <a:fillRect/>
          </a:stretch>
        </p:blipFill>
        <p:spPr>
          <a:xfrm>
            <a:off x="152400" y="894900"/>
            <a:ext cx="4210050" cy="13335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a84c1406f4_0_0"/>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Basic layout</a:t>
            </a:r>
            <a:endParaRPr/>
          </a:p>
        </p:txBody>
      </p:sp>
      <p:sp>
        <p:nvSpPr>
          <p:cNvPr id="117" name="Google Shape;117;g2a84c1406f4_0_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2a84c1406f4_0_31"/>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 main types of layout</a:t>
            </a:r>
            <a:endParaRPr/>
          </a:p>
        </p:txBody>
      </p:sp>
      <p:sp>
        <p:nvSpPr>
          <p:cNvPr id="123" name="Google Shape;123;g2a84c1406f4_0_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24" name="Google Shape;124;g2a84c1406f4_0_31"/>
          <p:cNvPicPr preferRelativeResize="0"/>
          <p:nvPr/>
        </p:nvPicPr>
        <p:blipFill>
          <a:blip r:embed="rId3">
            <a:alphaModFix/>
          </a:blip>
          <a:stretch>
            <a:fillRect/>
          </a:stretch>
        </p:blipFill>
        <p:spPr>
          <a:xfrm>
            <a:off x="424253" y="1135503"/>
            <a:ext cx="8357775" cy="3304225"/>
          </a:xfrm>
          <a:prstGeom prst="rect">
            <a:avLst/>
          </a:prstGeom>
          <a:noFill/>
          <a:ln>
            <a:noFill/>
          </a:ln>
        </p:spPr>
      </p:pic>
      <p:sp>
        <p:nvSpPr>
          <p:cNvPr id="125" name="Google Shape;125;g2a84c1406f4_0_31"/>
          <p:cNvSpPr txBox="1"/>
          <p:nvPr/>
        </p:nvSpPr>
        <p:spPr>
          <a:xfrm>
            <a:off x="3253288" y="4663225"/>
            <a:ext cx="2699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Layouts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g264618e237c_0_55"/>
          <p:cNvSpPr txBox="1"/>
          <p:nvPr>
            <p:ph type="title"/>
          </p:nvPr>
        </p:nvSpPr>
        <p:spPr>
          <a:xfrm>
            <a:off x="236950" y="1532775"/>
            <a:ext cx="4045200" cy="148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StackLayout</a:t>
            </a:r>
            <a:endParaRPr/>
          </a:p>
        </p:txBody>
      </p:sp>
      <p:pic>
        <p:nvPicPr>
          <p:cNvPr id="131" name="Google Shape;131;g264618e237c_0_55"/>
          <p:cNvPicPr preferRelativeResize="0"/>
          <p:nvPr/>
        </p:nvPicPr>
        <p:blipFill>
          <a:blip r:embed="rId3">
            <a:alphaModFix/>
          </a:blip>
          <a:stretch>
            <a:fillRect/>
          </a:stretch>
        </p:blipFill>
        <p:spPr>
          <a:xfrm>
            <a:off x="5668725" y="293525"/>
            <a:ext cx="2371125" cy="4292825"/>
          </a:xfrm>
          <a:prstGeom prst="rect">
            <a:avLst/>
          </a:prstGeom>
          <a:noFill/>
          <a:ln>
            <a:noFill/>
          </a:ln>
        </p:spPr>
      </p:pic>
      <p:sp>
        <p:nvSpPr>
          <p:cNvPr id="132" name="Google Shape;132;g264618e237c_0_55"/>
          <p:cNvSpPr txBox="1"/>
          <p:nvPr/>
        </p:nvSpPr>
        <p:spPr>
          <a:xfrm>
            <a:off x="5452375" y="4651000"/>
            <a:ext cx="2995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StackLayout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a84c1406f4_0_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VerticalStackLayout</a:t>
            </a:r>
            <a:endParaRPr/>
          </a:p>
        </p:txBody>
      </p:sp>
      <p:sp>
        <p:nvSpPr>
          <p:cNvPr id="138" name="Google Shape;138;g2a84c1406f4_0_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39" name="Google Shape;139;g2a84c1406f4_0_6"/>
          <p:cNvPicPr preferRelativeResize="0"/>
          <p:nvPr/>
        </p:nvPicPr>
        <p:blipFill>
          <a:blip r:embed="rId3">
            <a:alphaModFix/>
          </a:blip>
          <a:stretch>
            <a:fillRect/>
          </a:stretch>
        </p:blipFill>
        <p:spPr>
          <a:xfrm>
            <a:off x="5848738" y="3336350"/>
            <a:ext cx="2733675" cy="1371600"/>
          </a:xfrm>
          <a:prstGeom prst="rect">
            <a:avLst/>
          </a:prstGeom>
          <a:noFill/>
          <a:ln cap="flat" cmpd="sng" w="9525">
            <a:solidFill>
              <a:schemeClr val="dk2"/>
            </a:solidFill>
            <a:prstDash val="solid"/>
            <a:round/>
            <a:headEnd len="sm" w="sm" type="none"/>
            <a:tailEnd len="sm" w="sm" type="none"/>
          </a:ln>
        </p:spPr>
      </p:pic>
      <p:pic>
        <p:nvPicPr>
          <p:cNvPr id="140" name="Google Shape;140;g2a84c1406f4_0_6"/>
          <p:cNvPicPr preferRelativeResize="0"/>
          <p:nvPr/>
        </p:nvPicPr>
        <p:blipFill>
          <a:blip r:embed="rId4">
            <a:alphaModFix/>
          </a:blip>
          <a:stretch>
            <a:fillRect/>
          </a:stretch>
        </p:blipFill>
        <p:spPr>
          <a:xfrm>
            <a:off x="152400" y="894900"/>
            <a:ext cx="5098101" cy="3813051"/>
          </a:xfrm>
          <a:prstGeom prst="rect">
            <a:avLst/>
          </a:prstGeom>
          <a:noFill/>
          <a:ln cap="flat" cmpd="sng" w="9525">
            <a:solidFill>
              <a:schemeClr val="dk2"/>
            </a:solidFill>
            <a:prstDash val="solid"/>
            <a:round/>
            <a:headEnd len="sm" w="sm" type="none"/>
            <a:tailEnd len="sm" w="sm" type="none"/>
          </a:ln>
        </p:spPr>
      </p:pic>
      <p:pic>
        <p:nvPicPr>
          <p:cNvPr id="141" name="Google Shape;141;g2a84c1406f4_0_6"/>
          <p:cNvPicPr preferRelativeResize="0"/>
          <p:nvPr/>
        </p:nvPicPr>
        <p:blipFill>
          <a:blip r:embed="rId5">
            <a:alphaModFix/>
          </a:blip>
          <a:stretch>
            <a:fillRect/>
          </a:stretch>
        </p:blipFill>
        <p:spPr>
          <a:xfrm>
            <a:off x="4334776" y="1366576"/>
            <a:ext cx="4686376" cy="1328725"/>
          </a:xfrm>
          <a:prstGeom prst="rect">
            <a:avLst/>
          </a:prstGeom>
          <a:noFill/>
          <a:ln cap="flat" cmpd="sng" w="9525">
            <a:solidFill>
              <a:schemeClr val="dk2"/>
            </a:solidFill>
            <a:prstDash val="solid"/>
            <a:round/>
            <a:headEnd len="sm" w="sm" type="none"/>
            <a:tailEnd len="sm" w="sm" type="none"/>
          </a:ln>
        </p:spPr>
      </p:pic>
      <p:sp>
        <p:nvSpPr>
          <p:cNvPr id="142" name="Google Shape;142;g2a84c1406f4_0_6"/>
          <p:cNvSpPr txBox="1"/>
          <p:nvPr/>
        </p:nvSpPr>
        <p:spPr>
          <a:xfrm>
            <a:off x="798975" y="4789500"/>
            <a:ext cx="4109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6"/>
              </a:rPr>
              <a:t>VerticalStackLayout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264618e237c_0_1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HorizontalOptions</a:t>
            </a:r>
            <a:endParaRPr/>
          </a:p>
        </p:txBody>
      </p:sp>
      <p:sp>
        <p:nvSpPr>
          <p:cNvPr id="148" name="Google Shape;148;g264618e237c_0_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49" name="Google Shape;149;g264618e237c_0_19"/>
          <p:cNvPicPr preferRelativeResize="0"/>
          <p:nvPr/>
        </p:nvPicPr>
        <p:blipFill>
          <a:blip r:embed="rId3">
            <a:alphaModFix/>
          </a:blip>
          <a:stretch>
            <a:fillRect/>
          </a:stretch>
        </p:blipFill>
        <p:spPr>
          <a:xfrm>
            <a:off x="963655" y="1066100"/>
            <a:ext cx="6914950" cy="22154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264618e237c_0_11"/>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Forcing all left</a:t>
            </a:r>
            <a:endParaRPr/>
          </a:p>
        </p:txBody>
      </p:sp>
      <p:sp>
        <p:nvSpPr>
          <p:cNvPr id="155" name="Google Shape;155;g264618e237c_0_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56" name="Google Shape;156;g264618e237c_0_11"/>
          <p:cNvPicPr preferRelativeResize="0"/>
          <p:nvPr/>
        </p:nvPicPr>
        <p:blipFill>
          <a:blip r:embed="rId3">
            <a:alphaModFix/>
          </a:blip>
          <a:stretch>
            <a:fillRect/>
          </a:stretch>
        </p:blipFill>
        <p:spPr>
          <a:xfrm>
            <a:off x="152400" y="894900"/>
            <a:ext cx="6334125" cy="3705225"/>
          </a:xfrm>
          <a:prstGeom prst="rect">
            <a:avLst/>
          </a:prstGeom>
          <a:noFill/>
          <a:ln cap="flat" cmpd="sng" w="9525">
            <a:solidFill>
              <a:schemeClr val="dk2"/>
            </a:solidFill>
            <a:prstDash val="solid"/>
            <a:round/>
            <a:headEnd len="sm" w="sm" type="none"/>
            <a:tailEnd len="sm" w="sm" type="none"/>
          </a:ln>
        </p:spPr>
      </p:pic>
      <p:sp>
        <p:nvSpPr>
          <p:cNvPr id="157" name="Google Shape;157;g264618e237c_0_11"/>
          <p:cNvSpPr/>
          <p:nvPr/>
        </p:nvSpPr>
        <p:spPr>
          <a:xfrm>
            <a:off x="577850" y="1412500"/>
            <a:ext cx="4958100" cy="363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158" name="Google Shape;158;g264618e237c_0_11"/>
          <p:cNvPicPr preferRelativeResize="0"/>
          <p:nvPr/>
        </p:nvPicPr>
        <p:blipFill>
          <a:blip r:embed="rId4">
            <a:alphaModFix/>
          </a:blip>
          <a:stretch>
            <a:fillRect/>
          </a:stretch>
        </p:blipFill>
        <p:spPr>
          <a:xfrm>
            <a:off x="6646577" y="894900"/>
            <a:ext cx="2120900" cy="9409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64618e237c_0_2"/>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End &amp; Start</a:t>
            </a:r>
            <a:endParaRPr/>
          </a:p>
        </p:txBody>
      </p:sp>
      <p:sp>
        <p:nvSpPr>
          <p:cNvPr id="164" name="Google Shape;164;g264618e237c_0_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65" name="Google Shape;165;g264618e237c_0_2"/>
          <p:cNvPicPr preferRelativeResize="0"/>
          <p:nvPr/>
        </p:nvPicPr>
        <p:blipFill>
          <a:blip r:embed="rId3">
            <a:alphaModFix/>
          </a:blip>
          <a:stretch>
            <a:fillRect/>
          </a:stretch>
        </p:blipFill>
        <p:spPr>
          <a:xfrm>
            <a:off x="195200" y="1042325"/>
            <a:ext cx="4520275" cy="2930650"/>
          </a:xfrm>
          <a:prstGeom prst="rect">
            <a:avLst/>
          </a:prstGeom>
          <a:noFill/>
          <a:ln cap="flat" cmpd="sng" w="9525">
            <a:solidFill>
              <a:schemeClr val="dk2"/>
            </a:solidFill>
            <a:prstDash val="solid"/>
            <a:round/>
            <a:headEnd len="sm" w="sm" type="none"/>
            <a:tailEnd len="sm" w="sm" type="none"/>
          </a:ln>
        </p:spPr>
      </p:pic>
      <p:pic>
        <p:nvPicPr>
          <p:cNvPr id="166" name="Google Shape;166;g264618e237c_0_2"/>
          <p:cNvPicPr preferRelativeResize="0"/>
          <p:nvPr/>
        </p:nvPicPr>
        <p:blipFill>
          <a:blip r:embed="rId4">
            <a:alphaModFix/>
          </a:blip>
          <a:stretch>
            <a:fillRect/>
          </a:stretch>
        </p:blipFill>
        <p:spPr>
          <a:xfrm>
            <a:off x="4974900" y="1042325"/>
            <a:ext cx="2943225" cy="14859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264618e237c_0_2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Vertical &amp; Horizontal combination</a:t>
            </a:r>
            <a:endParaRPr/>
          </a:p>
        </p:txBody>
      </p:sp>
      <p:sp>
        <p:nvSpPr>
          <p:cNvPr id="172" name="Google Shape;172;g264618e237c_0_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73" name="Google Shape;173;g264618e237c_0_28"/>
          <p:cNvPicPr preferRelativeResize="0"/>
          <p:nvPr/>
        </p:nvPicPr>
        <p:blipFill>
          <a:blip r:embed="rId3">
            <a:alphaModFix/>
          </a:blip>
          <a:stretch>
            <a:fillRect/>
          </a:stretch>
        </p:blipFill>
        <p:spPr>
          <a:xfrm>
            <a:off x="5319375" y="983250"/>
            <a:ext cx="2457450" cy="981075"/>
          </a:xfrm>
          <a:prstGeom prst="rect">
            <a:avLst/>
          </a:prstGeom>
          <a:noFill/>
          <a:ln cap="flat" cmpd="sng" w="9525">
            <a:solidFill>
              <a:schemeClr val="dk2"/>
            </a:solidFill>
            <a:prstDash val="solid"/>
            <a:round/>
            <a:headEnd len="sm" w="sm" type="none"/>
            <a:tailEnd len="sm" w="sm" type="none"/>
          </a:ln>
        </p:spPr>
      </p:pic>
      <p:pic>
        <p:nvPicPr>
          <p:cNvPr id="174" name="Google Shape;174;g264618e237c_0_28"/>
          <p:cNvPicPr preferRelativeResize="0"/>
          <p:nvPr/>
        </p:nvPicPr>
        <p:blipFill>
          <a:blip r:embed="rId4">
            <a:alphaModFix/>
          </a:blip>
          <a:stretch>
            <a:fillRect/>
          </a:stretch>
        </p:blipFill>
        <p:spPr>
          <a:xfrm>
            <a:off x="141300" y="983250"/>
            <a:ext cx="5002201" cy="4073574"/>
          </a:xfrm>
          <a:prstGeom prst="rect">
            <a:avLst/>
          </a:prstGeom>
          <a:noFill/>
          <a:ln cap="flat" cmpd="sng" w="9525">
            <a:solidFill>
              <a:schemeClr val="dk2"/>
            </a:solidFill>
            <a:prstDash val="solid"/>
            <a:round/>
            <a:headEnd len="sm" w="sm" type="none"/>
            <a:tailEnd len="sm" w="sm" type="none"/>
          </a:ln>
        </p:spPr>
      </p:pic>
      <p:sp>
        <p:nvSpPr>
          <p:cNvPr id="175" name="Google Shape;175;g264618e237c_0_28"/>
          <p:cNvSpPr/>
          <p:nvPr/>
        </p:nvSpPr>
        <p:spPr>
          <a:xfrm>
            <a:off x="-78450" y="934525"/>
            <a:ext cx="4958100" cy="10299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264618e237c_0_3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Margin &amp; Spacing</a:t>
            </a:r>
            <a:endParaRPr/>
          </a:p>
        </p:txBody>
      </p:sp>
      <p:sp>
        <p:nvSpPr>
          <p:cNvPr id="181" name="Google Shape;181;g264618e237c_0_36"/>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Margin = 20			  Spacing = 10             Margin = 20</a:t>
            </a:r>
            <a:endParaRPr/>
          </a:p>
          <a:p>
            <a:pPr indent="0" lvl="0" marL="0" rtl="0" algn="l">
              <a:spcBef>
                <a:spcPts val="0"/>
              </a:spcBef>
              <a:spcAft>
                <a:spcPts val="0"/>
              </a:spcAft>
              <a:buNone/>
            </a:pPr>
            <a:r>
              <a:rPr lang="en"/>
              <a:t>													Spacing = 10</a:t>
            </a:r>
            <a:endParaRPr/>
          </a:p>
        </p:txBody>
      </p:sp>
      <p:sp>
        <p:nvSpPr>
          <p:cNvPr id="182" name="Google Shape;182;g264618e237c_0_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83" name="Google Shape;183;g264618e237c_0_36"/>
          <p:cNvPicPr preferRelativeResize="0"/>
          <p:nvPr/>
        </p:nvPicPr>
        <p:blipFill>
          <a:blip r:embed="rId3">
            <a:alphaModFix/>
          </a:blip>
          <a:stretch>
            <a:fillRect/>
          </a:stretch>
        </p:blipFill>
        <p:spPr>
          <a:xfrm>
            <a:off x="178538" y="2071400"/>
            <a:ext cx="2619375" cy="1400175"/>
          </a:xfrm>
          <a:prstGeom prst="rect">
            <a:avLst/>
          </a:prstGeom>
          <a:noFill/>
          <a:ln cap="flat" cmpd="sng" w="9525">
            <a:solidFill>
              <a:schemeClr val="dk2"/>
            </a:solidFill>
            <a:prstDash val="solid"/>
            <a:round/>
            <a:headEnd len="sm" w="sm" type="none"/>
            <a:tailEnd len="sm" w="sm" type="none"/>
          </a:ln>
        </p:spPr>
      </p:pic>
      <p:pic>
        <p:nvPicPr>
          <p:cNvPr id="184" name="Google Shape;184;g264618e237c_0_36"/>
          <p:cNvPicPr preferRelativeResize="0"/>
          <p:nvPr/>
        </p:nvPicPr>
        <p:blipFill>
          <a:blip r:embed="rId4">
            <a:alphaModFix/>
          </a:blip>
          <a:stretch>
            <a:fillRect/>
          </a:stretch>
        </p:blipFill>
        <p:spPr>
          <a:xfrm>
            <a:off x="3035625" y="2085675"/>
            <a:ext cx="2609850" cy="1371600"/>
          </a:xfrm>
          <a:prstGeom prst="rect">
            <a:avLst/>
          </a:prstGeom>
          <a:noFill/>
          <a:ln cap="flat" cmpd="sng" w="9525">
            <a:solidFill>
              <a:schemeClr val="dk2"/>
            </a:solidFill>
            <a:prstDash val="solid"/>
            <a:round/>
            <a:headEnd len="sm" w="sm" type="none"/>
            <a:tailEnd len="sm" w="sm" type="none"/>
          </a:ln>
        </p:spPr>
      </p:pic>
      <p:pic>
        <p:nvPicPr>
          <p:cNvPr id="185" name="Google Shape;185;g264618e237c_0_36"/>
          <p:cNvPicPr preferRelativeResize="0"/>
          <p:nvPr/>
        </p:nvPicPr>
        <p:blipFill>
          <a:blip r:embed="rId5">
            <a:alphaModFix/>
          </a:blip>
          <a:stretch>
            <a:fillRect/>
          </a:stretch>
        </p:blipFill>
        <p:spPr>
          <a:xfrm>
            <a:off x="6118575" y="2071388"/>
            <a:ext cx="2724150" cy="16478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64618e237c_0_4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Adding a Frame (deprecated - Border instead)</a:t>
            </a:r>
            <a:endParaRPr/>
          </a:p>
        </p:txBody>
      </p:sp>
      <p:sp>
        <p:nvSpPr>
          <p:cNvPr id="191" name="Google Shape;191;g264618e237c_0_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192" name="Google Shape;192;g264618e237c_0_45"/>
          <p:cNvPicPr preferRelativeResize="0"/>
          <p:nvPr/>
        </p:nvPicPr>
        <p:blipFill>
          <a:blip r:embed="rId3">
            <a:alphaModFix/>
          </a:blip>
          <a:stretch>
            <a:fillRect/>
          </a:stretch>
        </p:blipFill>
        <p:spPr>
          <a:xfrm>
            <a:off x="5315925" y="1459850"/>
            <a:ext cx="3705225" cy="2486025"/>
          </a:xfrm>
          <a:prstGeom prst="rect">
            <a:avLst/>
          </a:prstGeom>
          <a:noFill/>
          <a:ln cap="flat" cmpd="sng" w="9525">
            <a:solidFill>
              <a:schemeClr val="dk2"/>
            </a:solidFill>
            <a:prstDash val="solid"/>
            <a:round/>
            <a:headEnd len="sm" w="sm" type="none"/>
            <a:tailEnd len="sm" w="sm" type="none"/>
          </a:ln>
        </p:spPr>
      </p:pic>
      <p:pic>
        <p:nvPicPr>
          <p:cNvPr id="193" name="Google Shape;193;g264618e237c_0_45"/>
          <p:cNvPicPr preferRelativeResize="0"/>
          <p:nvPr/>
        </p:nvPicPr>
        <p:blipFill>
          <a:blip r:embed="rId4">
            <a:alphaModFix/>
          </a:blip>
          <a:stretch>
            <a:fillRect/>
          </a:stretch>
        </p:blipFill>
        <p:spPr>
          <a:xfrm>
            <a:off x="152400" y="894900"/>
            <a:ext cx="5011125" cy="4040801"/>
          </a:xfrm>
          <a:prstGeom prst="rect">
            <a:avLst/>
          </a:prstGeom>
          <a:noFill/>
          <a:ln cap="flat" cmpd="sng" w="9525">
            <a:solidFill>
              <a:schemeClr val="dk2"/>
            </a:solidFill>
            <a:prstDash val="solid"/>
            <a:round/>
            <a:headEnd len="sm" w="sm" type="none"/>
            <a:tailEnd len="sm" w="sm" type="none"/>
          </a:ln>
        </p:spPr>
      </p:pic>
      <p:sp>
        <p:nvSpPr>
          <p:cNvPr id="194" name="Google Shape;194;g264618e237c_0_45"/>
          <p:cNvSpPr/>
          <p:nvPr/>
        </p:nvSpPr>
        <p:spPr>
          <a:xfrm>
            <a:off x="141300" y="894900"/>
            <a:ext cx="3447000" cy="742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5" name="Google Shape;195;g264618e237c_0_45"/>
          <p:cNvSpPr/>
          <p:nvPr/>
        </p:nvSpPr>
        <p:spPr>
          <a:xfrm>
            <a:off x="178919" y="2902100"/>
            <a:ext cx="2653200" cy="742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264618e237c_0_62"/>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800"/>
              <a:t>AbsoluteLayout</a:t>
            </a:r>
            <a:endParaRPr sz="3800"/>
          </a:p>
        </p:txBody>
      </p:sp>
      <p:pic>
        <p:nvPicPr>
          <p:cNvPr id="201" name="Google Shape;201;g264618e237c_0_62"/>
          <p:cNvPicPr preferRelativeResize="0"/>
          <p:nvPr/>
        </p:nvPicPr>
        <p:blipFill>
          <a:blip r:embed="rId3">
            <a:alphaModFix/>
          </a:blip>
          <a:stretch>
            <a:fillRect/>
          </a:stretch>
        </p:blipFill>
        <p:spPr>
          <a:xfrm>
            <a:off x="5533850" y="257150"/>
            <a:ext cx="2478528" cy="4356200"/>
          </a:xfrm>
          <a:prstGeom prst="rect">
            <a:avLst/>
          </a:prstGeom>
          <a:noFill/>
          <a:ln>
            <a:noFill/>
          </a:ln>
        </p:spPr>
      </p:pic>
      <p:sp>
        <p:nvSpPr>
          <p:cNvPr id="202" name="Google Shape;202;g264618e237c_0_62"/>
          <p:cNvSpPr txBox="1"/>
          <p:nvPr/>
        </p:nvSpPr>
        <p:spPr>
          <a:xfrm>
            <a:off x="5387750" y="4613350"/>
            <a:ext cx="3132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AbsoluteLayout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64618e237c_0_68"/>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Absolute position</a:t>
            </a:r>
            <a:endParaRPr/>
          </a:p>
        </p:txBody>
      </p:sp>
      <p:sp>
        <p:nvSpPr>
          <p:cNvPr id="208" name="Google Shape;208;g264618e237c_0_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09" name="Google Shape;209;g264618e237c_0_68"/>
          <p:cNvPicPr preferRelativeResize="0"/>
          <p:nvPr/>
        </p:nvPicPr>
        <p:blipFill>
          <a:blip r:embed="rId3">
            <a:alphaModFix/>
          </a:blip>
          <a:stretch>
            <a:fillRect/>
          </a:stretch>
        </p:blipFill>
        <p:spPr>
          <a:xfrm>
            <a:off x="5503438" y="1327825"/>
            <a:ext cx="2714625" cy="2790825"/>
          </a:xfrm>
          <a:prstGeom prst="rect">
            <a:avLst/>
          </a:prstGeom>
          <a:noFill/>
          <a:ln cap="flat" cmpd="sng" w="9525">
            <a:solidFill>
              <a:schemeClr val="dk2"/>
            </a:solidFill>
            <a:prstDash val="solid"/>
            <a:round/>
            <a:headEnd len="sm" w="sm" type="none"/>
            <a:tailEnd len="sm" w="sm" type="none"/>
          </a:ln>
        </p:spPr>
      </p:pic>
      <p:pic>
        <p:nvPicPr>
          <p:cNvPr id="210" name="Google Shape;210;g264618e237c_0_68"/>
          <p:cNvPicPr preferRelativeResize="0"/>
          <p:nvPr/>
        </p:nvPicPr>
        <p:blipFill>
          <a:blip r:embed="rId4">
            <a:alphaModFix/>
          </a:blip>
          <a:stretch>
            <a:fillRect/>
          </a:stretch>
        </p:blipFill>
        <p:spPr>
          <a:xfrm>
            <a:off x="141300" y="879951"/>
            <a:ext cx="4966910" cy="4176875"/>
          </a:xfrm>
          <a:prstGeom prst="rect">
            <a:avLst/>
          </a:prstGeom>
          <a:noFill/>
          <a:ln cap="flat" cmpd="sng" w="9525">
            <a:solidFill>
              <a:schemeClr val="dk2"/>
            </a:solidFill>
            <a:prstDash val="solid"/>
            <a:round/>
            <a:headEnd len="sm" w="sm" type="none"/>
            <a:tailEnd len="sm" w="sm" type="none"/>
          </a:ln>
        </p:spPr>
      </p:pic>
      <p:sp>
        <p:nvSpPr>
          <p:cNvPr id="211" name="Google Shape;211;g264618e237c_0_68"/>
          <p:cNvSpPr/>
          <p:nvPr/>
        </p:nvSpPr>
        <p:spPr>
          <a:xfrm>
            <a:off x="859650" y="2841675"/>
            <a:ext cx="23226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 name="Google Shape;212;g264618e237c_0_68"/>
          <p:cNvSpPr/>
          <p:nvPr/>
        </p:nvSpPr>
        <p:spPr>
          <a:xfrm>
            <a:off x="954575" y="4330250"/>
            <a:ext cx="3255000" cy="26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3" name="Google Shape;213;g264618e237c_0_68"/>
          <p:cNvSpPr txBox="1"/>
          <p:nvPr/>
        </p:nvSpPr>
        <p:spPr>
          <a:xfrm>
            <a:off x="2169475" y="4663225"/>
            <a:ext cx="2478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left, top, width, height</a:t>
            </a:r>
            <a:endParaRPr sz="1800">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64618e237c_0_7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Proportional position</a:t>
            </a:r>
            <a:endParaRPr/>
          </a:p>
        </p:txBody>
      </p:sp>
      <p:sp>
        <p:nvSpPr>
          <p:cNvPr id="219" name="Google Shape;219;g264618e237c_0_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20" name="Google Shape;220;g264618e237c_0_74"/>
          <p:cNvPicPr preferRelativeResize="0"/>
          <p:nvPr/>
        </p:nvPicPr>
        <p:blipFill>
          <a:blip r:embed="rId3">
            <a:alphaModFix/>
          </a:blip>
          <a:stretch>
            <a:fillRect/>
          </a:stretch>
        </p:blipFill>
        <p:spPr>
          <a:xfrm>
            <a:off x="5590199" y="1266837"/>
            <a:ext cx="3392300" cy="3213287"/>
          </a:xfrm>
          <a:prstGeom prst="rect">
            <a:avLst/>
          </a:prstGeom>
          <a:noFill/>
          <a:ln cap="flat" cmpd="sng" w="9525">
            <a:solidFill>
              <a:schemeClr val="dk2"/>
            </a:solidFill>
            <a:prstDash val="solid"/>
            <a:round/>
            <a:headEnd len="sm" w="sm" type="none"/>
            <a:tailEnd len="sm" w="sm" type="none"/>
          </a:ln>
        </p:spPr>
      </p:pic>
      <p:pic>
        <p:nvPicPr>
          <p:cNvPr id="221" name="Google Shape;221;g264618e237c_0_74"/>
          <p:cNvPicPr preferRelativeResize="0"/>
          <p:nvPr/>
        </p:nvPicPr>
        <p:blipFill>
          <a:blip r:embed="rId4">
            <a:alphaModFix/>
          </a:blip>
          <a:stretch>
            <a:fillRect/>
          </a:stretch>
        </p:blipFill>
        <p:spPr>
          <a:xfrm>
            <a:off x="152400" y="894900"/>
            <a:ext cx="5285399" cy="3791545"/>
          </a:xfrm>
          <a:prstGeom prst="rect">
            <a:avLst/>
          </a:prstGeom>
          <a:noFill/>
          <a:ln cap="flat" cmpd="sng" w="9525">
            <a:solidFill>
              <a:schemeClr val="dk2"/>
            </a:solidFill>
            <a:prstDash val="solid"/>
            <a:round/>
            <a:headEnd len="sm" w="sm" type="none"/>
            <a:tailEnd len="sm" w="sm" type="none"/>
          </a:ln>
        </p:spPr>
      </p:pic>
      <p:sp>
        <p:nvSpPr>
          <p:cNvPr id="222" name="Google Shape;222;g264618e237c_0_74"/>
          <p:cNvSpPr/>
          <p:nvPr/>
        </p:nvSpPr>
        <p:spPr>
          <a:xfrm>
            <a:off x="517225" y="1322150"/>
            <a:ext cx="4847400" cy="361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2a9473fcf9c_0_4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Overlapping</a:t>
            </a:r>
            <a:endParaRPr/>
          </a:p>
        </p:txBody>
      </p:sp>
      <p:sp>
        <p:nvSpPr>
          <p:cNvPr id="228" name="Google Shape;228;g2a9473fcf9c_0_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29" name="Google Shape;229;g2a9473fcf9c_0_46"/>
          <p:cNvPicPr preferRelativeResize="0"/>
          <p:nvPr/>
        </p:nvPicPr>
        <p:blipFill>
          <a:blip r:embed="rId3">
            <a:alphaModFix/>
          </a:blip>
          <a:stretch>
            <a:fillRect/>
          </a:stretch>
        </p:blipFill>
        <p:spPr>
          <a:xfrm>
            <a:off x="6674150" y="1312313"/>
            <a:ext cx="1143000" cy="1362075"/>
          </a:xfrm>
          <a:prstGeom prst="rect">
            <a:avLst/>
          </a:prstGeom>
          <a:noFill/>
          <a:ln cap="flat" cmpd="sng" w="9525">
            <a:solidFill>
              <a:schemeClr val="dk2"/>
            </a:solidFill>
            <a:prstDash val="solid"/>
            <a:round/>
            <a:headEnd len="sm" w="sm" type="none"/>
            <a:tailEnd len="sm" w="sm" type="none"/>
          </a:ln>
        </p:spPr>
      </p:pic>
      <p:pic>
        <p:nvPicPr>
          <p:cNvPr id="230" name="Google Shape;230;g2a9473fcf9c_0_46"/>
          <p:cNvPicPr preferRelativeResize="0"/>
          <p:nvPr/>
        </p:nvPicPr>
        <p:blipFill>
          <a:blip r:embed="rId4">
            <a:alphaModFix/>
          </a:blip>
          <a:stretch>
            <a:fillRect/>
          </a:stretch>
        </p:blipFill>
        <p:spPr>
          <a:xfrm>
            <a:off x="868025" y="1312325"/>
            <a:ext cx="5007675" cy="1899137"/>
          </a:xfrm>
          <a:prstGeom prst="rect">
            <a:avLst/>
          </a:prstGeom>
          <a:noFill/>
          <a:ln cap="flat" cmpd="sng" w="9525">
            <a:solidFill>
              <a:schemeClr val="dk2"/>
            </a:solidFill>
            <a:prstDash val="solid"/>
            <a:round/>
            <a:headEnd len="sm" w="sm" type="none"/>
            <a:tailEnd len="sm" w="sm" type="none"/>
          </a:ln>
        </p:spPr>
      </p:pic>
      <p:sp>
        <p:nvSpPr>
          <p:cNvPr id="231" name="Google Shape;231;g2a9473fcf9c_0_46"/>
          <p:cNvSpPr/>
          <p:nvPr/>
        </p:nvSpPr>
        <p:spPr>
          <a:xfrm>
            <a:off x="3253025" y="2081150"/>
            <a:ext cx="1048500" cy="907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64618e237c_0_12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Other options</a:t>
            </a:r>
            <a:endParaRPr/>
          </a:p>
        </p:txBody>
      </p:sp>
      <p:sp>
        <p:nvSpPr>
          <p:cNvPr id="237" name="Google Shape;237;g264618e237c_0_127"/>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SizeProportional</a:t>
            </a:r>
            <a:endParaRPr/>
          </a:p>
          <a:p>
            <a:pPr indent="-393700" lvl="0" marL="457200" rtl="0" algn="l">
              <a:spcBef>
                <a:spcPts val="0"/>
              </a:spcBef>
              <a:spcAft>
                <a:spcPts val="0"/>
              </a:spcAft>
              <a:buSzPts val="2600"/>
              <a:buChar char="❏"/>
            </a:pPr>
            <a:r>
              <a:rPr lang="en"/>
              <a:t>All</a:t>
            </a:r>
            <a:endParaRPr/>
          </a:p>
        </p:txBody>
      </p:sp>
      <p:sp>
        <p:nvSpPr>
          <p:cNvPr id="238" name="Google Shape;238;g264618e237c_0_1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64618e237c_0_8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Grid</a:t>
            </a:r>
            <a:endParaRPr/>
          </a:p>
        </p:txBody>
      </p:sp>
      <p:pic>
        <p:nvPicPr>
          <p:cNvPr id="244" name="Google Shape;244;g264618e237c_0_86"/>
          <p:cNvPicPr preferRelativeResize="0"/>
          <p:nvPr/>
        </p:nvPicPr>
        <p:blipFill>
          <a:blip r:embed="rId3">
            <a:alphaModFix/>
          </a:blip>
          <a:stretch>
            <a:fillRect/>
          </a:stretch>
        </p:blipFill>
        <p:spPr>
          <a:xfrm>
            <a:off x="5590925" y="130850"/>
            <a:ext cx="2133200" cy="4251175"/>
          </a:xfrm>
          <a:prstGeom prst="rect">
            <a:avLst/>
          </a:prstGeom>
          <a:noFill/>
          <a:ln>
            <a:noFill/>
          </a:ln>
        </p:spPr>
      </p:pic>
      <p:sp>
        <p:nvSpPr>
          <p:cNvPr id="245" name="Google Shape;245;g264618e237c_0_86"/>
          <p:cNvSpPr txBox="1"/>
          <p:nvPr/>
        </p:nvSpPr>
        <p:spPr>
          <a:xfrm>
            <a:off x="5590925" y="4483625"/>
            <a:ext cx="249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Grid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264618e237c_0_92"/>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Grid</a:t>
            </a:r>
            <a:endParaRPr/>
          </a:p>
        </p:txBody>
      </p:sp>
      <p:sp>
        <p:nvSpPr>
          <p:cNvPr id="251" name="Google Shape;251;g264618e237c_0_92"/>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O</a:t>
            </a:r>
            <a:r>
              <a:rPr lang="en"/>
              <a:t>rganizes its children into rows and columns</a:t>
            </a:r>
            <a:endParaRPr/>
          </a:p>
          <a:p>
            <a:pPr indent="-393700" lvl="0" marL="457200" rtl="0" algn="l">
              <a:spcBef>
                <a:spcPts val="0"/>
              </a:spcBef>
              <a:spcAft>
                <a:spcPts val="0"/>
              </a:spcAft>
              <a:buSzPts val="2600"/>
              <a:buChar char="❏"/>
            </a:pPr>
            <a:r>
              <a:rPr lang="en"/>
              <a:t>Can have proportional or absolute sizes</a:t>
            </a:r>
            <a:endParaRPr/>
          </a:p>
          <a:p>
            <a:pPr indent="-393700" lvl="0" marL="457200" rtl="0" algn="l">
              <a:spcBef>
                <a:spcPts val="0"/>
              </a:spcBef>
              <a:spcAft>
                <a:spcPts val="0"/>
              </a:spcAft>
              <a:buSzPts val="2600"/>
              <a:buChar char="❏"/>
            </a:pPr>
            <a:r>
              <a:rPr lang="en"/>
              <a:t>Used for </a:t>
            </a:r>
            <a:r>
              <a:rPr b="1" lang="en">
                <a:solidFill>
                  <a:srgbClr val="0000FF"/>
                </a:solidFill>
              </a:rPr>
              <a:t>layout</a:t>
            </a:r>
            <a:endParaRPr b="1">
              <a:solidFill>
                <a:srgbClr val="0000FF"/>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393700" lvl="0" marL="457200" rtl="0" algn="l">
              <a:spcBef>
                <a:spcPts val="0"/>
              </a:spcBef>
              <a:spcAft>
                <a:spcPts val="0"/>
              </a:spcAft>
              <a:buSzPts val="2600"/>
              <a:buChar char="❏"/>
            </a:pPr>
            <a:r>
              <a:rPr lang="en"/>
              <a:t>For displaying </a:t>
            </a:r>
            <a:r>
              <a:rPr b="1" lang="en">
                <a:solidFill>
                  <a:srgbClr val="FF9900"/>
                </a:solidFill>
              </a:rPr>
              <a:t>tabular data,</a:t>
            </a:r>
            <a:r>
              <a:rPr lang="en"/>
              <a:t> use</a:t>
            </a:r>
            <a:endParaRPr/>
          </a:p>
          <a:p>
            <a:pPr indent="-355600" lvl="1" marL="914400" rtl="0" algn="l">
              <a:spcBef>
                <a:spcPts val="0"/>
              </a:spcBef>
              <a:spcAft>
                <a:spcPts val="0"/>
              </a:spcAft>
              <a:buSzPts val="2000"/>
              <a:buChar char="❏"/>
            </a:pPr>
            <a:r>
              <a:rPr lang="en"/>
              <a:t>ListView</a:t>
            </a:r>
            <a:endParaRPr/>
          </a:p>
          <a:p>
            <a:pPr indent="-355600" lvl="1" marL="914400" rtl="0" algn="l">
              <a:spcBef>
                <a:spcPts val="0"/>
              </a:spcBef>
              <a:spcAft>
                <a:spcPts val="0"/>
              </a:spcAft>
              <a:buSzPts val="2000"/>
              <a:buChar char="❏"/>
            </a:pPr>
            <a:r>
              <a:rPr lang="en"/>
              <a:t>CollectionView</a:t>
            </a:r>
            <a:endParaRPr/>
          </a:p>
        </p:txBody>
      </p:sp>
      <p:sp>
        <p:nvSpPr>
          <p:cNvPr id="252" name="Google Shape;252;g264618e237c_0_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264618e237c_0_177"/>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Grid definition</a:t>
            </a:r>
            <a:endParaRPr/>
          </a:p>
        </p:txBody>
      </p:sp>
      <p:sp>
        <p:nvSpPr>
          <p:cNvPr id="258" name="Google Shape;258;g264618e237c_0_1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59" name="Google Shape;259;g264618e237c_0_177"/>
          <p:cNvPicPr preferRelativeResize="0"/>
          <p:nvPr/>
        </p:nvPicPr>
        <p:blipFill>
          <a:blip r:embed="rId3">
            <a:alphaModFix/>
          </a:blip>
          <a:stretch>
            <a:fillRect/>
          </a:stretch>
        </p:blipFill>
        <p:spPr>
          <a:xfrm>
            <a:off x="72750" y="2517600"/>
            <a:ext cx="6754726" cy="2424775"/>
          </a:xfrm>
          <a:prstGeom prst="rect">
            <a:avLst/>
          </a:prstGeom>
          <a:noFill/>
          <a:ln cap="flat" cmpd="sng" w="9525">
            <a:solidFill>
              <a:schemeClr val="dk2"/>
            </a:solidFill>
            <a:prstDash val="solid"/>
            <a:round/>
            <a:headEnd len="sm" w="sm" type="none"/>
            <a:tailEnd len="sm" w="sm" type="none"/>
          </a:ln>
        </p:spPr>
      </p:pic>
      <p:pic>
        <p:nvPicPr>
          <p:cNvPr id="260" name="Google Shape;260;g264618e237c_0_177"/>
          <p:cNvPicPr preferRelativeResize="0"/>
          <p:nvPr/>
        </p:nvPicPr>
        <p:blipFill>
          <a:blip r:embed="rId4">
            <a:alphaModFix/>
          </a:blip>
          <a:stretch>
            <a:fillRect/>
          </a:stretch>
        </p:blipFill>
        <p:spPr>
          <a:xfrm>
            <a:off x="4879375" y="996525"/>
            <a:ext cx="3870349" cy="2882450"/>
          </a:xfrm>
          <a:prstGeom prst="rect">
            <a:avLst/>
          </a:prstGeom>
          <a:noFill/>
          <a:ln cap="flat" cmpd="sng" w="9525">
            <a:solidFill>
              <a:schemeClr val="dk2"/>
            </a:solidFill>
            <a:prstDash val="solid"/>
            <a:round/>
            <a:headEnd len="sm" w="sm" type="none"/>
            <a:tailEnd len="sm" w="sm" type="none"/>
          </a:ln>
        </p:spPr>
      </p:pic>
      <p:sp>
        <p:nvSpPr>
          <p:cNvPr id="261" name="Google Shape;261;g264618e237c_0_177"/>
          <p:cNvSpPr/>
          <p:nvPr/>
        </p:nvSpPr>
        <p:spPr>
          <a:xfrm>
            <a:off x="2454025" y="4299775"/>
            <a:ext cx="4287600" cy="522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264618e237c_0_18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Setting up position</a:t>
            </a:r>
            <a:endParaRPr/>
          </a:p>
        </p:txBody>
      </p:sp>
      <p:sp>
        <p:nvSpPr>
          <p:cNvPr id="267" name="Google Shape;267;g264618e237c_0_18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68" name="Google Shape;268;g264618e237c_0_185"/>
          <p:cNvPicPr preferRelativeResize="0"/>
          <p:nvPr/>
        </p:nvPicPr>
        <p:blipFill>
          <a:blip r:embed="rId3">
            <a:alphaModFix/>
          </a:blip>
          <a:stretch>
            <a:fillRect/>
          </a:stretch>
        </p:blipFill>
        <p:spPr>
          <a:xfrm>
            <a:off x="152400" y="894900"/>
            <a:ext cx="4230227" cy="4096200"/>
          </a:xfrm>
          <a:prstGeom prst="rect">
            <a:avLst/>
          </a:prstGeom>
          <a:noFill/>
          <a:ln cap="flat" cmpd="sng" w="9525">
            <a:solidFill>
              <a:schemeClr val="dk2"/>
            </a:solidFill>
            <a:prstDash val="solid"/>
            <a:round/>
            <a:headEnd len="sm" w="sm" type="none"/>
            <a:tailEnd len="sm" w="sm" type="none"/>
          </a:ln>
        </p:spPr>
      </p:pic>
      <p:pic>
        <p:nvPicPr>
          <p:cNvPr id="269" name="Google Shape;269;g264618e237c_0_185"/>
          <p:cNvPicPr preferRelativeResize="0"/>
          <p:nvPr/>
        </p:nvPicPr>
        <p:blipFill>
          <a:blip r:embed="rId4">
            <a:alphaModFix/>
          </a:blip>
          <a:stretch>
            <a:fillRect/>
          </a:stretch>
        </p:blipFill>
        <p:spPr>
          <a:xfrm>
            <a:off x="4642325" y="894900"/>
            <a:ext cx="4230225" cy="3150467"/>
          </a:xfrm>
          <a:prstGeom prst="rect">
            <a:avLst/>
          </a:prstGeom>
          <a:noFill/>
          <a:ln cap="flat" cmpd="sng" w="9525">
            <a:solidFill>
              <a:schemeClr val="dk2"/>
            </a:solidFill>
            <a:prstDash val="solid"/>
            <a:round/>
            <a:headEnd len="sm" w="sm" type="none"/>
            <a:tailEnd len="sm" w="sm" type="none"/>
          </a:ln>
        </p:spPr>
      </p:pic>
      <p:sp>
        <p:nvSpPr>
          <p:cNvPr id="270" name="Google Shape;270;g264618e237c_0_185"/>
          <p:cNvSpPr/>
          <p:nvPr/>
        </p:nvSpPr>
        <p:spPr>
          <a:xfrm>
            <a:off x="1005875" y="3786150"/>
            <a:ext cx="3267300" cy="337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2a9473fcf9c_0_5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Star vs Auto</a:t>
            </a:r>
            <a:endParaRPr/>
          </a:p>
        </p:txBody>
      </p:sp>
      <p:sp>
        <p:nvSpPr>
          <p:cNvPr id="276" name="Google Shape;276;g2a9473fcf9c_0_5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b="1" lang="en">
                <a:solidFill>
                  <a:srgbClr val="9900FF"/>
                </a:solidFill>
              </a:rPr>
              <a:t>Star</a:t>
            </a:r>
            <a:r>
              <a:rPr lang="en"/>
              <a:t>: use the left space available</a:t>
            </a:r>
            <a:endParaRPr/>
          </a:p>
          <a:p>
            <a:pPr indent="-393700" lvl="0" marL="457200" rtl="0" algn="l">
              <a:spcBef>
                <a:spcPts val="0"/>
              </a:spcBef>
              <a:spcAft>
                <a:spcPts val="0"/>
              </a:spcAft>
              <a:buSzPts val="2600"/>
              <a:buChar char="❏"/>
            </a:pPr>
            <a:r>
              <a:rPr b="1" lang="en">
                <a:solidFill>
                  <a:srgbClr val="9900FF"/>
                </a:solidFill>
              </a:rPr>
              <a:t>Auto</a:t>
            </a:r>
            <a:r>
              <a:rPr lang="en"/>
              <a:t>: content width will be the column width</a:t>
            </a:r>
            <a:endParaRPr/>
          </a:p>
        </p:txBody>
      </p:sp>
      <p:sp>
        <p:nvSpPr>
          <p:cNvPr id="277" name="Google Shape;277;g2a9473fcf9c_0_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264618e237c_0_9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FlexLayout</a:t>
            </a:r>
            <a:endParaRPr/>
          </a:p>
        </p:txBody>
      </p:sp>
      <p:sp>
        <p:nvSpPr>
          <p:cNvPr id="283" name="Google Shape;283;g264618e237c_0_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284" name="Google Shape;284;g264618e237c_0_98"/>
          <p:cNvPicPr preferRelativeResize="0"/>
          <p:nvPr/>
        </p:nvPicPr>
        <p:blipFill>
          <a:blip r:embed="rId3">
            <a:alphaModFix/>
          </a:blip>
          <a:stretch>
            <a:fillRect/>
          </a:stretch>
        </p:blipFill>
        <p:spPr>
          <a:xfrm>
            <a:off x="5418525" y="109275"/>
            <a:ext cx="2476325" cy="4315025"/>
          </a:xfrm>
          <a:prstGeom prst="rect">
            <a:avLst/>
          </a:prstGeom>
          <a:noFill/>
          <a:ln>
            <a:noFill/>
          </a:ln>
        </p:spPr>
      </p:pic>
      <p:sp>
        <p:nvSpPr>
          <p:cNvPr id="285" name="Google Shape;285;g264618e237c_0_98"/>
          <p:cNvSpPr txBox="1"/>
          <p:nvPr/>
        </p:nvSpPr>
        <p:spPr>
          <a:xfrm>
            <a:off x="5380550" y="4518525"/>
            <a:ext cx="2808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4"/>
              </a:rPr>
              <a:t>FlexLayout - .NET MAUI | Microsoft Learn</a:t>
            </a:r>
            <a:endParaRPr sz="1800">
              <a:solidFill>
                <a:srgbClr val="FFFFFF"/>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264618e237c_0_10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FlexLayout</a:t>
            </a:r>
            <a:endParaRPr/>
          </a:p>
        </p:txBody>
      </p:sp>
      <p:sp>
        <p:nvSpPr>
          <p:cNvPr id="291" name="Google Shape;291;g264618e237c_0_10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A</a:t>
            </a:r>
            <a:r>
              <a:rPr lang="en"/>
              <a:t>dapt to different screen sizes</a:t>
            </a:r>
            <a:endParaRPr/>
          </a:p>
          <a:p>
            <a:pPr indent="-393700" lvl="0" marL="457200" rtl="0" algn="l">
              <a:spcBef>
                <a:spcPts val="0"/>
              </a:spcBef>
              <a:spcAft>
                <a:spcPts val="0"/>
              </a:spcAft>
              <a:buSzPts val="2600"/>
              <a:buChar char="❏"/>
            </a:pPr>
            <a:r>
              <a:rPr lang="en"/>
              <a:t>Based on the Cascading Style Sheets (CSS) </a:t>
            </a:r>
            <a:r>
              <a:rPr b="1" lang="en">
                <a:solidFill>
                  <a:srgbClr val="0000FF"/>
                </a:solidFill>
              </a:rPr>
              <a:t>Flexible Box</a:t>
            </a:r>
            <a:r>
              <a:rPr lang="en"/>
              <a:t> Layout Module.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2" name="Google Shape;292;g264618e237c_0_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2a9473fcf9c_0_0"/>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FlexBox model 01</a:t>
            </a:r>
            <a:endParaRPr/>
          </a:p>
        </p:txBody>
      </p:sp>
      <p:sp>
        <p:nvSpPr>
          <p:cNvPr id="298" name="Google Shape;298;g2a9473fcf9c_0_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99" name="Google Shape;299;g2a9473fcf9c_0_0"/>
          <p:cNvSpPr txBox="1"/>
          <p:nvPr/>
        </p:nvSpPr>
        <p:spPr>
          <a:xfrm>
            <a:off x="1868575" y="4652100"/>
            <a:ext cx="5724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hlinkClick r:id="rId3"/>
              </a:rPr>
              <a:t>A Complete Guide to Flexbox | CSS-Tricks - CSS-Tricks</a:t>
            </a:r>
            <a:endParaRPr sz="1800">
              <a:solidFill>
                <a:srgbClr val="FFFFFF"/>
              </a:solidFill>
              <a:latin typeface="Roboto"/>
              <a:ea typeface="Roboto"/>
              <a:cs typeface="Roboto"/>
              <a:sym typeface="Roboto"/>
            </a:endParaRPr>
          </a:p>
        </p:txBody>
      </p:sp>
      <p:pic>
        <p:nvPicPr>
          <p:cNvPr id="300" name="Google Shape;300;g2a9473fcf9c_0_0"/>
          <p:cNvPicPr preferRelativeResize="0"/>
          <p:nvPr/>
        </p:nvPicPr>
        <p:blipFill>
          <a:blip r:embed="rId4">
            <a:alphaModFix/>
          </a:blip>
          <a:stretch>
            <a:fillRect/>
          </a:stretch>
        </p:blipFill>
        <p:spPr>
          <a:xfrm>
            <a:off x="152400" y="894900"/>
            <a:ext cx="3143250" cy="1266825"/>
          </a:xfrm>
          <a:prstGeom prst="rect">
            <a:avLst/>
          </a:prstGeom>
          <a:noFill/>
          <a:ln>
            <a:noFill/>
          </a:ln>
        </p:spPr>
      </p:pic>
      <p:pic>
        <p:nvPicPr>
          <p:cNvPr id="301" name="Google Shape;301;g2a9473fcf9c_0_0"/>
          <p:cNvPicPr preferRelativeResize="0"/>
          <p:nvPr/>
        </p:nvPicPr>
        <p:blipFill>
          <a:blip r:embed="rId5">
            <a:alphaModFix/>
          </a:blip>
          <a:stretch>
            <a:fillRect/>
          </a:stretch>
        </p:blipFill>
        <p:spPr>
          <a:xfrm>
            <a:off x="3895325" y="842500"/>
            <a:ext cx="3295650" cy="1371600"/>
          </a:xfrm>
          <a:prstGeom prst="rect">
            <a:avLst/>
          </a:prstGeom>
          <a:noFill/>
          <a:ln>
            <a:noFill/>
          </a:ln>
        </p:spPr>
      </p:pic>
      <p:pic>
        <p:nvPicPr>
          <p:cNvPr id="302" name="Google Shape;302;g2a9473fcf9c_0_0"/>
          <p:cNvPicPr preferRelativeResize="0"/>
          <p:nvPr/>
        </p:nvPicPr>
        <p:blipFill>
          <a:blip r:embed="rId6">
            <a:alphaModFix/>
          </a:blip>
          <a:stretch>
            <a:fillRect/>
          </a:stretch>
        </p:blipFill>
        <p:spPr>
          <a:xfrm>
            <a:off x="152400" y="2475838"/>
            <a:ext cx="3305175" cy="1914525"/>
          </a:xfrm>
          <a:prstGeom prst="rect">
            <a:avLst/>
          </a:prstGeom>
          <a:noFill/>
          <a:ln>
            <a:noFill/>
          </a:ln>
        </p:spPr>
      </p:pic>
      <p:pic>
        <p:nvPicPr>
          <p:cNvPr id="303" name="Google Shape;303;g2a9473fcf9c_0_0"/>
          <p:cNvPicPr preferRelativeResize="0"/>
          <p:nvPr/>
        </p:nvPicPr>
        <p:blipFill>
          <a:blip r:embed="rId7">
            <a:alphaModFix/>
          </a:blip>
          <a:stretch>
            <a:fillRect/>
          </a:stretch>
        </p:blipFill>
        <p:spPr>
          <a:xfrm>
            <a:off x="3974825" y="2442500"/>
            <a:ext cx="3514725" cy="1981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2a9473fcf9c_0_1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FlexBox model 02</a:t>
            </a:r>
            <a:endParaRPr/>
          </a:p>
        </p:txBody>
      </p:sp>
      <p:sp>
        <p:nvSpPr>
          <p:cNvPr id="309" name="Google Shape;309;g2a9473fcf9c_0_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10" name="Google Shape;310;g2a9473fcf9c_0_15"/>
          <p:cNvPicPr preferRelativeResize="0"/>
          <p:nvPr/>
        </p:nvPicPr>
        <p:blipFill>
          <a:blip r:embed="rId3">
            <a:alphaModFix/>
          </a:blip>
          <a:stretch>
            <a:fillRect/>
          </a:stretch>
        </p:blipFill>
        <p:spPr>
          <a:xfrm>
            <a:off x="152400" y="894900"/>
            <a:ext cx="3476625" cy="2219325"/>
          </a:xfrm>
          <a:prstGeom prst="rect">
            <a:avLst/>
          </a:prstGeom>
          <a:noFill/>
          <a:ln>
            <a:noFill/>
          </a:ln>
        </p:spPr>
      </p:pic>
      <p:pic>
        <p:nvPicPr>
          <p:cNvPr id="311" name="Google Shape;311;g2a9473fcf9c_0_15"/>
          <p:cNvPicPr preferRelativeResize="0"/>
          <p:nvPr/>
        </p:nvPicPr>
        <p:blipFill>
          <a:blip r:embed="rId4">
            <a:alphaModFix/>
          </a:blip>
          <a:stretch>
            <a:fillRect/>
          </a:stretch>
        </p:blipFill>
        <p:spPr>
          <a:xfrm>
            <a:off x="3781425" y="894900"/>
            <a:ext cx="2368419" cy="4096200"/>
          </a:xfrm>
          <a:prstGeom prst="rect">
            <a:avLst/>
          </a:prstGeom>
          <a:noFill/>
          <a:ln>
            <a:noFill/>
          </a:ln>
        </p:spPr>
      </p:pic>
      <p:pic>
        <p:nvPicPr>
          <p:cNvPr id="312" name="Google Shape;312;g2a9473fcf9c_0_15"/>
          <p:cNvPicPr preferRelativeResize="0"/>
          <p:nvPr/>
        </p:nvPicPr>
        <p:blipFill>
          <a:blip r:embed="rId5">
            <a:alphaModFix/>
          </a:blip>
          <a:stretch>
            <a:fillRect/>
          </a:stretch>
        </p:blipFill>
        <p:spPr>
          <a:xfrm>
            <a:off x="6302244" y="894900"/>
            <a:ext cx="2537485" cy="361591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2a9473fcf9c_0_25"/>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FlexBox model 03</a:t>
            </a:r>
            <a:endParaRPr/>
          </a:p>
        </p:txBody>
      </p:sp>
      <p:sp>
        <p:nvSpPr>
          <p:cNvPr id="318" name="Google Shape;318;g2a9473fcf9c_0_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19" name="Google Shape;319;g2a9473fcf9c_0_25"/>
          <p:cNvPicPr preferRelativeResize="0"/>
          <p:nvPr/>
        </p:nvPicPr>
        <p:blipFill>
          <a:blip r:embed="rId3">
            <a:alphaModFix/>
          </a:blip>
          <a:stretch>
            <a:fillRect/>
          </a:stretch>
        </p:blipFill>
        <p:spPr>
          <a:xfrm>
            <a:off x="152400" y="894900"/>
            <a:ext cx="2864140" cy="4096200"/>
          </a:xfrm>
          <a:prstGeom prst="rect">
            <a:avLst/>
          </a:prstGeom>
          <a:noFill/>
          <a:ln>
            <a:noFill/>
          </a:ln>
        </p:spPr>
      </p:pic>
      <p:pic>
        <p:nvPicPr>
          <p:cNvPr id="320" name="Google Shape;320;g2a9473fcf9c_0_25"/>
          <p:cNvPicPr preferRelativeResize="0"/>
          <p:nvPr/>
        </p:nvPicPr>
        <p:blipFill>
          <a:blip r:embed="rId4">
            <a:alphaModFix/>
          </a:blip>
          <a:stretch>
            <a:fillRect/>
          </a:stretch>
        </p:blipFill>
        <p:spPr>
          <a:xfrm>
            <a:off x="3168940" y="894900"/>
            <a:ext cx="3232436" cy="4096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2a9473fcf9c_0_3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FlexBox Froggy</a:t>
            </a:r>
            <a:endParaRPr/>
          </a:p>
        </p:txBody>
      </p:sp>
      <p:sp>
        <p:nvSpPr>
          <p:cNvPr id="326" name="Google Shape;326;g2a9473fcf9c_0_33"/>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To understand more about FlexBox, play this game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accent5"/>
                </a:solidFill>
                <a:hlinkClick r:id="rId3">
                  <a:extLst>
                    <a:ext uri="{A12FA001-AC4F-418D-AE19-62706E023703}">
                      <ahyp:hlinkClr val="tx"/>
                    </a:ext>
                  </a:extLst>
                </a:hlinkClick>
              </a:rPr>
              <a:t>https://flexboxfroggy.com</a:t>
            </a:r>
            <a:r>
              <a:rPr lang="en">
                <a:solidFill>
                  <a:schemeClr val="dk1"/>
                </a:solidFill>
              </a:rPr>
              <a:t> </a:t>
            </a:r>
            <a:endParaRPr/>
          </a:p>
        </p:txBody>
      </p:sp>
      <p:sp>
        <p:nvSpPr>
          <p:cNvPr id="327" name="Google Shape;327;g2a9473fcf9c_0_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28" name="Google Shape;328;g2a9473fcf9c_0_33"/>
          <p:cNvPicPr preferRelativeResize="0"/>
          <p:nvPr/>
        </p:nvPicPr>
        <p:blipFill>
          <a:blip r:embed="rId4">
            <a:alphaModFix/>
          </a:blip>
          <a:stretch>
            <a:fillRect/>
          </a:stretch>
        </p:blipFill>
        <p:spPr>
          <a:xfrm>
            <a:off x="2342250" y="2022425"/>
            <a:ext cx="4343503" cy="28296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264618e237c_0_20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Usage 01 - Wrap Item</a:t>
            </a:r>
            <a:endParaRPr/>
          </a:p>
        </p:txBody>
      </p:sp>
      <p:sp>
        <p:nvSpPr>
          <p:cNvPr id="334" name="Google Shape;334;g264618e237c_0_2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35" name="Google Shape;335;g264618e237c_0_206"/>
          <p:cNvPicPr preferRelativeResize="0"/>
          <p:nvPr/>
        </p:nvPicPr>
        <p:blipFill>
          <a:blip r:embed="rId3">
            <a:alphaModFix/>
          </a:blip>
          <a:stretch>
            <a:fillRect/>
          </a:stretch>
        </p:blipFill>
        <p:spPr>
          <a:xfrm>
            <a:off x="73375" y="2115872"/>
            <a:ext cx="4843176" cy="2619700"/>
          </a:xfrm>
          <a:prstGeom prst="rect">
            <a:avLst/>
          </a:prstGeom>
          <a:noFill/>
          <a:ln cap="flat" cmpd="sng" w="9525">
            <a:solidFill>
              <a:schemeClr val="dk2"/>
            </a:solidFill>
            <a:prstDash val="solid"/>
            <a:round/>
            <a:headEnd len="sm" w="sm" type="none"/>
            <a:tailEnd len="sm" w="sm" type="none"/>
          </a:ln>
        </p:spPr>
      </p:pic>
      <p:pic>
        <p:nvPicPr>
          <p:cNvPr id="336" name="Google Shape;336;g264618e237c_0_206"/>
          <p:cNvPicPr preferRelativeResize="0"/>
          <p:nvPr/>
        </p:nvPicPr>
        <p:blipFill>
          <a:blip r:embed="rId4">
            <a:alphaModFix/>
          </a:blip>
          <a:stretch>
            <a:fillRect/>
          </a:stretch>
        </p:blipFill>
        <p:spPr>
          <a:xfrm>
            <a:off x="73375" y="846500"/>
            <a:ext cx="8947776" cy="1101939"/>
          </a:xfrm>
          <a:prstGeom prst="rect">
            <a:avLst/>
          </a:prstGeom>
          <a:noFill/>
          <a:ln cap="flat" cmpd="sng" w="9525">
            <a:solidFill>
              <a:schemeClr val="dk2"/>
            </a:solidFill>
            <a:prstDash val="solid"/>
            <a:round/>
            <a:headEnd len="sm" w="sm" type="none"/>
            <a:tailEnd len="sm" w="sm" type="none"/>
          </a:ln>
        </p:spPr>
      </p:pic>
      <p:pic>
        <p:nvPicPr>
          <p:cNvPr id="337" name="Google Shape;337;g264618e237c_0_206"/>
          <p:cNvPicPr preferRelativeResize="0"/>
          <p:nvPr/>
        </p:nvPicPr>
        <p:blipFill>
          <a:blip r:embed="rId5">
            <a:alphaModFix/>
          </a:blip>
          <a:stretch>
            <a:fillRect/>
          </a:stretch>
        </p:blipFill>
        <p:spPr>
          <a:xfrm>
            <a:off x="5035725" y="2115875"/>
            <a:ext cx="3985425" cy="1404246"/>
          </a:xfrm>
          <a:prstGeom prst="rect">
            <a:avLst/>
          </a:prstGeom>
          <a:noFill/>
          <a:ln cap="flat" cmpd="sng" w="9525">
            <a:solidFill>
              <a:schemeClr val="dk2"/>
            </a:solidFill>
            <a:prstDash val="solid"/>
            <a:round/>
            <a:headEnd len="sm" w="sm" type="none"/>
            <a:tailEnd len="sm" w="sm" type="none"/>
          </a:ln>
        </p:spPr>
      </p:pic>
      <p:sp>
        <p:nvSpPr>
          <p:cNvPr id="338" name="Google Shape;338;g264618e237c_0_206"/>
          <p:cNvSpPr txBox="1"/>
          <p:nvPr/>
        </p:nvSpPr>
        <p:spPr>
          <a:xfrm>
            <a:off x="4986125" y="3860825"/>
            <a:ext cx="4333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Tip: Add </a:t>
            </a:r>
            <a:r>
              <a:rPr b="1" lang="en" sz="1800">
                <a:solidFill>
                  <a:srgbClr val="9900FF"/>
                </a:solidFill>
                <a:latin typeface="Roboto"/>
                <a:ea typeface="Roboto"/>
                <a:cs typeface="Roboto"/>
                <a:sym typeface="Roboto"/>
              </a:rPr>
              <a:t>ScrollView </a:t>
            </a:r>
            <a:r>
              <a:rPr lang="en" sz="1800">
                <a:solidFill>
                  <a:schemeClr val="dk1"/>
                </a:solidFill>
                <a:latin typeface="Roboto"/>
                <a:ea typeface="Roboto"/>
                <a:cs typeface="Roboto"/>
                <a:sym typeface="Roboto"/>
              </a:rPr>
              <a:t>for scrolling effect</a:t>
            </a:r>
            <a:endParaRPr sz="1800">
              <a:solidFill>
                <a:schemeClr val="dk1"/>
              </a:solidFill>
              <a:latin typeface="Roboto"/>
              <a:ea typeface="Roboto"/>
              <a:cs typeface="Roboto"/>
              <a:sym typeface="Roboto"/>
            </a:endParaRPr>
          </a:p>
        </p:txBody>
      </p:sp>
      <p:sp>
        <p:nvSpPr>
          <p:cNvPr id="339" name="Google Shape;339;g264618e237c_0_206"/>
          <p:cNvSpPr/>
          <p:nvPr/>
        </p:nvSpPr>
        <p:spPr>
          <a:xfrm>
            <a:off x="470825" y="2439775"/>
            <a:ext cx="2061600" cy="292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264618e237c_0_212"/>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Usage 02 - Page layout: Holy grail - Step 01</a:t>
            </a:r>
            <a:endParaRPr/>
          </a:p>
        </p:txBody>
      </p:sp>
      <p:sp>
        <p:nvSpPr>
          <p:cNvPr id="345" name="Google Shape;345;g264618e237c_0_2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46" name="Google Shape;346;g264618e237c_0_212"/>
          <p:cNvPicPr preferRelativeResize="0"/>
          <p:nvPr/>
        </p:nvPicPr>
        <p:blipFill>
          <a:blip r:embed="rId3">
            <a:alphaModFix/>
          </a:blip>
          <a:stretch>
            <a:fillRect/>
          </a:stretch>
        </p:blipFill>
        <p:spPr>
          <a:xfrm>
            <a:off x="5561375" y="865100"/>
            <a:ext cx="1857375" cy="1800225"/>
          </a:xfrm>
          <a:prstGeom prst="rect">
            <a:avLst/>
          </a:prstGeom>
          <a:noFill/>
          <a:ln cap="flat" cmpd="sng" w="9525">
            <a:solidFill>
              <a:schemeClr val="dk2"/>
            </a:solidFill>
            <a:prstDash val="solid"/>
            <a:round/>
            <a:headEnd len="sm" w="sm" type="none"/>
            <a:tailEnd len="sm" w="sm" type="none"/>
          </a:ln>
        </p:spPr>
      </p:pic>
      <p:pic>
        <p:nvPicPr>
          <p:cNvPr id="347" name="Google Shape;347;g264618e237c_0_212"/>
          <p:cNvPicPr preferRelativeResize="0"/>
          <p:nvPr/>
        </p:nvPicPr>
        <p:blipFill>
          <a:blip r:embed="rId4">
            <a:alphaModFix/>
          </a:blip>
          <a:stretch>
            <a:fillRect/>
          </a:stretch>
        </p:blipFill>
        <p:spPr>
          <a:xfrm>
            <a:off x="224025" y="865100"/>
            <a:ext cx="4671412" cy="4096200"/>
          </a:xfrm>
          <a:prstGeom prst="rect">
            <a:avLst/>
          </a:prstGeom>
          <a:noFill/>
          <a:ln cap="flat" cmpd="sng" w="9525">
            <a:solidFill>
              <a:schemeClr val="dk2"/>
            </a:solidFill>
            <a:prstDash val="solid"/>
            <a:round/>
            <a:headEnd len="sm" w="sm" type="none"/>
            <a:tailEnd len="sm" w="sm" type="none"/>
          </a:ln>
        </p:spPr>
      </p:pic>
      <p:sp>
        <p:nvSpPr>
          <p:cNvPr id="348" name="Google Shape;348;g264618e237c_0_212"/>
          <p:cNvSpPr/>
          <p:nvPr/>
        </p:nvSpPr>
        <p:spPr>
          <a:xfrm>
            <a:off x="2817875" y="2960550"/>
            <a:ext cx="948600" cy="428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2a9473fcf9c_0_63"/>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02 - Full page layout</a:t>
            </a:r>
            <a:endParaRPr/>
          </a:p>
        </p:txBody>
      </p:sp>
      <p:sp>
        <p:nvSpPr>
          <p:cNvPr id="354" name="Google Shape;354;g2a9473fcf9c_0_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55" name="Google Shape;355;g2a9473fcf9c_0_63"/>
          <p:cNvPicPr preferRelativeResize="0"/>
          <p:nvPr/>
        </p:nvPicPr>
        <p:blipFill>
          <a:blip r:embed="rId3">
            <a:alphaModFix/>
          </a:blip>
          <a:stretch>
            <a:fillRect/>
          </a:stretch>
        </p:blipFill>
        <p:spPr>
          <a:xfrm>
            <a:off x="4403025" y="1650824"/>
            <a:ext cx="4560425" cy="2407850"/>
          </a:xfrm>
          <a:prstGeom prst="rect">
            <a:avLst/>
          </a:prstGeom>
          <a:noFill/>
          <a:ln cap="flat" cmpd="sng" w="9525">
            <a:solidFill>
              <a:schemeClr val="dk2"/>
            </a:solidFill>
            <a:prstDash val="solid"/>
            <a:round/>
            <a:headEnd len="sm" w="sm" type="none"/>
            <a:tailEnd len="sm" w="sm" type="none"/>
          </a:ln>
        </p:spPr>
      </p:pic>
      <p:pic>
        <p:nvPicPr>
          <p:cNvPr id="356" name="Google Shape;356;g2a9473fcf9c_0_63"/>
          <p:cNvPicPr preferRelativeResize="0"/>
          <p:nvPr/>
        </p:nvPicPr>
        <p:blipFill>
          <a:blip r:embed="rId4">
            <a:alphaModFix/>
          </a:blip>
          <a:stretch>
            <a:fillRect/>
          </a:stretch>
        </p:blipFill>
        <p:spPr>
          <a:xfrm>
            <a:off x="192150" y="1282525"/>
            <a:ext cx="4098225" cy="2883097"/>
          </a:xfrm>
          <a:prstGeom prst="rect">
            <a:avLst/>
          </a:prstGeom>
          <a:noFill/>
          <a:ln cap="flat" cmpd="sng" w="9525">
            <a:solidFill>
              <a:schemeClr val="dk2"/>
            </a:solidFill>
            <a:prstDash val="solid"/>
            <a:round/>
            <a:headEnd len="sm" w="sm" type="none"/>
            <a:tailEnd len="sm" w="sm" type="none"/>
          </a:ln>
        </p:spPr>
      </p:pic>
      <p:sp>
        <p:nvSpPr>
          <p:cNvPr id="357" name="Google Shape;357;g2a9473fcf9c_0_63"/>
          <p:cNvSpPr txBox="1"/>
          <p:nvPr/>
        </p:nvSpPr>
        <p:spPr>
          <a:xfrm>
            <a:off x="1709550" y="4432850"/>
            <a:ext cx="5724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rgbClr val="FF0000"/>
                </a:solidFill>
                <a:latin typeface="Roboto"/>
                <a:ea typeface="Roboto"/>
                <a:cs typeface="Roboto"/>
                <a:sym typeface="Roboto"/>
              </a:rPr>
              <a:t>Basis</a:t>
            </a:r>
            <a:r>
              <a:rPr lang="en" sz="1800">
                <a:solidFill>
                  <a:schemeClr val="dk1"/>
                </a:solidFill>
                <a:latin typeface="Roboto"/>
                <a:ea typeface="Roboto"/>
                <a:cs typeface="Roboto"/>
                <a:sym typeface="Roboto"/>
              </a:rPr>
              <a:t>: Initial size before dynamic resizing</a:t>
            </a:r>
            <a:endParaRPr sz="1800">
              <a:solidFill>
                <a:schemeClr val="dk1"/>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2a9473fcf9c_0_6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Step 03 - Dynamic content</a:t>
            </a:r>
            <a:endParaRPr/>
          </a:p>
        </p:txBody>
      </p:sp>
      <p:sp>
        <p:nvSpPr>
          <p:cNvPr id="363" name="Google Shape;363;g2a9473fcf9c_0_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pic>
        <p:nvPicPr>
          <p:cNvPr id="364" name="Google Shape;364;g2a9473fcf9c_0_69"/>
          <p:cNvPicPr preferRelativeResize="0"/>
          <p:nvPr/>
        </p:nvPicPr>
        <p:blipFill>
          <a:blip r:embed="rId3">
            <a:alphaModFix/>
          </a:blip>
          <a:stretch>
            <a:fillRect/>
          </a:stretch>
        </p:blipFill>
        <p:spPr>
          <a:xfrm>
            <a:off x="152400" y="894900"/>
            <a:ext cx="4923300" cy="2394950"/>
          </a:xfrm>
          <a:prstGeom prst="rect">
            <a:avLst/>
          </a:prstGeom>
          <a:noFill/>
          <a:ln cap="flat" cmpd="sng" w="9525">
            <a:solidFill>
              <a:schemeClr val="dk2"/>
            </a:solidFill>
            <a:prstDash val="solid"/>
            <a:round/>
            <a:headEnd len="sm" w="sm" type="none"/>
            <a:tailEnd len="sm" w="sm" type="none"/>
          </a:ln>
        </p:spPr>
      </p:pic>
      <p:pic>
        <p:nvPicPr>
          <p:cNvPr id="365" name="Google Shape;365;g2a9473fcf9c_0_69"/>
          <p:cNvPicPr preferRelativeResize="0"/>
          <p:nvPr/>
        </p:nvPicPr>
        <p:blipFill>
          <a:blip r:embed="rId4">
            <a:alphaModFix/>
          </a:blip>
          <a:stretch>
            <a:fillRect/>
          </a:stretch>
        </p:blipFill>
        <p:spPr>
          <a:xfrm>
            <a:off x="5228100" y="894900"/>
            <a:ext cx="3091958" cy="403924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264618e237c_0_110"/>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Useful UI control</a:t>
            </a:r>
            <a:endParaRPr/>
          </a:p>
        </p:txBody>
      </p:sp>
      <p:sp>
        <p:nvSpPr>
          <p:cNvPr id="371" name="Google Shape;371;g264618e237c_0_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264618e237c_0_1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77" name="Google Shape;377;g264618e237c_0_134"/>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Some buttons</a:t>
            </a:r>
            <a:endParaRPr/>
          </a:p>
        </p:txBody>
      </p:sp>
      <p:sp>
        <p:nvSpPr>
          <p:cNvPr id="378" name="Google Shape;378;g264618e237c_0_134"/>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Switch</a:t>
            </a:r>
            <a:endParaRPr/>
          </a:p>
          <a:p>
            <a:pPr indent="-393700" lvl="0" marL="457200" rtl="0" algn="l">
              <a:spcBef>
                <a:spcPts val="0"/>
              </a:spcBef>
              <a:spcAft>
                <a:spcPts val="0"/>
              </a:spcAft>
              <a:buSzPts val="2600"/>
              <a:buChar char="❏"/>
            </a:pPr>
            <a:r>
              <a:rPr lang="en"/>
              <a:t>Slider</a:t>
            </a:r>
            <a:endParaRPr/>
          </a:p>
          <a:p>
            <a:pPr indent="-393700" lvl="0" marL="457200" rtl="0" algn="l">
              <a:spcBef>
                <a:spcPts val="0"/>
              </a:spcBef>
              <a:spcAft>
                <a:spcPts val="0"/>
              </a:spcAft>
              <a:buSzPts val="2600"/>
              <a:buChar char="❏"/>
            </a:pPr>
            <a:r>
              <a:rPr lang="en"/>
              <a:t>Progress</a:t>
            </a:r>
            <a:endParaRPr/>
          </a:p>
          <a:p>
            <a:pPr indent="-393700" lvl="0" marL="457200" rtl="0" algn="l">
              <a:spcBef>
                <a:spcPts val="0"/>
              </a:spcBef>
              <a:spcAft>
                <a:spcPts val="0"/>
              </a:spcAft>
              <a:buSzPts val="2600"/>
              <a:buChar char="❏"/>
            </a:pPr>
            <a:r>
              <a:rPr lang="en"/>
              <a:t>Date Time picker</a:t>
            </a:r>
            <a:endParaRPr/>
          </a:p>
          <a:p>
            <a:pPr indent="-393700" lvl="0" marL="457200" rtl="0" algn="l">
              <a:spcBef>
                <a:spcPts val="0"/>
              </a:spcBef>
              <a:spcAft>
                <a:spcPts val="0"/>
              </a:spcAft>
              <a:buSzPts val="2600"/>
              <a:buChar char="❏"/>
            </a:pPr>
            <a:r>
              <a:rPr lang="en"/>
              <a:t>CheckBox / RadioButton / GroupBox</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264618e237c_0_1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84" name="Google Shape;384;g264618e237c_0_139"/>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List of items </a:t>
            </a:r>
            <a:endParaRPr/>
          </a:p>
        </p:txBody>
      </p:sp>
      <p:sp>
        <p:nvSpPr>
          <p:cNvPr id="385" name="Google Shape;385;g264618e237c_0_139"/>
          <p:cNvSpPr txBox="1"/>
          <p:nvPr>
            <p:ph idx="1" type="body"/>
          </p:nvPr>
        </p:nvSpPr>
        <p:spPr>
          <a:xfrm>
            <a:off x="141300" y="914000"/>
            <a:ext cx="8932200" cy="4229400"/>
          </a:xfrm>
          <a:prstGeom prst="rect">
            <a:avLst/>
          </a:prstGeom>
        </p:spPr>
        <p:txBody>
          <a:bodyPr anchorCtr="0" anchor="t" bIns="91425" lIns="91425" spcFirstLastPara="1" rIns="91425" wrap="square" tIns="91425">
            <a:noAutofit/>
          </a:bodyPr>
          <a:lstStyle/>
          <a:p>
            <a:pPr indent="-393700" lvl="0" marL="457200" rtl="0" algn="l">
              <a:spcBef>
                <a:spcPts val="0"/>
              </a:spcBef>
              <a:spcAft>
                <a:spcPts val="0"/>
              </a:spcAft>
              <a:buSzPts val="2600"/>
              <a:buChar char="❏"/>
            </a:pPr>
            <a:r>
              <a:rPr lang="en"/>
              <a:t>ComboBox</a:t>
            </a:r>
            <a:endParaRPr/>
          </a:p>
          <a:p>
            <a:pPr indent="-393700" lvl="0" marL="457200" rtl="0" algn="l">
              <a:spcBef>
                <a:spcPts val="0"/>
              </a:spcBef>
              <a:spcAft>
                <a:spcPts val="0"/>
              </a:spcAft>
              <a:buSzPts val="2600"/>
              <a:buChar char="❏"/>
            </a:pPr>
            <a:r>
              <a:rPr lang="en"/>
              <a:t>ListBox</a:t>
            </a:r>
            <a:endParaRPr/>
          </a:p>
          <a:p>
            <a:pPr indent="-393700" lvl="0" marL="457200" rtl="0" algn="l">
              <a:spcBef>
                <a:spcPts val="0"/>
              </a:spcBef>
              <a:spcAft>
                <a:spcPts val="0"/>
              </a:spcAft>
              <a:buSzPts val="2600"/>
              <a:buChar char="❏"/>
            </a:pPr>
            <a:r>
              <a:rPr lang="en"/>
              <a:t>ListView</a:t>
            </a:r>
            <a:endParaRPr/>
          </a:p>
          <a:p>
            <a:pPr indent="-393700" lvl="0" marL="457200" rtl="0" algn="l">
              <a:spcBef>
                <a:spcPts val="0"/>
              </a:spcBef>
              <a:spcAft>
                <a:spcPts val="0"/>
              </a:spcAft>
              <a:buSzPts val="2600"/>
              <a:buChar char="❏"/>
            </a:pPr>
            <a:r>
              <a:rPr lang="en"/>
              <a:t>TreeView</a:t>
            </a:r>
            <a:endParaRPr/>
          </a:p>
          <a:p>
            <a:pPr indent="-393700" lvl="0" marL="457200" rtl="0" algn="l">
              <a:spcBef>
                <a:spcPts val="0"/>
              </a:spcBef>
              <a:spcAft>
                <a:spcPts val="0"/>
              </a:spcAft>
              <a:buSzPts val="2600"/>
              <a:buChar char="❏"/>
            </a:pPr>
            <a:r>
              <a:rPr lang="en"/>
              <a:t>DataGridView</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g3165ba077e6_0_0"/>
          <p:cNvSpPr txBox="1"/>
          <p:nvPr>
            <p:ph type="title"/>
          </p:nvPr>
        </p:nvSpPr>
        <p:spPr>
          <a:xfrm>
            <a:off x="540000" y="1281775"/>
            <a:ext cx="8064000" cy="224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binding</a:t>
            </a:r>
            <a:endParaRPr/>
          </a:p>
        </p:txBody>
      </p:sp>
      <p:sp>
        <p:nvSpPr>
          <p:cNvPr id="391" name="Google Shape;391;g3165ba077e6_0_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165ba077e6_0_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97" name="Google Shape;397;g3165ba077e6_0_6"/>
          <p:cNvSpPr txBox="1"/>
          <p:nvPr>
            <p:ph type="title"/>
          </p:nvPr>
        </p:nvSpPr>
        <p:spPr>
          <a:xfrm>
            <a:off x="141300" y="0"/>
            <a:ext cx="9012000" cy="74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Basic data binding</a:t>
            </a:r>
            <a:endParaRPr/>
          </a:p>
        </p:txBody>
      </p:sp>
      <p:pic>
        <p:nvPicPr>
          <p:cNvPr id="398" name="Google Shape;398;g3165ba077e6_0_6"/>
          <p:cNvPicPr preferRelativeResize="0"/>
          <p:nvPr/>
        </p:nvPicPr>
        <p:blipFill>
          <a:blip r:embed="rId3">
            <a:alphaModFix/>
          </a:blip>
          <a:stretch>
            <a:fillRect/>
          </a:stretch>
        </p:blipFill>
        <p:spPr>
          <a:xfrm>
            <a:off x="181063" y="3622500"/>
            <a:ext cx="8852675" cy="1196950"/>
          </a:xfrm>
          <a:prstGeom prst="rect">
            <a:avLst/>
          </a:prstGeom>
          <a:noFill/>
          <a:ln cap="flat" cmpd="sng" w="9525">
            <a:solidFill>
              <a:schemeClr val="dk2"/>
            </a:solidFill>
            <a:prstDash val="solid"/>
            <a:round/>
            <a:headEnd len="sm" w="sm" type="none"/>
            <a:tailEnd len="sm" w="sm" type="none"/>
          </a:ln>
        </p:spPr>
      </p:pic>
      <p:pic>
        <p:nvPicPr>
          <p:cNvPr id="399" name="Google Shape;399;g3165ba077e6_0_6"/>
          <p:cNvPicPr preferRelativeResize="0"/>
          <p:nvPr/>
        </p:nvPicPr>
        <p:blipFill>
          <a:blip r:embed="rId4">
            <a:alphaModFix/>
          </a:blip>
          <a:stretch>
            <a:fillRect/>
          </a:stretch>
        </p:blipFill>
        <p:spPr>
          <a:xfrm>
            <a:off x="152400" y="894900"/>
            <a:ext cx="4735469" cy="2575199"/>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