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obo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5ukblGUS5yzEnz2i01ar1wuA4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09290958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a09290958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09290958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09290958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09290958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a09290958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0a6bd155fcfe6e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0a6bd155fcfe6e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09290958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09290958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09290958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a0929095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09290958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09290958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ea5331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ea5331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09290958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09290958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2b7a193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2b7a193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6c533ff9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a6c533ff9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2b7a193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2b7a193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2b7a193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2b7a193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b8fad9e034f2ff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b8fad9e034f2ff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6c533ff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a6c533ff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2b7a193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2b7a193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2b7a1937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2b7a1937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2b7a193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2b7a193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ea77a10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ea77a10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673a0d1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a673a0d1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673a0d1b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673a0d1b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673a0d1b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673a0d1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673a0d1b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a673a0d1b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673a0d1b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673a0d1b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673a0d1b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a673a0d1b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a673a0d1b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a673a0d1b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8cbfe21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8cbfe21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a673a0d1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a673a0d1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673a0d1b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a673a0d1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6c3e3c4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a6c3e3c4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a6c533ff9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a6c533ff9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&lt;MauiIcon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Condition="$([MSBuild]::GetTargetPlatformIdentifier('$(TargetFramework)')) == 'android'"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Include="Resources\AppIcon\appicon.png"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Color="#512BD4" ForegroundScale="0.4" BaseSize="512,512"/&gt;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&lt;MauiIcon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Condition="$([MSBuild]::GetTargetPlatformIdentifier('$(TargetFramework)')) == 'windows'"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Include="Resources\AppIcon\appicon.png" /&gt;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6c533ff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6c533ff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a6c533ff9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a6c533ff9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eea77a10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eea77a10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b8fad9e034f2ff9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b8fad9e034f2ff9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b8fad9e034f2ff9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b8fad9e034f2ff9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7b8fad9e034f2ff9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7b8fad9e034f2ff9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b8fad9e034f2ff9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b8fad9e034f2ff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7b8fad9e034f2ff9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7b8fad9e034f2ff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7b8fad9e034f2ff9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7b8fad9e034f2ff9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7b8fad9e034f2ff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7b8fad9e034f2ff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7b8fad9e034f2ff9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7b8fad9e034f2ff9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7b8fad9e034f2ff9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7b8fad9e034f2ff9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893f2bd8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893f2bd8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7b8fad9e034f2ff9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7b8fad9e034f2ff9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6716bc6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6716bc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windows-dotnet-maui/tutorial-csharp-ui-maui-toolk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tnet.microsoft.com/en-us/apps/maui" TargetMode="External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22.png"/><Relationship Id="rId5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earn.microsoft.com/en-us/dotnet/maui/user-interface/images/app-icons?view=net-maui-8.0&amp;tabs=window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CommunityToolkit/Maui.Markup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cs.microsoft.com/dotnet/architecture/maui/" TargetMode="External"/><Relationship Id="rId4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tutorialspoint.com/mvvm/index.htm" TargetMode="External"/><Relationship Id="rId4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dotnet/maui-samples.gi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jsuarezruiz/dotnet-maui-showcase.git" TargetMode="External"/><Relationship Id="rId4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dotnet-architecture/eshop-mobile-client.git" TargetMode="External"/><Relationship Id="rId4" Type="http://schemas.openxmlformats.org/officeDocument/2006/relationships/image" Target="../media/image3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ithub.com/CommunityToolkit/Maui.Markup.git" TargetMode="External"/><Relationship Id="rId4" Type="http://schemas.openxmlformats.org/officeDocument/2006/relationships/image" Target="../media/image41.png"/><Relationship Id="rId5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learn.microsoft.com/en-us/windows/apps/windows-dotnet-maui/tutorial-csharp-ui-maui-toolk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.Net MAUI app using C# Markup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4091845"/>
            <a:ext cx="85206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3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https://learn.microsoft.com/en-us/windows/apps/windows-dotnet-maui/tutorial-csharp-ui-maui-toolkit</a:t>
            </a:r>
            <a:r>
              <a:rPr lang="en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MAUI?</a:t>
            </a:r>
            <a:endParaRPr/>
          </a:p>
        </p:txBody>
      </p:sp>
      <p:sp>
        <p:nvSpPr>
          <p:cNvPr id="68" name="Google Shape;68;g2964f5a7bf4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FF9900"/>
                </a:solidFill>
              </a:rPr>
              <a:t>C</a:t>
            </a:r>
            <a:r>
              <a:rPr b="1" lang="en">
                <a:solidFill>
                  <a:srgbClr val="FF9900"/>
                </a:solidFill>
              </a:rPr>
              <a:t>ross-platform</a:t>
            </a:r>
            <a:r>
              <a:rPr lang="en"/>
              <a:t> framework to develop apps for Windows, Android, iOS, macOS from a single </a:t>
            </a:r>
            <a:r>
              <a:rPr b="1" lang="en">
                <a:solidFill>
                  <a:srgbClr val="9900FF"/>
                </a:solidFill>
              </a:rPr>
              <a:t>shared code-base</a:t>
            </a:r>
            <a:endParaRPr b="1">
              <a:solidFill>
                <a:srgbClr val="9900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g2964f5a7bf4_0_0"/>
          <p:cNvSpPr txBox="1"/>
          <p:nvPr/>
        </p:nvSpPr>
        <p:spPr>
          <a:xfrm>
            <a:off x="1642650" y="4366600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https://dotnet.microsoft.com/en-us/apps/maui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1" name="Google Shape;71;g2964f5a7bf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075" y="2457375"/>
            <a:ext cx="6562399" cy="18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092909581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igh-level view of the architecture</a:t>
            </a:r>
            <a:endParaRPr/>
          </a:p>
        </p:txBody>
      </p:sp>
      <p:sp>
        <p:nvSpPr>
          <p:cNvPr id="77" name="Google Shape;77;g2a092909581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g2a09290958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602" y="810127"/>
            <a:ext cx="4683219" cy="41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092909581_0_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Written on Windows / Mac, compiled to native</a:t>
            </a:r>
            <a:endParaRPr/>
          </a:p>
        </p:txBody>
      </p:sp>
      <p:sp>
        <p:nvSpPr>
          <p:cNvPr id="84" name="Google Shape;84;g2a092909581_0_25"/>
          <p:cNvSpPr txBox="1"/>
          <p:nvPr>
            <p:ph idx="1" type="body"/>
          </p:nvPr>
        </p:nvSpPr>
        <p:spPr>
          <a:xfrm>
            <a:off x="105900" y="87227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Android</a:t>
            </a:r>
            <a:r>
              <a:rPr lang="en"/>
              <a:t>:  C# -&gt; intermediate language (</a:t>
            </a:r>
            <a:r>
              <a:rPr b="1" lang="en">
                <a:solidFill>
                  <a:srgbClr val="FF00FF"/>
                </a:solidFill>
              </a:rPr>
              <a:t>IL</a:t>
            </a:r>
            <a:r>
              <a:rPr lang="en"/>
              <a:t>). When launch, just-in-time (</a:t>
            </a:r>
            <a:r>
              <a:rPr b="1" lang="en">
                <a:solidFill>
                  <a:srgbClr val="FF00FF"/>
                </a:solidFill>
              </a:rPr>
              <a:t>JIT</a:t>
            </a:r>
            <a:r>
              <a:rPr lang="en"/>
              <a:t>) compiled to a native assembly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iOS</a:t>
            </a:r>
            <a:r>
              <a:rPr lang="en"/>
              <a:t>: fully ahead-of-time (</a:t>
            </a:r>
            <a:r>
              <a:rPr b="1" lang="en">
                <a:solidFill>
                  <a:srgbClr val="FF00FF"/>
                </a:solidFill>
              </a:rPr>
              <a:t>AOT</a:t>
            </a:r>
            <a:r>
              <a:rPr lang="en"/>
              <a:t>) compiled to  native ARM assembly code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macOS</a:t>
            </a:r>
            <a:r>
              <a:rPr lang="en"/>
              <a:t>: use Mac </a:t>
            </a:r>
            <a:r>
              <a:rPr b="1" lang="en">
                <a:solidFill>
                  <a:srgbClr val="FF00FF"/>
                </a:solidFill>
              </a:rPr>
              <a:t>Catalyst</a:t>
            </a:r>
            <a:r>
              <a:rPr lang="en"/>
              <a:t>, built with </a:t>
            </a:r>
            <a:r>
              <a:rPr b="1" lang="en">
                <a:solidFill>
                  <a:srgbClr val="FF00FF"/>
                </a:solidFill>
              </a:rPr>
              <a:t>UIKit </a:t>
            </a:r>
            <a:r>
              <a:rPr lang="en"/>
              <a:t>to the desktop, and augments with additional </a:t>
            </a:r>
            <a:r>
              <a:rPr b="1" lang="en">
                <a:solidFill>
                  <a:srgbClr val="FF00FF"/>
                </a:solidFill>
              </a:rPr>
              <a:t>AppKit </a:t>
            </a:r>
            <a:r>
              <a:rPr lang="en"/>
              <a:t>and platform APIs as required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Windows</a:t>
            </a:r>
            <a:r>
              <a:rPr lang="en"/>
              <a:t>:  use Windows UI 3 (</a:t>
            </a:r>
            <a:r>
              <a:rPr b="1" lang="en">
                <a:solidFill>
                  <a:srgbClr val="FF00FF"/>
                </a:solidFill>
              </a:rPr>
              <a:t>WinUI 3</a:t>
            </a:r>
            <a:r>
              <a:rPr lang="en"/>
              <a:t>) library to create native apps that target the Windows desktop</a:t>
            </a:r>
            <a:endParaRPr/>
          </a:p>
        </p:txBody>
      </p:sp>
      <p:sp>
        <p:nvSpPr>
          <p:cNvPr id="85" name="Google Shape;85;g2a092909581_0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092909581_0_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C# Markup?</a:t>
            </a:r>
            <a:endParaRPr/>
          </a:p>
        </p:txBody>
      </p:sp>
      <p:sp>
        <p:nvSpPr>
          <p:cNvPr id="91" name="Google Shape;91;g2a092909581_0_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One of the features of </a:t>
            </a:r>
            <a:r>
              <a:rPr b="1" lang="en">
                <a:solidFill>
                  <a:srgbClr val="0000FF"/>
                </a:solidFill>
              </a:rPr>
              <a:t>.NET MAUI Community Toolkit</a:t>
            </a:r>
            <a:r>
              <a:rPr lang="en"/>
              <a:t>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Extensions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Behaviors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Animations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Other helpers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 ability to </a:t>
            </a:r>
            <a:r>
              <a:rPr lang="en">
                <a:solidFill>
                  <a:srgbClr val="FF00FF"/>
                </a:solidFill>
              </a:rPr>
              <a:t>create a user interface entirely in C# code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2" name="Google Shape;92;g2a092909581_0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50a6bd155fcfe6eb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should we use C# markup instead of XAML?</a:t>
            </a:r>
            <a:endParaRPr/>
          </a:p>
        </p:txBody>
      </p:sp>
      <p:sp>
        <p:nvSpPr>
          <p:cNvPr id="98" name="Google Shape;98;g50a6bd155fcfe6eb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Char char="❏"/>
            </a:pPr>
            <a:r>
              <a:rPr lang="en">
                <a:solidFill>
                  <a:srgbClr val="0000FF"/>
                </a:solidFill>
              </a:rPr>
              <a:t>MVU style of React switch (Elm)</a:t>
            </a:r>
            <a:endParaRPr>
              <a:solidFill>
                <a:srgbClr val="0000FF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iOS: SwiftUI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Android: Jetpack Compose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Quick learning curve for C# developers</a:t>
            </a:r>
            <a:endParaRPr/>
          </a:p>
        </p:txBody>
      </p:sp>
      <p:sp>
        <p:nvSpPr>
          <p:cNvPr id="99" name="Google Shape;99;g50a6bd155fcfe6eb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092909581_0_3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C# markup Quick start guide</a:t>
            </a: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092909581_0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environment</a:t>
            </a:r>
            <a:endParaRPr/>
          </a:p>
        </p:txBody>
      </p:sp>
      <p:sp>
        <p:nvSpPr>
          <p:cNvPr id="110" name="Google Shape;110;g2a092909581_0_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Visual Studio Code</a:t>
            </a:r>
            <a:r>
              <a:rPr lang="en"/>
              <a:t>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Install extension: </a:t>
            </a:r>
            <a:r>
              <a:rPr b="1" lang="en">
                <a:solidFill>
                  <a:srgbClr val="0000FF"/>
                </a:solidFill>
              </a:rPr>
              <a:t>.Net Maui</a:t>
            </a:r>
            <a:endParaRPr b="1">
              <a:solidFill>
                <a:srgbClr val="0000FF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"/>
              <a:t>dotnet workload install maui</a:t>
            </a:r>
            <a:endParaRPr b="1"/>
          </a:p>
        </p:txBody>
      </p:sp>
      <p:sp>
        <p:nvSpPr>
          <p:cNvPr id="111" name="Google Shape;111;g2a092909581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g2a092909581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788" y="2749688"/>
            <a:ext cx="5229225" cy="2257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092909581_0_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project</a:t>
            </a:r>
            <a:endParaRPr/>
          </a:p>
        </p:txBody>
      </p:sp>
      <p:sp>
        <p:nvSpPr>
          <p:cNvPr id="118" name="Google Shape;118;g2a092909581_0_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Visual Studio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Visual Studio Code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"/>
              <a:t>Ctrl + Shift + P</a:t>
            </a:r>
            <a:r>
              <a:rPr lang="en"/>
              <a:t> &gt; New Project &gt; .Net Maui App Mobile Desktop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Choose folder &gt; Choose the name of the project</a:t>
            </a:r>
            <a:endParaRPr/>
          </a:p>
        </p:txBody>
      </p:sp>
      <p:sp>
        <p:nvSpPr>
          <p:cNvPr id="119" name="Google Shape;119;g2a092909581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g2a092909581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125" y="1528738"/>
            <a:ext cx="7448550" cy="1647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ea5331f4c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config</a:t>
            </a:r>
            <a:endParaRPr/>
          </a:p>
        </p:txBody>
      </p:sp>
      <p:sp>
        <p:nvSpPr>
          <p:cNvPr id="126" name="Google Shape;126;g34ea5331f4c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g34ea5331f4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31527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092909581_0_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Code: Create a launch.json file to build and run</a:t>
            </a:r>
            <a:endParaRPr/>
          </a:p>
        </p:txBody>
      </p:sp>
      <p:sp>
        <p:nvSpPr>
          <p:cNvPr id="133" name="Google Shape;133;g2a092909581_0_4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Open file </a:t>
            </a:r>
            <a:r>
              <a:rPr b="1" lang="en"/>
              <a:t>csproj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Click on Create a launch.json file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a092909581_0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g2a092909581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325" y="2101475"/>
            <a:ext cx="4505325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62b7a1937f_0_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result on Windows</a:t>
            </a:r>
            <a:endParaRPr/>
          </a:p>
        </p:txBody>
      </p:sp>
      <p:sp>
        <p:nvSpPr>
          <p:cNvPr id="141" name="Google Shape;141;g262b7a1937f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g262b7a1937f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989284" cy="40962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6c533ff90_0_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Switch to another platform - Visual Studio</a:t>
            </a:r>
            <a:endParaRPr/>
          </a:p>
        </p:txBody>
      </p:sp>
      <p:sp>
        <p:nvSpPr>
          <p:cNvPr id="148" name="Google Shape;148;g2a6c533ff90_0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g2a6c533ff90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175" y="1538288"/>
            <a:ext cx="7867650" cy="2066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g2a6c533ff90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875" y="3732038"/>
            <a:ext cx="2698834" cy="123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2b7a1937f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to </a:t>
            </a:r>
            <a:r>
              <a:rPr lang="en"/>
              <a:t>another platform - Visual Studio Code</a:t>
            </a:r>
            <a:endParaRPr/>
          </a:p>
        </p:txBody>
      </p:sp>
      <p:sp>
        <p:nvSpPr>
          <p:cNvPr id="156" name="Google Shape;156;g262b7a1937f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Click on the</a:t>
            </a:r>
            <a:r>
              <a:rPr b="1" lang="en">
                <a:solidFill>
                  <a:srgbClr val="FF0000"/>
                </a:solidFill>
              </a:rPr>
              <a:t> {} </a:t>
            </a:r>
            <a:r>
              <a:rPr lang="en"/>
              <a:t>button on the bottom right corner</a:t>
            </a:r>
            <a:endParaRPr/>
          </a:p>
        </p:txBody>
      </p:sp>
      <p:sp>
        <p:nvSpPr>
          <p:cNvPr id="157" name="Google Shape;157;g262b7a1937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g262b7a1937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13" y="1485750"/>
            <a:ext cx="33813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262b7a1937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8147" y="1638147"/>
            <a:ext cx="5323001" cy="26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2b7a1937f_0_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result on Android</a:t>
            </a:r>
            <a:endParaRPr/>
          </a:p>
        </p:txBody>
      </p:sp>
      <p:sp>
        <p:nvSpPr>
          <p:cNvPr id="165" name="Google Shape;165;g262b7a1937f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g262b7a1937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01" y="1104975"/>
            <a:ext cx="1629225" cy="348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62b7a1937f_0_16"/>
          <p:cNvSpPr txBox="1"/>
          <p:nvPr>
            <p:ph idx="1" type="body"/>
          </p:nvPr>
        </p:nvSpPr>
        <p:spPr>
          <a:xfrm>
            <a:off x="2454850" y="914000"/>
            <a:ext cx="66186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May need to install </a:t>
            </a:r>
            <a:r>
              <a:rPr b="1" lang="en"/>
              <a:t>Microsoft JDK 17 </a:t>
            </a:r>
            <a:r>
              <a:rPr lang="en"/>
              <a:t>(not 21)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May need to install Android Platform tool 35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Read the errors and instructions carefully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b8fad9e034f2ff9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</a:t>
            </a:r>
            <a:endParaRPr/>
          </a:p>
        </p:txBody>
      </p:sp>
      <p:sp>
        <p:nvSpPr>
          <p:cNvPr id="173" name="Google Shape;173;g7b8fad9e034f2ff9_0"/>
          <p:cNvSpPr txBox="1"/>
          <p:nvPr>
            <p:ph idx="1" type="body"/>
          </p:nvPr>
        </p:nvSpPr>
        <p:spPr>
          <a:xfrm>
            <a:off x="2389175" y="914000"/>
            <a:ext cx="66846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platforms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Android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iOS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Mac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Windows</a:t>
            </a:r>
            <a:endParaRPr/>
          </a:p>
        </p:txBody>
      </p:sp>
      <p:sp>
        <p:nvSpPr>
          <p:cNvPr id="174" name="Google Shape;174;g7b8fad9e034f2ff9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g7b8fad9e034f2ff9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1841750" cy="40962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6c533ff90_0_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 point &amp; flow of execution</a:t>
            </a:r>
            <a:endParaRPr/>
          </a:p>
        </p:txBody>
      </p:sp>
      <p:sp>
        <p:nvSpPr>
          <p:cNvPr id="181" name="Google Shape;181;g2a6c533ff90_0_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g2a6c533ff90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1242900"/>
            <a:ext cx="3363157" cy="199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g2a6c533ff90_0_35"/>
          <p:cNvSpPr txBox="1"/>
          <p:nvPr/>
        </p:nvSpPr>
        <p:spPr>
          <a:xfrm>
            <a:off x="62600" y="781200"/>
            <a:ext cx="220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MauiProgram.cs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2a6c533ff90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125" y="1242900"/>
            <a:ext cx="3334676" cy="1924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g2a6c533ff90_0_35"/>
          <p:cNvSpPr txBox="1"/>
          <p:nvPr/>
        </p:nvSpPr>
        <p:spPr>
          <a:xfrm>
            <a:off x="4803125" y="781200"/>
            <a:ext cx="220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App.xaml.cs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g2a6c533ff90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7500" y="3600725"/>
            <a:ext cx="6906199" cy="145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7" name="Google Shape;187;g2a6c533ff90_0_35"/>
          <p:cNvSpPr/>
          <p:nvPr/>
        </p:nvSpPr>
        <p:spPr>
          <a:xfrm>
            <a:off x="3696275" y="1921775"/>
            <a:ext cx="915000" cy="29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2a6c533ff90_0_35"/>
          <p:cNvSpPr/>
          <p:nvPr/>
        </p:nvSpPr>
        <p:spPr>
          <a:xfrm>
            <a:off x="6340113" y="3238088"/>
            <a:ext cx="260700" cy="292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2a6c533ff90_0_35"/>
          <p:cNvSpPr txBox="1"/>
          <p:nvPr/>
        </p:nvSpPr>
        <p:spPr>
          <a:xfrm>
            <a:off x="62600" y="4097950"/>
            <a:ext cx="17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AppShell.xaml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2b7a1937f_0_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VSCode: Install Nuget Gallery extension</a:t>
            </a:r>
            <a:endParaRPr/>
          </a:p>
        </p:txBody>
      </p:sp>
      <p:sp>
        <p:nvSpPr>
          <p:cNvPr id="195" name="Google Shape;195;g262b7a1937f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g262b7a1937f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25" y="988800"/>
            <a:ext cx="8167659" cy="196401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g262b7a1937f_0_23"/>
          <p:cNvSpPr txBox="1"/>
          <p:nvPr/>
        </p:nvSpPr>
        <p:spPr>
          <a:xfrm>
            <a:off x="552950" y="3382400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Ctrl + Shift + P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&gt; NuGet: Open NuGet Gallery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8" name="Google Shape;198;g262b7a1937f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025" y="3902600"/>
            <a:ext cx="2410910" cy="9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2b7a1937f_0_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C# Markup using Community Toolkit</a:t>
            </a:r>
            <a:endParaRPr/>
          </a:p>
        </p:txBody>
      </p:sp>
      <p:sp>
        <p:nvSpPr>
          <p:cNvPr id="204" name="Google Shape;204;g262b7a1937f_0_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CommunityToolkit.Maui.Markup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101FD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dotnet</a:t>
            </a:r>
            <a:r>
              <a:rPr lang="en" sz="105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101FD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105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 package CommunityToolkit.Maui.Markup</a:t>
            </a:r>
            <a:endParaRPr sz="105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262b7a1937f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2b7a1937f_0_4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UI with C# Markup</a:t>
            </a:r>
            <a:endParaRPr/>
          </a:p>
        </p:txBody>
      </p:sp>
      <p:sp>
        <p:nvSpPr>
          <p:cNvPr id="211" name="Google Shape;211;g262b7a1937f_0_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g262b7a1937f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1368500"/>
            <a:ext cx="368617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62b7a1937f_0_48"/>
          <p:cNvSpPr txBox="1"/>
          <p:nvPr/>
        </p:nvSpPr>
        <p:spPr>
          <a:xfrm>
            <a:off x="141300" y="824650"/>
            <a:ext cx="21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MauiProgram.cs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262b7a1937f_0_48"/>
          <p:cNvSpPr txBox="1"/>
          <p:nvPr/>
        </p:nvSpPr>
        <p:spPr>
          <a:xfrm>
            <a:off x="3999675" y="906800"/>
            <a:ext cx="42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MainPage.xaml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Delete the file content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5" name="Google Shape;215;g262b7a1937f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9673" y="1368500"/>
            <a:ext cx="5021476" cy="10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262b7a1937f_0_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7450" y="3877800"/>
            <a:ext cx="1981200" cy="87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g262b7a1937f_0_48"/>
          <p:cNvSpPr txBox="1"/>
          <p:nvPr/>
        </p:nvSpPr>
        <p:spPr>
          <a:xfrm>
            <a:off x="4097450" y="3125700"/>
            <a:ext cx="422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MainPage.xaml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CommunityToolkit.Maui.Markup;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g262b7a1937f_0_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300" y="3829575"/>
            <a:ext cx="235267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62b7a1937f_0_48"/>
          <p:cNvSpPr/>
          <p:nvPr/>
        </p:nvSpPr>
        <p:spPr>
          <a:xfrm>
            <a:off x="4755275" y="2539200"/>
            <a:ext cx="289200" cy="586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262b7a1937f_0_48"/>
          <p:cNvSpPr/>
          <p:nvPr/>
        </p:nvSpPr>
        <p:spPr>
          <a:xfrm>
            <a:off x="2797225" y="4157250"/>
            <a:ext cx="848700" cy="337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g262b7a1937f_0_48"/>
          <p:cNvSpPr/>
          <p:nvPr/>
        </p:nvSpPr>
        <p:spPr>
          <a:xfrm>
            <a:off x="4345750" y="4157225"/>
            <a:ext cx="1932600" cy="49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ea77a1083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emoving the AppShell (for simplicity)</a:t>
            </a:r>
            <a:endParaRPr/>
          </a:p>
        </p:txBody>
      </p:sp>
      <p:sp>
        <p:nvSpPr>
          <p:cNvPr id="227" name="Google Shape;227;g2eea77a1083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Delete two files: (We will talk about Shell later)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AppShell.xaml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AppShell.xaml.cs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Modify </a:t>
            </a:r>
            <a:r>
              <a:rPr b="1" lang="en"/>
              <a:t>App.xaml.cs</a:t>
            </a:r>
            <a:r>
              <a:rPr lang="en"/>
              <a:t> to display our MainPage</a:t>
            </a:r>
            <a:endParaRPr/>
          </a:p>
        </p:txBody>
      </p:sp>
      <p:sp>
        <p:nvSpPr>
          <p:cNvPr id="228" name="Google Shape;228;g2eea77a1083_0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g2eea77a1083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2762550"/>
            <a:ext cx="2857500" cy="1695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0" name="Google Shape;230;g2eea77a1083_0_1"/>
          <p:cNvSpPr/>
          <p:nvPr/>
        </p:nvSpPr>
        <p:spPr>
          <a:xfrm>
            <a:off x="3681000" y="3799000"/>
            <a:ext cx="20316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673a0d1b7_0_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Artifacts</a:t>
            </a:r>
            <a:endParaRPr/>
          </a:p>
        </p:txBody>
      </p:sp>
      <p:sp>
        <p:nvSpPr>
          <p:cNvPr id="236" name="Google Shape;236;g2a673a0d1b7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a673a0d1b7_0_1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a build only</a:t>
            </a:r>
            <a:endParaRPr/>
          </a:p>
        </p:txBody>
      </p:sp>
      <p:sp>
        <p:nvSpPr>
          <p:cNvPr id="242" name="Google Shape;242;g2a673a0d1b7_0_1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Ctrl + Shift + P</a:t>
            </a:r>
            <a:r>
              <a:rPr lang="en"/>
              <a:t> &gt; .Net Build</a:t>
            </a:r>
            <a:endParaRPr/>
          </a:p>
        </p:txBody>
      </p:sp>
      <p:sp>
        <p:nvSpPr>
          <p:cNvPr id="243" name="Google Shape;243;g2a673a0d1b7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g2a673a0d1b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13" y="1681163"/>
            <a:ext cx="8258175" cy="1781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673a0d1b7_0_1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</a:t>
            </a:r>
            <a:endParaRPr/>
          </a:p>
        </p:txBody>
      </p:sp>
      <p:sp>
        <p:nvSpPr>
          <p:cNvPr id="250" name="Google Shape;250;g2a673a0d1b7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673a0d1b7_0_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MainPage.xaml.cs &amp; set breakpoint</a:t>
            </a:r>
            <a:endParaRPr/>
          </a:p>
        </p:txBody>
      </p:sp>
      <p:sp>
        <p:nvSpPr>
          <p:cNvPr id="256" name="Google Shape;256;g2a673a0d1b7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7" name="Google Shape;257;g2a673a0d1b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413" y="914775"/>
            <a:ext cx="2981325" cy="190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8" name="Google Shape;258;g2a673a0d1b7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313" y="914775"/>
            <a:ext cx="2828925" cy="828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g2a673a0d1b7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0363" y="2094625"/>
            <a:ext cx="2790825" cy="246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0" name="Google Shape;260;g2a673a0d1b7_0_23"/>
          <p:cNvSpPr txBox="1"/>
          <p:nvPr>
            <p:ph idx="1" type="body"/>
          </p:nvPr>
        </p:nvSpPr>
        <p:spPr>
          <a:xfrm>
            <a:off x="141300" y="2992050"/>
            <a:ext cx="8932200" cy="21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Continue: F5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Step over: F10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Step into: F11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Step out: Shift+F11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a673a0d1b7_0_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debug info into console</a:t>
            </a:r>
            <a:endParaRPr/>
          </a:p>
        </p:txBody>
      </p:sp>
      <p:sp>
        <p:nvSpPr>
          <p:cNvPr id="266" name="Google Shape;266;g2a673a0d1b7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g2a673a0d1b7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295775" cy="3533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673a0d1b7_0_4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</a:t>
            </a:r>
            <a:endParaRPr/>
          </a:p>
        </p:txBody>
      </p:sp>
      <p:sp>
        <p:nvSpPr>
          <p:cNvPr id="273" name="Google Shape;273;g2a673a0d1b7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673a0d1b7_0_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TODO Tree Extension</a:t>
            </a:r>
            <a:endParaRPr/>
          </a:p>
        </p:txBody>
      </p:sp>
      <p:sp>
        <p:nvSpPr>
          <p:cNvPr id="279" name="Google Shape;279;g2a673a0d1b7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0" name="Google Shape;280;g2a673a0d1b7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305550" cy="2695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8cbfe219d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code behind extension</a:t>
            </a:r>
            <a:endParaRPr/>
          </a:p>
        </p:txBody>
      </p:sp>
      <p:sp>
        <p:nvSpPr>
          <p:cNvPr id="286" name="Google Shape;286;g318cbfe219d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switch between code &amp; markup file</a:t>
            </a:r>
            <a:endParaRPr/>
          </a:p>
        </p:txBody>
      </p:sp>
      <p:sp>
        <p:nvSpPr>
          <p:cNvPr id="287" name="Google Shape;287;g318cbfe219d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673a0d1b7_0_3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icon &amp; Splash screen</a:t>
            </a:r>
            <a:endParaRPr/>
          </a:p>
        </p:txBody>
      </p:sp>
      <p:sp>
        <p:nvSpPr>
          <p:cNvPr id="293" name="Google Shape;293;g2a673a0d1b7_0_30"/>
          <p:cNvSpPr txBox="1"/>
          <p:nvPr/>
        </p:nvSpPr>
        <p:spPr>
          <a:xfrm>
            <a:off x="427650" y="4201525"/>
            <a:ext cx="859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https://learn.microsoft.com/en-us/dotnet/maui/user-interface/images/app-icons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673a0d1b7_0_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color highlight</a:t>
            </a:r>
            <a:endParaRPr/>
          </a:p>
        </p:txBody>
      </p:sp>
      <p:sp>
        <p:nvSpPr>
          <p:cNvPr id="299" name="Google Shape;299;g2a673a0d1b7_0_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Visual Studio</a:t>
            </a:r>
            <a:r>
              <a:rPr lang="en"/>
              <a:t>: Right Click &gt; Edit project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(Install </a:t>
            </a:r>
            <a:r>
              <a:rPr b="1" lang="en"/>
              <a:t>Inline Color Picker</a:t>
            </a:r>
            <a:r>
              <a:rPr lang="en"/>
              <a:t> extension)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Visual Studio Code</a:t>
            </a:r>
            <a:r>
              <a:rPr lang="en"/>
              <a:t>: Open .csproj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(Install </a:t>
            </a:r>
            <a:r>
              <a:rPr b="1" lang="en"/>
              <a:t>Color highlight</a:t>
            </a:r>
            <a:r>
              <a:rPr lang="en"/>
              <a:t> </a:t>
            </a:r>
            <a:r>
              <a:rPr lang="en"/>
              <a:t>extension)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2a673a0d1b7_0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1" name="Google Shape;301;g2a673a0d1b7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3358451"/>
            <a:ext cx="8346451" cy="115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2" name="Google Shape;302;g2a673a0d1b7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1150" y="1960125"/>
            <a:ext cx="4036100" cy="84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6c3e3c4bc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Replace </a:t>
            </a:r>
            <a:r>
              <a:rPr b="1" lang="en" sz="2900"/>
              <a:t>appicon</a:t>
            </a:r>
            <a:r>
              <a:rPr lang="en" sz="2900"/>
              <a:t>.svg with your image (keep the name)</a:t>
            </a:r>
            <a:endParaRPr sz="2900"/>
          </a:p>
        </p:txBody>
      </p:sp>
      <p:sp>
        <p:nvSpPr>
          <p:cNvPr id="308" name="Google Shape;308;g2a6c3e3c4bc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g2a6c3e3c4bc_0_7"/>
          <p:cNvSpPr txBox="1"/>
          <p:nvPr>
            <p:ph idx="1" type="body"/>
          </p:nvPr>
        </p:nvSpPr>
        <p:spPr>
          <a:xfrm>
            <a:off x="141300" y="4248350"/>
            <a:ext cx="89322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(Install extension </a:t>
            </a:r>
            <a:r>
              <a:rPr b="1" lang="en"/>
              <a:t>Image Preview</a:t>
            </a:r>
            <a:r>
              <a:rPr lang="en"/>
              <a:t> for hover effect)</a:t>
            </a:r>
            <a:endParaRPr/>
          </a:p>
        </p:txBody>
      </p:sp>
      <p:pic>
        <p:nvPicPr>
          <p:cNvPr id="310" name="Google Shape;310;g2a6c3e3c4b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425" y="915750"/>
            <a:ext cx="4867275" cy="2962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a6c533ff90_0_7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for Android</a:t>
            </a:r>
            <a:endParaRPr/>
          </a:p>
        </p:txBody>
      </p:sp>
      <p:sp>
        <p:nvSpPr>
          <p:cNvPr id="316" name="Google Shape;316;g2a6c533ff90_0_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7" name="Google Shape;317;g2a6c533ff90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199" cy="16037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6c533ff90_0_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reload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a6c533ff90_0_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328" name="Google Shape;328;g2a6c533ff90_0_4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Make change in the source code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Click on </a:t>
            </a:r>
            <a:r>
              <a:rPr b="1" lang="en">
                <a:solidFill>
                  <a:srgbClr val="0000FF"/>
                </a:solidFill>
              </a:rPr>
              <a:t>Hot reload</a:t>
            </a:r>
            <a:r>
              <a:rPr lang="en"/>
              <a:t> button to see changes </a:t>
            </a:r>
            <a:r>
              <a:rPr b="1" lang="en"/>
              <a:t>immediately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Only on Windows with Visual Studio not VS Code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329" name="Google Shape;329;g2a6c533ff90_0_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0" name="Google Shape;330;g2a6c533ff90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675" y="2167388"/>
            <a:ext cx="5334000" cy="600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ea77a1083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g2eea77a1083_0_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by default in pre-release version</a:t>
            </a:r>
            <a:endParaRPr/>
          </a:p>
        </p:txBody>
      </p:sp>
      <p:sp>
        <p:nvSpPr>
          <p:cNvPr id="337" name="Google Shape;337;g2eea77a1083_0_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Check maui.markup samples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https://github.com/CommunityToolkit/Maui.Markup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C# Hot Reload with </a:t>
            </a:r>
            <a:r>
              <a:rPr b="1" lang="en">
                <a:solidFill>
                  <a:srgbClr val="38761D"/>
                </a:solidFill>
              </a:rPr>
              <a:t>Android</a:t>
            </a:r>
            <a:r>
              <a:rPr lang="en"/>
              <a:t> and </a:t>
            </a:r>
            <a:r>
              <a:rPr b="1" lang="en">
                <a:solidFill>
                  <a:srgbClr val="38761D"/>
                </a:solidFill>
              </a:rPr>
              <a:t>WinUI</a:t>
            </a:r>
            <a:r>
              <a:rPr lang="en"/>
              <a:t> should work, but </a:t>
            </a:r>
            <a:r>
              <a:rPr b="1" lang="en">
                <a:solidFill>
                  <a:srgbClr val="FF0000"/>
                </a:solidFill>
              </a:rPr>
              <a:t>iOS</a:t>
            </a:r>
            <a:r>
              <a:rPr lang="en">
                <a:solidFill>
                  <a:srgbClr val="FF0000"/>
                </a:solidFill>
              </a:rPr>
              <a:t>/</a:t>
            </a:r>
            <a:r>
              <a:rPr b="1" lang="en">
                <a:solidFill>
                  <a:srgbClr val="FF0000"/>
                </a:solidFill>
              </a:rPr>
              <a:t>Catalyst</a:t>
            </a:r>
            <a:r>
              <a:rPr lang="en">
                <a:solidFill>
                  <a:srgbClr val="FF0000"/>
                </a:solidFill>
              </a:rPr>
              <a:t> aren't yet supported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7b8fad9e034f2ff9_5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343" name="Google Shape;343;g7b8fad9e034f2ff9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7b8fad9e034f2ff9_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Enterprise Application Patterns Using .NET MAUI</a:t>
            </a:r>
            <a:endParaRPr/>
          </a:p>
        </p:txBody>
      </p:sp>
      <p:sp>
        <p:nvSpPr>
          <p:cNvPr id="349" name="Google Shape;349;g7b8fad9e034f2ff9_5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https://docs.microsoft.com/dotnet/architecture/maui/</a:t>
            </a:r>
            <a:r>
              <a:rPr lang="en"/>
              <a:t> </a:t>
            </a:r>
            <a:endParaRPr/>
          </a:p>
        </p:txBody>
      </p:sp>
      <p:sp>
        <p:nvSpPr>
          <p:cNvPr id="350" name="Google Shape;350;g7b8fad9e034f2ff9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1" name="Google Shape;351;g7b8fad9e034f2ff9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900" y="1502825"/>
            <a:ext cx="2747300" cy="35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7b8fad9e034f2ff9_7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MVVM Tutorial</a:t>
            </a:r>
            <a:endParaRPr/>
          </a:p>
        </p:txBody>
      </p:sp>
      <p:sp>
        <p:nvSpPr>
          <p:cNvPr id="357" name="Google Shape;357;g7b8fad9e034f2ff9_7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https://www.tutorialspoint.com/mvvm/index.htm</a:t>
            </a:r>
            <a:r>
              <a:rPr lang="en"/>
              <a:t> </a:t>
            </a:r>
            <a:endParaRPr/>
          </a:p>
        </p:txBody>
      </p:sp>
      <p:sp>
        <p:nvSpPr>
          <p:cNvPr id="358" name="Google Shape;358;g7b8fad9e034f2ff9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g7b8fad9e034f2ff9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8375" y="1722850"/>
            <a:ext cx="71437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b8fad9e034f2ff9_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from sample code</a:t>
            </a:r>
            <a:endParaRPr/>
          </a:p>
        </p:txBody>
      </p:sp>
      <p:sp>
        <p:nvSpPr>
          <p:cNvPr id="365" name="Google Shape;365;g7b8fad9e034f2ff9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7b8fad9e034f2ff9_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https://github.com/dotnet/maui-samples</a:t>
            </a:r>
            <a:endParaRPr/>
          </a:p>
        </p:txBody>
      </p:sp>
      <p:sp>
        <p:nvSpPr>
          <p:cNvPr id="371" name="Google Shape;371;g7b8fad9e034f2ff9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2" name="Google Shape;372;g7b8fad9e034f2ff9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22100"/>
            <a:ext cx="5257800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7b8fad9e034f2ff9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6225" y="922100"/>
            <a:ext cx="2981325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7b8fad9e034f2ff9_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 this sample repo</a:t>
            </a:r>
            <a:endParaRPr/>
          </a:p>
        </p:txBody>
      </p:sp>
      <p:sp>
        <p:nvSpPr>
          <p:cNvPr id="379" name="Google Shape;379;g7b8fad9e034f2ff9_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b="1" lang="en"/>
              <a:t>$git clone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https://github.com/dotnet/maui-samples.git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Open folder </a:t>
            </a:r>
            <a:r>
              <a:rPr b="1" lang="en">
                <a:solidFill>
                  <a:srgbClr val="2196F3"/>
                </a:solidFill>
              </a:rPr>
              <a:t>9.0</a:t>
            </a:r>
            <a:endParaRPr b="1">
              <a:solidFill>
                <a:srgbClr val="2196F3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Investigate sample source codes</a:t>
            </a:r>
            <a:endParaRPr/>
          </a:p>
        </p:txBody>
      </p:sp>
      <p:sp>
        <p:nvSpPr>
          <p:cNvPr id="380" name="Google Shape;380;g7b8fad9e034f2ff9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7b8fad9e034f2ff9_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Maui showcase - Good looking samples</a:t>
            </a:r>
            <a:endParaRPr/>
          </a:p>
        </p:txBody>
      </p:sp>
      <p:sp>
        <p:nvSpPr>
          <p:cNvPr id="386" name="Google Shape;386;g7b8fad9e034f2ff9_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$ git clone </a:t>
            </a:r>
            <a:r>
              <a:rPr b="1" lang="en" sz="2200" u="sng">
                <a:solidFill>
                  <a:schemeClr val="hlink"/>
                </a:solidFill>
                <a:hlinkClick r:id="rId3"/>
              </a:rPr>
              <a:t>https://github.com/jsuarezruiz/dotnet-maui-showcase.git</a:t>
            </a:r>
            <a:r>
              <a:rPr b="1" lang="en" sz="2200"/>
              <a:t> </a:t>
            </a:r>
            <a:endParaRPr b="1" sz="2200"/>
          </a:p>
        </p:txBody>
      </p:sp>
      <p:sp>
        <p:nvSpPr>
          <p:cNvPr id="387" name="Google Shape;387;g7b8fad9e034f2ff9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8" name="Google Shape;388;g7b8fad9e034f2ff9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300" y="1498400"/>
            <a:ext cx="6239499" cy="34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b8fad9e034f2ff9_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eShop mobile client</a:t>
            </a:r>
            <a:endParaRPr/>
          </a:p>
        </p:txBody>
      </p:sp>
      <p:sp>
        <p:nvSpPr>
          <p:cNvPr id="394" name="Google Shape;394;g7b8fad9e034f2ff9_4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$ git clone </a:t>
            </a:r>
            <a:r>
              <a:rPr b="1" lang="en" sz="2000" u="sng">
                <a:solidFill>
                  <a:schemeClr val="hlink"/>
                </a:solidFill>
                <a:hlinkClick r:id="rId3"/>
              </a:rPr>
              <a:t>https://github.com/dotnet-architecture/eshop-mobile-client.git</a:t>
            </a:r>
            <a:r>
              <a:rPr b="1" lang="en" sz="2000"/>
              <a:t> </a:t>
            </a:r>
            <a:endParaRPr b="1" sz="2000"/>
          </a:p>
        </p:txBody>
      </p:sp>
      <p:sp>
        <p:nvSpPr>
          <p:cNvPr id="395" name="Google Shape;395;g7b8fad9e034f2ff9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6" name="Google Shape;396;g7b8fad9e034f2ff9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0700" y="1386903"/>
            <a:ext cx="6729325" cy="36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7b8fad9e034f2ff9_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Markup community toolkit samples</a:t>
            </a:r>
            <a:endParaRPr/>
          </a:p>
        </p:txBody>
      </p:sp>
      <p:sp>
        <p:nvSpPr>
          <p:cNvPr id="402" name="Google Shape;402;g7b8fad9e034f2ff9_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$ git clone </a:t>
            </a:r>
            <a:r>
              <a:rPr b="1" lang="en" sz="2300" u="sng">
                <a:solidFill>
                  <a:schemeClr val="hlink"/>
                </a:solidFill>
                <a:hlinkClick r:id="rId3"/>
              </a:rPr>
              <a:t>https://github.com/CommunityToolkit/Maui.Markup.git</a:t>
            </a:r>
            <a:r>
              <a:rPr b="1" lang="en" sz="2300"/>
              <a:t> </a:t>
            </a:r>
            <a:endParaRPr b="1" sz="2300"/>
          </a:p>
        </p:txBody>
      </p:sp>
      <p:sp>
        <p:nvSpPr>
          <p:cNvPr id="403" name="Google Shape;403;g7b8fad9e034f2ff9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4" name="Google Shape;404;g7b8fad9e034f2ff9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997" y="1544100"/>
            <a:ext cx="3683151" cy="338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5" name="Google Shape;405;g7b8fad9e034f2ff9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7275" y="1544100"/>
            <a:ext cx="3607248" cy="33824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893f2bd8f1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Template for project - MAUI App Accelerator</a:t>
            </a:r>
            <a:endParaRPr/>
          </a:p>
        </p:txBody>
      </p:sp>
      <p:sp>
        <p:nvSpPr>
          <p:cNvPr id="411" name="Google Shape;411;g2893f2bd8f1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2" name="Google Shape;412;g2893f2bd8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75" y="1425350"/>
            <a:ext cx="6115050" cy="1657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7b8fad9e034f2ff9_6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Inspired by commercial sample app - Grial Studio</a:t>
            </a:r>
            <a:endParaRPr/>
          </a:p>
        </p:txBody>
      </p:sp>
      <p:sp>
        <p:nvSpPr>
          <p:cNvPr id="418" name="Google Shape;418;g7b8fad9e034f2ff9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9" name="Google Shape;419;g7b8fad9e034f2ff9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525" y="2517150"/>
            <a:ext cx="5084449" cy="223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7b8fad9e034f2ff9_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6200" y="900296"/>
            <a:ext cx="5394725" cy="134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16716bc6c5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</a:t>
            </a:r>
            <a:endParaRPr/>
          </a:p>
        </p:txBody>
      </p:sp>
      <p:sp>
        <p:nvSpPr>
          <p:cNvPr id="426" name="Google Shape;426;g316716bc6c5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3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https://learn.microsoft.com/en-us/windows/apps/windows-dotnet-maui/tutorial-csharp-ui-maui-toolkit</a:t>
            </a:r>
            <a:r>
              <a:rPr lang="en" sz="1300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7" name="Google Shape;427;g316716bc6c5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