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Quattrocento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jVvExKoHE4eMBbUe3gBhKhAHDH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QuattrocentoSans-bold.fntdata"/><Relationship Id="rId23" Type="http://schemas.openxmlformats.org/officeDocument/2006/relationships/font" Target="fonts/Quattrocento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QuattrocentoSans-boldItalic.fntdata"/><Relationship Id="rId25" Type="http://schemas.openxmlformats.org/officeDocument/2006/relationships/font" Target="fonts/QuattrocentoSans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89fe6b2a5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89fe6b2a5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3a2d1734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3a2d1734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89fe6b2a5f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89fe6b2a5f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89fe6b2a5f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89fe6b2a5f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6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6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-20250" y="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9" name="Google Shape;1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18"/>
          <p:cNvSpPr/>
          <p:nvPr/>
        </p:nvSpPr>
        <p:spPr>
          <a:xfrm flipH="1" rot="10800000">
            <a:off x="615650" y="2959437"/>
            <a:ext cx="7856700" cy="1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1" name="Google Shape;41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4" name="Google Shape;4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25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0" name="Google Shape;5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28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  <a:effectLst>
            <a:outerShdw blurRad="757238" rotWithShape="0" algn="bl" dir="12000000" dist="9525">
              <a:srgbClr val="000000">
                <a:alpha val="5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8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"/>
            <a:ext cx="9144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9"/>
          <p:cNvSpPr txBox="1"/>
          <p:nvPr>
            <p:ph type="title"/>
          </p:nvPr>
        </p:nvSpPr>
        <p:spPr>
          <a:xfrm>
            <a:off x="381000" y="114300"/>
            <a:ext cx="876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  <a:defRPr b="0" sz="5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29"/>
          <p:cNvSpPr txBox="1"/>
          <p:nvPr>
            <p:ph idx="1" type="body"/>
          </p:nvPr>
        </p:nvSpPr>
        <p:spPr>
          <a:xfrm>
            <a:off x="381000" y="1200150"/>
            <a:ext cx="8610600" cy="3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  <a:defRPr sz="28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4BD97"/>
              </a:buClr>
              <a:buSzPts val="2400"/>
              <a:buFont typeface="Noto Sans Symbols"/>
              <a:buChar char="▪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2" type="sldNum"/>
          </p:nvPr>
        </p:nvSpPr>
        <p:spPr>
          <a:xfrm>
            <a:off x="6858000" y="474345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29"/>
          <p:cNvSpPr/>
          <p:nvPr/>
        </p:nvSpPr>
        <p:spPr>
          <a:xfrm rot="-3205996">
            <a:off x="3332392" y="-2918302"/>
            <a:ext cx="1836986" cy="10393570"/>
          </a:xfrm>
          <a:prstGeom prst="moon">
            <a:avLst>
              <a:gd fmla="val 50000" name="adj"/>
            </a:avLst>
          </a:prstGeom>
          <a:solidFill>
            <a:schemeClr val="lt1">
              <a:alpha val="1568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0400" y="1271029"/>
            <a:ext cx="7962900" cy="175609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0"/>
          <p:cNvSpPr txBox="1"/>
          <p:nvPr>
            <p:ph type="title"/>
          </p:nvPr>
        </p:nvSpPr>
        <p:spPr>
          <a:xfrm>
            <a:off x="527050" y="1720452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30"/>
          <p:cNvSpPr/>
          <p:nvPr/>
        </p:nvSpPr>
        <p:spPr>
          <a:xfrm rot="-3205996">
            <a:off x="3141891" y="-1854199"/>
            <a:ext cx="1836986" cy="10393570"/>
          </a:xfrm>
          <a:prstGeom prst="moon">
            <a:avLst>
              <a:gd fmla="val 50000" name="adj"/>
            </a:avLst>
          </a:prstGeom>
          <a:solidFill>
            <a:schemeClr val="lt1">
              <a:alpha val="1568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817525"/>
            <a:ext cx="9144000" cy="78606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5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700"/>
              <a:t>Paging - Sort - Filter - Search</a:t>
            </a:r>
            <a:endParaRPr sz="4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Phân trang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Lí thuyết phân trang dựa trên offset</a:t>
            </a:r>
            <a:endParaRPr/>
          </a:p>
        </p:txBody>
      </p:sp>
      <p:sp>
        <p:nvSpPr>
          <p:cNvPr id="87" name="Google Shape;87;p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200"/>
              <a:t>Tổng số items: 		</a:t>
            </a:r>
            <a:r>
              <a:rPr lang="en" sz="2200">
                <a:solidFill>
                  <a:srgbClr val="0000FF"/>
                </a:solidFill>
              </a:rPr>
              <a:t>totalItems = 32</a:t>
            </a:r>
            <a:endParaRPr sz="22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rPr lang="en" sz="2200"/>
              <a:t>Số dòng mỗi trang: 	</a:t>
            </a:r>
            <a:r>
              <a:rPr lang="en" sz="2200">
                <a:solidFill>
                  <a:srgbClr val="FF9900"/>
                </a:solidFill>
              </a:rPr>
              <a:t>items</a:t>
            </a:r>
            <a:r>
              <a:rPr lang="en" sz="2200">
                <a:solidFill>
                  <a:srgbClr val="FF9900"/>
                </a:solidFill>
              </a:rPr>
              <a:t>PerPage = 10</a:t>
            </a:r>
            <a:endParaRPr sz="2200">
              <a:solidFill>
                <a:srgbClr val="FF99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rPr lang="en" sz="2200"/>
              <a:t>Tổng số trang:  (totalItems + itemsPerPage - 1)/itemsPerPage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rPr lang="en" sz="2200">
                <a:solidFill>
                  <a:srgbClr val="0000FF"/>
                </a:solidFill>
              </a:rPr>
              <a:t>	totalItems </a:t>
            </a:r>
            <a:r>
              <a:rPr lang="en" sz="2200"/>
              <a:t>/ </a:t>
            </a:r>
            <a:r>
              <a:rPr lang="en" sz="2200">
                <a:solidFill>
                  <a:srgbClr val="FF9900"/>
                </a:solidFill>
              </a:rPr>
              <a:t>itemsPerPage </a:t>
            </a:r>
            <a:r>
              <a:rPr lang="en" sz="2200">
                <a:solidFill>
                  <a:schemeClr val="dk1"/>
                </a:solidFill>
              </a:rPr>
              <a:t>+ 			</a:t>
            </a:r>
            <a:endParaRPr sz="22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rPr lang="en" sz="2200">
                <a:solidFill>
                  <a:schemeClr val="dk1"/>
                </a:solidFill>
              </a:rPr>
              <a:t>((</a:t>
            </a:r>
            <a:r>
              <a:rPr lang="en" sz="2200">
                <a:solidFill>
                  <a:srgbClr val="0000FF"/>
                </a:solidFill>
              </a:rPr>
              <a:t>totalItems</a:t>
            </a:r>
            <a:r>
              <a:rPr lang="en" sz="2200">
                <a:solidFill>
                  <a:schemeClr val="dk1"/>
                </a:solidFill>
              </a:rPr>
              <a:t> % </a:t>
            </a:r>
            <a:r>
              <a:rPr lang="en" sz="2200">
                <a:solidFill>
                  <a:srgbClr val="FF9900"/>
                </a:solidFill>
              </a:rPr>
              <a:t>itemsPerPage </a:t>
            </a:r>
            <a:r>
              <a:rPr lang="en" sz="2200">
                <a:solidFill>
                  <a:schemeClr val="dk1"/>
                </a:solidFill>
              </a:rPr>
              <a:t>) == 0) ? 0 : 1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rPr lang="en" sz="2200">
                <a:solidFill>
                  <a:schemeClr val="dk1"/>
                </a:solidFill>
              </a:rPr>
              <a:t>     (32 / 10) + (32 % 10 == 0) ? 0 : 1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rPr lang="en" sz="2200">
                <a:solidFill>
                  <a:schemeClr val="dk1"/>
                </a:solidFill>
              </a:rPr>
              <a:t>      3               +  1 = 4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89fe6b2a5f_1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Công thức hiển thị</a:t>
            </a:r>
            <a:endParaRPr/>
          </a:p>
        </p:txBody>
      </p:sp>
      <p:sp>
        <p:nvSpPr>
          <p:cNvPr id="93" name="Google Shape;93;g289fe6b2a5f_1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Nếu đang ở trang i tức (3)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Bỏ qua i-1 trang (2)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Tổng cộng </a:t>
            </a:r>
            <a:r>
              <a:rPr b="1" lang="en"/>
              <a:t>(i-1) * rowsPerPage</a:t>
            </a:r>
            <a:r>
              <a:rPr lang="en"/>
              <a:t> items =&gt; skip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2 * 10 items = 20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Take(rowsPerPage) == Take(0, rowsPerPage)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Max (0, 10) =&gt; 2 / 10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Offset</a:t>
            </a:r>
            <a:r>
              <a:rPr lang="en"/>
              <a:t>: Số item bị bỏ qua - </a:t>
            </a:r>
            <a:r>
              <a:rPr b="1" lang="en"/>
              <a:t>Skip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Limit</a:t>
            </a:r>
            <a:r>
              <a:rPr lang="en"/>
              <a:t>: Số item mình muốn lấy - </a:t>
            </a:r>
            <a:r>
              <a:rPr b="1" lang="en"/>
              <a:t>Take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3. Các yếu tố phải thể hiện trên giao diện</a:t>
            </a:r>
            <a:endParaRPr/>
          </a:p>
        </p:txBody>
      </p:sp>
      <p:sp>
        <p:nvSpPr>
          <p:cNvPr id="99" name="Google Shape;99;p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Tôi đang ở trang nào?   // CurrentPage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Số dòng mỗi trang (số lượng item) là bao nhiêu?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rowsPerPage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Tổng số item thỏa điều kiện là bao nhiêu?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TotalItems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Tổng số trang là bao nhiêu? (TotalPages)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Các yếu tố hỗ trợ duyệt trang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Trang kế, trang trước đó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Trang đầu tiên, trang cuối cùng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Các phương án phân trang cơ bản</a:t>
            </a:r>
            <a:endParaRPr/>
          </a:p>
        </p:txBody>
      </p:sp>
      <p:pic>
        <p:nvPicPr>
          <p:cNvPr id="105" name="Google Shape;10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775" y="1075013"/>
            <a:ext cx="25908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789388"/>
            <a:ext cx="4352925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4675" y="1065488"/>
            <a:ext cx="17716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5053" y="1065496"/>
            <a:ext cx="3594693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80688" y="1902844"/>
            <a:ext cx="2283425" cy="94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3a2d1734e_2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Câu phân trang cơ bản - sql server</a:t>
            </a:r>
            <a:endParaRPr/>
          </a:p>
        </p:txBody>
      </p:sp>
      <p:sp>
        <p:nvSpPr>
          <p:cNvPr id="115" name="Google Shape;115;g343a2d1734e_2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string sql = 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select Product_Name, Price,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from Product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0000"/>
                </a:solidFill>
              </a:rPr>
              <a:t>    order by ID 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</a:t>
            </a:r>
            <a:r>
              <a:rPr lang="en">
                <a:solidFill>
                  <a:srgbClr val="9900FF"/>
                </a:solidFill>
              </a:rPr>
              <a:t>offset @Skip</a:t>
            </a:r>
            <a:r>
              <a:rPr lang="en"/>
              <a:t> rows </a:t>
            </a:r>
            <a:r>
              <a:rPr lang="en">
                <a:solidFill>
                  <a:srgbClr val="9900FF"/>
                </a:solidFill>
              </a:rPr>
              <a:t>fetch next @Take</a:t>
            </a:r>
            <a:r>
              <a:rPr lang="en"/>
              <a:t> rows only;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""";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89fe6b2a5f_1_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Câu sql để biết tổng số item - sql server</a:t>
            </a:r>
            <a:endParaRPr/>
          </a:p>
        </p:txBody>
      </p:sp>
      <p:sp>
        <p:nvSpPr>
          <p:cNvPr id="121" name="Google Shape;121;g289fe6b2a5f_1_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FF"/>
                </a:solidFill>
              </a:rPr>
              <a:t>string </a:t>
            </a:r>
            <a:r>
              <a:rPr lang="en"/>
              <a:t>sql = 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select </a:t>
            </a:r>
            <a:r>
              <a:rPr lang="en">
                <a:solidFill>
                  <a:srgbClr val="FF0000"/>
                </a:solidFill>
              </a:rPr>
              <a:t>count(*) over() as TotalItems 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from Product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""";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89fe6b2a5f_1_1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Câu phân trang cuối cùng - sql server </a:t>
            </a:r>
            <a:endParaRPr/>
          </a:p>
        </p:txBody>
      </p:sp>
      <p:sp>
        <p:nvSpPr>
          <p:cNvPr id="127" name="Google Shape;127;g289fe6b2a5f_1_1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FF"/>
                </a:solidFill>
              </a:rPr>
              <a:t>string </a:t>
            </a:r>
            <a:r>
              <a:rPr lang="en"/>
              <a:t>sql = 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select id, name, price,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</a:t>
            </a:r>
            <a:r>
              <a:rPr lang="en">
                <a:solidFill>
                  <a:srgbClr val="0000FF"/>
                </a:solidFill>
              </a:rPr>
              <a:t>count(*) over() as TotalItems 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from Product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0000"/>
                </a:solidFill>
              </a:rPr>
              <a:t>    order by ID 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</a:t>
            </a:r>
            <a:r>
              <a:rPr lang="en">
                <a:solidFill>
                  <a:srgbClr val="FF00FF"/>
                </a:solidFill>
              </a:rPr>
              <a:t>offset @Skip</a:t>
            </a:r>
            <a:r>
              <a:rPr lang="en"/>
              <a:t> rows </a:t>
            </a:r>
            <a:r>
              <a:rPr lang="en">
                <a:solidFill>
                  <a:srgbClr val="FF00FF"/>
                </a:solidFill>
              </a:rPr>
              <a:t>fetch next @Take</a:t>
            </a:r>
            <a:r>
              <a:rPr lang="en"/>
              <a:t> rows only;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""";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LINQ</a:t>
            </a:r>
            <a:endParaRPr/>
          </a:p>
        </p:txBody>
      </p:sp>
      <p:sp>
        <p:nvSpPr>
          <p:cNvPr id="133" name="Google Shape;133;p1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Để tránh 2 roundtrip ta có thể truy vấn tối ưu như sau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</a:pPr>
            <a:r>
              <a:rPr lang="en"/>
              <a:t>select ID, Name, </a:t>
            </a:r>
            <a:r>
              <a:rPr lang="en">
                <a:solidFill>
                  <a:srgbClr val="FF0000"/>
                </a:solidFill>
              </a:rPr>
              <a:t>count(*) over() </a:t>
            </a:r>
            <a:r>
              <a:rPr lang="en"/>
              <a:t>as TotalItems</a:t>
            </a:r>
            <a:endParaRPr/>
          </a:p>
        </p:txBody>
      </p:sp>
      <p:pic>
        <p:nvPicPr>
          <p:cNvPr id="134" name="Google Shape;1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950" y="1589952"/>
            <a:ext cx="7502224" cy="2247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Tìm kiếm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Vấn đề 1: Khi nào thì tìm kiếm</a:t>
            </a:r>
            <a:endParaRPr/>
          </a:p>
        </p:txBody>
      </p:sp>
      <p:sp>
        <p:nvSpPr>
          <p:cNvPr id="145" name="Google Shape;145;p1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Phương án 1</a:t>
            </a:r>
            <a:r>
              <a:rPr lang="en"/>
              <a:t>: Ngay khi người dùng vừa gõ kí tự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rPr lang="en"/>
              <a:t>	Bắt sự kiện TextChanged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Phương án 2</a:t>
            </a:r>
            <a:r>
              <a:rPr lang="en"/>
              <a:t>: Đợi sau khi gõ đầy đủ xong rồi bấm </a:t>
            </a:r>
            <a:r>
              <a:rPr b="1" lang="en"/>
              <a:t>Enter </a:t>
            </a:r>
            <a:r>
              <a:rPr lang="en"/>
              <a:t>hoặc bấm nút </a:t>
            </a:r>
            <a:r>
              <a:rPr b="1" lang="en"/>
              <a:t>Tìm kiếm</a:t>
            </a:r>
            <a:r>
              <a:rPr lang="en"/>
              <a:t> mới bắt đầu tìm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"/>
              <a:t>Bắt sự kiện KeyDown</a:t>
            </a:r>
            <a:endParaRPr/>
          </a:p>
        </p:txBody>
      </p:sp>
      <p:pic>
        <p:nvPicPr>
          <p:cNvPr id="146" name="Google Shape;1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3875" y="3374925"/>
            <a:ext cx="5006826" cy="1415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Vấn đề 2: Việc tìm kiếm bị ảnh hưởng bởi cái gì? </a:t>
            </a:r>
            <a:endParaRPr/>
          </a:p>
        </p:txBody>
      </p:sp>
      <p:sp>
        <p:nvSpPr>
          <p:cNvPr id="152" name="Google Shape;152;p1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Sự lựa chọn loại sản phẩm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rPr lang="en"/>
              <a:t>Tổng số item =&gt; Tổng số trang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600"/>
              <a:buNone/>
            </a:pPr>
            <a:r>
              <a:rPr lang="en"/>
              <a:t>Thay đổi trang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