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obot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-bold.fntdata"/><Relationship Id="rId16" Type="http://schemas.openxmlformats.org/officeDocument/2006/relationships/font" Target="fonts/Robo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boldItalic.fntdata"/><Relationship Id="rId6" Type="http://schemas.openxmlformats.org/officeDocument/2006/relationships/slide" Target="slides/slide1.xml"/><Relationship Id="rId18" Type="http://schemas.openxmlformats.org/officeDocument/2006/relationships/font" Target="fonts/Robo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2a945c777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22a945c777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2a8bb77d1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22a8bb77d1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2a945c777d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2a945c777d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2a945c777d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2a945c777d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2a945c777d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2a945c777d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2a945c777d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22a945c777d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2a945c777d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2a945c777d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2a945c777d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22a945c777d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15e7f5b61f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g315e7f5b61f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learn.microsoft.com/en-us/ef/core/managing-schemas/scaffolding/?tabs=dotnet-core-cli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Entity framework Core</a:t>
            </a:r>
            <a:endParaRPr/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https://learn.microsoft.com/en-us/ef/core/managing-schemas/scaffolding/?tabs=dotnet-core-cli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Chuẩn bị công cụ</a:t>
            </a:r>
            <a:endParaRPr/>
          </a:p>
        </p:txBody>
      </p:sp>
      <p:sp>
        <p:nvSpPr>
          <p:cNvPr id="92" name="Google Shape;92;p1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$ </a:t>
            </a:r>
            <a:r>
              <a:rPr b="1" lang="en"/>
              <a:t>dotnet tool install --global dotnet-ef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NuGet package: (remember to build after install)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Microsoft.EntityFrameworkCore.Design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Microsoft.EntityFrameworkCore.SqlServer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Reverse Engineering (Right click &gt; Open in Terminal)</a:t>
            </a:r>
            <a:endParaRPr/>
          </a:p>
        </p:txBody>
      </p:sp>
      <p:sp>
        <p:nvSpPr>
          <p:cNvPr id="98" name="Google Shape;98;p15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$ </a:t>
            </a:r>
            <a:r>
              <a:rPr b="1" lang="en"/>
              <a:t>dotnet ef dbcontext scaffold "Data Source=</a:t>
            </a:r>
            <a:r>
              <a:rPr b="1" lang="en">
                <a:solidFill>
                  <a:srgbClr val="FF0000"/>
                </a:solidFill>
              </a:rPr>
              <a:t>.\SqlExpress</a:t>
            </a:r>
            <a:r>
              <a:rPr b="1" lang="en"/>
              <a:t>; Trusted_Connection=Yes; Initial Catalog=</a:t>
            </a:r>
            <a:r>
              <a:rPr b="1" lang="en">
                <a:solidFill>
                  <a:srgbClr val="FF0000"/>
                </a:solidFill>
              </a:rPr>
              <a:t>SuperShop</a:t>
            </a:r>
            <a:r>
              <a:rPr b="1" lang="en"/>
              <a:t>; TrustServerCertificate=True" Microsoft.EntityFrameworkCore.SqlServer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/>
              <a:t>$ dotnet ef dbcontext scaffold "Data Source=</a:t>
            </a:r>
            <a:r>
              <a:rPr b="1" lang="en">
                <a:solidFill>
                  <a:srgbClr val="FF0000"/>
                </a:solidFill>
              </a:rPr>
              <a:t>localhost</a:t>
            </a:r>
            <a:r>
              <a:rPr b="1" lang="en"/>
              <a:t>; Initial Catalog=</a:t>
            </a:r>
            <a:r>
              <a:rPr b="1" lang="en">
                <a:solidFill>
                  <a:srgbClr val="FF0000"/>
                </a:solidFill>
              </a:rPr>
              <a:t>demoshop</a:t>
            </a:r>
            <a:r>
              <a:rPr b="1" lang="en"/>
              <a:t>; TrustServerCertificate=True; User Id=</a:t>
            </a:r>
            <a:r>
              <a:rPr b="1" lang="en">
                <a:solidFill>
                  <a:srgbClr val="FF0000"/>
                </a:solidFill>
              </a:rPr>
              <a:t>sa</a:t>
            </a:r>
            <a:r>
              <a:rPr b="1" lang="en"/>
              <a:t>; Password=</a:t>
            </a:r>
            <a:r>
              <a:rPr b="1" lang="en">
                <a:solidFill>
                  <a:srgbClr val="FF0000"/>
                </a:solidFill>
              </a:rPr>
              <a:t>SqlServer@123</a:t>
            </a:r>
            <a:r>
              <a:rPr b="1" lang="en"/>
              <a:t>" Microsoft.EntityFrameworkCore.SqlServer</a:t>
            </a:r>
            <a:endParaRPr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Một số lưu ý</a:t>
            </a:r>
            <a:endParaRPr/>
          </a:p>
        </p:txBody>
      </p:sp>
      <p:sp>
        <p:nvSpPr>
          <p:cNvPr id="104" name="Google Shape;104;p16"/>
          <p:cNvSpPr txBox="1"/>
          <p:nvPr>
            <p:ph idx="1" type="body"/>
          </p:nvPr>
        </p:nvSpPr>
        <p:spPr>
          <a:xfrm>
            <a:off x="311700" y="1229875"/>
            <a:ext cx="87753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>
                <a:solidFill>
                  <a:srgbClr val="1155CC"/>
                </a:solidFill>
              </a:rPr>
              <a:t>Hàm </a:t>
            </a:r>
            <a:r>
              <a:rPr b="1" lang="en">
                <a:solidFill>
                  <a:srgbClr val="FF00FF"/>
                </a:solidFill>
              </a:rPr>
              <a:t>OnConfiguring </a:t>
            </a:r>
            <a:r>
              <a:rPr lang="en"/>
              <a:t>chứa thông tin nhạy cảm, không nên tồn tại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Sửa bằng cách thêm đối số </a:t>
            </a:r>
            <a:r>
              <a:rPr lang="en">
                <a:solidFill>
                  <a:srgbClr val="9900FF"/>
                </a:solidFill>
              </a:rPr>
              <a:t>--no-onconfiguring </a:t>
            </a:r>
            <a:r>
              <a:rPr lang="en">
                <a:solidFill>
                  <a:srgbClr val="000000"/>
                </a:solidFill>
              </a:rPr>
              <a:t>nhằm loại bỏ trong file Context tạo ra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-"/>
            </a:pPr>
            <a:r>
              <a:rPr lang="en">
                <a:solidFill>
                  <a:srgbClr val="000000"/>
                </a:solidFill>
              </a:rPr>
              <a:t>Sử dụng partial class để tạo ra hàm OnConfiguring này riêng</a:t>
            </a:r>
            <a:endParaRPr>
              <a:solidFill>
                <a:srgbClr val="000000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-"/>
            </a:pPr>
            <a:r>
              <a:rPr lang="en">
                <a:solidFill>
                  <a:srgbClr val="000000"/>
                </a:solidFill>
              </a:rPr>
              <a:t>Trong đó sử dụng localSettings để nạp connection sring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Khi có thay đổi về CSDL cần cập nhật lại, sử dụng đối số </a:t>
            </a:r>
            <a:r>
              <a:rPr lang="en">
                <a:solidFill>
                  <a:srgbClr val="9900FF"/>
                </a:solidFill>
              </a:rPr>
              <a:t>--force</a:t>
            </a:r>
            <a:endParaRPr>
              <a:solidFill>
                <a:srgbClr val="9900FF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-"/>
            </a:pPr>
            <a:r>
              <a:rPr lang="en">
                <a:solidFill>
                  <a:srgbClr val="000000"/>
                </a:solidFill>
              </a:rPr>
              <a:t>Các lớp sinh ra có thể được đặt trong thư mục </a:t>
            </a:r>
            <a:r>
              <a:rPr b="1" lang="en">
                <a:solidFill>
                  <a:srgbClr val="000000"/>
                </a:solidFill>
              </a:rPr>
              <a:t>Models </a:t>
            </a:r>
            <a:r>
              <a:rPr lang="en">
                <a:solidFill>
                  <a:srgbClr val="000000"/>
                </a:solidFill>
              </a:rPr>
              <a:t>với đối số </a:t>
            </a:r>
            <a:r>
              <a:rPr lang="en">
                <a:solidFill>
                  <a:srgbClr val="9900FF"/>
                </a:solidFill>
              </a:rPr>
              <a:t>--output-dir </a:t>
            </a:r>
            <a:r>
              <a:rPr b="1" lang="en">
                <a:solidFill>
                  <a:srgbClr val="9900FF"/>
                </a:solidFill>
              </a:rPr>
              <a:t>Models</a:t>
            </a:r>
            <a:endParaRPr b="1">
              <a:solidFill>
                <a:srgbClr val="9900F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-"/>
            </a:pPr>
            <a:r>
              <a:rPr lang="en">
                <a:solidFill>
                  <a:srgbClr val="000000"/>
                </a:solidFill>
              </a:rPr>
              <a:t>Để giới hạn chỉ tạo ra entity từ một số bảng nhất định, chỉ định rõ với đối số </a:t>
            </a:r>
            <a:r>
              <a:rPr lang="en">
                <a:solidFill>
                  <a:srgbClr val="9900FF"/>
                </a:solidFill>
              </a:rPr>
              <a:t>--table</a:t>
            </a:r>
            <a:endParaRPr>
              <a:solidFill>
                <a:srgbClr val="9900FF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-"/>
            </a:pPr>
            <a:r>
              <a:rPr lang="en">
                <a:solidFill>
                  <a:srgbClr val="000000"/>
                </a:solidFill>
              </a:rPr>
              <a:t>Ví dụ: dotnet ef dbcontext scaffold ... --table Artist --table Album --table Employee --table Product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Để thay đổi thư mục chứa context, dùng đối số</a:t>
            </a:r>
            <a:r>
              <a:rPr b="1" lang="en">
                <a:solidFill>
                  <a:srgbClr val="9900FF"/>
                </a:solidFill>
              </a:rPr>
              <a:t> --context-dir Data</a:t>
            </a:r>
            <a:endParaRPr b="1">
              <a:solidFill>
                <a:srgbClr val="9900F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Khởi tạo kết nối tới CSDL</a:t>
            </a:r>
            <a:endParaRPr/>
          </a:p>
        </p:txBody>
      </p:sp>
      <p:sp>
        <p:nvSpPr>
          <p:cNvPr id="110" name="Google Shape;110;p17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</a:rPr>
              <a:t>var </a:t>
            </a:r>
            <a:r>
              <a:rPr lang="en"/>
              <a:t>context = </a:t>
            </a:r>
            <a:r>
              <a:rPr lang="en">
                <a:solidFill>
                  <a:srgbClr val="0000FF"/>
                </a:solidFill>
              </a:rPr>
              <a:t>new </a:t>
            </a:r>
            <a:r>
              <a:rPr lang="en">
                <a:solidFill>
                  <a:srgbClr val="9900FF"/>
                </a:solidFill>
              </a:rPr>
              <a:t>TestDbContext</a:t>
            </a:r>
            <a:r>
              <a:rPr lang="en"/>
              <a:t>();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</a:rPr>
              <a:t>if </a:t>
            </a:r>
            <a:r>
              <a:rPr lang="en"/>
              <a:t>(context.</a:t>
            </a:r>
            <a:r>
              <a:rPr lang="en">
                <a:solidFill>
                  <a:srgbClr val="9900FF"/>
                </a:solidFill>
              </a:rPr>
              <a:t>Database</a:t>
            </a:r>
            <a:r>
              <a:rPr lang="en"/>
              <a:t>.CanConnect()){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}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Select</a:t>
            </a:r>
            <a:endParaRPr/>
          </a:p>
        </p:txBody>
      </p:sp>
      <p:sp>
        <p:nvSpPr>
          <p:cNvPr id="116" name="Google Shape;116;p18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</a:rPr>
              <a:t>var </a:t>
            </a:r>
            <a:r>
              <a:rPr lang="en"/>
              <a:t>categories = context.Categories.ToList();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Insert</a:t>
            </a:r>
            <a:endParaRPr/>
          </a:p>
        </p:txBody>
      </p:sp>
      <p:sp>
        <p:nvSpPr>
          <p:cNvPr id="122" name="Google Shape;122;p19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</a:rPr>
              <a:t>var </a:t>
            </a:r>
            <a:r>
              <a:rPr lang="en"/>
              <a:t>category = </a:t>
            </a:r>
            <a:r>
              <a:rPr lang="en">
                <a:solidFill>
                  <a:srgbClr val="0000FF"/>
                </a:solidFill>
              </a:rPr>
              <a:t>new </a:t>
            </a:r>
            <a:r>
              <a:rPr lang="en"/>
              <a:t>Category() { Name =</a:t>
            </a:r>
            <a:r>
              <a:rPr lang="en">
                <a:solidFill>
                  <a:srgbClr val="0000FF"/>
                </a:solidFill>
              </a:rPr>
              <a:t> "Test" </a:t>
            </a:r>
            <a:r>
              <a:rPr lang="en"/>
              <a:t>};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context.Categories.Add(category);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context.SaveChanges();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</a:rPr>
              <a:t>var </a:t>
            </a:r>
            <a:r>
              <a:rPr lang="en"/>
              <a:t>id = category.Id;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Delete</a:t>
            </a:r>
            <a:endParaRPr/>
          </a:p>
        </p:txBody>
      </p:sp>
      <p:sp>
        <p:nvSpPr>
          <p:cNvPr id="128" name="Google Shape;128;p20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</a:rPr>
              <a:t>var </a:t>
            </a:r>
            <a:r>
              <a:rPr lang="en"/>
              <a:t>categories = context.</a:t>
            </a:r>
            <a:r>
              <a:rPr lang="en">
                <a:solidFill>
                  <a:srgbClr val="9900FF"/>
                </a:solidFill>
              </a:rPr>
              <a:t>Categories</a:t>
            </a:r>
            <a:r>
              <a:rPr lang="en"/>
              <a:t>.ToList();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</a:rPr>
              <a:t>var </a:t>
            </a:r>
            <a:r>
              <a:rPr lang="en"/>
              <a:t>selectedCategory = categories[0];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context.</a:t>
            </a:r>
            <a:r>
              <a:rPr lang="en">
                <a:solidFill>
                  <a:srgbClr val="9900FF"/>
                </a:solidFill>
              </a:rPr>
              <a:t>Categories</a:t>
            </a:r>
            <a:r>
              <a:rPr lang="en"/>
              <a:t>.Remove(selectedCategory);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context.SaveChanges();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Update</a:t>
            </a:r>
            <a:endParaRPr/>
          </a:p>
        </p:txBody>
      </p:sp>
      <p:sp>
        <p:nvSpPr>
          <p:cNvPr id="134" name="Google Shape;134;p2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</a:rPr>
              <a:t>var </a:t>
            </a:r>
            <a:r>
              <a:rPr lang="en"/>
              <a:t>categories = context.</a:t>
            </a:r>
            <a:r>
              <a:rPr lang="en">
                <a:solidFill>
                  <a:srgbClr val="9900FF"/>
                </a:solidFill>
              </a:rPr>
              <a:t>Categories</a:t>
            </a:r>
            <a:r>
              <a:rPr lang="en"/>
              <a:t>.ToList();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</a:rPr>
              <a:t>var </a:t>
            </a:r>
            <a:r>
              <a:rPr lang="en"/>
              <a:t>selectedCategory = categories[0];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selectedCategory.Name = "SuperArt";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context.SaveChanges();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UI: Add </a:t>
            </a:r>
            <a:r>
              <a:rPr b="1" lang="en"/>
              <a:t>INotifyPropertyChanged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2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Phân trang: lấy tổng số sản phẩm</a:t>
            </a:r>
            <a:endParaRPr/>
          </a:p>
        </p:txBody>
      </p:sp>
      <p:sp>
        <p:nvSpPr>
          <p:cNvPr id="140" name="Google Shape;140;p22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Để tránh 2 roundtrip ta có thể truy vấn tối ưu như sau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None/>
            </a:pPr>
            <a:r>
              <a:t/>
            </a:r>
            <a:endParaRPr/>
          </a:p>
        </p:txBody>
      </p:sp>
      <p:pic>
        <p:nvPicPr>
          <p:cNvPr id="141" name="Google Shape;14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9950" y="1775539"/>
            <a:ext cx="7502224" cy="22476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