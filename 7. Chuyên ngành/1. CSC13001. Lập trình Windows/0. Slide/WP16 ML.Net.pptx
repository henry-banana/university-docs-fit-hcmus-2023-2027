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hDe7pGR2vVjxS136f7vQXsSs8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90883fcc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090883fcc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a9a69981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a9a69981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a9a699815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a9a699815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a9a69981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a9a69981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a9a69981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a9a69981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a9a699815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a9a699815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a9a69981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a9a69981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a9a699815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a9a69981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a9a699815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a9a699815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a9a699815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a9a699815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a9a699815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a9a69981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a9a699815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a9a699815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a9a69981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a9a69981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a9a699815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a9a699815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aa1c2bb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aa1c2bb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aa1c2bbe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1aa1c2bbe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aa1c2bbe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aa1c2bbe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aa1c2bb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aa1c2bb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aa1c2bbe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aa1c2bbe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aa1c2bbe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aa1c2bbe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aa5a1e2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aa5a1e2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aa5a1e28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aa5a1e2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aa5a1e2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aa5a1e2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aa5a1e28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1aa5a1e28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aa5a1e2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aa5a1e2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aa5a1e28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1aa5a1e28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aa5a1e2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aa5a1e2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aa5a1e28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1aa5a1e2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aa5a1e28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1aa5a1e28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aa5a1e28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1aa5a1e28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aa5a1e28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1aa5a1e28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1aa5a1e28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1aa5a1e28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aa5a1e28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1aa5a1e28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aa5a1e28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aa5a1e28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aa5a1e28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1aa5a1e28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aa5a1e28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aa5a1e28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1b47964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1b47964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earn.microsoft.com/en-us/dotnet/machine-learning/how-does-mldotnet-wor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tnet.microsoft.com/en-us/learn/ml-dotnet/get-started-tutorial/intro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rchive.ics.uci.edu/ml/machine-learning-databases/00331/sentiment%20labelled%20sentences.zip" TargetMode="External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earn.microsoft.com/en-us/training/modules/predictive-maintenance-model-builder/?WT.mc_id=dotnet-35129-websit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archive.ics.uci.edu/ml/datasets/AI4I+2020+Predictive+Maintenance+Datase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learn.microsoft.com/en-us/dotnet/machine-learning" TargetMode="Externa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Machine learning .Net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https://learn.microsoft.com/en-us/dotnet/machine-learning 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</a:t>
            </a:r>
            <a:r>
              <a:rPr b="1" lang="en"/>
              <a:t>ML.Net</a:t>
            </a:r>
            <a:r>
              <a:rPr lang="en"/>
              <a:t>?</a:t>
            </a:r>
            <a:endParaRPr/>
          </a:p>
        </p:txBody>
      </p:sp>
      <p:sp>
        <p:nvSpPr>
          <p:cNvPr id="68" name="Google Shape;68;g2964f5a7bf4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</a:t>
            </a:r>
            <a:r>
              <a:rPr lang="en"/>
              <a:t>pen-source, cross-platform machine learning framework for .NET</a:t>
            </a:r>
            <a:endParaRPr/>
          </a:p>
        </p:txBody>
      </p:sp>
      <p:sp>
        <p:nvSpPr>
          <p:cNvPr id="69" name="Google Shape;69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90883fcce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Scenario - Machine learning task mapping</a:t>
            </a:r>
            <a:endParaRPr/>
          </a:p>
        </p:txBody>
      </p:sp>
      <p:sp>
        <p:nvSpPr>
          <p:cNvPr id="75" name="Google Shape;75;g3090883fcce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g3090883fcce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275" y="867475"/>
            <a:ext cx="5810250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a9a699815_1_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ML world </a:t>
            </a:r>
            <a:endParaRPr/>
          </a:p>
        </p:txBody>
      </p:sp>
      <p:sp>
        <p:nvSpPr>
          <p:cNvPr id="82" name="Google Shape;82;g31a9a699815_1_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g31a9a699815_1_1"/>
          <p:cNvSpPr txBox="1"/>
          <p:nvPr/>
        </p:nvSpPr>
        <p:spPr>
          <a:xfrm>
            <a:off x="2102850" y="3591775"/>
            <a:ext cx="469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What is ML.NET and how does it work? - ML.NET | Microsoft Learn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a9a699815_1_5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Linear regression - House price prediction</a:t>
            </a:r>
            <a:endParaRPr/>
          </a:p>
        </p:txBody>
      </p:sp>
      <p:sp>
        <p:nvSpPr>
          <p:cNvPr id="89" name="Google Shape;89;g31a9a699815_1_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g31a9a699815_1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350" y="1081088"/>
            <a:ext cx="57340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1a9a699815_1_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9850" y="4272688"/>
            <a:ext cx="1657350" cy="3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a9a699815_1_6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basic terms</a:t>
            </a:r>
            <a:endParaRPr/>
          </a:p>
        </p:txBody>
      </p:sp>
      <p:sp>
        <p:nvSpPr>
          <p:cNvPr id="97" name="Google Shape;97;g31a9a699815_1_6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Training data</a:t>
            </a:r>
            <a:r>
              <a:rPr lang="en"/>
              <a:t>: The</a:t>
            </a:r>
            <a:r>
              <a:rPr lang="en"/>
              <a:t> data used to find the parameters of the model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chemeClr val="dk1"/>
                </a:solidFill>
              </a:rPr>
              <a:t>F</a:t>
            </a:r>
            <a:r>
              <a:rPr b="1" lang="en">
                <a:solidFill>
                  <a:schemeClr val="dk1"/>
                </a:solidFill>
              </a:rPr>
              <a:t>eatures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/>
              <a:t>The inputs of a machine learning model are called.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chemeClr val="dk1"/>
                </a:solidFill>
              </a:rPr>
              <a:t>L</a:t>
            </a:r>
            <a:r>
              <a:rPr b="1" lang="en">
                <a:solidFill>
                  <a:schemeClr val="dk1"/>
                </a:solidFill>
              </a:rPr>
              <a:t>abels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/>
              <a:t>The ground-truth values used to train a machine learning model </a:t>
            </a:r>
            <a:endParaRPr/>
          </a:p>
        </p:txBody>
      </p:sp>
      <p:sp>
        <p:nvSpPr>
          <p:cNvPr id="98" name="Google Shape;98;g31a9a699815_1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a9a699815_1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Model preparation</a:t>
            </a:r>
            <a:endParaRPr/>
          </a:p>
        </p:txBody>
      </p:sp>
      <p:sp>
        <p:nvSpPr>
          <p:cNvPr id="104" name="Google Shape;104;g31a9a699815_1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g31a9a699815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971975" cy="3944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a9a699815_1_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Prepare data &amp; train</a:t>
            </a:r>
            <a:endParaRPr/>
          </a:p>
        </p:txBody>
      </p:sp>
      <p:sp>
        <p:nvSpPr>
          <p:cNvPr id="111" name="Google Shape;111;g31a9a699815_1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g31a9a699815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427233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a9a699815_1_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Make prediction</a:t>
            </a:r>
            <a:endParaRPr/>
          </a:p>
        </p:txBody>
      </p:sp>
      <p:sp>
        <p:nvSpPr>
          <p:cNvPr id="118" name="Google Shape;118;g31a9a699815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g31a9a699815_1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167658" cy="24098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a9a699815_1_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125" name="Google Shape;125;g31a9a699815_1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g31a9a699815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75" y="818188"/>
            <a:ext cx="411480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1a9a699815_1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000" y="1013225"/>
            <a:ext cx="325755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1a9a699815_1_44"/>
          <p:cNvSpPr/>
          <p:nvPr/>
        </p:nvSpPr>
        <p:spPr>
          <a:xfrm>
            <a:off x="4455475" y="1645100"/>
            <a:ext cx="9753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a9a699815_1_9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models &amp; schema</a:t>
            </a:r>
            <a:endParaRPr/>
          </a:p>
        </p:txBody>
      </p:sp>
      <p:sp>
        <p:nvSpPr>
          <p:cNvPr id="134" name="Google Shape;134;g31a9a699815_1_9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DataView</a:t>
            </a:r>
            <a:endParaRPr/>
          </a:p>
        </p:txBody>
      </p:sp>
      <p:sp>
        <p:nvSpPr>
          <p:cNvPr id="135" name="Google Shape;135;g31a9a699815_1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g31a9a699815_1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325" y="1691100"/>
            <a:ext cx="6421650" cy="30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a9a699815_1_7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Model evaluation using test data</a:t>
            </a:r>
            <a:endParaRPr/>
          </a:p>
        </p:txBody>
      </p:sp>
      <p:sp>
        <p:nvSpPr>
          <p:cNvPr id="142" name="Google Shape;142;g31a9a699815_1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g31a9a699815_1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575" y="974750"/>
            <a:ext cx="6871076" cy="383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a9a699815_1_8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Model deployment</a:t>
            </a:r>
            <a:endParaRPr/>
          </a:p>
        </p:txBody>
      </p:sp>
      <p:sp>
        <p:nvSpPr>
          <p:cNvPr id="149" name="Google Shape;149;g31a9a699815_1_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g31a9a699815_1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525" y="1184949"/>
            <a:ext cx="8483575" cy="610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g31a9a699815_1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25" y="2414425"/>
            <a:ext cx="5282450" cy="178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a9a699815_1_9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Make prediction after loading model</a:t>
            </a:r>
            <a:endParaRPr/>
          </a:p>
        </p:txBody>
      </p:sp>
      <p:sp>
        <p:nvSpPr>
          <p:cNvPr id="157" name="Google Shape;157;g31a9a699815_1_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g31a9a699815_1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610600" cy="1933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a9a699815_1_19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Builder</a:t>
            </a:r>
            <a:endParaRPr/>
          </a:p>
        </p:txBody>
      </p:sp>
      <p:sp>
        <p:nvSpPr>
          <p:cNvPr id="164" name="Google Shape;164;g31a9a699815_1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g31a9a699815_1_19"/>
          <p:cNvSpPr txBox="1"/>
          <p:nvPr/>
        </p:nvSpPr>
        <p:spPr>
          <a:xfrm>
            <a:off x="2714400" y="3618500"/>
            <a:ext cx="37152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ML.NET Tutorial | Get started in 10 minutes | .NET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a9a699815_1_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Installation</a:t>
            </a:r>
            <a:endParaRPr/>
          </a:p>
        </p:txBody>
      </p:sp>
      <p:sp>
        <p:nvSpPr>
          <p:cNvPr id="171" name="Google Shape;171;g31a9a699815_1_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" name="Google Shape;172;g31a9a699815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3181350" cy="2095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1aa1c2bbe1_0_5"/>
          <p:cNvSpPr txBox="1"/>
          <p:nvPr>
            <p:ph type="title"/>
          </p:nvPr>
        </p:nvSpPr>
        <p:spPr>
          <a:xfrm>
            <a:off x="1524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Create a C# console app</a:t>
            </a:r>
            <a:endParaRPr/>
          </a:p>
        </p:txBody>
      </p:sp>
      <p:sp>
        <p:nvSpPr>
          <p:cNvPr id="178" name="Google Shape;178;g31aa1c2bbe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g31aa1c2bbe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3581400" cy="895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aa1c2bbe1_0_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Download data</a:t>
            </a:r>
            <a:endParaRPr/>
          </a:p>
        </p:txBody>
      </p:sp>
      <p:sp>
        <p:nvSpPr>
          <p:cNvPr id="185" name="Google Shape;185;g31aa1c2bbe1_0_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Dataset: </a:t>
            </a:r>
            <a:r>
              <a:rPr lang="en" u="sng">
                <a:solidFill>
                  <a:schemeClr val="hlink"/>
                </a:solidFill>
                <a:hlinkClick r:id="rId3"/>
              </a:rPr>
              <a:t>Sentiment Labelled Sentences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Author: UCI Machine Learning Repository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Uncompress, add file </a:t>
            </a:r>
            <a:r>
              <a:rPr b="1" lang="en">
                <a:solidFill>
                  <a:srgbClr val="FF9900"/>
                </a:solidFill>
              </a:rPr>
              <a:t>yelp_labelled.txt</a:t>
            </a:r>
            <a:r>
              <a:rPr lang="en"/>
              <a:t> to your project</a:t>
            </a:r>
            <a:endParaRPr/>
          </a:p>
        </p:txBody>
      </p:sp>
      <p:sp>
        <p:nvSpPr>
          <p:cNvPr id="186" name="Google Shape;186;g31aa1c2bbe1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" name="Google Shape;187;g31aa1c2bbe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6635" y="2516610"/>
            <a:ext cx="3898300" cy="2146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aa1c2bbe1_0_4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193" name="Google Shape;193;g31aa1c2bbe1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" name="Google Shape;194;g31aa1c2bbe1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053" y="1056650"/>
            <a:ext cx="8491601" cy="303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aa1c2bbe1_0_1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Add machine learning</a:t>
            </a:r>
            <a:endParaRPr/>
          </a:p>
        </p:txBody>
      </p:sp>
      <p:sp>
        <p:nvSpPr>
          <p:cNvPr id="200" name="Google Shape;200;g31aa1c2bbe1_0_1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Right click on the project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Add &gt; Machine learning model…</a:t>
            </a:r>
            <a:endParaRPr/>
          </a:p>
        </p:txBody>
      </p:sp>
      <p:sp>
        <p:nvSpPr>
          <p:cNvPr id="201" name="Google Shape;201;g31aa1c2bbe1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g31aa1c2bbe1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03" y="2214678"/>
            <a:ext cx="7838224" cy="225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aa1c2bbe1_0_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Name your model: SentimentModel</a:t>
            </a:r>
            <a:endParaRPr/>
          </a:p>
        </p:txBody>
      </p:sp>
      <p:sp>
        <p:nvSpPr>
          <p:cNvPr id="208" name="Google Shape;208;g31aa1c2bbe1_0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" name="Google Shape;209;g31aa1c2bbe1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50" y="1059425"/>
            <a:ext cx="8130275" cy="255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aa1c2bbe1_0_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Config your training</a:t>
            </a:r>
            <a:endParaRPr/>
          </a:p>
        </p:txBody>
      </p:sp>
      <p:sp>
        <p:nvSpPr>
          <p:cNvPr id="215" name="Google Shape;215;g31aa1c2bbe1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" name="Google Shape;216;g31aa1c2bbe1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1005625"/>
            <a:ext cx="2590800" cy="365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7" name="Google Shape;217;g31aa1c2bbe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5450" y="1082725"/>
            <a:ext cx="3400425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aa5a1e289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Add data</a:t>
            </a:r>
            <a:endParaRPr/>
          </a:p>
        </p:txBody>
      </p:sp>
      <p:sp>
        <p:nvSpPr>
          <p:cNvPr id="223" name="Google Shape;223;g31aa5a1e289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4" name="Google Shape;224;g31aa5a1e28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848977" cy="4096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aa5a1e289_0_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Train your model</a:t>
            </a:r>
            <a:endParaRPr/>
          </a:p>
        </p:txBody>
      </p:sp>
      <p:sp>
        <p:nvSpPr>
          <p:cNvPr id="230" name="Google Shape;230;g31aa5a1e289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g31aa5a1e289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25" y="1102658"/>
            <a:ext cx="7536725" cy="3503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aa5a1e289_0_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Training result</a:t>
            </a:r>
            <a:endParaRPr/>
          </a:p>
        </p:txBody>
      </p:sp>
      <p:sp>
        <p:nvSpPr>
          <p:cNvPr id="237" name="Google Shape;237;g31aa5a1e289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" name="Google Shape;238;g31aa5a1e289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448425" cy="1504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aa5a1e289_0_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Evaluate the model</a:t>
            </a:r>
            <a:endParaRPr/>
          </a:p>
        </p:txBody>
      </p:sp>
      <p:sp>
        <p:nvSpPr>
          <p:cNvPr id="244" name="Google Shape;244;g31aa5a1e289_0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" name="Google Shape;245;g31aa5a1e289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219825" cy="3286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aa5a1e289_0_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Auto generated code</a:t>
            </a:r>
            <a:endParaRPr/>
          </a:p>
        </p:txBody>
      </p:sp>
      <p:sp>
        <p:nvSpPr>
          <p:cNvPr id="251" name="Google Shape;251;g31aa5a1e289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2" name="Google Shape;252;g31aa5a1e289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2609850" cy="1619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3" name="Google Shape;253;g31aa5a1e289_0_29"/>
          <p:cNvSpPr txBox="1"/>
          <p:nvPr>
            <p:ph idx="1" type="body"/>
          </p:nvPr>
        </p:nvSpPr>
        <p:spPr>
          <a:xfrm>
            <a:off x="3016000" y="914000"/>
            <a:ext cx="60576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b="1" lang="en" sz="1900">
                <a:solidFill>
                  <a:srgbClr val="FF9900"/>
                </a:solidFill>
              </a:rPr>
              <a:t>SentimentModel.consumption.cs</a:t>
            </a:r>
            <a:r>
              <a:rPr lang="en" sz="1900"/>
              <a:t>: model input &amp; output classes &amp; a Predict method that can be used for model consumption.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b="1" lang="en" sz="1900">
                <a:solidFill>
                  <a:srgbClr val="FF9900"/>
                </a:solidFill>
              </a:rPr>
              <a:t>SentimentModel.evaluate.cs</a:t>
            </a:r>
            <a:r>
              <a:rPr lang="en" sz="1900"/>
              <a:t>: CalculatePFI method that uses the Permutation Feature Importance (PFI) technique to evaluate which features contribute most to the model predictions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b="1" lang="en" sz="1900">
                <a:solidFill>
                  <a:srgbClr val="FF9900"/>
                </a:solidFill>
              </a:rPr>
              <a:t>SentimentModel.mlnet:</a:t>
            </a:r>
            <a:r>
              <a:rPr lang="en" sz="1900"/>
              <a:t> This file is the trained ML.NET model, which is a serialized zip file.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b="1" lang="en" sz="1900">
                <a:solidFill>
                  <a:srgbClr val="FF9900"/>
                </a:solidFill>
              </a:rPr>
              <a:t>SentimentModel.training.cs:</a:t>
            </a:r>
            <a:r>
              <a:rPr lang="en" sz="1900"/>
              <a:t> code to understand the importance input columns have on your model predictions</a:t>
            </a:r>
            <a:endParaRPr sz="1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aa5a1e289_0_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Consume your model</a:t>
            </a:r>
            <a:endParaRPr/>
          </a:p>
        </p:txBody>
      </p:sp>
      <p:sp>
        <p:nvSpPr>
          <p:cNvPr id="259" name="Google Shape;259;g31aa5a1e289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g31aa5a1e289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4347170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aa5a1e289_0_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with generated code snippet</a:t>
            </a:r>
            <a:endParaRPr/>
          </a:p>
        </p:txBody>
      </p:sp>
      <p:sp>
        <p:nvSpPr>
          <p:cNvPr id="266" name="Google Shape;266;g31aa5a1e289_0_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7" name="Google Shape;267;g31aa5a1e289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8839201" cy="310162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1aa5a1e289_0_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environments in Model Builder</a:t>
            </a:r>
            <a:endParaRPr/>
          </a:p>
        </p:txBody>
      </p:sp>
      <p:sp>
        <p:nvSpPr>
          <p:cNvPr id="273" name="Google Shape;273;g31aa5a1e289_0_5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1aa5a1e289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5" name="Google Shape;275;g31aa5a1e289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50" y="938213"/>
            <a:ext cx="8877300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aa5a1e289_0_6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problem to use with Model Builder</a:t>
            </a:r>
            <a:endParaRPr/>
          </a:p>
        </p:txBody>
      </p:sp>
      <p:sp>
        <p:nvSpPr>
          <p:cNvPr id="281" name="Google Shape;281;g31aa5a1e289_0_6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Categorizing data</a:t>
            </a:r>
            <a:r>
              <a:rPr lang="en"/>
              <a:t>: Organize news articles by topic.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Predicting a numerical value</a:t>
            </a:r>
            <a:r>
              <a:rPr lang="en"/>
              <a:t>: Estimate the price of a home.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Grouping items with similar characteristics</a:t>
            </a:r>
            <a:r>
              <a:rPr lang="en"/>
              <a:t>: Segment customers.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Recommending items</a:t>
            </a:r>
            <a:r>
              <a:rPr lang="en"/>
              <a:t>: Recommend movies.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Classifying images</a:t>
            </a:r>
            <a:r>
              <a:rPr lang="en"/>
              <a:t>: Tag an image based on its contents.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Detecting objects in an image</a:t>
            </a:r>
            <a:r>
              <a:rPr lang="en"/>
              <a:t>: Detect pedestrians and bicycles at an intersection</a:t>
            </a:r>
            <a:endParaRPr/>
          </a:p>
        </p:txBody>
      </p:sp>
      <p:sp>
        <p:nvSpPr>
          <p:cNvPr id="282" name="Google Shape;282;g31aa5a1e289_0_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aa5a1e289_0_67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a predictive maintenance model</a:t>
            </a:r>
            <a:endParaRPr/>
          </a:p>
        </p:txBody>
      </p:sp>
      <p:sp>
        <p:nvSpPr>
          <p:cNvPr id="288" name="Google Shape;288;g31aa5a1e289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g31aa5a1e289_0_67"/>
          <p:cNvSpPr txBox="1"/>
          <p:nvPr/>
        </p:nvSpPr>
        <p:spPr>
          <a:xfrm>
            <a:off x="658050" y="3522475"/>
            <a:ext cx="76635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Train a machine learning model for predictive maintenance by using ML.NET Model Builder - Training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1aa5a1e289_0_7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Prepare dataset</a:t>
            </a:r>
            <a:endParaRPr/>
          </a:p>
        </p:txBody>
      </p:sp>
      <p:sp>
        <p:nvSpPr>
          <p:cNvPr id="295" name="Google Shape;295;g31aa5a1e289_0_7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 u="sng">
                <a:solidFill>
                  <a:schemeClr val="hlink"/>
                </a:solidFill>
                <a:hlinkClick r:id="rId3"/>
              </a:rPr>
              <a:t>AI4I 2020 Predictive Maintenance</a:t>
            </a:r>
            <a:r>
              <a:rPr lang="en"/>
              <a:t>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10,000 data points and 14 columns.</a:t>
            </a:r>
            <a:endParaRPr/>
          </a:p>
        </p:txBody>
      </p:sp>
      <p:sp>
        <p:nvSpPr>
          <p:cNvPr id="296" name="Google Shape;296;g31aa5a1e289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aa5a1e289_0_8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understanding</a:t>
            </a:r>
            <a:endParaRPr/>
          </a:p>
        </p:txBody>
      </p:sp>
      <p:sp>
        <p:nvSpPr>
          <p:cNvPr id="302" name="Google Shape;302;g31aa5a1e289_0_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g31aa5a1e289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7255672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aa5a1e289_0_9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309" name="Google Shape;309;g31aa5a1e289_0_9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Not all the columns in the dataset are needed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Because you want to be able to predict whether a machine will fail or not, the Machine failure column is the label. In Model Builder, for features, you can use data from the Product ID, Type, and various sensor columns.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Although the failure modes are useful in diagnosing the root cause of a failure, they aren't useful for your use case.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310" name="Google Shape;310;g31aa5a1e289_0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1aa5a1e289_0_9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Add ML Model to a new project</a:t>
            </a:r>
            <a:endParaRPr/>
          </a:p>
        </p:txBody>
      </p:sp>
      <p:sp>
        <p:nvSpPr>
          <p:cNvPr id="316" name="Google Shape;316;g31aa5a1e289_0_9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PredictiveMaintenanceModel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Remove special characters in dataOriginal header: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UDI,Product ID,Type,Air temperature</a:t>
            </a:r>
            <a:r>
              <a:rPr b="1" lang="en" sz="2000">
                <a:solidFill>
                  <a:srgbClr val="9900FF"/>
                </a:solidFill>
              </a:rPr>
              <a:t> [K]</a:t>
            </a:r>
            <a:r>
              <a:rPr lang="en" sz="2000"/>
              <a:t>,Process temperature </a:t>
            </a:r>
            <a:r>
              <a:rPr b="1" lang="en" sz="2000">
                <a:solidFill>
                  <a:srgbClr val="9900FF"/>
                </a:solidFill>
              </a:rPr>
              <a:t>[K]</a:t>
            </a:r>
            <a:r>
              <a:rPr lang="en" sz="2000"/>
              <a:t>,Rotational speed</a:t>
            </a:r>
            <a:r>
              <a:rPr b="1" lang="en" sz="2000">
                <a:solidFill>
                  <a:srgbClr val="9900FF"/>
                </a:solidFill>
              </a:rPr>
              <a:t> [rpm]</a:t>
            </a:r>
            <a:r>
              <a:rPr lang="en" sz="2000"/>
              <a:t>,Torque </a:t>
            </a:r>
            <a:r>
              <a:rPr b="1" lang="en" sz="2000">
                <a:solidFill>
                  <a:srgbClr val="9900FF"/>
                </a:solidFill>
              </a:rPr>
              <a:t>[Nm]</a:t>
            </a:r>
            <a:r>
              <a:rPr lang="en" sz="2000"/>
              <a:t>,Tool wear </a:t>
            </a:r>
            <a:r>
              <a:rPr b="1" lang="en" sz="2000">
                <a:solidFill>
                  <a:srgbClr val="9900FF"/>
                </a:solidFill>
              </a:rPr>
              <a:t>[min]</a:t>
            </a:r>
            <a:r>
              <a:rPr lang="en" sz="2000"/>
              <a:t>,Machine failure,TWF,HDF,PWF,OSF,RNF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Updated header: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UDI,Product ID,Type,Air temperature,Process temperature,Rotational speed,Torque,Tool wear,Machine failure,TWF,HDF,PWF,OSF,RNF</a:t>
            </a:r>
            <a:endParaRPr sz="2000"/>
          </a:p>
        </p:txBody>
      </p:sp>
      <p:sp>
        <p:nvSpPr>
          <p:cNvPr id="317" name="Google Shape;317;g31aa5a1e289_0_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1aa5a1e289_0_10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Column settings </a:t>
            </a:r>
            <a:endParaRPr/>
          </a:p>
        </p:txBody>
      </p:sp>
      <p:sp>
        <p:nvSpPr>
          <p:cNvPr id="323" name="Google Shape;323;g31aa5a1e289_0_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g31aa5a1e289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4900"/>
            <a:ext cx="6047450" cy="3971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aa5a1e289_0_11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Train </a:t>
            </a:r>
            <a:endParaRPr/>
          </a:p>
        </p:txBody>
      </p:sp>
      <p:sp>
        <p:nvSpPr>
          <p:cNvPr id="330" name="Google Shape;330;g31aa5a1e289_0_11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Time: 30s</a:t>
            </a:r>
            <a:endParaRPr/>
          </a:p>
        </p:txBody>
      </p:sp>
      <p:sp>
        <p:nvSpPr>
          <p:cNvPr id="331" name="Google Shape;331;g31aa5a1e289_0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1b47964ebd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</p:txBody>
      </p:sp>
      <p:sp>
        <p:nvSpPr>
          <p:cNvPr id="337" name="Google Shape;337;g31b47964ebd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https://learn.microsoft.com/en-us/dotnet/machine-learning</a:t>
            </a:r>
            <a:r>
              <a:rPr lang="en"/>
              <a:t> </a:t>
            </a:r>
            <a:endParaRPr/>
          </a:p>
        </p:txBody>
      </p:sp>
      <p:sp>
        <p:nvSpPr>
          <p:cNvPr id="338" name="Google Shape;338;g31b47964ebd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g31b47964ebd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702" y="1536100"/>
            <a:ext cx="2029350" cy="33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