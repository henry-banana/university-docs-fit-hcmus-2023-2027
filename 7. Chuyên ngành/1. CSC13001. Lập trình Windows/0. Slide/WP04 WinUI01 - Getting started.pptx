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5143500" cx="9144000"/>
  <p:notesSz cx="6858000" cy="9144000"/>
  <p:embeddedFontLst>
    <p:embeddedFont>
      <p:font typeface="Roboto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8" roundtripDataSignature="AMtx7mj6v9bK33Oh1IW4kwBPJbNn7LoU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font" Target="fonts/Roboto-regular.fntdata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46" Type="http://schemas.openxmlformats.org/officeDocument/2006/relationships/font" Target="fonts/Roboto-italic.fntdata"/><Relationship Id="rId23" Type="http://schemas.openxmlformats.org/officeDocument/2006/relationships/slide" Target="slides/slide18.xml"/><Relationship Id="rId45" Type="http://schemas.openxmlformats.org/officeDocument/2006/relationships/font" Target="fonts/Robo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8" Type="http://customschemas.google.com/relationships/presentationmetadata" Target="metadata"/><Relationship Id="rId25" Type="http://schemas.openxmlformats.org/officeDocument/2006/relationships/slide" Target="slides/slide20.xml"/><Relationship Id="rId47" Type="http://schemas.openxmlformats.org/officeDocument/2006/relationships/font" Target="fonts/Roboto-bold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" name="Google Shape;59;p1:notes"/>
          <p:cNvSpPr/>
          <p:nvPr>
            <p:ph idx="2" type="sldImg"/>
          </p:nvPr>
        </p:nvSpPr>
        <p:spPr>
          <a:xfrm>
            <a:off x="1885950" y="1143000"/>
            <a:ext cx="3086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964f5a7bf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g2964f5a7b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e0a94a8434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2e0a94a8434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e0a94a8434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2e0a94a8434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e0715eb61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2e0715eb61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e0ba515e4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2e0ba515e4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e0715eb61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2e0715eb61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e0a94a843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2e0a94a84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0715eb61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2e0715eb61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e0a94a843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2e0a94a843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efdf8bd7f2_2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2efdf8bd7f2_2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efdf8bd7f2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2efdf8bd7f2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efdf8bd7f2_2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2efdf8bd7f2_2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e0a94a843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2e0a94a843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7a04ed7d55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27a04ed7d5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f8a92e9b20_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2f8a92e9b20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e0a94a843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2e0a94a843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efdf8bd7f2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2efdf8bd7f2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7a04ed7d5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g27a04ed7d5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7a04ed7d5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27a04ed7d5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e0ba515e4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g2e0ba515e4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e0a94a8434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2e0a94a8434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e0a94a8434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g2e0a94a8434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e0a94a8434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2e0a94a8434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e0a94a8434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g2e0a94a8434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2eaafdbf5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2eaafdbf5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e0a94a8434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2e0a94a8434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26767784f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26767784f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3e1ea0269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3e1ea0269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e0a94a8434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g2e0a94a8434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e0a94a8434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g2e0a94a8434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e0a94a8434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g2e0a94a8434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e0a94a8434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g2e0a94a8434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e0a94a8434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g2e0a94a8434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e0a94a8434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g2e0a94a8434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2e0a94a8434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g2e0a94a8434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28356a58d0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g28356a58d0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38876d573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38876d573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2019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2"/>
          <p:cNvSpPr/>
          <p:nvPr/>
        </p:nvSpPr>
        <p:spPr>
          <a:xfrm>
            <a:off x="0" y="1907425"/>
            <a:ext cx="9144000" cy="1392900"/>
          </a:xfrm>
          <a:prstGeom prst="rect">
            <a:avLst/>
          </a:prstGeom>
          <a:solidFill>
            <a:srgbClr val="171E27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62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62"/>
          <p:cNvSpPr txBox="1"/>
          <p:nvPr>
            <p:ph idx="1" type="subTitle"/>
          </p:nvPr>
        </p:nvSpPr>
        <p:spPr>
          <a:xfrm>
            <a:off x="311700" y="376466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64"/>
          <p:cNvSpPr/>
          <p:nvPr/>
        </p:nvSpPr>
        <p:spPr>
          <a:xfrm>
            <a:off x="-20250" y="0"/>
            <a:ext cx="9184500" cy="7857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6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6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❏"/>
              <a:defRPr sz="2600">
                <a:solidFill>
                  <a:srgbClr val="000000"/>
                </a:solidFill>
              </a:defRPr>
            </a:lvl1pPr>
            <a:lvl2pPr indent="-355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000"/>
              <a:buChar char="❏"/>
              <a:defRPr sz="2000">
                <a:solidFill>
                  <a:srgbClr val="000000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❏"/>
              <a:defRPr sz="1800"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8" name="Google Shape;18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" name="Google Shape;21;p63"/>
          <p:cNvSpPr/>
          <p:nvPr/>
        </p:nvSpPr>
        <p:spPr>
          <a:xfrm>
            <a:off x="540000" y="1281775"/>
            <a:ext cx="8064000" cy="2240700"/>
          </a:xfrm>
          <a:prstGeom prst="rect">
            <a:avLst/>
          </a:prstGeom>
          <a:solidFill>
            <a:srgbClr val="2196F3"/>
          </a:solidFill>
          <a:ln>
            <a:noFill/>
          </a:ln>
          <a:effectLst>
            <a:outerShdw blurRad="757238" rotWithShape="0" algn="bl" dir="12000000" dist="9525">
              <a:srgbClr val="000000">
                <a:alpha val="5568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63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65"/>
          <p:cNvSpPr/>
          <p:nvPr/>
        </p:nvSpPr>
        <p:spPr>
          <a:xfrm flipH="1" rot="10800000">
            <a:off x="615650" y="2959437"/>
            <a:ext cx="7856700" cy="15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25e795b85a1_0_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6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6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6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7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MAIN_POINT_1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42" name="Google Shape;42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43950" y="2559800"/>
            <a:ext cx="1981149" cy="1981149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7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 1">
  <p:cSld name="MAIN_POINT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46" name="Google Shape;46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54225" y="2887900"/>
            <a:ext cx="1683875" cy="168387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7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1" name="Google Shape;51;p7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2" name="Google Shape;52;p72"/>
          <p:cNvSpPr txBox="1"/>
          <p:nvPr>
            <p:ph idx="2" type="body"/>
          </p:nvPr>
        </p:nvSpPr>
        <p:spPr>
          <a:xfrm>
            <a:off x="4834400" y="403700"/>
            <a:ext cx="4107600" cy="43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3" name="Google Shape;53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6" name="Google Shape;56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2196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1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"/>
              <a:buNone/>
              <a:defRPr b="0" i="0" sz="2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1"/>
          <p:cNvSpPr txBox="1"/>
          <p:nvPr>
            <p:ph idx="1" type="body"/>
          </p:nvPr>
        </p:nvSpPr>
        <p:spPr>
          <a:xfrm>
            <a:off x="90825" y="863550"/>
            <a:ext cx="9053100" cy="4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learn.microsoft.com/en-us/windows/apps/get-started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learn.microsoft.com/en-us/windows/msix/package/packaging-uwp-apps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0.png"/><Relationship Id="rId4" Type="http://schemas.openxmlformats.org/officeDocument/2006/relationships/image" Target="../media/image21.png"/><Relationship Id="rId5" Type="http://schemas.openxmlformats.org/officeDocument/2006/relationships/image" Target="../media/image2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Relationship Id="rId4" Type="http://schemas.openxmlformats.org/officeDocument/2006/relationships/image" Target="../media/image3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github.com/microsoft/WinUI-Gallery" TargetMode="External"/><Relationship Id="rId4" Type="http://schemas.openxmlformats.org/officeDocument/2006/relationships/image" Target="../media/image2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github.com/CommunityToolkit/Windows" TargetMode="External"/><Relationship Id="rId4" Type="http://schemas.openxmlformats.org/officeDocument/2006/relationships/hyperlink" Target="https://toolkitlabs.dev" TargetMode="External"/><Relationship Id="rId5" Type="http://schemas.openxmlformats.org/officeDocument/2006/relationships/image" Target="../media/image22.png"/><Relationship Id="rId6" Type="http://schemas.openxmlformats.org/officeDocument/2006/relationships/image" Target="../media/image2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github.com/microsoft/WindowsCompositionSamples" TargetMode="External"/><Relationship Id="rId4" Type="http://schemas.openxmlformats.org/officeDocument/2006/relationships/image" Target="../media/image32.png"/><Relationship Id="rId5" Type="http://schemas.openxmlformats.org/officeDocument/2006/relationships/image" Target="../media/image3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github.com/CommunityToolkit/MVVM-Samples" TargetMode="External"/><Relationship Id="rId4" Type="http://schemas.openxmlformats.org/officeDocument/2006/relationships/image" Target="../media/image4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learn.microsoft.com/en-us/dotnet/architecture/maui/mvvm" TargetMode="External"/><Relationship Id="rId4" Type="http://schemas.openxmlformats.org/officeDocument/2006/relationships/hyperlink" Target="https://github.com/MarkWithall/worlds-simplest-csharp-wpf-mvvm-example/tree/C%239.0" TargetMode="External"/><Relationship Id="rId5" Type="http://schemas.openxmlformats.org/officeDocument/2006/relationships/image" Target="../media/image3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stackoverflow.com/questions/667781/what-is-the-difference-between-mvc-and-mvvm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github.com/microsoft/ai-dev-gallery" TargetMode="External"/><Relationship Id="rId4" Type="http://schemas.openxmlformats.org/officeDocument/2006/relationships/image" Target="../media/image4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github.com/microsoft/WindowsAppSDK-Samples" TargetMode="External"/><Relationship Id="rId4" Type="http://schemas.openxmlformats.org/officeDocument/2006/relationships/hyperlink" Target="https://github.com/scottkuhl/awesome-winui" TargetMode="External"/><Relationship Id="rId5" Type="http://schemas.openxmlformats.org/officeDocument/2006/relationships/hyperlink" Target="https://learn.microsoft.com/en-us/windows/apps/design/downloads" TargetMode="External"/><Relationship Id="rId6" Type="http://schemas.openxmlformats.org/officeDocument/2006/relationships/hyperlink" Target="https://github.com/microsoft/InventorySample" TargetMode="External"/><Relationship Id="rId7" Type="http://schemas.openxmlformats.org/officeDocument/2006/relationships/hyperlink" Target="https://github.com/livealvi/.NET-Point-of-Sale-POS--Csharp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learn.microsoft.com/en-us/windows/apps/get-started/best-practices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learn.microsoft.com/en-us/windows/apps/design/signature-experiences/design-principles" TargetMode="External"/><Relationship Id="rId4" Type="http://schemas.openxmlformats.org/officeDocument/2006/relationships/hyperlink" Target="https://www.figma.com/community/file/1159947337437047524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learn.microsoft.com/en-us/windows/apps/design/layout/responsive-design" TargetMode="External"/><Relationship Id="rId4" Type="http://schemas.openxmlformats.org/officeDocument/2006/relationships/image" Target="../media/image38.png"/><Relationship Id="rId5" Type="http://schemas.openxmlformats.org/officeDocument/2006/relationships/image" Target="../media/image3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learn.microsoft.com/en-us/windows/apps/get-started/make-apps-great-for-windows#5-use-the-latest-design-materials-acrylic-and-mica" TargetMode="External"/><Relationship Id="rId4" Type="http://schemas.openxmlformats.org/officeDocument/2006/relationships/image" Target="../media/image3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learn.microsoft.com/en-us/windows/apps/get-started/make-apps-great-for-windows#9-use-beautiful-iconography--typography" TargetMode="External"/><Relationship Id="rId4" Type="http://schemas.openxmlformats.org/officeDocument/2006/relationships/image" Target="../media/image3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Quattrocento Sans"/>
              <a:buNone/>
            </a:pPr>
            <a:r>
              <a:rPr lang="en" sz="4400"/>
              <a:t>WinUI - Getting started</a:t>
            </a:r>
            <a:endParaRPr sz="4400"/>
          </a:p>
        </p:txBody>
      </p:sp>
      <p:sp>
        <p:nvSpPr>
          <p:cNvPr id="62" name="Google Shape;62;p1"/>
          <p:cNvSpPr txBox="1"/>
          <p:nvPr>
            <p:ph idx="1" type="subTitle"/>
          </p:nvPr>
        </p:nvSpPr>
        <p:spPr>
          <a:xfrm>
            <a:off x="311700" y="4552045"/>
            <a:ext cx="85206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600" u="sng">
                <a:solidFill>
                  <a:schemeClr val="lt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https://learn.microsoft.com/en-us/windows/apps/get-started</a:t>
            </a:r>
            <a:r>
              <a:rPr lang="en" sz="1600">
                <a:solidFill>
                  <a:schemeClr val="lt1"/>
                </a:solidFill>
              </a:rPr>
              <a:t> </a:t>
            </a:r>
            <a:endParaRPr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964f5a7bf4_0_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What is WinUI?</a:t>
            </a:r>
            <a:endParaRPr/>
          </a:p>
        </p:txBody>
      </p:sp>
      <p:sp>
        <p:nvSpPr>
          <p:cNvPr id="68" name="Google Shape;68;g2964f5a7bf4_0_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>
                <a:solidFill>
                  <a:srgbClr val="0000FF"/>
                </a:solidFill>
              </a:rPr>
              <a:t>XAML</a:t>
            </a:r>
            <a:r>
              <a:rPr b="1" lang="en">
                <a:solidFill>
                  <a:srgbClr val="2196F3"/>
                </a:solidFill>
              </a:rPr>
              <a:t> </a:t>
            </a:r>
            <a:r>
              <a:rPr lang="en"/>
              <a:t>markup-based user interface layer 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Contains </a:t>
            </a:r>
            <a:r>
              <a:rPr b="1" lang="en">
                <a:solidFill>
                  <a:srgbClr val="6AA84F"/>
                </a:solidFill>
              </a:rPr>
              <a:t>modern controls</a:t>
            </a:r>
            <a:r>
              <a:rPr lang="en"/>
              <a:t> and </a:t>
            </a:r>
            <a:r>
              <a:rPr b="1" lang="en">
                <a:solidFill>
                  <a:srgbClr val="6AA84F"/>
                </a:solidFill>
              </a:rPr>
              <a:t>styles </a:t>
            </a:r>
            <a:r>
              <a:rPr lang="en"/>
              <a:t>for building Windows apps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>
                <a:solidFill>
                  <a:srgbClr val="FF9900"/>
                </a:solidFill>
              </a:rPr>
              <a:t>Native UI layer</a:t>
            </a:r>
            <a:r>
              <a:rPr lang="en"/>
              <a:t> for </a:t>
            </a:r>
            <a:r>
              <a:rPr b="1" lang="en">
                <a:solidFill>
                  <a:srgbClr val="9900FF"/>
                </a:solidFill>
              </a:rPr>
              <a:t>Windows App SDK</a:t>
            </a:r>
            <a:endParaRPr b="1">
              <a:solidFill>
                <a:srgbClr val="9900FF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Embodies </a:t>
            </a:r>
            <a:r>
              <a:rPr b="1" lang="en">
                <a:solidFill>
                  <a:srgbClr val="FF00FF"/>
                </a:solidFill>
              </a:rPr>
              <a:t>Fluent Design</a:t>
            </a:r>
            <a:endParaRPr b="1">
              <a:solidFill>
                <a:srgbClr val="FF00FF"/>
              </a:solidFill>
            </a:endParaRPr>
          </a:p>
        </p:txBody>
      </p:sp>
      <p:sp>
        <p:nvSpPr>
          <p:cNvPr id="69" name="Google Shape;69;g2964f5a7bf4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e0a94a8434_0_43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History</a:t>
            </a:r>
            <a:endParaRPr/>
          </a:p>
        </p:txBody>
      </p:sp>
      <p:sp>
        <p:nvSpPr>
          <p:cNvPr id="75" name="Google Shape;75;g2e0a94a8434_0_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6" name="Google Shape;76;g2e0a94a8434_0_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328363"/>
            <a:ext cx="8839200" cy="2748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e0a94a8434_0_5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Evolution</a:t>
            </a:r>
            <a:endParaRPr/>
          </a:p>
        </p:txBody>
      </p:sp>
      <p:sp>
        <p:nvSpPr>
          <p:cNvPr id="82" name="Google Shape;82;g2e0a94a8434_0_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3" name="Google Shape;83;g2e0a94a8434_0_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325" y="894900"/>
            <a:ext cx="7973355" cy="36159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e0715eb61e_0_3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Getting started</a:t>
            </a:r>
            <a:endParaRPr/>
          </a:p>
        </p:txBody>
      </p:sp>
      <p:sp>
        <p:nvSpPr>
          <p:cNvPr id="89" name="Google Shape;89;g2e0715eb61e_0_3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Install </a:t>
            </a:r>
            <a:r>
              <a:rPr b="1" lang="en">
                <a:solidFill>
                  <a:srgbClr val="0000FF"/>
                </a:solidFill>
              </a:rPr>
              <a:t>Visual Studio</a:t>
            </a:r>
            <a:r>
              <a:rPr lang="en"/>
              <a:t> (</a:t>
            </a:r>
            <a:r>
              <a:rPr lang="en">
                <a:solidFill>
                  <a:srgbClr val="9900FF"/>
                </a:solidFill>
              </a:rPr>
              <a:t>Community</a:t>
            </a:r>
            <a:r>
              <a:rPr lang="en"/>
              <a:t> Edition is enough)</a:t>
            </a:r>
            <a:endParaRPr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Required workload: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2. Enable </a:t>
            </a:r>
            <a:r>
              <a:rPr b="1" lang="en">
                <a:solidFill>
                  <a:srgbClr val="0000FF"/>
                </a:solidFill>
              </a:rPr>
              <a:t>Developer Mode</a:t>
            </a:r>
            <a:endParaRPr/>
          </a:p>
        </p:txBody>
      </p:sp>
      <p:sp>
        <p:nvSpPr>
          <p:cNvPr id="90" name="Google Shape;90;g2e0715eb61e_0_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1" name="Google Shape;91;g2e0715eb61e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4113" y="1952613"/>
            <a:ext cx="3781425" cy="5429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2" name="Google Shape;92;g2e0715eb61e_0_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90400" y="3269728"/>
            <a:ext cx="5279099" cy="15068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e0ba515e4f_0_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3. Extension: Template Studio for WinUI</a:t>
            </a:r>
            <a:endParaRPr/>
          </a:p>
        </p:txBody>
      </p:sp>
      <p:sp>
        <p:nvSpPr>
          <p:cNvPr id="98" name="Google Shape;98;g2e0ba515e4f_0_6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Create apps using C# and the MVVM Toolkit</a:t>
            </a:r>
            <a:endParaRPr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b="1" lang="en">
                <a:solidFill>
                  <a:srgbClr val="FF0000"/>
                </a:solidFill>
              </a:rPr>
              <a:t>Must use</a:t>
            </a:r>
            <a:r>
              <a:rPr lang="en">
                <a:solidFill>
                  <a:srgbClr val="FF0000"/>
                </a:solidFill>
              </a:rPr>
              <a:t> </a:t>
            </a:r>
            <a:r>
              <a:rPr lang="en"/>
              <a:t>the </a:t>
            </a:r>
            <a:r>
              <a:rPr b="1" lang="en">
                <a:solidFill>
                  <a:srgbClr val="0000FF"/>
                </a:solidFill>
              </a:rPr>
              <a:t>MVVM </a:t>
            </a:r>
            <a:r>
              <a:rPr lang="en"/>
              <a:t>design pattern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Support multiple layout</a:t>
            </a:r>
            <a:endParaRPr/>
          </a:p>
        </p:txBody>
      </p:sp>
      <p:sp>
        <p:nvSpPr>
          <p:cNvPr id="99" name="Google Shape;99;g2e0ba515e4f_0_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0" name="Google Shape;100;g2e0ba515e4f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5700" y="2264424"/>
            <a:ext cx="6127526" cy="269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e0715eb61e_0_13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Create your first WinUI app</a:t>
            </a:r>
            <a:endParaRPr/>
          </a:p>
        </p:txBody>
      </p:sp>
      <p:sp>
        <p:nvSpPr>
          <p:cNvPr id="106" name="Google Shape;106;g2e0715eb61e_0_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7" name="Google Shape;107;g2e0715eb61e_0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225" y="1300163"/>
            <a:ext cx="7829550" cy="25431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e0a94a8434_0_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Build &amp; Launch the app: Ctrl + Shift + B &gt; Ctrl + F5</a:t>
            </a:r>
            <a:endParaRPr/>
          </a:p>
        </p:txBody>
      </p:sp>
      <p:sp>
        <p:nvSpPr>
          <p:cNvPr id="113" name="Google Shape;113;g2e0a94a8434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4" name="Google Shape;114;g2e0a94a843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6625" y="838800"/>
            <a:ext cx="4724400" cy="41338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5" name="Google Shape;115;g2e0a94a8434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904425"/>
            <a:ext cx="1800225" cy="31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e0715eb61e_0_2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Project structure &amp; Artifacts</a:t>
            </a:r>
            <a:endParaRPr/>
          </a:p>
        </p:txBody>
      </p:sp>
      <p:sp>
        <p:nvSpPr>
          <p:cNvPr id="121" name="Google Shape;121;g2e0715eb61e_0_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2" name="Google Shape;122;g2e0715eb61e_0_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8238" y="1009650"/>
            <a:ext cx="2333625" cy="3124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3" name="Google Shape;123;g2e0715eb61e_0_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38563" y="1009650"/>
            <a:ext cx="4333875" cy="27146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4" name="Google Shape;124;g2e0715eb61e_0_20"/>
          <p:cNvSpPr txBox="1"/>
          <p:nvPr/>
        </p:nvSpPr>
        <p:spPr>
          <a:xfrm>
            <a:off x="3962400" y="3991425"/>
            <a:ext cx="4838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Currently you </a:t>
            </a:r>
            <a:r>
              <a:rPr b="1" i="0" lang="en" sz="18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cannot </a:t>
            </a:r>
            <a:r>
              <a:rPr b="0" i="0" lang="en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run this exe file directly! 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You </a:t>
            </a:r>
            <a:r>
              <a:rPr b="1" i="0" lang="en" sz="1800" u="none" cap="none" strike="noStrike">
                <a:solidFill>
                  <a:srgbClr val="38761D"/>
                </a:solidFill>
                <a:latin typeface="Roboto"/>
                <a:ea typeface="Roboto"/>
                <a:cs typeface="Roboto"/>
                <a:sym typeface="Roboto"/>
              </a:rPr>
              <a:t>must deploy it</a:t>
            </a:r>
            <a:r>
              <a:rPr b="0" i="0" lang="en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!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e0a94a8434_0_1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UI definition: MainWindow.xaml</a:t>
            </a:r>
            <a:endParaRPr/>
          </a:p>
        </p:txBody>
      </p:sp>
      <p:sp>
        <p:nvSpPr>
          <p:cNvPr id="130" name="Google Shape;130;g2e0a94a8434_0_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1" name="Google Shape;131;g2e0a94a8434_0_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94900"/>
            <a:ext cx="8839199" cy="332028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efdf8bd7f2_2_3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XML Quick summary</a:t>
            </a:r>
            <a:endParaRPr/>
          </a:p>
        </p:txBody>
      </p:sp>
      <p:sp>
        <p:nvSpPr>
          <p:cNvPr id="137" name="Google Shape;137;g2efdf8bd7f2_2_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8" name="Google Shape;138;g2efdf8bd7f2_2_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300" y="1085400"/>
            <a:ext cx="8772450" cy="35342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efdf8bd7f2_2_1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Event handler mapping: MainWindow.xaml.cs</a:t>
            </a:r>
            <a:endParaRPr/>
          </a:p>
        </p:txBody>
      </p:sp>
      <p:sp>
        <p:nvSpPr>
          <p:cNvPr id="144" name="Google Shape;144;g2efdf8bd7f2_2_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5" name="Google Shape;145;g2efdf8bd7f2_2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94900"/>
            <a:ext cx="4619625" cy="12763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6" name="Google Shape;146;g2efdf8bd7f2_2_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2504625"/>
            <a:ext cx="5381625" cy="1600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7" name="Google Shape;147;g2efdf8bd7f2_2_15"/>
          <p:cNvSpPr/>
          <p:nvPr/>
        </p:nvSpPr>
        <p:spPr>
          <a:xfrm>
            <a:off x="1209675" y="1217225"/>
            <a:ext cx="3657600" cy="393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efdf8bd7f2_2_2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Entry point: App.xaml.cs &gt; OnLaunched</a:t>
            </a:r>
            <a:endParaRPr/>
          </a:p>
        </p:txBody>
      </p:sp>
      <p:sp>
        <p:nvSpPr>
          <p:cNvPr id="153" name="Google Shape;153;g2efdf8bd7f2_2_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4" name="Google Shape;154;g2efdf8bd7f2_2_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94900"/>
            <a:ext cx="6762750" cy="23907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e0a94a8434_0_2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Minor changes</a:t>
            </a:r>
            <a:endParaRPr/>
          </a:p>
        </p:txBody>
      </p:sp>
      <p:sp>
        <p:nvSpPr>
          <p:cNvPr id="160" name="Google Shape;160;g2e0a94a8434_0_26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"/>
              <a:t>Create a red “</a:t>
            </a:r>
            <a:r>
              <a:rPr lang="en">
                <a:solidFill>
                  <a:srgbClr val="FF0000"/>
                </a:solidFill>
              </a:rPr>
              <a:t>Hello world</a:t>
            </a:r>
            <a:r>
              <a:rPr lang="en"/>
              <a:t>” text instead of a button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"/>
              <a:t>Change the </a:t>
            </a:r>
            <a:r>
              <a:rPr b="1" lang="en">
                <a:solidFill>
                  <a:srgbClr val="0000FF"/>
                </a:solidFill>
              </a:rPr>
              <a:t>Title </a:t>
            </a:r>
            <a:r>
              <a:rPr lang="en"/>
              <a:t>to “Hello world”</a:t>
            </a:r>
            <a:endParaRPr/>
          </a:p>
        </p:txBody>
      </p:sp>
      <p:sp>
        <p:nvSpPr>
          <p:cNvPr id="161" name="Google Shape;161;g2e0a94a8434_0_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2" name="Google Shape;162;g2e0a94a8434_0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346" y="1923471"/>
            <a:ext cx="3416275" cy="28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7a04ed7d55_0_2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Another change</a:t>
            </a:r>
            <a:endParaRPr/>
          </a:p>
        </p:txBody>
      </p:sp>
      <p:sp>
        <p:nvSpPr>
          <p:cNvPr id="168" name="Google Shape;168;g27a04ed7d55_0_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9" name="Google Shape;169;g27a04ed7d55_0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94900"/>
            <a:ext cx="2771775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27a04ed7d55_0_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2342700"/>
            <a:ext cx="5056844" cy="2648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1" name="Google Shape;171;g27a04ed7d55_0_26"/>
          <p:cNvSpPr/>
          <p:nvPr/>
        </p:nvSpPr>
        <p:spPr>
          <a:xfrm>
            <a:off x="581025" y="2922200"/>
            <a:ext cx="4057500" cy="3936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f8a92e9b20_9_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Clean for submission</a:t>
            </a:r>
            <a:endParaRPr/>
          </a:p>
        </p:txBody>
      </p:sp>
      <p:sp>
        <p:nvSpPr>
          <p:cNvPr id="177" name="Google Shape;177;g2f8a92e9b20_9_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"/>
              <a:t>Build &gt; Clean solution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"/>
              <a:t>Delete these folders: .vs, bin, obj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Your compressed file should be very small!</a:t>
            </a:r>
            <a:endParaRPr/>
          </a:p>
        </p:txBody>
      </p:sp>
      <p:sp>
        <p:nvSpPr>
          <p:cNvPr id="178" name="Google Shape;178;g2f8a92e9b20_9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e0a94a8434_1_0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Local Publish &amp; Deploy</a:t>
            </a:r>
            <a:endParaRPr/>
          </a:p>
        </p:txBody>
      </p:sp>
      <p:sp>
        <p:nvSpPr>
          <p:cNvPr id="184" name="Google Shape;184;g2e0a94a8434_1_0"/>
          <p:cNvSpPr txBox="1"/>
          <p:nvPr/>
        </p:nvSpPr>
        <p:spPr>
          <a:xfrm>
            <a:off x="2511750" y="4599825"/>
            <a:ext cx="4120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Packaging MSIX apps - MSIX | Microsoft Learn</a:t>
            </a:r>
            <a:endParaRPr b="0" i="0" sz="1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efdf8bd7f2_2_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19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"/>
              <a:t>Create msix file by creating a  package</a:t>
            </a:r>
            <a:endParaRPr/>
          </a:p>
        </p:txBody>
      </p:sp>
      <p:sp>
        <p:nvSpPr>
          <p:cNvPr id="190" name="Google Shape;190;g2efdf8bd7f2_2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1" name="Google Shape;191;g2efdf8bd7f2_2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94900"/>
            <a:ext cx="6162675" cy="2057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2" name="Google Shape;192;g2efdf8bd7f2_2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04125" y="3233450"/>
            <a:ext cx="2571750" cy="17335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3" name="Google Shape;193;g2efdf8bd7f2_2_0"/>
          <p:cNvSpPr/>
          <p:nvPr/>
        </p:nvSpPr>
        <p:spPr>
          <a:xfrm rot="5400000">
            <a:off x="4871600" y="3376550"/>
            <a:ext cx="801300" cy="5151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7a04ed7d55_0_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2. Sign your package &amp; Trust it</a:t>
            </a:r>
            <a:endParaRPr/>
          </a:p>
        </p:txBody>
      </p:sp>
      <p:sp>
        <p:nvSpPr>
          <p:cNvPr id="199" name="Google Shape;199;g27a04ed7d55_0_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0" name="Google Shape;200;g27a04ed7d55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500" y="844500"/>
            <a:ext cx="4309899" cy="16415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1" name="Google Shape;201;g27a04ed7d55_0_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91175" y="963875"/>
            <a:ext cx="3038474" cy="15221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2" name="Google Shape;202;g27a04ed7d55_0_5"/>
          <p:cNvSpPr/>
          <p:nvPr/>
        </p:nvSpPr>
        <p:spPr>
          <a:xfrm>
            <a:off x="4651788" y="1379513"/>
            <a:ext cx="693000" cy="571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3" name="Google Shape;203;g27a04ed7d55_0_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2475" y="2638425"/>
            <a:ext cx="5567136" cy="23526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4" name="Google Shape;204;g27a04ed7d55_0_5"/>
          <p:cNvSpPr/>
          <p:nvPr/>
        </p:nvSpPr>
        <p:spPr>
          <a:xfrm flipH="1" rot="-5400000">
            <a:off x="6445951" y="2967304"/>
            <a:ext cx="834000" cy="7425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7a04ed7d55_0_1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Install using the newly created msix file</a:t>
            </a:r>
            <a:endParaRPr/>
          </a:p>
        </p:txBody>
      </p:sp>
      <p:sp>
        <p:nvSpPr>
          <p:cNvPr id="210" name="Google Shape;210;g27a04ed7d55_0_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1" name="Google Shape;211;g27a04ed7d55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94900"/>
            <a:ext cx="2628900" cy="22383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2" name="Google Shape;212;g27a04ed7d55_0_16"/>
          <p:cNvSpPr txBox="1"/>
          <p:nvPr/>
        </p:nvSpPr>
        <p:spPr>
          <a:xfrm>
            <a:off x="3343275" y="1947150"/>
            <a:ext cx="548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On other machine, install certificate  first!!!! (file .cer)</a:t>
            </a:r>
            <a:endParaRPr b="0" i="0" sz="1800" u="none" cap="none" strike="noStrike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3" name="Google Shape;213;g27a04ed7d55_0_16"/>
          <p:cNvSpPr/>
          <p:nvPr/>
        </p:nvSpPr>
        <p:spPr>
          <a:xfrm flipH="1">
            <a:off x="1771725" y="1181100"/>
            <a:ext cx="3952800" cy="800100"/>
          </a:xfrm>
          <a:prstGeom prst="uturnArrow">
            <a:avLst>
              <a:gd fmla="val 25000" name="adj1"/>
              <a:gd fmla="val 25000" name="adj2"/>
              <a:gd fmla="val 25000" name="adj3"/>
              <a:gd fmla="val 43750" name="adj4"/>
              <a:gd fmla="val 75000" name="adj5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g27a04ed7d55_0_16"/>
          <p:cNvSpPr/>
          <p:nvPr/>
        </p:nvSpPr>
        <p:spPr>
          <a:xfrm>
            <a:off x="142875" y="1788721"/>
            <a:ext cx="2067000" cy="2688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e0ba515e4f_0_2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Template Studio - Fixing RuntimeIdentifier error</a:t>
            </a:r>
            <a:endParaRPr/>
          </a:p>
        </p:txBody>
      </p:sp>
      <p:sp>
        <p:nvSpPr>
          <p:cNvPr id="220" name="Google Shape;220;g2e0ba515e4f_0_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1" name="Google Shape;221;g2e0ba515e4f_0_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94900"/>
            <a:ext cx="8565600" cy="438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2" name="Google Shape;222;g2e0ba515e4f_0_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485900"/>
            <a:ext cx="5143500" cy="26794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3" name="Google Shape;223;g2e0ba515e4f_0_20"/>
          <p:cNvSpPr/>
          <p:nvPr/>
        </p:nvSpPr>
        <p:spPr>
          <a:xfrm>
            <a:off x="314325" y="3371850"/>
            <a:ext cx="1181100" cy="838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g2e0ba515e4f_0_20"/>
          <p:cNvSpPr txBox="1"/>
          <p:nvPr/>
        </p:nvSpPr>
        <p:spPr>
          <a:xfrm>
            <a:off x="314325" y="4317750"/>
            <a:ext cx="8258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Right click Project &gt; Edit project file, delete the line that contains “win10-x86;win10-x64;win10-arm64”</a:t>
            </a:r>
            <a:endParaRPr b="0" i="0" sz="18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e0a94a8434_0_105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Samples &amp; Resources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e0a94a8434_0_33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Store &gt; WinUI 3 gallery</a:t>
            </a:r>
            <a:endParaRPr/>
          </a:p>
        </p:txBody>
      </p:sp>
      <p:sp>
        <p:nvSpPr>
          <p:cNvPr id="235" name="Google Shape;235;g2e0a94a8434_0_33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Get an idea of what WinUI has to offer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Source: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https://github.com/microsoft/WinUI-Gallery</a:t>
            </a:r>
            <a:r>
              <a:rPr lang="en"/>
              <a:t> </a:t>
            </a:r>
            <a:endParaRPr/>
          </a:p>
        </p:txBody>
      </p:sp>
      <p:sp>
        <p:nvSpPr>
          <p:cNvPr id="236" name="Google Shape;236;g2e0a94a8434_0_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7" name="Google Shape;237;g2e0a94a8434_0_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21497" y="1482800"/>
            <a:ext cx="4079075" cy="25635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e0a94a8434_0_6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Store &gt; Windows Community Toolkit Gallery</a:t>
            </a:r>
            <a:endParaRPr/>
          </a:p>
        </p:txBody>
      </p:sp>
      <p:sp>
        <p:nvSpPr>
          <p:cNvPr id="243" name="Google Shape;243;g2e0a94a8434_0_69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❏"/>
            </a:pPr>
            <a:r>
              <a:rPr lang="en" sz="2400"/>
              <a:t>Collection of helper functions, custom controls, app services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❏"/>
            </a:pPr>
            <a:r>
              <a:rPr lang="en" sz="2400"/>
              <a:t>Simplifies and demonstrates common developer tasks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2400"/>
              <a:t>Source: </a:t>
            </a:r>
            <a:r>
              <a:rPr lang="en" sz="2400" u="sng">
                <a:solidFill>
                  <a:schemeClr val="hlink"/>
                </a:solidFill>
                <a:hlinkClick r:id="rId3"/>
              </a:rPr>
              <a:t>https://github.com/CommunityToolkit/Windows</a:t>
            </a:r>
            <a:r>
              <a:rPr lang="en" sz="2400"/>
              <a:t> 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2400"/>
              <a:t>Web version: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https://toolkitlabs.dev</a:t>
            </a:r>
            <a:r>
              <a:rPr lang="en" sz="2400"/>
              <a:t> </a:t>
            </a:r>
            <a:endParaRPr sz="2400"/>
          </a:p>
        </p:txBody>
      </p:sp>
      <p:sp>
        <p:nvSpPr>
          <p:cNvPr id="244" name="Google Shape;244;g2e0a94a8434_0_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5" name="Google Shape;245;g2e0a94a8434_0_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8750" y="1892375"/>
            <a:ext cx="3152518" cy="19010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6" name="Google Shape;246;g2e0a94a8434_0_6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98450" y="1936000"/>
            <a:ext cx="3019551" cy="1857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e0a94a8434_0_5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Store &gt; Windows Composition Samples</a:t>
            </a:r>
            <a:endParaRPr/>
          </a:p>
        </p:txBody>
      </p:sp>
      <p:sp>
        <p:nvSpPr>
          <p:cNvPr id="252" name="Google Shape;252;g2e0a94a8434_0_58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How to customize your app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2200"/>
              <a:t>Source: </a:t>
            </a:r>
            <a:r>
              <a:rPr lang="en" sz="2200" u="sng">
                <a:solidFill>
                  <a:schemeClr val="hlink"/>
                </a:solidFill>
                <a:hlinkClick r:id="rId3"/>
              </a:rPr>
              <a:t>https://github.com/microsoft/WindowsCompositionSamples</a:t>
            </a:r>
            <a:r>
              <a:rPr lang="en" sz="2200"/>
              <a:t> </a:t>
            </a:r>
            <a:endParaRPr sz="2200"/>
          </a:p>
        </p:txBody>
      </p:sp>
      <p:sp>
        <p:nvSpPr>
          <p:cNvPr id="253" name="Google Shape;253;g2e0a94a8434_0_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4" name="Google Shape;254;g2e0a94a8434_0_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7400" y="1540672"/>
            <a:ext cx="3972150" cy="26738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5" name="Google Shape;255;g2e0a94a8434_0_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0" y="1540675"/>
            <a:ext cx="4118157" cy="26738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2eaafdbf59_0_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MVVM Toolkit &amp; Samples</a:t>
            </a:r>
            <a:endParaRPr/>
          </a:p>
        </p:txBody>
      </p:sp>
      <p:sp>
        <p:nvSpPr>
          <p:cNvPr id="261" name="Google Shape;261;g32eaafdbf59_0_0"/>
          <p:cNvSpPr txBox="1"/>
          <p:nvPr>
            <p:ph idx="1" type="body"/>
          </p:nvPr>
        </p:nvSpPr>
        <p:spPr>
          <a:xfrm>
            <a:off x="1602225" y="914000"/>
            <a:ext cx="7471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CommunityToolkit/MVVM-Samples: Sample repo for MVVM package</a:t>
            </a:r>
            <a:endParaRPr/>
          </a:p>
        </p:txBody>
      </p:sp>
      <p:sp>
        <p:nvSpPr>
          <p:cNvPr id="262" name="Google Shape;262;g32eaafdbf59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3" name="Google Shape;263;g32eaafdbf59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2300" y="1005650"/>
            <a:ext cx="6788751" cy="3429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e0a94a8434_0_9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More on MVVM here</a:t>
            </a:r>
            <a:endParaRPr/>
          </a:p>
        </p:txBody>
      </p:sp>
      <p:sp>
        <p:nvSpPr>
          <p:cNvPr id="269" name="Google Shape;269;g2e0a94a8434_0_97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2300" u="sng">
                <a:solidFill>
                  <a:schemeClr val="hlink"/>
                </a:solidFill>
                <a:hlinkClick r:id="rId3"/>
              </a:rPr>
              <a:t>https://learn.microsoft.com/en-us/dotnet/architecture/maui/mvvm</a:t>
            </a:r>
            <a:r>
              <a:rPr lang="en" sz="2300"/>
              <a:t> </a:t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700"/>
              <a:t>Smallest MVVM example: 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700" u="sng">
                <a:solidFill>
                  <a:schemeClr val="hlink"/>
                </a:solidFill>
                <a:hlinkClick r:id="rId4"/>
              </a:rPr>
              <a:t>https://github.com/MarkWithall/worlds-simplest-csharp-wpf-mvvm-example/tree/C%239.0</a:t>
            </a:r>
            <a:r>
              <a:rPr lang="en" sz="1700"/>
              <a:t> </a:t>
            </a:r>
            <a:endParaRPr sz="1700"/>
          </a:p>
        </p:txBody>
      </p:sp>
      <p:sp>
        <p:nvSpPr>
          <p:cNvPr id="270" name="Google Shape;270;g2e0a94a8434_0_9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1" name="Google Shape;271;g2e0a94a8434_0_9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0513" y="1519238"/>
            <a:ext cx="8562975" cy="21050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26767784f8_1_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MVC or MVVM?</a:t>
            </a:r>
            <a:endParaRPr/>
          </a:p>
        </p:txBody>
      </p:sp>
      <p:sp>
        <p:nvSpPr>
          <p:cNvPr id="277" name="Google Shape;277;g326767784f8_1_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chemeClr val="hlink"/>
                </a:solidFill>
                <a:hlinkClick r:id="rId3"/>
              </a:rPr>
              <a:t>https://stackoverflow.com/questions/667781/what-is-the-difference-between-mvc-and-mvvm</a:t>
            </a:r>
            <a:r>
              <a:rPr lang="en" sz="1600"/>
              <a:t> </a:t>
            </a:r>
            <a:endParaRPr sz="1600"/>
          </a:p>
        </p:txBody>
      </p:sp>
      <p:sp>
        <p:nvSpPr>
          <p:cNvPr id="278" name="Google Shape;278;g326767784f8_1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3e1ea02695_0_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Store &gt; AI Dev Gallery</a:t>
            </a:r>
            <a:endParaRPr/>
          </a:p>
        </p:txBody>
      </p:sp>
      <p:sp>
        <p:nvSpPr>
          <p:cNvPr id="284" name="Google Shape;284;g33e1ea02695_0_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https://github.com/microsoft/ai-dev-gallery</a:t>
            </a:r>
            <a:r>
              <a:rPr lang="en"/>
              <a:t> </a:t>
            </a:r>
            <a:endParaRPr/>
          </a:p>
        </p:txBody>
      </p:sp>
      <p:sp>
        <p:nvSpPr>
          <p:cNvPr id="285" name="Google Shape;285;g33e1ea02695_0_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6" name="Google Shape;286;g33e1ea02695_0_0" title="HeroImage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9675" y="955750"/>
            <a:ext cx="5135151" cy="308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e0a94a8434_0_8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More samples source code</a:t>
            </a:r>
            <a:endParaRPr/>
          </a:p>
        </p:txBody>
      </p:sp>
      <p:sp>
        <p:nvSpPr>
          <p:cNvPr id="292" name="Google Shape;292;g2e0a94a8434_0_89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❏"/>
            </a:pPr>
            <a:r>
              <a:rPr lang="en" sz="2100" u="sng">
                <a:solidFill>
                  <a:schemeClr val="hlink"/>
                </a:solidFill>
                <a:hlinkClick r:id="rId3"/>
              </a:rPr>
              <a:t>https://github.com/microsoft/WindowsAppSDK-Samples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❏"/>
            </a:pPr>
            <a:r>
              <a:rPr lang="en" sz="2100" u="sng">
                <a:solidFill>
                  <a:schemeClr val="hlink"/>
                </a:solidFill>
                <a:hlinkClick r:id="rId4"/>
              </a:rPr>
              <a:t>https://github.com/scottkuhl/awesome-winui</a:t>
            </a:r>
            <a:r>
              <a:rPr lang="en" sz="2100"/>
              <a:t> 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Char char="❏"/>
            </a:pPr>
            <a:r>
              <a:rPr lang="en" sz="2100" u="sng">
                <a:solidFill>
                  <a:schemeClr val="hlink"/>
                </a:solidFill>
                <a:hlinkClick r:id="rId5"/>
              </a:rPr>
              <a:t>https://learn.microsoft.com/en-us/windows/apps/design/downloads</a:t>
            </a:r>
            <a:r>
              <a:rPr lang="en" sz="2100"/>
              <a:t>  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❏"/>
            </a:pPr>
            <a:r>
              <a:rPr lang="en" sz="2100"/>
              <a:t>Inventory sample: </a:t>
            </a:r>
            <a:r>
              <a:rPr lang="en" sz="2100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https://github.com/microsoft/InventorySample</a:t>
            </a:r>
            <a:r>
              <a:rPr lang="en" sz="2100">
                <a:solidFill>
                  <a:schemeClr val="dk1"/>
                </a:solidFill>
              </a:rPr>
              <a:t> 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❏"/>
            </a:pPr>
            <a:r>
              <a:rPr lang="en" sz="2100">
                <a:solidFill>
                  <a:schemeClr val="dk1"/>
                </a:solidFill>
              </a:rPr>
              <a:t>.Net POS: </a:t>
            </a:r>
            <a:r>
              <a:rPr lang="en" sz="2100" u="sng">
                <a:solidFill>
                  <a:schemeClr val="accent5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https://github.com/livealvi/.NET-Point-of-Sale-POS--Csharp</a:t>
            </a:r>
            <a:r>
              <a:rPr lang="en" sz="2100">
                <a:solidFill>
                  <a:schemeClr val="dk1"/>
                </a:solidFill>
              </a:rPr>
              <a:t> 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293" name="Google Shape;293;g2e0a94a8434_0_8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e0a94a8434_0_111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Best practices</a:t>
            </a:r>
            <a:endParaRPr/>
          </a:p>
        </p:txBody>
      </p:sp>
      <p:sp>
        <p:nvSpPr>
          <p:cNvPr id="299" name="Google Shape;299;g2e0a94a8434_0_111"/>
          <p:cNvSpPr txBox="1"/>
          <p:nvPr/>
        </p:nvSpPr>
        <p:spPr>
          <a:xfrm>
            <a:off x="3311325" y="4510475"/>
            <a:ext cx="3427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Windows Application Development - Best Practices</a:t>
            </a:r>
            <a:endParaRPr b="0" i="0" sz="1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e0a94a8434_0_1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5" name="Google Shape;305;g2e0a94a8434_0_11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User experience</a:t>
            </a:r>
            <a:endParaRPr/>
          </a:p>
        </p:txBody>
      </p:sp>
      <p:sp>
        <p:nvSpPr>
          <p:cNvPr id="306" name="Google Shape;306;g2e0a94a8434_0_117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 u="sng">
                <a:solidFill>
                  <a:schemeClr val="hlink"/>
                </a:solidFill>
                <a:hlinkClick r:id="rId3"/>
              </a:rPr>
              <a:t>Windows 11 design principles</a:t>
            </a:r>
            <a:endParaRPr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 u="sng">
                <a:solidFill>
                  <a:schemeClr val="hlink"/>
                </a:solidFill>
                <a:hlinkClick r:id="rId4"/>
              </a:rPr>
              <a:t>WinUI 3 Figma</a:t>
            </a:r>
            <a:r>
              <a:rPr lang="en"/>
              <a:t> Design toolkit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1" lang="en"/>
              <a:t>Areas to focus</a:t>
            </a:r>
            <a:endParaRPr b="1"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Layout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UI interaction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Visual style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Window behavior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Shell integration points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e0a94a8434_0_13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Responsive layout</a:t>
            </a:r>
            <a:endParaRPr/>
          </a:p>
        </p:txBody>
      </p:sp>
      <p:sp>
        <p:nvSpPr>
          <p:cNvPr id="312" name="Google Shape;312;g2e0a94a8434_0_136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https://learn.microsoft.com/en-us/windows/apps/design/layout/responsive-design</a:t>
            </a:r>
            <a:r>
              <a:rPr lang="en" sz="1800"/>
              <a:t> </a:t>
            </a:r>
            <a:endParaRPr sz="1800"/>
          </a:p>
        </p:txBody>
      </p:sp>
      <p:sp>
        <p:nvSpPr>
          <p:cNvPr id="313" name="Google Shape;313;g2e0a94a8434_0_1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4" name="Google Shape;314;g2e0a94a8434_0_1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4176" y="1466400"/>
            <a:ext cx="5763826" cy="35234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5" name="Google Shape;315;g2e0a94a8434_0_1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4811" y="1466411"/>
            <a:ext cx="2326600" cy="34632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e0a94a8434_0_14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On-object commanding</a:t>
            </a:r>
            <a:endParaRPr/>
          </a:p>
        </p:txBody>
      </p:sp>
      <p:sp>
        <p:nvSpPr>
          <p:cNvPr id="321" name="Google Shape;321;g2e0a94a8434_0_145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Context menus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Swipe commands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Keyboard shortcuts.</a:t>
            </a:r>
            <a:endParaRPr/>
          </a:p>
        </p:txBody>
      </p:sp>
      <p:sp>
        <p:nvSpPr>
          <p:cNvPr id="322" name="Google Shape;322;g2e0a94a8434_0_1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23" name="Google Shape;323;g2e0a94a8434_0_1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52026" y="914000"/>
            <a:ext cx="2361975" cy="37224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e0a94a8434_0_153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Materials: Acrylic and Mica</a:t>
            </a:r>
            <a:endParaRPr/>
          </a:p>
        </p:txBody>
      </p:sp>
      <p:sp>
        <p:nvSpPr>
          <p:cNvPr id="329" name="Google Shape;329;g2e0a94a8434_0_153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11 things to make your app great</a:t>
            </a:r>
            <a:endParaRPr/>
          </a:p>
        </p:txBody>
      </p:sp>
      <p:sp>
        <p:nvSpPr>
          <p:cNvPr id="330" name="Google Shape;330;g2e0a94a8434_0_1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1" name="Google Shape;331;g2e0a94a8434_0_1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09400" y="1624825"/>
            <a:ext cx="5396000" cy="30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2e0a94a8434_0_16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Iconography and typography</a:t>
            </a:r>
            <a:endParaRPr/>
          </a:p>
        </p:txBody>
      </p:sp>
      <p:sp>
        <p:nvSpPr>
          <p:cNvPr id="337" name="Google Shape;337;g2e0a94a8434_0_161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New fonts &amp; New icons</a:t>
            </a:r>
            <a:endParaRPr/>
          </a:p>
        </p:txBody>
      </p:sp>
      <p:sp>
        <p:nvSpPr>
          <p:cNvPr id="338" name="Google Shape;338;g2e0a94a8434_0_1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9" name="Google Shape;339;g2e0a94a8434_0_1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48063" y="1804138"/>
            <a:ext cx="4086225" cy="22764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8356a58d06_0_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5" name="Google Shape;345;g28356a58d06_0_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Apps to clone as a practice</a:t>
            </a:r>
            <a:endParaRPr/>
          </a:p>
        </p:txBody>
      </p:sp>
      <p:sp>
        <p:nvSpPr>
          <p:cNvPr id="346" name="Google Shape;346;g28356a58d06_0_6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Store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Settings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Weather</a:t>
            </a:r>
            <a:endParaRPr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XBox / Spotify / </a:t>
            </a:r>
            <a:r>
              <a:rPr lang="en">
                <a:solidFill>
                  <a:schemeClr val="dk1"/>
                </a:solidFill>
              </a:rPr>
              <a:t>Netflix 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38876d5731_0_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 for business references</a:t>
            </a:r>
            <a:endParaRPr/>
          </a:p>
        </p:txBody>
      </p:sp>
      <p:sp>
        <p:nvSpPr>
          <p:cNvPr id="352" name="Google Shape;352;g338876d5731_0_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❏"/>
            </a:pPr>
            <a:r>
              <a:rPr b="1" lang="en">
                <a:solidFill>
                  <a:srgbClr val="0000FF"/>
                </a:solidFill>
              </a:rPr>
              <a:t>Cukcuk</a:t>
            </a:r>
            <a:r>
              <a:rPr b="1" lang="en">
                <a:solidFill>
                  <a:schemeClr val="dk1"/>
                </a:solidFill>
              </a:rPr>
              <a:t>, KiotViet, Sapo, POS365, Odoo, Nhanh.vn, OXU</a:t>
            </a:r>
            <a:endParaRPr b="1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❏"/>
            </a:pPr>
            <a:r>
              <a:rPr lang="en">
                <a:solidFill>
                  <a:schemeClr val="dk1"/>
                </a:solidFill>
              </a:rPr>
              <a:t>DanTriSoft, ShopeeFood, Foody, Grab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Square POS, Toast POS, Lightspeed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Heartland Retail, Suno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PosApp, Clover, KORONA, </a:t>
            </a:r>
            <a:r>
              <a:rPr b="1" lang="en">
                <a:solidFill>
                  <a:srgbClr val="FF0000"/>
                </a:solidFill>
              </a:rPr>
              <a:t>iPOS.vn</a:t>
            </a:r>
            <a:endParaRPr b="1">
              <a:solidFill>
                <a:srgbClr val="FF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