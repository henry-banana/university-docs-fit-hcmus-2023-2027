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r8kVyw5vUP2qpWYOG45tuQarw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customschemas.google.com/relationships/presentationmetadata" Target="meta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8fc623c7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f8fc623c7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&lt;StackPanel Orientation="Vertical" HorizontalAlignment="Center"  VerticalAlignment="Center"&gt;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&lt;TextBlock Text="Profile" Style="{StaticResource TitleTextBlockStyle}"/&gt;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&lt;Image Name="avatarImage" Source="Assets/gamer.png" Width="100" Height="100" 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&lt;StackPanel Orientation="Horizontal"&gt;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&lt;SymbolIcon Symbol="Shop" Foreground="Blue"/&gt;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&lt;TextBlock 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&lt;Run Text="Please tell us" Foreground="Red" /&gt; some information &lt;Run Text="about yourself" Foreground="Blue"/&gt;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&lt;/TextBlock&gt;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&lt;/StackPanel&gt;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&lt;TextBox Name="nameTextBox" Header="Enter your name:"/&gt;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&lt;Button x:Name="saluteButton" Click="saluteButton_Click"&gt;Salute&lt;/Button&gt;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&lt;/StackPanel&gt;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private async void saluteButton_Click(object sender, RoutedEventArgs 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// Change avatar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var bitmap = new BitmapImage()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UriSource = new Uri("ms-appx:///Assets/woman.png")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};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avatarImage.Source = bitmap;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// Get the name and print out salutation message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string name = nameTextBox.Text;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string message = $"Hello, {name}";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var dialog = new ContentDialog()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XamlRoot = this.Content.XamlRoot,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Title = "Thông tin",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Content = message,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CloseButtonText = "OK"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};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var result = await dialog.ShowAsync(); // _ = dialog.ShowAsync();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// Cách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&lt;TextBlock Margin="10"&gt;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&lt;Run Text="&amp;#xE70F;" FontFamily="Segoe Fluent Icons"/&gt;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&lt;Run Text="Please tell us" Foreground="Blue"/&gt; &lt;Run Text="something"/&gt;&lt;Run Text=" about yourself" Foreground="Red"/&gt;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&lt;/TextBlock&gt;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f8e7664b8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f8e7664b8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8e7664b81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f8e7664b81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8fc623c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f8fc623c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8fc623c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f8fc623c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43a2ea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c43a2ea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&lt;?xml version="1.0" encoding="utf-8"?&gt;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&lt;ContentDialog x:Class="DemoDatabinding.ConfigDialog"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xmlns="http://schemas.microsoft.com/winfx/2006/xaml/presentation"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xmlns:x="http://schemas.microsoft.com/winfx/2006/xaml"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xmlns:local="using:DemoDatabinding"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xmlns:d="http://schemas.microsoft.com/expression/blend/2008"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xmlns:mc="http://schemas.openxmlformats.org/markup-compatibility/2006"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mc:Ignorable="d" IsPrimaryButtonEnabled="False" CloseButtonText="OK"&gt;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&lt;ContentDialog.TitleTemplate&gt;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&lt;DataTemplate&gt;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&lt;StackPanel Orientation="Horizontal"&gt;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&lt;TextBlock Text="Config"/&gt;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&lt;/StackPanel&gt;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&lt;/DataTemplate&gt;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&lt;/ContentDialog.TitleTemplate&gt;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&lt;StackPanel&gt;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&lt;TextBlock Text="Things to config"/&gt;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&lt;/StackPanel&gt;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&lt;/ContentDialog&gt;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var dialog = new ConfigDialog();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dialog.XamlRoot = this.XamlRoot;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_ = dialog.ShowAsync();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8fc623c7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f8fc623c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548ea714a_3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548ea714a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548ea714a_3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548ea714a_3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8fc623c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2f8fc623c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8fc623c7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f8fc623c7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8fc623c7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f8fc623c7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&lt;Button Name="dashboardButton" Margin="10"&gt;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&lt;StackPanel Orientation="Horizontal"&gt;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&lt;Image Width="20" Height="20" Margin="0, 0, 8, 0" Source="Assets/store.png"/&gt;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&lt;TextBlock Text="Dashboard"/&gt;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&lt;/StackPanel&gt;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&lt;/Button&gt;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&lt;Button Name="settingsButton" Margin="10"&gt;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&lt;StackPanel Orientation="Horizontal"&gt;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&lt;SymbolIcon Symbol="Home" Margin="0, 0, 8, 0" Foreground="Red"/&gt;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&lt;TextBlock Text="Settings"/&gt;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&lt;/StackPanel&gt;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&lt;/Button&gt;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8fc623c7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f8fc623c7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8fc623c7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2f8fc623c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8fc623c7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f8fc623c7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fc623c7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2f8fc623c7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" name="Google Shape;2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hyperlink" Target="https://learn.microsoft.com/en-us/windows/apps/design/controls/dialogs-and-flyouts/dialog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hyperlink" Target="https://stackoverflow.com/questions/71432263/how-to-retrieve-the-window-handle-of-the-current-winui-3-mainwindow-from-a-page/71440820#71440820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hyperlink" Target="https://learn.microsoft.com/en-us/windows/apps/design/controls/checkbox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arn.microsoft.com/en-us/windows/apps/design/controls/radio-button" TargetMode="External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5700"/>
              <a:t>Basic UI controls</a:t>
            </a:r>
            <a:endParaRPr sz="57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400"/>
              <a:t>Windows Programming with WinUI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8fc623c7f_0_2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Quick start example</a:t>
            </a:r>
            <a:endParaRPr/>
          </a:p>
        </p:txBody>
      </p:sp>
      <p:sp>
        <p:nvSpPr>
          <p:cNvPr id="68" name="Google Shape;68;g2f8fc623c7f_0_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964f5a7bf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Simple screen</a:t>
            </a:r>
            <a:endParaRPr/>
          </a:p>
        </p:txBody>
      </p:sp>
      <p:sp>
        <p:nvSpPr>
          <p:cNvPr id="74" name="Google Shape;74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g2964f5a7bf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400" y="1002900"/>
            <a:ext cx="3514725" cy="2809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g2964f5a7bf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9400" y="1002900"/>
            <a:ext cx="3684057" cy="2809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g2964f5a7bf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8750" y="3409000"/>
            <a:ext cx="2981325" cy="1647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8e7664b81_1_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Things to consider</a:t>
            </a:r>
            <a:endParaRPr/>
          </a:p>
        </p:txBody>
      </p:sp>
      <p:sp>
        <p:nvSpPr>
          <p:cNvPr id="83" name="Google Shape;83;g2f8e7664b81_1_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Window</a:t>
            </a:r>
            <a:r>
              <a:rPr lang="en"/>
              <a:t>: </a:t>
            </a:r>
            <a:r>
              <a:rPr b="1" lang="en">
                <a:solidFill>
                  <a:srgbClr val="9900FF"/>
                </a:solidFill>
              </a:rPr>
              <a:t>Activated</a:t>
            </a:r>
            <a:r>
              <a:rPr lang="en"/>
              <a:t>, Title, </a:t>
            </a:r>
            <a:r>
              <a:rPr i="1" lang="en"/>
              <a:t>Width? Height?</a:t>
            </a:r>
            <a:endParaRPr i="1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StackPanel </a:t>
            </a:r>
            <a:r>
              <a:rPr lang="en"/>
              <a:t>&gt; Hot reload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TextBlock</a:t>
            </a:r>
            <a:r>
              <a:rPr lang="en"/>
              <a:t>: Name, Text, Style, TextTrimming, Run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❏"/>
            </a:pPr>
            <a:r>
              <a:rPr b="1" lang="en">
                <a:solidFill>
                  <a:srgbClr val="0000FF"/>
                </a:solidFill>
              </a:rPr>
              <a:t>SymbolIcon / FontIcon</a:t>
            </a:r>
            <a:endParaRPr b="1">
              <a:solidFill>
                <a:srgbClr val="0000FF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TextBox</a:t>
            </a:r>
            <a:r>
              <a:rPr lang="en"/>
              <a:t>: Name, Text, Header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Button</a:t>
            </a:r>
            <a:r>
              <a:rPr lang="en"/>
              <a:t>: Name, Content, </a:t>
            </a:r>
            <a:r>
              <a:rPr b="1" lang="en">
                <a:solidFill>
                  <a:srgbClr val="9900FF"/>
                </a:solidFill>
              </a:rPr>
              <a:t>Click</a:t>
            </a:r>
            <a:endParaRPr b="1">
              <a:solidFill>
                <a:srgbClr val="9900FF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Image</a:t>
            </a:r>
            <a:r>
              <a:rPr lang="en"/>
              <a:t>: Name, Source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Set image by code behind &gt; </a:t>
            </a:r>
            <a:r>
              <a:rPr b="1" lang="en">
                <a:solidFill>
                  <a:srgbClr val="FF0000"/>
                </a:solidFill>
              </a:rPr>
              <a:t>Content</a:t>
            </a:r>
            <a:endParaRPr b="1">
              <a:solidFill>
                <a:srgbClr val="FF0000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ContentDialog</a:t>
            </a:r>
            <a:r>
              <a:rPr lang="en">
                <a:solidFill>
                  <a:schemeClr val="dk1"/>
                </a:solidFill>
              </a:rPr>
              <a:t>: Buttons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g2f8e7664b81_1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8e7664b81_1_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Exercises</a:t>
            </a:r>
            <a:endParaRPr/>
          </a:p>
        </p:txBody>
      </p:sp>
      <p:sp>
        <p:nvSpPr>
          <p:cNvPr id="90" name="Google Shape;90;g2f8e7664b81_1_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1-6 Inspiring quotes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2-7 English vocabulary 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3-8 Landmarks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4-9 Nation flags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5-0 Football players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Text/Image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Activated: display random 1 item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Next button: Go to the next random item.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Min prepare: 10 items. 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Submission: 22115782_22761892_22456672.zip</a:t>
            </a:r>
            <a:endParaRPr sz="2300"/>
          </a:p>
        </p:txBody>
      </p:sp>
      <p:sp>
        <p:nvSpPr>
          <p:cNvPr id="91" name="Google Shape;91;g2f8e7664b81_1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8fc623c7f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ContentDialog - Which button is clicked? </a:t>
            </a:r>
            <a:endParaRPr/>
          </a:p>
        </p:txBody>
      </p:sp>
      <p:sp>
        <p:nvSpPr>
          <p:cNvPr id="97" name="Google Shape;97;g2f8fc623c7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g2f8fc623c7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550" y="894900"/>
            <a:ext cx="5629024" cy="3400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g2f8fc623c7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894900"/>
            <a:ext cx="2971800" cy="171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8fc623c7f_0_1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Content Dialog - Customize content</a:t>
            </a:r>
            <a:endParaRPr/>
          </a:p>
        </p:txBody>
      </p:sp>
      <p:sp>
        <p:nvSpPr>
          <p:cNvPr id="105" name="Google Shape;105;g2f8fc623c7f_0_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g2f8fc623c7f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2828925" cy="193658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g2f8fc623c7f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3725" y="894900"/>
            <a:ext cx="5857875" cy="302668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c43a2ea83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from external xaml Page file</a:t>
            </a:r>
            <a:endParaRPr/>
          </a:p>
        </p:txBody>
      </p:sp>
      <p:sp>
        <p:nvSpPr>
          <p:cNvPr id="113" name="Google Shape;113;g37c43a2ea8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g37c43a2ea8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46" y="913996"/>
            <a:ext cx="3596025" cy="28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7c43a2ea8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171" y="894900"/>
            <a:ext cx="435292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7c43a2ea83_0_0"/>
          <p:cNvSpPr txBox="1"/>
          <p:nvPr/>
        </p:nvSpPr>
        <p:spPr>
          <a:xfrm>
            <a:off x="414900" y="4458575"/>
            <a:ext cx="379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Dialog controls - Windows apps | Microsoft Learn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8fc623c7f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Display another window</a:t>
            </a:r>
            <a:endParaRPr/>
          </a:p>
        </p:txBody>
      </p:sp>
      <p:sp>
        <p:nvSpPr>
          <p:cNvPr id="122" name="Google Shape;122;g2f8fc623c7f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g2f8fc623c7f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3952875" cy="9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" name="Google Shape;124;g2f8fc623c7f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075" y="2493750"/>
            <a:ext cx="5772150" cy="106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g2f8fc623c7f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9395" y="3058000"/>
            <a:ext cx="4046375" cy="1196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g2f8fc623c7f_0_6"/>
          <p:cNvSpPr txBox="1"/>
          <p:nvPr/>
        </p:nvSpPr>
        <p:spPr>
          <a:xfrm>
            <a:off x="111950" y="4281600"/>
            <a:ext cx="399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c# - How to retrieve the window handle of the current WinUI 3 MainWindow from a page in a frame in a NavigationView control on the MainWindow - Stack Overflow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548ea714a_31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multiple windows - Frame &amp; Page</a:t>
            </a:r>
            <a:endParaRPr/>
          </a:p>
        </p:txBody>
      </p:sp>
      <p:sp>
        <p:nvSpPr>
          <p:cNvPr id="132" name="Google Shape;132;g33548ea714a_31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Frame </a:t>
            </a:r>
            <a:r>
              <a:rPr lang="en"/>
              <a:t>has a lot of </a:t>
            </a:r>
            <a:r>
              <a:rPr b="1" lang="en"/>
              <a:t>Page</a:t>
            </a:r>
            <a:r>
              <a:rPr lang="en"/>
              <a:t> (s)</a:t>
            </a:r>
            <a:endParaRPr/>
          </a:p>
        </p:txBody>
      </p:sp>
      <p:sp>
        <p:nvSpPr>
          <p:cNvPr id="133" name="Google Shape;133;g33548ea714a_3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548ea714a_31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data between frames</a:t>
            </a:r>
            <a:endParaRPr/>
          </a:p>
        </p:txBody>
      </p:sp>
      <p:sp>
        <p:nvSpPr>
          <p:cNvPr id="139" name="Google Shape;139;g33548ea714a_31_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Frame.Navigate(Type.GetType("Test.DashboardPage"), </a:t>
            </a:r>
            <a:r>
              <a:rPr b="1" lang="en">
                <a:solidFill>
                  <a:srgbClr val="FF0000"/>
                </a:solidFill>
              </a:rPr>
              <a:t>data</a:t>
            </a:r>
            <a:r>
              <a:rPr lang="en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override void </a:t>
            </a:r>
            <a:r>
              <a:rPr lang="en">
                <a:solidFill>
                  <a:srgbClr val="9900FF"/>
                </a:solidFill>
              </a:rPr>
              <a:t>OnNavigatedTo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e.Parameter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g33548ea714a_31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8fc623c7f_0_3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Getting input</a:t>
            </a:r>
            <a:endParaRPr/>
          </a:p>
        </p:txBody>
      </p:sp>
      <p:sp>
        <p:nvSpPr>
          <p:cNvPr id="146" name="Google Shape;146;g2f8fc623c7f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c623c7f_0_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WinUI Gallery Basic input</a:t>
            </a:r>
            <a:endParaRPr/>
          </a:p>
        </p:txBody>
      </p:sp>
      <p:sp>
        <p:nvSpPr>
          <p:cNvPr id="152" name="Google Shape;152;g2f8fc623c7f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3" name="Google Shape;153;g2f8fc623c7f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047300"/>
            <a:ext cx="7895693" cy="36159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8fc623c7f_0_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Button</a:t>
            </a:r>
            <a:endParaRPr/>
          </a:p>
        </p:txBody>
      </p:sp>
      <p:sp>
        <p:nvSpPr>
          <p:cNvPr id="159" name="Google Shape;159;g2f8fc623c7f_0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" name="Google Shape;160;g2f8fc623c7f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6648450" cy="2200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g2f8fc623c7f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550" y="3247575"/>
            <a:ext cx="1947125" cy="14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f8fc623c7f_0_49"/>
          <p:cNvSpPr txBox="1"/>
          <p:nvPr/>
        </p:nvSpPr>
        <p:spPr>
          <a:xfrm>
            <a:off x="2428875" y="3343275"/>
            <a:ext cx="249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Image </a:t>
            </a:r>
            <a:r>
              <a:rPr b="0" i="0" lang="e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inside button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2f8fc623c7f_0_49"/>
          <p:cNvSpPr txBox="1"/>
          <p:nvPr/>
        </p:nvSpPr>
        <p:spPr>
          <a:xfrm>
            <a:off x="2428875" y="4170625"/>
            <a:ext cx="33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SymbolIcon </a:t>
            </a:r>
            <a:r>
              <a:rPr b="0" i="0" lang="e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inside button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8fc623c7f_0_6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CheckBox</a:t>
            </a:r>
            <a:endParaRPr/>
          </a:p>
        </p:txBody>
      </p:sp>
      <p:sp>
        <p:nvSpPr>
          <p:cNvPr id="169" name="Google Shape;169;g2f8fc623c7f_0_60"/>
          <p:cNvSpPr txBox="1"/>
          <p:nvPr>
            <p:ph idx="1" type="body"/>
          </p:nvPr>
        </p:nvSpPr>
        <p:spPr>
          <a:xfrm>
            <a:off x="141300" y="3048000"/>
            <a:ext cx="89322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IsChecked (</a:t>
            </a:r>
            <a:r>
              <a:rPr lang="en">
                <a:solidFill>
                  <a:srgbClr val="0000FF"/>
                </a:solidFill>
              </a:rPr>
              <a:t>true</a:t>
            </a:r>
            <a:r>
              <a:rPr lang="en"/>
              <a:t> / </a:t>
            </a:r>
            <a:r>
              <a:rPr lang="en">
                <a:solidFill>
                  <a:srgbClr val="0000FF"/>
                </a:solidFill>
              </a:rPr>
              <a:t>false </a:t>
            </a:r>
            <a:r>
              <a:rPr lang="en"/>
              <a:t>/ </a:t>
            </a:r>
            <a:r>
              <a:rPr lang="en">
                <a:solidFill>
                  <a:srgbClr val="0000FF"/>
                </a:solidFill>
              </a:rPr>
              <a:t>null</a:t>
            </a:r>
            <a:r>
              <a:rPr lang="en"/>
              <a:t>) / IsThreeState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Checked / UnChecked / Indeterminate</a:t>
            </a:r>
            <a:endParaRPr/>
          </a:p>
        </p:txBody>
      </p:sp>
      <p:sp>
        <p:nvSpPr>
          <p:cNvPr id="170" name="Google Shape;170;g2f8fc623c7f_0_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g2f8fc623c7f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25" y="1226888"/>
            <a:ext cx="3028950" cy="1143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2" name="Google Shape;172;g2f8fc623c7f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0" y="1601600"/>
            <a:ext cx="3364348" cy="393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g2f8fc623c7f_0_60"/>
          <p:cNvSpPr txBox="1"/>
          <p:nvPr/>
        </p:nvSpPr>
        <p:spPr>
          <a:xfrm>
            <a:off x="2238375" y="4683025"/>
            <a:ext cx="548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Check boxes - Windows apps | Microsoft Learn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8fc623c7f_0_6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Exercise - Checkbox combination</a:t>
            </a:r>
            <a:endParaRPr/>
          </a:p>
        </p:txBody>
      </p:sp>
      <p:sp>
        <p:nvSpPr>
          <p:cNvPr id="179" name="Google Shape;179;g2f8fc623c7f_0_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g2f8fc623c7f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75" y="980625"/>
            <a:ext cx="1576739" cy="1676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8fc623c7f_0_7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RadioButton </a:t>
            </a:r>
            <a:endParaRPr/>
          </a:p>
        </p:txBody>
      </p:sp>
      <p:sp>
        <p:nvSpPr>
          <p:cNvPr id="186" name="Google Shape;186;g2f8fc623c7f_0_76"/>
          <p:cNvSpPr txBox="1"/>
          <p:nvPr>
            <p:ph idx="1" type="body"/>
          </p:nvPr>
        </p:nvSpPr>
        <p:spPr>
          <a:xfrm>
            <a:off x="141300" y="3105150"/>
            <a:ext cx="89322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RadioButtons: Header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IsChecked / IsThreeState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Checked / Unchecked / Indeterminate</a:t>
            </a:r>
            <a:endParaRPr/>
          </a:p>
        </p:txBody>
      </p:sp>
      <p:sp>
        <p:nvSpPr>
          <p:cNvPr id="187" name="Google Shape;187;g2f8fc623c7f_0_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g2f8fc623c7f_0_76"/>
          <p:cNvSpPr txBox="1"/>
          <p:nvPr/>
        </p:nvSpPr>
        <p:spPr>
          <a:xfrm>
            <a:off x="1904100" y="4789350"/>
            <a:ext cx="548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Guidelines for radio buttons - Windows apps | Microsoft Learn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g2f8fc623c7f_0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863" y="1104450"/>
            <a:ext cx="1390650" cy="1304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8fc623c7f_0_8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Other type of button</a:t>
            </a:r>
            <a:endParaRPr/>
          </a:p>
        </p:txBody>
      </p:sp>
      <p:sp>
        <p:nvSpPr>
          <p:cNvPr id="195" name="Google Shape;195;g2f8fc623c7f_0_8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HyperlinkButton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DropdownButton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Slider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ProgressBar / ProgressRing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ToggleButton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96" name="Google Shape;196;g2f8fc623c7f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