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  <p:embeddedFont>
      <p:font typeface="Quattrocento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hECnmHu2FWu0wCN1uM1ZMPeWO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attrocentoSans-regular.fntdata"/><Relationship Id="rId14" Type="http://schemas.openxmlformats.org/officeDocument/2006/relationships/font" Target="fonts/Roboto-boldItalic.fntdata"/><Relationship Id="rId17" Type="http://schemas.openxmlformats.org/officeDocument/2006/relationships/font" Target="fonts/QuattrocentoSans-italic.fntdata"/><Relationship Id="rId16" Type="http://schemas.openxmlformats.org/officeDocument/2006/relationships/font" Target="fonts/QuattrocentoSans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Quattrocento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e9f66d2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e9f66d2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a47fcff1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a47fcff1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using(var rng =  RandomNumberGenerator.Create())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    rng.GetBytes(entropy);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  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a47fcff1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a47fcff1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5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5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5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6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  <a:effectLst>
            <a:outerShdw blurRad="757238" rotWithShape="0" algn="bl" dir="12000000" dist="9525">
              <a:srgbClr val="000000">
                <a:alpha val="5725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6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7"/>
          <p:cNvSpPr/>
          <p:nvPr/>
        </p:nvSpPr>
        <p:spPr>
          <a:xfrm>
            <a:off x="-20250" y="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3" name="Google Shape;2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38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9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4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5" name="Google Shape;45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8" name="Google Shape;48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2" name="Google Shape;52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45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4" name="Google Shape;5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7" name="Google Shape;5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"/>
            <a:ext cx="9144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8"/>
          <p:cNvSpPr txBox="1"/>
          <p:nvPr>
            <p:ph type="title"/>
          </p:nvPr>
        </p:nvSpPr>
        <p:spPr>
          <a:xfrm>
            <a:off x="381000" y="114300"/>
            <a:ext cx="876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b="0" sz="5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48"/>
          <p:cNvSpPr txBox="1"/>
          <p:nvPr>
            <p:ph idx="1" type="body"/>
          </p:nvPr>
        </p:nvSpPr>
        <p:spPr>
          <a:xfrm>
            <a:off x="381000" y="1200150"/>
            <a:ext cx="8610600" cy="3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  <a:defRPr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C4BD97"/>
              </a:buClr>
              <a:buSzPts val="2400"/>
              <a:buFont typeface="Noto Sans Symbols"/>
              <a:buChar char="▪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12" type="sldNum"/>
          </p:nvPr>
        </p:nvSpPr>
        <p:spPr>
          <a:xfrm>
            <a:off x="6858000" y="474345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48"/>
          <p:cNvSpPr/>
          <p:nvPr/>
        </p:nvSpPr>
        <p:spPr>
          <a:xfrm rot="-3205996">
            <a:off x="3332392" y="-2918302"/>
            <a:ext cx="1836986" cy="10393570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0400" y="1271029"/>
            <a:ext cx="7962900" cy="175609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9"/>
          <p:cNvSpPr txBox="1"/>
          <p:nvPr>
            <p:ph type="title"/>
          </p:nvPr>
        </p:nvSpPr>
        <p:spPr>
          <a:xfrm>
            <a:off x="527050" y="1720452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49"/>
          <p:cNvSpPr/>
          <p:nvPr/>
        </p:nvSpPr>
        <p:spPr>
          <a:xfrm rot="-3205996">
            <a:off x="3141891" y="-1854199"/>
            <a:ext cx="1836986" cy="10393570"/>
          </a:xfrm>
          <a:prstGeom prst="moon">
            <a:avLst>
              <a:gd fmla="val 50000" name="adj"/>
            </a:avLst>
          </a:prstGeom>
          <a:solidFill>
            <a:schemeClr val="lt1">
              <a:alpha val="15294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817525"/>
            <a:ext cx="9144000" cy="78606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4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learn.microsoft.com/en-us/windows/apps/design/app-settings/store-and-retrieve-app-data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eblogs.asp.net/jongalloway/encrypting-passwords-in-a-net-app-config-file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e9f66d20a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Lưu trữ cục bộ - LocalSettings</a:t>
            </a:r>
            <a:endParaRPr/>
          </a:p>
        </p:txBody>
      </p:sp>
      <p:sp>
        <p:nvSpPr>
          <p:cNvPr id="77" name="Google Shape;77;g33e9f66d20a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v</a:t>
            </a:r>
            <a:r>
              <a:rPr lang="en" sz="1900"/>
              <a:t>ar localSettings = Windows.Storage.ApplicationData.Current.LocalSettings;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61616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rPr>
              <a:t>localSettings.Values[</a:t>
            </a:r>
            <a:r>
              <a:rPr lang="en" sz="1800">
                <a:solidFill>
                  <a:srgbClr val="A31515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rPr>
              <a:t>"Key"</a:t>
            </a:r>
            <a:r>
              <a:rPr lang="en" sz="1800">
                <a:solidFill>
                  <a:srgbClr val="161616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" sz="1800">
                <a:solidFill>
                  <a:srgbClr val="A31515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rPr>
              <a:t>"Hello Windows"</a:t>
            </a:r>
            <a:r>
              <a:rPr lang="en" sz="1800">
                <a:solidFill>
                  <a:srgbClr val="161616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solidFill>
                <a:srgbClr val="161616"/>
              </a:solidFill>
              <a:highlight>
                <a:srgbClr val="F0F0F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61616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800">
                <a:solidFill>
                  <a:srgbClr val="161616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rPr>
              <a:t>ar message = (string) localSettings.Values["Key"];</a:t>
            </a:r>
            <a:endParaRPr sz="1800">
              <a:solidFill>
                <a:srgbClr val="161616"/>
              </a:solidFill>
              <a:highlight>
                <a:srgbClr val="F0F0F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61616"/>
              </a:solidFill>
              <a:highlight>
                <a:srgbClr val="F0F0F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61616"/>
              </a:solidFill>
              <a:highlight>
                <a:srgbClr val="F0F0F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8" name="Google Shape;78;g33e9f66d20a_0_0"/>
          <p:cNvSpPr txBox="1"/>
          <p:nvPr/>
        </p:nvSpPr>
        <p:spPr>
          <a:xfrm>
            <a:off x="255050" y="4647600"/>
            <a:ext cx="5667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Store and retrieve settings and other app data - Windows apps | Microsoft Learn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a47fcff1a_0_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Composite</a:t>
            </a:r>
            <a:endParaRPr/>
          </a:p>
        </p:txBody>
      </p:sp>
      <p:sp>
        <p:nvSpPr>
          <p:cNvPr id="84" name="Google Shape;84;g38a47fcff1a_0_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var composite = new Windows.Storage.ApplicationDataCompositeValue();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composite["intVal"] = 1;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composite["strVal"] = "string";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localSettings.Values["exampleCompositeSetting"] = composite;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Windows.Storage.ApplicationDataCompositeValue composite =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Windows.Storage.ApplicationDataCompositeValue)localSettings.Values["exampleCompositeSetting"];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if (composite == null) {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// No data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} else {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// Access data in composite["intVal"] and composite["strVal"]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}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Mã hóa và giải mã mật khẩu</a:t>
            </a:r>
            <a:endParaRPr/>
          </a:p>
        </p:txBody>
      </p:sp>
      <p:sp>
        <p:nvSpPr>
          <p:cNvPr id="90" name="Google Shape;90;p30"/>
          <p:cNvSpPr txBox="1"/>
          <p:nvPr/>
        </p:nvSpPr>
        <p:spPr>
          <a:xfrm>
            <a:off x="159574" y="4212231"/>
            <a:ext cx="8824852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Đọc thêm: </a:t>
            </a:r>
            <a:r>
              <a:rPr b="0" i="0" lang="en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https://weblogs.asp.net/jongalloway/encrypting-passwords-in-a-net-app-config-file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Chuỗi entropy đóng vai trò vector khởi tạo, </a:t>
            </a:r>
            <a:r>
              <a:rPr b="0" i="0" lang="en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không cần mã hóa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lưu plaintext bình thường trong file App.config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Mấu chốt của việc mã hóa là thông tin của người dùng hiện tại (mật khẩu là ví dụ) và được HDH bảo vệ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574" y="1037661"/>
            <a:ext cx="8359808" cy="2879408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Giải mã mật khẩu</a:t>
            </a:r>
            <a:endParaRPr/>
          </a:p>
        </p:txBody>
      </p:sp>
      <p:sp>
        <p:nvSpPr>
          <p:cNvPr id="97" name="Google Shape;97;p3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</a:pPr>
            <a:r>
              <a:rPr lang="en">
                <a:solidFill>
                  <a:srgbClr val="00B0F0"/>
                </a:solidFill>
              </a:rPr>
              <a:t>ProtectedData</a:t>
            </a:r>
            <a:r>
              <a:rPr lang="en"/>
              <a:t>.</a:t>
            </a:r>
            <a:r>
              <a:rPr b="1" lang="en"/>
              <a:t>Unprotect</a:t>
            </a:r>
            <a:r>
              <a:rPr lang="en"/>
              <a:t> với các đối số như cũ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</a:pPr>
            <a:r>
              <a:rPr lang="en"/>
              <a:t>Chuyển ngược về chuỗi từ Base64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Convert.FromBase64String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a47fcff1a_0_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Tái tổ chức thành thư viện để sử dụng</a:t>
            </a:r>
            <a:endParaRPr/>
          </a:p>
        </p:txBody>
      </p:sp>
      <p:sp>
        <p:nvSpPr>
          <p:cNvPr id="103" name="Google Shape;103;g38a47fcff1a_0_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Bên trong project sử dụng ngoài việc tham chiếu đến thư viện, cần cài Nuget: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System.Security.Cryptography.ProtectedData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